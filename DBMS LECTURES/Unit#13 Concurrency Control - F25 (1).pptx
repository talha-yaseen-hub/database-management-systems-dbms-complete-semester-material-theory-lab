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5" r:id="rId1"/>
    <p:sldMasterId id="2147483688" r:id="rId2"/>
  </p:sldMasterIdLst>
  <p:notesMasterIdLst>
    <p:notesMasterId r:id="rId48"/>
  </p:notesMasterIdLst>
  <p:handoutMasterIdLst>
    <p:handoutMasterId r:id="rId49"/>
  </p:handoutMasterIdLst>
  <p:sldIdLst>
    <p:sldId id="508" r:id="rId3"/>
    <p:sldId id="689" r:id="rId4"/>
    <p:sldId id="690" r:id="rId5"/>
    <p:sldId id="691" r:id="rId6"/>
    <p:sldId id="692" r:id="rId7"/>
    <p:sldId id="693" r:id="rId8"/>
    <p:sldId id="694" r:id="rId9"/>
    <p:sldId id="695" r:id="rId10"/>
    <p:sldId id="696" r:id="rId11"/>
    <p:sldId id="718" r:id="rId12"/>
    <p:sldId id="697" r:id="rId13"/>
    <p:sldId id="714" r:id="rId14"/>
    <p:sldId id="715" r:id="rId15"/>
    <p:sldId id="716" r:id="rId16"/>
    <p:sldId id="717" r:id="rId17"/>
    <p:sldId id="719" r:id="rId18"/>
    <p:sldId id="720" r:id="rId19"/>
    <p:sldId id="721" r:id="rId20"/>
    <p:sldId id="722" r:id="rId21"/>
    <p:sldId id="723" r:id="rId22"/>
    <p:sldId id="724" r:id="rId23"/>
    <p:sldId id="698" r:id="rId24"/>
    <p:sldId id="699" r:id="rId25"/>
    <p:sldId id="701" r:id="rId26"/>
    <p:sldId id="702" r:id="rId27"/>
    <p:sldId id="682" r:id="rId28"/>
    <p:sldId id="703" r:id="rId29"/>
    <p:sldId id="684" r:id="rId30"/>
    <p:sldId id="687" r:id="rId31"/>
    <p:sldId id="725" r:id="rId32"/>
    <p:sldId id="704" r:id="rId33"/>
    <p:sldId id="705" r:id="rId34"/>
    <p:sldId id="726" r:id="rId35"/>
    <p:sldId id="706" r:id="rId36"/>
    <p:sldId id="707" r:id="rId37"/>
    <p:sldId id="708" r:id="rId38"/>
    <p:sldId id="709" r:id="rId39"/>
    <p:sldId id="710" r:id="rId40"/>
    <p:sldId id="711" r:id="rId41"/>
    <p:sldId id="729" r:id="rId42"/>
    <p:sldId id="730" r:id="rId43"/>
    <p:sldId id="733" r:id="rId44"/>
    <p:sldId id="732" r:id="rId45"/>
    <p:sldId id="713" r:id="rId46"/>
    <p:sldId id="549" r:id="rId47"/>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00CC99"/>
    <a:srgbClr val="006600"/>
    <a:srgbClr val="FFFF66"/>
    <a:srgbClr val="FF0000"/>
    <a:srgbClr val="00FF00"/>
    <a:srgbClr val="FFFFCC"/>
    <a:srgbClr val="99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21" autoAdjust="0"/>
    <p:restoredTop sz="95256" autoAdjust="0"/>
  </p:normalViewPr>
  <p:slideViewPr>
    <p:cSldViewPr>
      <p:cViewPr varScale="1">
        <p:scale>
          <a:sx n="83" d="100"/>
          <a:sy n="83" d="100"/>
        </p:scale>
        <p:origin x="1282"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D5E5FED8-8F02-59EF-E370-ED8EF65A3E0E}"/>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22A2B410-57C5-CF1F-AD2A-2B83E5BC7279}"/>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B11DF44F-8B2C-3DA2-18AF-EE152719F773}"/>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91457460-71C2-7755-5FD6-7BD2938F2C9D}"/>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9CEA90A0-41F7-462D-9879-F3DF740A83B2}" type="slidenum">
              <a:rPr lang="en-GB" altLang="en-US"/>
              <a:pPr>
                <a:defRPr/>
              </a:pPr>
              <a:t>‹#›</a:t>
            </a:fld>
            <a:endParaRPr lang="en-GB" altLang="en-US"/>
          </a:p>
        </p:txBody>
      </p:sp>
    </p:spTree>
    <p:extLst>
      <p:ext uri="{BB962C8B-B14F-4D97-AF65-F5344CB8AC3E}">
        <p14:creationId xmlns:p14="http://schemas.microsoft.com/office/powerpoint/2010/main" val="19743013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A2E5B90-38E0-EA8F-030E-8526C868DDCF}"/>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C104B8FB-23C8-897C-71EE-BE64635C3AB2}"/>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0CB59031-BA06-0CA6-3C45-804D7AF6B43E}"/>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49" name="Rectangle 5">
            <a:extLst>
              <a:ext uri="{FF2B5EF4-FFF2-40B4-BE49-F238E27FC236}">
                <a16:creationId xmlns:a16="http://schemas.microsoft.com/office/drawing/2014/main" id="{8FE7423F-B392-7D85-110A-1E8BBAF6DABB}"/>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ABC9AA8D-F077-C961-EFC5-0F6778C045EB}"/>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38C09E31-5DAD-CB9D-B611-6DD220EF7AED}"/>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59BAA159-2EC0-471A-AAB7-FB5283E49824}" type="slidenum">
              <a:rPr lang="de-AT" altLang="en-US"/>
              <a:pPr>
                <a:defRPr/>
              </a:pPr>
              <a:t>‹#›</a:t>
            </a:fld>
            <a:endParaRPr lang="de-AT" altLang="en-US"/>
          </a:p>
        </p:txBody>
      </p:sp>
    </p:spTree>
    <p:extLst>
      <p:ext uri="{BB962C8B-B14F-4D97-AF65-F5344CB8AC3E}">
        <p14:creationId xmlns:p14="http://schemas.microsoft.com/office/powerpoint/2010/main" val="38728178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EAA43CF9-15AF-A521-A3CE-9049C1B5519B}"/>
              </a:ext>
            </a:extLst>
          </p:cNvPr>
          <p:cNvSpPr>
            <a:spLocks noGrp="1" noRot="1" noChangeAspect="1" noChangeArrowheads="1" noTextEdit="1"/>
          </p:cNvSpPr>
          <p:nvPr>
            <p:ph type="sldImg"/>
          </p:nvPr>
        </p:nvSpPr>
        <p:spPr>
          <a:ln/>
        </p:spPr>
        <p:txBody>
          <a:bodyPr/>
          <a:lstStyle/>
          <a:p>
            <a:endParaRPr lang="en-US"/>
          </a:p>
        </p:txBody>
      </p:sp>
      <p:sp>
        <p:nvSpPr>
          <p:cNvPr id="96259" name="Notes Placeholder 2">
            <a:extLst>
              <a:ext uri="{FF2B5EF4-FFF2-40B4-BE49-F238E27FC236}">
                <a16:creationId xmlns:a16="http://schemas.microsoft.com/office/drawing/2014/main" id="{D534ABF6-AEF7-70E1-B84C-D52E0F7BD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6260" name="Slide Number Placeholder 3">
            <a:extLst>
              <a:ext uri="{FF2B5EF4-FFF2-40B4-BE49-F238E27FC236}">
                <a16:creationId xmlns:a16="http://schemas.microsoft.com/office/drawing/2014/main" id="{522DF649-CD8C-E2DC-63F8-2360EC4CD0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3BDED0-B2D7-4C86-BDE7-6478177757F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02284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39066C-DF9C-6154-623E-4D25B5B52A5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18D222C8-BBB8-DC40-CF3C-CD3AC346EA7C}"/>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71C78B3C-1801-37D9-1221-8203B8C03770}"/>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E18224C-0FB0-6B6C-36DF-472BEAAFBA1D}"/>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0C55B2B4-247C-EA5F-5632-4932003653ED}"/>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7F564B8B-4E0C-7CB4-9998-C3F6C2F8FB96}"/>
              </a:ext>
            </a:extLst>
          </p:cNvPr>
          <p:cNvSpPr>
            <a:spLocks noGrp="1"/>
          </p:cNvSpPr>
          <p:nvPr>
            <p:ph type="dt" sz="half" idx="10"/>
          </p:nvPr>
        </p:nvSpPr>
        <p:spPr/>
        <p:txBody>
          <a:bodyPr/>
          <a:lstStyle>
            <a:lvl1pPr>
              <a:defRPr/>
            </a:lvl1pPr>
          </a:lstStyle>
          <a:p>
            <a:pPr>
              <a:defRPr/>
            </a:pPr>
            <a:fld id="{79CF1446-C9F6-4443-9286-D689B1A0244F}" type="datetime1">
              <a:rPr lang="en-US"/>
              <a:pPr>
                <a:defRPr/>
              </a:pPr>
              <a:t>12/23/2025</a:t>
            </a:fld>
            <a:endParaRPr lang="en-US"/>
          </a:p>
        </p:txBody>
      </p:sp>
      <p:sp>
        <p:nvSpPr>
          <p:cNvPr id="10" name="Footer Placeholder 16">
            <a:extLst>
              <a:ext uri="{FF2B5EF4-FFF2-40B4-BE49-F238E27FC236}">
                <a16:creationId xmlns:a16="http://schemas.microsoft.com/office/drawing/2014/main" id="{5E0D5E70-3B0E-7AD2-9229-A7D9431E7D6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CA2A5AF8-A3EC-51E9-D4E2-AD060A79F00B}"/>
              </a:ext>
            </a:extLst>
          </p:cNvPr>
          <p:cNvSpPr>
            <a:spLocks noGrp="1"/>
          </p:cNvSpPr>
          <p:nvPr>
            <p:ph type="sldNum" sz="quarter" idx="12"/>
          </p:nvPr>
        </p:nvSpPr>
        <p:spPr/>
        <p:txBody>
          <a:bodyPr/>
          <a:lstStyle>
            <a:lvl1pPr>
              <a:defRPr sz="1400">
                <a:solidFill>
                  <a:srgbClr val="FFFFFF"/>
                </a:solidFill>
              </a:defRPr>
            </a:lvl1pPr>
          </a:lstStyle>
          <a:p>
            <a:pPr>
              <a:defRPr/>
            </a:pPr>
            <a:fld id="{CFD065E4-1B66-4917-94CF-DDC2DE6B16AA}" type="slidenum">
              <a:rPr lang="en-US"/>
              <a:pPr>
                <a:defRPr/>
              </a:pPr>
              <a:t>‹#›</a:t>
            </a:fld>
            <a:endParaRPr lang="en-US" dirty="0"/>
          </a:p>
        </p:txBody>
      </p:sp>
    </p:spTree>
    <p:extLst>
      <p:ext uri="{BB962C8B-B14F-4D97-AF65-F5344CB8AC3E}">
        <p14:creationId xmlns:p14="http://schemas.microsoft.com/office/powerpoint/2010/main" val="297738035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B396DFE6-B4E8-DD83-A0D8-5DC5CA58994F}"/>
              </a:ext>
            </a:extLst>
          </p:cNvPr>
          <p:cNvSpPr>
            <a:spLocks noGrp="1"/>
          </p:cNvSpPr>
          <p:nvPr>
            <p:ph type="dt" sz="half" idx="10"/>
          </p:nvPr>
        </p:nvSpPr>
        <p:spPr/>
        <p:txBody>
          <a:bodyPr/>
          <a:lstStyle>
            <a:lvl1pPr>
              <a:defRPr/>
            </a:lvl1pPr>
          </a:lstStyle>
          <a:p>
            <a:pPr>
              <a:defRPr/>
            </a:pPr>
            <a:fld id="{33892016-38A5-45A2-8FCF-B28DE5A26B0B}" type="datetime1">
              <a:rPr lang="en-US"/>
              <a:pPr>
                <a:defRPr/>
              </a:pPr>
              <a:t>12/23/2025</a:t>
            </a:fld>
            <a:endParaRPr lang="en-US" dirty="0"/>
          </a:p>
        </p:txBody>
      </p:sp>
      <p:sp>
        <p:nvSpPr>
          <p:cNvPr id="4" name="Footer Placeholder 2">
            <a:extLst>
              <a:ext uri="{FF2B5EF4-FFF2-40B4-BE49-F238E27FC236}">
                <a16:creationId xmlns:a16="http://schemas.microsoft.com/office/drawing/2014/main" id="{9E056B4E-95ED-4A33-07D3-06B5D61210D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DDD96BDC-2AFF-94B5-A87D-2D535D5C1D33}"/>
              </a:ext>
            </a:extLst>
          </p:cNvPr>
          <p:cNvSpPr>
            <a:spLocks noGrp="1"/>
          </p:cNvSpPr>
          <p:nvPr>
            <p:ph type="sldNum" sz="quarter" idx="12"/>
          </p:nvPr>
        </p:nvSpPr>
        <p:spPr/>
        <p:txBody>
          <a:bodyPr/>
          <a:lstStyle>
            <a:lvl1pPr>
              <a:defRPr/>
            </a:lvl1pPr>
          </a:lstStyle>
          <a:p>
            <a:pPr>
              <a:defRPr/>
            </a:pPr>
            <a:fld id="{E80619C9-1708-4C3B-BCE0-77AC977914F4}" type="slidenum">
              <a:rPr lang="en-US"/>
              <a:pPr>
                <a:defRPr/>
              </a:pPr>
              <a:t>‹#›</a:t>
            </a:fld>
            <a:endParaRPr lang="en-US" dirty="0"/>
          </a:p>
        </p:txBody>
      </p:sp>
    </p:spTree>
    <p:extLst>
      <p:ext uri="{BB962C8B-B14F-4D97-AF65-F5344CB8AC3E}">
        <p14:creationId xmlns:p14="http://schemas.microsoft.com/office/powerpoint/2010/main" val="148468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545B2F-9509-7C7F-2E6C-93BD0685E0B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37A60FA7-8EFB-B9C1-4374-08BA5C9E9FF7}"/>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999A1CA-F453-0C0B-D422-61A9CA672A49}"/>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94D8863D-3C91-3A32-4D13-7542ADE59049}"/>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22BDF143-C8D8-529C-FA65-3154819F2E1E}"/>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F3FBCE05-B246-59A9-7BF9-745DCB197852}"/>
              </a:ext>
            </a:extLst>
          </p:cNvPr>
          <p:cNvSpPr>
            <a:spLocks noGrp="1"/>
          </p:cNvSpPr>
          <p:nvPr>
            <p:ph type="dt" sz="half" idx="10"/>
          </p:nvPr>
        </p:nvSpPr>
        <p:spPr/>
        <p:txBody>
          <a:bodyPr/>
          <a:lstStyle>
            <a:lvl1pPr>
              <a:defRPr/>
            </a:lvl1pPr>
          </a:lstStyle>
          <a:p>
            <a:pPr>
              <a:defRPr/>
            </a:pPr>
            <a:fld id="{85C89F16-0ED0-47D8-9BF6-DB8802875382}" type="datetime1">
              <a:rPr lang="en-US"/>
              <a:pPr>
                <a:defRPr/>
              </a:pPr>
              <a:t>12/23/2025</a:t>
            </a:fld>
            <a:endParaRPr lang="en-US"/>
          </a:p>
        </p:txBody>
      </p:sp>
      <p:sp>
        <p:nvSpPr>
          <p:cNvPr id="10" name="Footer Placeholder 4">
            <a:extLst>
              <a:ext uri="{FF2B5EF4-FFF2-40B4-BE49-F238E27FC236}">
                <a16:creationId xmlns:a16="http://schemas.microsoft.com/office/drawing/2014/main" id="{FDB8DC83-A110-3838-E66B-31388C5C25F7}"/>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45B66283-2DCC-0003-4426-D31020707A56}"/>
              </a:ext>
            </a:extLst>
          </p:cNvPr>
          <p:cNvSpPr>
            <a:spLocks noGrp="1"/>
          </p:cNvSpPr>
          <p:nvPr>
            <p:ph type="sldNum" sz="quarter" idx="12"/>
          </p:nvPr>
        </p:nvSpPr>
        <p:spPr>
          <a:xfrm>
            <a:off x="146050" y="6208713"/>
            <a:ext cx="457200" cy="457200"/>
          </a:xfrm>
        </p:spPr>
        <p:txBody>
          <a:bodyPr/>
          <a:lstStyle>
            <a:lvl1pPr>
              <a:defRPr/>
            </a:lvl1pPr>
          </a:lstStyle>
          <a:p>
            <a:pPr>
              <a:defRPr/>
            </a:pPr>
            <a:fld id="{D18B2ED8-7408-4240-8676-622D3E75AC59}" type="slidenum">
              <a:rPr lang="en-US"/>
              <a:pPr>
                <a:defRPr/>
              </a:pPr>
              <a:t>‹#›</a:t>
            </a:fld>
            <a:endParaRPr lang="en-US" dirty="0"/>
          </a:p>
        </p:txBody>
      </p:sp>
    </p:spTree>
    <p:extLst>
      <p:ext uri="{BB962C8B-B14F-4D97-AF65-F5344CB8AC3E}">
        <p14:creationId xmlns:p14="http://schemas.microsoft.com/office/powerpoint/2010/main" val="226424875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0CDADDF-04BF-2D1D-9C98-ECAB4971517E}"/>
              </a:ext>
            </a:extLst>
          </p:cNvPr>
          <p:cNvSpPr>
            <a:spLocks noGrp="1"/>
          </p:cNvSpPr>
          <p:nvPr>
            <p:ph type="dt" sz="half" idx="10"/>
          </p:nvPr>
        </p:nvSpPr>
        <p:spPr/>
        <p:txBody>
          <a:bodyPr/>
          <a:lstStyle>
            <a:lvl1pPr>
              <a:defRPr/>
            </a:lvl1pPr>
          </a:lstStyle>
          <a:p>
            <a:pPr>
              <a:defRPr/>
            </a:pPr>
            <a:fld id="{7A89DDBE-D9C2-4699-8FC6-A81193FF0F87}" type="datetime1">
              <a:rPr lang="en-US"/>
              <a:pPr>
                <a:defRPr/>
              </a:pPr>
              <a:t>12/23/2025</a:t>
            </a:fld>
            <a:endParaRPr lang="en-US" dirty="0"/>
          </a:p>
        </p:txBody>
      </p:sp>
      <p:sp>
        <p:nvSpPr>
          <p:cNvPr id="4" name="Footer Placeholder 2">
            <a:extLst>
              <a:ext uri="{FF2B5EF4-FFF2-40B4-BE49-F238E27FC236}">
                <a16:creationId xmlns:a16="http://schemas.microsoft.com/office/drawing/2014/main" id="{EA7C873F-1BB3-5513-9803-0A21ECBDF8D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561A1D7E-1AAD-8F49-E349-5153EC543E82}"/>
              </a:ext>
            </a:extLst>
          </p:cNvPr>
          <p:cNvSpPr>
            <a:spLocks noGrp="1"/>
          </p:cNvSpPr>
          <p:nvPr>
            <p:ph type="sldNum" sz="quarter" idx="12"/>
          </p:nvPr>
        </p:nvSpPr>
        <p:spPr/>
        <p:txBody>
          <a:bodyPr/>
          <a:lstStyle>
            <a:lvl1pPr>
              <a:defRPr/>
            </a:lvl1pPr>
          </a:lstStyle>
          <a:p>
            <a:pPr>
              <a:defRPr/>
            </a:pPr>
            <a:fld id="{90243F15-6DC5-4AA3-8CE8-BCF1B672ACEB}" type="slidenum">
              <a:rPr lang="en-US"/>
              <a:pPr>
                <a:defRPr/>
              </a:pPr>
              <a:t>‹#›</a:t>
            </a:fld>
            <a:endParaRPr lang="en-US" dirty="0"/>
          </a:p>
        </p:txBody>
      </p:sp>
    </p:spTree>
    <p:extLst>
      <p:ext uri="{BB962C8B-B14F-4D97-AF65-F5344CB8AC3E}">
        <p14:creationId xmlns:p14="http://schemas.microsoft.com/office/powerpoint/2010/main" val="969053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EBF8CA8-3AC2-09F7-1BBB-0FA6AED36F1B}"/>
              </a:ext>
            </a:extLst>
          </p:cNvPr>
          <p:cNvSpPr>
            <a:spLocks noGrp="1"/>
          </p:cNvSpPr>
          <p:nvPr>
            <p:ph type="dt" sz="half" idx="10"/>
          </p:nvPr>
        </p:nvSpPr>
        <p:spPr/>
        <p:txBody>
          <a:bodyPr/>
          <a:lstStyle>
            <a:lvl1pPr>
              <a:defRPr/>
            </a:lvl1pPr>
          </a:lstStyle>
          <a:p>
            <a:pPr>
              <a:defRPr/>
            </a:pPr>
            <a:fld id="{E067741A-6475-428B-A8E4-F77833D97E78}" type="datetime1">
              <a:rPr lang="en-US"/>
              <a:pPr>
                <a:defRPr/>
              </a:pPr>
              <a:t>12/23/2025</a:t>
            </a:fld>
            <a:endParaRPr lang="en-US" dirty="0"/>
          </a:p>
        </p:txBody>
      </p:sp>
      <p:sp>
        <p:nvSpPr>
          <p:cNvPr id="6" name="Footer Placeholder 2">
            <a:extLst>
              <a:ext uri="{FF2B5EF4-FFF2-40B4-BE49-F238E27FC236}">
                <a16:creationId xmlns:a16="http://schemas.microsoft.com/office/drawing/2014/main" id="{221316CF-09DD-77DC-96BC-31FCEFF4361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BB2491B1-A99D-3D1D-6260-33F3900E911D}"/>
              </a:ext>
            </a:extLst>
          </p:cNvPr>
          <p:cNvSpPr>
            <a:spLocks noGrp="1"/>
          </p:cNvSpPr>
          <p:nvPr>
            <p:ph type="sldNum" sz="quarter" idx="12"/>
          </p:nvPr>
        </p:nvSpPr>
        <p:spPr/>
        <p:txBody>
          <a:bodyPr/>
          <a:lstStyle>
            <a:lvl1pPr>
              <a:defRPr/>
            </a:lvl1pPr>
          </a:lstStyle>
          <a:p>
            <a:pPr>
              <a:defRPr/>
            </a:pPr>
            <a:fld id="{95E3B942-8215-4833-AC83-10CEBF624210}" type="slidenum">
              <a:rPr lang="en-US"/>
              <a:pPr>
                <a:defRPr/>
              </a:pPr>
              <a:t>‹#›</a:t>
            </a:fld>
            <a:endParaRPr lang="en-US" dirty="0"/>
          </a:p>
        </p:txBody>
      </p:sp>
    </p:spTree>
    <p:extLst>
      <p:ext uri="{BB962C8B-B14F-4D97-AF65-F5344CB8AC3E}">
        <p14:creationId xmlns:p14="http://schemas.microsoft.com/office/powerpoint/2010/main" val="3895558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885919E0-21DC-087F-A752-3845402B905B}"/>
              </a:ext>
            </a:extLst>
          </p:cNvPr>
          <p:cNvSpPr>
            <a:spLocks noGrp="1"/>
          </p:cNvSpPr>
          <p:nvPr>
            <p:ph type="dt" sz="half" idx="10"/>
          </p:nvPr>
        </p:nvSpPr>
        <p:spPr/>
        <p:txBody>
          <a:bodyPr/>
          <a:lstStyle>
            <a:lvl1pPr>
              <a:defRPr/>
            </a:lvl1pPr>
          </a:lstStyle>
          <a:p>
            <a:pPr>
              <a:defRPr/>
            </a:pPr>
            <a:fld id="{2C0D66A2-F833-4D3E-BBFD-4BA89826E4C9}" type="datetime1">
              <a:rPr lang="en-US"/>
              <a:pPr>
                <a:defRPr/>
              </a:pPr>
              <a:t>12/23/2025</a:t>
            </a:fld>
            <a:endParaRPr lang="en-US" dirty="0"/>
          </a:p>
        </p:txBody>
      </p:sp>
      <p:sp>
        <p:nvSpPr>
          <p:cNvPr id="4" name="Footer Placeholder 2">
            <a:extLst>
              <a:ext uri="{FF2B5EF4-FFF2-40B4-BE49-F238E27FC236}">
                <a16:creationId xmlns:a16="http://schemas.microsoft.com/office/drawing/2014/main" id="{D5E24651-DD45-C67A-48C2-9D6BE9B3CC6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AB2859EE-C7FE-ED7F-ED32-260F9A2897CE}"/>
              </a:ext>
            </a:extLst>
          </p:cNvPr>
          <p:cNvSpPr>
            <a:spLocks noGrp="1"/>
          </p:cNvSpPr>
          <p:nvPr>
            <p:ph type="sldNum" sz="quarter" idx="12"/>
          </p:nvPr>
        </p:nvSpPr>
        <p:spPr/>
        <p:txBody>
          <a:bodyPr/>
          <a:lstStyle>
            <a:lvl1pPr>
              <a:defRPr/>
            </a:lvl1pPr>
          </a:lstStyle>
          <a:p>
            <a:pPr>
              <a:defRPr/>
            </a:pPr>
            <a:fld id="{D1EC5F62-2A84-4195-8B72-78726C500E3E}" type="slidenum">
              <a:rPr lang="en-US"/>
              <a:pPr>
                <a:defRPr/>
              </a:pPr>
              <a:t>‹#›</a:t>
            </a:fld>
            <a:endParaRPr lang="en-US" dirty="0"/>
          </a:p>
        </p:txBody>
      </p:sp>
    </p:spTree>
    <p:extLst>
      <p:ext uri="{BB962C8B-B14F-4D97-AF65-F5344CB8AC3E}">
        <p14:creationId xmlns:p14="http://schemas.microsoft.com/office/powerpoint/2010/main" val="74080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4250D812-A68E-B72D-CCCE-F029E25007D0}"/>
              </a:ext>
            </a:extLst>
          </p:cNvPr>
          <p:cNvSpPr>
            <a:spLocks noGrp="1"/>
          </p:cNvSpPr>
          <p:nvPr>
            <p:ph type="dt" sz="half" idx="10"/>
          </p:nvPr>
        </p:nvSpPr>
        <p:spPr/>
        <p:txBody>
          <a:bodyPr/>
          <a:lstStyle>
            <a:lvl1pPr>
              <a:defRPr/>
            </a:lvl1pPr>
          </a:lstStyle>
          <a:p>
            <a:pPr>
              <a:defRPr/>
            </a:pPr>
            <a:fld id="{06DFCD9B-6A02-440D-883A-790572724131}" type="datetime1">
              <a:rPr lang="en-US"/>
              <a:pPr>
                <a:defRPr/>
              </a:pPr>
              <a:t>12/23/2025</a:t>
            </a:fld>
            <a:endParaRPr lang="en-US" dirty="0"/>
          </a:p>
        </p:txBody>
      </p:sp>
      <p:sp>
        <p:nvSpPr>
          <p:cNvPr id="3" name="Footer Placeholder 2">
            <a:extLst>
              <a:ext uri="{FF2B5EF4-FFF2-40B4-BE49-F238E27FC236}">
                <a16:creationId xmlns:a16="http://schemas.microsoft.com/office/drawing/2014/main" id="{BF8396E7-E023-25E3-AE0A-3B95D71607A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EDE1120C-A435-5F9E-0A10-5116D774BAE8}"/>
              </a:ext>
            </a:extLst>
          </p:cNvPr>
          <p:cNvSpPr>
            <a:spLocks noGrp="1"/>
          </p:cNvSpPr>
          <p:nvPr>
            <p:ph type="sldNum" sz="quarter" idx="12"/>
          </p:nvPr>
        </p:nvSpPr>
        <p:spPr/>
        <p:txBody>
          <a:bodyPr/>
          <a:lstStyle>
            <a:lvl1pPr>
              <a:defRPr/>
            </a:lvl1pPr>
          </a:lstStyle>
          <a:p>
            <a:pPr>
              <a:defRPr/>
            </a:pPr>
            <a:fld id="{A5EAE7F8-F456-46EF-98C9-E75D54E6CEE0}" type="slidenum">
              <a:rPr lang="en-US"/>
              <a:pPr>
                <a:defRPr/>
              </a:pPr>
              <a:t>‹#›</a:t>
            </a:fld>
            <a:endParaRPr lang="en-US" dirty="0"/>
          </a:p>
        </p:txBody>
      </p:sp>
    </p:spTree>
    <p:extLst>
      <p:ext uri="{BB962C8B-B14F-4D97-AF65-F5344CB8AC3E}">
        <p14:creationId xmlns:p14="http://schemas.microsoft.com/office/powerpoint/2010/main" val="2987148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A37AFF-B187-B8B9-49C4-692A9E414BB9}"/>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BEA249C2-7AA4-FBAC-CD84-B31208E12A8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A5B1817-A2A9-3036-5219-5CC18411ECC1}"/>
              </a:ext>
            </a:extLst>
          </p:cNvPr>
          <p:cNvSpPr>
            <a:spLocks noGrp="1"/>
          </p:cNvSpPr>
          <p:nvPr>
            <p:ph type="dt" sz="half" idx="10"/>
          </p:nvPr>
        </p:nvSpPr>
        <p:spPr/>
        <p:txBody>
          <a:bodyPr/>
          <a:lstStyle>
            <a:lvl1pPr>
              <a:defRPr/>
            </a:lvl1pPr>
          </a:lstStyle>
          <a:p>
            <a:pPr>
              <a:defRPr/>
            </a:pPr>
            <a:fld id="{627C16B8-22B0-479A-B212-C924D35CBC22}" type="datetime1">
              <a:rPr lang="en-US"/>
              <a:pPr>
                <a:defRPr/>
              </a:pPr>
              <a:t>12/23/2025</a:t>
            </a:fld>
            <a:endParaRPr lang="en-US"/>
          </a:p>
        </p:txBody>
      </p:sp>
      <p:sp>
        <p:nvSpPr>
          <p:cNvPr id="7" name="Footer Placeholder 5">
            <a:extLst>
              <a:ext uri="{FF2B5EF4-FFF2-40B4-BE49-F238E27FC236}">
                <a16:creationId xmlns:a16="http://schemas.microsoft.com/office/drawing/2014/main" id="{AB4908A0-C03A-042C-F5FA-AB2DB42AE79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50B415EB-A043-C051-8198-9C2C3C85A018}"/>
              </a:ext>
            </a:extLst>
          </p:cNvPr>
          <p:cNvSpPr>
            <a:spLocks noGrp="1"/>
          </p:cNvSpPr>
          <p:nvPr>
            <p:ph type="sldNum" sz="quarter" idx="12"/>
          </p:nvPr>
        </p:nvSpPr>
        <p:spPr/>
        <p:txBody>
          <a:bodyPr/>
          <a:lstStyle>
            <a:lvl1pPr>
              <a:defRPr/>
            </a:lvl1pPr>
          </a:lstStyle>
          <a:p>
            <a:pPr>
              <a:defRPr/>
            </a:pPr>
            <a:fld id="{18499E09-BCAF-4C79-9ED7-85587F328C31}" type="slidenum">
              <a:rPr lang="en-US"/>
              <a:pPr>
                <a:defRPr/>
              </a:pPr>
              <a:t>‹#›</a:t>
            </a:fld>
            <a:endParaRPr lang="en-US"/>
          </a:p>
        </p:txBody>
      </p:sp>
    </p:spTree>
    <p:extLst>
      <p:ext uri="{BB962C8B-B14F-4D97-AF65-F5344CB8AC3E}">
        <p14:creationId xmlns:p14="http://schemas.microsoft.com/office/powerpoint/2010/main" val="3076495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9AC405-2C75-A219-0834-108F13DAB45C}"/>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BC3D419-2231-EEF1-CEB7-0EE523B48EB9}"/>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064155D-D463-FCBF-1733-09AFB952B7F7}"/>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5591B9E-C084-D7AF-CC45-0BC62473DA65}"/>
              </a:ext>
            </a:extLst>
          </p:cNvPr>
          <p:cNvSpPr>
            <a:spLocks noGrp="1"/>
          </p:cNvSpPr>
          <p:nvPr>
            <p:ph type="dt" sz="half" idx="10"/>
          </p:nvPr>
        </p:nvSpPr>
        <p:spPr/>
        <p:txBody>
          <a:bodyPr/>
          <a:lstStyle>
            <a:lvl1pPr>
              <a:defRPr/>
            </a:lvl1pPr>
          </a:lstStyle>
          <a:p>
            <a:pPr>
              <a:defRPr/>
            </a:pPr>
            <a:fld id="{A9439A8E-E74E-4073-A72F-B411CA495669}" type="datetime1">
              <a:rPr lang="en-US"/>
              <a:pPr>
                <a:defRPr/>
              </a:pPr>
              <a:t>12/23/2025</a:t>
            </a:fld>
            <a:endParaRPr lang="en-US"/>
          </a:p>
        </p:txBody>
      </p:sp>
      <p:sp>
        <p:nvSpPr>
          <p:cNvPr id="9" name="Footer Placeholder 5">
            <a:extLst>
              <a:ext uri="{FF2B5EF4-FFF2-40B4-BE49-F238E27FC236}">
                <a16:creationId xmlns:a16="http://schemas.microsoft.com/office/drawing/2014/main" id="{0E8B5B52-C901-9CDC-908D-5320492CB6DD}"/>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596CD343-8346-E066-8958-650AD84E89AB}"/>
              </a:ext>
            </a:extLst>
          </p:cNvPr>
          <p:cNvSpPr>
            <a:spLocks noGrp="1"/>
          </p:cNvSpPr>
          <p:nvPr>
            <p:ph type="sldNum" sz="quarter" idx="12"/>
          </p:nvPr>
        </p:nvSpPr>
        <p:spPr>
          <a:xfrm>
            <a:off x="146050" y="6208713"/>
            <a:ext cx="457200" cy="457200"/>
          </a:xfrm>
        </p:spPr>
        <p:txBody>
          <a:bodyPr/>
          <a:lstStyle>
            <a:lvl1pPr>
              <a:defRPr/>
            </a:lvl1pPr>
          </a:lstStyle>
          <a:p>
            <a:pPr>
              <a:defRPr/>
            </a:pPr>
            <a:fld id="{E0E47019-EA52-4855-A446-C270BFC7F95E}" type="slidenum">
              <a:rPr lang="en-US"/>
              <a:pPr>
                <a:defRPr/>
              </a:pPr>
              <a:t>‹#›</a:t>
            </a:fld>
            <a:endParaRPr lang="en-US" dirty="0"/>
          </a:p>
        </p:txBody>
      </p:sp>
    </p:spTree>
    <p:extLst>
      <p:ext uri="{BB962C8B-B14F-4D97-AF65-F5344CB8AC3E}">
        <p14:creationId xmlns:p14="http://schemas.microsoft.com/office/powerpoint/2010/main" val="981586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216D75B-E7B6-7280-37DB-BF4B47BB0C6D}"/>
              </a:ext>
            </a:extLst>
          </p:cNvPr>
          <p:cNvSpPr>
            <a:spLocks noGrp="1"/>
          </p:cNvSpPr>
          <p:nvPr>
            <p:ph type="dt" sz="half" idx="10"/>
          </p:nvPr>
        </p:nvSpPr>
        <p:spPr/>
        <p:txBody>
          <a:bodyPr/>
          <a:lstStyle>
            <a:lvl1pPr>
              <a:defRPr/>
            </a:lvl1pPr>
          </a:lstStyle>
          <a:p>
            <a:pPr>
              <a:defRPr/>
            </a:pPr>
            <a:fld id="{869FE76C-FF8F-43AF-BD8C-E192B2C2B4EE}" type="datetime1">
              <a:rPr lang="en-US"/>
              <a:pPr>
                <a:defRPr/>
              </a:pPr>
              <a:t>12/23/2025</a:t>
            </a:fld>
            <a:endParaRPr lang="en-US" dirty="0"/>
          </a:p>
        </p:txBody>
      </p:sp>
      <p:sp>
        <p:nvSpPr>
          <p:cNvPr id="5" name="Footer Placeholder 2">
            <a:extLst>
              <a:ext uri="{FF2B5EF4-FFF2-40B4-BE49-F238E27FC236}">
                <a16:creationId xmlns:a16="http://schemas.microsoft.com/office/drawing/2014/main" id="{4E144CE4-E7C5-0F00-67B8-690C439CE51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73889489-04F5-935E-D643-BFB345CBAF54}"/>
              </a:ext>
            </a:extLst>
          </p:cNvPr>
          <p:cNvSpPr>
            <a:spLocks noGrp="1"/>
          </p:cNvSpPr>
          <p:nvPr>
            <p:ph type="sldNum" sz="quarter" idx="12"/>
          </p:nvPr>
        </p:nvSpPr>
        <p:spPr/>
        <p:txBody>
          <a:bodyPr/>
          <a:lstStyle>
            <a:lvl1pPr>
              <a:defRPr/>
            </a:lvl1pPr>
          </a:lstStyle>
          <a:p>
            <a:pPr>
              <a:defRPr/>
            </a:pPr>
            <a:fld id="{445BA751-F2BD-4C20-90CF-2539005ABB34}" type="slidenum">
              <a:rPr lang="en-US"/>
              <a:pPr>
                <a:defRPr/>
              </a:pPr>
              <a:t>‹#›</a:t>
            </a:fld>
            <a:endParaRPr lang="en-US" dirty="0"/>
          </a:p>
        </p:txBody>
      </p:sp>
    </p:spTree>
    <p:extLst>
      <p:ext uri="{BB962C8B-B14F-4D97-AF65-F5344CB8AC3E}">
        <p14:creationId xmlns:p14="http://schemas.microsoft.com/office/powerpoint/2010/main" val="1763048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F01D196A-0A33-B379-3A18-9C00F90A647E}"/>
              </a:ext>
            </a:extLst>
          </p:cNvPr>
          <p:cNvSpPr>
            <a:spLocks noGrp="1"/>
          </p:cNvSpPr>
          <p:nvPr>
            <p:ph type="dt" sz="half" idx="10"/>
          </p:nvPr>
        </p:nvSpPr>
        <p:spPr/>
        <p:txBody>
          <a:bodyPr/>
          <a:lstStyle>
            <a:lvl1pPr>
              <a:defRPr/>
            </a:lvl1pPr>
          </a:lstStyle>
          <a:p>
            <a:pPr>
              <a:defRPr/>
            </a:pPr>
            <a:fld id="{E2AF3674-77A2-4FBC-A50E-EDF0D2B59C76}" type="datetime1">
              <a:rPr lang="en-US"/>
              <a:pPr>
                <a:defRPr/>
              </a:pPr>
              <a:t>12/23/2025</a:t>
            </a:fld>
            <a:endParaRPr lang="en-US" dirty="0"/>
          </a:p>
        </p:txBody>
      </p:sp>
      <p:sp>
        <p:nvSpPr>
          <p:cNvPr id="5" name="Footer Placeholder 2">
            <a:extLst>
              <a:ext uri="{FF2B5EF4-FFF2-40B4-BE49-F238E27FC236}">
                <a16:creationId xmlns:a16="http://schemas.microsoft.com/office/drawing/2014/main" id="{3D58D851-CE57-B65F-03BE-4563F617529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1F8DA9E-89F2-D90B-44D9-A9A06A7C0FC8}"/>
              </a:ext>
            </a:extLst>
          </p:cNvPr>
          <p:cNvSpPr>
            <a:spLocks noGrp="1"/>
          </p:cNvSpPr>
          <p:nvPr>
            <p:ph type="sldNum" sz="quarter" idx="12"/>
          </p:nvPr>
        </p:nvSpPr>
        <p:spPr/>
        <p:txBody>
          <a:bodyPr/>
          <a:lstStyle>
            <a:lvl1pPr>
              <a:defRPr/>
            </a:lvl1pPr>
          </a:lstStyle>
          <a:p>
            <a:pPr>
              <a:defRPr/>
            </a:pPr>
            <a:fld id="{D298D8AC-5990-4364-BE6A-AB6FF07654B6}" type="slidenum">
              <a:rPr lang="en-US"/>
              <a:pPr>
                <a:defRPr/>
              </a:pPr>
              <a:t>‹#›</a:t>
            </a:fld>
            <a:endParaRPr lang="en-US" dirty="0"/>
          </a:p>
        </p:txBody>
      </p:sp>
    </p:spTree>
    <p:extLst>
      <p:ext uri="{BB962C8B-B14F-4D97-AF65-F5344CB8AC3E}">
        <p14:creationId xmlns:p14="http://schemas.microsoft.com/office/powerpoint/2010/main" val="2514404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C0916A30-B4DB-6572-32E5-123305D25E17}"/>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3679866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1127193524"/>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39101608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17238377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28909063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2357385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19795405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27885731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B44A936-745D-EF49-60A0-CF1AF5E0193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535150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9325AD-63AC-7191-3EA4-502BB93C661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134A59EF-318D-F794-085F-76DDB08FF809}"/>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92180755-DED9-5C5E-3E74-58D9AB09F394}"/>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ACEEDB54-C0EC-E656-65BA-77A3B3137C70}"/>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C30A4B39-D45E-6E87-AB9B-C3D136C9182D}"/>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99F46A9E-D93A-4070-8EC6-4ADC3D98B195}" type="datetime1">
              <a:rPr lang="en-US"/>
              <a:pPr>
                <a:defRPr/>
              </a:pPr>
              <a:t>12/23/2025</a:t>
            </a:fld>
            <a:endParaRPr lang="en-US" dirty="0"/>
          </a:p>
        </p:txBody>
      </p:sp>
      <p:sp>
        <p:nvSpPr>
          <p:cNvPr id="3" name="Footer Placeholder 2">
            <a:extLst>
              <a:ext uri="{FF2B5EF4-FFF2-40B4-BE49-F238E27FC236}">
                <a16:creationId xmlns:a16="http://schemas.microsoft.com/office/drawing/2014/main" id="{10E22853-FCCC-34E7-6A1B-4DBAEBA4AED0}"/>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401B6903-5E70-8998-5728-5AE139D7032B}"/>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A6BAC30-25F7-4B4D-96C6-5B82F2D855D3}" type="slidenum">
              <a:rPr lang="en-US"/>
              <a:pPr>
                <a:defRPr/>
              </a:pPr>
              <a:t>‹#›</a:t>
            </a:fld>
            <a:endParaRPr lang="en-US" dirty="0"/>
          </a:p>
        </p:txBody>
      </p:sp>
    </p:spTree>
    <p:extLst>
      <p:ext uri="{BB962C8B-B14F-4D97-AF65-F5344CB8AC3E}">
        <p14:creationId xmlns:p14="http://schemas.microsoft.com/office/powerpoint/2010/main" val="420316071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3381734179"/>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image" Target="../media/image8.emf"/><Relationship Id="rId1" Type="http://schemas.openxmlformats.org/officeDocument/2006/relationships/slideLayout" Target="../slideLayouts/slideLayout14.xml"/><Relationship Id="rId6" Type="http://schemas.openxmlformats.org/officeDocument/2006/relationships/image" Target="../media/image10.emf"/><Relationship Id="rId5" Type="http://schemas.openxmlformats.org/officeDocument/2006/relationships/image" Target="../media/image13.emf"/><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8.emf"/><Relationship Id="rId1" Type="http://schemas.openxmlformats.org/officeDocument/2006/relationships/slideLayout" Target="../slideLayouts/slideLayout14.xml"/><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b="1" dirty="0">
                <a:solidFill>
                  <a:srgbClr val="000099"/>
                </a:solidFill>
                <a:latin typeface="Cambria" panose="02040503050406030204" pitchFamily="18" charset="0"/>
                <a:ea typeface="Cambria" panose="02040503050406030204" pitchFamily="18" charset="0"/>
              </a:rPr>
              <a:t>CC-215</a:t>
            </a:r>
            <a:br>
              <a:rPr altLang="en-US" dirty="0">
                <a:solidFill>
                  <a:srgbClr val="000099"/>
                </a:solidFill>
                <a:latin typeface="Cambria" panose="02040503050406030204" pitchFamily="18" charset="0"/>
                <a:ea typeface="Cambria" panose="02040503050406030204" pitchFamily="18" charset="0"/>
              </a:rPr>
            </a:br>
            <a:r>
              <a:rPr altLang="en-US" b="1" dirty="0">
                <a:solidFill>
                  <a:srgbClr val="FFFF00"/>
                </a:solidFill>
                <a:latin typeface="Cambria" panose="02040503050406030204" pitchFamily="18" charset="0"/>
                <a:ea typeface="Cambria" panose="02040503050406030204" pitchFamily="18" charset="0"/>
              </a:rPr>
              <a:t>Database Systems</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j-cs"/>
              </a:rPr>
              <a:t>— Unit 13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Concurrency Control</a:t>
            </a: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5652120" y="4637620"/>
            <a:ext cx="3233199"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pic>
        <p:nvPicPr>
          <p:cNvPr id="4" name="Picture 10">
            <a:extLst>
              <a:ext uri="{FF2B5EF4-FFF2-40B4-BE49-F238E27FC236}">
                <a16:creationId xmlns:a16="http://schemas.microsoft.com/office/drawing/2014/main" id="{6B819144-AC91-20AF-4E39-1CC6743E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a:extLst>
              <a:ext uri="{FF2B5EF4-FFF2-40B4-BE49-F238E27FC236}">
                <a16:creationId xmlns:a16="http://schemas.microsoft.com/office/drawing/2014/main" id="{7C24E2FC-DC72-6DE9-973D-DFAF2B2A7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FC7106B-BDE5-751B-3CDA-7C878E45D349}"/>
              </a:ext>
            </a:extLst>
          </p:cNvPr>
          <p:cNvSpPr txBox="1">
            <a:spLocks noChangeArrowheads="1"/>
          </p:cNvSpPr>
          <p:nvPr/>
        </p:nvSpPr>
        <p:spPr bwMode="auto">
          <a:xfrm>
            <a:off x="323528" y="4653136"/>
            <a:ext cx="5069656"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endPar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Some slides and/or pictures are adapted from Lecture slides / Books of</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Peter Rob</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Jeffery. A. Hoffer</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Thomas M. Connolly</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Ramez Elmasri</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www.knowledgate.ai</a:t>
            </a:r>
          </a:p>
          <a:p>
            <a:pPr marL="0" marR="0" lvl="0" indent="0" algn="l" defTabSz="914400" rtl="0" eaLnBrk="1" fontAlgn="base" latinLnBrk="0" hangingPunct="1">
              <a:lnSpc>
                <a:spcPct val="100000"/>
              </a:lnSpc>
              <a:spcBef>
                <a:spcPts val="1800"/>
              </a:spcBef>
              <a:spcAft>
                <a:spcPts val="60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DA0E-BE5D-E18F-0500-F11CA3F223C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7441C0C-FC54-5B4F-2A62-78F26AA65218}"/>
              </a:ext>
            </a:extLst>
          </p:cNvPr>
          <p:cNvSpPr>
            <a:spLocks noGrp="1" noChangeArrowheads="1"/>
          </p:cNvSpPr>
          <p:nvPr>
            <p:ph type="title"/>
          </p:nvPr>
        </p:nvSpPr>
        <p:spPr>
          <a:xfrm>
            <a:off x="323528" y="18864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2" name="Content Placeholder 1">
            <a:extLst>
              <a:ext uri="{FF2B5EF4-FFF2-40B4-BE49-F238E27FC236}">
                <a16:creationId xmlns:a16="http://schemas.microsoft.com/office/drawing/2014/main" id="{D3D2A838-8D87-4104-EC2E-AF96DA991788}"/>
              </a:ext>
            </a:extLst>
          </p:cNvPr>
          <p:cNvSpPr>
            <a:spLocks noGrp="1"/>
          </p:cNvSpPr>
          <p:nvPr>
            <p:ph sz="quarter" idx="1"/>
          </p:nvPr>
        </p:nvSpPr>
        <p:spPr>
          <a:xfrm>
            <a:off x="251520" y="692696"/>
            <a:ext cx="8492430" cy="3600400"/>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Database Concurrency refers to database access by multiple transactions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(Concurrent Transactions).</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Concurrency Control mechanism</a:t>
            </a:r>
            <a:r>
              <a:rPr lang="en-US" sz="2400" dirty="0">
                <a:latin typeface="Cambria" panose="02040503050406030204" pitchFamily="18" charset="0"/>
                <a:ea typeface="Cambria" panose="02040503050406030204" pitchFamily="18" charset="0"/>
                <a:cs typeface="Calibri" panose="020F0502020204030204" pitchFamily="34" charset="0"/>
              </a:rPr>
              <a:t> is needed to prevent loss of data integrity due to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interleaving operations</a:t>
            </a:r>
            <a:r>
              <a:rPr lang="en-US" sz="2400" dirty="0">
                <a:latin typeface="Cambria" panose="02040503050406030204" pitchFamily="18" charset="0"/>
                <a:ea typeface="Cambria" panose="02040503050406030204" pitchFamily="18" charset="0"/>
                <a:cs typeface="Calibri" panose="020F0502020204030204" pitchFamily="34" charset="0"/>
              </a:rPr>
              <a:t> of concurrent transactions in an multi-user environment.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Concurrency control is a process of managing simultaneous operations on the database without having them interfere with one another.</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When two or more users are accessing the database simultaneously and at least one is updating data, there may be interference that can result in inconsistencies.</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15155E20-E875-CD45-9FC4-80A83C1E161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75677C5-8878-780C-D58A-012BE425E0B0}"/>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74259094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1811-D3EE-0616-2B78-B164CAF0128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3946C4DD-4CFA-ADF0-49A9-B18B67CF65E6}"/>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Concurrency Problems</a:t>
            </a:r>
          </a:p>
        </p:txBody>
      </p:sp>
      <p:sp>
        <p:nvSpPr>
          <p:cNvPr id="2" name="Content Placeholder 1">
            <a:extLst>
              <a:ext uri="{FF2B5EF4-FFF2-40B4-BE49-F238E27FC236}">
                <a16:creationId xmlns:a16="http://schemas.microsoft.com/office/drawing/2014/main" id="{ADBAA8DB-2F7D-3FE8-A902-D76B292D7B5B}"/>
              </a:ext>
            </a:extLst>
          </p:cNvPr>
          <p:cNvSpPr>
            <a:spLocks noGrp="1"/>
          </p:cNvSpPr>
          <p:nvPr>
            <p:ph sz="quarter" idx="1"/>
          </p:nvPr>
        </p:nvSpPr>
        <p:spPr>
          <a:xfrm>
            <a:off x="251520" y="692696"/>
            <a:ext cx="8492430" cy="3600400"/>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concurrent transactions yield to the following problems:</a:t>
            </a:r>
          </a:p>
          <a:p>
            <a:pPr marL="274638" lvl="1" indent="0" algn="just">
              <a:spcBef>
                <a:spcPts val="300"/>
              </a:spcBef>
              <a:buClr>
                <a:srgbClr val="C00000"/>
              </a:buClr>
              <a:buNone/>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1. Lost Update Problem </a:t>
            </a:r>
          </a:p>
          <a:p>
            <a:pPr marL="274638" lvl="1" indent="0" algn="just">
              <a:spcBef>
                <a:spcPts val="300"/>
              </a:spcBef>
              <a:buClr>
                <a:srgbClr val="C00000"/>
              </a:buClr>
              <a:buNone/>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2. Uncommitted Dependency Problem</a:t>
            </a:r>
          </a:p>
          <a:p>
            <a:pPr marL="274638" lvl="1" indent="0" algn="just">
              <a:spcBef>
                <a:spcPts val="300"/>
              </a:spcBef>
              <a:buClr>
                <a:srgbClr val="C00000"/>
              </a:buClr>
              <a:buNone/>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3. Inconsistent Analysis/Retrievals </a:t>
            </a:r>
          </a:p>
          <a:p>
            <a:pPr marL="274638" lvl="1" indent="0" algn="just">
              <a:spcBef>
                <a:spcPts val="300"/>
              </a:spcBef>
              <a:buClr>
                <a:srgbClr val="C00000"/>
              </a:buClr>
              <a:buNone/>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(10-2 c, Text Book P-492), (Ex 22-3, RB-B P-674) </a:t>
            </a:r>
          </a:p>
          <a:p>
            <a:pPr marL="274638" lvl="1" indent="0" algn="just">
              <a:spcBef>
                <a:spcPts val="300"/>
              </a:spcBef>
              <a:buClr>
                <a:srgbClr val="C00000"/>
              </a:buClr>
              <a:buNone/>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4. Non-repeatable (or fuzzy) Read</a:t>
            </a:r>
          </a:p>
          <a:p>
            <a:pPr marL="274638" lvl="1" indent="0" algn="just">
              <a:spcBef>
                <a:spcPts val="300"/>
              </a:spcBef>
              <a:buClr>
                <a:srgbClr val="C00000"/>
              </a:buClr>
              <a:buNone/>
              <a:defRPr/>
            </a:pPr>
            <a:r>
              <a:rPr lang="en-US" dirty="0">
                <a:solidFill>
                  <a:srgbClr val="0033CC"/>
                </a:solidFill>
                <a:latin typeface="Cambria" panose="02040503050406030204" pitchFamily="18" charset="0"/>
                <a:ea typeface="Cambria" panose="02040503050406030204" pitchFamily="18" charset="0"/>
                <a:cs typeface="Calibri" panose="020F0502020204030204" pitchFamily="34" charset="0"/>
              </a:rPr>
              <a:t>5. Phantom Read</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F97917AD-B877-DB42-F1EA-BFFA4F15B406}"/>
              </a:ext>
            </a:extLst>
          </p:cNvPr>
          <p:cNvSpPr>
            <a:spLocks noGrp="1"/>
          </p:cNvSpPr>
          <p:nvPr>
            <p:ph type="ftr" sz="quarter" idx="11"/>
          </p:nvPr>
        </p:nvSpPr>
        <p:spPr>
          <a:xfrm>
            <a:off x="2555776" y="6453336"/>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D06E5105-FEE4-254A-FD80-941453D52C4C}"/>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56987289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E6A28-409F-313E-838B-D9036F41E94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5AF2EE7-74DC-627B-4420-A978E117F0A7}"/>
              </a:ext>
            </a:extLst>
          </p:cNvPr>
          <p:cNvSpPr>
            <a:spLocks noGrp="1" noChangeArrowheads="1"/>
          </p:cNvSpPr>
          <p:nvPr>
            <p:ph type="title"/>
          </p:nvPr>
        </p:nvSpPr>
        <p:spPr>
          <a:xfrm>
            <a:off x="4772681" y="188640"/>
            <a:ext cx="4392488"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1. Lost Update Problem</a:t>
            </a:r>
          </a:p>
        </p:txBody>
      </p:sp>
      <p:sp>
        <p:nvSpPr>
          <p:cNvPr id="3" name="Footer Placeholder 2">
            <a:extLst>
              <a:ext uri="{FF2B5EF4-FFF2-40B4-BE49-F238E27FC236}">
                <a16:creationId xmlns:a16="http://schemas.microsoft.com/office/drawing/2014/main" id="{65F91094-34F4-970D-2F5B-6EF6BA24A431}"/>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34F020A-6AB0-1F56-6465-1CD914E797F8}"/>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6" name="Rectangle 2">
            <a:extLst>
              <a:ext uri="{FF2B5EF4-FFF2-40B4-BE49-F238E27FC236}">
                <a16:creationId xmlns:a16="http://schemas.microsoft.com/office/drawing/2014/main" id="{0A2E3E97-7C0B-A6FA-BEDB-217A1BB3D6FE}"/>
              </a:ext>
            </a:extLst>
          </p:cNvPr>
          <p:cNvSpPr txBox="1">
            <a:spLocks noChangeArrowheads="1"/>
          </p:cNvSpPr>
          <p:nvPr/>
        </p:nvSpPr>
        <p:spPr bwMode="auto">
          <a:xfrm>
            <a:off x="214315" y="230708"/>
            <a:ext cx="8929685" cy="3813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609600" indent="-609600">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Time</a:t>
            </a:r>
            <a:r>
              <a:rPr lang="en-US" altLang="en-US" sz="1600"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altLang="en-US" sz="16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buClr>
                <a:schemeClr val="tx2"/>
              </a:buClr>
              <a:buFontTx/>
              <a:buNone/>
            </a:pPr>
            <a:r>
              <a:rPr lang="en-US" altLang="en-US" sz="2400" b="1" dirty="0">
                <a:latin typeface="Cambria" panose="02040503050406030204" pitchFamily="18" charset="0"/>
                <a:ea typeface="Cambria" panose="02040503050406030204" pitchFamily="18" charset="0"/>
                <a:cs typeface="Calibri" panose="020F0502020204030204" pitchFamily="34" charset="0"/>
              </a:rPr>
              <a:t>	</a:t>
            </a:r>
            <a:r>
              <a:rPr lang="en-US" altLang="en-US" sz="2400" b="1" u="sng" dirty="0">
                <a:solidFill>
                  <a:srgbClr val="0033CC"/>
                </a:solidFill>
                <a:latin typeface="Cambria" panose="02040503050406030204" pitchFamily="18" charset="0"/>
                <a:ea typeface="Cambria" panose="02040503050406030204" pitchFamily="18" charset="0"/>
                <a:cs typeface="Calibri" panose="020F0502020204030204" pitchFamily="34" charset="0"/>
              </a:rPr>
              <a:t>Trans A</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b="1" u="sng" dirty="0">
                <a:solidFill>
                  <a:srgbClr val="0033CC"/>
                </a:solidFill>
                <a:latin typeface="Cambria" panose="02040503050406030204" pitchFamily="18" charset="0"/>
                <a:ea typeface="Cambria" panose="02040503050406030204" pitchFamily="18" charset="0"/>
                <a:cs typeface="Calibri" panose="020F0502020204030204" pitchFamily="34" charset="0"/>
              </a:rPr>
              <a:t>Trans B</a:t>
            </a:r>
          </a:p>
          <a:p>
            <a:pPr marL="609600" indent="-609600">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Fetch R	  </a:t>
            </a:r>
            <a:r>
              <a:rPr lang="en-US" altLang="en-US" sz="2000" dirty="0">
                <a:latin typeface="Cambria" panose="02040503050406030204" pitchFamily="18" charset="0"/>
                <a:ea typeface="Cambria" panose="02040503050406030204" pitchFamily="18" charset="0"/>
                <a:cs typeface="Calibri" panose="020F0502020204030204" pitchFamily="34" charset="0"/>
              </a:rPr>
              <a:t>t1</a:t>
            </a:r>
            <a:r>
              <a:rPr lang="en-US" altLang="en-US" sz="2400" dirty="0">
                <a:latin typeface="Cambria" panose="02040503050406030204" pitchFamily="18" charset="0"/>
                <a:ea typeface="Cambria" panose="02040503050406030204" pitchFamily="18" charset="0"/>
                <a:cs typeface="Calibri" panose="020F0502020204030204" pitchFamily="34" charset="0"/>
              </a:rPr>
              <a:t>	----------	*Trans A retrieves R at t1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r>
              <a:rPr lang="en-US" altLang="en-US" sz="2000" dirty="0">
                <a:latin typeface="Cambria" panose="02040503050406030204" pitchFamily="18" charset="0"/>
                <a:ea typeface="Cambria" panose="02040503050406030204" pitchFamily="18" charset="0"/>
                <a:cs typeface="Calibri" panose="020F0502020204030204" pitchFamily="34" charset="0"/>
              </a:rPr>
              <a:t>t2</a:t>
            </a:r>
            <a:r>
              <a:rPr lang="en-US" altLang="en-US" sz="2400" dirty="0">
                <a:latin typeface="Cambria" panose="02040503050406030204" pitchFamily="18" charset="0"/>
                <a:ea typeface="Cambria" panose="02040503050406030204" pitchFamily="18" charset="0"/>
                <a:cs typeface="Calibri" panose="020F0502020204030204" pitchFamily="34" charset="0"/>
              </a:rPr>
              <a:t> 	Fetch R	*Trans B retrieves R at t2</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Update R</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latin typeface="Cambria" panose="02040503050406030204" pitchFamily="18" charset="0"/>
                <a:ea typeface="Cambria" panose="02040503050406030204" pitchFamily="18" charset="0"/>
                <a:cs typeface="Calibri" panose="020F0502020204030204" pitchFamily="34" charset="0"/>
              </a:rPr>
              <a:t>t3</a:t>
            </a:r>
            <a:r>
              <a:rPr lang="en-US" altLang="en-US" sz="2400" dirty="0">
                <a:latin typeface="Cambria" panose="02040503050406030204" pitchFamily="18" charset="0"/>
                <a:ea typeface="Cambria" panose="02040503050406030204" pitchFamily="18" charset="0"/>
                <a:cs typeface="Calibri" panose="020F0502020204030204" pitchFamily="34" charset="0"/>
              </a:rPr>
              <a:t>	----------	*Trans A updates R at t3</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spcBef>
                <a:spcPts val="1200"/>
              </a:spcBef>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r>
              <a:rPr lang="en-US" altLang="en-US" sz="2000" dirty="0">
                <a:latin typeface="Cambria" panose="02040503050406030204" pitchFamily="18" charset="0"/>
                <a:ea typeface="Cambria" panose="02040503050406030204" pitchFamily="18" charset="0"/>
                <a:cs typeface="Calibri" panose="020F0502020204030204" pitchFamily="34" charset="0"/>
              </a:rPr>
              <a:t>t4</a:t>
            </a:r>
            <a:r>
              <a:rPr lang="en-US" altLang="en-US" sz="2400" dirty="0">
                <a:latin typeface="Cambria" panose="02040503050406030204" pitchFamily="18" charset="0"/>
                <a:ea typeface="Cambria" panose="02040503050406030204" pitchFamily="18" charset="0"/>
                <a:cs typeface="Calibri" panose="020F0502020204030204" pitchFamily="34" charset="0"/>
              </a:rPr>
              <a:t>	Update R	*Trans A updates R at t4 </a:t>
            </a:r>
          </a:p>
          <a:p>
            <a:pPr marL="609600" indent="-609600">
              <a:lnSpc>
                <a:spcPct val="50000"/>
              </a:lnSpc>
              <a:spcBef>
                <a:spcPts val="1200"/>
              </a:spcBef>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*The update of Tans A is Lost!</a:t>
            </a:r>
          </a:p>
        </p:txBody>
      </p:sp>
      <p:sp>
        <p:nvSpPr>
          <p:cNvPr id="7" name="Line 5">
            <a:extLst>
              <a:ext uri="{FF2B5EF4-FFF2-40B4-BE49-F238E27FC236}">
                <a16:creationId xmlns:a16="http://schemas.microsoft.com/office/drawing/2014/main" id="{2F90EBC5-92FD-C6FA-44AF-90DB6F82B6A2}"/>
              </a:ext>
            </a:extLst>
          </p:cNvPr>
          <p:cNvSpPr>
            <a:spLocks noChangeShapeType="1"/>
          </p:cNvSpPr>
          <p:nvPr/>
        </p:nvSpPr>
        <p:spPr bwMode="auto">
          <a:xfrm>
            <a:off x="2555776" y="764704"/>
            <a:ext cx="0" cy="3240360"/>
          </a:xfrm>
          <a:prstGeom prst="line">
            <a:avLst/>
          </a:prstGeom>
          <a:noFill/>
          <a:ln w="381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pic>
        <p:nvPicPr>
          <p:cNvPr id="8" name="Content Placeholder 3">
            <a:extLst>
              <a:ext uri="{FF2B5EF4-FFF2-40B4-BE49-F238E27FC236}">
                <a16:creationId xmlns:a16="http://schemas.microsoft.com/office/drawing/2014/main" id="{CA4C7D44-35A0-2A67-4BC3-D049A8E6BC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76696" y="4149080"/>
            <a:ext cx="8559800" cy="2628900"/>
          </a:xfrm>
        </p:spPr>
      </p:pic>
    </p:spTree>
    <p:extLst>
      <p:ext uri="{BB962C8B-B14F-4D97-AF65-F5344CB8AC3E}">
        <p14:creationId xmlns:p14="http://schemas.microsoft.com/office/powerpoint/2010/main" val="46932755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119C8-965F-3E9A-4F37-15464D9B651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196B3E8-54D6-13F6-2B96-C6789F5A0635}"/>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2. Uncommitted Dependency (or dirty read) Problem</a:t>
            </a:r>
          </a:p>
        </p:txBody>
      </p:sp>
      <p:sp>
        <p:nvSpPr>
          <p:cNvPr id="2" name="Content Placeholder 1">
            <a:extLst>
              <a:ext uri="{FF2B5EF4-FFF2-40B4-BE49-F238E27FC236}">
                <a16:creationId xmlns:a16="http://schemas.microsoft.com/office/drawing/2014/main" id="{D69ED310-8F72-28A2-B875-E50A0BB18802}"/>
              </a:ext>
            </a:extLst>
          </p:cNvPr>
          <p:cNvSpPr>
            <a:spLocks noGrp="1"/>
          </p:cNvSpPr>
          <p:nvPr>
            <p:ph sz="quarter" idx="1"/>
          </p:nvPr>
        </p:nvSpPr>
        <p:spPr>
          <a:xfrm>
            <a:off x="251520" y="692696"/>
            <a:ext cx="8492430" cy="3600400"/>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arises if one transaction is allowed to retrieve (or worse, update) a record that has been updated by another transaction but has not yet been committed by that other transaction.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 the Fig, Tans A will be operating on false assumption which may lead to a chain of erroneous operations.</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A1378159-3CDA-A8C2-1209-F3FCC1C23AD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8A4CC35-3DBF-A953-7CAE-85F591F40BD2}"/>
              </a:ext>
            </a:extLst>
          </p:cNvPr>
          <p:cNvSpPr>
            <a:spLocks noGrp="1"/>
          </p:cNvSpPr>
          <p:nvPr>
            <p:ph type="sldNum" sz="quarter" idx="12"/>
          </p:nvPr>
        </p:nvSpPr>
        <p:spPr>
          <a:xfrm>
            <a:off x="8532440" y="6356176"/>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2">
            <a:extLst>
              <a:ext uri="{FF2B5EF4-FFF2-40B4-BE49-F238E27FC236}">
                <a16:creationId xmlns:a16="http://schemas.microsoft.com/office/drawing/2014/main" id="{737CA59E-3169-ED58-079F-F94C1DF8C572}"/>
              </a:ext>
            </a:extLst>
          </p:cNvPr>
          <p:cNvSpPr txBox="1">
            <a:spLocks noChangeArrowheads="1"/>
          </p:cNvSpPr>
          <p:nvPr/>
        </p:nvSpPr>
        <p:spPr bwMode="auto">
          <a:xfrm>
            <a:off x="179264" y="2996953"/>
            <a:ext cx="4320728" cy="3384375"/>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609600" indent="-609600">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Time</a:t>
            </a:r>
            <a:r>
              <a:rPr lang="en-US" altLang="en-US" sz="16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buClr>
                <a:schemeClr val="tx2"/>
              </a:buClr>
              <a:buFontTx/>
              <a:buNone/>
            </a:pPr>
            <a:r>
              <a:rPr lang="en-US" altLang="en-US" sz="2400" b="1" u="sng" dirty="0">
                <a:solidFill>
                  <a:srgbClr val="0033CC"/>
                </a:solidFill>
                <a:latin typeface="Cambria" panose="02040503050406030204" pitchFamily="18" charset="0"/>
                <a:ea typeface="Cambria" panose="02040503050406030204" pitchFamily="18" charset="0"/>
                <a:cs typeface="Calibri" panose="020F0502020204030204" pitchFamily="34" charset="0"/>
              </a:rPr>
              <a:t>Trans A</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b="1" u="sng" dirty="0">
                <a:solidFill>
                  <a:srgbClr val="0033CC"/>
                </a:solidFill>
                <a:latin typeface="Cambria" panose="02040503050406030204" pitchFamily="18" charset="0"/>
                <a:ea typeface="Cambria" panose="02040503050406030204" pitchFamily="18" charset="0"/>
                <a:cs typeface="Calibri" panose="020F0502020204030204" pitchFamily="34" charset="0"/>
              </a:rPr>
              <a:t>Trans B</a:t>
            </a:r>
          </a:p>
          <a:p>
            <a:pPr marL="609600" indent="-609600">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latin typeface="Cambria" panose="02040503050406030204" pitchFamily="18" charset="0"/>
                <a:ea typeface="Cambria" panose="02040503050406030204" pitchFamily="18" charset="0"/>
                <a:cs typeface="Calibri" panose="020F0502020204030204" pitchFamily="34" charset="0"/>
              </a:rPr>
              <a:t>t1</a:t>
            </a:r>
            <a:r>
              <a:rPr lang="en-US" altLang="en-US" sz="2400" dirty="0">
                <a:latin typeface="Cambria" panose="02040503050406030204" pitchFamily="18" charset="0"/>
                <a:ea typeface="Cambria" panose="02040503050406030204" pitchFamily="18" charset="0"/>
                <a:cs typeface="Calibri" panose="020F0502020204030204" pitchFamily="34" charset="0"/>
              </a:rPr>
              <a:t>	Update R</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Fetch R</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latin typeface="Cambria" panose="02040503050406030204" pitchFamily="18" charset="0"/>
                <a:ea typeface="Cambria" panose="02040503050406030204" pitchFamily="18" charset="0"/>
                <a:cs typeface="Calibri" panose="020F0502020204030204" pitchFamily="34" charset="0"/>
              </a:rPr>
              <a:t>t2</a:t>
            </a: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latin typeface="Cambria" panose="02040503050406030204" pitchFamily="18" charset="0"/>
                <a:ea typeface="Cambria" panose="02040503050406030204" pitchFamily="18" charset="0"/>
                <a:cs typeface="Calibri" panose="020F0502020204030204" pitchFamily="34" charset="0"/>
              </a:rPr>
              <a:t>t3</a:t>
            </a:r>
            <a:r>
              <a:rPr lang="en-US" altLang="en-US" sz="2400" dirty="0">
                <a:latin typeface="Cambria" panose="02040503050406030204" pitchFamily="18" charset="0"/>
                <a:ea typeface="Cambria" panose="02040503050406030204" pitchFamily="18" charset="0"/>
                <a:cs typeface="Calibri" panose="020F0502020204030204" pitchFamily="34" charset="0"/>
              </a:rPr>
              <a:t>	Rollback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p>
        </p:txBody>
      </p:sp>
      <p:sp>
        <p:nvSpPr>
          <p:cNvPr id="6" name="Line 5">
            <a:extLst>
              <a:ext uri="{FF2B5EF4-FFF2-40B4-BE49-F238E27FC236}">
                <a16:creationId xmlns:a16="http://schemas.microsoft.com/office/drawing/2014/main" id="{55A80981-72F8-0E0C-8D92-DD2BB22F42A5}"/>
              </a:ext>
            </a:extLst>
          </p:cNvPr>
          <p:cNvSpPr>
            <a:spLocks noChangeShapeType="1"/>
          </p:cNvSpPr>
          <p:nvPr/>
        </p:nvSpPr>
        <p:spPr bwMode="auto">
          <a:xfrm>
            <a:off x="2411760" y="3429001"/>
            <a:ext cx="0" cy="2808312"/>
          </a:xfrm>
          <a:prstGeom prst="line">
            <a:avLst/>
          </a:prstGeom>
          <a:noFill/>
          <a:ln w="381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Cambria" panose="02040503050406030204" pitchFamily="18" charset="0"/>
              <a:ea typeface="Cambria" panose="02040503050406030204" pitchFamily="18" charset="0"/>
            </a:endParaRPr>
          </a:p>
        </p:txBody>
      </p:sp>
      <p:sp>
        <p:nvSpPr>
          <p:cNvPr id="7" name="Rectangle 2">
            <a:extLst>
              <a:ext uri="{FF2B5EF4-FFF2-40B4-BE49-F238E27FC236}">
                <a16:creationId xmlns:a16="http://schemas.microsoft.com/office/drawing/2014/main" id="{685DF76C-EBB3-D51C-0424-6A1BC5617D95}"/>
              </a:ext>
            </a:extLst>
          </p:cNvPr>
          <p:cNvSpPr txBox="1">
            <a:spLocks noChangeArrowheads="1"/>
          </p:cNvSpPr>
          <p:nvPr/>
        </p:nvSpPr>
        <p:spPr bwMode="auto">
          <a:xfrm>
            <a:off x="4716016" y="2996953"/>
            <a:ext cx="4320728" cy="3384375"/>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marL="609600" indent="-609600">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r>
              <a:rPr lang="en-US" altLang="en-US" sz="2000" kern="0" dirty="0">
                <a:solidFill>
                  <a:srgbClr val="FF0000"/>
                </a:solidFill>
                <a:latin typeface="Cambria" panose="02040503050406030204" pitchFamily="18" charset="0"/>
                <a:ea typeface="Cambria" panose="02040503050406030204" pitchFamily="18" charset="0"/>
                <a:cs typeface="Calibri" panose="020F0502020204030204" pitchFamily="34" charset="0"/>
              </a:rPr>
              <a:t>Time</a:t>
            </a:r>
            <a:r>
              <a:rPr lang="en-US" altLang="en-US" sz="1600" kern="0" dirty="0">
                <a:latin typeface="Cambria" panose="02040503050406030204" pitchFamily="18" charset="0"/>
                <a:ea typeface="Cambria" panose="02040503050406030204" pitchFamily="18" charset="0"/>
                <a:cs typeface="Calibri" panose="020F0502020204030204" pitchFamily="34" charset="0"/>
              </a:rPr>
              <a:t>            	</a:t>
            </a:r>
            <a:r>
              <a:rPr lang="en-US" altLang="en-US" sz="2400" kern="0" dirty="0">
                <a:latin typeface="Cambria" panose="02040503050406030204" pitchFamily="18" charset="0"/>
                <a:ea typeface="Cambria" panose="02040503050406030204" pitchFamily="18" charset="0"/>
                <a:cs typeface="Calibri" panose="020F0502020204030204" pitchFamily="34" charset="0"/>
              </a:rPr>
              <a:t>   </a:t>
            </a:r>
          </a:p>
          <a:p>
            <a:pPr marL="609600" indent="-609600">
              <a:buClr>
                <a:schemeClr val="tx2"/>
              </a:buClr>
              <a:buFontTx/>
              <a:buNone/>
            </a:pPr>
            <a:r>
              <a:rPr lang="en-US" altLang="en-US" sz="2400" b="1" u="sng" kern="0" dirty="0">
                <a:solidFill>
                  <a:srgbClr val="0033CC"/>
                </a:solidFill>
                <a:latin typeface="Cambria" panose="02040503050406030204" pitchFamily="18" charset="0"/>
                <a:ea typeface="Cambria" panose="02040503050406030204" pitchFamily="18" charset="0"/>
                <a:cs typeface="Calibri" panose="020F0502020204030204" pitchFamily="34" charset="0"/>
              </a:rPr>
              <a:t>Trans A</a:t>
            </a:r>
            <a:r>
              <a:rPr lang="en-US" altLang="en-US" sz="2400" kern="0" dirty="0">
                <a:latin typeface="Cambria" panose="02040503050406030204" pitchFamily="18" charset="0"/>
                <a:ea typeface="Cambria" panose="02040503050406030204" pitchFamily="18" charset="0"/>
                <a:cs typeface="Calibri" panose="020F0502020204030204" pitchFamily="34" charset="0"/>
              </a:rPr>
              <a:t>		</a:t>
            </a:r>
            <a:r>
              <a:rPr lang="en-US" altLang="en-US" sz="2400" b="1" u="sng" kern="0" dirty="0">
                <a:solidFill>
                  <a:srgbClr val="0033CC"/>
                </a:solidFill>
                <a:latin typeface="Cambria" panose="02040503050406030204" pitchFamily="18" charset="0"/>
                <a:ea typeface="Cambria" panose="02040503050406030204" pitchFamily="18" charset="0"/>
                <a:cs typeface="Calibri" panose="020F0502020204030204" pitchFamily="34" charset="0"/>
              </a:rPr>
              <a:t>Trans B</a:t>
            </a:r>
          </a:p>
          <a:p>
            <a:pPr marL="609600" indent="-609600">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p>
          <a:p>
            <a:pPr marL="609600" indent="-609600">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r>
              <a:rPr lang="en-US" altLang="en-US" sz="2000" kern="0" dirty="0">
                <a:latin typeface="Cambria" panose="02040503050406030204" pitchFamily="18" charset="0"/>
                <a:ea typeface="Cambria" panose="02040503050406030204" pitchFamily="18" charset="0"/>
                <a:cs typeface="Calibri" panose="020F0502020204030204" pitchFamily="34" charset="0"/>
              </a:rPr>
              <a:t>t1</a:t>
            </a:r>
            <a:r>
              <a:rPr lang="en-US" altLang="en-US" sz="2400" kern="0" dirty="0">
                <a:latin typeface="Cambria" panose="02040503050406030204" pitchFamily="18" charset="0"/>
                <a:ea typeface="Cambria" panose="02040503050406030204" pitchFamily="18" charset="0"/>
                <a:cs typeface="Calibri" panose="020F0502020204030204" pitchFamily="34" charset="0"/>
              </a:rPr>
              <a:t>	Update R</a:t>
            </a:r>
          </a:p>
          <a:p>
            <a:pPr marL="609600" indent="-609600">
              <a:lnSpc>
                <a:spcPct val="50000"/>
              </a:lnSpc>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kern="0" dirty="0">
                <a:solidFill>
                  <a:srgbClr val="FF0000"/>
                </a:solidFill>
                <a:latin typeface="Cambria" panose="02040503050406030204" pitchFamily="18" charset="0"/>
                <a:ea typeface="Cambria" panose="02040503050406030204" pitchFamily="18" charset="0"/>
                <a:cs typeface="Calibri" panose="020F0502020204030204" pitchFamily="34" charset="0"/>
              </a:rPr>
              <a:t>Update R</a:t>
            </a:r>
            <a:r>
              <a:rPr lang="en-US" altLang="en-US" sz="2400" kern="0" dirty="0">
                <a:latin typeface="Cambria" panose="02040503050406030204" pitchFamily="18" charset="0"/>
                <a:ea typeface="Cambria" panose="02040503050406030204" pitchFamily="18" charset="0"/>
                <a:cs typeface="Calibri" panose="020F0502020204030204" pitchFamily="34" charset="0"/>
              </a:rPr>
              <a:t>	</a:t>
            </a:r>
            <a:r>
              <a:rPr lang="en-US" altLang="en-US" sz="2000" kern="0" dirty="0">
                <a:latin typeface="Cambria" panose="02040503050406030204" pitchFamily="18" charset="0"/>
                <a:ea typeface="Cambria" panose="02040503050406030204" pitchFamily="18" charset="0"/>
                <a:cs typeface="Calibri" panose="020F0502020204030204" pitchFamily="34" charset="0"/>
              </a:rPr>
              <a:t>t2</a:t>
            </a:r>
            <a:r>
              <a:rPr lang="en-US" altLang="en-US" sz="2400" kern="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r>
              <a:rPr lang="en-US" altLang="en-US" sz="2000" kern="0" dirty="0">
                <a:latin typeface="Cambria" panose="02040503050406030204" pitchFamily="18" charset="0"/>
                <a:ea typeface="Cambria" panose="02040503050406030204" pitchFamily="18" charset="0"/>
                <a:cs typeface="Calibri" panose="020F0502020204030204" pitchFamily="34" charset="0"/>
              </a:rPr>
              <a:t>t3</a:t>
            </a:r>
            <a:r>
              <a:rPr lang="en-US" altLang="en-US" sz="2400" kern="0" dirty="0">
                <a:latin typeface="Cambria" panose="02040503050406030204" pitchFamily="18" charset="0"/>
                <a:ea typeface="Cambria" panose="02040503050406030204" pitchFamily="18" charset="0"/>
                <a:cs typeface="Calibri" panose="020F0502020204030204" pitchFamily="34" charset="0"/>
              </a:rPr>
              <a:t>	Rollback	</a:t>
            </a:r>
          </a:p>
          <a:p>
            <a:pPr marL="609600" indent="-609600">
              <a:lnSpc>
                <a:spcPct val="50000"/>
              </a:lnSpc>
              <a:buClr>
                <a:schemeClr val="tx2"/>
              </a:buClr>
              <a:buFontTx/>
              <a:buNone/>
            </a:pPr>
            <a:r>
              <a:rPr lang="en-US" altLang="en-US" sz="2400" kern="0" dirty="0">
                <a:latin typeface="Cambria" panose="02040503050406030204" pitchFamily="18" charset="0"/>
                <a:ea typeface="Cambria" panose="02040503050406030204" pitchFamily="18" charset="0"/>
                <a:cs typeface="Calibri" panose="020F0502020204030204" pitchFamily="34" charset="0"/>
              </a:rPr>
              <a:t>		</a:t>
            </a:r>
          </a:p>
        </p:txBody>
      </p:sp>
      <p:sp>
        <p:nvSpPr>
          <p:cNvPr id="8" name="Line 5">
            <a:extLst>
              <a:ext uri="{FF2B5EF4-FFF2-40B4-BE49-F238E27FC236}">
                <a16:creationId xmlns:a16="http://schemas.microsoft.com/office/drawing/2014/main" id="{F327611F-22E2-98A5-EB37-FD9D33F9472C}"/>
              </a:ext>
            </a:extLst>
          </p:cNvPr>
          <p:cNvSpPr>
            <a:spLocks noChangeShapeType="1"/>
          </p:cNvSpPr>
          <p:nvPr/>
        </p:nvSpPr>
        <p:spPr bwMode="auto">
          <a:xfrm>
            <a:off x="6948264" y="3429001"/>
            <a:ext cx="0" cy="2808312"/>
          </a:xfrm>
          <a:prstGeom prst="line">
            <a:avLst/>
          </a:prstGeom>
          <a:noFill/>
          <a:ln w="381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2218095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B5F70-471C-9875-09D9-F0BC005149A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03C8359-0857-1357-7354-2CCDAFCC158C}"/>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2. Uncommitted Dependency (or dirty read) Problem</a:t>
            </a:r>
          </a:p>
        </p:txBody>
      </p:sp>
      <p:sp>
        <p:nvSpPr>
          <p:cNvPr id="3" name="Footer Placeholder 2">
            <a:extLst>
              <a:ext uri="{FF2B5EF4-FFF2-40B4-BE49-F238E27FC236}">
                <a16:creationId xmlns:a16="http://schemas.microsoft.com/office/drawing/2014/main" id="{0A13A055-3AD7-4CB7-39D1-8F507BDB921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F9D09F4-5518-1D1A-45A3-1E14ACD3C784}"/>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10" name="Content Placeholder 2">
            <a:extLst>
              <a:ext uri="{FF2B5EF4-FFF2-40B4-BE49-F238E27FC236}">
                <a16:creationId xmlns:a16="http://schemas.microsoft.com/office/drawing/2014/main" id="{57EDEFFA-57FB-2AA7-4CB5-1E420A26584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3528" y="836712"/>
            <a:ext cx="8277225" cy="3338513"/>
          </a:xfrm>
        </p:spPr>
      </p:pic>
    </p:spTree>
    <p:extLst>
      <p:ext uri="{BB962C8B-B14F-4D97-AF65-F5344CB8AC3E}">
        <p14:creationId xmlns:p14="http://schemas.microsoft.com/office/powerpoint/2010/main" val="13689095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0FD83-5F46-7719-B1B0-68837E698EA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41A9AF94-8299-B1D1-6785-739D18232736}"/>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3. Inconsistent Analysis/Retrievals</a:t>
            </a:r>
          </a:p>
        </p:txBody>
      </p:sp>
      <p:sp>
        <p:nvSpPr>
          <p:cNvPr id="2" name="Content Placeholder 1">
            <a:extLst>
              <a:ext uri="{FF2B5EF4-FFF2-40B4-BE49-F238E27FC236}">
                <a16:creationId xmlns:a16="http://schemas.microsoft.com/office/drawing/2014/main" id="{24691DCD-AA9D-64B4-06F7-5E1F0678E59B}"/>
              </a:ext>
            </a:extLst>
          </p:cNvPr>
          <p:cNvSpPr>
            <a:spLocks noGrp="1"/>
          </p:cNvSpPr>
          <p:nvPr>
            <p:ph sz="quarter" idx="1"/>
          </p:nvPr>
        </p:nvSpPr>
        <p:spPr>
          <a:xfrm>
            <a:off x="251520" y="692696"/>
            <a:ext cx="8492430" cy="158417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problem of inconsistent analysis occurs when a transaction reads several values from the database but a second transaction updates some of them during the execution of the first.</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A77F5375-1444-B976-023E-7CB636F440D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E8B6221-1CFF-DFFC-89B3-24C4963F55DE}"/>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9" name="Picture 8">
            <a:extLst>
              <a:ext uri="{FF2B5EF4-FFF2-40B4-BE49-F238E27FC236}">
                <a16:creationId xmlns:a16="http://schemas.microsoft.com/office/drawing/2014/main" id="{AD92DC74-945E-6F27-4770-D9801D5B7E4A}"/>
              </a:ext>
            </a:extLst>
          </p:cNvPr>
          <p:cNvPicPr>
            <a:picLocks noChangeAspect="1"/>
          </p:cNvPicPr>
          <p:nvPr/>
        </p:nvPicPr>
        <p:blipFill>
          <a:blip r:embed="rId2"/>
          <a:stretch>
            <a:fillRect/>
          </a:stretch>
        </p:blipFill>
        <p:spPr>
          <a:xfrm>
            <a:off x="107504" y="2348880"/>
            <a:ext cx="8954668" cy="3709280"/>
          </a:xfrm>
          <a:prstGeom prst="rect">
            <a:avLst/>
          </a:prstGeom>
        </p:spPr>
      </p:pic>
    </p:spTree>
    <p:extLst>
      <p:ext uri="{BB962C8B-B14F-4D97-AF65-F5344CB8AC3E}">
        <p14:creationId xmlns:p14="http://schemas.microsoft.com/office/powerpoint/2010/main" val="37537302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C56B2-E3CF-6E77-7F74-B70FA8BC34B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5A6B871-53AE-B35E-8D1F-7F15C2B9EA35}"/>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Concurrency Problems</a:t>
            </a:r>
          </a:p>
        </p:txBody>
      </p:sp>
      <p:sp>
        <p:nvSpPr>
          <p:cNvPr id="2" name="Content Placeholder 1">
            <a:extLst>
              <a:ext uri="{FF2B5EF4-FFF2-40B4-BE49-F238E27FC236}">
                <a16:creationId xmlns:a16="http://schemas.microsoft.com/office/drawing/2014/main" id="{861D702D-28EF-3D84-4876-CF5920FF0AB6}"/>
              </a:ext>
            </a:extLst>
          </p:cNvPr>
          <p:cNvSpPr>
            <a:spLocks noGrp="1"/>
          </p:cNvSpPr>
          <p:nvPr>
            <p:ph sz="quarter" idx="1"/>
          </p:nvPr>
        </p:nvSpPr>
        <p:spPr>
          <a:xfrm>
            <a:off x="328042" y="764704"/>
            <a:ext cx="8492430" cy="4464496"/>
          </a:xfrm>
        </p:spPr>
        <p:txBody>
          <a:bodyPr/>
          <a:lstStyle/>
          <a:p>
            <a:pPr marL="0" indent="0" algn="just">
              <a:spcBef>
                <a:spcPts val="300"/>
              </a:spcBef>
              <a:buClr>
                <a:srgbClr val="C00000"/>
              </a:buClr>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4. Non-repeatable (or fuzzy) Read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T reads an item, another transaction writes a new value for the item, and the first transaction then rereads the item and gets a value that is different from its first one. Thus, T receives two different values for the same data item.</a:t>
            </a:r>
          </a:p>
          <a:p>
            <a:pPr marL="0" indent="0" algn="just">
              <a:spcBef>
                <a:spcPts val="300"/>
              </a:spcBef>
              <a:buClr>
                <a:srgbClr val="C00000"/>
              </a:buClr>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5. Phantom Read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T executes a query that retrieves a set of tuples from a relation satisfying a certain predicate, re-executes the query at a later time, but finds that the retrieved set contains an additional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(phantom)</a:t>
            </a:r>
            <a:r>
              <a:rPr lang="en-US" sz="2400" dirty="0">
                <a:latin typeface="Cambria" panose="02040503050406030204" pitchFamily="18" charset="0"/>
                <a:ea typeface="Cambria" panose="02040503050406030204" pitchFamily="18" charset="0"/>
                <a:cs typeface="Calibri" panose="020F0502020204030204" pitchFamily="34" charset="0"/>
              </a:rPr>
              <a:t> tuple that has been inserted by another transaction in the meantime.</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85C49548-6C45-1350-96C5-9DA657DF122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BE3A7919-C116-19DB-A03F-F6CA15D5C3FC}"/>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93506923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13519-F499-AA8E-EDF0-2E0650D8F22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43E87B5-58D2-C7A5-DC19-6D9F873A9182}"/>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Scheduler</a:t>
            </a:r>
          </a:p>
        </p:txBody>
      </p:sp>
      <p:sp>
        <p:nvSpPr>
          <p:cNvPr id="2" name="Content Placeholder 1">
            <a:extLst>
              <a:ext uri="{FF2B5EF4-FFF2-40B4-BE49-F238E27FC236}">
                <a16:creationId xmlns:a16="http://schemas.microsoft.com/office/drawing/2014/main" id="{64085EE7-5927-588B-7B1D-55D8FF1A5725}"/>
              </a:ext>
            </a:extLst>
          </p:cNvPr>
          <p:cNvSpPr>
            <a:spLocks noGrp="1"/>
          </p:cNvSpPr>
          <p:nvPr>
            <p:ph sz="quarter" idx="1"/>
          </p:nvPr>
        </p:nvSpPr>
        <p:spPr>
          <a:xfrm>
            <a:off x="328042" y="692696"/>
            <a:ext cx="8492430" cy="4464496"/>
          </a:xfrm>
        </p:spPr>
        <p:txBody>
          <a:bodyPr/>
          <a:lstStyle/>
          <a:p>
            <a:pPr algn="just"/>
            <a:r>
              <a:rPr lang="en-US" sz="2400" dirty="0">
                <a:latin typeface="Cambria" panose="02040503050406030204" pitchFamily="18" charset="0"/>
                <a:ea typeface="Cambria" panose="02040503050406030204" pitchFamily="18" charset="0"/>
              </a:rPr>
              <a:t>A </a:t>
            </a:r>
            <a:r>
              <a:rPr lang="en-US" sz="2400" dirty="0">
                <a:solidFill>
                  <a:srgbClr val="0000FF"/>
                </a:solidFill>
                <a:latin typeface="Cambria" panose="02040503050406030204" pitchFamily="18" charset="0"/>
                <a:ea typeface="Cambria" panose="02040503050406030204" pitchFamily="18" charset="0"/>
              </a:rPr>
              <a:t>schedule</a:t>
            </a:r>
            <a:r>
              <a:rPr lang="en-US" sz="2400" b="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(or </a:t>
            </a:r>
            <a:r>
              <a:rPr lang="en-US" sz="2400" dirty="0">
                <a:solidFill>
                  <a:srgbClr val="0000FF"/>
                </a:solidFill>
                <a:latin typeface="Cambria" panose="02040503050406030204" pitchFamily="18" charset="0"/>
                <a:ea typeface="Cambria" panose="02040503050406030204" pitchFamily="18" charset="0"/>
              </a:rPr>
              <a:t>history</a:t>
            </a:r>
            <a:r>
              <a:rPr lang="en-US" sz="2400" dirty="0">
                <a:latin typeface="Cambria" panose="02040503050406030204" pitchFamily="18" charset="0"/>
                <a:ea typeface="Cambria" panose="02040503050406030204" pitchFamily="18" charset="0"/>
              </a:rPr>
              <a:t>) </a:t>
            </a:r>
            <a:r>
              <a:rPr lang="en-US" sz="2400" i="1" dirty="0">
                <a:solidFill>
                  <a:srgbClr val="0000FF"/>
                </a:solidFill>
                <a:latin typeface="Cambria" panose="02040503050406030204" pitchFamily="18" charset="0"/>
                <a:ea typeface="Cambria" panose="02040503050406030204" pitchFamily="18" charset="0"/>
              </a:rPr>
              <a:t>S</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of </a:t>
            </a:r>
            <a:r>
              <a:rPr lang="en-US" sz="2400" i="1" dirty="0">
                <a:solidFill>
                  <a:srgbClr val="0000FF"/>
                </a:solidFill>
                <a:latin typeface="Cambria" panose="02040503050406030204" pitchFamily="18" charset="0"/>
                <a:ea typeface="Cambria" panose="02040503050406030204" pitchFamily="18" charset="0"/>
              </a:rPr>
              <a:t>n</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transactions </a:t>
            </a:r>
            <a:r>
              <a:rPr lang="en-US" sz="2400" i="1" dirty="0">
                <a:solidFill>
                  <a:srgbClr val="0000FF"/>
                </a:solidFill>
                <a:latin typeface="Cambria" panose="02040503050406030204" pitchFamily="18" charset="0"/>
                <a:ea typeface="Cambria" panose="02040503050406030204" pitchFamily="18" charset="0"/>
              </a:rPr>
              <a:t>T</a:t>
            </a:r>
            <a:r>
              <a:rPr lang="en-US" sz="2400" baseline="-25000" dirty="0">
                <a:solidFill>
                  <a:srgbClr val="0000FF"/>
                </a:solidFill>
                <a:latin typeface="Cambria" panose="02040503050406030204" pitchFamily="18" charset="0"/>
                <a:ea typeface="Cambria" panose="02040503050406030204" pitchFamily="18" charset="0"/>
              </a:rPr>
              <a:t>1</a:t>
            </a:r>
            <a:r>
              <a:rPr lang="en-US" sz="2400" dirty="0">
                <a:solidFill>
                  <a:srgbClr val="0000FF"/>
                </a:solidFill>
                <a:latin typeface="Cambria" panose="02040503050406030204" pitchFamily="18" charset="0"/>
                <a:ea typeface="Cambria" panose="02040503050406030204" pitchFamily="18" charset="0"/>
              </a:rPr>
              <a:t>, </a:t>
            </a:r>
            <a:r>
              <a:rPr lang="en-US" sz="2400" i="1" dirty="0">
                <a:solidFill>
                  <a:srgbClr val="0000FF"/>
                </a:solidFill>
                <a:latin typeface="Cambria" panose="02040503050406030204" pitchFamily="18" charset="0"/>
                <a:ea typeface="Cambria" panose="02040503050406030204" pitchFamily="18" charset="0"/>
              </a:rPr>
              <a:t>T</a:t>
            </a:r>
            <a:r>
              <a:rPr lang="en-US" sz="2400" baseline="-25000" dirty="0">
                <a:solidFill>
                  <a:srgbClr val="0000FF"/>
                </a:solidFill>
                <a:latin typeface="Cambria" panose="02040503050406030204" pitchFamily="18" charset="0"/>
                <a:ea typeface="Cambria" panose="02040503050406030204" pitchFamily="18" charset="0"/>
              </a:rPr>
              <a:t>2</a:t>
            </a:r>
            <a:r>
              <a:rPr lang="en-US" sz="2400" dirty="0">
                <a:solidFill>
                  <a:srgbClr val="0000FF"/>
                </a:solidFill>
                <a:latin typeface="Cambria" panose="02040503050406030204" pitchFamily="18" charset="0"/>
                <a:ea typeface="Cambria" panose="02040503050406030204" pitchFamily="18" charset="0"/>
              </a:rPr>
              <a:t>, … , </a:t>
            </a:r>
            <a:r>
              <a:rPr lang="en-US" sz="2400" i="1" dirty="0">
                <a:solidFill>
                  <a:srgbClr val="0000FF"/>
                </a:solidFill>
                <a:latin typeface="Cambria" panose="02040503050406030204" pitchFamily="18" charset="0"/>
                <a:ea typeface="Cambria" panose="02040503050406030204" pitchFamily="18" charset="0"/>
              </a:rPr>
              <a:t>T</a:t>
            </a:r>
            <a:r>
              <a:rPr lang="en-US" sz="2400" i="1" baseline="-25000" dirty="0">
                <a:solidFill>
                  <a:srgbClr val="0000FF"/>
                </a:solidFill>
                <a:latin typeface="Cambria" panose="02040503050406030204" pitchFamily="18" charset="0"/>
                <a:ea typeface="Cambria" panose="02040503050406030204" pitchFamily="18" charset="0"/>
              </a:rPr>
              <a:t>n</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is an ordering of the operations of the transactions.</a:t>
            </a: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Read</a:t>
            </a:r>
            <a:r>
              <a:rPr lang="en-US" sz="2400" dirty="0">
                <a:latin typeface="Cambria" panose="02040503050406030204" pitchFamily="18" charset="0"/>
                <a:ea typeface="Cambria" panose="02040503050406030204" pitchFamily="18" charset="0"/>
                <a:cs typeface="Calibri" panose="020F0502020204030204" pitchFamily="34" charset="0"/>
              </a:rPr>
              <a:t> and</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Write</a:t>
            </a:r>
            <a:r>
              <a:rPr lang="en-US" sz="2400" dirty="0">
                <a:latin typeface="Cambria" panose="02040503050406030204" pitchFamily="18" charset="0"/>
                <a:ea typeface="Cambria" panose="02040503050406030204" pitchFamily="18" charset="0"/>
                <a:cs typeface="Calibri" panose="020F0502020204030204" pitchFamily="34" charset="0"/>
              </a:rPr>
              <a:t> operations performed by a transaction </a:t>
            </a:r>
            <a:r>
              <a:rPr lang="en-US" sz="2400" i="1" dirty="0">
                <a:solidFill>
                  <a:srgbClr val="FF0000"/>
                </a:solidFill>
                <a:latin typeface="Cambria" panose="02040503050406030204" pitchFamily="18" charset="0"/>
                <a:ea typeface="Cambria" panose="02040503050406030204" pitchFamily="18" charset="0"/>
              </a:rPr>
              <a:t>T</a:t>
            </a:r>
            <a:r>
              <a:rPr lang="en-US" sz="2400" baseline="-25000" dirty="0">
                <a:solidFill>
                  <a:srgbClr val="FF0000"/>
                </a:solidFill>
                <a:latin typeface="Cambria" panose="02040503050406030204" pitchFamily="18" charset="0"/>
                <a:ea typeface="Cambria" panose="02040503050406030204" pitchFamily="18" charset="0"/>
              </a:rPr>
              <a:t>i</a:t>
            </a:r>
            <a:r>
              <a:rPr lang="en-US" sz="2400" baseline="-25000" dirty="0">
                <a:solidFill>
                  <a:srgbClr val="0000FF"/>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cs typeface="Calibri" panose="020F0502020204030204" pitchFamily="34" charset="0"/>
              </a:rPr>
              <a:t>on an item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a:t>
            </a:r>
            <a:r>
              <a:rPr lang="en-US" sz="2400" dirty="0">
                <a:latin typeface="Cambria" panose="02040503050406030204" pitchFamily="18" charset="0"/>
                <a:ea typeface="Cambria" panose="02040503050406030204" pitchFamily="18" charset="0"/>
                <a:cs typeface="Calibri" panose="020F0502020204030204" pitchFamily="34" charset="0"/>
              </a:rPr>
              <a:t> can be denoted as </a:t>
            </a:r>
            <a:r>
              <a:rPr lang="en-US" sz="2400" i="1" dirty="0" err="1">
                <a:solidFill>
                  <a:srgbClr val="FF0000"/>
                </a:solidFill>
                <a:latin typeface="Cambria" panose="02040503050406030204" pitchFamily="18" charset="0"/>
                <a:ea typeface="Cambria" panose="02040503050406030204" pitchFamily="18" charset="0"/>
              </a:rPr>
              <a:t>r</a:t>
            </a:r>
            <a:r>
              <a:rPr lang="en-US" sz="2400" baseline="-25000" dirty="0" err="1">
                <a:solidFill>
                  <a:srgbClr val="FF0000"/>
                </a:solidFill>
                <a:latin typeface="Cambria" panose="02040503050406030204" pitchFamily="18" charset="0"/>
                <a:ea typeface="Cambria" panose="02040503050406030204" pitchFamily="18" charset="0"/>
              </a:rPr>
              <a:t>i</a:t>
            </a:r>
            <a:r>
              <a:rPr lang="en-US" sz="2400" baseline="-25000" dirty="0">
                <a:solidFill>
                  <a:srgbClr val="FF0000"/>
                </a:solidFill>
                <a:latin typeface="Cambria" panose="02040503050406030204" pitchFamily="18" charset="0"/>
                <a:ea typeface="Cambria" panose="02040503050406030204" pitchFamily="18" charset="0"/>
              </a:rPr>
              <a:t> </a:t>
            </a:r>
            <a:r>
              <a:rPr lang="en-US" sz="2400" i="1" dirty="0">
                <a:solidFill>
                  <a:srgbClr val="FF0000"/>
                </a:solidFill>
                <a:latin typeface="Cambria" panose="02040503050406030204" pitchFamily="18" charset="0"/>
                <a:ea typeface="Cambria" panose="02040503050406030204" pitchFamily="18" charset="0"/>
              </a:rPr>
              <a:t>(X)</a:t>
            </a:r>
            <a:r>
              <a:rPr lang="en-US" sz="2400" baseline="-25000" dirty="0">
                <a:solidFill>
                  <a:srgbClr val="0000FF"/>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cs typeface="Calibri" panose="020F0502020204030204" pitchFamily="34" charset="0"/>
              </a:rPr>
              <a:t>as </a:t>
            </a:r>
            <a:r>
              <a:rPr lang="en-US" sz="2400" i="1" dirty="0" err="1">
                <a:solidFill>
                  <a:srgbClr val="FF0000"/>
                </a:solidFill>
                <a:latin typeface="Cambria" panose="02040503050406030204" pitchFamily="18" charset="0"/>
                <a:ea typeface="Cambria" panose="02040503050406030204" pitchFamily="18" charset="0"/>
              </a:rPr>
              <a:t>w</a:t>
            </a:r>
            <a:r>
              <a:rPr lang="en-US" sz="2400" baseline="-25000" dirty="0" err="1">
                <a:solidFill>
                  <a:srgbClr val="FF0000"/>
                </a:solidFill>
                <a:latin typeface="Cambria" panose="02040503050406030204" pitchFamily="18" charset="0"/>
                <a:ea typeface="Cambria" panose="02040503050406030204" pitchFamily="18" charset="0"/>
              </a:rPr>
              <a:t>i</a:t>
            </a:r>
            <a:r>
              <a:rPr lang="en-US" sz="2400" baseline="-25000" dirty="0">
                <a:solidFill>
                  <a:srgbClr val="FF0000"/>
                </a:solidFill>
                <a:latin typeface="Cambria" panose="02040503050406030204" pitchFamily="18" charset="0"/>
                <a:ea typeface="Cambria" panose="02040503050406030204" pitchFamily="18" charset="0"/>
              </a:rPr>
              <a:t> </a:t>
            </a:r>
            <a:r>
              <a:rPr lang="en-US" sz="2400" i="1" dirty="0">
                <a:solidFill>
                  <a:srgbClr val="FF0000"/>
                </a:solidFill>
                <a:latin typeface="Cambria" panose="02040503050406030204" pitchFamily="18" charset="0"/>
                <a:ea typeface="Cambria" panose="02040503050406030204" pitchFamily="18" charset="0"/>
              </a:rPr>
              <a:t>(X)</a:t>
            </a:r>
            <a:r>
              <a:rPr lang="en-US" sz="2400" baseline="-25000" dirty="0">
                <a:solidFill>
                  <a:srgbClr val="0000FF"/>
                </a:solidFill>
                <a:latin typeface="Cambria" panose="02040503050406030204" pitchFamily="18" charset="0"/>
                <a:ea typeface="Cambria" panose="02040503050406030204" pitchFamily="18" charset="0"/>
              </a:rPr>
              <a:t>  </a:t>
            </a: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Two operations in a schedule are said to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conflict</a:t>
            </a:r>
            <a:r>
              <a:rPr lang="en-US" sz="2400" dirty="0">
                <a:latin typeface="Cambria" panose="02040503050406030204" pitchFamily="18" charset="0"/>
                <a:ea typeface="Cambria" panose="02040503050406030204" pitchFamily="18" charset="0"/>
                <a:cs typeface="Calibri" panose="020F0502020204030204" pitchFamily="34" charset="0"/>
              </a:rPr>
              <a:t> if they belong to different transactions, access the same database item, and at least one of the operation is write.</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E1B3899F-3B9B-CEA2-1419-7108CD9946C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8ADF6DA3-1D88-CAED-CF43-A3B6CCD74B4F}"/>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4" name="Picture 4">
            <a:extLst>
              <a:ext uri="{FF2B5EF4-FFF2-40B4-BE49-F238E27FC236}">
                <a16:creationId xmlns:a16="http://schemas.microsoft.com/office/drawing/2014/main" id="{1C921F61-A1C3-F83D-EC04-51A7AB7AE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440" y="3429000"/>
            <a:ext cx="7239000" cy="291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24229349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7C4F-2C5A-65BE-E689-FC7E95B38DA2}"/>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7AEC909-37FA-036C-DBA1-BAFCF779159C}"/>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Scheduler</a:t>
            </a:r>
          </a:p>
        </p:txBody>
      </p:sp>
      <p:sp>
        <p:nvSpPr>
          <p:cNvPr id="2" name="Content Placeholder 1">
            <a:extLst>
              <a:ext uri="{FF2B5EF4-FFF2-40B4-BE49-F238E27FC236}">
                <a16:creationId xmlns:a16="http://schemas.microsoft.com/office/drawing/2014/main" id="{72496566-F572-569E-D6DA-ED31B58FDD08}"/>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DBMS manages the concurrent transactions in a problem free manner using a built-in scheduler.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Scheduler establishes order of concurrent transaction execution to ensure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serializability</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isolation</a:t>
            </a:r>
            <a:r>
              <a:rPr lang="en-US" sz="2400" dirty="0">
                <a:latin typeface="Cambria" panose="02040503050406030204" pitchFamily="18" charset="0"/>
                <a:ea typeface="Cambria" panose="02040503050406030204" pitchFamily="18" charset="0"/>
                <a:cs typeface="Calibri" panose="020F0502020204030204" pitchFamily="34" charset="0"/>
              </a:rPr>
              <a:t> of transactions.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scheduler’s main job is to create a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serializable schedule</a:t>
            </a:r>
            <a:r>
              <a:rPr lang="en-US" sz="2400" dirty="0">
                <a:latin typeface="Cambria" panose="02040503050406030204" pitchFamily="18" charset="0"/>
                <a:ea typeface="Cambria" panose="02040503050406030204" pitchFamily="18" charset="0"/>
                <a:cs typeface="Calibri" panose="020F0502020204030204" pitchFamily="34" charset="0"/>
              </a:rPr>
              <a:t> in which the interleaved execution of the transactions yields the same results as if the transactions were executed in serial order (one after another).</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Serial execution of transactions means that transactions are performed one after another, without any interleaving of operations.</a:t>
            </a:r>
          </a:p>
          <a:p>
            <a:pPr marL="347663" indent="-347663" algn="just">
              <a:spcBef>
                <a:spcPts val="300"/>
              </a:spcBef>
              <a:buClr>
                <a:srgbClr val="C00000"/>
              </a:buClr>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Serial vs. Non-serial schedule!</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B05F94A-1540-1DC9-59DA-200315F9CD3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D4E07F7-90C2-A833-CE09-F00C7964A34F}"/>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53631193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9C671-532E-3E6D-E347-5516F547063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B0BAF6F-AFAB-2C37-1B79-DB7FCE9FFE48}"/>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Serial vs. Non-serial Schedule</a:t>
            </a:r>
          </a:p>
        </p:txBody>
      </p:sp>
      <p:sp>
        <p:nvSpPr>
          <p:cNvPr id="2" name="Content Placeholder 1">
            <a:extLst>
              <a:ext uri="{FF2B5EF4-FFF2-40B4-BE49-F238E27FC236}">
                <a16:creationId xmlns:a16="http://schemas.microsoft.com/office/drawing/2014/main" id="{B7B53C63-9C24-7C98-DF95-60CA48395176}"/>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Serial schedule</a:t>
            </a:r>
            <a:r>
              <a:rPr lang="en-US" sz="2400" dirty="0">
                <a:latin typeface="Cambria" panose="02040503050406030204" pitchFamily="18" charset="0"/>
                <a:ea typeface="Cambria" panose="02040503050406030204" pitchFamily="18" charset="0"/>
                <a:cs typeface="Calibri" panose="020F0502020204030204" pitchFamily="34" charset="0"/>
              </a:rPr>
              <a:t> is a schedule where the operations of each transaction are executed consecutively without any interleaved operations from other transactions.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For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n</a:t>
            </a:r>
            <a:r>
              <a:rPr lang="en-US" sz="2400" dirty="0">
                <a:latin typeface="Cambria" panose="02040503050406030204" pitchFamily="18" charset="0"/>
                <a:ea typeface="Cambria" panose="02040503050406030204" pitchFamily="18" charset="0"/>
                <a:cs typeface="Calibri" panose="020F0502020204030204" pitchFamily="34" charset="0"/>
              </a:rPr>
              <a:t> transactions, there are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n!</a:t>
            </a:r>
            <a:r>
              <a:rPr lang="en-US" sz="2400" dirty="0">
                <a:latin typeface="Cambria" panose="02040503050406030204" pitchFamily="18" charset="0"/>
                <a:ea typeface="Cambria" panose="02040503050406030204" pitchFamily="18" charset="0"/>
                <a:cs typeface="Calibri" panose="020F0502020204030204" pitchFamily="34" charset="0"/>
              </a:rPr>
              <a:t> possible serial schedules.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serial schedule will never leave the database in an inconsistent state. Every serial execution is considered correct!</a:t>
            </a:r>
          </a:p>
          <a:p>
            <a:pPr marL="347663" indent="-347663" algn="just">
              <a:spcBef>
                <a:spcPts val="300"/>
              </a:spcBef>
              <a:buClr>
                <a:srgbClr val="C00000"/>
              </a:buClr>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Non-Serial schedule</a:t>
            </a:r>
            <a:r>
              <a:rPr lang="en-US" sz="2400" dirty="0">
                <a:latin typeface="Cambria" panose="02040503050406030204" pitchFamily="18" charset="0"/>
                <a:ea typeface="Cambria" panose="02040503050406030204" pitchFamily="18" charset="0"/>
                <a:cs typeface="Calibri" panose="020F0502020204030204" pitchFamily="34" charset="0"/>
              </a:rPr>
              <a:t> is a schedule where the operations from a set of concurrent transactions are interleaved.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(non-serial) schedule is correct if it produces the same result as some serial execution. Such a schedule is called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serializable.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There is no guarantee that the results of all serial executions of a given set of transactions will be identical.</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BDA98ECD-5F78-3B57-A7D1-48F163E007F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1601EA52-615F-9CFC-F4EF-39C0E9FA414C}"/>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35269599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B62B6-6C81-15D4-A05B-A76061E1AA53}"/>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3534D5B3-B6F3-F16D-29C6-C98EF402FE69}"/>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Serializability of Schedules</a:t>
            </a:r>
          </a:p>
        </p:txBody>
      </p:sp>
      <p:sp>
        <p:nvSpPr>
          <p:cNvPr id="2" name="Content Placeholder 1">
            <a:extLst>
              <a:ext uri="{FF2B5EF4-FFF2-40B4-BE49-F238E27FC236}">
                <a16:creationId xmlns:a16="http://schemas.microsoft.com/office/drawing/2014/main" id="{54F71A94-F0D4-9CA6-27A1-2EB0252796B5}"/>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is used to identify which schedules are correct when transaction executions have interleaving of their operations in the schedules.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problem with serial schedules is that they limit concurrency by prohibiting interleaving of operations. In a serial schedule, if a transaction waits for an I/O operation to complete, we cannot switch the CPU to another transaction, thereby wasting valuable CPU processing time.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Additionally, if some transaction T is long, the other transactions must wait for T to complete all its operations before starting.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However, if we can determine which other schedules are equivalent to a serial schedule, we can allow these schedules to occur.</a:t>
            </a:r>
          </a:p>
        </p:txBody>
      </p:sp>
      <p:sp>
        <p:nvSpPr>
          <p:cNvPr id="3" name="Footer Placeholder 2">
            <a:extLst>
              <a:ext uri="{FF2B5EF4-FFF2-40B4-BE49-F238E27FC236}">
                <a16:creationId xmlns:a16="http://schemas.microsoft.com/office/drawing/2014/main" id="{BAF8E19A-9A10-C8E6-B548-BD7091AEDAE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A1C1C0D5-7886-ED77-AFA0-2D2EFB494A5D}"/>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80250126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F53F5-1F87-742B-40FA-E6C8A235B5D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CCD1EC0-279E-B947-46CB-6D28BF934CC2}"/>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Serializability of Schedules</a:t>
            </a:r>
          </a:p>
        </p:txBody>
      </p:sp>
      <p:sp>
        <p:nvSpPr>
          <p:cNvPr id="2" name="Content Placeholder 1">
            <a:extLst>
              <a:ext uri="{FF2B5EF4-FFF2-40B4-BE49-F238E27FC236}">
                <a16:creationId xmlns:a16="http://schemas.microsoft.com/office/drawing/2014/main" id="{6D6A86F7-5260-64EB-3EC2-CC0AC87251D8}"/>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Consider the following two serial schedules.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Assuming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X=50, Y=50, N=5,</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M=10</a:t>
            </a:r>
            <a:r>
              <a:rPr lang="en-US" sz="2400" dirty="0">
                <a:latin typeface="Cambria" panose="02040503050406030204" pitchFamily="18" charset="0"/>
                <a:ea typeface="Cambria" panose="02040503050406030204" pitchFamily="18" charset="0"/>
                <a:cs typeface="Calibri" panose="020F0502020204030204" pitchFamily="34" charset="0"/>
              </a:rPr>
              <a:t> before the start of the transactions.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updated values upon the completion of the transactions will be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X=55, Y=55.</a:t>
            </a:r>
          </a:p>
        </p:txBody>
      </p:sp>
      <p:sp>
        <p:nvSpPr>
          <p:cNvPr id="3" name="Footer Placeholder 2">
            <a:extLst>
              <a:ext uri="{FF2B5EF4-FFF2-40B4-BE49-F238E27FC236}">
                <a16:creationId xmlns:a16="http://schemas.microsoft.com/office/drawing/2014/main" id="{D91F669E-8C3D-42F8-DBBB-AF3EA044CB3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71D14387-2E9C-B1ED-2204-A60D4E819112}"/>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grpSp>
        <p:nvGrpSpPr>
          <p:cNvPr id="9" name="Group 8">
            <a:extLst>
              <a:ext uri="{FF2B5EF4-FFF2-40B4-BE49-F238E27FC236}">
                <a16:creationId xmlns:a16="http://schemas.microsoft.com/office/drawing/2014/main" id="{D2BB8605-150B-612C-900C-FB4B5F6B248C}"/>
              </a:ext>
            </a:extLst>
          </p:cNvPr>
          <p:cNvGrpSpPr/>
          <p:nvPr/>
        </p:nvGrpSpPr>
        <p:grpSpPr>
          <a:xfrm>
            <a:off x="399837" y="1988840"/>
            <a:ext cx="8276620" cy="3528393"/>
            <a:chOff x="399836" y="1340766"/>
            <a:chExt cx="8344329" cy="3816425"/>
          </a:xfrm>
        </p:grpSpPr>
        <p:pic>
          <p:nvPicPr>
            <p:cNvPr id="6" name="Picture 5">
              <a:extLst>
                <a:ext uri="{FF2B5EF4-FFF2-40B4-BE49-F238E27FC236}">
                  <a16:creationId xmlns:a16="http://schemas.microsoft.com/office/drawing/2014/main" id="{E1433A10-8B4D-9A6A-809C-0938ED49FD91}"/>
                </a:ext>
              </a:extLst>
            </p:cNvPr>
            <p:cNvPicPr>
              <a:picLocks noChangeAspect="1"/>
            </p:cNvPicPr>
            <p:nvPr/>
          </p:nvPicPr>
          <p:blipFill>
            <a:blip r:embed="rId2"/>
            <a:stretch>
              <a:fillRect/>
            </a:stretch>
          </p:blipFill>
          <p:spPr>
            <a:xfrm>
              <a:off x="399836" y="1340766"/>
              <a:ext cx="3843532" cy="3816425"/>
            </a:xfrm>
            <a:prstGeom prst="rect">
              <a:avLst/>
            </a:prstGeom>
          </p:spPr>
        </p:pic>
        <p:pic>
          <p:nvPicPr>
            <p:cNvPr id="8" name="Picture 7">
              <a:extLst>
                <a:ext uri="{FF2B5EF4-FFF2-40B4-BE49-F238E27FC236}">
                  <a16:creationId xmlns:a16="http://schemas.microsoft.com/office/drawing/2014/main" id="{5A76CDAE-A7AF-F472-77CE-B4EF272A39FD}"/>
                </a:ext>
              </a:extLst>
            </p:cNvPr>
            <p:cNvPicPr>
              <a:picLocks noChangeAspect="1"/>
            </p:cNvPicPr>
            <p:nvPr/>
          </p:nvPicPr>
          <p:blipFill>
            <a:blip r:embed="rId3"/>
            <a:stretch>
              <a:fillRect/>
            </a:stretch>
          </p:blipFill>
          <p:spPr>
            <a:xfrm>
              <a:off x="4935269" y="1362229"/>
              <a:ext cx="3808896" cy="3729356"/>
            </a:xfrm>
            <a:prstGeom prst="rect">
              <a:avLst/>
            </a:prstGeom>
          </p:spPr>
        </p:pic>
      </p:grpSp>
    </p:spTree>
    <p:extLst>
      <p:ext uri="{BB962C8B-B14F-4D97-AF65-F5344CB8AC3E}">
        <p14:creationId xmlns:p14="http://schemas.microsoft.com/office/powerpoint/2010/main" val="6665281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1" end="11"/>
                                            </p:txEl>
                                          </p:spTgt>
                                        </p:tgtEl>
                                        <p:attrNameLst>
                                          <p:attrName>style.visibility</p:attrName>
                                        </p:attrNameLst>
                                      </p:cBhvr>
                                      <p:to>
                                        <p:strVal val="visible"/>
                                      </p:to>
                                    </p:set>
                                    <p:anim calcmode="lin" valueType="num">
                                      <p:cBhvr additive="base">
                                        <p:cTn id="7"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17EDE-D907-6826-8FA6-BEFF8F113DA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9E74335-5C78-5B55-8BCE-E93F2076A0F0}"/>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Serializability of Schedules</a:t>
            </a:r>
          </a:p>
        </p:txBody>
      </p:sp>
      <p:sp>
        <p:nvSpPr>
          <p:cNvPr id="2" name="Content Placeholder 1">
            <a:extLst>
              <a:ext uri="{FF2B5EF4-FFF2-40B4-BE49-F238E27FC236}">
                <a16:creationId xmlns:a16="http://schemas.microsoft.com/office/drawing/2014/main" id="{45D6CE46-DBB4-1C9A-0310-92F718C70631}"/>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Consider the following two non-serial schedules.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Assuming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X=50, Y=50, N=5,</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M=10</a:t>
            </a:r>
            <a:r>
              <a:rPr lang="en-US" sz="2400" dirty="0">
                <a:latin typeface="Cambria" panose="02040503050406030204" pitchFamily="18" charset="0"/>
                <a:ea typeface="Cambria" panose="02040503050406030204" pitchFamily="18" charset="0"/>
                <a:cs typeface="Calibri" panose="020F0502020204030204" pitchFamily="34" charset="0"/>
              </a:rPr>
              <a:t> before the start of the transactions.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Schedule C:</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X=60, Y=55 </a:t>
            </a:r>
            <a:r>
              <a:rPr lang="en-US" sz="2400" dirty="0">
                <a:latin typeface="Cambria" panose="02040503050406030204" pitchFamily="18" charset="0"/>
                <a:ea typeface="Cambria" panose="02040503050406030204" pitchFamily="18" charset="0"/>
                <a:cs typeface="Calibri" panose="020F0502020204030204" pitchFamily="34" charset="0"/>
              </a:rPr>
              <a:t>(Incorrect)</a:t>
            </a:r>
          </a:p>
          <a:p>
            <a:pPr marL="347663" indent="-347663" algn="just">
              <a:spcBef>
                <a:spcPts val="300"/>
              </a:spcBef>
              <a:buClr>
                <a:srgbClr val="C00000"/>
              </a:buClr>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Schedule D:</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X=55, Y=55 </a:t>
            </a:r>
            <a:r>
              <a:rPr lang="en-US" sz="2400" dirty="0">
                <a:latin typeface="Cambria" panose="02040503050406030204" pitchFamily="18" charset="0"/>
                <a:ea typeface="Cambria" panose="02040503050406030204" pitchFamily="18" charset="0"/>
                <a:cs typeface="Calibri" panose="020F0502020204030204" pitchFamily="34" charset="0"/>
              </a:rPr>
              <a:t>(Correct)</a:t>
            </a:r>
          </a:p>
          <a:p>
            <a:pPr marL="347663" indent="-347663" algn="just">
              <a:spcBef>
                <a:spcPts val="300"/>
              </a:spcBef>
              <a:buClr>
                <a:srgbClr val="C00000"/>
              </a:buClr>
              <a:defRPr/>
            </a:pP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2A4C5114-3C9F-8A53-1440-380DCE6ACB0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0CA871BF-E59F-4407-6EF5-2D944E9510BF}"/>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grpSp>
        <p:nvGrpSpPr>
          <p:cNvPr id="14" name="Group 13">
            <a:extLst>
              <a:ext uri="{FF2B5EF4-FFF2-40B4-BE49-F238E27FC236}">
                <a16:creationId xmlns:a16="http://schemas.microsoft.com/office/drawing/2014/main" id="{EE422B96-52F6-A74D-EC10-4AC453F9AED0}"/>
              </a:ext>
            </a:extLst>
          </p:cNvPr>
          <p:cNvGrpSpPr/>
          <p:nvPr/>
        </p:nvGrpSpPr>
        <p:grpSpPr>
          <a:xfrm>
            <a:off x="937824" y="1988840"/>
            <a:ext cx="7483206" cy="3384376"/>
            <a:chOff x="937824" y="1988840"/>
            <a:chExt cx="7483206" cy="3384376"/>
          </a:xfrm>
        </p:grpSpPr>
        <p:pic>
          <p:nvPicPr>
            <p:cNvPr id="7" name="Picture 6">
              <a:extLst>
                <a:ext uri="{FF2B5EF4-FFF2-40B4-BE49-F238E27FC236}">
                  <a16:creationId xmlns:a16="http://schemas.microsoft.com/office/drawing/2014/main" id="{960CEE89-7C5D-728F-E1BF-BF1C3E1F887B}"/>
                </a:ext>
              </a:extLst>
            </p:cNvPr>
            <p:cNvPicPr>
              <a:picLocks noChangeAspect="1"/>
            </p:cNvPicPr>
            <p:nvPr/>
          </p:nvPicPr>
          <p:blipFill>
            <a:blip r:embed="rId2"/>
            <a:stretch>
              <a:fillRect/>
            </a:stretch>
          </p:blipFill>
          <p:spPr>
            <a:xfrm>
              <a:off x="937824" y="1988840"/>
              <a:ext cx="3418152" cy="3384376"/>
            </a:xfrm>
            <a:prstGeom prst="rect">
              <a:avLst/>
            </a:prstGeom>
          </p:spPr>
        </p:pic>
        <p:pic>
          <p:nvPicPr>
            <p:cNvPr id="13" name="Picture 12">
              <a:extLst>
                <a:ext uri="{FF2B5EF4-FFF2-40B4-BE49-F238E27FC236}">
                  <a16:creationId xmlns:a16="http://schemas.microsoft.com/office/drawing/2014/main" id="{803915D3-F600-92CE-6827-3EEC20FF8536}"/>
                </a:ext>
              </a:extLst>
            </p:cNvPr>
            <p:cNvPicPr>
              <a:picLocks noChangeAspect="1"/>
            </p:cNvPicPr>
            <p:nvPr/>
          </p:nvPicPr>
          <p:blipFill>
            <a:blip r:embed="rId3"/>
            <a:stretch>
              <a:fillRect/>
            </a:stretch>
          </p:blipFill>
          <p:spPr>
            <a:xfrm>
              <a:off x="5002878" y="1988840"/>
              <a:ext cx="3418152" cy="3374707"/>
            </a:xfrm>
            <a:prstGeom prst="rect">
              <a:avLst/>
            </a:prstGeom>
          </p:spPr>
        </p:pic>
      </p:grpSp>
    </p:spTree>
    <p:extLst>
      <p:ext uri="{BB962C8B-B14F-4D97-AF65-F5344CB8AC3E}">
        <p14:creationId xmlns:p14="http://schemas.microsoft.com/office/powerpoint/2010/main" val="37923790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1" end="11"/>
                                            </p:txEl>
                                          </p:spTgt>
                                        </p:tgtEl>
                                        <p:attrNameLst>
                                          <p:attrName>style.visibility</p:attrName>
                                        </p:attrNameLst>
                                      </p:cBhvr>
                                      <p:to>
                                        <p:strVal val="visible"/>
                                      </p:to>
                                    </p:set>
                                    <p:anim calcmode="lin" valueType="num">
                                      <p:cBhvr additive="base">
                                        <p:cTn id="7"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1"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2" end="12"/>
                                            </p:txEl>
                                          </p:spTgt>
                                        </p:tgtEl>
                                        <p:attrNameLst>
                                          <p:attrName>style.visibility</p:attrName>
                                        </p:attrNameLst>
                                      </p:cBhvr>
                                      <p:to>
                                        <p:strVal val="visible"/>
                                      </p:to>
                                    </p:set>
                                    <p:anim calcmode="lin" valueType="num">
                                      <p:cBhvr additive="base">
                                        <p:cTn id="11"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BC30-9C09-159B-6575-EE598A9A806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B5FD75D-0F2A-C3F4-35E2-010EDA8C12C5}"/>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Serializability of Schedules</a:t>
            </a:r>
          </a:p>
        </p:txBody>
      </p:sp>
      <p:sp>
        <p:nvSpPr>
          <p:cNvPr id="2" name="Content Placeholder 1">
            <a:extLst>
              <a:ext uri="{FF2B5EF4-FFF2-40B4-BE49-F238E27FC236}">
                <a16:creationId xmlns:a16="http://schemas.microsoft.com/office/drawing/2014/main" id="{8852FFFB-9016-BB8F-7BC4-9C5A9EB9F1BA}"/>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is observed that some non-serial schedules may give the correct expected result, such as schedule D. Accordingly, non-serial schedules can be grouped as serializable (correct), and non serializable (incorrect) schedules.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There are two types of schedule equivalence:</a:t>
            </a:r>
          </a:p>
          <a:p>
            <a:pPr marL="731838" lvl="1" indent="-457200" algn="just">
              <a:spcBef>
                <a:spcPts val="300"/>
              </a:spcBef>
              <a:buClr>
                <a:srgbClr val="C00000"/>
              </a:buClr>
              <a:buFont typeface="+mj-lt"/>
              <a:buAutoNum type="alphaLcParenR"/>
              <a:defRPr/>
            </a:pPr>
            <a:r>
              <a:rPr lang="en-US" dirty="0">
                <a:solidFill>
                  <a:srgbClr val="0000FF"/>
                </a:solidFill>
                <a:latin typeface="Cambria" panose="02040503050406030204" pitchFamily="18" charset="0"/>
                <a:ea typeface="Cambria" panose="02040503050406030204" pitchFamily="18" charset="0"/>
                <a:cs typeface="Calibri" panose="020F0502020204030204" pitchFamily="34" charset="0"/>
              </a:rPr>
              <a:t>Conflict Equivalence</a:t>
            </a:r>
          </a:p>
          <a:p>
            <a:pPr marL="731838" lvl="1" indent="-457200" algn="just">
              <a:spcBef>
                <a:spcPts val="300"/>
              </a:spcBef>
              <a:buClr>
                <a:srgbClr val="C00000"/>
              </a:buClr>
              <a:buFont typeface="+mj-lt"/>
              <a:buAutoNum type="alphaLcParenR"/>
              <a:defRPr/>
            </a:pPr>
            <a:r>
              <a:rPr lang="en-US" dirty="0">
                <a:solidFill>
                  <a:srgbClr val="0000FF"/>
                </a:solidFill>
                <a:latin typeface="Cambria" panose="02040503050406030204" pitchFamily="18" charset="0"/>
                <a:ea typeface="Cambria" panose="02040503050406030204" pitchFamily="18" charset="0"/>
                <a:cs typeface="Calibri" panose="020F0502020204030204" pitchFamily="34" charset="0"/>
              </a:rPr>
              <a:t>View Equivalence</a:t>
            </a:r>
          </a:p>
          <a:p>
            <a:pPr algn="just"/>
            <a:r>
              <a:rPr lang="en-US" sz="2400" dirty="0">
                <a:latin typeface="Cambria" panose="02040503050406030204" pitchFamily="18" charset="0"/>
                <a:ea typeface="Cambria" panose="02040503050406030204" pitchFamily="18" charset="0"/>
                <a:cs typeface="Calibri" panose="020F0502020204030204" pitchFamily="34" charset="0"/>
              </a:rPr>
              <a:t>Two schedules are said to be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conflict equivalent</a:t>
            </a:r>
            <a:r>
              <a:rPr lang="en-US" sz="2400" dirty="0">
                <a:latin typeface="Cambria" panose="02040503050406030204" pitchFamily="18" charset="0"/>
                <a:ea typeface="Cambria" panose="02040503050406030204" pitchFamily="18" charset="0"/>
                <a:cs typeface="Calibri" panose="020F0502020204030204" pitchFamily="34" charset="0"/>
              </a:rPr>
              <a:t> if the relative order of any two conflicting operations is the same in both schedules. </a:t>
            </a:r>
          </a:p>
          <a:p>
            <a:pPr algn="just"/>
            <a:r>
              <a:rPr lang="en-US" sz="2400" dirty="0">
                <a:latin typeface="Cambria" panose="02040503050406030204" pitchFamily="18" charset="0"/>
                <a:ea typeface="Cambria" panose="02040503050406030204" pitchFamily="18" charset="0"/>
              </a:rPr>
              <a:t>The following two schedules are not </a:t>
            </a:r>
            <a:r>
              <a:rPr lang="en-US" sz="2400" dirty="0">
                <a:latin typeface="Cambria" panose="02040503050406030204" pitchFamily="18" charset="0"/>
                <a:ea typeface="Cambria" panose="02040503050406030204" pitchFamily="18" charset="0"/>
                <a:cs typeface="Calibri" panose="020F0502020204030204" pitchFamily="34" charset="0"/>
              </a:rPr>
              <a:t>conflict equivalent:</a:t>
            </a:r>
          </a:p>
          <a:p>
            <a:pPr algn="just"/>
            <a:r>
              <a:rPr lang="en-US" sz="2400" dirty="0">
                <a:solidFill>
                  <a:srgbClr val="0000FF"/>
                </a:solidFill>
                <a:latin typeface="Cambria" panose="02040503050406030204" pitchFamily="18" charset="0"/>
                <a:ea typeface="Cambria" panose="02040503050406030204" pitchFamily="18" charset="0"/>
              </a:rPr>
              <a:t>Schedule </a:t>
            </a:r>
            <a:r>
              <a:rPr lang="en-US" sz="2400" i="1" dirty="0">
                <a:solidFill>
                  <a:srgbClr val="0000FF"/>
                </a:solidFill>
                <a:latin typeface="Cambria" panose="02040503050406030204" pitchFamily="18" charset="0"/>
                <a:ea typeface="Cambria" panose="02040503050406030204" pitchFamily="18" charset="0"/>
              </a:rPr>
              <a:t>S</a:t>
            </a:r>
            <a:r>
              <a:rPr lang="en-US" sz="2400" baseline="-25000" dirty="0">
                <a:solidFill>
                  <a:srgbClr val="0000FF"/>
                </a:solidFill>
                <a:latin typeface="Cambria" panose="02040503050406030204" pitchFamily="18" charset="0"/>
                <a:ea typeface="Cambria" panose="02040503050406030204" pitchFamily="18" charset="0"/>
              </a:rPr>
              <a:t>1</a:t>
            </a:r>
            <a:r>
              <a:rPr lang="en-US" sz="2400" dirty="0">
                <a:solidFill>
                  <a:srgbClr val="0000FF"/>
                </a:solidFill>
                <a:latin typeface="Cambria" panose="02040503050406030204" pitchFamily="18" charset="0"/>
                <a:ea typeface="Cambria" panose="02040503050406030204" pitchFamily="18" charset="0"/>
              </a:rPr>
              <a:t>: </a:t>
            </a:r>
            <a:r>
              <a:rPr lang="en-US" sz="2400" i="1" dirty="0">
                <a:latin typeface="Cambria" panose="02040503050406030204" pitchFamily="18" charset="0"/>
                <a:ea typeface="Cambria" panose="02040503050406030204" pitchFamily="18" charset="0"/>
              </a:rPr>
              <a:t>r</a:t>
            </a:r>
            <a:r>
              <a:rPr lang="en-US" sz="2400" baseline="-25000" dirty="0">
                <a:latin typeface="Cambria" panose="02040503050406030204" pitchFamily="18" charset="0"/>
                <a:ea typeface="Cambria" panose="02040503050406030204" pitchFamily="18" charset="0"/>
              </a:rPr>
              <a:t>1</a:t>
            </a:r>
            <a:r>
              <a:rPr lang="en-US" sz="2400" dirty="0">
                <a:latin typeface="Cambria" panose="02040503050406030204" pitchFamily="18" charset="0"/>
                <a:ea typeface="Cambria" panose="02040503050406030204" pitchFamily="18" charset="0"/>
              </a:rPr>
              <a:t>(</a:t>
            </a:r>
            <a:r>
              <a:rPr lang="en-US" sz="2400" i="1" dirty="0">
                <a:latin typeface="Cambria" panose="02040503050406030204" pitchFamily="18" charset="0"/>
                <a:ea typeface="Cambria" panose="02040503050406030204" pitchFamily="18" charset="0"/>
              </a:rPr>
              <a:t>X</a:t>
            </a:r>
            <a:r>
              <a:rPr lang="en-US" sz="2400" dirty="0">
                <a:latin typeface="Cambria" panose="02040503050406030204" pitchFamily="18" charset="0"/>
                <a:ea typeface="Cambria" panose="02040503050406030204" pitchFamily="18" charset="0"/>
              </a:rPr>
              <a:t>), </a:t>
            </a:r>
            <a:r>
              <a:rPr lang="en-US" sz="2400" i="1" dirty="0">
                <a:latin typeface="Cambria" panose="02040503050406030204" pitchFamily="18" charset="0"/>
                <a:ea typeface="Cambria" panose="02040503050406030204" pitchFamily="18" charset="0"/>
              </a:rPr>
              <a:t>w</a:t>
            </a:r>
            <a:r>
              <a:rPr lang="en-US" sz="2400" baseline="-25000" dirty="0">
                <a:latin typeface="Cambria" panose="02040503050406030204" pitchFamily="18" charset="0"/>
                <a:ea typeface="Cambria" panose="02040503050406030204" pitchFamily="18" charset="0"/>
              </a:rPr>
              <a:t>2</a:t>
            </a:r>
            <a:r>
              <a:rPr lang="en-US" sz="2400" dirty="0">
                <a:latin typeface="Cambria" panose="02040503050406030204" pitchFamily="18" charset="0"/>
                <a:ea typeface="Cambria" panose="02040503050406030204" pitchFamily="18" charset="0"/>
              </a:rPr>
              <a:t>(</a:t>
            </a:r>
            <a:r>
              <a:rPr lang="en-US" sz="2400" i="1" dirty="0">
                <a:latin typeface="Cambria" panose="02040503050406030204" pitchFamily="18" charset="0"/>
                <a:ea typeface="Cambria" panose="02040503050406030204" pitchFamily="18" charset="0"/>
              </a:rPr>
              <a:t>X</a:t>
            </a:r>
            <a:r>
              <a:rPr lang="en-US" sz="2400" dirty="0">
                <a:latin typeface="Cambria" panose="02040503050406030204" pitchFamily="18" charset="0"/>
                <a:ea typeface="Cambria" panose="02040503050406030204" pitchFamily="18" charset="0"/>
              </a:rPr>
              <a:t>) </a:t>
            </a:r>
          </a:p>
          <a:p>
            <a:pPr algn="just"/>
            <a:r>
              <a:rPr lang="en-US" sz="2400" dirty="0">
                <a:solidFill>
                  <a:srgbClr val="0000FF"/>
                </a:solidFill>
                <a:latin typeface="Cambria" panose="02040503050406030204" pitchFamily="18" charset="0"/>
                <a:ea typeface="Cambria" panose="02040503050406030204" pitchFamily="18" charset="0"/>
              </a:rPr>
              <a:t>Schedule </a:t>
            </a:r>
            <a:r>
              <a:rPr lang="en-US" sz="2400" i="1" dirty="0">
                <a:solidFill>
                  <a:srgbClr val="0000FF"/>
                </a:solidFill>
                <a:latin typeface="Cambria" panose="02040503050406030204" pitchFamily="18" charset="0"/>
                <a:ea typeface="Cambria" panose="02040503050406030204" pitchFamily="18" charset="0"/>
              </a:rPr>
              <a:t>S</a:t>
            </a:r>
            <a:r>
              <a:rPr lang="en-US" sz="2400" baseline="-25000" dirty="0">
                <a:solidFill>
                  <a:srgbClr val="0000FF"/>
                </a:solidFill>
                <a:latin typeface="Cambria" panose="02040503050406030204" pitchFamily="18" charset="0"/>
                <a:ea typeface="Cambria" panose="02040503050406030204" pitchFamily="18" charset="0"/>
              </a:rPr>
              <a:t>2</a:t>
            </a:r>
            <a:r>
              <a:rPr lang="en-US" sz="2400" dirty="0">
                <a:solidFill>
                  <a:srgbClr val="0000FF"/>
                </a:solidFill>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a:t>
            </a:r>
            <a:r>
              <a:rPr lang="en-US" sz="2400" i="1" dirty="0">
                <a:latin typeface="Cambria" panose="02040503050406030204" pitchFamily="18" charset="0"/>
                <a:ea typeface="Cambria" panose="02040503050406030204" pitchFamily="18" charset="0"/>
              </a:rPr>
              <a:t>w</a:t>
            </a:r>
            <a:r>
              <a:rPr lang="en-US" sz="2400" baseline="-25000" dirty="0">
                <a:latin typeface="Cambria" panose="02040503050406030204" pitchFamily="18" charset="0"/>
                <a:ea typeface="Cambria" panose="02040503050406030204" pitchFamily="18" charset="0"/>
              </a:rPr>
              <a:t>2</a:t>
            </a:r>
            <a:r>
              <a:rPr lang="en-US" sz="2400" dirty="0">
                <a:latin typeface="Cambria" panose="02040503050406030204" pitchFamily="18" charset="0"/>
                <a:ea typeface="Cambria" panose="02040503050406030204" pitchFamily="18" charset="0"/>
              </a:rPr>
              <a:t>(</a:t>
            </a:r>
            <a:r>
              <a:rPr lang="en-US" sz="2400" i="1" dirty="0">
                <a:latin typeface="Cambria" panose="02040503050406030204" pitchFamily="18" charset="0"/>
                <a:ea typeface="Cambria" panose="02040503050406030204" pitchFamily="18" charset="0"/>
              </a:rPr>
              <a:t>X</a:t>
            </a:r>
            <a:r>
              <a:rPr lang="en-US" sz="2400" dirty="0">
                <a:latin typeface="Cambria" panose="02040503050406030204" pitchFamily="18" charset="0"/>
                <a:ea typeface="Cambria" panose="02040503050406030204" pitchFamily="18" charset="0"/>
              </a:rPr>
              <a:t>), </a:t>
            </a:r>
            <a:r>
              <a:rPr lang="en-US" sz="2400" i="1" dirty="0">
                <a:latin typeface="Cambria" panose="02040503050406030204" pitchFamily="18" charset="0"/>
                <a:ea typeface="Cambria" panose="02040503050406030204" pitchFamily="18" charset="0"/>
              </a:rPr>
              <a:t>r</a:t>
            </a:r>
            <a:r>
              <a:rPr lang="en-US" sz="2400" baseline="-25000" dirty="0">
                <a:latin typeface="Cambria" panose="02040503050406030204" pitchFamily="18" charset="0"/>
                <a:ea typeface="Cambria" panose="02040503050406030204" pitchFamily="18" charset="0"/>
              </a:rPr>
              <a:t>1</a:t>
            </a:r>
            <a:r>
              <a:rPr lang="en-US" sz="2400" dirty="0">
                <a:latin typeface="Cambria" panose="02040503050406030204" pitchFamily="18" charset="0"/>
                <a:ea typeface="Cambria" panose="02040503050406030204" pitchFamily="18" charset="0"/>
              </a:rPr>
              <a:t>(</a:t>
            </a:r>
            <a:r>
              <a:rPr lang="en-US" sz="2400" i="1" dirty="0">
                <a:latin typeface="Cambria" panose="02040503050406030204" pitchFamily="18" charset="0"/>
                <a:ea typeface="Cambria" panose="02040503050406030204" pitchFamily="18" charset="0"/>
              </a:rPr>
              <a:t>X</a:t>
            </a:r>
            <a:r>
              <a:rPr lang="en-US" sz="2400" dirty="0">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9E748B87-E0BC-6F80-6C98-D5A618F4C26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D829C27-84EB-9134-AA23-6C49429ABFDC}"/>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5833785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35AF8-917F-B4DE-E81B-E2D73B98BE0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0E9C3A75-20CF-216D-43D7-8770CEC93F4A}"/>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Conflict Serializability</a:t>
            </a:r>
          </a:p>
        </p:txBody>
      </p:sp>
      <p:sp>
        <p:nvSpPr>
          <p:cNvPr id="2" name="Content Placeholder 1">
            <a:extLst>
              <a:ext uri="{FF2B5EF4-FFF2-40B4-BE49-F238E27FC236}">
                <a16:creationId xmlns:a16="http://schemas.microsoft.com/office/drawing/2014/main" id="{44AE8BF2-4EAD-6BC3-53AC-CC86F4CB89AA}"/>
              </a:ext>
            </a:extLst>
          </p:cNvPr>
          <p:cNvSpPr>
            <a:spLocks noGrp="1"/>
          </p:cNvSpPr>
          <p:nvPr>
            <p:ph sz="quarter" idx="1"/>
          </p:nvPr>
        </p:nvSpPr>
        <p:spPr>
          <a:xfrm>
            <a:off x="328042" y="692696"/>
            <a:ext cx="8492430" cy="4464496"/>
          </a:xfrm>
        </p:spPr>
        <p:txBody>
          <a:bodyPr/>
          <a:lstStyle/>
          <a:p>
            <a:pPr marL="0" indent="0" algn="just">
              <a:buNone/>
            </a:pPr>
            <a:r>
              <a:rPr lang="en-US" sz="2800" b="1" dirty="0">
                <a:solidFill>
                  <a:srgbClr val="0000FF"/>
                </a:solidFill>
                <a:latin typeface="Cambria" panose="02040503050406030204" pitchFamily="18" charset="0"/>
                <a:ea typeface="Cambria" panose="02040503050406030204" pitchFamily="18" charset="0"/>
              </a:rPr>
              <a:t>Algorithm</a:t>
            </a:r>
          </a:p>
          <a:p>
            <a:pPr marL="0" indent="0" algn="just">
              <a:buNone/>
            </a:pPr>
            <a:r>
              <a:rPr lang="en-US" sz="2400" b="1" dirty="0">
                <a:latin typeface="Cambria" panose="02040503050406030204" pitchFamily="18" charset="0"/>
                <a:ea typeface="Cambria" panose="02040503050406030204" pitchFamily="18" charset="0"/>
              </a:rPr>
              <a:t>1. </a:t>
            </a:r>
            <a:r>
              <a:rPr lang="en-US" sz="2400" dirty="0">
                <a:latin typeface="Cambria" panose="02040503050406030204" pitchFamily="18" charset="0"/>
                <a:ea typeface="Cambria" panose="02040503050406030204" pitchFamily="18" charset="0"/>
              </a:rPr>
              <a:t>For each transaction </a:t>
            </a:r>
            <a:r>
              <a:rPr lang="en-US" sz="2400" i="1" dirty="0">
                <a:solidFill>
                  <a:srgbClr val="FF0000"/>
                </a:solidFill>
                <a:latin typeface="Cambria" panose="02040503050406030204" pitchFamily="18" charset="0"/>
                <a:ea typeface="Cambria" panose="02040503050406030204" pitchFamily="18" charset="0"/>
              </a:rPr>
              <a:t>T</a:t>
            </a:r>
            <a:r>
              <a:rPr lang="en-US" sz="2400" i="1" baseline="-25000" dirty="0">
                <a:solidFill>
                  <a:srgbClr val="FF0000"/>
                </a:solidFill>
                <a:latin typeface="Cambria" panose="02040503050406030204" pitchFamily="18" charset="0"/>
                <a:ea typeface="Cambria" panose="02040503050406030204" pitchFamily="18" charset="0"/>
              </a:rPr>
              <a:t>i</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participating in schedule </a:t>
            </a:r>
            <a:r>
              <a:rPr lang="en-US" sz="2400" i="1" dirty="0">
                <a:solidFill>
                  <a:srgbClr val="FF0000"/>
                </a:solidFill>
                <a:latin typeface="Cambria" panose="02040503050406030204" pitchFamily="18" charset="0"/>
                <a:ea typeface="Cambria" panose="02040503050406030204" pitchFamily="18" charset="0"/>
              </a:rPr>
              <a:t>S,</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create a node labeled </a:t>
            </a:r>
            <a:r>
              <a:rPr lang="en-US" sz="2400" i="1" dirty="0">
                <a:solidFill>
                  <a:srgbClr val="FF0000"/>
                </a:solidFill>
                <a:latin typeface="Cambria" panose="02040503050406030204" pitchFamily="18" charset="0"/>
                <a:ea typeface="Cambria" panose="02040503050406030204" pitchFamily="18" charset="0"/>
              </a:rPr>
              <a:t>T</a:t>
            </a:r>
            <a:r>
              <a:rPr lang="en-US" sz="2400" i="1" baseline="-25000" dirty="0">
                <a:solidFill>
                  <a:srgbClr val="FF0000"/>
                </a:solidFill>
                <a:latin typeface="Cambria" panose="02040503050406030204" pitchFamily="18" charset="0"/>
                <a:ea typeface="Cambria" panose="02040503050406030204" pitchFamily="18" charset="0"/>
              </a:rPr>
              <a:t>i</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in the </a:t>
            </a:r>
            <a:r>
              <a:rPr lang="en-US" sz="2400" dirty="0">
                <a:solidFill>
                  <a:srgbClr val="0000FF"/>
                </a:solidFill>
                <a:latin typeface="Cambria" panose="02040503050406030204" pitchFamily="18" charset="0"/>
                <a:ea typeface="Cambria" panose="02040503050406030204" pitchFamily="18" charset="0"/>
              </a:rPr>
              <a:t>precedence or serialization graph.</a:t>
            </a:r>
          </a:p>
          <a:p>
            <a:pPr marL="0" indent="0" algn="just">
              <a:buNone/>
            </a:pPr>
            <a:r>
              <a:rPr lang="en-US" sz="2000" b="1" dirty="0">
                <a:latin typeface="Cambria" panose="02040503050406030204" pitchFamily="18" charset="0"/>
                <a:ea typeface="Cambria" panose="02040503050406030204" pitchFamily="18" charset="0"/>
              </a:rPr>
              <a:t>2. </a:t>
            </a:r>
            <a:r>
              <a:rPr lang="en-US" sz="2000" dirty="0">
                <a:latin typeface="Cambria" panose="02040503050406030204" pitchFamily="18" charset="0"/>
                <a:ea typeface="Cambria" panose="02040503050406030204" pitchFamily="18" charset="0"/>
              </a:rPr>
              <a:t>For each case in </a:t>
            </a:r>
            <a:r>
              <a:rPr lang="en-US" sz="2000" i="1" dirty="0">
                <a:solidFill>
                  <a:srgbClr val="FF0000"/>
                </a:solidFill>
                <a:latin typeface="Cambria" panose="02040503050406030204" pitchFamily="18" charset="0"/>
                <a:ea typeface="Cambria" panose="02040503050406030204" pitchFamily="18" charset="0"/>
              </a:rPr>
              <a:t>S</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where </a:t>
            </a:r>
            <a:r>
              <a:rPr lang="en-US" sz="2000" i="1" dirty="0" err="1">
                <a:solidFill>
                  <a:srgbClr val="FF0000"/>
                </a:solidFill>
                <a:latin typeface="Cambria" panose="02040503050406030204" pitchFamily="18" charset="0"/>
                <a:ea typeface="Cambria" panose="02040503050406030204" pitchFamily="18" charset="0"/>
              </a:rPr>
              <a:t>T</a:t>
            </a:r>
            <a:r>
              <a:rPr lang="en-US" sz="2000" i="1" baseline="-25000" dirty="0" err="1">
                <a:solidFill>
                  <a:srgbClr val="FF0000"/>
                </a:solidFill>
                <a:latin typeface="Cambria" panose="02040503050406030204" pitchFamily="18" charset="0"/>
                <a:ea typeface="Cambria" panose="02040503050406030204" pitchFamily="18" charset="0"/>
              </a:rPr>
              <a:t>j</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executes a </a:t>
            </a:r>
            <a:r>
              <a:rPr lang="en-US" sz="2000" dirty="0" err="1">
                <a:solidFill>
                  <a:srgbClr val="FF0000"/>
                </a:solidFill>
                <a:latin typeface="Cambria" panose="02040503050406030204" pitchFamily="18" charset="0"/>
                <a:ea typeface="Cambria" panose="02040503050406030204" pitchFamily="18" charset="0"/>
              </a:rPr>
              <a:t>read_item</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X</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after </a:t>
            </a:r>
            <a:r>
              <a:rPr lang="en-US" sz="2000" i="1" dirty="0">
                <a:solidFill>
                  <a:srgbClr val="FF0000"/>
                </a:solidFill>
                <a:latin typeface="Cambria" panose="02040503050406030204" pitchFamily="18" charset="0"/>
                <a:ea typeface="Cambria" panose="02040503050406030204" pitchFamily="18" charset="0"/>
              </a:rPr>
              <a:t>T</a:t>
            </a:r>
            <a:r>
              <a:rPr lang="en-US" sz="2000" i="1" baseline="-25000" dirty="0">
                <a:solidFill>
                  <a:srgbClr val="FF0000"/>
                </a:solidFill>
                <a:latin typeface="Cambria" panose="02040503050406030204" pitchFamily="18" charset="0"/>
                <a:ea typeface="Cambria" panose="02040503050406030204" pitchFamily="18" charset="0"/>
              </a:rPr>
              <a:t>i</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executes a </a:t>
            </a:r>
            <a:r>
              <a:rPr lang="en-US" sz="2000" dirty="0" err="1">
                <a:solidFill>
                  <a:srgbClr val="FF0000"/>
                </a:solidFill>
                <a:latin typeface="Cambria" panose="02040503050406030204" pitchFamily="18" charset="0"/>
                <a:ea typeface="Cambria" panose="02040503050406030204" pitchFamily="18" charset="0"/>
              </a:rPr>
              <a:t>write_item</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X</a:t>
            </a:r>
            <a:r>
              <a:rPr lang="en-US" sz="2000" dirty="0">
                <a:solidFill>
                  <a:srgbClr val="FF0000"/>
                </a:solidFill>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create an edge </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T</a:t>
            </a:r>
            <a:r>
              <a:rPr lang="en-US" sz="2000" i="1" baseline="-25000" dirty="0">
                <a:solidFill>
                  <a:srgbClr val="FF0000"/>
                </a:solidFill>
                <a:latin typeface="Cambria" panose="02040503050406030204" pitchFamily="18" charset="0"/>
                <a:ea typeface="Cambria" panose="02040503050406030204" pitchFamily="18" charset="0"/>
              </a:rPr>
              <a:t>i</a:t>
            </a:r>
            <a:r>
              <a:rPr lang="en-US" sz="2000" i="1" dirty="0">
                <a:solidFill>
                  <a:srgbClr val="FF0000"/>
                </a:solidFill>
                <a:latin typeface="Cambria" panose="02040503050406030204" pitchFamily="18" charset="0"/>
                <a:ea typeface="Cambria" panose="02040503050406030204" pitchFamily="18" charset="0"/>
              </a:rPr>
              <a:t> </a:t>
            </a:r>
            <a:r>
              <a:rPr lang="en-US" sz="2000" dirty="0">
                <a:solidFill>
                  <a:srgbClr val="FF0000"/>
                </a:solidFill>
                <a:latin typeface="Cambria" panose="02040503050406030204" pitchFamily="18" charset="0"/>
                <a:ea typeface="Cambria" panose="02040503050406030204" pitchFamily="18" charset="0"/>
              </a:rPr>
              <a:t>→ </a:t>
            </a:r>
            <a:r>
              <a:rPr lang="en-US" sz="2000" i="1" dirty="0" err="1">
                <a:solidFill>
                  <a:srgbClr val="FF0000"/>
                </a:solidFill>
                <a:latin typeface="Cambria" panose="02040503050406030204" pitchFamily="18" charset="0"/>
                <a:ea typeface="Cambria" panose="02040503050406030204" pitchFamily="18" charset="0"/>
              </a:rPr>
              <a:t>T</a:t>
            </a:r>
            <a:r>
              <a:rPr lang="en-US" sz="2000" i="1" baseline="-25000" dirty="0" err="1">
                <a:solidFill>
                  <a:srgbClr val="FF0000"/>
                </a:solidFill>
                <a:latin typeface="Cambria" panose="02040503050406030204" pitchFamily="18" charset="0"/>
                <a:ea typeface="Cambria" panose="02040503050406030204" pitchFamily="18" charset="0"/>
              </a:rPr>
              <a:t>j</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in the precedence graph.</a:t>
            </a:r>
          </a:p>
          <a:p>
            <a:pPr marL="0" indent="0" algn="just">
              <a:buNone/>
            </a:pPr>
            <a:r>
              <a:rPr lang="en-US" sz="2000" b="1" dirty="0">
                <a:latin typeface="Cambria" panose="02040503050406030204" pitchFamily="18" charset="0"/>
                <a:ea typeface="Cambria" panose="02040503050406030204" pitchFamily="18" charset="0"/>
              </a:rPr>
              <a:t>3. </a:t>
            </a:r>
            <a:r>
              <a:rPr lang="en-US" sz="2000" dirty="0">
                <a:latin typeface="Cambria" panose="02040503050406030204" pitchFamily="18" charset="0"/>
                <a:ea typeface="Cambria" panose="02040503050406030204" pitchFamily="18" charset="0"/>
              </a:rPr>
              <a:t>For each case in </a:t>
            </a:r>
            <a:r>
              <a:rPr lang="en-US" sz="2000" i="1" dirty="0">
                <a:solidFill>
                  <a:srgbClr val="FF0000"/>
                </a:solidFill>
                <a:latin typeface="Cambria" panose="02040503050406030204" pitchFamily="18" charset="0"/>
                <a:ea typeface="Cambria" panose="02040503050406030204" pitchFamily="18" charset="0"/>
              </a:rPr>
              <a:t>S</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where </a:t>
            </a:r>
            <a:r>
              <a:rPr lang="en-US" sz="2000" i="1" dirty="0" err="1">
                <a:solidFill>
                  <a:srgbClr val="FF0000"/>
                </a:solidFill>
                <a:latin typeface="Cambria" panose="02040503050406030204" pitchFamily="18" charset="0"/>
                <a:ea typeface="Cambria" panose="02040503050406030204" pitchFamily="18" charset="0"/>
              </a:rPr>
              <a:t>T</a:t>
            </a:r>
            <a:r>
              <a:rPr lang="en-US" sz="2000" i="1" baseline="-25000" dirty="0" err="1">
                <a:solidFill>
                  <a:srgbClr val="FF0000"/>
                </a:solidFill>
                <a:latin typeface="Cambria" panose="02040503050406030204" pitchFamily="18" charset="0"/>
                <a:ea typeface="Cambria" panose="02040503050406030204" pitchFamily="18" charset="0"/>
              </a:rPr>
              <a:t>j</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executes a </a:t>
            </a:r>
            <a:r>
              <a:rPr lang="en-US" sz="2000" dirty="0" err="1">
                <a:solidFill>
                  <a:srgbClr val="FF0000"/>
                </a:solidFill>
                <a:latin typeface="Cambria" panose="02040503050406030204" pitchFamily="18" charset="0"/>
                <a:ea typeface="Cambria" panose="02040503050406030204" pitchFamily="18" charset="0"/>
              </a:rPr>
              <a:t>write_item</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X</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after </a:t>
            </a:r>
            <a:r>
              <a:rPr lang="en-US" sz="2000" i="1" dirty="0">
                <a:solidFill>
                  <a:srgbClr val="FF0000"/>
                </a:solidFill>
                <a:latin typeface="Cambria" panose="02040503050406030204" pitchFamily="18" charset="0"/>
                <a:ea typeface="Cambria" panose="02040503050406030204" pitchFamily="18" charset="0"/>
              </a:rPr>
              <a:t>T</a:t>
            </a:r>
            <a:r>
              <a:rPr lang="en-US" sz="2000" i="1" baseline="-25000" dirty="0">
                <a:solidFill>
                  <a:srgbClr val="FF0000"/>
                </a:solidFill>
                <a:latin typeface="Cambria" panose="02040503050406030204" pitchFamily="18" charset="0"/>
                <a:ea typeface="Cambria" panose="02040503050406030204" pitchFamily="18" charset="0"/>
              </a:rPr>
              <a:t>i</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executes a </a:t>
            </a:r>
            <a:r>
              <a:rPr lang="en-US" sz="2000" dirty="0" err="1">
                <a:solidFill>
                  <a:srgbClr val="FF0000"/>
                </a:solidFill>
                <a:latin typeface="Cambria" panose="02040503050406030204" pitchFamily="18" charset="0"/>
                <a:ea typeface="Cambria" panose="02040503050406030204" pitchFamily="18" charset="0"/>
              </a:rPr>
              <a:t>read_item</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X</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create an edge </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T</a:t>
            </a:r>
            <a:r>
              <a:rPr lang="en-US" sz="2000" i="1" baseline="-25000" dirty="0">
                <a:solidFill>
                  <a:srgbClr val="FF0000"/>
                </a:solidFill>
                <a:latin typeface="Cambria" panose="02040503050406030204" pitchFamily="18" charset="0"/>
                <a:ea typeface="Cambria" panose="02040503050406030204" pitchFamily="18" charset="0"/>
              </a:rPr>
              <a:t>i</a:t>
            </a:r>
            <a:r>
              <a:rPr lang="en-US" sz="2000" i="1" dirty="0">
                <a:solidFill>
                  <a:srgbClr val="FF0000"/>
                </a:solidFill>
                <a:latin typeface="Cambria" panose="02040503050406030204" pitchFamily="18" charset="0"/>
                <a:ea typeface="Cambria" panose="02040503050406030204" pitchFamily="18" charset="0"/>
              </a:rPr>
              <a:t> </a:t>
            </a:r>
            <a:r>
              <a:rPr lang="en-US" sz="2000" dirty="0">
                <a:solidFill>
                  <a:srgbClr val="FF0000"/>
                </a:solidFill>
                <a:latin typeface="Cambria" panose="02040503050406030204" pitchFamily="18" charset="0"/>
                <a:ea typeface="Cambria" panose="02040503050406030204" pitchFamily="18" charset="0"/>
              </a:rPr>
              <a:t>→ </a:t>
            </a:r>
            <a:r>
              <a:rPr lang="en-US" sz="2000" i="1" dirty="0" err="1">
                <a:solidFill>
                  <a:srgbClr val="FF0000"/>
                </a:solidFill>
                <a:latin typeface="Cambria" panose="02040503050406030204" pitchFamily="18" charset="0"/>
                <a:ea typeface="Cambria" panose="02040503050406030204" pitchFamily="18" charset="0"/>
              </a:rPr>
              <a:t>T</a:t>
            </a:r>
            <a:r>
              <a:rPr lang="en-US" sz="2000" i="1" baseline="-25000" dirty="0" err="1">
                <a:solidFill>
                  <a:srgbClr val="FF0000"/>
                </a:solidFill>
                <a:latin typeface="Cambria" panose="02040503050406030204" pitchFamily="18" charset="0"/>
                <a:ea typeface="Cambria" panose="02040503050406030204" pitchFamily="18" charset="0"/>
              </a:rPr>
              <a:t>j</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in the precedence graph.</a:t>
            </a:r>
          </a:p>
          <a:p>
            <a:pPr marL="0" indent="0" algn="just">
              <a:buNone/>
            </a:pPr>
            <a:r>
              <a:rPr lang="en-US" sz="2000" b="1" dirty="0">
                <a:latin typeface="Cambria" panose="02040503050406030204" pitchFamily="18" charset="0"/>
                <a:ea typeface="Cambria" panose="02040503050406030204" pitchFamily="18" charset="0"/>
              </a:rPr>
              <a:t>4. </a:t>
            </a:r>
            <a:r>
              <a:rPr lang="en-US" sz="2000" dirty="0">
                <a:latin typeface="Cambria" panose="02040503050406030204" pitchFamily="18" charset="0"/>
                <a:ea typeface="Cambria" panose="02040503050406030204" pitchFamily="18" charset="0"/>
              </a:rPr>
              <a:t>For each case in </a:t>
            </a:r>
            <a:r>
              <a:rPr lang="en-US" sz="2000" i="1" dirty="0">
                <a:solidFill>
                  <a:srgbClr val="FF0000"/>
                </a:solidFill>
                <a:latin typeface="Cambria" panose="02040503050406030204" pitchFamily="18" charset="0"/>
                <a:ea typeface="Cambria" panose="02040503050406030204" pitchFamily="18" charset="0"/>
              </a:rPr>
              <a:t>S</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where </a:t>
            </a:r>
            <a:r>
              <a:rPr lang="en-US" sz="2000" i="1" dirty="0" err="1">
                <a:solidFill>
                  <a:srgbClr val="FF0000"/>
                </a:solidFill>
                <a:latin typeface="Cambria" panose="02040503050406030204" pitchFamily="18" charset="0"/>
                <a:ea typeface="Cambria" panose="02040503050406030204" pitchFamily="18" charset="0"/>
              </a:rPr>
              <a:t>T</a:t>
            </a:r>
            <a:r>
              <a:rPr lang="en-US" sz="2000" i="1" baseline="-25000" dirty="0" err="1">
                <a:solidFill>
                  <a:srgbClr val="FF0000"/>
                </a:solidFill>
                <a:latin typeface="Cambria" panose="02040503050406030204" pitchFamily="18" charset="0"/>
                <a:ea typeface="Cambria" panose="02040503050406030204" pitchFamily="18" charset="0"/>
              </a:rPr>
              <a:t>j</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executes a </a:t>
            </a:r>
            <a:r>
              <a:rPr lang="en-US" sz="2000" dirty="0" err="1">
                <a:solidFill>
                  <a:srgbClr val="FF0000"/>
                </a:solidFill>
                <a:latin typeface="Cambria" panose="02040503050406030204" pitchFamily="18" charset="0"/>
                <a:ea typeface="Cambria" panose="02040503050406030204" pitchFamily="18" charset="0"/>
              </a:rPr>
              <a:t>write_item</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X</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after </a:t>
            </a:r>
            <a:r>
              <a:rPr lang="en-US" sz="2000" i="1" dirty="0">
                <a:solidFill>
                  <a:srgbClr val="FF0000"/>
                </a:solidFill>
                <a:latin typeface="Cambria" panose="02040503050406030204" pitchFamily="18" charset="0"/>
                <a:ea typeface="Cambria" panose="02040503050406030204" pitchFamily="18" charset="0"/>
              </a:rPr>
              <a:t>T</a:t>
            </a:r>
            <a:r>
              <a:rPr lang="en-US" sz="2000" i="1" baseline="-25000" dirty="0">
                <a:solidFill>
                  <a:srgbClr val="FF0000"/>
                </a:solidFill>
                <a:latin typeface="Cambria" panose="02040503050406030204" pitchFamily="18" charset="0"/>
                <a:ea typeface="Cambria" panose="02040503050406030204" pitchFamily="18" charset="0"/>
              </a:rPr>
              <a:t>i</a:t>
            </a:r>
            <a:r>
              <a:rPr lang="en-US" sz="2000" i="1"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executes a  </a:t>
            </a:r>
            <a:r>
              <a:rPr lang="en-US" sz="2000" dirty="0" err="1">
                <a:solidFill>
                  <a:srgbClr val="FF0000"/>
                </a:solidFill>
                <a:latin typeface="Cambria" panose="02040503050406030204" pitchFamily="18" charset="0"/>
                <a:ea typeface="Cambria" panose="02040503050406030204" pitchFamily="18" charset="0"/>
              </a:rPr>
              <a:t>write_item</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X</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create an edge </a:t>
            </a:r>
            <a:r>
              <a:rPr lang="en-US" sz="2000" dirty="0">
                <a:solidFill>
                  <a:srgbClr val="FF0000"/>
                </a:solidFill>
                <a:latin typeface="Cambria" panose="02040503050406030204" pitchFamily="18" charset="0"/>
                <a:ea typeface="Cambria" panose="02040503050406030204" pitchFamily="18" charset="0"/>
              </a:rPr>
              <a:t>(</a:t>
            </a:r>
            <a:r>
              <a:rPr lang="en-US" sz="2000" i="1" dirty="0">
                <a:solidFill>
                  <a:srgbClr val="FF0000"/>
                </a:solidFill>
                <a:latin typeface="Cambria" panose="02040503050406030204" pitchFamily="18" charset="0"/>
                <a:ea typeface="Cambria" panose="02040503050406030204" pitchFamily="18" charset="0"/>
              </a:rPr>
              <a:t>T</a:t>
            </a:r>
            <a:r>
              <a:rPr lang="en-US" sz="2000" i="1" baseline="-25000" dirty="0">
                <a:solidFill>
                  <a:srgbClr val="FF0000"/>
                </a:solidFill>
                <a:latin typeface="Cambria" panose="02040503050406030204" pitchFamily="18" charset="0"/>
                <a:ea typeface="Cambria" panose="02040503050406030204" pitchFamily="18" charset="0"/>
              </a:rPr>
              <a:t>i</a:t>
            </a:r>
            <a:r>
              <a:rPr lang="en-US" sz="2000" i="1" dirty="0">
                <a:solidFill>
                  <a:srgbClr val="FF0000"/>
                </a:solidFill>
                <a:latin typeface="Cambria" panose="02040503050406030204" pitchFamily="18" charset="0"/>
                <a:ea typeface="Cambria" panose="02040503050406030204" pitchFamily="18" charset="0"/>
              </a:rPr>
              <a:t> </a:t>
            </a:r>
            <a:r>
              <a:rPr lang="en-US" sz="2000" dirty="0">
                <a:solidFill>
                  <a:srgbClr val="FF0000"/>
                </a:solidFill>
                <a:latin typeface="Cambria" panose="02040503050406030204" pitchFamily="18" charset="0"/>
                <a:ea typeface="Cambria" panose="02040503050406030204" pitchFamily="18" charset="0"/>
              </a:rPr>
              <a:t>→ </a:t>
            </a:r>
            <a:r>
              <a:rPr lang="en-US" sz="2000" i="1" dirty="0" err="1">
                <a:solidFill>
                  <a:srgbClr val="FF0000"/>
                </a:solidFill>
                <a:latin typeface="Cambria" panose="02040503050406030204" pitchFamily="18" charset="0"/>
                <a:ea typeface="Cambria" panose="02040503050406030204" pitchFamily="18" charset="0"/>
              </a:rPr>
              <a:t>T</a:t>
            </a:r>
            <a:r>
              <a:rPr lang="en-US" sz="2000" i="1" baseline="-25000" dirty="0" err="1">
                <a:solidFill>
                  <a:srgbClr val="FF0000"/>
                </a:solidFill>
                <a:latin typeface="Cambria" panose="02040503050406030204" pitchFamily="18" charset="0"/>
                <a:ea typeface="Cambria" panose="02040503050406030204" pitchFamily="18" charset="0"/>
              </a:rPr>
              <a:t>j</a:t>
            </a: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in the precedence graph.</a:t>
            </a:r>
          </a:p>
          <a:p>
            <a:pPr marL="0" indent="0" algn="just">
              <a:buNone/>
            </a:pPr>
            <a:r>
              <a:rPr lang="en-US" sz="2800" dirty="0">
                <a:solidFill>
                  <a:srgbClr val="0000FF"/>
                </a:solidFill>
                <a:latin typeface="Cambria" panose="02040503050406030204" pitchFamily="18" charset="0"/>
                <a:ea typeface="Cambria" panose="02040503050406030204" pitchFamily="18" charset="0"/>
              </a:rPr>
              <a:t>234.</a:t>
            </a:r>
            <a:r>
              <a:rPr lang="en-US" sz="2800" dirty="0">
                <a:latin typeface="Cambria" panose="02040503050406030204" pitchFamily="18" charset="0"/>
                <a:ea typeface="Cambria" panose="02040503050406030204" pitchFamily="18" charset="0"/>
              </a:rPr>
              <a:t> Create an edge </a:t>
            </a:r>
            <a:r>
              <a:rPr lang="en-US" sz="2800" dirty="0">
                <a:solidFill>
                  <a:srgbClr val="FF0000"/>
                </a:solidFill>
                <a:latin typeface="Cambria" panose="02040503050406030204" pitchFamily="18" charset="0"/>
                <a:ea typeface="Cambria" panose="02040503050406030204" pitchFamily="18" charset="0"/>
              </a:rPr>
              <a:t>(</a:t>
            </a:r>
            <a:r>
              <a:rPr lang="en-US" sz="2800" i="1" dirty="0">
                <a:solidFill>
                  <a:srgbClr val="FF0000"/>
                </a:solidFill>
                <a:latin typeface="Cambria" panose="02040503050406030204" pitchFamily="18" charset="0"/>
                <a:ea typeface="Cambria" panose="02040503050406030204" pitchFamily="18" charset="0"/>
              </a:rPr>
              <a:t>T</a:t>
            </a:r>
            <a:r>
              <a:rPr lang="en-US" sz="2800" i="1" baseline="-25000" dirty="0">
                <a:solidFill>
                  <a:srgbClr val="FF0000"/>
                </a:solidFill>
                <a:latin typeface="Cambria" panose="02040503050406030204" pitchFamily="18" charset="0"/>
                <a:ea typeface="Cambria" panose="02040503050406030204" pitchFamily="18" charset="0"/>
              </a:rPr>
              <a:t>i</a:t>
            </a:r>
            <a:r>
              <a:rPr lang="en-US" sz="2800" i="1" dirty="0">
                <a:solidFill>
                  <a:srgbClr val="FF0000"/>
                </a:solidFill>
                <a:latin typeface="Cambria" panose="02040503050406030204" pitchFamily="18" charset="0"/>
                <a:ea typeface="Cambria" panose="02040503050406030204" pitchFamily="18" charset="0"/>
              </a:rPr>
              <a:t> </a:t>
            </a:r>
            <a:r>
              <a:rPr lang="en-US" sz="2800" dirty="0">
                <a:solidFill>
                  <a:srgbClr val="FF0000"/>
                </a:solidFill>
                <a:latin typeface="Cambria" panose="02040503050406030204" pitchFamily="18" charset="0"/>
                <a:ea typeface="Cambria" panose="02040503050406030204" pitchFamily="18" charset="0"/>
              </a:rPr>
              <a:t>→ </a:t>
            </a:r>
            <a:r>
              <a:rPr lang="en-US" sz="2800" i="1" dirty="0" err="1">
                <a:solidFill>
                  <a:srgbClr val="FF0000"/>
                </a:solidFill>
                <a:latin typeface="Cambria" panose="02040503050406030204" pitchFamily="18" charset="0"/>
                <a:ea typeface="Cambria" panose="02040503050406030204" pitchFamily="18" charset="0"/>
              </a:rPr>
              <a:t>T</a:t>
            </a:r>
            <a:r>
              <a:rPr lang="en-US" sz="2800" i="1" baseline="-25000" dirty="0" err="1">
                <a:solidFill>
                  <a:srgbClr val="FF0000"/>
                </a:solidFill>
                <a:latin typeface="Cambria" panose="02040503050406030204" pitchFamily="18" charset="0"/>
                <a:ea typeface="Cambria" panose="02040503050406030204" pitchFamily="18" charset="0"/>
              </a:rPr>
              <a:t>j</a:t>
            </a:r>
            <a:r>
              <a:rPr lang="en-US" sz="2800" dirty="0">
                <a:solidFill>
                  <a:srgbClr val="FF0000"/>
                </a:solidFill>
                <a:latin typeface="Cambria" panose="02040503050406030204" pitchFamily="18" charset="0"/>
                <a:ea typeface="Cambria" panose="02040503050406030204" pitchFamily="18" charset="0"/>
              </a:rPr>
              <a:t>)</a:t>
            </a:r>
            <a:r>
              <a:rPr lang="en-US" sz="2800" dirty="0">
                <a:latin typeface="Cambria" panose="02040503050406030204" pitchFamily="18" charset="0"/>
                <a:ea typeface="Cambria" panose="02040503050406030204" pitchFamily="18" charset="0"/>
              </a:rPr>
              <a:t> if </a:t>
            </a:r>
            <a:r>
              <a:rPr lang="en-US" sz="2800" i="1" dirty="0" err="1">
                <a:solidFill>
                  <a:srgbClr val="FF0000"/>
                </a:solidFill>
                <a:latin typeface="Cambria" panose="02040503050406030204" pitchFamily="18" charset="0"/>
                <a:ea typeface="Cambria" panose="02040503050406030204" pitchFamily="18" charset="0"/>
              </a:rPr>
              <a:t>T</a:t>
            </a:r>
            <a:r>
              <a:rPr lang="en-US" sz="2800" i="1" baseline="-25000" dirty="0" err="1">
                <a:solidFill>
                  <a:srgbClr val="FF0000"/>
                </a:solidFill>
                <a:latin typeface="Cambria" panose="02040503050406030204" pitchFamily="18" charset="0"/>
                <a:ea typeface="Cambria" panose="02040503050406030204" pitchFamily="18" charset="0"/>
              </a:rPr>
              <a:t>j</a:t>
            </a:r>
            <a:r>
              <a:rPr lang="en-US" sz="2800" i="1" baseline="-25000" dirty="0">
                <a:solidFill>
                  <a:srgbClr val="FF0000"/>
                </a:solidFill>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reads/writes a value from/to an item after it has been read/written by </a:t>
            </a:r>
            <a:r>
              <a:rPr lang="en-US" sz="2800" i="1" dirty="0">
                <a:solidFill>
                  <a:srgbClr val="FF0000"/>
                </a:solidFill>
                <a:latin typeface="Cambria" panose="02040503050406030204" pitchFamily="18" charset="0"/>
                <a:ea typeface="Cambria" panose="02040503050406030204" pitchFamily="18" charset="0"/>
              </a:rPr>
              <a:t>T</a:t>
            </a:r>
            <a:r>
              <a:rPr lang="en-US" sz="2800" i="1" baseline="-25000" dirty="0">
                <a:solidFill>
                  <a:srgbClr val="FF0000"/>
                </a:solidFill>
                <a:latin typeface="Cambria" panose="02040503050406030204" pitchFamily="18" charset="0"/>
                <a:ea typeface="Cambria" panose="02040503050406030204" pitchFamily="18" charset="0"/>
              </a:rPr>
              <a:t>i</a:t>
            </a:r>
            <a:r>
              <a:rPr lang="en-US" sz="2800" dirty="0">
                <a:latin typeface="Cambria" panose="02040503050406030204" pitchFamily="18" charset="0"/>
                <a:ea typeface="Cambria" panose="02040503050406030204" pitchFamily="18" charset="0"/>
              </a:rPr>
              <a:t>. </a:t>
            </a:r>
          </a:p>
          <a:p>
            <a:pPr marL="0" indent="0" algn="just">
              <a:buNone/>
            </a:pPr>
            <a:r>
              <a:rPr lang="en-US" sz="2400" b="1" dirty="0">
                <a:latin typeface="Cambria" panose="02040503050406030204" pitchFamily="18" charset="0"/>
                <a:ea typeface="Cambria" panose="02040503050406030204" pitchFamily="18" charset="0"/>
              </a:rPr>
              <a:t>5. </a:t>
            </a:r>
            <a:r>
              <a:rPr lang="en-US" sz="2400" dirty="0">
                <a:latin typeface="Cambria" panose="02040503050406030204" pitchFamily="18" charset="0"/>
                <a:ea typeface="Cambria" panose="02040503050406030204" pitchFamily="18" charset="0"/>
              </a:rPr>
              <a:t>The schedule </a:t>
            </a:r>
            <a:r>
              <a:rPr lang="en-US" sz="2400" i="1" dirty="0">
                <a:solidFill>
                  <a:srgbClr val="FF0000"/>
                </a:solidFill>
                <a:latin typeface="Cambria" panose="02040503050406030204" pitchFamily="18" charset="0"/>
                <a:ea typeface="Cambria" panose="02040503050406030204" pitchFamily="18" charset="0"/>
              </a:rPr>
              <a:t>S</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is </a:t>
            </a:r>
            <a:r>
              <a:rPr lang="en-US" sz="2400" dirty="0">
                <a:solidFill>
                  <a:srgbClr val="FF0000"/>
                </a:solidFill>
                <a:latin typeface="Cambria" panose="02040503050406030204" pitchFamily="18" charset="0"/>
                <a:ea typeface="Cambria" panose="02040503050406030204" pitchFamily="18" charset="0"/>
              </a:rPr>
              <a:t>serializable</a:t>
            </a:r>
            <a:r>
              <a:rPr lang="en-US" sz="2400" dirty="0">
                <a:latin typeface="Cambria" panose="02040503050406030204" pitchFamily="18" charset="0"/>
                <a:ea typeface="Cambria" panose="02040503050406030204" pitchFamily="18" charset="0"/>
              </a:rPr>
              <a:t> if and only if the precedence </a:t>
            </a:r>
            <a:r>
              <a:rPr lang="en-US" sz="2400" dirty="0">
                <a:solidFill>
                  <a:srgbClr val="FF0000"/>
                </a:solidFill>
                <a:latin typeface="Cambria" panose="02040503050406030204" pitchFamily="18" charset="0"/>
                <a:ea typeface="Cambria" panose="02040503050406030204" pitchFamily="18" charset="0"/>
              </a:rPr>
              <a:t>graph has no cycles.</a:t>
            </a: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D320F497-66E9-CBA9-1448-25857D8807B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0D864891-5A32-9060-2D18-60A9F3946367}"/>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4769604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3ABB2-1A6C-B266-66DC-5C350AB0818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583BE3E-4CA4-7CD9-C47B-18B5E4C33116}"/>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Conflict Serializability</a:t>
            </a:r>
          </a:p>
        </p:txBody>
      </p:sp>
      <p:sp>
        <p:nvSpPr>
          <p:cNvPr id="3" name="Footer Placeholder 2">
            <a:extLst>
              <a:ext uri="{FF2B5EF4-FFF2-40B4-BE49-F238E27FC236}">
                <a16:creationId xmlns:a16="http://schemas.microsoft.com/office/drawing/2014/main" id="{7A257E12-CD27-961C-EEBC-8298F87F138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A6FF950B-5F93-59E0-881E-009495BA434E}"/>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pic>
        <p:nvPicPr>
          <p:cNvPr id="7" name="Picture 6">
            <a:extLst>
              <a:ext uri="{FF2B5EF4-FFF2-40B4-BE49-F238E27FC236}">
                <a16:creationId xmlns:a16="http://schemas.microsoft.com/office/drawing/2014/main" id="{0AF3B993-7A6D-D4A3-7935-EA626A218C29}"/>
              </a:ext>
            </a:extLst>
          </p:cNvPr>
          <p:cNvPicPr>
            <a:picLocks noChangeAspect="1"/>
          </p:cNvPicPr>
          <p:nvPr/>
        </p:nvPicPr>
        <p:blipFill>
          <a:blip r:embed="rId2"/>
          <a:stretch>
            <a:fillRect/>
          </a:stretch>
        </p:blipFill>
        <p:spPr>
          <a:xfrm>
            <a:off x="377294" y="835385"/>
            <a:ext cx="2791562" cy="2583641"/>
          </a:xfrm>
          <a:prstGeom prst="rect">
            <a:avLst/>
          </a:prstGeom>
        </p:spPr>
      </p:pic>
      <p:pic>
        <p:nvPicPr>
          <p:cNvPr id="8" name="Picture 7">
            <a:extLst>
              <a:ext uri="{FF2B5EF4-FFF2-40B4-BE49-F238E27FC236}">
                <a16:creationId xmlns:a16="http://schemas.microsoft.com/office/drawing/2014/main" id="{C72364E6-26B2-3BF7-6013-4F7B30579172}"/>
              </a:ext>
            </a:extLst>
          </p:cNvPr>
          <p:cNvPicPr>
            <a:picLocks noChangeAspect="1"/>
          </p:cNvPicPr>
          <p:nvPr/>
        </p:nvPicPr>
        <p:blipFill>
          <a:blip r:embed="rId3"/>
          <a:stretch>
            <a:fillRect/>
          </a:stretch>
        </p:blipFill>
        <p:spPr>
          <a:xfrm>
            <a:off x="5864740" y="835386"/>
            <a:ext cx="2830993" cy="2583640"/>
          </a:xfrm>
          <a:prstGeom prst="rect">
            <a:avLst/>
          </a:prstGeom>
        </p:spPr>
      </p:pic>
      <p:pic>
        <p:nvPicPr>
          <p:cNvPr id="10" name="Picture 9">
            <a:extLst>
              <a:ext uri="{FF2B5EF4-FFF2-40B4-BE49-F238E27FC236}">
                <a16:creationId xmlns:a16="http://schemas.microsoft.com/office/drawing/2014/main" id="{511DE4DC-1E6F-BE66-E6D1-7DA21BE93DFD}"/>
              </a:ext>
            </a:extLst>
          </p:cNvPr>
          <p:cNvPicPr>
            <a:picLocks noChangeAspect="1"/>
          </p:cNvPicPr>
          <p:nvPr/>
        </p:nvPicPr>
        <p:blipFill>
          <a:blip r:embed="rId4"/>
          <a:stretch>
            <a:fillRect/>
          </a:stretch>
        </p:blipFill>
        <p:spPr>
          <a:xfrm>
            <a:off x="3275856" y="979402"/>
            <a:ext cx="2398738" cy="1009438"/>
          </a:xfrm>
          <a:prstGeom prst="rect">
            <a:avLst/>
          </a:prstGeom>
        </p:spPr>
      </p:pic>
      <p:pic>
        <p:nvPicPr>
          <p:cNvPr id="12" name="Picture 11">
            <a:extLst>
              <a:ext uri="{FF2B5EF4-FFF2-40B4-BE49-F238E27FC236}">
                <a16:creationId xmlns:a16="http://schemas.microsoft.com/office/drawing/2014/main" id="{14C9CD5D-1405-61FC-E85F-6F2623614D84}"/>
              </a:ext>
            </a:extLst>
          </p:cNvPr>
          <p:cNvPicPr>
            <a:picLocks noChangeAspect="1"/>
          </p:cNvPicPr>
          <p:nvPr/>
        </p:nvPicPr>
        <p:blipFill>
          <a:blip r:embed="rId5"/>
          <a:stretch>
            <a:fillRect/>
          </a:stretch>
        </p:blipFill>
        <p:spPr>
          <a:xfrm>
            <a:off x="3363900" y="2636912"/>
            <a:ext cx="2416200" cy="1165259"/>
          </a:xfrm>
          <a:prstGeom prst="rect">
            <a:avLst/>
          </a:prstGeom>
        </p:spPr>
      </p:pic>
      <p:pic>
        <p:nvPicPr>
          <p:cNvPr id="14" name="Picture 13">
            <a:extLst>
              <a:ext uri="{FF2B5EF4-FFF2-40B4-BE49-F238E27FC236}">
                <a16:creationId xmlns:a16="http://schemas.microsoft.com/office/drawing/2014/main" id="{E04680AB-3ACB-12BF-9367-F37504EE1E14}"/>
              </a:ext>
            </a:extLst>
          </p:cNvPr>
          <p:cNvPicPr>
            <a:picLocks noChangeAspect="1"/>
          </p:cNvPicPr>
          <p:nvPr/>
        </p:nvPicPr>
        <p:blipFill>
          <a:blip r:embed="rId6"/>
          <a:stretch>
            <a:fillRect/>
          </a:stretch>
        </p:blipFill>
        <p:spPr>
          <a:xfrm>
            <a:off x="468441" y="3573016"/>
            <a:ext cx="2682308" cy="2655803"/>
          </a:xfrm>
          <a:prstGeom prst="rect">
            <a:avLst/>
          </a:prstGeom>
        </p:spPr>
      </p:pic>
      <p:pic>
        <p:nvPicPr>
          <p:cNvPr id="15" name="Picture 14">
            <a:extLst>
              <a:ext uri="{FF2B5EF4-FFF2-40B4-BE49-F238E27FC236}">
                <a16:creationId xmlns:a16="http://schemas.microsoft.com/office/drawing/2014/main" id="{AA910D26-AE9A-F483-788F-91B9054FB6A9}"/>
              </a:ext>
            </a:extLst>
          </p:cNvPr>
          <p:cNvPicPr>
            <a:picLocks noChangeAspect="1"/>
          </p:cNvPicPr>
          <p:nvPr/>
        </p:nvPicPr>
        <p:blipFill>
          <a:blip r:embed="rId7"/>
          <a:stretch>
            <a:fillRect/>
          </a:stretch>
        </p:blipFill>
        <p:spPr>
          <a:xfrm>
            <a:off x="6010180" y="3573016"/>
            <a:ext cx="2689992" cy="2655802"/>
          </a:xfrm>
          <a:prstGeom prst="rect">
            <a:avLst/>
          </a:prstGeom>
        </p:spPr>
      </p:pic>
      <p:pic>
        <p:nvPicPr>
          <p:cNvPr id="17" name="Picture 16">
            <a:extLst>
              <a:ext uri="{FF2B5EF4-FFF2-40B4-BE49-F238E27FC236}">
                <a16:creationId xmlns:a16="http://schemas.microsoft.com/office/drawing/2014/main" id="{22E85F75-2BE4-2BEB-3E4E-828C4BA01633}"/>
              </a:ext>
            </a:extLst>
          </p:cNvPr>
          <p:cNvPicPr>
            <a:picLocks noChangeAspect="1"/>
          </p:cNvPicPr>
          <p:nvPr/>
        </p:nvPicPr>
        <p:blipFill>
          <a:blip r:embed="rId8"/>
          <a:stretch>
            <a:fillRect/>
          </a:stretch>
        </p:blipFill>
        <p:spPr>
          <a:xfrm>
            <a:off x="3416621" y="4341617"/>
            <a:ext cx="2187145" cy="1535655"/>
          </a:xfrm>
          <a:prstGeom prst="rect">
            <a:avLst/>
          </a:prstGeom>
        </p:spPr>
      </p:pic>
      <p:sp>
        <p:nvSpPr>
          <p:cNvPr id="18" name="Content Placeholder 1">
            <a:extLst>
              <a:ext uri="{FF2B5EF4-FFF2-40B4-BE49-F238E27FC236}">
                <a16:creationId xmlns:a16="http://schemas.microsoft.com/office/drawing/2014/main" id="{32A01910-2FD6-A056-6C43-6A0DDA4984CB}"/>
              </a:ext>
            </a:extLst>
          </p:cNvPr>
          <p:cNvSpPr>
            <a:spLocks noGrp="1"/>
          </p:cNvSpPr>
          <p:nvPr>
            <p:ph sz="quarter" idx="1"/>
          </p:nvPr>
        </p:nvSpPr>
        <p:spPr>
          <a:xfrm>
            <a:off x="3685044" y="356084"/>
            <a:ext cx="1723678" cy="4464496"/>
          </a:xfrm>
        </p:spPr>
        <p:txBody>
          <a:bodyPr/>
          <a:lstStyle/>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Schedule A, C</a:t>
            </a: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Schedule B</a:t>
            </a: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Schedule D</a:t>
            </a: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4389532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anim calcmode="lin" valueType="num">
                                      <p:cBhvr additive="base">
                                        <p:cTn id="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xEl>
                                              <p:pRg st="9" end="9"/>
                                            </p:txEl>
                                          </p:spTgt>
                                        </p:tgtEl>
                                        <p:attrNameLst>
                                          <p:attrName>style.visibility</p:attrName>
                                        </p:attrNameLst>
                                      </p:cBhvr>
                                      <p:to>
                                        <p:strVal val="visible"/>
                                      </p:to>
                                    </p:set>
                                    <p:anim calcmode="lin" valueType="num">
                                      <p:cBhvr additive="base">
                                        <p:cTn id="13" dur="500" fill="hold"/>
                                        <p:tgtEl>
                                          <p:spTgt spid="18">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15" end="15"/>
                                            </p:txEl>
                                          </p:spTgt>
                                        </p:tgtEl>
                                        <p:attrNameLst>
                                          <p:attrName>style.visibility</p:attrName>
                                        </p:attrNameLst>
                                      </p:cBhvr>
                                      <p:to>
                                        <p:strVal val="visible"/>
                                      </p:to>
                                    </p:set>
                                    <p:anim calcmode="lin" valueType="num">
                                      <p:cBhvr additive="base">
                                        <p:cTn id="19" dur="500" fill="hold"/>
                                        <p:tgtEl>
                                          <p:spTgt spid="18">
                                            <p:txEl>
                                              <p:pRg st="15" end="1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73AF-70E1-8AA0-E645-D82E2C5E677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A6C4AAC5-14D5-73E9-F9B9-97EB13A54728}"/>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Conflict Serializability</a:t>
            </a:r>
          </a:p>
        </p:txBody>
      </p:sp>
      <p:sp>
        <p:nvSpPr>
          <p:cNvPr id="3" name="Footer Placeholder 2">
            <a:extLst>
              <a:ext uri="{FF2B5EF4-FFF2-40B4-BE49-F238E27FC236}">
                <a16:creationId xmlns:a16="http://schemas.microsoft.com/office/drawing/2014/main" id="{7CD4DED3-8600-6EBD-024D-C1C11B049D2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BACEA5C0-9029-54EE-059E-33F60624AC24}"/>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pic>
        <p:nvPicPr>
          <p:cNvPr id="7" name="Picture 6">
            <a:extLst>
              <a:ext uri="{FF2B5EF4-FFF2-40B4-BE49-F238E27FC236}">
                <a16:creationId xmlns:a16="http://schemas.microsoft.com/office/drawing/2014/main" id="{E64981E1-FCCD-AF13-BB63-996D92B21F68}"/>
              </a:ext>
            </a:extLst>
          </p:cNvPr>
          <p:cNvPicPr>
            <a:picLocks noChangeAspect="1"/>
          </p:cNvPicPr>
          <p:nvPr/>
        </p:nvPicPr>
        <p:blipFill>
          <a:blip r:embed="rId2"/>
          <a:stretch>
            <a:fillRect/>
          </a:stretch>
        </p:blipFill>
        <p:spPr>
          <a:xfrm>
            <a:off x="377294" y="835385"/>
            <a:ext cx="2791562" cy="2583641"/>
          </a:xfrm>
          <a:prstGeom prst="rect">
            <a:avLst/>
          </a:prstGeom>
        </p:spPr>
      </p:pic>
      <p:pic>
        <p:nvPicPr>
          <p:cNvPr id="10" name="Picture 9">
            <a:extLst>
              <a:ext uri="{FF2B5EF4-FFF2-40B4-BE49-F238E27FC236}">
                <a16:creationId xmlns:a16="http://schemas.microsoft.com/office/drawing/2014/main" id="{47F5BC88-3F18-63C9-6227-606C310033B1}"/>
              </a:ext>
            </a:extLst>
          </p:cNvPr>
          <p:cNvPicPr>
            <a:picLocks noChangeAspect="1"/>
          </p:cNvPicPr>
          <p:nvPr/>
        </p:nvPicPr>
        <p:blipFill>
          <a:blip r:embed="rId3"/>
          <a:stretch>
            <a:fillRect/>
          </a:stretch>
        </p:blipFill>
        <p:spPr>
          <a:xfrm>
            <a:off x="3275856" y="979402"/>
            <a:ext cx="2398738" cy="1009438"/>
          </a:xfrm>
          <a:prstGeom prst="rect">
            <a:avLst/>
          </a:prstGeom>
        </p:spPr>
      </p:pic>
      <p:pic>
        <p:nvPicPr>
          <p:cNvPr id="14" name="Picture 13">
            <a:extLst>
              <a:ext uri="{FF2B5EF4-FFF2-40B4-BE49-F238E27FC236}">
                <a16:creationId xmlns:a16="http://schemas.microsoft.com/office/drawing/2014/main" id="{235399BC-2A9C-3A1A-13CF-ACE3B0271440}"/>
              </a:ext>
            </a:extLst>
          </p:cNvPr>
          <p:cNvPicPr>
            <a:picLocks noChangeAspect="1"/>
          </p:cNvPicPr>
          <p:nvPr/>
        </p:nvPicPr>
        <p:blipFill>
          <a:blip r:embed="rId4"/>
          <a:stretch>
            <a:fillRect/>
          </a:stretch>
        </p:blipFill>
        <p:spPr>
          <a:xfrm>
            <a:off x="6039090" y="753268"/>
            <a:ext cx="2682308" cy="2655803"/>
          </a:xfrm>
          <a:prstGeom prst="rect">
            <a:avLst/>
          </a:prstGeom>
        </p:spPr>
      </p:pic>
      <p:sp>
        <p:nvSpPr>
          <p:cNvPr id="18" name="Content Placeholder 1">
            <a:extLst>
              <a:ext uri="{FF2B5EF4-FFF2-40B4-BE49-F238E27FC236}">
                <a16:creationId xmlns:a16="http://schemas.microsoft.com/office/drawing/2014/main" id="{F7D3673B-BE1E-DD47-9A76-E618FE5C7A37}"/>
              </a:ext>
            </a:extLst>
          </p:cNvPr>
          <p:cNvSpPr>
            <a:spLocks noGrp="1"/>
          </p:cNvSpPr>
          <p:nvPr>
            <p:ph sz="quarter" idx="1"/>
          </p:nvPr>
        </p:nvSpPr>
        <p:spPr>
          <a:xfrm>
            <a:off x="323528" y="356084"/>
            <a:ext cx="8443178" cy="4464496"/>
          </a:xfrm>
        </p:spPr>
        <p:txBody>
          <a:bodyPr/>
          <a:lstStyle/>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Schedule A, C</a:t>
            </a: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Schedule C</a:t>
            </a:r>
            <a:r>
              <a:rPr lang="en-US" sz="2400" dirty="0">
                <a:latin typeface="Cambria" panose="02040503050406030204" pitchFamily="18" charset="0"/>
                <a:ea typeface="Cambria" panose="02040503050406030204" pitchFamily="18" charset="0"/>
                <a:cs typeface="Calibri" panose="020F0502020204030204" pitchFamily="34" charset="0"/>
              </a:rPr>
              <a:t> (non-serial) can be converted to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schedule A </a:t>
            </a:r>
            <a:r>
              <a:rPr lang="en-US" sz="2400" dirty="0">
                <a:latin typeface="Cambria" panose="02040503050406030204" pitchFamily="18" charset="0"/>
                <a:ea typeface="Cambria" panose="02040503050406030204" pitchFamily="18" charset="0"/>
                <a:cs typeface="Calibri" panose="020F0502020204030204" pitchFamily="34" charset="0"/>
              </a:rPr>
              <a:t>(serial) by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repositioning</a:t>
            </a:r>
            <a:r>
              <a:rPr lang="en-US" sz="2400" dirty="0">
                <a:latin typeface="Cambria" panose="02040503050406030204" pitchFamily="18" charset="0"/>
                <a:ea typeface="Cambria" panose="02040503050406030204" pitchFamily="18" charset="0"/>
                <a:cs typeface="Calibri" panose="020F0502020204030204" pitchFamily="34" charset="0"/>
              </a:rPr>
              <a:t> the non-conflicting (read) operations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4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2</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sz="2400" dirty="0">
                <a:latin typeface="Cambria" panose="02040503050406030204" pitchFamily="18" charset="0"/>
                <a:ea typeface="Cambria" panose="02040503050406030204" pitchFamily="18" charset="0"/>
                <a:cs typeface="Calibri" panose="020F0502020204030204" pitchFamily="34" charset="0"/>
              </a:rPr>
              <a:t>hence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schedule C is conflict serializable.</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Is the following schedule conflict serializable.</a:t>
            </a:r>
          </a:p>
          <a:p>
            <a:pPr algn="just">
              <a:spcBef>
                <a:spcPts val="300"/>
              </a:spcBef>
              <a:buClr>
                <a:srgbClr val="C00000"/>
              </a:buClr>
              <a:defRPr/>
            </a:pPr>
            <a:r>
              <a:rPr 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T1:</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 w(A) 			r(B) w(B)</a:t>
            </a:r>
          </a:p>
          <a:p>
            <a:pPr algn="just">
              <a:spcBef>
                <a:spcPts val="300"/>
              </a:spcBef>
              <a:buClr>
                <a:srgbClr val="C00000"/>
              </a:buClr>
              <a:defRPr/>
            </a:pPr>
            <a:r>
              <a:rPr 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T2:</a:t>
            </a:r>
            <a:r>
              <a:rPr lang="en-US" sz="2400" dirty="0">
                <a:latin typeface="Cambria" panose="02040503050406030204" pitchFamily="18" charset="0"/>
                <a:ea typeface="Cambria" panose="02040503050406030204" pitchFamily="18" charset="0"/>
                <a:cs typeface="Calibri" panose="020F0502020204030204" pitchFamily="34" charset="0"/>
              </a:rPr>
              <a:t> 			r(A) w(A) 			 r(B) w(B) 	</a:t>
            </a: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8713456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anim calcmode="lin" valueType="num">
                                      <p:cBhvr additive="base">
                                        <p:cTn id="7"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xEl>
                                              <p:pRg st="9" end="9"/>
                                            </p:txEl>
                                          </p:spTgt>
                                        </p:tgtEl>
                                        <p:attrNameLst>
                                          <p:attrName>style.visibility</p:attrName>
                                        </p:attrNameLst>
                                      </p:cBhvr>
                                      <p:to>
                                        <p:strVal val="visible"/>
                                      </p:to>
                                    </p:set>
                                    <p:anim calcmode="lin" valueType="num">
                                      <p:cBhvr additive="base">
                                        <p:cTn id="13" dur="500" fill="hold"/>
                                        <p:tgtEl>
                                          <p:spTgt spid="18">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10" end="10"/>
                                            </p:txEl>
                                          </p:spTgt>
                                        </p:tgtEl>
                                        <p:attrNameLst>
                                          <p:attrName>style.visibility</p:attrName>
                                        </p:attrNameLst>
                                      </p:cBhvr>
                                      <p:to>
                                        <p:strVal val="visible"/>
                                      </p:to>
                                    </p:set>
                                    <p:anim calcmode="lin" valueType="num">
                                      <p:cBhvr additive="base">
                                        <p:cTn id="19" dur="500" fill="hold"/>
                                        <p:tgtEl>
                                          <p:spTgt spid="18">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xEl>
                                              <p:pRg st="11" end="11"/>
                                            </p:txEl>
                                          </p:spTgt>
                                        </p:tgtEl>
                                        <p:attrNameLst>
                                          <p:attrName>style.visibility</p:attrName>
                                        </p:attrNameLst>
                                      </p:cBhvr>
                                      <p:to>
                                        <p:strVal val="visible"/>
                                      </p:to>
                                    </p:set>
                                    <p:anim calcmode="lin" valueType="num">
                                      <p:cBhvr additive="base">
                                        <p:cTn id="25" dur="500" fill="hold"/>
                                        <p:tgtEl>
                                          <p:spTgt spid="18">
                                            <p:txEl>
                                              <p:pRg st="11" end="1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xEl>
                                              <p:pRg st="12" end="12"/>
                                            </p:txEl>
                                          </p:spTgt>
                                        </p:tgtEl>
                                        <p:attrNameLst>
                                          <p:attrName>style.visibility</p:attrName>
                                        </p:attrNameLst>
                                      </p:cBhvr>
                                      <p:to>
                                        <p:strVal val="visible"/>
                                      </p:to>
                                    </p:set>
                                    <p:anim calcmode="lin" valueType="num">
                                      <p:cBhvr additive="base">
                                        <p:cTn id="31" dur="500" fill="hold"/>
                                        <p:tgtEl>
                                          <p:spTgt spid="18">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0EE58-0AFE-A2B0-408A-C55230897DF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7FF72FF-229F-4849-AFAB-FE7495688A2A}"/>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Conflict Serializability</a:t>
            </a:r>
          </a:p>
        </p:txBody>
      </p:sp>
      <p:sp>
        <p:nvSpPr>
          <p:cNvPr id="3" name="Footer Placeholder 2">
            <a:extLst>
              <a:ext uri="{FF2B5EF4-FFF2-40B4-BE49-F238E27FC236}">
                <a16:creationId xmlns:a16="http://schemas.microsoft.com/office/drawing/2014/main" id="{3ED5D335-2BC1-6360-3EBB-461BA750378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ECA35E10-CDE3-281C-EA31-B16DDD21F103}"/>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18" name="Content Placeholder 1">
            <a:extLst>
              <a:ext uri="{FF2B5EF4-FFF2-40B4-BE49-F238E27FC236}">
                <a16:creationId xmlns:a16="http://schemas.microsoft.com/office/drawing/2014/main" id="{D9BC330F-A60A-F1A8-9DB5-3C23F76D3511}"/>
              </a:ext>
            </a:extLst>
          </p:cNvPr>
          <p:cNvSpPr>
            <a:spLocks noGrp="1"/>
          </p:cNvSpPr>
          <p:nvPr>
            <p:ph sz="quarter" idx="1"/>
          </p:nvPr>
        </p:nvSpPr>
        <p:spPr>
          <a:xfrm>
            <a:off x="323528" y="260648"/>
            <a:ext cx="8443178" cy="4464496"/>
          </a:xfrm>
        </p:spPr>
        <p:txBody>
          <a:bodyPr/>
          <a:lstStyle/>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Determine whether the schedule given in the table is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conflict serializable </a:t>
            </a:r>
            <a:r>
              <a:rPr lang="en-US" sz="2400" dirty="0">
                <a:latin typeface="Cambria" panose="02040503050406030204" pitchFamily="18" charset="0"/>
                <a:ea typeface="Cambria" panose="02040503050406030204" pitchFamily="18" charset="0"/>
                <a:cs typeface="Calibri" panose="020F0502020204030204" pitchFamily="34" charset="0"/>
              </a:rPr>
              <a:t>by drawing</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 precedence graph?</a:t>
            </a:r>
          </a:p>
          <a:p>
            <a:pPr marL="0" indent="0" algn="just">
              <a:spcBef>
                <a:spcPts val="300"/>
              </a:spcBef>
              <a:buClr>
                <a:srgbClr val="C00000"/>
              </a:buClr>
              <a:buNone/>
              <a:defRPr/>
            </a:pPr>
            <a:r>
              <a:rPr 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Solution:</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Draw three nodes T</a:t>
            </a:r>
            <a:r>
              <a:rPr lang="en-US" sz="2400" baseline="-25000" dirty="0">
                <a:latin typeface="Cambria" panose="02040503050406030204" pitchFamily="18" charset="0"/>
                <a:ea typeface="Cambria" panose="02040503050406030204" pitchFamily="18" charset="0"/>
                <a:cs typeface="Calibri" panose="020F0502020204030204" pitchFamily="34" charset="0"/>
              </a:rPr>
              <a:t>1</a:t>
            </a:r>
            <a:r>
              <a:rPr lang="en-US" sz="2400" dirty="0">
                <a:latin typeface="Cambria" panose="02040503050406030204" pitchFamily="18" charset="0"/>
                <a:ea typeface="Cambria" panose="02040503050406030204" pitchFamily="18" charset="0"/>
                <a:cs typeface="Calibri" panose="020F0502020204030204" pitchFamily="34" charset="0"/>
              </a:rPr>
              <a:t>, T</a:t>
            </a:r>
            <a:r>
              <a:rPr lang="en-US" sz="2400" baseline="-25000" dirty="0">
                <a:latin typeface="Cambria" panose="02040503050406030204" pitchFamily="18" charset="0"/>
                <a:ea typeface="Cambria" panose="02040503050406030204" pitchFamily="18" charset="0"/>
                <a:cs typeface="Calibri" panose="020F0502020204030204" pitchFamily="34" charset="0"/>
              </a:rPr>
              <a:t>2</a:t>
            </a:r>
            <a:r>
              <a:rPr lang="en-US" sz="2400" dirty="0">
                <a:latin typeface="Cambria" panose="02040503050406030204" pitchFamily="18" charset="0"/>
                <a:ea typeface="Cambria" panose="02040503050406030204" pitchFamily="18" charset="0"/>
                <a:cs typeface="Calibri" panose="020F0502020204030204" pitchFamily="34" charset="0"/>
              </a:rPr>
              <a:t>, and T</a:t>
            </a:r>
            <a:r>
              <a:rPr lang="en-US" sz="2400" baseline="-25000" dirty="0">
                <a:latin typeface="Cambria" panose="02040503050406030204" pitchFamily="18" charset="0"/>
                <a:ea typeface="Cambria" panose="02040503050406030204" pitchFamily="18" charset="0"/>
                <a:cs typeface="Calibri" panose="020F0502020204030204" pitchFamily="34" charset="0"/>
              </a:rPr>
              <a:t>3</a:t>
            </a:r>
            <a:r>
              <a:rPr lang="en-US" sz="2400" dirty="0">
                <a:latin typeface="Cambria" panose="02040503050406030204" pitchFamily="18" charset="0"/>
                <a:ea typeface="Cambria" panose="02040503050406030204" pitchFamily="18" charset="0"/>
                <a:cs typeface="Calibri" panose="020F0502020204030204" pitchFamily="34" charset="0"/>
              </a:rPr>
              <a:t>.</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Conflicting operations &amp; Edges:</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R</a:t>
            </a:r>
            <a:r>
              <a:rPr lang="en-US" sz="2400" baseline="-25000" dirty="0">
                <a:latin typeface="Cambria" panose="02040503050406030204" pitchFamily="18" charset="0"/>
                <a:ea typeface="Cambria" panose="02040503050406030204" pitchFamily="18" charset="0"/>
                <a:cs typeface="Calibri" panose="020F0502020204030204" pitchFamily="34" charset="0"/>
              </a:rPr>
              <a:t>1</a:t>
            </a:r>
            <a:r>
              <a:rPr lang="en-US" sz="2400" dirty="0">
                <a:latin typeface="Cambria" panose="02040503050406030204" pitchFamily="18" charset="0"/>
                <a:ea typeface="Cambria" panose="02040503050406030204" pitchFamily="18" charset="0"/>
                <a:cs typeface="Calibri" panose="020F0502020204030204" pitchFamily="34" charset="0"/>
              </a:rPr>
              <a:t>(x), W</a:t>
            </a:r>
            <a:r>
              <a:rPr lang="en-US" sz="2400" baseline="-25000" dirty="0">
                <a:latin typeface="Cambria" panose="02040503050406030204" pitchFamily="18" charset="0"/>
                <a:ea typeface="Cambria" panose="02040503050406030204" pitchFamily="18" charset="0"/>
                <a:cs typeface="Calibri" panose="020F0502020204030204" pitchFamily="34" charset="0"/>
              </a:rPr>
              <a:t>3</a:t>
            </a:r>
            <a:r>
              <a:rPr lang="en-US" sz="2400" dirty="0">
                <a:latin typeface="Cambria" panose="02040503050406030204" pitchFamily="18" charset="0"/>
                <a:ea typeface="Cambria" panose="02040503050406030204" pitchFamily="18" charset="0"/>
                <a:cs typeface="Calibri" panose="020F0502020204030204" pitchFamily="34" charset="0"/>
              </a:rPr>
              <a:t>(x):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rPr>
              <a:t>1</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3</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R</a:t>
            </a:r>
            <a:r>
              <a:rPr lang="en-US" sz="2400" baseline="-25000" dirty="0">
                <a:latin typeface="Cambria" panose="02040503050406030204" pitchFamily="18" charset="0"/>
                <a:ea typeface="Cambria" panose="02040503050406030204" pitchFamily="18" charset="0"/>
                <a:cs typeface="Calibri" panose="020F0502020204030204" pitchFamily="34" charset="0"/>
              </a:rPr>
              <a:t>3</a:t>
            </a:r>
            <a:r>
              <a:rPr lang="en-US" sz="2400" dirty="0">
                <a:latin typeface="Cambria" panose="02040503050406030204" pitchFamily="18" charset="0"/>
                <a:ea typeface="Cambria" panose="02040503050406030204" pitchFamily="18" charset="0"/>
                <a:cs typeface="Calibri" panose="020F0502020204030204" pitchFamily="34" charset="0"/>
              </a:rPr>
              <a:t>(z), W</a:t>
            </a:r>
            <a:r>
              <a:rPr lang="en-US" sz="2400" baseline="-25000" dirty="0">
                <a:latin typeface="Cambria" panose="02040503050406030204" pitchFamily="18" charset="0"/>
                <a:ea typeface="Cambria" panose="02040503050406030204" pitchFamily="18" charset="0"/>
                <a:cs typeface="Calibri" panose="020F0502020204030204" pitchFamily="34" charset="0"/>
              </a:rPr>
              <a:t>2</a:t>
            </a:r>
            <a:r>
              <a:rPr lang="en-US" sz="2400" dirty="0">
                <a:latin typeface="Cambria" panose="02040503050406030204" pitchFamily="18" charset="0"/>
                <a:ea typeface="Cambria" panose="02040503050406030204" pitchFamily="18" charset="0"/>
                <a:cs typeface="Calibri" panose="020F0502020204030204" pitchFamily="34" charset="0"/>
              </a:rPr>
              <a:t>(z):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rPr>
              <a:t>3</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2</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W</a:t>
            </a:r>
            <a:r>
              <a:rPr lang="en-US" sz="2400" baseline="-25000" dirty="0">
                <a:latin typeface="Cambria" panose="02040503050406030204" pitchFamily="18" charset="0"/>
                <a:ea typeface="Cambria" panose="02040503050406030204" pitchFamily="18" charset="0"/>
                <a:cs typeface="Calibri" panose="020F0502020204030204" pitchFamily="34" charset="0"/>
              </a:rPr>
              <a:t>3</a:t>
            </a:r>
            <a:r>
              <a:rPr lang="en-US" sz="2400" dirty="0">
                <a:latin typeface="Cambria" panose="02040503050406030204" pitchFamily="18" charset="0"/>
                <a:ea typeface="Cambria" panose="02040503050406030204" pitchFamily="18" charset="0"/>
                <a:cs typeface="Calibri" panose="020F0502020204030204" pitchFamily="34" charset="0"/>
              </a:rPr>
              <a:t>(z), W</a:t>
            </a:r>
            <a:r>
              <a:rPr lang="en-US" sz="2400" baseline="-25000" dirty="0">
                <a:latin typeface="Cambria" panose="02040503050406030204" pitchFamily="18" charset="0"/>
                <a:ea typeface="Cambria" panose="02040503050406030204" pitchFamily="18" charset="0"/>
                <a:cs typeface="Calibri" panose="020F0502020204030204" pitchFamily="34" charset="0"/>
              </a:rPr>
              <a:t>2</a:t>
            </a:r>
            <a:r>
              <a:rPr lang="en-US" sz="2400" dirty="0">
                <a:latin typeface="Cambria" panose="02040503050406030204" pitchFamily="18" charset="0"/>
                <a:ea typeface="Cambria" panose="02040503050406030204" pitchFamily="18" charset="0"/>
                <a:cs typeface="Calibri" panose="020F0502020204030204" pitchFamily="34" charset="0"/>
              </a:rPr>
              <a:t>(z):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rPr>
              <a:t>3</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2</a:t>
            </a:r>
            <a:r>
              <a:rPr lang="en-US" sz="2400" baseline="-250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a:t>
            </a:r>
            <a:r>
              <a:rPr lang="en-US" sz="20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(already exists)</a:t>
            </a:r>
            <a:endParaRPr lang="en-US" sz="24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endParaRP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R</a:t>
            </a:r>
            <a:r>
              <a:rPr lang="en-US" sz="2400" baseline="-25000" dirty="0">
                <a:latin typeface="Cambria" panose="02040503050406030204" pitchFamily="18" charset="0"/>
                <a:ea typeface="Cambria" panose="02040503050406030204" pitchFamily="18" charset="0"/>
                <a:cs typeface="Calibri" panose="020F0502020204030204" pitchFamily="34" charset="0"/>
              </a:rPr>
              <a:t>1</a:t>
            </a:r>
            <a:r>
              <a:rPr lang="en-US" sz="2400" dirty="0">
                <a:latin typeface="Cambria" panose="02040503050406030204" pitchFamily="18" charset="0"/>
                <a:ea typeface="Cambria" panose="02040503050406030204" pitchFamily="18" charset="0"/>
                <a:cs typeface="Calibri" panose="020F0502020204030204" pitchFamily="34" charset="0"/>
              </a:rPr>
              <a:t>(y), W</a:t>
            </a:r>
            <a:r>
              <a:rPr lang="en-US" sz="2400" baseline="-25000" dirty="0">
                <a:latin typeface="Cambria" panose="02040503050406030204" pitchFamily="18" charset="0"/>
                <a:ea typeface="Cambria" panose="02040503050406030204" pitchFamily="18" charset="0"/>
                <a:cs typeface="Calibri" panose="020F0502020204030204" pitchFamily="34" charset="0"/>
              </a:rPr>
              <a:t>2</a:t>
            </a:r>
            <a:r>
              <a:rPr lang="en-US" sz="2400" dirty="0">
                <a:latin typeface="Cambria" panose="02040503050406030204" pitchFamily="18" charset="0"/>
                <a:ea typeface="Cambria" panose="02040503050406030204" pitchFamily="18" charset="0"/>
                <a:cs typeface="Calibri" panose="020F0502020204030204" pitchFamily="34" charset="0"/>
              </a:rPr>
              <a:t>(y):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rPr>
              <a:t>1</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2</a:t>
            </a:r>
            <a:endPar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endParaRP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W</a:t>
            </a:r>
            <a:r>
              <a:rPr lang="en-US" sz="2400" baseline="-25000" dirty="0">
                <a:latin typeface="Cambria" panose="02040503050406030204" pitchFamily="18" charset="0"/>
                <a:ea typeface="Cambria" panose="02040503050406030204" pitchFamily="18" charset="0"/>
                <a:cs typeface="Calibri" panose="020F0502020204030204" pitchFamily="34" charset="0"/>
              </a:rPr>
              <a:t>3</a:t>
            </a:r>
            <a:r>
              <a:rPr lang="en-US" sz="2400" dirty="0">
                <a:latin typeface="Cambria" panose="02040503050406030204" pitchFamily="18" charset="0"/>
                <a:ea typeface="Cambria" panose="02040503050406030204" pitchFamily="18" charset="0"/>
                <a:cs typeface="Calibri" panose="020F0502020204030204" pitchFamily="34" charset="0"/>
              </a:rPr>
              <a:t>(x), W</a:t>
            </a:r>
            <a:r>
              <a:rPr lang="en-US" sz="2400" baseline="-25000" dirty="0">
                <a:latin typeface="Cambria" panose="02040503050406030204" pitchFamily="18" charset="0"/>
                <a:ea typeface="Cambria" panose="02040503050406030204" pitchFamily="18" charset="0"/>
                <a:cs typeface="Calibri" panose="020F0502020204030204" pitchFamily="34" charset="0"/>
              </a:rPr>
              <a:t>1</a:t>
            </a:r>
            <a:r>
              <a:rPr lang="en-US" sz="2400" dirty="0">
                <a:latin typeface="Cambria" panose="02040503050406030204" pitchFamily="18" charset="0"/>
                <a:ea typeface="Cambria" panose="02040503050406030204" pitchFamily="18" charset="0"/>
                <a:cs typeface="Calibri" panose="020F0502020204030204" pitchFamily="34" charset="0"/>
              </a:rPr>
              <a:t>(x):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rPr>
              <a:t>3</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solidFill>
                  <a:srgbClr val="0000FF"/>
                </a:solidFill>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1</a:t>
            </a:r>
            <a:r>
              <a:rPr lang="en-US" sz="2400" baseline="-250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a:t>
            </a:r>
            <a:r>
              <a:rPr lang="en-US" sz="20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(creates cycle)</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As a cycle has appeared, </a:t>
            </a:r>
          </a:p>
          <a:p>
            <a:pPr marL="0" indent="0" algn="just">
              <a:spcBef>
                <a:spcPts val="300"/>
              </a:spcBef>
              <a:buClr>
                <a:srgbClr val="C00000"/>
              </a:buClr>
              <a:buNone/>
              <a:defRPr/>
            </a:pPr>
            <a:r>
              <a:rPr lang="en-US" sz="24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Hence, the schedule is not</a:t>
            </a:r>
          </a:p>
          <a:p>
            <a:pPr marL="0" indent="0" algn="just">
              <a:spcBef>
                <a:spcPts val="300"/>
              </a:spcBef>
              <a:buClr>
                <a:srgbClr val="C00000"/>
              </a:buClr>
              <a:buNone/>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conflict serializable</a:t>
            </a:r>
            <a:r>
              <a:rPr lang="en-US" sz="24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a:t>
            </a:r>
          </a:p>
          <a:p>
            <a:pPr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endPar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endPar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3CE79EBA-F3D2-4414-746E-7410C2A2D776}"/>
              </a:ext>
            </a:extLst>
          </p:cNvPr>
          <p:cNvGraphicFramePr>
            <a:graphicFrameLocks noGrp="1"/>
          </p:cNvGraphicFramePr>
          <p:nvPr>
            <p:extLst>
              <p:ext uri="{D42A27DB-BD31-4B8C-83A1-F6EECF244321}">
                <p14:modId xmlns:p14="http://schemas.microsoft.com/office/powerpoint/2010/main" val="2685501084"/>
              </p:ext>
            </p:extLst>
          </p:nvPr>
        </p:nvGraphicFramePr>
        <p:xfrm>
          <a:off x="5256773" y="1521296"/>
          <a:ext cx="3578940" cy="4572000"/>
        </p:xfrm>
        <a:graphic>
          <a:graphicData uri="http://schemas.openxmlformats.org/drawingml/2006/table">
            <a:tbl>
              <a:tblPr firstRow="1" bandRow="1">
                <a:tableStyleId>{5C22544A-7EE6-4342-B048-85BDC9FD1C3A}</a:tableStyleId>
              </a:tblPr>
              <a:tblGrid>
                <a:gridCol w="1192980">
                  <a:extLst>
                    <a:ext uri="{9D8B030D-6E8A-4147-A177-3AD203B41FA5}">
                      <a16:colId xmlns:a16="http://schemas.microsoft.com/office/drawing/2014/main" val="2230424765"/>
                    </a:ext>
                  </a:extLst>
                </a:gridCol>
                <a:gridCol w="1192980">
                  <a:extLst>
                    <a:ext uri="{9D8B030D-6E8A-4147-A177-3AD203B41FA5}">
                      <a16:colId xmlns:a16="http://schemas.microsoft.com/office/drawing/2014/main" val="1701861286"/>
                    </a:ext>
                  </a:extLst>
                </a:gridCol>
                <a:gridCol w="1192980">
                  <a:extLst>
                    <a:ext uri="{9D8B030D-6E8A-4147-A177-3AD203B41FA5}">
                      <a16:colId xmlns:a16="http://schemas.microsoft.com/office/drawing/2014/main" val="3960888892"/>
                    </a:ext>
                  </a:extLst>
                </a:gridCol>
              </a:tblGrid>
              <a:tr h="370840">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1</a:t>
                      </a:r>
                    </a:p>
                  </a:txBody>
                  <a:tcPr/>
                </a:tc>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2</a:t>
                      </a:r>
                    </a:p>
                  </a:txBody>
                  <a:tcPr/>
                </a:tc>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3</a:t>
                      </a:r>
                    </a:p>
                  </a:txBody>
                  <a:tcPr/>
                </a:tc>
                <a:extLst>
                  <a:ext uri="{0D108BD9-81ED-4DB2-BD59-A6C34878D82A}">
                    <a16:rowId xmlns:a16="http://schemas.microsoft.com/office/drawing/2014/main" val="1929803474"/>
                  </a:ext>
                </a:extLst>
              </a:tr>
              <a:tr h="370840">
                <a:tc>
                  <a:txBody>
                    <a:bodyPr/>
                    <a:lstStyle/>
                    <a:p>
                      <a:pPr algn="ctr"/>
                      <a:r>
                        <a:rPr lang="en-US" sz="2400" dirty="0">
                          <a:latin typeface="Cambria" panose="02040503050406030204" pitchFamily="18" charset="0"/>
                          <a:ea typeface="Cambria" panose="02040503050406030204" pitchFamily="18" charset="0"/>
                        </a:rPr>
                        <a:t>R(x)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95890671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R(z)</a:t>
                      </a:r>
                    </a:p>
                  </a:txBody>
                  <a:tcPr/>
                </a:tc>
                <a:extLst>
                  <a:ext uri="{0D108BD9-81ED-4DB2-BD59-A6C34878D82A}">
                    <a16:rowId xmlns:a16="http://schemas.microsoft.com/office/drawing/2014/main" val="375765121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W(z)</a:t>
                      </a:r>
                    </a:p>
                  </a:txBody>
                  <a:tcPr/>
                </a:tc>
                <a:extLst>
                  <a:ext uri="{0D108BD9-81ED-4DB2-BD59-A6C34878D82A}">
                    <a16:rowId xmlns:a16="http://schemas.microsoft.com/office/drawing/2014/main" val="2445096767"/>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R(y)</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20530299"/>
                  </a:ext>
                </a:extLst>
              </a:tr>
              <a:tr h="370840">
                <a:tc>
                  <a:txBody>
                    <a:bodyPr/>
                    <a:lstStyle/>
                    <a:p>
                      <a:pPr algn="ctr"/>
                      <a:r>
                        <a:rPr lang="en-US" sz="2400" dirty="0">
                          <a:latin typeface="Cambria" panose="02040503050406030204" pitchFamily="18" charset="0"/>
                          <a:ea typeface="Cambria" panose="02040503050406030204" pitchFamily="18" charset="0"/>
                        </a:rPr>
                        <a:t>R(y)</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3544639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W(y)</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678502107"/>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W(x)</a:t>
                      </a:r>
                    </a:p>
                  </a:txBody>
                  <a:tcPr/>
                </a:tc>
                <a:extLst>
                  <a:ext uri="{0D108BD9-81ED-4DB2-BD59-A6C34878D82A}">
                    <a16:rowId xmlns:a16="http://schemas.microsoft.com/office/drawing/2014/main" val="1187863975"/>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W(z)</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390113157"/>
                  </a:ext>
                </a:extLst>
              </a:tr>
              <a:tr h="370840">
                <a:tc>
                  <a:txBody>
                    <a:bodyPr/>
                    <a:lstStyle/>
                    <a:p>
                      <a:pPr algn="ctr"/>
                      <a:r>
                        <a:rPr lang="en-US" sz="2400" dirty="0">
                          <a:latin typeface="Cambria" panose="02040503050406030204" pitchFamily="18" charset="0"/>
                          <a:ea typeface="Cambria" panose="02040503050406030204" pitchFamily="18" charset="0"/>
                        </a:rPr>
                        <a:t>W(x)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457468320"/>
                  </a:ext>
                </a:extLst>
              </a:tr>
            </a:tbl>
          </a:graphicData>
        </a:graphic>
      </p:graphicFrame>
    </p:spTree>
    <p:extLst>
      <p:ext uri="{BB962C8B-B14F-4D97-AF65-F5344CB8AC3E}">
        <p14:creationId xmlns:p14="http://schemas.microsoft.com/office/powerpoint/2010/main" val="40574776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anim calcmode="lin" valueType="num">
                                      <p:cBhvr additive="base">
                                        <p:cTn id="7"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anim calcmode="lin" valueType="num">
                                      <p:cBhvr additive="base">
                                        <p:cTn id="13"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anim calcmode="lin" valueType="num">
                                      <p:cBhvr additive="base">
                                        <p:cTn id="19"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xEl>
                                              <p:pRg st="4" end="4"/>
                                            </p:txEl>
                                          </p:spTgt>
                                        </p:tgtEl>
                                        <p:attrNameLst>
                                          <p:attrName>style.visibility</p:attrName>
                                        </p:attrNameLst>
                                      </p:cBhvr>
                                      <p:to>
                                        <p:strVal val="visible"/>
                                      </p:to>
                                    </p:set>
                                    <p:anim calcmode="lin" valueType="num">
                                      <p:cBhvr additive="base">
                                        <p:cTn id="25"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anim calcmode="lin" valueType="num">
                                      <p:cBhvr additive="base">
                                        <p:cTn id="31"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xEl>
                                              <p:pRg st="6" end="6"/>
                                            </p:txEl>
                                          </p:spTgt>
                                        </p:tgtEl>
                                        <p:attrNameLst>
                                          <p:attrName>style.visibility</p:attrName>
                                        </p:attrNameLst>
                                      </p:cBhvr>
                                      <p:to>
                                        <p:strVal val="visible"/>
                                      </p:to>
                                    </p:set>
                                    <p:anim calcmode="lin" valueType="num">
                                      <p:cBhvr additive="base">
                                        <p:cTn id="37" dur="500" fill="hold"/>
                                        <p:tgtEl>
                                          <p:spTgt spid="1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xEl>
                                              <p:pRg st="7" end="7"/>
                                            </p:txEl>
                                          </p:spTgt>
                                        </p:tgtEl>
                                        <p:attrNameLst>
                                          <p:attrName>style.visibility</p:attrName>
                                        </p:attrNameLst>
                                      </p:cBhvr>
                                      <p:to>
                                        <p:strVal val="visible"/>
                                      </p:to>
                                    </p:set>
                                    <p:anim calcmode="lin" valueType="num">
                                      <p:cBhvr additive="base">
                                        <p:cTn id="43" dur="500" fill="hold"/>
                                        <p:tgtEl>
                                          <p:spTgt spid="1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8">
                                            <p:txEl>
                                              <p:pRg st="8" end="8"/>
                                            </p:txEl>
                                          </p:spTgt>
                                        </p:tgtEl>
                                        <p:attrNameLst>
                                          <p:attrName>style.visibility</p:attrName>
                                        </p:attrNameLst>
                                      </p:cBhvr>
                                      <p:to>
                                        <p:strVal val="visible"/>
                                      </p:to>
                                    </p:set>
                                    <p:anim calcmode="lin" valueType="num">
                                      <p:cBhvr additive="base">
                                        <p:cTn id="49" dur="500" fill="hold"/>
                                        <p:tgtEl>
                                          <p:spTgt spid="18">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8">
                                            <p:txEl>
                                              <p:pRg st="9" end="9"/>
                                            </p:txEl>
                                          </p:spTgt>
                                        </p:tgtEl>
                                        <p:attrNameLst>
                                          <p:attrName>style.visibility</p:attrName>
                                        </p:attrNameLst>
                                      </p:cBhvr>
                                      <p:to>
                                        <p:strVal val="visible"/>
                                      </p:to>
                                    </p:set>
                                    <p:anim calcmode="lin" valueType="num">
                                      <p:cBhvr additive="base">
                                        <p:cTn id="55" dur="500" fill="hold"/>
                                        <p:tgtEl>
                                          <p:spTgt spid="18">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8">
                                            <p:txEl>
                                              <p:pRg st="10" end="10"/>
                                            </p:txEl>
                                          </p:spTgt>
                                        </p:tgtEl>
                                        <p:attrNameLst>
                                          <p:attrName>style.visibility</p:attrName>
                                        </p:attrNameLst>
                                      </p:cBhvr>
                                      <p:to>
                                        <p:strVal val="visible"/>
                                      </p:to>
                                    </p:set>
                                    <p:anim calcmode="lin" valueType="num">
                                      <p:cBhvr additive="base">
                                        <p:cTn id="61" dur="500" fill="hold"/>
                                        <p:tgtEl>
                                          <p:spTgt spid="18">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8">
                                            <p:txEl>
                                              <p:pRg st="11" end="11"/>
                                            </p:txEl>
                                          </p:spTgt>
                                        </p:tgtEl>
                                        <p:attrNameLst>
                                          <p:attrName>style.visibility</p:attrName>
                                        </p:attrNameLst>
                                      </p:cBhvr>
                                      <p:to>
                                        <p:strVal val="visible"/>
                                      </p:to>
                                    </p:set>
                                    <p:anim calcmode="lin" valueType="num">
                                      <p:cBhvr additive="base">
                                        <p:cTn id="67" dur="500" fill="hold"/>
                                        <p:tgtEl>
                                          <p:spTgt spid="18">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8">
                                            <p:txEl>
                                              <p:pRg st="12" end="12"/>
                                            </p:txEl>
                                          </p:spTgt>
                                        </p:tgtEl>
                                        <p:attrNameLst>
                                          <p:attrName>style.visibility</p:attrName>
                                        </p:attrNameLst>
                                      </p:cBhvr>
                                      <p:to>
                                        <p:strVal val="visible"/>
                                      </p:to>
                                    </p:set>
                                    <p:anim calcmode="lin" valueType="num">
                                      <p:cBhvr additive="base">
                                        <p:cTn id="73" dur="500" fill="hold"/>
                                        <p:tgtEl>
                                          <p:spTgt spid="18">
                                            <p:txEl>
                                              <p:pRg st="12" end="1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8">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175DA-2642-9DC2-83DA-020A3870DFF3}"/>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56DC3D7-61FC-232F-3D22-C4A833385692}"/>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Conflict Serializability</a:t>
            </a:r>
          </a:p>
        </p:txBody>
      </p:sp>
      <p:sp>
        <p:nvSpPr>
          <p:cNvPr id="3" name="Footer Placeholder 2">
            <a:extLst>
              <a:ext uri="{FF2B5EF4-FFF2-40B4-BE49-F238E27FC236}">
                <a16:creationId xmlns:a16="http://schemas.microsoft.com/office/drawing/2014/main" id="{04315250-E472-5C7F-32A7-3E2FBB12635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04F63E54-9CDA-6AC9-ADD0-5DBFEBBA52C4}"/>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18" name="Content Placeholder 1">
            <a:extLst>
              <a:ext uri="{FF2B5EF4-FFF2-40B4-BE49-F238E27FC236}">
                <a16:creationId xmlns:a16="http://schemas.microsoft.com/office/drawing/2014/main" id="{65139199-AFA2-4CED-A777-CE2FD36BBE00}"/>
              </a:ext>
            </a:extLst>
          </p:cNvPr>
          <p:cNvSpPr>
            <a:spLocks noGrp="1"/>
          </p:cNvSpPr>
          <p:nvPr>
            <p:ph sz="quarter" idx="1"/>
          </p:nvPr>
        </p:nvSpPr>
        <p:spPr>
          <a:xfrm>
            <a:off x="323528" y="260648"/>
            <a:ext cx="8443178" cy="1584176"/>
          </a:xfrm>
        </p:spPr>
        <p:txBody>
          <a:bodyPr/>
          <a:lstStyle/>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schedule given in the table is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conflict serializable.</a:t>
            </a: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edges in the precedence graph are T</a:t>
            </a:r>
            <a:r>
              <a:rPr lang="en-US" sz="2400" baseline="-25000" dirty="0">
                <a:latin typeface="Cambria" panose="02040503050406030204" pitchFamily="18" charset="0"/>
                <a:ea typeface="Cambria" panose="02040503050406030204" pitchFamily="18" charset="0"/>
                <a:cs typeface="Calibri" panose="020F0502020204030204" pitchFamily="34" charset="0"/>
              </a:rPr>
              <a:t>1</a:t>
            </a:r>
            <a:r>
              <a:rPr lang="en-US" sz="24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2 </a:t>
            </a:r>
            <a:r>
              <a:rPr lang="en-US" sz="2400" dirty="0">
                <a:latin typeface="Cambria" panose="02040503050406030204" pitchFamily="18" charset="0"/>
                <a:ea typeface="Cambria" panose="02040503050406030204" pitchFamily="18" charset="0"/>
                <a:cs typeface="Calibri" panose="020F0502020204030204" pitchFamily="34" charset="0"/>
              </a:rPr>
              <a:t>, T</a:t>
            </a:r>
            <a:r>
              <a:rPr lang="en-US" sz="2400" baseline="-25000" dirty="0">
                <a:latin typeface="Cambria" panose="02040503050406030204" pitchFamily="18" charset="0"/>
                <a:ea typeface="Cambria" panose="02040503050406030204" pitchFamily="18" charset="0"/>
                <a:cs typeface="Calibri" panose="020F0502020204030204" pitchFamily="34" charset="0"/>
              </a:rPr>
              <a:t>1</a:t>
            </a:r>
            <a:r>
              <a:rPr lang="en-US" sz="24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3</a:t>
            </a:r>
            <a:r>
              <a:rPr lang="en-US" sz="2400" dirty="0">
                <a:latin typeface="Cambria" panose="02040503050406030204" pitchFamily="18" charset="0"/>
                <a:ea typeface="Cambria" panose="02040503050406030204" pitchFamily="18" charset="0"/>
                <a:cs typeface="Calibri" panose="020F0502020204030204" pitchFamily="34" charset="0"/>
              </a:rPr>
              <a:t>, and T</a:t>
            </a:r>
            <a:r>
              <a:rPr lang="en-US" sz="2400" baseline="-25000" dirty="0">
                <a:latin typeface="Cambria" panose="02040503050406030204" pitchFamily="18" charset="0"/>
                <a:ea typeface="Cambria" panose="02040503050406030204" pitchFamily="18" charset="0"/>
                <a:cs typeface="Calibri" panose="020F0502020204030204" pitchFamily="34" charset="0"/>
              </a:rPr>
              <a:t>3</a:t>
            </a:r>
            <a:r>
              <a:rPr lang="en-US" sz="24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T</a:t>
            </a:r>
            <a:r>
              <a:rPr lang="en-US" sz="2400" baseline="-25000" dirty="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2 </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No Cycle. </a:t>
            </a:r>
          </a:p>
          <a:p>
            <a:pPr marL="0" indent="0" algn="ctr">
              <a:spcBef>
                <a:spcPts val="300"/>
              </a:spcBef>
              <a:buClr>
                <a:srgbClr val="C00000"/>
              </a:buClr>
              <a:buNone/>
              <a:defRPr/>
            </a:pP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27778DFC-0231-3E34-D5D0-8C77932D111C}"/>
              </a:ext>
            </a:extLst>
          </p:cNvPr>
          <p:cNvGraphicFramePr>
            <a:graphicFrameLocks noGrp="1"/>
          </p:cNvGraphicFramePr>
          <p:nvPr>
            <p:extLst>
              <p:ext uri="{D42A27DB-BD31-4B8C-83A1-F6EECF244321}">
                <p14:modId xmlns:p14="http://schemas.microsoft.com/office/powerpoint/2010/main" val="2731673093"/>
              </p:ext>
            </p:extLst>
          </p:nvPr>
        </p:nvGraphicFramePr>
        <p:xfrm>
          <a:off x="6012159" y="1618456"/>
          <a:ext cx="2823552" cy="4114800"/>
        </p:xfrm>
        <a:graphic>
          <a:graphicData uri="http://schemas.openxmlformats.org/drawingml/2006/table">
            <a:tbl>
              <a:tblPr firstRow="1" bandRow="1">
                <a:tableStyleId>{5C22544A-7EE6-4342-B048-85BDC9FD1C3A}</a:tableStyleId>
              </a:tblPr>
              <a:tblGrid>
                <a:gridCol w="941184">
                  <a:extLst>
                    <a:ext uri="{9D8B030D-6E8A-4147-A177-3AD203B41FA5}">
                      <a16:colId xmlns:a16="http://schemas.microsoft.com/office/drawing/2014/main" val="2230424765"/>
                    </a:ext>
                  </a:extLst>
                </a:gridCol>
                <a:gridCol w="941184">
                  <a:extLst>
                    <a:ext uri="{9D8B030D-6E8A-4147-A177-3AD203B41FA5}">
                      <a16:colId xmlns:a16="http://schemas.microsoft.com/office/drawing/2014/main" val="1701861286"/>
                    </a:ext>
                  </a:extLst>
                </a:gridCol>
                <a:gridCol w="941184">
                  <a:extLst>
                    <a:ext uri="{9D8B030D-6E8A-4147-A177-3AD203B41FA5}">
                      <a16:colId xmlns:a16="http://schemas.microsoft.com/office/drawing/2014/main" val="3960888892"/>
                    </a:ext>
                  </a:extLst>
                </a:gridCol>
              </a:tblGrid>
              <a:tr h="370840">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1</a:t>
                      </a:r>
                    </a:p>
                  </a:txBody>
                  <a:tcPr/>
                </a:tc>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2</a:t>
                      </a:r>
                    </a:p>
                  </a:txBody>
                  <a:tcPr/>
                </a:tc>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3</a:t>
                      </a:r>
                    </a:p>
                  </a:txBody>
                  <a:tcPr/>
                </a:tc>
                <a:extLst>
                  <a:ext uri="{0D108BD9-81ED-4DB2-BD59-A6C34878D82A}">
                    <a16:rowId xmlns:a16="http://schemas.microsoft.com/office/drawing/2014/main" val="1929803474"/>
                  </a:ext>
                </a:extLst>
              </a:tr>
              <a:tr h="370840">
                <a:tc>
                  <a:txBody>
                    <a:bodyPr/>
                    <a:lstStyle/>
                    <a:p>
                      <a:pPr algn="ctr"/>
                      <a:r>
                        <a:rPr lang="en-US" sz="2400" dirty="0">
                          <a:latin typeface="Cambria" panose="02040503050406030204" pitchFamily="18" charset="0"/>
                          <a:ea typeface="Cambria" panose="02040503050406030204" pitchFamily="18" charset="0"/>
                        </a:rPr>
                        <a:t>R(x)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95890671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R(y)</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5765121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R(y)</a:t>
                      </a:r>
                    </a:p>
                  </a:txBody>
                  <a:tcPr/>
                </a:tc>
                <a:extLst>
                  <a:ext uri="{0D108BD9-81ED-4DB2-BD59-A6C34878D82A}">
                    <a16:rowId xmlns:a16="http://schemas.microsoft.com/office/drawing/2014/main" val="2445096767"/>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W(y)</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2053029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W(x)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3544639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W(x)</a:t>
                      </a:r>
                    </a:p>
                  </a:txBody>
                  <a:tcPr/>
                </a:tc>
                <a:extLst>
                  <a:ext uri="{0D108BD9-81ED-4DB2-BD59-A6C34878D82A}">
                    <a16:rowId xmlns:a16="http://schemas.microsoft.com/office/drawing/2014/main" val="2678502107"/>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R(x)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87863975"/>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W(x)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390113157"/>
                  </a:ext>
                </a:extLst>
              </a:tr>
            </a:tbl>
          </a:graphicData>
        </a:graphic>
      </p:graphicFrame>
      <p:sp>
        <p:nvSpPr>
          <p:cNvPr id="2" name="Content Placeholder 1">
            <a:extLst>
              <a:ext uri="{FF2B5EF4-FFF2-40B4-BE49-F238E27FC236}">
                <a16:creationId xmlns:a16="http://schemas.microsoft.com/office/drawing/2014/main" id="{6EC7DFE6-8DE1-ABCD-9D66-CAB815C1BEC9}"/>
              </a:ext>
            </a:extLst>
          </p:cNvPr>
          <p:cNvSpPr txBox="1">
            <a:spLocks/>
          </p:cNvSpPr>
          <p:nvPr/>
        </p:nvSpPr>
        <p:spPr bwMode="auto">
          <a:xfrm>
            <a:off x="398629" y="2760948"/>
            <a:ext cx="5466425" cy="208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Font typeface="Wingdings 2" panose="05020102010507070707" pitchFamily="18" charset="2"/>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Font typeface="Wingdings 2" panose="05020102010507070707" pitchFamily="18" charset="2"/>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Font typeface="Wingdings 2" panose="05020102010507070707" pitchFamily="18" charset="2"/>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Font typeface="Wingdings 2" panose="05020102010507070707" pitchFamily="18" charset="2"/>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
        <p:nvSpPr>
          <p:cNvPr id="6" name="Content Placeholder 1">
            <a:extLst>
              <a:ext uri="{FF2B5EF4-FFF2-40B4-BE49-F238E27FC236}">
                <a16:creationId xmlns:a16="http://schemas.microsoft.com/office/drawing/2014/main" id="{249FA052-EE6B-A18E-EDE5-E603EA7F53BC}"/>
              </a:ext>
            </a:extLst>
          </p:cNvPr>
          <p:cNvSpPr txBox="1">
            <a:spLocks/>
          </p:cNvSpPr>
          <p:nvPr/>
        </p:nvSpPr>
        <p:spPr bwMode="auto">
          <a:xfrm>
            <a:off x="323528" y="1844824"/>
            <a:ext cx="5389126"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spcBef>
                <a:spcPts val="300"/>
              </a:spcBef>
              <a:buClr>
                <a:srgbClr val="C00000"/>
              </a:buClr>
              <a:defRPr/>
            </a:pPr>
            <a:r>
              <a:rPr lang="en-US" sz="2800" dirty="0">
                <a:latin typeface="Cambria" panose="02040503050406030204" pitchFamily="18" charset="0"/>
                <a:ea typeface="Cambria" panose="02040503050406030204" pitchFamily="18" charset="0"/>
                <a:cs typeface="Calibri" panose="020F0502020204030204" pitchFamily="34" charset="0"/>
              </a:rPr>
              <a:t>In an equivalent serial schedule, the first transaction will be a node with no incoming edge, </a:t>
            </a:r>
            <a:r>
              <a:rPr lang="en-US" sz="2800" dirty="0" err="1">
                <a:latin typeface="Cambria" panose="02040503050406030204" pitchFamily="18" charset="0"/>
                <a:ea typeface="Cambria" panose="02040503050406030204" pitchFamily="18" charset="0"/>
                <a:cs typeface="Calibri" panose="020F0502020204030204" pitchFamily="34" charset="0"/>
              </a:rPr>
              <a:t>i.e</a:t>
            </a:r>
            <a:r>
              <a:rPr lang="en-US" sz="2800" dirty="0">
                <a:latin typeface="Cambria" panose="02040503050406030204" pitchFamily="18" charset="0"/>
                <a:ea typeface="Cambria" panose="02040503050406030204" pitchFamily="18" charset="0"/>
                <a:cs typeface="Calibri" panose="020F0502020204030204" pitchFamily="34" charset="0"/>
              </a:rPr>
              <a:t>, </a:t>
            </a:r>
            <a:r>
              <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8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1</a:t>
            </a:r>
            <a:r>
              <a:rPr lang="en-US" sz="2800" dirty="0">
                <a:latin typeface="Cambria" panose="02040503050406030204" pitchFamily="18" charset="0"/>
                <a:ea typeface="Cambria" panose="02040503050406030204" pitchFamily="18" charset="0"/>
                <a:cs typeface="Calibri" panose="020F0502020204030204" pitchFamily="34" charset="0"/>
              </a:rPr>
              <a:t> , and the last transaction will be a node without an outgoing edge, i.e., </a:t>
            </a:r>
            <a:r>
              <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8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3</a:t>
            </a:r>
          </a:p>
          <a:p>
            <a:pPr algn="just">
              <a:spcBef>
                <a:spcPts val="300"/>
              </a:spcBef>
              <a:buClr>
                <a:srgbClr val="C00000"/>
              </a:buClr>
              <a:defRPr/>
            </a:pPr>
            <a:r>
              <a:rPr lang="en-US" sz="2800" dirty="0">
                <a:latin typeface="Cambria" panose="02040503050406030204" pitchFamily="18" charset="0"/>
                <a:ea typeface="Cambria" panose="02040503050406030204" pitchFamily="18" charset="0"/>
                <a:cs typeface="Calibri" panose="020F0502020204030204" pitchFamily="34" charset="0"/>
              </a:rPr>
              <a:t>Hence, an equivalent serial schedule is </a:t>
            </a:r>
            <a:r>
              <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8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1</a:t>
            </a:r>
            <a:r>
              <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8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2</a:t>
            </a:r>
            <a:r>
              <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8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3</a:t>
            </a:r>
            <a:r>
              <a:rPr lang="en-US" sz="2800" dirty="0">
                <a:latin typeface="Cambria" panose="02040503050406030204" pitchFamily="18" charset="0"/>
                <a:ea typeface="Cambria" panose="02040503050406030204" pitchFamily="18" charset="0"/>
                <a:cs typeface="Calibri" panose="020F0502020204030204" pitchFamily="34" charset="0"/>
              </a:rPr>
              <a:t> </a:t>
            </a:r>
          </a:p>
          <a:p>
            <a:pPr marL="0" indent="0" algn="ctr">
              <a:spcBef>
                <a:spcPts val="300"/>
              </a:spcBef>
              <a:buClr>
                <a:srgbClr val="C00000"/>
              </a:buClr>
              <a:buFont typeface="Wingdings 2" panose="05020102010507070707" pitchFamily="18" charset="2"/>
              <a:buNone/>
              <a:defRPr/>
            </a:pPr>
            <a:endPar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Font typeface="Wingdings 2" panose="05020102010507070707" pitchFamily="18" charset="2"/>
              <a:buNone/>
              <a:defRPr/>
            </a:pPr>
            <a:endPar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Font typeface="Wingdings 2" panose="05020102010507070707" pitchFamily="18" charset="2"/>
              <a:buNone/>
              <a:defRPr/>
            </a:pPr>
            <a:endPar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Font typeface="Wingdings 2" panose="05020102010507070707" pitchFamily="18" charset="2"/>
              <a:buNone/>
              <a:defRPr/>
            </a:pPr>
            <a:endPar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4687990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anim calcmode="lin" valueType="num">
                                      <p:cBhvr additive="base">
                                        <p:cTn id="7"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anim calcmode="lin" valueType="num">
                                      <p:cBhvr additive="base">
                                        <p:cTn id="13"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0B0C5-7398-F126-D25C-E8336F1E725A}"/>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4EF80A1-A6E8-3E39-C612-9D5EFD8948C7}"/>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Conflict Serializability</a:t>
            </a:r>
          </a:p>
        </p:txBody>
      </p:sp>
      <p:sp>
        <p:nvSpPr>
          <p:cNvPr id="3" name="Footer Placeholder 2">
            <a:extLst>
              <a:ext uri="{FF2B5EF4-FFF2-40B4-BE49-F238E27FC236}">
                <a16:creationId xmlns:a16="http://schemas.microsoft.com/office/drawing/2014/main" id="{B51ABD13-8E66-4B4F-25DF-972B2053C61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7C170E45-F964-5269-D8AA-157A512713D2}"/>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
        <p:nvSpPr>
          <p:cNvPr id="18" name="Content Placeholder 1">
            <a:extLst>
              <a:ext uri="{FF2B5EF4-FFF2-40B4-BE49-F238E27FC236}">
                <a16:creationId xmlns:a16="http://schemas.microsoft.com/office/drawing/2014/main" id="{4D4A46E0-3EEE-FF5B-FA3A-57C68E6ACE05}"/>
              </a:ext>
            </a:extLst>
          </p:cNvPr>
          <p:cNvSpPr>
            <a:spLocks noGrp="1"/>
          </p:cNvSpPr>
          <p:nvPr>
            <p:ph sz="quarter" idx="1"/>
          </p:nvPr>
        </p:nvSpPr>
        <p:spPr>
          <a:xfrm>
            <a:off x="323528" y="260648"/>
            <a:ext cx="8443178" cy="1584176"/>
          </a:xfrm>
        </p:spPr>
        <p:txBody>
          <a:bodyPr/>
          <a:lstStyle/>
          <a:p>
            <a:pPr marL="347663" indent="-347663" algn="ctr">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Determine whether the schedules S1 and S2 given in the tables are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conflict serializable </a:t>
            </a:r>
            <a:r>
              <a:rPr lang="en-US" sz="2400" dirty="0">
                <a:latin typeface="Cambria" panose="02040503050406030204" pitchFamily="18" charset="0"/>
                <a:ea typeface="Cambria" panose="02040503050406030204" pitchFamily="18" charset="0"/>
                <a:cs typeface="Calibri" panose="020F0502020204030204" pitchFamily="34" charset="0"/>
              </a:rPr>
              <a:t>by drawing</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 precedence graph?</a:t>
            </a:r>
            <a:r>
              <a:rPr lang="en-US" sz="2400" dirty="0">
                <a:latin typeface="Cambria" panose="02040503050406030204" pitchFamily="18" charset="0"/>
                <a:ea typeface="Cambria" panose="02040503050406030204" pitchFamily="18" charset="0"/>
                <a:cs typeface="Calibri" panose="020F0502020204030204" pitchFamily="34" charset="0"/>
              </a:rPr>
              <a:t> </a:t>
            </a:r>
          </a:p>
          <a:p>
            <a:pPr marL="0" indent="0" algn="just">
              <a:spcBef>
                <a:spcPts val="300"/>
              </a:spcBef>
              <a:buClr>
                <a:srgbClr val="C00000"/>
              </a:buClr>
              <a:buNone/>
              <a:defRPr/>
            </a:pP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Schedule S1</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Schedule S2</a:t>
            </a: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endPar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FD8952A7-1F5C-823F-75F6-8FD5676A6BFD}"/>
              </a:ext>
            </a:extLst>
          </p:cNvPr>
          <p:cNvGraphicFramePr>
            <a:graphicFrameLocks noGrp="1"/>
          </p:cNvGraphicFramePr>
          <p:nvPr>
            <p:extLst>
              <p:ext uri="{D42A27DB-BD31-4B8C-83A1-F6EECF244321}">
                <p14:modId xmlns:p14="http://schemas.microsoft.com/office/powerpoint/2010/main" val="81520343"/>
              </p:ext>
            </p:extLst>
          </p:nvPr>
        </p:nvGraphicFramePr>
        <p:xfrm>
          <a:off x="4860032" y="1842472"/>
          <a:ext cx="3600400" cy="4754880"/>
        </p:xfrm>
        <a:graphic>
          <a:graphicData uri="http://schemas.openxmlformats.org/drawingml/2006/table">
            <a:tbl>
              <a:tblPr firstRow="1" bandRow="1">
                <a:tableStyleId>{5C22544A-7EE6-4342-B048-85BDC9FD1C3A}</a:tableStyleId>
              </a:tblPr>
              <a:tblGrid>
                <a:gridCol w="900100">
                  <a:extLst>
                    <a:ext uri="{9D8B030D-6E8A-4147-A177-3AD203B41FA5}">
                      <a16:colId xmlns:a16="http://schemas.microsoft.com/office/drawing/2014/main" val="2230424765"/>
                    </a:ext>
                  </a:extLst>
                </a:gridCol>
                <a:gridCol w="900100">
                  <a:extLst>
                    <a:ext uri="{9D8B030D-6E8A-4147-A177-3AD203B41FA5}">
                      <a16:colId xmlns:a16="http://schemas.microsoft.com/office/drawing/2014/main" val="1701861286"/>
                    </a:ext>
                  </a:extLst>
                </a:gridCol>
                <a:gridCol w="900100">
                  <a:extLst>
                    <a:ext uri="{9D8B030D-6E8A-4147-A177-3AD203B41FA5}">
                      <a16:colId xmlns:a16="http://schemas.microsoft.com/office/drawing/2014/main" val="3960888892"/>
                    </a:ext>
                  </a:extLst>
                </a:gridCol>
                <a:gridCol w="900100">
                  <a:extLst>
                    <a:ext uri="{9D8B030D-6E8A-4147-A177-3AD203B41FA5}">
                      <a16:colId xmlns:a16="http://schemas.microsoft.com/office/drawing/2014/main" val="3623508571"/>
                    </a:ext>
                  </a:extLst>
                </a:gridCol>
              </a:tblGrid>
              <a:tr h="370840">
                <a:tc>
                  <a:txBody>
                    <a:bodyPr/>
                    <a:lstStyle/>
                    <a:p>
                      <a:pPr algn="ctr"/>
                      <a:r>
                        <a:rPr lang="en-US" sz="2000" dirty="0">
                          <a:solidFill>
                            <a:srgbClr val="FFFF00"/>
                          </a:solidFill>
                          <a:latin typeface="Cambria" panose="02040503050406030204" pitchFamily="18" charset="0"/>
                          <a:ea typeface="Cambria" panose="02040503050406030204" pitchFamily="18" charset="0"/>
                        </a:rPr>
                        <a:t>T</a:t>
                      </a:r>
                      <a:r>
                        <a:rPr lang="en-US" sz="2000" baseline="-25000" dirty="0">
                          <a:solidFill>
                            <a:srgbClr val="FFFF00"/>
                          </a:solidFill>
                          <a:latin typeface="Cambria" panose="02040503050406030204" pitchFamily="18" charset="0"/>
                          <a:ea typeface="Cambria" panose="02040503050406030204" pitchFamily="18" charset="0"/>
                        </a:rPr>
                        <a:t>1</a:t>
                      </a:r>
                    </a:p>
                  </a:txBody>
                  <a:tcPr/>
                </a:tc>
                <a:tc>
                  <a:txBody>
                    <a:bodyPr/>
                    <a:lstStyle/>
                    <a:p>
                      <a:pPr algn="ctr"/>
                      <a:r>
                        <a:rPr lang="en-US" sz="2000" dirty="0">
                          <a:solidFill>
                            <a:srgbClr val="FFFF00"/>
                          </a:solidFill>
                          <a:latin typeface="Cambria" panose="02040503050406030204" pitchFamily="18" charset="0"/>
                          <a:ea typeface="Cambria" panose="02040503050406030204" pitchFamily="18" charset="0"/>
                        </a:rPr>
                        <a:t>T</a:t>
                      </a:r>
                      <a:r>
                        <a:rPr lang="en-US" sz="2000" baseline="-25000" dirty="0">
                          <a:solidFill>
                            <a:srgbClr val="FFFF00"/>
                          </a:solidFill>
                          <a:latin typeface="Cambria" panose="02040503050406030204" pitchFamily="18" charset="0"/>
                          <a:ea typeface="Cambria" panose="02040503050406030204" pitchFamily="18" charset="0"/>
                        </a:rPr>
                        <a:t>2</a:t>
                      </a:r>
                    </a:p>
                  </a:txBody>
                  <a:tcPr/>
                </a:tc>
                <a:tc>
                  <a:txBody>
                    <a:bodyPr/>
                    <a:lstStyle/>
                    <a:p>
                      <a:pPr algn="ctr"/>
                      <a:r>
                        <a:rPr lang="en-US" sz="2000" dirty="0">
                          <a:solidFill>
                            <a:srgbClr val="FFFF00"/>
                          </a:solidFill>
                          <a:latin typeface="Cambria" panose="02040503050406030204" pitchFamily="18" charset="0"/>
                          <a:ea typeface="Cambria" panose="02040503050406030204" pitchFamily="18" charset="0"/>
                        </a:rPr>
                        <a:t>T</a:t>
                      </a:r>
                      <a:r>
                        <a:rPr lang="en-US" sz="2000" baseline="-25000" dirty="0">
                          <a:solidFill>
                            <a:srgbClr val="FFFF00"/>
                          </a:solidFill>
                          <a:latin typeface="Cambria" panose="02040503050406030204" pitchFamily="18" charset="0"/>
                          <a:ea typeface="Cambria" panose="02040503050406030204" pitchFamily="18" charset="0"/>
                        </a:rPr>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FF00"/>
                          </a:solidFill>
                          <a:latin typeface="Cambria" panose="02040503050406030204" pitchFamily="18" charset="0"/>
                          <a:ea typeface="Cambria" panose="02040503050406030204" pitchFamily="18" charset="0"/>
                        </a:rPr>
                        <a:t>T</a:t>
                      </a:r>
                      <a:r>
                        <a:rPr lang="en-US" sz="2000" baseline="-25000" dirty="0">
                          <a:solidFill>
                            <a:srgbClr val="FFFF00"/>
                          </a:solidFill>
                          <a:latin typeface="Cambria" panose="02040503050406030204" pitchFamily="18" charset="0"/>
                          <a:ea typeface="Cambria" panose="02040503050406030204" pitchFamily="18" charset="0"/>
                        </a:rPr>
                        <a:t>4</a:t>
                      </a:r>
                    </a:p>
                  </a:txBody>
                  <a:tcPr/>
                </a:tc>
                <a:extLst>
                  <a:ext uri="{0D108BD9-81ED-4DB2-BD59-A6C34878D82A}">
                    <a16:rowId xmlns:a16="http://schemas.microsoft.com/office/drawing/2014/main" val="1929803474"/>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R(x)</a:t>
                      </a: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958906713"/>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W(x)</a:t>
                      </a: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57651213"/>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C</a:t>
                      </a: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4509676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W(x)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20530299"/>
                  </a:ext>
                </a:extLst>
              </a:tr>
              <a:tr h="370840">
                <a:tc>
                  <a:txBody>
                    <a:bodyPr/>
                    <a:lstStyle/>
                    <a:p>
                      <a:pPr algn="ctr"/>
                      <a:r>
                        <a:rPr lang="en-US" sz="2000" dirty="0">
                          <a:latin typeface="Cambria" panose="02040503050406030204" pitchFamily="18" charset="0"/>
                          <a:ea typeface="Cambria" panose="02040503050406030204" pitchFamily="18" charset="0"/>
                        </a:rPr>
                        <a:t>C</a:t>
                      </a: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35446393"/>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W(y)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W(x)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678502107"/>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R(z)</a:t>
                      </a: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87863975"/>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C</a:t>
                      </a: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390113157"/>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R(x)</a:t>
                      </a:r>
                    </a:p>
                  </a:txBody>
                  <a:tcPr/>
                </a:tc>
                <a:extLst>
                  <a:ext uri="{0D108BD9-81ED-4DB2-BD59-A6C34878D82A}">
                    <a16:rowId xmlns:a16="http://schemas.microsoft.com/office/drawing/2014/main" val="3407480533"/>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R(y)</a:t>
                      </a:r>
                    </a:p>
                  </a:txBody>
                  <a:tcPr/>
                </a:tc>
                <a:extLst>
                  <a:ext uri="{0D108BD9-81ED-4DB2-BD59-A6C34878D82A}">
                    <a16:rowId xmlns:a16="http://schemas.microsoft.com/office/drawing/2014/main" val="4115378363"/>
                  </a:ext>
                </a:extLst>
              </a:tr>
              <a:tr h="370840">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1974388380"/>
                  </a:ext>
                </a:extLst>
              </a:tr>
            </a:tbl>
          </a:graphicData>
        </a:graphic>
      </p:graphicFrame>
      <p:graphicFrame>
        <p:nvGraphicFramePr>
          <p:cNvPr id="7" name="Table 6">
            <a:extLst>
              <a:ext uri="{FF2B5EF4-FFF2-40B4-BE49-F238E27FC236}">
                <a16:creationId xmlns:a16="http://schemas.microsoft.com/office/drawing/2014/main" id="{1A75597D-4A77-6EB2-1EDC-0AD6A1631953}"/>
              </a:ext>
            </a:extLst>
          </p:cNvPr>
          <p:cNvGraphicFramePr>
            <a:graphicFrameLocks noGrp="1"/>
          </p:cNvGraphicFramePr>
          <p:nvPr>
            <p:extLst>
              <p:ext uri="{D42A27DB-BD31-4B8C-83A1-F6EECF244321}">
                <p14:modId xmlns:p14="http://schemas.microsoft.com/office/powerpoint/2010/main" val="2606950700"/>
              </p:ext>
            </p:extLst>
          </p:nvPr>
        </p:nvGraphicFramePr>
        <p:xfrm>
          <a:off x="683568" y="1916832"/>
          <a:ext cx="2823552" cy="3200400"/>
        </p:xfrm>
        <a:graphic>
          <a:graphicData uri="http://schemas.openxmlformats.org/drawingml/2006/table">
            <a:tbl>
              <a:tblPr firstRow="1" bandRow="1">
                <a:tableStyleId>{5C22544A-7EE6-4342-B048-85BDC9FD1C3A}</a:tableStyleId>
              </a:tblPr>
              <a:tblGrid>
                <a:gridCol w="941184">
                  <a:extLst>
                    <a:ext uri="{9D8B030D-6E8A-4147-A177-3AD203B41FA5}">
                      <a16:colId xmlns:a16="http://schemas.microsoft.com/office/drawing/2014/main" val="2230424765"/>
                    </a:ext>
                  </a:extLst>
                </a:gridCol>
                <a:gridCol w="941184">
                  <a:extLst>
                    <a:ext uri="{9D8B030D-6E8A-4147-A177-3AD203B41FA5}">
                      <a16:colId xmlns:a16="http://schemas.microsoft.com/office/drawing/2014/main" val="1701861286"/>
                    </a:ext>
                  </a:extLst>
                </a:gridCol>
                <a:gridCol w="941184">
                  <a:extLst>
                    <a:ext uri="{9D8B030D-6E8A-4147-A177-3AD203B41FA5}">
                      <a16:colId xmlns:a16="http://schemas.microsoft.com/office/drawing/2014/main" val="3960888892"/>
                    </a:ext>
                  </a:extLst>
                </a:gridCol>
              </a:tblGrid>
              <a:tr h="370840">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1</a:t>
                      </a:r>
                    </a:p>
                  </a:txBody>
                  <a:tcPr/>
                </a:tc>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2</a:t>
                      </a:r>
                    </a:p>
                  </a:txBody>
                  <a:tcPr/>
                </a:tc>
                <a:tc>
                  <a:txBody>
                    <a:bodyPr/>
                    <a:lstStyle/>
                    <a:p>
                      <a:pPr algn="ctr"/>
                      <a:r>
                        <a:rPr lang="en-US" sz="2400" dirty="0">
                          <a:solidFill>
                            <a:srgbClr val="FFFF00"/>
                          </a:solidFill>
                          <a:latin typeface="Cambria" panose="02040503050406030204" pitchFamily="18" charset="0"/>
                          <a:ea typeface="Cambria" panose="02040503050406030204" pitchFamily="18" charset="0"/>
                        </a:rPr>
                        <a:t>T</a:t>
                      </a:r>
                      <a:r>
                        <a:rPr lang="en-US" sz="2400" baseline="-25000" dirty="0">
                          <a:solidFill>
                            <a:srgbClr val="FFFF00"/>
                          </a:solidFill>
                          <a:latin typeface="Cambria" panose="02040503050406030204" pitchFamily="18" charset="0"/>
                          <a:ea typeface="Cambria" panose="02040503050406030204" pitchFamily="18" charset="0"/>
                        </a:rPr>
                        <a:t>3</a:t>
                      </a:r>
                    </a:p>
                  </a:txBody>
                  <a:tcPr/>
                </a:tc>
                <a:extLst>
                  <a:ext uri="{0D108BD9-81ED-4DB2-BD59-A6C34878D82A}">
                    <a16:rowId xmlns:a16="http://schemas.microsoft.com/office/drawing/2014/main" val="1929803474"/>
                  </a:ext>
                </a:extLst>
              </a:tr>
              <a:tr h="370840">
                <a:tc>
                  <a:txBody>
                    <a:bodyPr/>
                    <a:lstStyle/>
                    <a:p>
                      <a:pPr algn="ctr"/>
                      <a:r>
                        <a:rPr lang="en-US" sz="2400" dirty="0">
                          <a:latin typeface="Cambria" panose="02040503050406030204" pitchFamily="18" charset="0"/>
                          <a:ea typeface="Cambria" panose="02040503050406030204" pitchFamily="18" charset="0"/>
                        </a:rPr>
                        <a:t>R(x)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95890671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R(y)</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57651213"/>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R(z)</a:t>
                      </a:r>
                    </a:p>
                  </a:txBody>
                  <a:tcPr/>
                </a:tc>
                <a:extLst>
                  <a:ext uri="{0D108BD9-81ED-4DB2-BD59-A6C34878D82A}">
                    <a16:rowId xmlns:a16="http://schemas.microsoft.com/office/drawing/2014/main" val="2445096767"/>
                  </a:ext>
                </a:extLst>
              </a:tr>
              <a:tr h="370840">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W(z)</a:t>
                      </a:r>
                    </a:p>
                  </a:txBody>
                  <a:tcPr/>
                </a:tc>
                <a:extLst>
                  <a:ext uri="{0D108BD9-81ED-4DB2-BD59-A6C34878D82A}">
                    <a16:rowId xmlns:a16="http://schemas.microsoft.com/office/drawing/2014/main" val="112053029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latin typeface="Cambria" panose="02040503050406030204" pitchFamily="18" charset="0"/>
                        <a:ea typeface="Cambria" panose="02040503050406030204" pitchFamily="18" charset="0"/>
                      </a:endParaRPr>
                    </a:p>
                  </a:txBody>
                  <a:tcPr/>
                </a:tc>
                <a:tc>
                  <a:txBody>
                    <a:bodyPr/>
                    <a:lstStyle/>
                    <a:p>
                      <a:pPr algn="ctr"/>
                      <a:r>
                        <a:rPr lang="en-US" sz="2400" dirty="0">
                          <a:latin typeface="Cambria" panose="02040503050406030204" pitchFamily="18" charset="0"/>
                          <a:ea typeface="Cambria" panose="02040503050406030204" pitchFamily="18" charset="0"/>
                        </a:rPr>
                        <a:t>W(y)</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3544639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W(x)</a:t>
                      </a:r>
                    </a:p>
                  </a:txBody>
                  <a:tcPr/>
                </a:tc>
                <a:tc>
                  <a:txBody>
                    <a:bodyPr/>
                    <a:lstStyle/>
                    <a:p>
                      <a:pPr algn="ct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678502107"/>
                  </a:ext>
                </a:extLst>
              </a:tr>
            </a:tbl>
          </a:graphicData>
        </a:graphic>
      </p:graphicFrame>
    </p:spTree>
    <p:extLst>
      <p:ext uri="{BB962C8B-B14F-4D97-AF65-F5344CB8AC3E}">
        <p14:creationId xmlns:p14="http://schemas.microsoft.com/office/powerpoint/2010/main" val="40493115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anim calcmode="lin" valueType="num">
                                      <p:cBhvr additive="base">
                                        <p:cTn id="7"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anim calcmode="lin" valueType="num">
                                      <p:cBhvr additive="base">
                                        <p:cTn id="13"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AD710-D6CF-BEA7-B67F-052DFE44C9F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17335FB-6558-338A-D857-DBCEA3D8E87D}"/>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Concurrency Control Methods</a:t>
            </a:r>
          </a:p>
        </p:txBody>
      </p:sp>
      <p:sp>
        <p:nvSpPr>
          <p:cNvPr id="2" name="Content Placeholder 1">
            <a:extLst>
              <a:ext uri="{FF2B5EF4-FFF2-40B4-BE49-F238E27FC236}">
                <a16:creationId xmlns:a16="http://schemas.microsoft.com/office/drawing/2014/main" id="{02E81EDE-64E3-1CBF-C43A-4CE9C79A97FA}"/>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objective of concurrency control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(serializability)</a:t>
            </a:r>
            <a:r>
              <a:rPr lang="en-US" sz="2400" dirty="0">
                <a:latin typeface="Cambria" panose="02040503050406030204" pitchFamily="18" charset="0"/>
                <a:ea typeface="Cambria" panose="02040503050406030204" pitchFamily="18" charset="0"/>
                <a:cs typeface="Calibri" panose="020F0502020204030204" pitchFamily="34" charset="0"/>
              </a:rPr>
              <a:t> is to find non-serial schedules that allow transactions to execute concurrently without interfering with one another, and thereby produce a database state that could be produced by a serial execution.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Following approaches are used for concurrency control: </a:t>
            </a:r>
          </a:p>
          <a:p>
            <a:pPr marL="274638" lvl="1" indent="0" algn="just">
              <a:spcBef>
                <a:spcPts val="300"/>
              </a:spcBef>
              <a:buClr>
                <a:srgbClr val="C00000"/>
              </a:buClr>
              <a:buNone/>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1. Conservative or Pessimistic Approaches</a:t>
            </a:r>
          </a:p>
          <a:p>
            <a:pPr marL="1006475" lvl="2" indent="-457200" algn="just">
              <a:spcBef>
                <a:spcPts val="300"/>
              </a:spcBef>
              <a:buClr>
                <a:srgbClr val="C00000"/>
              </a:buClr>
              <a:buAutoNum type="alphaLcParenR"/>
              <a:defRPr/>
            </a:pPr>
            <a:r>
              <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Locking</a:t>
            </a:r>
          </a:p>
          <a:p>
            <a:pPr marL="1006475" lvl="2" indent="-457200" algn="just">
              <a:spcBef>
                <a:spcPts val="300"/>
              </a:spcBef>
              <a:buClr>
                <a:srgbClr val="C00000"/>
              </a:buClr>
              <a:buAutoNum type="alphaLcParenR"/>
              <a:defRPr/>
            </a:pPr>
            <a:r>
              <a:rPr 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Timestamping</a:t>
            </a:r>
          </a:p>
          <a:p>
            <a:pPr marL="274638" lvl="1" indent="0" algn="just">
              <a:spcBef>
                <a:spcPts val="300"/>
              </a:spcBef>
              <a:buClr>
                <a:srgbClr val="C00000"/>
              </a:buClr>
              <a:buNone/>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2. Optimistic Approach</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C78FE2A4-390E-47DF-F12E-AE7C1E7901C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1088E6C-BE89-1F8C-7B34-1C062BC42480}"/>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37432244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D27AA-1F77-B57C-6FEC-BF22EBAC5F9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80510CA-A906-D0A3-6C0F-C44050F0400C}"/>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Concurrency Control Methods</a:t>
            </a:r>
          </a:p>
        </p:txBody>
      </p:sp>
      <p:sp>
        <p:nvSpPr>
          <p:cNvPr id="2" name="Content Placeholder 1">
            <a:extLst>
              <a:ext uri="{FF2B5EF4-FFF2-40B4-BE49-F238E27FC236}">
                <a16:creationId xmlns:a16="http://schemas.microsoft.com/office/drawing/2014/main" id="{C8485583-B6C7-E5B6-1FEA-D7FFDBC88D06}"/>
              </a:ext>
            </a:extLst>
          </p:cNvPr>
          <p:cNvSpPr>
            <a:spLocks noGrp="1"/>
          </p:cNvSpPr>
          <p:nvPr>
            <p:ph sz="quarter" idx="1"/>
          </p:nvPr>
        </p:nvSpPr>
        <p:spPr>
          <a:xfrm>
            <a:off x="328042" y="548680"/>
            <a:ext cx="8492430" cy="4464496"/>
          </a:xfrm>
        </p:spPr>
        <p:txBody>
          <a:bodyPr/>
          <a:lstStyle/>
          <a:p>
            <a:pPr marL="0" indent="0" algn="just">
              <a:spcBef>
                <a:spcPts val="300"/>
              </a:spcBef>
              <a:buClr>
                <a:srgbClr val="C00000"/>
              </a:buClr>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1. Locking</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basic idea is that when a transaction needs some object, it acquires a lock on that object.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effect of Lock is to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“Lock other transactions out of”</a:t>
            </a:r>
            <a:r>
              <a:rPr lang="en-US" sz="2400" dirty="0">
                <a:latin typeface="Cambria" panose="02040503050406030204" pitchFamily="18" charset="0"/>
                <a:ea typeface="Cambria" panose="02040503050406030204" pitchFamily="18" charset="0"/>
                <a:cs typeface="Calibri" panose="020F0502020204030204" pitchFamily="34" charset="0"/>
              </a:rPr>
              <a:t> the object and thus prevent them from interleaving.</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DBMS automatically initiates and enforces locking procedures managed by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lock manager (built-in DBMS)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Locking Level</a:t>
            </a:r>
            <a:r>
              <a:rPr lang="en-US" sz="2400" dirty="0">
                <a:latin typeface="Cambria" panose="02040503050406030204" pitchFamily="18" charset="0"/>
                <a:ea typeface="Cambria" panose="02040503050406030204" pitchFamily="18" charset="0"/>
                <a:cs typeface="Calibri" panose="020F0502020204030204" pitchFamily="34" charset="0"/>
              </a:rPr>
              <a:t> (also called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Granularity</a:t>
            </a:r>
            <a:r>
              <a:rPr lang="en-US" sz="2400" dirty="0">
                <a:latin typeface="Cambria" panose="02040503050406030204" pitchFamily="18" charset="0"/>
                <a:ea typeface="Cambria" panose="02040503050406030204" pitchFamily="18" charset="0"/>
                <a:cs typeface="Calibri" panose="020F0502020204030204" pitchFamily="34" charset="0"/>
              </a:rPr>
              <a:t>) is the extent of the database resource that is included with each lock.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There can be the following Locking levels (arranged from most restrictive to least restrictive): </a:t>
            </a:r>
          </a:p>
          <a:p>
            <a:pPr marL="731838" lvl="1" indent="-457200" algn="just">
              <a:spcBef>
                <a:spcPts val="300"/>
              </a:spcBef>
              <a:buClr>
                <a:srgbClr val="C00000"/>
              </a:buClr>
              <a:buFont typeface="+mj-lt"/>
              <a:buAutoNum type="arabicPeriod"/>
              <a:defRPr/>
            </a:pPr>
            <a:r>
              <a:rPr lang="en-US" sz="2000" dirty="0">
                <a:solidFill>
                  <a:srgbClr val="0033CC"/>
                </a:solidFill>
                <a:latin typeface="Cambria" panose="02040503050406030204" pitchFamily="18" charset="0"/>
                <a:ea typeface="Cambria" panose="02040503050406030204" pitchFamily="18" charset="0"/>
                <a:cs typeface="Calibri" panose="020F0502020204030204" pitchFamily="34" charset="0"/>
              </a:rPr>
              <a:t>Database		</a:t>
            </a:r>
          </a:p>
          <a:p>
            <a:pPr marL="731838" lvl="1" indent="-457200" algn="just">
              <a:spcBef>
                <a:spcPts val="300"/>
              </a:spcBef>
              <a:buClr>
                <a:srgbClr val="C00000"/>
              </a:buClr>
              <a:buFont typeface="+mj-lt"/>
              <a:buAutoNum type="arabicPeriod"/>
              <a:defRPr/>
            </a:pPr>
            <a:r>
              <a:rPr lang="en-US" sz="2000" dirty="0">
                <a:solidFill>
                  <a:srgbClr val="0033CC"/>
                </a:solidFill>
                <a:latin typeface="Cambria" panose="02040503050406030204" pitchFamily="18" charset="0"/>
                <a:ea typeface="Cambria" panose="02040503050406030204" pitchFamily="18" charset="0"/>
                <a:cs typeface="Calibri" panose="020F0502020204030204" pitchFamily="34" charset="0"/>
              </a:rPr>
              <a:t>Table			</a:t>
            </a:r>
          </a:p>
          <a:p>
            <a:pPr marL="731838" lvl="1" indent="-457200" algn="just">
              <a:spcBef>
                <a:spcPts val="300"/>
              </a:spcBef>
              <a:buClr>
                <a:srgbClr val="C00000"/>
              </a:buClr>
              <a:buFont typeface="+mj-lt"/>
              <a:buAutoNum type="arabicPeriod"/>
              <a:defRPr/>
            </a:pPr>
            <a:r>
              <a:rPr lang="en-US" sz="2000" dirty="0">
                <a:solidFill>
                  <a:srgbClr val="0033CC"/>
                </a:solidFill>
                <a:latin typeface="Cambria" panose="02040503050406030204" pitchFamily="18" charset="0"/>
                <a:ea typeface="Cambria" panose="02040503050406030204" pitchFamily="18" charset="0"/>
                <a:cs typeface="Calibri" panose="020F0502020204030204" pitchFamily="34" charset="0"/>
              </a:rPr>
              <a:t>Page Level (Latch)	</a:t>
            </a:r>
          </a:p>
          <a:p>
            <a:pPr marL="731838" lvl="1" indent="-457200" algn="just">
              <a:spcBef>
                <a:spcPts val="300"/>
              </a:spcBef>
              <a:buClr>
                <a:srgbClr val="C00000"/>
              </a:buClr>
              <a:buFont typeface="+mj-lt"/>
              <a:buAutoNum type="arabicPeriod"/>
              <a:defRPr/>
            </a:pPr>
            <a:r>
              <a:rPr lang="en-US" sz="2000" dirty="0">
                <a:solidFill>
                  <a:srgbClr val="0033CC"/>
                </a:solidFill>
                <a:latin typeface="Cambria" panose="02040503050406030204" pitchFamily="18" charset="0"/>
                <a:ea typeface="Cambria" panose="02040503050406030204" pitchFamily="18" charset="0"/>
                <a:cs typeface="Calibri" panose="020F0502020204030204" pitchFamily="34" charset="0"/>
              </a:rPr>
              <a:t>Record Level</a:t>
            </a:r>
          </a:p>
          <a:p>
            <a:pPr marL="731838" lvl="1" indent="-457200" algn="just">
              <a:spcBef>
                <a:spcPts val="300"/>
              </a:spcBef>
              <a:buClr>
                <a:srgbClr val="C00000"/>
              </a:buClr>
              <a:buFont typeface="+mj-lt"/>
              <a:buAutoNum type="arabicPeriod"/>
              <a:defRPr/>
            </a:pPr>
            <a:r>
              <a:rPr lang="en-US" sz="2000" dirty="0">
                <a:solidFill>
                  <a:srgbClr val="0033CC"/>
                </a:solidFill>
                <a:latin typeface="Cambria" panose="02040503050406030204" pitchFamily="18" charset="0"/>
                <a:ea typeface="Cambria" panose="02040503050406030204" pitchFamily="18" charset="0"/>
                <a:cs typeface="Calibri" panose="020F0502020204030204" pitchFamily="34" charset="0"/>
              </a:rPr>
              <a:t>Field Level</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4C01A34F-9507-7A68-A0BC-FBA970E3857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82D0059-3CAE-E711-883A-A826FCDA3B7E}"/>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77911785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B2B1B-1DFF-5380-B9CC-8CB79F3A970E}"/>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21586BA-8281-9E2E-36BD-FD3B81593C16}"/>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Concurrency Control Methods</a:t>
            </a:r>
          </a:p>
        </p:txBody>
      </p:sp>
      <p:sp>
        <p:nvSpPr>
          <p:cNvPr id="2" name="Content Placeholder 1">
            <a:extLst>
              <a:ext uri="{FF2B5EF4-FFF2-40B4-BE49-F238E27FC236}">
                <a16:creationId xmlns:a16="http://schemas.microsoft.com/office/drawing/2014/main" id="{DCAF838E-29E3-410D-5A45-726FFCFB805F}"/>
              </a:ext>
            </a:extLst>
          </p:cNvPr>
          <p:cNvSpPr>
            <a:spLocks noGrp="1"/>
          </p:cNvSpPr>
          <p:nvPr>
            <p:ph sz="quarter" idx="1"/>
          </p:nvPr>
        </p:nvSpPr>
        <p:spPr>
          <a:xfrm>
            <a:off x="328042" y="692696"/>
            <a:ext cx="8492430" cy="4464496"/>
          </a:xfrm>
        </p:spPr>
        <p:txBody>
          <a:bodyPr/>
          <a:lstStyle/>
          <a:p>
            <a:pPr marL="0" indent="0" algn="just">
              <a:spcBef>
                <a:spcPts val="300"/>
              </a:spcBef>
              <a:buClr>
                <a:srgbClr val="C00000"/>
              </a:buClr>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Lock Types</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1. Binary Locks:</a:t>
            </a:r>
            <a:r>
              <a:rPr lang="en-US" sz="2400" dirty="0">
                <a:latin typeface="Cambria" panose="02040503050406030204" pitchFamily="18" charset="0"/>
                <a:ea typeface="Cambria" panose="02040503050406030204" pitchFamily="18" charset="0"/>
                <a:cs typeface="Calibri" panose="020F0502020204030204" pitchFamily="34" charset="0"/>
              </a:rPr>
              <a:t> Only two states: locked (1) or unlocked (0).</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2. Shared Locks:</a:t>
            </a:r>
            <a:r>
              <a:rPr lang="en-US" sz="2400" dirty="0">
                <a:latin typeface="Cambria" panose="02040503050406030204" pitchFamily="18" charset="0"/>
                <a:ea typeface="Cambria" panose="02040503050406030204" pitchFamily="18" charset="0"/>
                <a:cs typeface="Calibri" panose="020F0502020204030204" pitchFamily="34" charset="0"/>
              </a:rPr>
              <a:t> These are also called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S Locks</a:t>
            </a:r>
            <a:r>
              <a:rPr lang="en-US" sz="2400" dirty="0">
                <a:latin typeface="Cambria" panose="02040503050406030204" pitchFamily="18" charset="0"/>
                <a:ea typeface="Cambria" panose="02040503050406030204" pitchFamily="18" charset="0"/>
                <a:cs typeface="Calibri" panose="020F0502020204030204" pitchFamily="34" charset="0"/>
              </a:rPr>
              <a:t> or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Read Locks.</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These allow other transactions to read (but not update) a locked object.</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should place S Lock on a record, when it will only read(but not update) that record.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Placing a S Lock on a record prevents other users from placing exclusive lock on it.</a:t>
            </a:r>
          </a:p>
          <a:p>
            <a:pPr marL="0" indent="0" algn="just">
              <a:spcBef>
                <a:spcPts val="300"/>
              </a:spcBef>
              <a:buClr>
                <a:srgbClr val="C00000"/>
              </a:buClr>
              <a:buNone/>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3. Exclusive Locks:</a:t>
            </a:r>
            <a:r>
              <a:rPr lang="en-US" sz="2400" dirty="0">
                <a:latin typeface="Cambria" panose="02040503050406030204" pitchFamily="18" charset="0"/>
                <a:ea typeface="Cambria" panose="02040503050406030204" pitchFamily="18" charset="0"/>
                <a:cs typeface="Calibri" panose="020F0502020204030204" pitchFamily="34" charset="0"/>
              </a:rPr>
              <a:t> These are also called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X Locks</a:t>
            </a:r>
            <a:r>
              <a:rPr lang="en-US" sz="2400" dirty="0">
                <a:latin typeface="Cambria" panose="02040503050406030204" pitchFamily="18" charset="0"/>
                <a:ea typeface="Cambria" panose="02040503050406030204" pitchFamily="18" charset="0"/>
                <a:cs typeface="Calibri" panose="020F0502020204030204" pitchFamily="34" charset="0"/>
              </a:rPr>
              <a:t> or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Write  Locks</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These prevent other transactions to read (and therefore update) a locked object.</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should place X Lock on a record, when it is about to update that record.</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4637A215-3BDC-91C5-80A9-498A675D1744}"/>
              </a:ext>
            </a:extLst>
          </p:cNvPr>
          <p:cNvSpPr>
            <a:spLocks noGrp="1"/>
          </p:cNvSpPr>
          <p:nvPr>
            <p:ph type="ftr" sz="quarter" idx="11"/>
          </p:nvPr>
        </p:nvSpPr>
        <p:spPr>
          <a:xfrm>
            <a:off x="2555776" y="652534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B1D6F01-C652-8C5F-580E-34555F42923F}"/>
              </a:ext>
            </a:extLst>
          </p:cNvPr>
          <p:cNvSpPr>
            <a:spLocks noGrp="1"/>
          </p:cNvSpPr>
          <p:nvPr>
            <p:ph type="sldNum" sz="quarter" idx="12"/>
          </p:nvPr>
        </p:nvSpPr>
        <p:spPr>
          <a:xfrm>
            <a:off x="8532440" y="6356176"/>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79295926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7074C-2C1C-C3CF-0551-64819DC76ED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003404B4-15D7-ACC7-E7D9-BBE2481595A4}"/>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Concurrency Control Methods</a:t>
            </a:r>
          </a:p>
        </p:txBody>
      </p:sp>
      <p:sp>
        <p:nvSpPr>
          <p:cNvPr id="2" name="Content Placeholder 1">
            <a:extLst>
              <a:ext uri="{FF2B5EF4-FFF2-40B4-BE49-F238E27FC236}">
                <a16:creationId xmlns:a16="http://schemas.microsoft.com/office/drawing/2014/main" id="{AE283226-D843-D38B-6D42-0CDFAE14F27E}"/>
              </a:ext>
            </a:extLst>
          </p:cNvPr>
          <p:cNvSpPr>
            <a:spLocks noGrp="1"/>
          </p:cNvSpPr>
          <p:nvPr>
            <p:ph sz="quarter" idx="1"/>
          </p:nvPr>
        </p:nvSpPr>
        <p:spPr>
          <a:xfrm>
            <a:off x="328042" y="692696"/>
            <a:ext cx="8492430" cy="4464496"/>
          </a:xfrm>
        </p:spPr>
        <p:txBody>
          <a:bodyPr/>
          <a:lstStyle/>
          <a:p>
            <a:pPr marL="0" indent="0" algn="just">
              <a:spcBef>
                <a:spcPts val="300"/>
              </a:spcBef>
              <a:buClr>
                <a:srgbClr val="C00000"/>
              </a:buClr>
              <a:buNone/>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Locking</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effects of the write operation will be made visible to other transactions only after X lock has been released.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transaction may request to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upgrade</a:t>
            </a:r>
            <a:r>
              <a:rPr lang="en-US" sz="2400" dirty="0">
                <a:latin typeface="Cambria" panose="02040503050406030204" pitchFamily="18" charset="0"/>
                <a:ea typeface="Cambria" panose="02040503050406030204" pitchFamily="18" charset="0"/>
                <a:cs typeface="Calibri" panose="020F0502020204030204" pitchFamily="34" charset="0"/>
              </a:rPr>
              <a:t> a shared lock or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downgrade</a:t>
            </a:r>
            <a:r>
              <a:rPr lang="en-US" sz="2400" dirty="0">
                <a:latin typeface="Cambria" panose="02040503050406030204" pitchFamily="18" charset="0"/>
                <a:ea typeface="Cambria" panose="02040503050406030204" pitchFamily="18" charset="0"/>
                <a:cs typeface="Calibri" panose="020F0502020204030204" pitchFamily="34" charset="0"/>
              </a:rPr>
              <a:t> an exclusive lock.</a:t>
            </a:r>
          </a:p>
          <a:p>
            <a:pPr marL="347663" indent="-347663" algn="just">
              <a:spcBef>
                <a:spcPts val="300"/>
              </a:spcBef>
              <a:buClr>
                <a:srgbClr val="C00000"/>
              </a:buClr>
              <a:defRPr/>
            </a:pPr>
            <a:r>
              <a:rPr lang="en-US" sz="2400" b="1" dirty="0">
                <a:solidFill>
                  <a:srgbClr val="0033CC"/>
                </a:solidFill>
                <a:latin typeface="Cambria" panose="02040503050406030204" pitchFamily="18" charset="0"/>
                <a:ea typeface="Cambria" panose="02040503050406030204" pitchFamily="18" charset="0"/>
                <a:cs typeface="Calibri" panose="020F0502020204030204" pitchFamily="34" charset="0"/>
              </a:rPr>
              <a:t>Lock compatibility matrix</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FF550D7C-5948-2BFA-3A08-FC55846B1FF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70299CF-C16E-826E-4616-C48AAD757A21}"/>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graphicFrame>
        <p:nvGraphicFramePr>
          <p:cNvPr id="6" name="Table 5">
            <a:extLst>
              <a:ext uri="{FF2B5EF4-FFF2-40B4-BE49-F238E27FC236}">
                <a16:creationId xmlns:a16="http://schemas.microsoft.com/office/drawing/2014/main" id="{94030D18-A3F2-C20C-1800-CD8497EBFBD3}"/>
              </a:ext>
            </a:extLst>
          </p:cNvPr>
          <p:cNvGraphicFramePr>
            <a:graphicFrameLocks noGrp="1"/>
          </p:cNvGraphicFramePr>
          <p:nvPr>
            <p:extLst>
              <p:ext uri="{D42A27DB-BD31-4B8C-83A1-F6EECF244321}">
                <p14:modId xmlns:p14="http://schemas.microsoft.com/office/powerpoint/2010/main" val="3879178516"/>
              </p:ext>
            </p:extLst>
          </p:nvPr>
        </p:nvGraphicFramePr>
        <p:xfrm>
          <a:off x="1943572" y="3200752"/>
          <a:ext cx="4608512" cy="23164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268910168"/>
                    </a:ext>
                  </a:extLst>
                </a:gridCol>
                <a:gridCol w="1152128">
                  <a:extLst>
                    <a:ext uri="{9D8B030D-6E8A-4147-A177-3AD203B41FA5}">
                      <a16:colId xmlns:a16="http://schemas.microsoft.com/office/drawing/2014/main" val="503700370"/>
                    </a:ext>
                  </a:extLst>
                </a:gridCol>
                <a:gridCol w="1152128">
                  <a:extLst>
                    <a:ext uri="{9D8B030D-6E8A-4147-A177-3AD203B41FA5}">
                      <a16:colId xmlns:a16="http://schemas.microsoft.com/office/drawing/2014/main" val="3019229153"/>
                    </a:ext>
                  </a:extLst>
                </a:gridCol>
                <a:gridCol w="1152128">
                  <a:extLst>
                    <a:ext uri="{9D8B030D-6E8A-4147-A177-3AD203B41FA5}">
                      <a16:colId xmlns:a16="http://schemas.microsoft.com/office/drawing/2014/main" val="939992728"/>
                    </a:ext>
                  </a:extLst>
                </a:gridCol>
              </a:tblGrid>
              <a:tr h="370840">
                <a:tc>
                  <a:txBody>
                    <a:bodyPr/>
                    <a:lstStyle/>
                    <a:p>
                      <a:pPr algn="ctr"/>
                      <a:r>
                        <a:rPr lang="en-US" sz="3200" dirty="0">
                          <a:solidFill>
                            <a:srgbClr val="FFFF00"/>
                          </a:solidFill>
                          <a:latin typeface="Cambria" panose="02040503050406030204" pitchFamily="18" charset="0"/>
                          <a:ea typeface="Cambria" panose="02040503050406030204" pitchFamily="18" charset="0"/>
                        </a:rPr>
                        <a:t>-</a:t>
                      </a:r>
                    </a:p>
                  </a:txBody>
                  <a:tcPr/>
                </a:tc>
                <a:tc>
                  <a:txBody>
                    <a:bodyPr/>
                    <a:lstStyle/>
                    <a:p>
                      <a:pPr algn="ctr"/>
                      <a:r>
                        <a:rPr lang="en-US" sz="3200" dirty="0">
                          <a:solidFill>
                            <a:srgbClr val="FFFF00"/>
                          </a:solidFill>
                          <a:latin typeface="Cambria" panose="02040503050406030204" pitchFamily="18" charset="0"/>
                          <a:ea typeface="Cambria" panose="02040503050406030204" pitchFamily="18" charset="0"/>
                        </a:rPr>
                        <a:t>S</a:t>
                      </a:r>
                    </a:p>
                  </a:txBody>
                  <a:tcPr/>
                </a:tc>
                <a:tc>
                  <a:txBody>
                    <a:bodyPr/>
                    <a:lstStyle/>
                    <a:p>
                      <a:pPr algn="ctr"/>
                      <a:r>
                        <a:rPr lang="en-US" sz="3200" dirty="0">
                          <a:solidFill>
                            <a:srgbClr val="FFFF00"/>
                          </a:solidFill>
                          <a:latin typeface="Cambria" panose="02040503050406030204" pitchFamily="18" charset="0"/>
                          <a:ea typeface="Cambria" panose="02040503050406030204" pitchFamily="18" charset="0"/>
                        </a:rPr>
                        <a:t>X</a:t>
                      </a:r>
                    </a:p>
                  </a:txBody>
                  <a:tcPr/>
                </a:tc>
                <a:tc>
                  <a:txBody>
                    <a:bodyPr/>
                    <a:lstStyle/>
                    <a:p>
                      <a:pPr algn="ctr"/>
                      <a:r>
                        <a:rPr lang="en-US" sz="3200" dirty="0">
                          <a:solidFill>
                            <a:srgbClr val="FFFF00"/>
                          </a:solidFill>
                          <a:latin typeface="Cambria" panose="02040503050406030204" pitchFamily="18" charset="0"/>
                          <a:ea typeface="Cambria" panose="02040503050406030204" pitchFamily="18" charset="0"/>
                        </a:rPr>
                        <a:t>-</a:t>
                      </a:r>
                    </a:p>
                  </a:txBody>
                  <a:tcPr/>
                </a:tc>
                <a:extLst>
                  <a:ext uri="{0D108BD9-81ED-4DB2-BD59-A6C34878D82A}">
                    <a16:rowId xmlns:a16="http://schemas.microsoft.com/office/drawing/2014/main" val="2028948462"/>
                  </a:ext>
                </a:extLst>
              </a:tr>
              <a:tr h="370840">
                <a:tc>
                  <a:txBody>
                    <a:bodyPr/>
                    <a:lstStyle/>
                    <a:p>
                      <a:pPr algn="ctr"/>
                      <a:r>
                        <a:rPr lang="en-US" sz="3200" dirty="0">
                          <a:solidFill>
                            <a:srgbClr val="0033CC"/>
                          </a:solidFill>
                          <a:latin typeface="Cambria" panose="02040503050406030204" pitchFamily="18" charset="0"/>
                          <a:ea typeface="Cambria" panose="02040503050406030204" pitchFamily="18" charset="0"/>
                        </a:rPr>
                        <a:t>S</a:t>
                      </a:r>
                    </a:p>
                  </a:txBody>
                  <a:tcPr/>
                </a:tc>
                <a:tc>
                  <a:txBody>
                    <a:bodyPr/>
                    <a:lstStyle/>
                    <a:p>
                      <a:pPr algn="ctr"/>
                      <a:r>
                        <a:rPr lang="en-US" sz="3200" dirty="0">
                          <a:latin typeface="Cambria" panose="02040503050406030204" pitchFamily="18" charset="0"/>
                          <a:ea typeface="Cambria" panose="02040503050406030204" pitchFamily="18" charset="0"/>
                        </a:rPr>
                        <a:t>Y</a:t>
                      </a:r>
                    </a:p>
                  </a:txBody>
                  <a:tcPr/>
                </a:tc>
                <a:tc>
                  <a:txBody>
                    <a:bodyPr/>
                    <a:lstStyle/>
                    <a:p>
                      <a:pPr algn="ctr"/>
                      <a:r>
                        <a:rPr lang="en-US" sz="3200" dirty="0">
                          <a:latin typeface="Cambria" panose="02040503050406030204" pitchFamily="18" charset="0"/>
                          <a:ea typeface="Cambria" panose="02040503050406030204" pitchFamily="18" charset="0"/>
                        </a:rPr>
                        <a:t>N</a:t>
                      </a:r>
                    </a:p>
                  </a:txBody>
                  <a:tcPr/>
                </a:tc>
                <a:tc>
                  <a:txBody>
                    <a:bodyPr/>
                    <a:lstStyle/>
                    <a:p>
                      <a:pPr algn="ctr"/>
                      <a:r>
                        <a:rPr lang="en-US" sz="3200" dirty="0">
                          <a:latin typeface="Cambria" panose="02040503050406030204" pitchFamily="18" charset="0"/>
                          <a:ea typeface="Cambria" panose="02040503050406030204" pitchFamily="18" charset="0"/>
                        </a:rPr>
                        <a:t>Y</a:t>
                      </a:r>
                    </a:p>
                  </a:txBody>
                  <a:tcPr/>
                </a:tc>
                <a:extLst>
                  <a:ext uri="{0D108BD9-81ED-4DB2-BD59-A6C34878D82A}">
                    <a16:rowId xmlns:a16="http://schemas.microsoft.com/office/drawing/2014/main" val="751995204"/>
                  </a:ext>
                </a:extLst>
              </a:tr>
              <a:tr h="370840">
                <a:tc>
                  <a:txBody>
                    <a:bodyPr/>
                    <a:lstStyle/>
                    <a:p>
                      <a:pPr algn="ctr"/>
                      <a:r>
                        <a:rPr lang="en-US" sz="3200" dirty="0">
                          <a:solidFill>
                            <a:srgbClr val="0033CC"/>
                          </a:solidFill>
                          <a:latin typeface="Cambria" panose="02040503050406030204" pitchFamily="18" charset="0"/>
                          <a:ea typeface="Cambria" panose="02040503050406030204" pitchFamily="18" charset="0"/>
                        </a:rPr>
                        <a:t>X</a:t>
                      </a:r>
                    </a:p>
                  </a:txBody>
                  <a:tcPr/>
                </a:tc>
                <a:tc>
                  <a:txBody>
                    <a:bodyPr/>
                    <a:lstStyle/>
                    <a:p>
                      <a:pPr algn="ctr"/>
                      <a:r>
                        <a:rPr lang="en-US" sz="3200" dirty="0">
                          <a:latin typeface="Cambria" panose="02040503050406030204" pitchFamily="18" charset="0"/>
                          <a:ea typeface="Cambria" panose="02040503050406030204" pitchFamily="18" charset="0"/>
                        </a:rPr>
                        <a:t>N</a:t>
                      </a:r>
                    </a:p>
                  </a:txBody>
                  <a:tcPr/>
                </a:tc>
                <a:tc>
                  <a:txBody>
                    <a:bodyPr/>
                    <a:lstStyle/>
                    <a:p>
                      <a:pPr algn="ctr"/>
                      <a:r>
                        <a:rPr lang="en-US" sz="3200" dirty="0">
                          <a:latin typeface="Cambria" panose="02040503050406030204" pitchFamily="18" charset="0"/>
                          <a:ea typeface="Cambria" panose="02040503050406030204" pitchFamily="18" charset="0"/>
                        </a:rPr>
                        <a:t>N</a:t>
                      </a:r>
                    </a:p>
                  </a:txBody>
                  <a:tcPr/>
                </a:tc>
                <a:tc>
                  <a:txBody>
                    <a:bodyPr/>
                    <a:lstStyle/>
                    <a:p>
                      <a:pPr algn="ctr"/>
                      <a:r>
                        <a:rPr lang="en-US" sz="3200" dirty="0">
                          <a:latin typeface="Cambria" panose="02040503050406030204" pitchFamily="18" charset="0"/>
                          <a:ea typeface="Cambria" panose="02040503050406030204" pitchFamily="18" charset="0"/>
                        </a:rPr>
                        <a:t>Y</a:t>
                      </a:r>
                    </a:p>
                  </a:txBody>
                  <a:tcPr/>
                </a:tc>
                <a:extLst>
                  <a:ext uri="{0D108BD9-81ED-4DB2-BD59-A6C34878D82A}">
                    <a16:rowId xmlns:a16="http://schemas.microsoft.com/office/drawing/2014/main" val="246280262"/>
                  </a:ext>
                </a:extLst>
              </a:tr>
              <a:tr h="370840">
                <a:tc>
                  <a:txBody>
                    <a:bodyPr/>
                    <a:lstStyle/>
                    <a:p>
                      <a:pPr algn="ctr"/>
                      <a:r>
                        <a:rPr lang="en-US" sz="3200" dirty="0">
                          <a:solidFill>
                            <a:srgbClr val="0033CC"/>
                          </a:solidFill>
                          <a:latin typeface="Cambria" panose="02040503050406030204" pitchFamily="18" charset="0"/>
                          <a:ea typeface="Cambria" panose="02040503050406030204" pitchFamily="18" charset="0"/>
                        </a:rPr>
                        <a:t>-</a:t>
                      </a:r>
                    </a:p>
                  </a:txBody>
                  <a:tcPr/>
                </a:tc>
                <a:tc>
                  <a:txBody>
                    <a:bodyPr/>
                    <a:lstStyle/>
                    <a:p>
                      <a:pPr algn="ctr"/>
                      <a:r>
                        <a:rPr lang="en-US" sz="3200" dirty="0">
                          <a:latin typeface="Cambria" panose="02040503050406030204" pitchFamily="18" charset="0"/>
                          <a:ea typeface="Cambria" panose="02040503050406030204" pitchFamily="18" charset="0"/>
                        </a:rPr>
                        <a:t>Y</a:t>
                      </a:r>
                    </a:p>
                  </a:txBody>
                  <a:tcPr/>
                </a:tc>
                <a:tc>
                  <a:txBody>
                    <a:bodyPr/>
                    <a:lstStyle/>
                    <a:p>
                      <a:pPr algn="ctr"/>
                      <a:r>
                        <a:rPr lang="en-US" sz="3200" dirty="0">
                          <a:latin typeface="Cambria" panose="02040503050406030204" pitchFamily="18" charset="0"/>
                          <a:ea typeface="Cambria" panose="02040503050406030204" pitchFamily="18" charset="0"/>
                        </a:rPr>
                        <a:t>Y</a:t>
                      </a:r>
                    </a:p>
                  </a:txBody>
                  <a:tcPr/>
                </a:tc>
                <a:tc>
                  <a:txBody>
                    <a:bodyPr/>
                    <a:lstStyle/>
                    <a:p>
                      <a:pPr algn="ctr"/>
                      <a:r>
                        <a:rPr lang="en-US" sz="3200" dirty="0">
                          <a:latin typeface="Cambria" panose="02040503050406030204" pitchFamily="18" charset="0"/>
                          <a:ea typeface="Cambria" panose="02040503050406030204" pitchFamily="18" charset="0"/>
                        </a:rPr>
                        <a:t>Y</a:t>
                      </a:r>
                    </a:p>
                  </a:txBody>
                  <a:tcPr/>
                </a:tc>
                <a:extLst>
                  <a:ext uri="{0D108BD9-81ED-4DB2-BD59-A6C34878D82A}">
                    <a16:rowId xmlns:a16="http://schemas.microsoft.com/office/drawing/2014/main" val="1597810169"/>
                  </a:ext>
                </a:extLst>
              </a:tr>
            </a:tbl>
          </a:graphicData>
        </a:graphic>
      </p:graphicFrame>
    </p:spTree>
    <p:extLst>
      <p:ext uri="{BB962C8B-B14F-4D97-AF65-F5344CB8AC3E}">
        <p14:creationId xmlns:p14="http://schemas.microsoft.com/office/powerpoint/2010/main" val="87407246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77BDE-7DFA-D838-45AD-92C8B059716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71FFED1-5C1D-6F25-F64D-7C7EB674D6E3}"/>
              </a:ext>
            </a:extLst>
          </p:cNvPr>
          <p:cNvSpPr>
            <a:spLocks noGrp="1" noChangeArrowheads="1"/>
          </p:cNvSpPr>
          <p:nvPr>
            <p:ph type="title"/>
          </p:nvPr>
        </p:nvSpPr>
        <p:spPr>
          <a:xfrm>
            <a:off x="323850" y="44624"/>
            <a:ext cx="7848600"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1. Lost Update Problem</a:t>
            </a:r>
          </a:p>
        </p:txBody>
      </p:sp>
      <p:pic>
        <p:nvPicPr>
          <p:cNvPr id="6" name="Content Placeholder 3">
            <a:extLst>
              <a:ext uri="{FF2B5EF4-FFF2-40B4-BE49-F238E27FC236}">
                <a16:creationId xmlns:a16="http://schemas.microsoft.com/office/drawing/2014/main" id="{963AC6C5-EBC0-5B3E-DD0A-517107B2992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5536" y="545274"/>
            <a:ext cx="8217220" cy="2523686"/>
          </a:xfrm>
        </p:spPr>
      </p:pic>
      <p:pic>
        <p:nvPicPr>
          <p:cNvPr id="8" name="Picture 7"/>
          <p:cNvPicPr>
            <a:picLocks noChangeAspect="1"/>
          </p:cNvPicPr>
          <p:nvPr/>
        </p:nvPicPr>
        <p:blipFill>
          <a:blip r:embed="rId3"/>
          <a:stretch>
            <a:fillRect/>
          </a:stretch>
        </p:blipFill>
        <p:spPr>
          <a:xfrm>
            <a:off x="395536" y="3501008"/>
            <a:ext cx="8217221" cy="3180200"/>
          </a:xfrm>
          <a:prstGeom prst="rect">
            <a:avLst/>
          </a:prstGeom>
        </p:spPr>
      </p:pic>
      <p:sp>
        <p:nvSpPr>
          <p:cNvPr id="9" name="Rectangle 2">
            <a:extLst>
              <a:ext uri="{FF2B5EF4-FFF2-40B4-BE49-F238E27FC236}">
                <a16:creationId xmlns:a16="http://schemas.microsoft.com/office/drawing/2014/main" id="{C71FFED1-5C1D-6F25-F64D-7C7EB674D6E3}"/>
              </a:ext>
            </a:extLst>
          </p:cNvPr>
          <p:cNvSpPr txBox="1">
            <a:spLocks noChangeArrowheads="1"/>
          </p:cNvSpPr>
          <p:nvPr/>
        </p:nvSpPr>
        <p:spPr bwMode="auto">
          <a:xfrm>
            <a:off x="313470" y="3019987"/>
            <a:ext cx="7848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Preventing Lost Update Problem</a:t>
            </a:r>
          </a:p>
        </p:txBody>
      </p:sp>
    </p:spTree>
    <p:extLst>
      <p:ext uri="{BB962C8B-B14F-4D97-AF65-F5344CB8AC3E}">
        <p14:creationId xmlns:p14="http://schemas.microsoft.com/office/powerpoint/2010/main" val="340857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EB385-1983-5DAE-7FE7-20D3DF6F50AA}"/>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35F67C0-29A0-5EA2-F2B5-D96A3C74A38B}"/>
              </a:ext>
            </a:extLst>
          </p:cNvPr>
          <p:cNvSpPr>
            <a:spLocks noGrp="1" noChangeArrowheads="1"/>
          </p:cNvSpPr>
          <p:nvPr>
            <p:ph type="title"/>
          </p:nvPr>
        </p:nvSpPr>
        <p:spPr>
          <a:xfrm>
            <a:off x="323528" y="116632"/>
            <a:ext cx="7848600"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2. Preventing Uncommitted Dependency Problem</a:t>
            </a:r>
          </a:p>
        </p:txBody>
      </p:sp>
      <p:sp>
        <p:nvSpPr>
          <p:cNvPr id="3" name="Footer Placeholder 2">
            <a:extLst>
              <a:ext uri="{FF2B5EF4-FFF2-40B4-BE49-F238E27FC236}">
                <a16:creationId xmlns:a16="http://schemas.microsoft.com/office/drawing/2014/main" id="{7F20D2F5-BFDD-3775-76B3-EA2E2FC86DE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03B2ED3-1223-EA41-1707-BD375560B210}"/>
              </a:ext>
            </a:extLst>
          </p:cNvPr>
          <p:cNvSpPr>
            <a:spLocks noGrp="1"/>
          </p:cNvSpPr>
          <p:nvPr>
            <p:ph type="sldNum" sz="quarter" idx="12"/>
          </p:nvPr>
        </p:nvSpPr>
        <p:spPr>
          <a:xfrm>
            <a:off x="8532440"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7" name="Picture 6">
            <a:extLst>
              <a:ext uri="{FF2B5EF4-FFF2-40B4-BE49-F238E27FC236}">
                <a16:creationId xmlns:a16="http://schemas.microsoft.com/office/drawing/2014/main" id="{40C1553B-3BC1-1645-8231-462B3D653893}"/>
              </a:ext>
            </a:extLst>
          </p:cNvPr>
          <p:cNvPicPr>
            <a:picLocks noChangeAspect="1"/>
          </p:cNvPicPr>
          <p:nvPr/>
        </p:nvPicPr>
        <p:blipFill>
          <a:blip r:embed="rId2"/>
          <a:stretch>
            <a:fillRect/>
          </a:stretch>
        </p:blipFill>
        <p:spPr>
          <a:xfrm>
            <a:off x="335555" y="764704"/>
            <a:ext cx="8583802" cy="3312368"/>
          </a:xfrm>
          <a:prstGeom prst="rect">
            <a:avLst/>
          </a:prstGeom>
        </p:spPr>
      </p:pic>
    </p:spTree>
    <p:extLst>
      <p:ext uri="{BB962C8B-B14F-4D97-AF65-F5344CB8AC3E}">
        <p14:creationId xmlns:p14="http://schemas.microsoft.com/office/powerpoint/2010/main" val="339855935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77BDE-7DFA-D838-45AD-92C8B059716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71FFED1-5C1D-6F25-F64D-7C7EB674D6E3}"/>
              </a:ext>
            </a:extLst>
          </p:cNvPr>
          <p:cNvSpPr>
            <a:spLocks noGrp="1" noChangeArrowheads="1"/>
          </p:cNvSpPr>
          <p:nvPr>
            <p:ph type="title"/>
          </p:nvPr>
        </p:nvSpPr>
        <p:spPr>
          <a:xfrm>
            <a:off x="251520" y="231304"/>
            <a:ext cx="7848600"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3. Preventing Inconsistent Analysis/Retrievals</a:t>
            </a:r>
          </a:p>
        </p:txBody>
      </p:sp>
      <p:pic>
        <p:nvPicPr>
          <p:cNvPr id="2" name="Picture 1"/>
          <p:cNvPicPr>
            <a:picLocks noChangeAspect="1"/>
          </p:cNvPicPr>
          <p:nvPr/>
        </p:nvPicPr>
        <p:blipFill>
          <a:blip r:embed="rId2"/>
          <a:stretch>
            <a:fillRect/>
          </a:stretch>
        </p:blipFill>
        <p:spPr>
          <a:xfrm>
            <a:off x="539552" y="774667"/>
            <a:ext cx="8159350" cy="5738083"/>
          </a:xfrm>
          <a:prstGeom prst="rect">
            <a:avLst/>
          </a:prstGeom>
        </p:spPr>
      </p:pic>
    </p:spTree>
    <p:extLst>
      <p:ext uri="{BB962C8B-B14F-4D97-AF65-F5344CB8AC3E}">
        <p14:creationId xmlns:p14="http://schemas.microsoft.com/office/powerpoint/2010/main" val="325759690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EB90-5DF8-C5C0-9A1A-55E5913FEC2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E4E4130-4F54-9F75-D8FB-4959F51388A2}"/>
              </a:ext>
            </a:extLst>
          </p:cNvPr>
          <p:cNvSpPr>
            <a:spLocks noGrp="1" noChangeArrowheads="1"/>
          </p:cNvSpPr>
          <p:nvPr>
            <p:ph type="title"/>
          </p:nvPr>
        </p:nvSpPr>
        <p:spPr>
          <a:xfrm>
            <a:off x="519468" y="188640"/>
            <a:ext cx="7848600" cy="432048"/>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Incorrect Locking Schedule</a:t>
            </a:r>
            <a:endParaRPr lang="en-US" altLang="en-US" sz="2800" b="1" u="sng" dirty="0">
              <a:solidFill>
                <a:schemeClr val="tx1"/>
              </a:solidFill>
              <a:latin typeface="Cambria" panose="02040503050406030204" pitchFamily="18" charset="0"/>
              <a:ea typeface="Cambria" panose="02040503050406030204" pitchFamily="18" charset="0"/>
            </a:endParaRPr>
          </a:p>
        </p:txBody>
      </p:sp>
      <p:pic>
        <p:nvPicPr>
          <p:cNvPr id="24581" name="Picture 5">
            <a:extLst>
              <a:ext uri="{FF2B5EF4-FFF2-40B4-BE49-F238E27FC236}">
                <a16:creationId xmlns:a16="http://schemas.microsoft.com/office/drawing/2014/main" id="{B11AB22F-2098-7AF3-6525-0E1932F77D8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7544" y="548680"/>
            <a:ext cx="7714437"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1">
            <a:extLst>
              <a:ext uri="{FF2B5EF4-FFF2-40B4-BE49-F238E27FC236}">
                <a16:creationId xmlns:a16="http://schemas.microsoft.com/office/drawing/2014/main" id="{1284BC51-D906-2CBC-08FE-E93C8049EF3E}"/>
              </a:ext>
            </a:extLst>
          </p:cNvPr>
          <p:cNvSpPr>
            <a:spLocks noGrp="1"/>
          </p:cNvSpPr>
          <p:nvPr>
            <p:ph sz="quarter" idx="1"/>
          </p:nvPr>
        </p:nvSpPr>
        <p:spPr>
          <a:xfrm>
            <a:off x="395536" y="5661248"/>
            <a:ext cx="8492430" cy="936104"/>
          </a:xfrm>
        </p:spPr>
        <p:txBody>
          <a:bodyPr/>
          <a:lstStyle/>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The schedule releases locks held by a transaction as soon as the associated read/write is executed – Incorrect results</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NOT a serializable schedule in spite of locking.</a:t>
            </a:r>
          </a:p>
          <a:p>
            <a:pPr marL="347663" indent="-347663" algn="just">
              <a:spcBef>
                <a:spcPts val="300"/>
              </a:spcBef>
              <a:buClr>
                <a:srgbClr val="C00000"/>
              </a:buClr>
              <a:defRPr/>
            </a:pPr>
            <a:endParaRPr lang="en-US" sz="20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97937685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E164B-326A-C0A0-E3F4-530A89E68C6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A3CFC68-A3E5-0A9C-18B0-A26F31C45813}"/>
              </a:ext>
            </a:extLst>
          </p:cNvPr>
          <p:cNvSpPr>
            <a:spLocks noGrp="1" noChangeArrowheads="1"/>
          </p:cNvSpPr>
          <p:nvPr>
            <p:ph type="title"/>
          </p:nvPr>
        </p:nvSpPr>
        <p:spPr>
          <a:xfrm>
            <a:off x="251520" y="275951"/>
            <a:ext cx="7848600" cy="432048"/>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Incorrect Locking Schedule</a:t>
            </a:r>
            <a:endParaRPr lang="en-US" altLang="en-US" sz="2800" b="1" u="sng" dirty="0">
              <a:solidFill>
                <a:schemeClr val="tx1"/>
              </a:solidFill>
              <a:latin typeface="Cambria" panose="02040503050406030204" pitchFamily="18" charset="0"/>
              <a:ea typeface="Cambria" panose="02040503050406030204" pitchFamily="18" charset="0"/>
            </a:endParaRPr>
          </a:p>
        </p:txBody>
      </p:sp>
      <p:sp>
        <p:nvSpPr>
          <p:cNvPr id="3" name="Content Placeholder 1">
            <a:extLst>
              <a:ext uri="{FF2B5EF4-FFF2-40B4-BE49-F238E27FC236}">
                <a16:creationId xmlns:a16="http://schemas.microsoft.com/office/drawing/2014/main" id="{98FEB2C4-4D2F-A4AF-9309-2658FE4FFB6D}"/>
              </a:ext>
            </a:extLst>
          </p:cNvPr>
          <p:cNvSpPr>
            <a:spLocks noGrp="1"/>
          </p:cNvSpPr>
          <p:nvPr>
            <p:ph sz="quarter" idx="1"/>
          </p:nvPr>
        </p:nvSpPr>
        <p:spPr>
          <a:xfrm>
            <a:off x="107504" y="5517232"/>
            <a:ext cx="8492430" cy="936104"/>
          </a:xfrm>
        </p:spPr>
        <p:txBody>
          <a:bodyPr/>
          <a:lstStyle/>
          <a:p>
            <a:pPr marL="0" indent="0" algn="just">
              <a:spcBef>
                <a:spcPts val="300"/>
              </a:spcBef>
              <a:buClr>
                <a:srgbClr val="C00000"/>
              </a:buClr>
              <a:buNone/>
              <a:defRPr/>
            </a:pPr>
            <a:r>
              <a:rPr lang="en-US" sz="2000" dirty="0">
                <a:latin typeface="Cambria" panose="02040503050406030204" pitchFamily="18" charset="0"/>
                <a:ea typeface="Cambria" panose="02040503050406030204" pitchFamily="18" charset="0"/>
                <a:cs typeface="Calibri" panose="020F0502020204030204" pitchFamily="34" charset="0"/>
              </a:rPr>
              <a:t>      the associated read/write is executed – </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Incorrect results</a:t>
            </a:r>
          </a:p>
          <a:p>
            <a:pPr marL="347663" indent="-347663" algn="just">
              <a:spcBef>
                <a:spcPts val="300"/>
              </a:spcBef>
              <a:buClr>
                <a:srgbClr val="C00000"/>
              </a:buClr>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NOT a serializable schedule in spite of locking.</a:t>
            </a:r>
          </a:p>
          <a:p>
            <a:pPr marL="347663" indent="-347663" algn="just">
              <a:spcBef>
                <a:spcPts val="300"/>
              </a:spcBef>
              <a:buClr>
                <a:srgbClr val="C00000"/>
              </a:buClr>
              <a:defRPr/>
            </a:pPr>
            <a:endParaRPr lang="en-US" sz="2000" dirty="0">
              <a:latin typeface="Cambria" panose="02040503050406030204" pitchFamily="18" charset="0"/>
              <a:ea typeface="Cambria" panose="02040503050406030204" pitchFamily="18" charset="0"/>
              <a:cs typeface="Calibri" panose="020F0502020204030204" pitchFamily="34" charset="0"/>
            </a:endParaRPr>
          </a:p>
        </p:txBody>
      </p:sp>
      <p:pic>
        <p:nvPicPr>
          <p:cNvPr id="4" name="Picture 3">
            <a:extLst>
              <a:ext uri="{FF2B5EF4-FFF2-40B4-BE49-F238E27FC236}">
                <a16:creationId xmlns:a16="http://schemas.microsoft.com/office/drawing/2014/main" id="{58436D52-E6CA-D23E-9631-48350CF117F8}"/>
              </a:ext>
            </a:extLst>
          </p:cNvPr>
          <p:cNvPicPr>
            <a:picLocks noChangeAspect="1"/>
          </p:cNvPicPr>
          <p:nvPr/>
        </p:nvPicPr>
        <p:blipFill>
          <a:blip r:embed="rId2"/>
          <a:stretch>
            <a:fillRect/>
          </a:stretch>
        </p:blipFill>
        <p:spPr>
          <a:xfrm>
            <a:off x="3491880" y="692696"/>
            <a:ext cx="5531663" cy="4817454"/>
          </a:xfrm>
          <a:prstGeom prst="rect">
            <a:avLst/>
          </a:prstGeom>
        </p:spPr>
      </p:pic>
      <p:sp>
        <p:nvSpPr>
          <p:cNvPr id="5" name="Content Placeholder 1">
            <a:extLst>
              <a:ext uri="{FF2B5EF4-FFF2-40B4-BE49-F238E27FC236}">
                <a16:creationId xmlns:a16="http://schemas.microsoft.com/office/drawing/2014/main" id="{635B9095-9EB2-69B2-E3E4-B17AC0D7DF8C}"/>
              </a:ext>
            </a:extLst>
          </p:cNvPr>
          <p:cNvSpPr txBox="1">
            <a:spLocks/>
          </p:cNvSpPr>
          <p:nvPr/>
        </p:nvSpPr>
        <p:spPr bwMode="auto">
          <a:xfrm>
            <a:off x="120457" y="692696"/>
            <a:ext cx="3227407"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Let </a:t>
            </a: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x</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=100, </a:t>
            </a: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y</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400,</a:t>
            </a:r>
            <a:r>
              <a:rPr lang="en-US" sz="2000" dirty="0">
                <a:latin typeface="Cambria" panose="02040503050406030204" pitchFamily="18" charset="0"/>
                <a:ea typeface="Cambria" panose="02040503050406030204" pitchFamily="18" charset="0"/>
                <a:cs typeface="Calibri" panose="020F0502020204030204" pitchFamily="34" charset="0"/>
              </a:rPr>
              <a:t> the result should be:</a:t>
            </a:r>
          </a:p>
          <a:p>
            <a:pPr marL="347663" indent="-347663" algn="just">
              <a:spcBef>
                <a:spcPts val="300"/>
              </a:spcBef>
              <a:buClr>
                <a:srgbClr val="C00000"/>
              </a:buClr>
              <a:defRPr/>
            </a:pP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x</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220, </a:t>
            </a: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y</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 330,</a:t>
            </a:r>
            <a:r>
              <a:rPr lang="en-US" sz="2000" dirty="0">
                <a:latin typeface="Cambria" panose="02040503050406030204" pitchFamily="18" charset="0"/>
                <a:ea typeface="Cambria" panose="02040503050406030204" pitchFamily="18" charset="0"/>
                <a:cs typeface="Calibri" panose="020F0502020204030204" pitchFamily="34" charset="0"/>
              </a:rPr>
              <a:t> if T9 executes before T10.</a:t>
            </a:r>
          </a:p>
          <a:p>
            <a:pPr marL="347663" indent="-347663" algn="just">
              <a:spcBef>
                <a:spcPts val="300"/>
              </a:spcBef>
              <a:buClr>
                <a:srgbClr val="C00000"/>
              </a:buClr>
              <a:defRPr/>
            </a:pP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x</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 210, </a:t>
            </a: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y</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 340,</a:t>
            </a:r>
            <a:r>
              <a:rPr lang="en-US" sz="2000" dirty="0">
                <a:latin typeface="Cambria" panose="02040503050406030204" pitchFamily="18" charset="0"/>
                <a:ea typeface="Cambria" panose="02040503050406030204" pitchFamily="18" charset="0"/>
                <a:cs typeface="Calibri" panose="020F0502020204030204" pitchFamily="34" charset="0"/>
              </a:rPr>
              <a:t> if T10 executes before T9.</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However, the result of executing schedule S would give:</a:t>
            </a:r>
          </a:p>
          <a:p>
            <a:pPr marL="347663" indent="-347663" algn="just">
              <a:spcBef>
                <a:spcPts val="300"/>
              </a:spcBef>
              <a:buClr>
                <a:srgbClr val="C00000"/>
              </a:buClr>
              <a:defRPr/>
            </a:pP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x</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 220, </a:t>
            </a:r>
            <a:r>
              <a:rPr lang="en-US" sz="2000" dirty="0" err="1">
                <a:solidFill>
                  <a:srgbClr val="FF0000"/>
                </a:solidFill>
                <a:latin typeface="Cambria" panose="02040503050406030204" pitchFamily="18" charset="0"/>
                <a:ea typeface="Cambria" panose="02040503050406030204" pitchFamily="18" charset="0"/>
                <a:cs typeface="Calibri" panose="020F0502020204030204" pitchFamily="34" charset="0"/>
              </a:rPr>
              <a:t>bal</a:t>
            </a:r>
            <a:r>
              <a:rPr lang="en-US" sz="2000" baseline="-25000" dirty="0" err="1">
                <a:solidFill>
                  <a:srgbClr val="FF0000"/>
                </a:solidFill>
                <a:latin typeface="Cambria" panose="02040503050406030204" pitchFamily="18" charset="0"/>
                <a:ea typeface="Cambria" panose="02040503050406030204" pitchFamily="18" charset="0"/>
                <a:cs typeface="Calibri" panose="020F0502020204030204" pitchFamily="34" charset="0"/>
              </a:rPr>
              <a:t>y</a:t>
            </a:r>
            <a:r>
              <a:rPr 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 = 340</a:t>
            </a:r>
            <a:r>
              <a:rPr lang="en-US" sz="20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S is not a serializable schedule.</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The schedule releases locks held by a transaction as soon as</a:t>
            </a:r>
          </a:p>
        </p:txBody>
      </p:sp>
    </p:spTree>
    <p:extLst>
      <p:ext uri="{BB962C8B-B14F-4D97-AF65-F5344CB8AC3E}">
        <p14:creationId xmlns:p14="http://schemas.microsoft.com/office/powerpoint/2010/main" val="180946324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1DF89-543D-7484-1F22-11AB4FF21A2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AE3BB59-05C0-83BF-2E6F-FFE7E63E0527}"/>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Two-phase Locking (2PL)</a:t>
            </a:r>
          </a:p>
        </p:txBody>
      </p:sp>
      <p:sp>
        <p:nvSpPr>
          <p:cNvPr id="2" name="Content Placeholder 1">
            <a:extLst>
              <a:ext uri="{FF2B5EF4-FFF2-40B4-BE49-F238E27FC236}">
                <a16:creationId xmlns:a16="http://schemas.microsoft.com/office/drawing/2014/main" id="{6405C861-316E-B772-FAA3-93B4638C983D}"/>
              </a:ext>
            </a:extLst>
          </p:cNvPr>
          <p:cNvSpPr>
            <a:spLocks noGrp="1"/>
          </p:cNvSpPr>
          <p:nvPr>
            <p:ph sz="quarter" idx="1"/>
          </p:nvPr>
        </p:nvSpPr>
        <p:spPr>
          <a:xfrm>
            <a:off x="328042" y="620688"/>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is a protocol to guarantee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serializability.</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suggests that all locking operations of a transaction should precede the first unlock operation in the transaction.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According to the above protocol, every transaction can be divided into two phases: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growing phase</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shrinking phase.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 the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growing phase,</a:t>
            </a:r>
            <a:r>
              <a:rPr lang="en-US" sz="2400" dirty="0">
                <a:latin typeface="Cambria" panose="02040503050406030204" pitchFamily="18" charset="0"/>
                <a:ea typeface="Cambria" panose="02040503050406030204" pitchFamily="18" charset="0"/>
                <a:cs typeface="Calibri" panose="020F0502020204030204" pitchFamily="34" charset="0"/>
              </a:rPr>
              <a:t> a transaction acquires all the locks needed by it but it cannot release any locks. Once all the locks have been acquired, the transaction is in its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locked point</a:t>
            </a:r>
            <a:r>
              <a:rPr lang="en-US" sz="2400" dirty="0">
                <a:latin typeface="Cambria" panose="02040503050406030204" pitchFamily="18" charset="0"/>
                <a:ea typeface="Cambria" panose="02040503050406030204" pitchFamily="18" charset="0"/>
                <a:cs typeface="Calibri" panose="020F0502020204030204" pitchFamily="34" charset="0"/>
              </a:rPr>
              <a:t> or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locked phase.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 the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shrinking phase,</a:t>
            </a:r>
            <a:r>
              <a:rPr lang="en-US" sz="2400" dirty="0">
                <a:latin typeface="Cambria" panose="02040503050406030204" pitchFamily="18" charset="0"/>
                <a:ea typeface="Cambria" panose="02040503050406030204" pitchFamily="18" charset="0"/>
                <a:cs typeface="Calibri" panose="020F0502020204030204" pitchFamily="34" charset="0"/>
              </a:rPr>
              <a:t> a transaction releases its locks but cannot acquire any new locks.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60A2B8E8-DD99-EA29-24F9-F0BD5EA3BCA8}"/>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E176E57-6669-29BA-2B2D-3D78FDE37F4B}"/>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53277358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2CE41-248E-BC6A-C10B-B0DB02F9F48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0A1F04AD-1874-3C89-3F5D-946D7EEE38E7}"/>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Two-phase Locking (2PL)</a:t>
            </a:r>
          </a:p>
        </p:txBody>
      </p:sp>
      <p:sp>
        <p:nvSpPr>
          <p:cNvPr id="3" name="Footer Placeholder 2">
            <a:extLst>
              <a:ext uri="{FF2B5EF4-FFF2-40B4-BE49-F238E27FC236}">
                <a16:creationId xmlns:a16="http://schemas.microsoft.com/office/drawing/2014/main" id="{E38CB8A0-6CFB-BA5D-C32D-D55A4192AED7}"/>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6A3BF6F7-86AC-CC26-B8FE-1907C9846562}"/>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6" name="Picture 6">
            <a:extLst>
              <a:ext uri="{FF2B5EF4-FFF2-40B4-BE49-F238E27FC236}">
                <a16:creationId xmlns:a16="http://schemas.microsoft.com/office/drawing/2014/main" id="{92F373EB-E89C-78A8-E1A5-D0F6015E9BD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5536" y="836712"/>
            <a:ext cx="8467527" cy="5112568"/>
          </a:xfrm>
          <a:noFill/>
          <a:extLs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18175912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2980F-99A5-A11E-FF6F-EF9B278A1C4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7B5ADFAA-0AE0-9D6A-ABDF-9EBBFEF1057C}"/>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Variations of Two-phase Locking (2PL)</a:t>
            </a:r>
          </a:p>
        </p:txBody>
      </p:sp>
      <p:sp>
        <p:nvSpPr>
          <p:cNvPr id="2" name="Content Placeholder 1">
            <a:extLst>
              <a:ext uri="{FF2B5EF4-FFF2-40B4-BE49-F238E27FC236}">
                <a16:creationId xmlns:a16="http://schemas.microsoft.com/office/drawing/2014/main" id="{CB1D6EC5-BF7D-2E08-E48D-982D65755BAE}"/>
              </a:ext>
            </a:extLst>
          </p:cNvPr>
          <p:cNvSpPr>
            <a:spLocks noGrp="1"/>
          </p:cNvSpPr>
          <p:nvPr>
            <p:ph sz="quarter" idx="1"/>
          </p:nvPr>
        </p:nvSpPr>
        <p:spPr>
          <a:xfrm>
            <a:off x="328042" y="620688"/>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There are a number of variations of two-phase locking (2PL).</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technique described above is known as </a:t>
            </a:r>
            <a:r>
              <a:rPr 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basic 2PL.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variation known as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conservative 2PL</a:t>
            </a:r>
            <a:r>
              <a:rPr lang="en-US" sz="2400" dirty="0">
                <a:latin typeface="Cambria" panose="02040503050406030204" pitchFamily="18" charset="0"/>
                <a:ea typeface="Cambria" panose="02040503050406030204" pitchFamily="18" charset="0"/>
                <a:cs typeface="Calibri" panose="020F0502020204030204" pitchFamily="34" charset="0"/>
              </a:rPr>
              <a:t> (or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static 2PL</a:t>
            </a:r>
            <a:r>
              <a:rPr lang="en-US" sz="2400" dirty="0">
                <a:latin typeface="Cambria" panose="02040503050406030204" pitchFamily="18" charset="0"/>
                <a:ea typeface="Cambria" panose="02040503050406030204" pitchFamily="18" charset="0"/>
                <a:cs typeface="Calibri" panose="020F0502020204030204" pitchFamily="34" charset="0"/>
              </a:rPr>
              <a:t>) requires a transaction to lock all the items it accesses before the transaction begins execution by predeclaring its read-set and write-set. Deadlock free protocol but inefficient.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 practice, the most popular variation of 2PL is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strict 2PL,</a:t>
            </a:r>
            <a:r>
              <a:rPr lang="en-US" sz="2400" dirty="0">
                <a:latin typeface="Cambria" panose="02040503050406030204" pitchFamily="18" charset="0"/>
                <a:ea typeface="Cambria" panose="02040503050406030204" pitchFamily="18" charset="0"/>
                <a:cs typeface="Calibri" panose="020F0502020204030204" pitchFamily="34" charset="0"/>
              </a:rPr>
              <a:t> which guarantees strict schedules. In this variation, a transaction T does not release any of its exclusive (write) locks until after it commits or aborts. Not deadlock free.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more restrictive variation of strict 2PL is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rigorous 2PL,</a:t>
            </a:r>
            <a:r>
              <a:rPr lang="en-US" sz="2400" dirty="0">
                <a:latin typeface="Cambria" panose="02040503050406030204" pitchFamily="18" charset="0"/>
                <a:ea typeface="Cambria" panose="02040503050406030204" pitchFamily="18" charset="0"/>
                <a:cs typeface="Calibri" panose="020F0502020204030204" pitchFamily="34" charset="0"/>
              </a:rPr>
              <a:t> which also guarantees strict schedules. In this variation, a transaction T does not release any of its locks (exclusive or shared) until after it commits or aborts, and so it is easier to implement than strict 2PL.</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F7C24AF-D119-9747-B211-D0EA7BA4CA4D}"/>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5597066-FFA2-6273-176E-CFE8CC5FE807}"/>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82846298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FCA0F-BA12-AD1E-7C98-EDCAAEB4AB1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CFCD410-4B5D-93F6-9BE8-F79DDD769ADE}"/>
              </a:ext>
            </a:extLst>
          </p:cNvPr>
          <p:cNvSpPr>
            <a:spLocks noGrp="1" noChangeArrowheads="1"/>
          </p:cNvSpPr>
          <p:nvPr>
            <p:ph type="title"/>
          </p:nvPr>
        </p:nvSpPr>
        <p:spPr>
          <a:xfrm>
            <a:off x="323528" y="116632"/>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Deadlock</a:t>
            </a:r>
          </a:p>
        </p:txBody>
      </p:sp>
      <p:sp>
        <p:nvSpPr>
          <p:cNvPr id="2" name="Content Placeholder 1">
            <a:extLst>
              <a:ext uri="{FF2B5EF4-FFF2-40B4-BE49-F238E27FC236}">
                <a16:creationId xmlns:a16="http://schemas.microsoft.com/office/drawing/2014/main" id="{9BB3A005-1E8D-B1A3-EB60-A53784A71A22}"/>
              </a:ext>
            </a:extLst>
          </p:cNvPr>
          <p:cNvSpPr>
            <a:spLocks noGrp="1"/>
          </p:cNvSpPr>
          <p:nvPr>
            <p:ph sz="quarter" idx="1"/>
          </p:nvPr>
        </p:nvSpPr>
        <p:spPr>
          <a:xfrm>
            <a:off x="328042" y="548680"/>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Locking does solve the concurrency problems, but leads to another problem called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Deadlock.</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Deadlock is a situation in which two or more transactions have locked a common resource, and each must wait for the other to unlock that resource.</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5" name="Slide Number Placeholder 23">
            <a:extLst>
              <a:ext uri="{FF2B5EF4-FFF2-40B4-BE49-F238E27FC236}">
                <a16:creationId xmlns:a16="http://schemas.microsoft.com/office/drawing/2014/main" id="{EF04F02A-BE93-9284-5C42-D8276C8B92B6}"/>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6" name="Rectangle 2">
            <a:extLst>
              <a:ext uri="{FF2B5EF4-FFF2-40B4-BE49-F238E27FC236}">
                <a16:creationId xmlns:a16="http://schemas.microsoft.com/office/drawing/2014/main" id="{23FD9B6B-58F6-EC4D-A47B-64754DC1D2E2}"/>
              </a:ext>
            </a:extLst>
          </p:cNvPr>
          <p:cNvSpPr txBox="1">
            <a:spLocks noChangeArrowheads="1"/>
          </p:cNvSpPr>
          <p:nvPr/>
        </p:nvSpPr>
        <p:spPr bwMode="auto">
          <a:xfrm>
            <a:off x="214315" y="2639865"/>
            <a:ext cx="8775325" cy="3813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609600" indent="-609600">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Time</a:t>
            </a:r>
            <a:r>
              <a:rPr lang="en-US" altLang="en-US" sz="1600"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altLang="en-US" sz="16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buClr>
                <a:schemeClr val="tx2"/>
              </a:buClr>
              <a:buFontTx/>
              <a:buNone/>
            </a:pPr>
            <a:r>
              <a:rPr lang="en-US" altLang="en-US" sz="2400" b="1" dirty="0">
                <a:latin typeface="Cambria" panose="02040503050406030204" pitchFamily="18" charset="0"/>
                <a:ea typeface="Cambria" panose="02040503050406030204" pitchFamily="18" charset="0"/>
                <a:cs typeface="Calibri" panose="020F0502020204030204" pitchFamily="34" charset="0"/>
              </a:rPr>
              <a:t>	</a:t>
            </a:r>
            <a:r>
              <a:rPr lang="en-US" altLang="en-US" sz="2400" b="1" u="sng" dirty="0">
                <a:solidFill>
                  <a:srgbClr val="0033CC"/>
                </a:solidFill>
                <a:latin typeface="Cambria" panose="02040503050406030204" pitchFamily="18" charset="0"/>
                <a:ea typeface="Cambria" panose="02040503050406030204" pitchFamily="18" charset="0"/>
                <a:cs typeface="Calibri" panose="020F0502020204030204" pitchFamily="34" charset="0"/>
              </a:rPr>
              <a:t>Trans A</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b="1" u="sng" dirty="0">
                <a:solidFill>
                  <a:srgbClr val="0033CC"/>
                </a:solidFill>
                <a:latin typeface="Cambria" panose="02040503050406030204" pitchFamily="18" charset="0"/>
                <a:ea typeface="Cambria" panose="02040503050406030204" pitchFamily="18" charset="0"/>
                <a:cs typeface="Calibri" panose="020F0502020204030204" pitchFamily="34" charset="0"/>
              </a:rPr>
              <a:t>Trans B</a:t>
            </a:r>
          </a:p>
          <a:p>
            <a:pPr marL="609600" indent="-609600">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Lock X	  </a:t>
            </a:r>
            <a:r>
              <a:rPr lang="en-US" altLang="en-US" sz="2000" dirty="0">
                <a:latin typeface="Cambria" panose="02040503050406030204" pitchFamily="18" charset="0"/>
                <a:ea typeface="Cambria" panose="02040503050406030204" pitchFamily="18" charset="0"/>
                <a:cs typeface="Calibri" panose="020F0502020204030204" pitchFamily="34" charset="0"/>
              </a:rPr>
              <a:t>t1</a:t>
            </a: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r>
              <a:rPr lang="en-US" altLang="en-US" sz="2000" dirty="0">
                <a:latin typeface="Cambria" panose="02040503050406030204" pitchFamily="18" charset="0"/>
                <a:ea typeface="Cambria" panose="02040503050406030204" pitchFamily="18" charset="0"/>
                <a:cs typeface="Calibri" panose="020F0502020204030204" pitchFamily="34" charset="0"/>
              </a:rPr>
              <a:t>t2</a:t>
            </a:r>
            <a:r>
              <a:rPr lang="en-US" altLang="en-US" sz="2400" dirty="0">
                <a:latin typeface="Cambria" panose="02040503050406030204" pitchFamily="18" charset="0"/>
                <a:ea typeface="Cambria" panose="02040503050406030204" pitchFamily="18" charset="0"/>
                <a:cs typeface="Calibri" panose="020F0502020204030204" pitchFamily="34" charset="0"/>
              </a:rPr>
              <a:t> 	Lock Y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Request Y</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000" dirty="0">
                <a:latin typeface="Cambria" panose="02040503050406030204" pitchFamily="18" charset="0"/>
                <a:ea typeface="Cambria" panose="02040503050406030204" pitchFamily="18" charset="0"/>
                <a:cs typeface="Calibri" panose="020F0502020204030204" pitchFamily="34" charset="0"/>
              </a:rPr>
              <a:t>t3</a:t>
            </a: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p>
          <a:p>
            <a:pPr marL="609600" indent="-609600">
              <a:lnSpc>
                <a:spcPct val="50000"/>
              </a:lnSpc>
              <a:spcBef>
                <a:spcPts val="1200"/>
              </a:spcBef>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	  </a:t>
            </a:r>
            <a:r>
              <a:rPr lang="en-US" altLang="en-US" sz="2000" dirty="0">
                <a:latin typeface="Cambria" panose="02040503050406030204" pitchFamily="18" charset="0"/>
                <a:ea typeface="Cambria" panose="02040503050406030204" pitchFamily="18" charset="0"/>
                <a:cs typeface="Calibri" panose="020F0502020204030204" pitchFamily="34" charset="0"/>
              </a:rPr>
              <a:t>t4</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Request X</a:t>
            </a: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spcBef>
                <a:spcPts val="1200"/>
              </a:spcBef>
              <a:buClr>
                <a:schemeClr val="tx2"/>
              </a:buClr>
              <a:buFontTx/>
              <a:buNone/>
            </a:pP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Wait for Y</a:t>
            </a:r>
            <a:r>
              <a:rPr lang="en-US" altLang="en-US" sz="2400" dirty="0">
                <a:latin typeface="Cambria" panose="02040503050406030204" pitchFamily="18" charset="0"/>
                <a:ea typeface="Cambria" panose="02040503050406030204" pitchFamily="18" charset="0"/>
                <a:cs typeface="Calibri" panose="020F0502020204030204" pitchFamily="34" charset="0"/>
              </a:rPr>
              <a:t>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Wait for X</a:t>
            </a:r>
            <a:r>
              <a:rPr lang="en-US" altLang="en-US" sz="2400" dirty="0">
                <a:latin typeface="Cambria" panose="02040503050406030204" pitchFamily="18" charset="0"/>
                <a:ea typeface="Cambria" panose="02040503050406030204" pitchFamily="18" charset="0"/>
                <a:cs typeface="Calibri" panose="020F0502020204030204" pitchFamily="34" charset="0"/>
              </a:rPr>
              <a:t> 	</a:t>
            </a:r>
          </a:p>
          <a:p>
            <a:pPr marL="609600" indent="-609600">
              <a:lnSpc>
                <a:spcPct val="50000"/>
              </a:lnSpc>
              <a:spcBef>
                <a:spcPts val="1200"/>
              </a:spcBef>
              <a:buClr>
                <a:schemeClr val="tx2"/>
              </a:buClr>
              <a:buFontTx/>
              <a:buNone/>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Deadlock!</a:t>
            </a:r>
          </a:p>
        </p:txBody>
      </p:sp>
      <p:sp>
        <p:nvSpPr>
          <p:cNvPr id="7" name="Line 5">
            <a:extLst>
              <a:ext uri="{FF2B5EF4-FFF2-40B4-BE49-F238E27FC236}">
                <a16:creationId xmlns:a16="http://schemas.microsoft.com/office/drawing/2014/main" id="{FEBD5C68-8CE7-AE08-7BFB-5B71BD272BE7}"/>
              </a:ext>
            </a:extLst>
          </p:cNvPr>
          <p:cNvSpPr>
            <a:spLocks noChangeShapeType="1"/>
          </p:cNvSpPr>
          <p:nvPr/>
        </p:nvSpPr>
        <p:spPr bwMode="auto">
          <a:xfrm>
            <a:off x="2555776" y="3140968"/>
            <a:ext cx="0" cy="3240360"/>
          </a:xfrm>
          <a:prstGeom prst="line">
            <a:avLst/>
          </a:prstGeom>
          <a:noFill/>
          <a:ln w="381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pic>
        <p:nvPicPr>
          <p:cNvPr id="8" name="Picture 2">
            <a:extLst>
              <a:ext uri="{FF2B5EF4-FFF2-40B4-BE49-F238E27FC236}">
                <a16:creationId xmlns:a16="http://schemas.microsoft.com/office/drawing/2014/main" id="{E91E69F7-E248-7600-5E33-541F09525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3429000"/>
            <a:ext cx="3581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561582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73391-50F9-B975-C113-8E178C23EE6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2145F72-C1D4-F6BD-6644-98159BE175AD}"/>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Deadlock Handling</a:t>
            </a:r>
          </a:p>
        </p:txBody>
      </p:sp>
      <p:sp>
        <p:nvSpPr>
          <p:cNvPr id="2" name="Content Placeholder 1">
            <a:extLst>
              <a:ext uri="{FF2B5EF4-FFF2-40B4-BE49-F238E27FC236}">
                <a16:creationId xmlns:a16="http://schemas.microsoft.com/office/drawing/2014/main" id="{7CBDCFF3-A45E-5588-EDAF-70B0CAAD4BD4}"/>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There are the following techniques for handling deadlock:</a:t>
            </a:r>
          </a:p>
          <a:p>
            <a:pPr marL="274638" lvl="1" indent="0" algn="just">
              <a:spcBef>
                <a:spcPts val="300"/>
              </a:spcBef>
              <a:buClr>
                <a:srgbClr val="C00000"/>
              </a:buClr>
              <a:buNone/>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1. Timeouts</a:t>
            </a:r>
          </a:p>
          <a:p>
            <a:pPr marL="274638" lvl="1" indent="0" algn="just">
              <a:spcBef>
                <a:spcPts val="300"/>
              </a:spcBef>
              <a:buClr>
                <a:srgbClr val="C00000"/>
              </a:buClr>
              <a:buNone/>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2. Deadlock Prevention</a:t>
            </a:r>
          </a:p>
          <a:p>
            <a:pPr marL="274638" lvl="1" indent="0" algn="just">
              <a:spcBef>
                <a:spcPts val="300"/>
              </a:spcBef>
              <a:buClr>
                <a:srgbClr val="C00000"/>
              </a:buClr>
              <a:buNone/>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3. Deadlock Avoidance </a:t>
            </a:r>
          </a:p>
          <a:p>
            <a:pPr marL="274638" lvl="1" indent="0" algn="just">
              <a:spcBef>
                <a:spcPts val="300"/>
              </a:spcBef>
              <a:buClr>
                <a:srgbClr val="C00000"/>
              </a:buClr>
              <a:buNone/>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3. Deadlock detection and recovery </a:t>
            </a:r>
          </a:p>
          <a:p>
            <a:pPr marL="347663" indent="-347663" algn="just">
              <a:spcBef>
                <a:spcPts val="300"/>
              </a:spcBef>
              <a:buClr>
                <a:srgbClr val="C00000"/>
              </a:buClr>
              <a:defRPr/>
            </a:pPr>
            <a:endParaRPr lang="en-US" sz="28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22BD42AC-5013-1327-1A97-264043625FCC}"/>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16801F56-2147-C0ED-5844-279967F54C72}"/>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69269347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49A1B-83E2-C300-24FD-96C79B9FE5A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FE1DC0C-B59C-6BA6-C733-34C1061014E3}"/>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Deadlock Handling</a:t>
            </a:r>
          </a:p>
        </p:txBody>
      </p:sp>
      <p:sp>
        <p:nvSpPr>
          <p:cNvPr id="2" name="Content Placeholder 1">
            <a:extLst>
              <a:ext uri="{FF2B5EF4-FFF2-40B4-BE49-F238E27FC236}">
                <a16:creationId xmlns:a16="http://schemas.microsoft.com/office/drawing/2014/main" id="{086363CD-3FAA-D3FE-0FF2-C09B9D131FBF}"/>
              </a:ext>
            </a:extLst>
          </p:cNvPr>
          <p:cNvSpPr>
            <a:spLocks noGrp="1"/>
          </p:cNvSpPr>
          <p:nvPr>
            <p:ph sz="quarter" idx="1"/>
          </p:nvPr>
        </p:nvSpPr>
        <p:spPr>
          <a:xfrm>
            <a:off x="328042" y="692696"/>
            <a:ext cx="8492430" cy="4464496"/>
          </a:xfrm>
        </p:spPr>
        <p:txBody>
          <a:bodyPr/>
          <a:lstStyle/>
          <a:p>
            <a:pPr marL="0" indent="0" algn="just">
              <a:spcBef>
                <a:spcPts val="300"/>
              </a:spcBef>
              <a:buClr>
                <a:srgbClr val="C00000"/>
              </a:buClr>
              <a:buNone/>
              <a:defRPr/>
            </a:pPr>
            <a:r>
              <a:rPr lang="en-US" sz="2200" b="1" dirty="0">
                <a:solidFill>
                  <a:srgbClr val="0033CC"/>
                </a:solidFill>
                <a:latin typeface="Cambria" panose="02040503050406030204" pitchFamily="18" charset="0"/>
                <a:ea typeface="Cambria" panose="02040503050406030204" pitchFamily="18" charset="0"/>
                <a:cs typeface="Calibri" panose="020F0502020204030204" pitchFamily="34" charset="0"/>
              </a:rPr>
              <a:t>1. Timeouts</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In this approach, a transaction that requests a lock will wait for only a system-defined period of time. If the lock has not been granted within this period, the lock request times out. </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In this case, the DBMS assumes that the transaction may be deadlocked, even though it may not be, and it aborts and automatically restarts the transaction. </a:t>
            </a:r>
          </a:p>
          <a:p>
            <a:pPr marL="0" indent="0" algn="just">
              <a:spcBef>
                <a:spcPts val="300"/>
              </a:spcBef>
              <a:buClr>
                <a:srgbClr val="C00000"/>
              </a:buClr>
              <a:buNone/>
              <a:defRPr/>
            </a:pPr>
            <a:r>
              <a:rPr lang="en-US" sz="2200" b="1" dirty="0">
                <a:solidFill>
                  <a:srgbClr val="0033CC"/>
                </a:solidFill>
                <a:latin typeface="Cambria" panose="02040503050406030204" pitchFamily="18" charset="0"/>
                <a:ea typeface="Cambria" panose="02040503050406030204" pitchFamily="18" charset="0"/>
                <a:cs typeface="Calibri" panose="020F0502020204030204" pitchFamily="34" charset="0"/>
              </a:rPr>
              <a:t>2. Deadlock Avoidance</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A transaction obtains all its locks when it begins, or it waits until all the locks are available </a:t>
            </a: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(conservative 2PL).</a:t>
            </a:r>
            <a:r>
              <a:rPr lang="en-US" sz="2200" dirty="0">
                <a:latin typeface="Cambria" panose="02040503050406030204" pitchFamily="18" charset="0"/>
                <a:ea typeface="Cambria" panose="02040503050406030204" pitchFamily="18" charset="0"/>
                <a:cs typeface="Calibri" panose="020F0502020204030204" pitchFamily="34" charset="0"/>
              </a:rPr>
              <a:t> Not very practical as it is often difficult to predict all the required locks in advance. </a:t>
            </a:r>
          </a:p>
          <a:p>
            <a:pPr marL="0" indent="0" algn="just">
              <a:spcBef>
                <a:spcPts val="300"/>
              </a:spcBef>
              <a:buClr>
                <a:srgbClr val="C00000"/>
              </a:buClr>
              <a:buNone/>
              <a:defRPr/>
            </a:pPr>
            <a:r>
              <a:rPr lang="en-US" sz="2200" b="1" dirty="0">
                <a:solidFill>
                  <a:srgbClr val="0033CC"/>
                </a:solidFill>
                <a:latin typeface="Cambria" panose="02040503050406030204" pitchFamily="18" charset="0"/>
                <a:ea typeface="Cambria" panose="02040503050406030204" pitchFamily="18" charset="0"/>
                <a:cs typeface="Calibri" panose="020F0502020204030204" pitchFamily="34" charset="0"/>
              </a:rPr>
              <a:t>3. Deadlock Prevention</a:t>
            </a:r>
            <a:r>
              <a:rPr lang="en-US" sz="22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The DBMS looks ahead to determine if a transaction would cause deadlock, and never allows deadlock to occur. A transaction requesting a new lock is aborted when there is the possibility that a deadlock can occur.</a:t>
            </a:r>
          </a:p>
          <a:p>
            <a:pPr marL="347663" indent="-347663" algn="just">
              <a:spcBef>
                <a:spcPts val="300"/>
              </a:spcBef>
              <a:buClr>
                <a:srgbClr val="C00000"/>
              </a:buClr>
              <a:defRPr/>
            </a:pPr>
            <a:endParaRPr lang="en-US" sz="22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2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26BC5500-5A10-E473-4282-5EE1DD9FA3D0}"/>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B1CC18C-11CE-8FA3-8750-A48A194AC9CD}"/>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61909942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73238-0FAF-FADF-F113-763B1BCCB61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97C77E8-0026-9060-1FB5-9F42DE6F671A}"/>
              </a:ext>
            </a:extLst>
          </p:cNvPr>
          <p:cNvSpPr>
            <a:spLocks noGrp="1" noChangeArrowheads="1"/>
          </p:cNvSpPr>
          <p:nvPr>
            <p:ph type="title"/>
          </p:nvPr>
        </p:nvSpPr>
        <p:spPr>
          <a:xfrm>
            <a:off x="323528" y="26064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Deadlock Handling</a:t>
            </a:r>
          </a:p>
        </p:txBody>
      </p:sp>
      <p:sp>
        <p:nvSpPr>
          <p:cNvPr id="2" name="Content Placeholder 1">
            <a:extLst>
              <a:ext uri="{FF2B5EF4-FFF2-40B4-BE49-F238E27FC236}">
                <a16:creationId xmlns:a16="http://schemas.microsoft.com/office/drawing/2014/main" id="{77CE0710-F30A-1AEA-88FA-9A2D8C728376}"/>
              </a:ext>
            </a:extLst>
          </p:cNvPr>
          <p:cNvSpPr>
            <a:spLocks noGrp="1"/>
          </p:cNvSpPr>
          <p:nvPr>
            <p:ph sz="quarter" idx="1"/>
          </p:nvPr>
        </p:nvSpPr>
        <p:spPr>
          <a:xfrm>
            <a:off x="328042" y="692696"/>
            <a:ext cx="8492430" cy="4464496"/>
          </a:xfrm>
        </p:spPr>
        <p:txBody>
          <a:bodyPr/>
          <a:lstStyle/>
          <a:p>
            <a:pPr marL="0" indent="0" algn="just">
              <a:spcBef>
                <a:spcPts val="300"/>
              </a:spcBef>
              <a:buClr>
                <a:srgbClr val="C00000"/>
              </a:buClr>
              <a:buNone/>
              <a:defRPr/>
            </a:pPr>
            <a:r>
              <a:rPr lang="en-US" sz="2200" b="1" dirty="0">
                <a:solidFill>
                  <a:srgbClr val="0033CC"/>
                </a:solidFill>
                <a:latin typeface="Cambria" panose="02040503050406030204" pitchFamily="18" charset="0"/>
                <a:ea typeface="Cambria" panose="02040503050406030204" pitchFamily="18" charset="0"/>
                <a:cs typeface="Calibri" panose="020F0502020204030204" pitchFamily="34" charset="0"/>
              </a:rPr>
              <a:t>4. Deadlock Detection and Recovery</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A involves detecting a deadlock and then breaking it. </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The DBMS maintains a </a:t>
            </a: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matrix of resource usage</a:t>
            </a:r>
            <a:r>
              <a:rPr lang="en-US" sz="2200" dirty="0">
                <a:latin typeface="Cambria" panose="02040503050406030204" pitchFamily="18" charset="0"/>
                <a:ea typeface="Cambria" panose="02040503050406030204" pitchFamily="18" charset="0"/>
                <a:cs typeface="Calibri" panose="020F0502020204030204" pitchFamily="34" charset="0"/>
              </a:rPr>
              <a:t> or a </a:t>
            </a: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Wait-For Graph (WFG), </a:t>
            </a:r>
            <a:r>
              <a:rPr lang="en-US" sz="2200" dirty="0">
                <a:latin typeface="Cambria" panose="02040503050406030204" pitchFamily="18" charset="0"/>
                <a:ea typeface="Cambria" panose="02040503050406030204" pitchFamily="18" charset="0"/>
                <a:cs typeface="Calibri" panose="020F0502020204030204" pitchFamily="34" charset="0"/>
              </a:rPr>
              <a:t>which maintains “Who is Waiting for Whom”.</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Deadlock exists if and only if the WFG contains a cycle.</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Breaking the deadlock involves choosing one of the deadlocked transactions as a </a:t>
            </a:r>
            <a:r>
              <a:rPr lang="en-US" sz="2200" u="sng" dirty="0">
                <a:solidFill>
                  <a:srgbClr val="FF0000"/>
                </a:solidFill>
                <a:latin typeface="Cambria" panose="02040503050406030204" pitchFamily="18" charset="0"/>
                <a:ea typeface="Cambria" panose="02040503050406030204" pitchFamily="18" charset="0"/>
                <a:cs typeface="Calibri" panose="020F0502020204030204" pitchFamily="34" charset="0"/>
              </a:rPr>
              <a:t>victim</a:t>
            </a:r>
            <a:r>
              <a:rPr lang="en-US" sz="2200" dirty="0">
                <a:latin typeface="Cambria" panose="02040503050406030204" pitchFamily="18" charset="0"/>
                <a:ea typeface="Cambria" panose="02040503050406030204" pitchFamily="18" charset="0"/>
                <a:cs typeface="Calibri" panose="020F0502020204030204" pitchFamily="34" charset="0"/>
              </a:rPr>
              <a:t> and rolling it back, thereby releasing all its locks and allowing other transaction to proceed. </a:t>
            </a:r>
          </a:p>
          <a:p>
            <a:pPr marL="347663" indent="-347663" algn="just">
              <a:spcBef>
                <a:spcPts val="300"/>
              </a:spcBef>
              <a:buClr>
                <a:srgbClr val="C00000"/>
              </a:buClr>
              <a:defRPr/>
            </a:pPr>
            <a:r>
              <a:rPr lang="en-US" sz="2200" dirty="0">
                <a:latin typeface="Cambria" panose="02040503050406030204" pitchFamily="18" charset="0"/>
                <a:ea typeface="Cambria" panose="02040503050406030204" pitchFamily="18" charset="0"/>
                <a:cs typeface="Calibri" panose="020F0502020204030204" pitchFamily="34" charset="0"/>
              </a:rPr>
              <a:t>The following issues need to be considered: </a:t>
            </a:r>
          </a:p>
          <a:p>
            <a:pPr marL="622301" lvl="1" indent="-347663" algn="just">
              <a:spcBef>
                <a:spcPts val="300"/>
              </a:spcBef>
              <a:buClr>
                <a:srgbClr val="C00000"/>
              </a:buClr>
              <a:defRPr/>
            </a:pPr>
            <a:r>
              <a:rPr lang="en-US" sz="2200" dirty="0">
                <a:solidFill>
                  <a:srgbClr val="0033CC"/>
                </a:solidFill>
                <a:latin typeface="Cambria" panose="02040503050406030204" pitchFamily="18" charset="0"/>
                <a:ea typeface="Cambria" panose="02040503050406030204" pitchFamily="18" charset="0"/>
                <a:cs typeface="Calibri" panose="020F0502020204030204" pitchFamily="34" charset="0"/>
              </a:rPr>
              <a:t>What should be the frequency of invoking deadlock detection algorithm? (Fixed or Static/ Variable or Dynamic)!</a:t>
            </a:r>
          </a:p>
          <a:p>
            <a:pPr marL="622301" lvl="1" indent="-347663" algn="just">
              <a:spcBef>
                <a:spcPts val="300"/>
              </a:spcBef>
              <a:buClr>
                <a:srgbClr val="C00000"/>
              </a:buClr>
              <a:defRPr/>
            </a:pPr>
            <a:r>
              <a:rPr lang="en-US" sz="2200" dirty="0">
                <a:solidFill>
                  <a:srgbClr val="0033CC"/>
                </a:solidFill>
                <a:latin typeface="Cambria" panose="02040503050406030204" pitchFamily="18" charset="0"/>
                <a:ea typeface="Cambria" panose="02040503050406030204" pitchFamily="18" charset="0"/>
                <a:cs typeface="Calibri" panose="020F0502020204030204" pitchFamily="34" charset="0"/>
              </a:rPr>
              <a:t>Choice of deadlock victim</a:t>
            </a:r>
          </a:p>
          <a:p>
            <a:pPr marL="622301" lvl="1" indent="-347663" algn="just">
              <a:spcBef>
                <a:spcPts val="300"/>
              </a:spcBef>
              <a:buClr>
                <a:srgbClr val="C00000"/>
              </a:buClr>
              <a:defRPr/>
            </a:pPr>
            <a:r>
              <a:rPr lang="en-US" sz="2200" dirty="0">
                <a:solidFill>
                  <a:srgbClr val="0033CC"/>
                </a:solidFill>
                <a:latin typeface="Cambria" panose="02040503050406030204" pitchFamily="18" charset="0"/>
                <a:ea typeface="Cambria" panose="02040503050406030204" pitchFamily="18" charset="0"/>
                <a:cs typeface="Calibri" panose="020F0502020204030204" pitchFamily="34" charset="0"/>
              </a:rPr>
              <a:t>How far to roll a transaction back?</a:t>
            </a:r>
          </a:p>
          <a:p>
            <a:pPr marL="622301" lvl="1" indent="-347663" algn="just">
              <a:spcBef>
                <a:spcPts val="300"/>
              </a:spcBef>
              <a:buClr>
                <a:srgbClr val="C00000"/>
              </a:buClr>
              <a:defRPr/>
            </a:pPr>
            <a:r>
              <a:rPr lang="en-US" sz="2200" dirty="0">
                <a:solidFill>
                  <a:srgbClr val="0033CC"/>
                </a:solidFill>
                <a:latin typeface="Cambria" panose="02040503050406030204" pitchFamily="18" charset="0"/>
                <a:ea typeface="Cambria" panose="02040503050406030204" pitchFamily="18" charset="0"/>
                <a:cs typeface="Calibri" panose="020F0502020204030204" pitchFamily="34" charset="0"/>
              </a:rPr>
              <a:t>Avoiding starvation</a:t>
            </a:r>
          </a:p>
          <a:p>
            <a:pPr marL="347663" indent="-347663" algn="just">
              <a:spcBef>
                <a:spcPts val="300"/>
              </a:spcBef>
              <a:buClr>
                <a:srgbClr val="C00000"/>
              </a:buClr>
              <a:defRPr/>
            </a:pPr>
            <a:endParaRPr lang="en-US" sz="22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B67203B4-FA17-100A-8444-EB89E1D93F66}"/>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1850D16-6AC9-F04E-B0B4-F4D4BAD475E5}"/>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68060676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FDD65-0100-CE74-DBAC-09C99850DE9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39D7D6B0-2D86-E1DD-8C47-A7460509E258}"/>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Livelock </a:t>
            </a:r>
          </a:p>
        </p:txBody>
      </p:sp>
      <p:sp>
        <p:nvSpPr>
          <p:cNvPr id="2" name="Content Placeholder 1">
            <a:extLst>
              <a:ext uri="{FF2B5EF4-FFF2-40B4-BE49-F238E27FC236}">
                <a16:creationId xmlns:a16="http://schemas.microsoft.com/office/drawing/2014/main" id="{4D4BB221-773B-7EDC-39A1-C7CAD9A04A7F}"/>
              </a:ext>
            </a:extLst>
          </p:cNvPr>
          <p:cNvSpPr>
            <a:spLocks noGrp="1"/>
          </p:cNvSpPr>
          <p:nvPr>
            <p:ph sz="quarter" idx="1"/>
          </p:nvPr>
        </p:nvSpPr>
        <p:spPr>
          <a:xfrm>
            <a:off x="328042" y="692696"/>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is also possible for transactions to be in </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livelock</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a:latin typeface="Cambria" panose="02040503050406030204" pitchFamily="18" charset="0"/>
                <a:ea typeface="Cambria" panose="02040503050406030204" pitchFamily="18" charset="0"/>
                <a:cs typeface="Calibri" panose="020F0502020204030204" pitchFamily="34" charset="0"/>
              </a:rPr>
              <a:t> that is, left in a wait state indefinitely, unable to acquire any new locks, although the DBMS is not in deadlock.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This can happen if the waiting algorithm for transactions is unfair and does not take account of the time that transactions have been waiting.</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To avoid </a:t>
            </a:r>
            <a:r>
              <a:rPr lang="en-US" sz="2400" dirty="0" err="1">
                <a:latin typeface="Cambria" panose="02040503050406030204" pitchFamily="18" charset="0"/>
                <a:ea typeface="Cambria" panose="02040503050406030204" pitchFamily="18" charset="0"/>
                <a:cs typeface="Calibri" panose="020F0502020204030204" pitchFamily="34" charset="0"/>
              </a:rPr>
              <a:t>livelock</a:t>
            </a:r>
            <a:r>
              <a:rPr lang="en-US" sz="2400" dirty="0">
                <a:latin typeface="Cambria" panose="02040503050406030204" pitchFamily="18" charset="0"/>
                <a:ea typeface="Cambria" panose="02040503050406030204" pitchFamily="18" charset="0"/>
                <a:cs typeface="Calibri" panose="020F0502020204030204" pitchFamily="34" charset="0"/>
              </a:rPr>
              <a:t>, a priority system can be used, whereby the longer a transaction has to wait, the higher its priority.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43AC3E2F-3C3E-394C-0CC5-B8582BD7034A}"/>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0770458-4A92-15BB-11BF-5168782962FD}"/>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92007351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C2F2B-561A-A39B-3FFF-5CC423FA177A}"/>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4D714149-D91F-75B2-861D-877F55464074}"/>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2. Timestamping</a:t>
            </a:r>
          </a:p>
        </p:txBody>
      </p:sp>
      <p:sp>
        <p:nvSpPr>
          <p:cNvPr id="2" name="Content Placeholder 1">
            <a:extLst>
              <a:ext uri="{FF2B5EF4-FFF2-40B4-BE49-F238E27FC236}">
                <a16:creationId xmlns:a16="http://schemas.microsoft.com/office/drawing/2014/main" id="{5D36CF1A-BE84-BF15-98F5-E78AFE7D729A}"/>
              </a:ext>
            </a:extLst>
          </p:cNvPr>
          <p:cNvSpPr>
            <a:spLocks noGrp="1"/>
          </p:cNvSpPr>
          <p:nvPr>
            <p:ph sz="quarter" idx="1"/>
          </p:nvPr>
        </p:nvSpPr>
        <p:spPr>
          <a:xfrm>
            <a:off x="328042" y="548680"/>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Time stamp is a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unique identifier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TS(T)</a:t>
            </a:r>
            <a:r>
              <a:rPr lang="en-US" sz="2400" dirty="0">
                <a:latin typeface="Cambria" panose="02040503050406030204" pitchFamily="18" charset="0"/>
                <a:ea typeface="Cambria" panose="02040503050406030204" pitchFamily="18" charset="0"/>
                <a:cs typeface="Calibri" panose="020F0502020204030204" pitchFamily="34" charset="0"/>
              </a:rPr>
              <a:t> that indicates the relative starting time of a transaction. Typically, timestamp values are assigned in the order in which the transactions are submitted to the system.</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Timestamping is applied both on the transactions, and on the data objects being accessed.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Each transaction is restricted to a view of the database as it is at the start of the transaction, and when a transaction modifies a record, the DBMS, creates a new record version instead of overwriting the old record.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technique employs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timestamping ordering algorithm</a:t>
            </a:r>
            <a:r>
              <a:rPr lang="en-US" sz="2400" dirty="0">
                <a:latin typeface="Cambria" panose="02040503050406030204" pitchFamily="18" charset="0"/>
                <a:ea typeface="Cambria" panose="02040503050406030204" pitchFamily="18" charset="0"/>
                <a:cs typeface="Calibri" panose="020F0502020204030204" pitchFamily="34" charset="0"/>
              </a:rPr>
              <a:t> that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allows interleaving of transaction operations,</a:t>
            </a:r>
            <a:r>
              <a:rPr lang="en-US" sz="2400" dirty="0">
                <a:latin typeface="Cambria" panose="02040503050406030204" pitchFamily="18" charset="0"/>
                <a:ea typeface="Cambria" panose="02040503050406030204" pitchFamily="18" charset="0"/>
                <a:cs typeface="Calibri" panose="020F0502020204030204" pitchFamily="34" charset="0"/>
              </a:rPr>
              <a:t> but it must ensure that for each pair of conflicting operations in the schedule, the order in which the item is accessed must follow the timestamp order.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D361477C-9231-D608-97D0-1F959A4E9519}"/>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A97ACA27-7AB7-9D4E-B1CF-0301A5ABF6F8}"/>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75787441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5EB93-76E2-71D7-B91E-A50CB342580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8B8AE08-BA74-114E-7C91-BCD05AFBADBA}"/>
              </a:ext>
            </a:extLst>
          </p:cNvPr>
          <p:cNvSpPr>
            <a:spLocks noGrp="1" noChangeArrowheads="1"/>
          </p:cNvSpPr>
          <p:nvPr>
            <p:ph type="title"/>
          </p:nvPr>
        </p:nvSpPr>
        <p:spPr>
          <a:xfrm>
            <a:off x="323528" y="8728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Timestamp Ordering (TO) Algorithm</a:t>
            </a:r>
          </a:p>
        </p:txBody>
      </p:sp>
      <p:sp>
        <p:nvSpPr>
          <p:cNvPr id="2" name="Content Placeholder 1">
            <a:extLst>
              <a:ext uri="{FF2B5EF4-FFF2-40B4-BE49-F238E27FC236}">
                <a16:creationId xmlns:a16="http://schemas.microsoft.com/office/drawing/2014/main" id="{2E4C6843-4B48-998B-1F6A-603B645A8D96}"/>
              </a:ext>
            </a:extLst>
          </p:cNvPr>
          <p:cNvSpPr>
            <a:spLocks noGrp="1"/>
          </p:cNvSpPr>
          <p:nvPr>
            <p:ph sz="quarter" idx="1"/>
          </p:nvPr>
        </p:nvSpPr>
        <p:spPr>
          <a:xfrm>
            <a:off x="328042" y="548680"/>
            <a:ext cx="8492430" cy="5688632"/>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algorithm associates the following two types of the largest timestamps for each database item X.</a:t>
            </a:r>
          </a:p>
          <a:p>
            <a:pPr marL="347663" indent="-347663" algn="just">
              <a:spcBef>
                <a:spcPts val="300"/>
              </a:spcBef>
              <a:buClr>
                <a:srgbClr val="C00000"/>
              </a:buClr>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read timestamp</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read_TS</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 = TS(T),</a:t>
            </a:r>
            <a:r>
              <a:rPr lang="en-US" sz="2400" dirty="0">
                <a:latin typeface="Cambria" panose="02040503050406030204" pitchFamily="18" charset="0"/>
                <a:ea typeface="Cambria" panose="02040503050406030204" pitchFamily="18" charset="0"/>
                <a:cs typeface="Calibri" panose="020F0502020204030204" pitchFamily="34" charset="0"/>
              </a:rPr>
              <a:t> timestamp of the last (youngest) transaction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400" dirty="0">
                <a:latin typeface="Cambria" panose="02040503050406030204" pitchFamily="18" charset="0"/>
                <a:ea typeface="Cambria" panose="02040503050406030204" pitchFamily="18" charset="0"/>
                <a:cs typeface="Calibri" panose="020F0502020204030204" pitchFamily="34" charset="0"/>
              </a:rPr>
              <a:t> that has read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write timestamp</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write_TS</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 = TS(T),</a:t>
            </a:r>
            <a:r>
              <a:rPr lang="en-US" sz="2400" dirty="0">
                <a:latin typeface="Cambria" panose="02040503050406030204" pitchFamily="18" charset="0"/>
                <a:ea typeface="Cambria" panose="02040503050406030204" pitchFamily="18" charset="0"/>
                <a:cs typeface="Calibri" panose="020F0502020204030204" pitchFamily="34" charset="0"/>
              </a:rPr>
              <a:t> timestamp of the last (youngest) transaction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a:t>
            </a:r>
            <a:r>
              <a:rPr lang="en-US" sz="2400" dirty="0">
                <a:latin typeface="Cambria" panose="02040503050406030204" pitchFamily="18" charset="0"/>
                <a:ea typeface="Cambria" panose="02040503050406030204" pitchFamily="18" charset="0"/>
                <a:cs typeface="Calibri" panose="020F0502020204030204" pitchFamily="34" charset="0"/>
              </a:rPr>
              <a:t> that has updated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X.</a:t>
            </a:r>
          </a:p>
          <a:p>
            <a:r>
              <a:rPr lang="en-US" sz="2400" dirty="0">
                <a:latin typeface="Cambria" panose="02040503050406030204" pitchFamily="18" charset="0"/>
                <a:ea typeface="Cambria" panose="02040503050406030204" pitchFamily="18" charset="0"/>
              </a:rPr>
              <a:t>Whenever, a transaction </a:t>
            </a:r>
            <a:r>
              <a:rPr lang="en-US" sz="2400" i="1" dirty="0">
                <a:solidFill>
                  <a:srgbClr val="FF0000"/>
                </a:solidFill>
                <a:latin typeface="Cambria" panose="02040503050406030204" pitchFamily="18" charset="0"/>
                <a:ea typeface="Cambria" panose="02040503050406030204" pitchFamily="18" charset="0"/>
              </a:rPr>
              <a:t>T</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issues a </a:t>
            </a:r>
            <a:r>
              <a:rPr lang="en-US" sz="2400" b="1" dirty="0" err="1">
                <a:solidFill>
                  <a:srgbClr val="0000FF"/>
                </a:solidFill>
                <a:latin typeface="Cambria" panose="02040503050406030204" pitchFamily="18" charset="0"/>
                <a:ea typeface="Cambria" panose="02040503050406030204" pitchFamily="18" charset="0"/>
              </a:rPr>
              <a:t>write_item</a:t>
            </a:r>
            <a:r>
              <a:rPr lang="en-US" sz="2400" b="1" dirty="0">
                <a:solidFill>
                  <a:srgbClr val="0000FF"/>
                </a:solidFill>
                <a:latin typeface="Cambria" panose="02040503050406030204" pitchFamily="18" charset="0"/>
                <a:ea typeface="Cambria" panose="02040503050406030204" pitchFamily="18" charset="0"/>
              </a:rPr>
              <a:t>(</a:t>
            </a:r>
            <a:r>
              <a:rPr lang="en-US" sz="2400" b="1" i="1" dirty="0">
                <a:solidFill>
                  <a:srgbClr val="0000FF"/>
                </a:solidFill>
                <a:latin typeface="Cambria" panose="02040503050406030204" pitchFamily="18" charset="0"/>
                <a:ea typeface="Cambria" panose="02040503050406030204" pitchFamily="18" charset="0"/>
              </a:rPr>
              <a:t>X</a:t>
            </a:r>
            <a:r>
              <a:rPr lang="en-US" sz="2400" b="1" dirty="0">
                <a:solidFill>
                  <a:srgbClr val="0000FF"/>
                </a:solidFill>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operation, if </a:t>
            </a:r>
            <a:r>
              <a:rPr lang="en-US" sz="2400" dirty="0" err="1">
                <a:solidFill>
                  <a:srgbClr val="FF0000"/>
                </a:solidFill>
                <a:highlight>
                  <a:srgbClr val="FFFF00"/>
                </a:highlight>
                <a:latin typeface="Cambria" panose="02040503050406030204" pitchFamily="18" charset="0"/>
                <a:ea typeface="Cambria" panose="02040503050406030204" pitchFamily="18" charset="0"/>
              </a:rPr>
              <a:t>read_TS</a:t>
            </a:r>
            <a:r>
              <a:rPr lang="en-US" sz="2400" dirty="0">
                <a:solidFill>
                  <a:srgbClr val="FF0000"/>
                </a:solidFill>
                <a:highlight>
                  <a:srgbClr val="FFFF00"/>
                </a:highlight>
                <a:latin typeface="Cambria" panose="02040503050406030204" pitchFamily="18" charset="0"/>
                <a:ea typeface="Cambria" panose="02040503050406030204" pitchFamily="18" charset="0"/>
              </a:rPr>
              <a:t>(</a:t>
            </a:r>
            <a:r>
              <a:rPr lang="en-US" sz="2400" i="1" dirty="0">
                <a:solidFill>
                  <a:srgbClr val="FF0000"/>
                </a:solidFill>
                <a:highlight>
                  <a:srgbClr val="FFFF00"/>
                </a:highlight>
                <a:latin typeface="Cambria" panose="02040503050406030204" pitchFamily="18" charset="0"/>
                <a:ea typeface="Cambria" panose="02040503050406030204" pitchFamily="18" charset="0"/>
              </a:rPr>
              <a:t>X</a:t>
            </a:r>
            <a:r>
              <a:rPr lang="en-US" sz="2400" dirty="0">
                <a:solidFill>
                  <a:srgbClr val="FF0000"/>
                </a:solidFill>
                <a:highlight>
                  <a:srgbClr val="FFFF00"/>
                </a:highlight>
                <a:latin typeface="Cambria" panose="02040503050406030204" pitchFamily="18" charset="0"/>
                <a:ea typeface="Cambria" panose="02040503050406030204" pitchFamily="18" charset="0"/>
              </a:rPr>
              <a:t>) &gt; TS(</a:t>
            </a:r>
            <a:r>
              <a:rPr lang="en-US" sz="2400" i="1" dirty="0">
                <a:solidFill>
                  <a:srgbClr val="FF0000"/>
                </a:solidFill>
                <a:highlight>
                  <a:srgbClr val="FFFF00"/>
                </a:highlight>
                <a:latin typeface="Cambria" panose="02040503050406030204" pitchFamily="18" charset="0"/>
                <a:ea typeface="Cambria" panose="02040503050406030204" pitchFamily="18" charset="0"/>
              </a:rPr>
              <a:t>T</a:t>
            </a:r>
            <a:r>
              <a:rPr lang="en-US" sz="2400" dirty="0">
                <a:solidFill>
                  <a:srgbClr val="FF0000"/>
                </a:solidFill>
                <a:highlight>
                  <a:srgbClr val="FFFF00"/>
                </a:highlight>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or if </a:t>
            </a:r>
            <a:r>
              <a:rPr lang="en-US" sz="2400" dirty="0" err="1">
                <a:solidFill>
                  <a:srgbClr val="FF0000"/>
                </a:solidFill>
                <a:highlight>
                  <a:srgbClr val="FFFF00"/>
                </a:highlight>
                <a:latin typeface="Cambria" panose="02040503050406030204" pitchFamily="18" charset="0"/>
                <a:ea typeface="Cambria" panose="02040503050406030204" pitchFamily="18" charset="0"/>
              </a:rPr>
              <a:t>write_TS</a:t>
            </a:r>
            <a:r>
              <a:rPr lang="en-US" sz="2400" dirty="0">
                <a:solidFill>
                  <a:srgbClr val="FF0000"/>
                </a:solidFill>
                <a:highlight>
                  <a:srgbClr val="FFFF00"/>
                </a:highlight>
                <a:latin typeface="Cambria" panose="02040503050406030204" pitchFamily="18" charset="0"/>
                <a:ea typeface="Cambria" panose="02040503050406030204" pitchFamily="18" charset="0"/>
              </a:rPr>
              <a:t>(</a:t>
            </a:r>
            <a:r>
              <a:rPr lang="en-US" sz="2400" i="1" dirty="0">
                <a:solidFill>
                  <a:srgbClr val="FF0000"/>
                </a:solidFill>
                <a:highlight>
                  <a:srgbClr val="FFFF00"/>
                </a:highlight>
                <a:latin typeface="Cambria" panose="02040503050406030204" pitchFamily="18" charset="0"/>
                <a:ea typeface="Cambria" panose="02040503050406030204" pitchFamily="18" charset="0"/>
              </a:rPr>
              <a:t>X</a:t>
            </a:r>
            <a:r>
              <a:rPr lang="en-US" sz="2400" dirty="0">
                <a:solidFill>
                  <a:srgbClr val="FF0000"/>
                </a:solidFill>
                <a:highlight>
                  <a:srgbClr val="FFFF00"/>
                </a:highlight>
                <a:latin typeface="Cambria" panose="02040503050406030204" pitchFamily="18" charset="0"/>
                <a:ea typeface="Cambria" panose="02040503050406030204" pitchFamily="18" charset="0"/>
              </a:rPr>
              <a:t>) &gt; TS(</a:t>
            </a:r>
            <a:r>
              <a:rPr lang="en-US" sz="2400" i="1" dirty="0">
                <a:solidFill>
                  <a:srgbClr val="FF0000"/>
                </a:solidFill>
                <a:highlight>
                  <a:srgbClr val="FFFF00"/>
                </a:highlight>
                <a:latin typeface="Cambria" panose="02040503050406030204" pitchFamily="18" charset="0"/>
                <a:ea typeface="Cambria" panose="02040503050406030204" pitchFamily="18" charset="0"/>
              </a:rPr>
              <a:t>T</a:t>
            </a:r>
            <a:r>
              <a:rPr lang="en-US" sz="2400" dirty="0">
                <a:solidFill>
                  <a:srgbClr val="FF0000"/>
                </a:solidFill>
                <a:highlight>
                  <a:srgbClr val="FFFF00"/>
                </a:highlight>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then </a:t>
            </a:r>
            <a:r>
              <a:rPr lang="en-US" sz="2400" dirty="0">
                <a:solidFill>
                  <a:srgbClr val="FF0000"/>
                </a:solidFill>
                <a:latin typeface="Cambria" panose="02040503050406030204" pitchFamily="18" charset="0"/>
                <a:ea typeface="Cambria" panose="02040503050406030204" pitchFamily="18" charset="0"/>
              </a:rPr>
              <a:t>abort</a:t>
            </a:r>
            <a:r>
              <a:rPr lang="en-US" sz="2400" dirty="0">
                <a:latin typeface="Cambria" panose="02040503050406030204" pitchFamily="18" charset="0"/>
                <a:ea typeface="Cambria" panose="02040503050406030204" pitchFamily="18" charset="0"/>
              </a:rPr>
              <a:t> and roll back </a:t>
            </a:r>
            <a:r>
              <a:rPr lang="en-US" sz="2400" i="1" dirty="0">
                <a:solidFill>
                  <a:srgbClr val="FF0000"/>
                </a:solidFill>
                <a:latin typeface="Cambria" panose="02040503050406030204" pitchFamily="18" charset="0"/>
                <a:ea typeface="Cambria" panose="02040503050406030204" pitchFamily="18" charset="0"/>
              </a:rPr>
              <a:t>T</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and reject the operation.</a:t>
            </a: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algn="just"/>
            <a:r>
              <a:rPr lang="en-US" sz="2400" dirty="0">
                <a:latin typeface="Cambria" panose="02040503050406030204" pitchFamily="18" charset="0"/>
                <a:ea typeface="Cambria" panose="02040503050406030204" pitchFamily="18" charset="0"/>
              </a:rPr>
              <a:t>Whenever, a transaction </a:t>
            </a:r>
            <a:r>
              <a:rPr lang="en-US" sz="2400" i="1" dirty="0">
                <a:solidFill>
                  <a:srgbClr val="FF0000"/>
                </a:solidFill>
                <a:latin typeface="Cambria" panose="02040503050406030204" pitchFamily="18" charset="0"/>
                <a:ea typeface="Cambria" panose="02040503050406030204" pitchFamily="18" charset="0"/>
              </a:rPr>
              <a:t>T</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issues a </a:t>
            </a:r>
            <a:r>
              <a:rPr lang="en-US" sz="2400" b="1" dirty="0" err="1">
                <a:solidFill>
                  <a:srgbClr val="0000FF"/>
                </a:solidFill>
                <a:latin typeface="Cambria" panose="02040503050406030204" pitchFamily="18" charset="0"/>
                <a:ea typeface="Cambria" panose="02040503050406030204" pitchFamily="18" charset="0"/>
              </a:rPr>
              <a:t>read_item</a:t>
            </a:r>
            <a:r>
              <a:rPr lang="en-US" sz="2400" b="1" dirty="0">
                <a:solidFill>
                  <a:srgbClr val="0000FF"/>
                </a:solidFill>
                <a:latin typeface="Cambria" panose="02040503050406030204" pitchFamily="18" charset="0"/>
                <a:ea typeface="Cambria" panose="02040503050406030204" pitchFamily="18" charset="0"/>
              </a:rPr>
              <a:t>(</a:t>
            </a:r>
            <a:r>
              <a:rPr lang="en-US" sz="2400" b="1" i="1" dirty="0">
                <a:solidFill>
                  <a:srgbClr val="0000FF"/>
                </a:solidFill>
                <a:latin typeface="Cambria" panose="02040503050406030204" pitchFamily="18" charset="0"/>
                <a:ea typeface="Cambria" panose="02040503050406030204" pitchFamily="18" charset="0"/>
              </a:rPr>
              <a:t>X</a:t>
            </a:r>
            <a:r>
              <a:rPr lang="en-US" sz="2400" b="1" dirty="0">
                <a:solidFill>
                  <a:srgbClr val="0000FF"/>
                </a:solidFill>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operation, if </a:t>
            </a:r>
            <a:r>
              <a:rPr lang="en-US" sz="2400" dirty="0" err="1">
                <a:solidFill>
                  <a:srgbClr val="FF0000"/>
                </a:solidFill>
                <a:highlight>
                  <a:srgbClr val="FFFF00"/>
                </a:highlight>
                <a:latin typeface="Cambria" panose="02040503050406030204" pitchFamily="18" charset="0"/>
                <a:ea typeface="Cambria" panose="02040503050406030204" pitchFamily="18" charset="0"/>
              </a:rPr>
              <a:t>write_TS</a:t>
            </a:r>
            <a:r>
              <a:rPr lang="en-US" sz="2400" dirty="0">
                <a:solidFill>
                  <a:srgbClr val="FF0000"/>
                </a:solidFill>
                <a:highlight>
                  <a:srgbClr val="FFFF00"/>
                </a:highlight>
                <a:latin typeface="Cambria" panose="02040503050406030204" pitchFamily="18" charset="0"/>
                <a:ea typeface="Cambria" panose="02040503050406030204" pitchFamily="18" charset="0"/>
              </a:rPr>
              <a:t>(</a:t>
            </a:r>
            <a:r>
              <a:rPr lang="en-US" sz="2400" i="1" dirty="0">
                <a:solidFill>
                  <a:srgbClr val="FF0000"/>
                </a:solidFill>
                <a:highlight>
                  <a:srgbClr val="FFFF00"/>
                </a:highlight>
                <a:latin typeface="Cambria" panose="02040503050406030204" pitchFamily="18" charset="0"/>
                <a:ea typeface="Cambria" panose="02040503050406030204" pitchFamily="18" charset="0"/>
              </a:rPr>
              <a:t>X</a:t>
            </a:r>
            <a:r>
              <a:rPr lang="en-US" sz="2400" dirty="0">
                <a:solidFill>
                  <a:srgbClr val="FF0000"/>
                </a:solidFill>
                <a:highlight>
                  <a:srgbClr val="FFFF00"/>
                </a:highlight>
                <a:latin typeface="Cambria" panose="02040503050406030204" pitchFamily="18" charset="0"/>
                <a:ea typeface="Cambria" panose="02040503050406030204" pitchFamily="18" charset="0"/>
              </a:rPr>
              <a:t>) &gt; TS(</a:t>
            </a:r>
            <a:r>
              <a:rPr lang="en-US" sz="2400" i="1" dirty="0">
                <a:solidFill>
                  <a:srgbClr val="FF0000"/>
                </a:solidFill>
                <a:highlight>
                  <a:srgbClr val="FFFF00"/>
                </a:highlight>
                <a:latin typeface="Cambria" panose="02040503050406030204" pitchFamily="18" charset="0"/>
                <a:ea typeface="Cambria" panose="02040503050406030204" pitchFamily="18" charset="0"/>
              </a:rPr>
              <a:t>T</a:t>
            </a:r>
            <a:r>
              <a:rPr lang="en-US" sz="2400" dirty="0">
                <a:solidFill>
                  <a:srgbClr val="FF0000"/>
                </a:solidFill>
                <a:highlight>
                  <a:srgbClr val="FFFF00"/>
                </a:highlight>
                <a:latin typeface="Cambria" panose="02040503050406030204" pitchFamily="18" charset="0"/>
                <a:ea typeface="Cambria" panose="02040503050406030204" pitchFamily="18" charset="0"/>
              </a:rPr>
              <a:t>),</a:t>
            </a:r>
            <a:r>
              <a:rPr lang="en-US" sz="2400" dirty="0">
                <a:highlight>
                  <a:srgbClr val="FFFF00"/>
                </a:highlight>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then </a:t>
            </a:r>
            <a:r>
              <a:rPr lang="en-US" sz="2400" dirty="0">
                <a:solidFill>
                  <a:srgbClr val="FF0000"/>
                </a:solidFill>
                <a:latin typeface="Cambria" panose="02040503050406030204" pitchFamily="18" charset="0"/>
                <a:ea typeface="Cambria" panose="02040503050406030204" pitchFamily="18" charset="0"/>
              </a:rPr>
              <a:t>abort</a:t>
            </a:r>
            <a:r>
              <a:rPr lang="en-US" sz="2400" dirty="0">
                <a:latin typeface="Cambria" panose="02040503050406030204" pitchFamily="18" charset="0"/>
                <a:ea typeface="Cambria" panose="02040503050406030204" pitchFamily="18" charset="0"/>
              </a:rPr>
              <a:t> and roll back </a:t>
            </a:r>
            <a:r>
              <a:rPr lang="en-US" sz="2400" i="1" dirty="0">
                <a:solidFill>
                  <a:srgbClr val="FF0000"/>
                </a:solidFill>
                <a:latin typeface="Cambria" panose="02040503050406030204" pitchFamily="18" charset="0"/>
                <a:ea typeface="Cambria" panose="02040503050406030204" pitchFamily="18" charset="0"/>
              </a:rPr>
              <a:t>T</a:t>
            </a:r>
          </a:p>
          <a:p>
            <a:pPr algn="just"/>
            <a:r>
              <a:rPr lang="en-US" sz="2400" dirty="0">
                <a:latin typeface="Cambria" panose="02040503050406030204" pitchFamily="18" charset="0"/>
                <a:ea typeface="Cambria" panose="02040503050406030204" pitchFamily="18" charset="0"/>
              </a:rPr>
              <a:t>Whenever the basic TO algorithm detects two </a:t>
            </a:r>
            <a:r>
              <a:rPr lang="en-US" sz="2400" i="1" dirty="0">
                <a:solidFill>
                  <a:srgbClr val="FF0000"/>
                </a:solidFill>
                <a:latin typeface="Cambria" panose="02040503050406030204" pitchFamily="18" charset="0"/>
                <a:ea typeface="Cambria" panose="02040503050406030204" pitchFamily="18" charset="0"/>
              </a:rPr>
              <a:t>conflicting operations</a:t>
            </a:r>
            <a:r>
              <a:rPr lang="en-US" sz="2400" i="1"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that occur in the </a:t>
            </a:r>
            <a:r>
              <a:rPr lang="en-US" sz="2400" dirty="0">
                <a:solidFill>
                  <a:srgbClr val="FF0000"/>
                </a:solidFill>
                <a:latin typeface="Cambria" panose="02040503050406030204" pitchFamily="18" charset="0"/>
                <a:ea typeface="Cambria" panose="02040503050406030204" pitchFamily="18" charset="0"/>
              </a:rPr>
              <a:t>incorrect order,</a:t>
            </a:r>
            <a:r>
              <a:rPr lang="en-US" sz="2400" dirty="0">
                <a:latin typeface="Cambria" panose="02040503050406030204" pitchFamily="18" charset="0"/>
                <a:ea typeface="Cambria" panose="02040503050406030204" pitchFamily="18" charset="0"/>
              </a:rPr>
              <a:t> it </a:t>
            </a:r>
            <a:r>
              <a:rPr lang="en-US" sz="2400" dirty="0">
                <a:solidFill>
                  <a:srgbClr val="FF0000"/>
                </a:solidFill>
                <a:latin typeface="Cambria" panose="02040503050406030204" pitchFamily="18" charset="0"/>
                <a:ea typeface="Cambria" panose="02040503050406030204" pitchFamily="18" charset="0"/>
              </a:rPr>
              <a:t>rejects</a:t>
            </a:r>
            <a:r>
              <a:rPr lang="en-US" sz="2400" dirty="0">
                <a:latin typeface="Cambria" panose="02040503050406030204" pitchFamily="18" charset="0"/>
                <a:ea typeface="Cambria" panose="02040503050406030204" pitchFamily="18" charset="0"/>
              </a:rPr>
              <a:t> the later of the two operations by </a:t>
            </a:r>
            <a:r>
              <a:rPr lang="en-US" sz="2400" dirty="0">
                <a:solidFill>
                  <a:srgbClr val="FF0000"/>
                </a:solidFill>
                <a:latin typeface="Cambria" panose="02040503050406030204" pitchFamily="18" charset="0"/>
                <a:ea typeface="Cambria" panose="02040503050406030204" pitchFamily="18" charset="0"/>
              </a:rPr>
              <a:t>aborting </a:t>
            </a:r>
            <a:r>
              <a:rPr lang="en-US" sz="2400" dirty="0">
                <a:latin typeface="Cambria" panose="02040503050406030204" pitchFamily="18" charset="0"/>
                <a:ea typeface="Cambria" panose="02040503050406030204" pitchFamily="18" charset="0"/>
              </a:rPr>
              <a:t>the transaction.</a:t>
            </a:r>
            <a:endPar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algn="just"/>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782F294D-AE95-CE6C-8974-692F2FD390D8}"/>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00D93FF3-B53C-C2A8-E3E5-B9BC3901EBF7}"/>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25595546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1C827-752E-A713-D81F-6BC7FA4504AE}"/>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61EA89E-6A0A-52CE-B263-81356D31B885}"/>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3. Optimistic Approach</a:t>
            </a:r>
            <a:endParaRPr lang="en-US" altLang="en-US" sz="2800" b="1" u="sng" dirty="0">
              <a:solidFill>
                <a:srgbClr val="0000FF"/>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C72BE248-D573-723D-B96B-344CAFFF89CD}"/>
              </a:ext>
            </a:extLst>
          </p:cNvPr>
          <p:cNvSpPr>
            <a:spLocks noGrp="1"/>
          </p:cNvSpPr>
          <p:nvPr>
            <p:ph sz="quarter" idx="1"/>
          </p:nvPr>
        </p:nvSpPr>
        <p:spPr>
          <a:xfrm>
            <a:off x="328042" y="620688"/>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Both locking and timestamping enforce a certain degree of checking before a database operation can be executed.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With Optimistic Approach, also known as validation or certification techniques, no checking is done while the transaction is executing. It assumes that most of the time, two or more transactions will not be using the same object.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is based on the premise that conflict is rare, so they allow transactions to proceed unsynchronized and check for conflicts only at the end, when a transaction commits.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DBMS provides the requested records to the transactions with a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timestamp</a:t>
            </a:r>
            <a:r>
              <a:rPr lang="en-US" sz="2400" dirty="0">
                <a:latin typeface="Cambria" panose="02040503050406030204" pitchFamily="18" charset="0"/>
                <a:ea typeface="Cambria" panose="02040503050406030204" pitchFamily="18" charset="0"/>
                <a:cs typeface="Calibri" panose="020F0502020204030204" pitchFamily="34" charset="0"/>
              </a:rPr>
              <a:t> on it.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Each transaction is restricted to a view of the database as of the time that transaction started, and when a transaction modifies a record, the DBMS creates a new record version instead of overwriting the old record. </a:t>
            </a:r>
          </a:p>
        </p:txBody>
      </p:sp>
      <p:sp>
        <p:nvSpPr>
          <p:cNvPr id="3" name="Footer Placeholder 2">
            <a:extLst>
              <a:ext uri="{FF2B5EF4-FFF2-40B4-BE49-F238E27FC236}">
                <a16:creationId xmlns:a16="http://schemas.microsoft.com/office/drawing/2014/main" id="{82CF6015-41F6-16F4-E30E-B571C75BFF0E}"/>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102D4DFC-F0A0-1F74-BCB3-1A5D84D6FB4C}"/>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47282991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85D6-AB3A-7DA2-A107-39AB665EDF82}"/>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DEC5ADA-4BBB-5CA5-0E8B-F84EB3F003B7}"/>
              </a:ext>
            </a:extLst>
          </p:cNvPr>
          <p:cNvSpPr>
            <a:spLocks noGrp="1" noChangeArrowheads="1"/>
          </p:cNvSpPr>
          <p:nvPr>
            <p:ph type="title"/>
          </p:nvPr>
        </p:nvSpPr>
        <p:spPr>
          <a:xfrm>
            <a:off x="323528" y="8728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3. Optimistic Approach - </a:t>
            </a:r>
            <a:r>
              <a:rPr lang="en-US" altLang="en-US" sz="2800" b="1" u="sng" dirty="0">
                <a:solidFill>
                  <a:srgbClr val="0000FF"/>
                </a:solidFill>
                <a:latin typeface="Cambria" panose="02040503050406030204" pitchFamily="18" charset="0"/>
                <a:ea typeface="Cambria" panose="02040503050406030204" pitchFamily="18" charset="0"/>
              </a:rPr>
              <a:t>Versioning</a:t>
            </a:r>
          </a:p>
        </p:txBody>
      </p:sp>
      <p:sp>
        <p:nvSpPr>
          <p:cNvPr id="2" name="Content Placeholder 1">
            <a:extLst>
              <a:ext uri="{FF2B5EF4-FFF2-40B4-BE49-F238E27FC236}">
                <a16:creationId xmlns:a16="http://schemas.microsoft.com/office/drawing/2014/main" id="{5E1D9D02-26C8-BE9D-9A4F-79E61B360197}"/>
              </a:ext>
            </a:extLst>
          </p:cNvPr>
          <p:cNvSpPr>
            <a:spLocks noGrp="1"/>
          </p:cNvSpPr>
          <p:nvPr>
            <p:ph sz="quarter" idx="1"/>
          </p:nvPr>
        </p:nvSpPr>
        <p:spPr>
          <a:xfrm>
            <a:off x="328042" y="476672"/>
            <a:ext cx="8492430" cy="4464496"/>
          </a:xfrm>
        </p:spPr>
        <p:txBody>
          <a:bodyPr/>
          <a:lstStyle/>
          <a:p>
            <a:pPr marL="0" indent="0" algn="just">
              <a:spcBef>
                <a:spcPts val="300"/>
              </a:spcBef>
              <a:buClr>
                <a:srgbClr val="C00000"/>
              </a:buClr>
              <a:buNone/>
              <a:defRPr/>
            </a:pPr>
            <a:r>
              <a:rPr 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Analogy: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Imagine a central records room with a service window. Users (transactions) arrive at the window and request documents (database records). However, the original documents never leave the records room. Instead, the clerk (DBMS) makes copies of the requested documents and time stamps them. Users then take their private copies(or versions) of the documents to their own workplace and read them and/or make changes. When finished, they return their marked-up copies to the clerk. The clerk merges the changes from marked-up copies into the central database. </a:t>
            </a:r>
          </a:p>
        </p:txBody>
      </p:sp>
      <p:sp>
        <p:nvSpPr>
          <p:cNvPr id="3" name="Footer Placeholder 2">
            <a:extLst>
              <a:ext uri="{FF2B5EF4-FFF2-40B4-BE49-F238E27FC236}">
                <a16:creationId xmlns:a16="http://schemas.microsoft.com/office/drawing/2014/main" id="{B1656E16-5310-935A-43B5-2AA1BA1737D1}"/>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2AC1677-5EB8-F97F-2395-9A3D9F6E7447}"/>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42</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70737384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2F09F-1A19-1EC9-EB32-B2FCD654E202}"/>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D5B120C-0792-0EAF-9AC3-2EE314898E67}"/>
              </a:ext>
            </a:extLst>
          </p:cNvPr>
          <p:cNvSpPr>
            <a:spLocks noGrp="1" noChangeArrowheads="1"/>
          </p:cNvSpPr>
          <p:nvPr>
            <p:ph type="title"/>
          </p:nvPr>
        </p:nvSpPr>
        <p:spPr>
          <a:xfrm>
            <a:off x="323528" y="8728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3. Optimistic Approach - </a:t>
            </a:r>
            <a:r>
              <a:rPr lang="en-US" altLang="en-US" sz="2800" b="1" u="sng" dirty="0">
                <a:solidFill>
                  <a:srgbClr val="0000FF"/>
                </a:solidFill>
                <a:latin typeface="Cambria" panose="02040503050406030204" pitchFamily="18" charset="0"/>
                <a:ea typeface="Cambria" panose="02040503050406030204" pitchFamily="18" charset="0"/>
              </a:rPr>
              <a:t>Versioning</a:t>
            </a:r>
          </a:p>
        </p:txBody>
      </p:sp>
      <p:sp>
        <p:nvSpPr>
          <p:cNvPr id="2" name="Content Placeholder 1">
            <a:extLst>
              <a:ext uri="{FF2B5EF4-FFF2-40B4-BE49-F238E27FC236}">
                <a16:creationId xmlns:a16="http://schemas.microsoft.com/office/drawing/2014/main" id="{991A464F-D703-ECDC-717A-3DA8ECAA0E3B}"/>
              </a:ext>
            </a:extLst>
          </p:cNvPr>
          <p:cNvSpPr>
            <a:spLocks noGrp="1"/>
          </p:cNvSpPr>
          <p:nvPr>
            <p:ph sz="quarter" idx="1"/>
          </p:nvPr>
        </p:nvSpPr>
        <p:spPr>
          <a:xfrm>
            <a:off x="328042" y="620688"/>
            <a:ext cx="8492430" cy="4464496"/>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 the </a:t>
            </a:r>
            <a:r>
              <a:rPr 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validation phase,</a:t>
            </a:r>
            <a:r>
              <a:rPr lang="en-US" sz="2400" dirty="0">
                <a:latin typeface="Cambria" panose="02040503050406030204" pitchFamily="18" charset="0"/>
                <a:ea typeface="Cambria" panose="02040503050406030204" pitchFamily="18" charset="0"/>
                <a:cs typeface="Calibri" panose="020F0502020204030204" pitchFamily="34" charset="0"/>
              </a:rPr>
              <a:t> checks are performed to ensure that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serializability</a:t>
            </a:r>
            <a:r>
              <a:rPr lang="en-US" sz="2400" dirty="0">
                <a:latin typeface="Cambria" panose="02040503050406030204" pitchFamily="18" charset="0"/>
                <a:ea typeface="Cambria" panose="02040503050406030204" pitchFamily="18" charset="0"/>
                <a:cs typeface="Calibri" panose="020F0502020204030204" pitchFamily="34" charset="0"/>
              </a:rPr>
              <a:t> is not violated if the transaction updates are applied to the database.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When there is no conflict, user’s changes are merged directly into the public (or central) database.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Suppose that two transactions modify the same record in different/conflicting ways, the update of the earlier (older) transaction will be accepted and that of later (younger) transaction will be rolled backed and then restarted with a new time stamp value.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main advantage of versioning over locking is performance improvement.</a:t>
            </a:r>
          </a:p>
          <a:p>
            <a:pPr marL="347663" indent="-347663" algn="just">
              <a:spcBef>
                <a:spcPts val="300"/>
              </a:spcBef>
              <a:buClr>
                <a:srgbClr val="C00000"/>
              </a:buClr>
              <a:defRPr/>
            </a:pPr>
            <a:endParaRPr lang="en-US" sz="20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D8CDD31D-CBBE-90A8-F5A1-E72DFC38E079}"/>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1040941-5929-EB5B-C840-BB6D6DBD45E7}"/>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93324749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25E42-27BC-84F6-7DBA-D18A9F6B49DE}"/>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0584A1E-BA68-C424-5768-A2930272C6C7}"/>
              </a:ext>
            </a:extLst>
          </p:cNvPr>
          <p:cNvSpPr>
            <a:spLocks noGrp="1" noChangeArrowheads="1"/>
          </p:cNvSpPr>
          <p:nvPr>
            <p:ph type="title"/>
          </p:nvPr>
        </p:nvSpPr>
        <p:spPr>
          <a:xfrm>
            <a:off x="323528" y="159296"/>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3. Optimistic Approach </a:t>
            </a:r>
          </a:p>
        </p:txBody>
      </p:sp>
      <p:sp>
        <p:nvSpPr>
          <p:cNvPr id="3" name="Footer Placeholder 2">
            <a:extLst>
              <a:ext uri="{FF2B5EF4-FFF2-40B4-BE49-F238E27FC236}">
                <a16:creationId xmlns:a16="http://schemas.microsoft.com/office/drawing/2014/main" id="{B27B50DC-6F32-F8E3-F033-C02A883950DF}"/>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138B51DD-1317-FC7D-03E4-9562042A0EBE}"/>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6" name="Picture 2">
            <a:extLst>
              <a:ext uri="{FF2B5EF4-FFF2-40B4-BE49-F238E27FC236}">
                <a16:creationId xmlns:a16="http://schemas.microsoft.com/office/drawing/2014/main" id="{AACD7433-06E8-9C22-5E51-6438D52916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7365" y="692696"/>
            <a:ext cx="5824835"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607081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A4929F11-C487-A396-DFF4-E6366BC696F2}"/>
              </a:ext>
            </a:extLst>
          </p:cNvPr>
          <p:cNvSpPr>
            <a:spLocks noGrp="1" noChangeArrowheads="1"/>
          </p:cNvSpPr>
          <p:nvPr>
            <p:ph type="title"/>
          </p:nvPr>
        </p:nvSpPr>
        <p:spPr>
          <a:xfrm>
            <a:off x="373063" y="163488"/>
            <a:ext cx="6886575" cy="457200"/>
          </a:xfrm>
        </p:spPr>
        <p:txBody>
          <a:bodyPr/>
          <a:lstStyle/>
          <a:p>
            <a:pPr eaLnBrk="1" hangingPunct="1"/>
            <a:r>
              <a:rPr lang="en-US" altLang="en-US" sz="2400" b="1" u="sng" dirty="0">
                <a:solidFill>
                  <a:srgbClr val="D34817"/>
                </a:solidFill>
                <a:latin typeface="Cambria" panose="02040503050406030204" pitchFamily="18" charset="0"/>
                <a:ea typeface="Cambria" panose="02040503050406030204" pitchFamily="18" charset="0"/>
              </a:rPr>
              <a:t>Reading Material</a:t>
            </a:r>
          </a:p>
        </p:txBody>
      </p:sp>
      <p:sp>
        <p:nvSpPr>
          <p:cNvPr id="95235" name="Rectangle 3">
            <a:extLst>
              <a:ext uri="{FF2B5EF4-FFF2-40B4-BE49-F238E27FC236}">
                <a16:creationId xmlns:a16="http://schemas.microsoft.com/office/drawing/2014/main" id="{7BB35BBD-746F-8E8C-FE4F-CF912DAE358F}"/>
              </a:ext>
            </a:extLst>
          </p:cNvPr>
          <p:cNvSpPr txBox="1">
            <a:spLocks noChangeArrowheads="1"/>
          </p:cNvSpPr>
          <p:nvPr/>
        </p:nvSpPr>
        <p:spPr bwMode="auto">
          <a:xfrm>
            <a:off x="266700" y="581149"/>
            <a:ext cx="86106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 Systems – Design, Implementation and Management: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Carlos Coronel, Steven Morris (13</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Modern Database Management: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Jeffery. A. Hoffer (12</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 Systems: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Thomas M. Connolly (6</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Fundamentals of Database Systems: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Elmasri (7</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r>
              <a:rPr kumimoji="0" lang="en-US" altLang="en-US" sz="2000" b="0" i="0" u="none" strike="noStrike" kern="1200" cap="none" spc="0" normalizeH="0" baseline="0" noProof="0" dirty="0">
                <a:ln>
                  <a:noFill/>
                </a:ln>
                <a:solidFill>
                  <a:srgbClr val="9B2D1F"/>
                </a:solidFill>
                <a:effectLst/>
                <a:uLnTx/>
                <a:uFillTx/>
                <a:latin typeface="Cambria" panose="02040503050406030204" pitchFamily="18" charset="0"/>
                <a:ea typeface="Cambria" panose="02040503050406030204" pitchFamily="18" charset="0"/>
              </a:rPr>
              <a:t> </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 System Concepts: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Abraham Silberschatz (7</a:t>
            </a:r>
            <a:r>
              <a:rPr kumimoji="0" lang="en-US" altLang="en-US" sz="2000" b="0" i="0" u="none" strike="noStrike" kern="1200" cap="none" spc="0" normalizeH="0" baseline="30000" noProof="0" dirty="0">
                <a:ln>
                  <a:noFill/>
                </a:ln>
                <a:solidFill>
                  <a:srgbClr val="0000FF"/>
                </a:solidFill>
                <a:effectLst/>
                <a:uLnTx/>
                <a:uFillTx/>
                <a:latin typeface="Cambria" panose="02040503050406030204" pitchFamily="18" charset="0"/>
                <a:ea typeface="Cambria" panose="02040503050406030204" pitchFamily="18" charset="0"/>
              </a:rPr>
              <a:t>th</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0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rPr>
              <a:t>Databases Illuminated: </a:t>
            </a:r>
            <a:r>
              <a:rPr kumimoji="0" lang="en-US" altLang="en-US" sz="2000" b="0"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rPr>
              <a:t>Catherine M. Ricardo (3rd Ed.)</a:t>
            </a:r>
            <a:endParaRPr kumimoji="0" lang="en-US" altLang="en-US" sz="2000" b="0" i="0" u="none" strike="noStrike" kern="1200" cap="none" spc="0" normalizeH="0" baseline="0" noProof="0" dirty="0">
              <a:ln>
                <a:noFill/>
              </a:ln>
              <a:solidFill>
                <a:srgbClr val="9B2D1F"/>
              </a:solidFill>
              <a:effectLst/>
              <a:uLnTx/>
              <a:uFillTx/>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0126F7C9-B62A-24E8-1C19-746D60B1C8FF}"/>
              </a:ext>
            </a:extLst>
          </p:cNvPr>
          <p:cNvGraphicFramePr>
            <a:graphicFrameLocks noGrp="1"/>
          </p:cNvGraphicFramePr>
          <p:nvPr>
            <p:extLst>
              <p:ext uri="{D42A27DB-BD31-4B8C-83A1-F6EECF244321}">
                <p14:modId xmlns:p14="http://schemas.microsoft.com/office/powerpoint/2010/main" val="599633299"/>
              </p:ext>
            </p:extLst>
          </p:nvPr>
        </p:nvGraphicFramePr>
        <p:xfrm>
          <a:off x="1547813" y="3429000"/>
          <a:ext cx="5832475" cy="2286000"/>
        </p:xfrm>
        <a:graphic>
          <a:graphicData uri="http://schemas.openxmlformats.org/drawingml/2006/table">
            <a:tbl>
              <a:tblPr firstRow="1" bandRow="1">
                <a:tableStyleId>{5C22544A-7EE6-4342-B048-85BDC9FD1C3A}</a:tableStyleId>
              </a:tblPr>
              <a:tblGrid>
                <a:gridCol w="1008082">
                  <a:extLst>
                    <a:ext uri="{9D8B030D-6E8A-4147-A177-3AD203B41FA5}">
                      <a16:colId xmlns:a16="http://schemas.microsoft.com/office/drawing/2014/main" val="20000"/>
                    </a:ext>
                  </a:extLst>
                </a:gridCol>
                <a:gridCol w="4824393">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latin typeface="Cambria" panose="02040503050406030204" pitchFamily="18" charset="0"/>
                          <a:ea typeface="Cambria" panose="02040503050406030204" pitchFamily="18" charset="0"/>
                        </a:rPr>
                        <a:t>Book</a:t>
                      </a:r>
                    </a:p>
                  </a:txBody>
                  <a:tcPr marL="91437" marR="91437"/>
                </a:tc>
                <a:tc>
                  <a:txBody>
                    <a:bodyPr/>
                    <a:lstStyle/>
                    <a:p>
                      <a:pPr algn="ctr"/>
                      <a:r>
                        <a:rPr lang="en-US" sz="2400" dirty="0">
                          <a:solidFill>
                            <a:srgbClr val="FFFF00"/>
                          </a:solidFill>
                          <a:latin typeface="Cambria" panose="02040503050406030204" pitchFamily="18" charset="0"/>
                          <a:ea typeface="Cambria" panose="02040503050406030204" pitchFamily="18" charset="0"/>
                        </a:rPr>
                        <a:t>Section(s) / Chapter</a:t>
                      </a:r>
                    </a:p>
                  </a:txBody>
                  <a:tcPr marL="91437" marR="91437"/>
                </a:tc>
                <a:extLst>
                  <a:ext uri="{0D108BD9-81ED-4DB2-BD59-A6C34878D82A}">
                    <a16:rowId xmlns:a16="http://schemas.microsoft.com/office/drawing/2014/main" val="10000"/>
                  </a:ext>
                </a:extLst>
              </a:tr>
              <a:tr h="431970">
                <a:tc>
                  <a:txBody>
                    <a:bodyPr/>
                    <a:lstStyle/>
                    <a:p>
                      <a:pPr algn="ctr"/>
                      <a:r>
                        <a:rPr lang="en-US" sz="2400" b="0" dirty="0">
                          <a:solidFill>
                            <a:schemeClr val="tx1"/>
                          </a:solidFill>
                          <a:latin typeface="Cambria" panose="02040503050406030204" pitchFamily="18" charset="0"/>
                          <a:ea typeface="Cambria" panose="02040503050406030204" pitchFamily="18" charset="0"/>
                        </a:rPr>
                        <a:t>A</a:t>
                      </a:r>
                    </a:p>
                  </a:txBody>
                  <a:tcPr marL="91437" marR="91437"/>
                </a:tc>
                <a:tc>
                  <a:txBody>
                    <a:bodyPr/>
                    <a:lstStyle/>
                    <a:p>
                      <a:pPr algn="l"/>
                      <a:r>
                        <a:rPr lang="en-US" sz="2400" b="0">
                          <a:solidFill>
                            <a:schemeClr val="tx1"/>
                          </a:solidFill>
                          <a:latin typeface="Cambria" panose="02040503050406030204" pitchFamily="18" charset="0"/>
                          <a:ea typeface="Cambria" panose="02040503050406030204" pitchFamily="18" charset="0"/>
                        </a:rPr>
                        <a:t>10.2 to 10.5</a:t>
                      </a:r>
                      <a:endParaRPr lang="en-US" sz="2400" b="0" dirty="0">
                        <a:solidFill>
                          <a:schemeClr val="tx1"/>
                        </a:solidFill>
                        <a:latin typeface="Cambria" panose="02040503050406030204" pitchFamily="18" charset="0"/>
                        <a:ea typeface="Cambria" panose="02040503050406030204" pitchFamily="18" charset="0"/>
                      </a:endParaRPr>
                    </a:p>
                  </a:txBody>
                  <a:tcPr marL="91437" marR="91437"/>
                </a:tc>
                <a:extLst>
                  <a:ext uri="{0D108BD9-81ED-4DB2-BD59-A6C34878D82A}">
                    <a16:rowId xmlns:a16="http://schemas.microsoft.com/office/drawing/2014/main" val="10001"/>
                  </a:ext>
                </a:extLst>
              </a:tr>
              <a:tr h="431970">
                <a:tc>
                  <a:txBody>
                    <a:bodyPr/>
                    <a:lstStyle/>
                    <a:p>
                      <a:pPr algn="ctr"/>
                      <a:r>
                        <a:rPr lang="en-US" sz="2400" dirty="0">
                          <a:latin typeface="Cambria" panose="02040503050406030204" pitchFamily="18" charset="0"/>
                          <a:ea typeface="Cambria" panose="02040503050406030204" pitchFamily="18" charset="0"/>
                        </a:rPr>
                        <a:t>B</a:t>
                      </a:r>
                    </a:p>
                  </a:txBody>
                  <a:tcPr marL="91437" marR="91437"/>
                </a:tc>
                <a:tc>
                  <a:txBody>
                    <a:bodyPr/>
                    <a:lstStyle/>
                    <a:p>
                      <a:pPr algn="l"/>
                      <a:r>
                        <a:rPr lang="en-US" sz="2400" dirty="0">
                          <a:latin typeface="Cambria" panose="02040503050406030204" pitchFamily="18" charset="0"/>
                          <a:ea typeface="Cambria" panose="02040503050406030204" pitchFamily="18" charset="0"/>
                        </a:rPr>
                        <a:t>Page 515 to 520</a:t>
                      </a:r>
                    </a:p>
                  </a:txBody>
                  <a:tcPr marL="91437" marR="91437"/>
                </a:tc>
                <a:extLst>
                  <a:ext uri="{0D108BD9-81ED-4DB2-BD59-A6C34878D82A}">
                    <a16:rowId xmlns:a16="http://schemas.microsoft.com/office/drawing/2014/main" val="10003"/>
                  </a:ext>
                </a:extLst>
              </a:tr>
              <a:tr h="431970">
                <a:tc>
                  <a:txBody>
                    <a:bodyPr/>
                    <a:lstStyle/>
                    <a:p>
                      <a:pPr algn="ctr"/>
                      <a:r>
                        <a:rPr lang="en-US" sz="2400" dirty="0">
                          <a:latin typeface="Cambria" panose="02040503050406030204" pitchFamily="18" charset="0"/>
                          <a:ea typeface="Cambria" panose="02040503050406030204" pitchFamily="18" charset="0"/>
                        </a:rPr>
                        <a:t>C</a:t>
                      </a:r>
                    </a:p>
                  </a:txBody>
                  <a:tcPr marL="91437" marR="91437"/>
                </a:tc>
                <a:tc>
                  <a:txBody>
                    <a:bodyPr/>
                    <a:lstStyle/>
                    <a:p>
                      <a:pPr algn="l"/>
                      <a:r>
                        <a:rPr lang="en-US" sz="2400" dirty="0">
                          <a:latin typeface="Cambria" panose="02040503050406030204" pitchFamily="18" charset="0"/>
                          <a:ea typeface="Cambria" panose="02040503050406030204" pitchFamily="18" charset="0"/>
                        </a:rPr>
                        <a:t>22.2</a:t>
                      </a:r>
                    </a:p>
                  </a:txBody>
                  <a:tcPr marL="91437" marR="91437"/>
                </a:tc>
                <a:extLst>
                  <a:ext uri="{0D108BD9-81ED-4DB2-BD59-A6C34878D82A}">
                    <a16:rowId xmlns:a16="http://schemas.microsoft.com/office/drawing/2014/main" val="257358013"/>
                  </a:ext>
                </a:extLst>
              </a:tr>
              <a:tr h="431970">
                <a:tc>
                  <a:txBody>
                    <a:bodyPr/>
                    <a:lstStyle/>
                    <a:p>
                      <a:pPr algn="ctr"/>
                      <a:r>
                        <a:rPr lang="en-US" sz="2400" dirty="0">
                          <a:latin typeface="Cambria" panose="02040503050406030204" pitchFamily="18" charset="0"/>
                          <a:ea typeface="Cambria" panose="02040503050406030204" pitchFamily="18" charset="0"/>
                        </a:rPr>
                        <a:t>F</a:t>
                      </a:r>
                    </a:p>
                  </a:txBody>
                  <a:tcPr marL="91437" marR="91437"/>
                </a:tc>
                <a:tc>
                  <a:txBody>
                    <a:bodyPr/>
                    <a:lstStyle/>
                    <a:p>
                      <a:pPr algn="l"/>
                      <a:r>
                        <a:rPr lang="en-US" sz="2400" dirty="0">
                          <a:latin typeface="Cambria" panose="02040503050406030204" pitchFamily="18" charset="0"/>
                          <a:ea typeface="Cambria" panose="02040503050406030204" pitchFamily="18" charset="0"/>
                        </a:rPr>
                        <a:t>9.2 to 9.6</a:t>
                      </a:r>
                    </a:p>
                  </a:txBody>
                  <a:tcPr marL="91437" marR="91437"/>
                </a:tc>
                <a:extLst>
                  <a:ext uri="{0D108BD9-81ED-4DB2-BD59-A6C34878D82A}">
                    <a16:rowId xmlns:a16="http://schemas.microsoft.com/office/drawing/2014/main" val="10006"/>
                  </a:ext>
                </a:extLst>
              </a:tr>
            </a:tbl>
          </a:graphicData>
        </a:graphic>
      </p:graphicFrame>
      <p:sp>
        <p:nvSpPr>
          <p:cNvPr id="3" name="Footer Placeholder 2">
            <a:extLst>
              <a:ext uri="{FF2B5EF4-FFF2-40B4-BE49-F238E27FC236}">
                <a16:creationId xmlns:a16="http://schemas.microsoft.com/office/drawing/2014/main" id="{2A018A2F-D923-FE07-856A-D40D940D0780}"/>
              </a:ext>
            </a:extLst>
          </p:cNvPr>
          <p:cNvSpPr>
            <a:spLocks noGrp="1"/>
          </p:cNvSpPr>
          <p:nvPr>
            <p:ph type="ftr" sz="quarter" idx="11"/>
          </p:nvPr>
        </p:nvSpPr>
        <p:spPr>
          <a:xfrm>
            <a:off x="2555776" y="6428184"/>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AE65C447-A00A-C8F2-8957-35B4992EC2EF}"/>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18825</TotalTime>
  <Words>4763</Words>
  <Application>Microsoft Office PowerPoint</Application>
  <PresentationFormat>On-screen Show (4:3)</PresentationFormat>
  <Paragraphs>508</Paragraphs>
  <Slides>45</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45</vt:i4>
      </vt:variant>
    </vt:vector>
  </HeadingPairs>
  <TitlesOfParts>
    <vt:vector size="52" baseType="lpstr">
      <vt:lpstr>Arial</vt:lpstr>
      <vt:lpstr>Cambria</vt:lpstr>
      <vt:lpstr>Franklin Gothic Book</vt:lpstr>
      <vt:lpstr>Perpetua</vt:lpstr>
      <vt:lpstr>Wingdings 2</vt:lpstr>
      <vt:lpstr>Equity</vt:lpstr>
      <vt:lpstr>2_Equity</vt:lpstr>
      <vt:lpstr>CC-215 Database Systems</vt:lpstr>
      <vt:lpstr>Introduction</vt:lpstr>
      <vt:lpstr>Concurrency Problems</vt:lpstr>
      <vt:lpstr>1. Lost Update Problem</vt:lpstr>
      <vt:lpstr>2. Uncommitted Dependency (or dirty read) Problem</vt:lpstr>
      <vt:lpstr>2. Uncommitted Dependency (or dirty read) Problem</vt:lpstr>
      <vt:lpstr>3. Inconsistent Analysis/Retrievals</vt:lpstr>
      <vt:lpstr>Concurrency Problems</vt:lpstr>
      <vt:lpstr>Scheduler</vt:lpstr>
      <vt:lpstr>Scheduler</vt:lpstr>
      <vt:lpstr>Serial vs. Non-serial Schedule</vt:lpstr>
      <vt:lpstr>Serializability of Schedules</vt:lpstr>
      <vt:lpstr>Serializability of Schedules</vt:lpstr>
      <vt:lpstr>Serializability of Schedules</vt:lpstr>
      <vt:lpstr>Serializability of Schedules</vt:lpstr>
      <vt:lpstr>Conflict Serializability</vt:lpstr>
      <vt:lpstr>Conflict Serializability</vt:lpstr>
      <vt:lpstr>Conflict Serializability</vt:lpstr>
      <vt:lpstr>Conflict Serializability</vt:lpstr>
      <vt:lpstr>Conflict Serializability</vt:lpstr>
      <vt:lpstr>Conflict Serializability</vt:lpstr>
      <vt:lpstr>Concurrency Control Methods</vt:lpstr>
      <vt:lpstr>Concurrency Control Methods</vt:lpstr>
      <vt:lpstr>Concurrency Control Methods</vt:lpstr>
      <vt:lpstr>Concurrency Control Methods</vt:lpstr>
      <vt:lpstr>1. Lost Update Problem</vt:lpstr>
      <vt:lpstr>2. Preventing Uncommitted Dependency Problem</vt:lpstr>
      <vt:lpstr>3. Preventing Inconsistent Analysis/Retrievals</vt:lpstr>
      <vt:lpstr>Incorrect Locking Schedule</vt:lpstr>
      <vt:lpstr>Incorrect Locking Schedule</vt:lpstr>
      <vt:lpstr>Two-phase Locking (2PL)</vt:lpstr>
      <vt:lpstr>Two-phase Locking (2PL)</vt:lpstr>
      <vt:lpstr>Variations of Two-phase Locking (2PL)</vt:lpstr>
      <vt:lpstr>Deadlock</vt:lpstr>
      <vt:lpstr>Deadlock Handling</vt:lpstr>
      <vt:lpstr>Deadlock Handling</vt:lpstr>
      <vt:lpstr>Deadlock Handling</vt:lpstr>
      <vt:lpstr>Livelock </vt:lpstr>
      <vt:lpstr>2. Timestamping</vt:lpstr>
      <vt:lpstr>Timestamp Ordering (TO) Algorithm</vt:lpstr>
      <vt:lpstr>3. Optimistic Approach</vt:lpstr>
      <vt:lpstr>3. Optimistic Approach - Versioning</vt:lpstr>
      <vt:lpstr>3. Optimistic Approach - Versioning</vt:lpstr>
      <vt:lpstr>3. Optimistic Approach </vt:lpstr>
      <vt:lpstr>Reading Material</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1120</cp:revision>
  <dcterms:created xsi:type="dcterms:W3CDTF">2006-05-17T12:38:56Z</dcterms:created>
  <dcterms:modified xsi:type="dcterms:W3CDTF">2025-12-29T09:40:45Z</dcterms:modified>
</cp:coreProperties>
</file>