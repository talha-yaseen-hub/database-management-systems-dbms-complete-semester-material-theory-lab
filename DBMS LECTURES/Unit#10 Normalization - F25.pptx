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2" r:id="rId1"/>
    <p:sldMasterId id="2147483725" r:id="rId2"/>
  </p:sldMasterIdLst>
  <p:notesMasterIdLst>
    <p:notesMasterId r:id="rId40"/>
  </p:notesMasterIdLst>
  <p:handoutMasterIdLst>
    <p:handoutMasterId r:id="rId41"/>
  </p:handoutMasterIdLst>
  <p:sldIdLst>
    <p:sldId id="508" r:id="rId3"/>
    <p:sldId id="512" r:id="rId4"/>
    <p:sldId id="550" r:id="rId5"/>
    <p:sldId id="551" r:id="rId6"/>
    <p:sldId id="552" r:id="rId7"/>
    <p:sldId id="553" r:id="rId8"/>
    <p:sldId id="554" r:id="rId9"/>
    <p:sldId id="555" r:id="rId10"/>
    <p:sldId id="556" r:id="rId11"/>
    <p:sldId id="557" r:id="rId12"/>
    <p:sldId id="558" r:id="rId13"/>
    <p:sldId id="559" r:id="rId14"/>
    <p:sldId id="560" r:id="rId15"/>
    <p:sldId id="470" r:id="rId16"/>
    <p:sldId id="561" r:id="rId17"/>
    <p:sldId id="562" r:id="rId18"/>
    <p:sldId id="563" r:id="rId19"/>
    <p:sldId id="564" r:id="rId20"/>
    <p:sldId id="565" r:id="rId21"/>
    <p:sldId id="566" r:id="rId22"/>
    <p:sldId id="567" r:id="rId23"/>
    <p:sldId id="568" r:id="rId24"/>
    <p:sldId id="569" r:id="rId25"/>
    <p:sldId id="570" r:id="rId26"/>
    <p:sldId id="571" r:id="rId27"/>
    <p:sldId id="572" r:id="rId28"/>
    <p:sldId id="573" r:id="rId29"/>
    <p:sldId id="574" r:id="rId30"/>
    <p:sldId id="575" r:id="rId31"/>
    <p:sldId id="576" r:id="rId32"/>
    <p:sldId id="577" r:id="rId33"/>
    <p:sldId id="578" r:id="rId34"/>
    <p:sldId id="579" r:id="rId35"/>
    <p:sldId id="580" r:id="rId36"/>
    <p:sldId id="581" r:id="rId37"/>
    <p:sldId id="582" r:id="rId38"/>
    <p:sldId id="549" r:id="rId39"/>
  </p:sldIdLst>
  <p:sldSz cx="9144000" cy="6858000" type="screen4x3"/>
  <p:notesSz cx="6577013" cy="9753600"/>
  <p:defaultTextStyle>
    <a:defPPr>
      <a:defRPr lang="de-AT"/>
    </a:defPPr>
    <a:lvl1pPr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800000"/>
    <a:srgbClr val="006600"/>
    <a:srgbClr val="FFFF66"/>
    <a:srgbClr val="00FF00"/>
    <a:srgbClr val="FFFFCC"/>
    <a:srgbClr val="99CCFF"/>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1513" autoAdjust="0"/>
    <p:restoredTop sz="83885" autoAdjust="0"/>
  </p:normalViewPr>
  <p:slideViewPr>
    <p:cSldViewPr>
      <p:cViewPr varScale="1">
        <p:scale>
          <a:sx n="83" d="100"/>
          <a:sy n="83" d="100"/>
        </p:scale>
        <p:origin x="1104"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4FC108E4-CD2F-6DED-A1E1-F750A879E2AF}"/>
              </a:ext>
            </a:extLst>
          </p:cNvPr>
          <p:cNvSpPr>
            <a:spLocks noGrp="1" noChangeArrowheads="1"/>
          </p:cNvSpPr>
          <p:nvPr>
            <p:ph type="hdr" sz="quarter"/>
          </p:nvPr>
        </p:nvSpPr>
        <p:spPr bwMode="auto">
          <a:xfrm>
            <a:off x="0"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7" name="Rectangle 3">
            <a:extLst>
              <a:ext uri="{FF2B5EF4-FFF2-40B4-BE49-F238E27FC236}">
                <a16:creationId xmlns:a16="http://schemas.microsoft.com/office/drawing/2014/main" id="{B58572C7-3ED9-C6A2-10BC-39035CAAD67F}"/>
              </a:ext>
            </a:extLst>
          </p:cNvPr>
          <p:cNvSpPr>
            <a:spLocks noGrp="1" noChangeArrowheads="1"/>
          </p:cNvSpPr>
          <p:nvPr>
            <p:ph type="dt" sz="quarter" idx="1"/>
          </p:nvPr>
        </p:nvSpPr>
        <p:spPr bwMode="auto">
          <a:xfrm>
            <a:off x="3725863"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en-GB"/>
          </a:p>
        </p:txBody>
      </p:sp>
      <p:sp>
        <p:nvSpPr>
          <p:cNvPr id="159748" name="Rectangle 4">
            <a:extLst>
              <a:ext uri="{FF2B5EF4-FFF2-40B4-BE49-F238E27FC236}">
                <a16:creationId xmlns:a16="http://schemas.microsoft.com/office/drawing/2014/main" id="{9329CC39-7257-28E0-4FCC-AF46406FB80D}"/>
              </a:ext>
            </a:extLst>
          </p:cNvPr>
          <p:cNvSpPr>
            <a:spLocks noGrp="1" noChangeArrowheads="1"/>
          </p:cNvSpPr>
          <p:nvPr>
            <p:ph type="ftr" sz="quarter" idx="2"/>
          </p:nvPr>
        </p:nvSpPr>
        <p:spPr bwMode="auto">
          <a:xfrm>
            <a:off x="0" y="9266238"/>
            <a:ext cx="2851150" cy="487362"/>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en-GB"/>
          </a:p>
        </p:txBody>
      </p:sp>
      <p:sp>
        <p:nvSpPr>
          <p:cNvPr id="159749" name="Rectangle 5">
            <a:extLst>
              <a:ext uri="{FF2B5EF4-FFF2-40B4-BE49-F238E27FC236}">
                <a16:creationId xmlns:a16="http://schemas.microsoft.com/office/drawing/2014/main" id="{B3781F52-A64E-CF2F-1921-C81DA0186D39}"/>
              </a:ext>
            </a:extLst>
          </p:cNvPr>
          <p:cNvSpPr>
            <a:spLocks noGrp="1" noChangeArrowheads="1"/>
          </p:cNvSpPr>
          <p:nvPr>
            <p:ph type="sldNum" sz="quarter" idx="3"/>
          </p:nvPr>
        </p:nvSpPr>
        <p:spPr bwMode="auto">
          <a:xfrm>
            <a:off x="3725863" y="9266238"/>
            <a:ext cx="2851150" cy="487362"/>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D85AF684-5F31-4EF2-85AD-0DC5EE83EB1E}" type="slidenum">
              <a:rPr lang="en-GB" altLang="en-US"/>
              <a:pPr>
                <a:defRPr/>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96AE341-6C8A-3EBE-2A83-01A45AF33525}"/>
              </a:ext>
            </a:extLst>
          </p:cNvPr>
          <p:cNvSpPr>
            <a:spLocks noGrp="1" noChangeArrowheads="1"/>
          </p:cNvSpPr>
          <p:nvPr>
            <p:ph type="hdr" sz="quarter"/>
          </p:nvPr>
        </p:nvSpPr>
        <p:spPr bwMode="auto">
          <a:xfrm>
            <a:off x="0"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47" name="Rectangle 3">
            <a:extLst>
              <a:ext uri="{FF2B5EF4-FFF2-40B4-BE49-F238E27FC236}">
                <a16:creationId xmlns:a16="http://schemas.microsoft.com/office/drawing/2014/main" id="{FC851427-B412-A277-C116-DBCAC780801D}"/>
              </a:ext>
            </a:extLst>
          </p:cNvPr>
          <p:cNvSpPr>
            <a:spLocks noGrp="1" noChangeArrowheads="1"/>
          </p:cNvSpPr>
          <p:nvPr>
            <p:ph type="dt" idx="1"/>
          </p:nvPr>
        </p:nvSpPr>
        <p:spPr bwMode="auto">
          <a:xfrm>
            <a:off x="3724275"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eaLnBrk="1" hangingPunct="1">
              <a:defRPr sz="1200">
                <a:latin typeface="Arial" charset="0"/>
              </a:defRPr>
            </a:lvl1pPr>
          </a:lstStyle>
          <a:p>
            <a:pPr>
              <a:defRPr/>
            </a:pPr>
            <a:endParaRPr lang="de-AT"/>
          </a:p>
        </p:txBody>
      </p:sp>
      <p:sp>
        <p:nvSpPr>
          <p:cNvPr id="4100" name="Rectangle 4">
            <a:extLst>
              <a:ext uri="{FF2B5EF4-FFF2-40B4-BE49-F238E27FC236}">
                <a16:creationId xmlns:a16="http://schemas.microsoft.com/office/drawing/2014/main" id="{3D58C4CC-73DB-A0A2-44EB-AA3F06F6DC52}"/>
              </a:ext>
            </a:extLst>
          </p:cNvPr>
          <p:cNvSpPr>
            <a:spLocks noGrp="1" noRot="1" noChangeAspect="1" noChangeArrowheads="1" noTextEdit="1"/>
          </p:cNvSpPr>
          <p:nvPr>
            <p:ph type="sldImg" idx="2"/>
          </p:nvPr>
        </p:nvSpPr>
        <p:spPr bwMode="auto">
          <a:xfrm>
            <a:off x="850900" y="731838"/>
            <a:ext cx="4876800" cy="36576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0164637E-DCFE-653B-54A6-321C841C54A6}"/>
              </a:ext>
            </a:extLst>
          </p:cNvPr>
          <p:cNvSpPr>
            <a:spLocks noGrp="1" noChangeArrowheads="1"/>
          </p:cNvSpPr>
          <p:nvPr>
            <p:ph type="body" sz="quarter" idx="3"/>
          </p:nvPr>
        </p:nvSpPr>
        <p:spPr bwMode="auto">
          <a:xfrm>
            <a:off x="657225" y="4633913"/>
            <a:ext cx="5262563" cy="4387850"/>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p>
            <a:pPr lvl="0"/>
            <a:r>
              <a:rPr lang="de-AT" noProof="0"/>
              <a:t>Click to edit Master text styles</a:t>
            </a:r>
          </a:p>
          <a:p>
            <a:pPr lvl="1"/>
            <a:r>
              <a:rPr lang="de-AT" noProof="0"/>
              <a:t>Second level</a:t>
            </a:r>
          </a:p>
          <a:p>
            <a:pPr lvl="2"/>
            <a:r>
              <a:rPr lang="de-AT" noProof="0"/>
              <a:t>Third level</a:t>
            </a:r>
          </a:p>
          <a:p>
            <a:pPr lvl="3"/>
            <a:r>
              <a:rPr lang="de-AT" noProof="0"/>
              <a:t>Fourth level</a:t>
            </a:r>
          </a:p>
          <a:p>
            <a:pPr lvl="4"/>
            <a:r>
              <a:rPr lang="de-AT" noProof="0"/>
              <a:t>Fifth level</a:t>
            </a:r>
          </a:p>
        </p:txBody>
      </p:sp>
      <p:sp>
        <p:nvSpPr>
          <p:cNvPr id="6150" name="Rectangle 6">
            <a:extLst>
              <a:ext uri="{FF2B5EF4-FFF2-40B4-BE49-F238E27FC236}">
                <a16:creationId xmlns:a16="http://schemas.microsoft.com/office/drawing/2014/main" id="{124DFA4B-A3BB-90DF-4286-1722F3395987}"/>
              </a:ext>
            </a:extLst>
          </p:cNvPr>
          <p:cNvSpPr>
            <a:spLocks noGrp="1" noChangeArrowheads="1"/>
          </p:cNvSpPr>
          <p:nvPr>
            <p:ph type="ftr" sz="quarter" idx="4"/>
          </p:nvPr>
        </p:nvSpPr>
        <p:spPr bwMode="auto">
          <a:xfrm>
            <a:off x="0" y="9264650"/>
            <a:ext cx="2851150" cy="487363"/>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eaLnBrk="1" hangingPunct="1">
              <a:defRPr sz="1200">
                <a:latin typeface="Arial" charset="0"/>
              </a:defRPr>
            </a:lvl1pPr>
          </a:lstStyle>
          <a:p>
            <a:pPr>
              <a:defRPr/>
            </a:pPr>
            <a:endParaRPr lang="de-AT"/>
          </a:p>
        </p:txBody>
      </p:sp>
      <p:sp>
        <p:nvSpPr>
          <p:cNvPr id="6151" name="Rectangle 7">
            <a:extLst>
              <a:ext uri="{FF2B5EF4-FFF2-40B4-BE49-F238E27FC236}">
                <a16:creationId xmlns:a16="http://schemas.microsoft.com/office/drawing/2014/main" id="{0ECD8A27-B8AD-A94B-1A9E-54D4F92035D4}"/>
              </a:ext>
            </a:extLst>
          </p:cNvPr>
          <p:cNvSpPr>
            <a:spLocks noGrp="1" noChangeArrowheads="1"/>
          </p:cNvSpPr>
          <p:nvPr>
            <p:ph type="sldNum" sz="quarter" idx="5"/>
          </p:nvPr>
        </p:nvSpPr>
        <p:spPr bwMode="auto">
          <a:xfrm>
            <a:off x="3724275" y="9264650"/>
            <a:ext cx="2851150" cy="487363"/>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eaLnBrk="1" hangingPunct="1">
              <a:defRPr sz="1200"/>
            </a:lvl1pPr>
          </a:lstStyle>
          <a:p>
            <a:pPr>
              <a:defRPr/>
            </a:pPr>
            <a:fld id="{8B3B37B0-863C-4EB0-87FB-266F4BB477A1}" type="slidenum">
              <a:rPr lang="de-AT" altLang="en-US"/>
              <a:pPr>
                <a:defRPr/>
              </a:pPr>
              <a:t>‹#›</a:t>
            </a:fld>
            <a:endParaRPr lang="de-A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a:extLst>
              <a:ext uri="{FF2B5EF4-FFF2-40B4-BE49-F238E27FC236}">
                <a16:creationId xmlns:a16="http://schemas.microsoft.com/office/drawing/2014/main" id="{EAA43CF9-15AF-A521-A3CE-9049C1B5519B}"/>
              </a:ext>
            </a:extLst>
          </p:cNvPr>
          <p:cNvSpPr>
            <a:spLocks noGrp="1" noRot="1" noChangeAspect="1" noChangeArrowheads="1" noTextEdit="1"/>
          </p:cNvSpPr>
          <p:nvPr>
            <p:ph type="sldImg"/>
          </p:nvPr>
        </p:nvSpPr>
        <p:spPr>
          <a:ln/>
        </p:spPr>
      </p:sp>
      <p:sp>
        <p:nvSpPr>
          <p:cNvPr id="96259" name="Notes Placeholder 2">
            <a:extLst>
              <a:ext uri="{FF2B5EF4-FFF2-40B4-BE49-F238E27FC236}">
                <a16:creationId xmlns:a16="http://schemas.microsoft.com/office/drawing/2014/main" id="{D534ABF6-AEF7-70E1-B84C-D52E0F7BD78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96260" name="Slide Number Placeholder 3">
            <a:extLst>
              <a:ext uri="{FF2B5EF4-FFF2-40B4-BE49-F238E27FC236}">
                <a16:creationId xmlns:a16="http://schemas.microsoft.com/office/drawing/2014/main" id="{522DF649-CD8C-E2DC-63F8-2360EC4CD0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33BDED0-B2D7-4C86-BDE7-6478177757F0}"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2DAEB05-C6F9-EBA1-BDBF-F1C09CF31DEA}"/>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B5DB4C64-09AE-1654-2CBD-66F3EE19D423}"/>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AF4F4359-DBFC-3E3C-F3DB-AA0B1EA3426F}"/>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4567EC7B-570E-7DB1-EA52-1B941B68EF30}"/>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45CCEA0B-E9C7-CC2E-8FC9-5B7BABC78580}"/>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7" name="Date Placeholder 27">
            <a:extLst>
              <a:ext uri="{FF2B5EF4-FFF2-40B4-BE49-F238E27FC236}">
                <a16:creationId xmlns:a16="http://schemas.microsoft.com/office/drawing/2014/main" id="{CB684E0D-69C9-8E66-DC10-9B1D1F1CB0A1}"/>
              </a:ext>
            </a:extLst>
          </p:cNvPr>
          <p:cNvSpPr>
            <a:spLocks noGrp="1"/>
          </p:cNvSpPr>
          <p:nvPr>
            <p:ph type="dt" sz="half" idx="10"/>
          </p:nvPr>
        </p:nvSpPr>
        <p:spPr/>
        <p:txBody>
          <a:bodyPr/>
          <a:lstStyle>
            <a:lvl1pPr>
              <a:defRPr/>
            </a:lvl1pPr>
          </a:lstStyle>
          <a:p>
            <a:pPr>
              <a:defRPr/>
            </a:pPr>
            <a:fld id="{48B3E01F-38A2-42FF-9F3F-C793E563BE67}" type="datetime1">
              <a:rPr lang="en-US"/>
              <a:pPr>
                <a:defRPr/>
              </a:pPr>
              <a:t>11/24/2025</a:t>
            </a:fld>
            <a:endParaRPr lang="en-US"/>
          </a:p>
        </p:txBody>
      </p:sp>
      <p:sp>
        <p:nvSpPr>
          <p:cNvPr id="10" name="Footer Placeholder 16">
            <a:extLst>
              <a:ext uri="{FF2B5EF4-FFF2-40B4-BE49-F238E27FC236}">
                <a16:creationId xmlns:a16="http://schemas.microsoft.com/office/drawing/2014/main" id="{25244548-060A-E968-D161-A05AD1EBC38C}"/>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11" name="Slide Number Placeholder 28">
            <a:extLst>
              <a:ext uri="{FF2B5EF4-FFF2-40B4-BE49-F238E27FC236}">
                <a16:creationId xmlns:a16="http://schemas.microsoft.com/office/drawing/2014/main" id="{DB366262-7AF9-C6EB-C759-A991D4A56A3F}"/>
              </a:ext>
            </a:extLst>
          </p:cNvPr>
          <p:cNvSpPr>
            <a:spLocks noGrp="1"/>
          </p:cNvSpPr>
          <p:nvPr>
            <p:ph type="sldNum" sz="quarter" idx="12"/>
          </p:nvPr>
        </p:nvSpPr>
        <p:spPr/>
        <p:txBody>
          <a:bodyPr/>
          <a:lstStyle>
            <a:lvl1pPr>
              <a:defRPr sz="1400">
                <a:solidFill>
                  <a:srgbClr val="FFFFFF"/>
                </a:solidFill>
              </a:defRPr>
            </a:lvl1pPr>
          </a:lstStyle>
          <a:p>
            <a:pPr>
              <a:defRPr/>
            </a:pPr>
            <a:fld id="{D7193125-96FA-47BA-B1F1-5A4869DA68D1}" type="slidenum">
              <a:rPr lang="en-US"/>
              <a:pPr>
                <a:defRPr/>
              </a:pPr>
              <a:t>‹#›</a:t>
            </a:fld>
            <a:endParaRPr lang="en-US" dirty="0"/>
          </a:p>
        </p:txBody>
      </p:sp>
    </p:spTree>
    <p:extLst>
      <p:ext uri="{BB962C8B-B14F-4D97-AF65-F5344CB8AC3E}">
        <p14:creationId xmlns:p14="http://schemas.microsoft.com/office/powerpoint/2010/main" val="1894479647"/>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3F7958F2-90F8-EDB0-1B8E-E67305CCA432}"/>
              </a:ext>
            </a:extLst>
          </p:cNvPr>
          <p:cNvSpPr>
            <a:spLocks noGrp="1"/>
          </p:cNvSpPr>
          <p:nvPr>
            <p:ph type="dt" sz="half" idx="10"/>
          </p:nvPr>
        </p:nvSpPr>
        <p:spPr/>
        <p:txBody>
          <a:bodyPr/>
          <a:lstStyle>
            <a:lvl1pPr>
              <a:defRPr/>
            </a:lvl1pPr>
          </a:lstStyle>
          <a:p>
            <a:pPr>
              <a:defRPr/>
            </a:pPr>
            <a:fld id="{5DB97FB1-FE9F-4D48-A1FD-F707E11E32CD}" type="datetime1">
              <a:rPr lang="en-US"/>
              <a:pPr>
                <a:defRPr/>
              </a:pPr>
              <a:t>11/24/2025</a:t>
            </a:fld>
            <a:endParaRPr lang="en-US" dirty="0"/>
          </a:p>
        </p:txBody>
      </p:sp>
      <p:sp>
        <p:nvSpPr>
          <p:cNvPr id="4" name="Footer Placeholder 2">
            <a:extLst>
              <a:ext uri="{FF2B5EF4-FFF2-40B4-BE49-F238E27FC236}">
                <a16:creationId xmlns:a16="http://schemas.microsoft.com/office/drawing/2014/main" id="{5803DD14-ADAB-0696-358C-9E12307C0852}"/>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2A5E265D-A54F-1AA7-6A39-5E13AB8EBF44}"/>
              </a:ext>
            </a:extLst>
          </p:cNvPr>
          <p:cNvSpPr>
            <a:spLocks noGrp="1"/>
          </p:cNvSpPr>
          <p:nvPr>
            <p:ph type="sldNum" sz="quarter" idx="12"/>
          </p:nvPr>
        </p:nvSpPr>
        <p:spPr/>
        <p:txBody>
          <a:bodyPr/>
          <a:lstStyle>
            <a:lvl1pPr>
              <a:defRPr/>
            </a:lvl1pPr>
          </a:lstStyle>
          <a:p>
            <a:pPr>
              <a:defRPr/>
            </a:pPr>
            <a:fld id="{0D47AA32-A686-45C6-9B3D-C0080A28648A}" type="slidenum">
              <a:rPr lang="en-US"/>
              <a:pPr>
                <a:defRPr/>
              </a:pPr>
              <a:t>‹#›</a:t>
            </a:fld>
            <a:endParaRPr lang="en-US" dirty="0"/>
          </a:p>
        </p:txBody>
      </p:sp>
    </p:spTree>
    <p:extLst>
      <p:ext uri="{BB962C8B-B14F-4D97-AF65-F5344CB8AC3E}">
        <p14:creationId xmlns:p14="http://schemas.microsoft.com/office/powerpoint/2010/main" val="3203241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2058D0D-C252-1045-E67F-37208701CDE9}"/>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4">
            <a:extLst>
              <a:ext uri="{FF2B5EF4-FFF2-40B4-BE49-F238E27FC236}">
                <a16:creationId xmlns:a16="http://schemas.microsoft.com/office/drawing/2014/main" id="{1E993B11-3796-E9FC-D70E-498D1947E9F4}"/>
              </a:ext>
            </a:extLst>
          </p:cNvPr>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145A4A55-7156-0E1D-B2B2-E85BBACF45B2}"/>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4D6248EA-4D66-AC69-EB44-A97AAA7885DD}"/>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26C70E99-6E4F-E05C-0153-6119E2A3A9A3}"/>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a:extLst>
              <a:ext uri="{FF2B5EF4-FFF2-40B4-BE49-F238E27FC236}">
                <a16:creationId xmlns:a16="http://schemas.microsoft.com/office/drawing/2014/main" id="{FEEF8798-560A-9FC5-9C69-3E11CDC5DDA1}"/>
              </a:ext>
            </a:extLst>
          </p:cNvPr>
          <p:cNvSpPr>
            <a:spLocks noGrp="1"/>
          </p:cNvSpPr>
          <p:nvPr>
            <p:ph type="dt" sz="half" idx="10"/>
          </p:nvPr>
        </p:nvSpPr>
        <p:spPr/>
        <p:txBody>
          <a:bodyPr/>
          <a:lstStyle>
            <a:lvl1pPr>
              <a:defRPr/>
            </a:lvl1pPr>
          </a:lstStyle>
          <a:p>
            <a:pPr>
              <a:defRPr/>
            </a:pPr>
            <a:fld id="{F87146F3-CF9B-44EA-962E-823898A33939}" type="datetime1">
              <a:rPr lang="en-US"/>
              <a:pPr>
                <a:defRPr/>
              </a:pPr>
              <a:t>11/24/2025</a:t>
            </a:fld>
            <a:endParaRPr lang="en-US"/>
          </a:p>
        </p:txBody>
      </p:sp>
      <p:sp>
        <p:nvSpPr>
          <p:cNvPr id="10" name="Footer Placeholder 4">
            <a:extLst>
              <a:ext uri="{FF2B5EF4-FFF2-40B4-BE49-F238E27FC236}">
                <a16:creationId xmlns:a16="http://schemas.microsoft.com/office/drawing/2014/main" id="{E78121F1-44D3-803D-1458-3D9C0A73E794}"/>
              </a:ext>
            </a:extLst>
          </p:cNvPr>
          <p:cNvSpPr>
            <a:spLocks noGrp="1"/>
          </p:cNvSpPr>
          <p:nvPr>
            <p:ph type="ftr" sz="quarter" idx="11"/>
          </p:nvPr>
        </p:nvSpPr>
        <p:spPr>
          <a:xfrm>
            <a:off x="800100" y="6172200"/>
            <a:ext cx="4000500" cy="457200"/>
          </a:xfrm>
        </p:spPr>
        <p:txBody>
          <a:bodyPr/>
          <a:lstStyle>
            <a:lvl1pPr>
              <a:defRPr/>
            </a:lvl1pPr>
          </a:lstStyle>
          <a:p>
            <a:pPr>
              <a:defRPr/>
            </a:pPr>
            <a:r>
              <a:rPr lang="en-US"/>
              <a:t>Autonomous Robots -- Dr. Zawar Qayyum, 2010</a:t>
            </a:r>
          </a:p>
        </p:txBody>
      </p:sp>
      <p:sp>
        <p:nvSpPr>
          <p:cNvPr id="11" name="Slide Number Placeholder 5">
            <a:extLst>
              <a:ext uri="{FF2B5EF4-FFF2-40B4-BE49-F238E27FC236}">
                <a16:creationId xmlns:a16="http://schemas.microsoft.com/office/drawing/2014/main" id="{06822442-7084-FAA1-8C10-621C258933E7}"/>
              </a:ext>
            </a:extLst>
          </p:cNvPr>
          <p:cNvSpPr>
            <a:spLocks noGrp="1"/>
          </p:cNvSpPr>
          <p:nvPr>
            <p:ph type="sldNum" sz="quarter" idx="12"/>
          </p:nvPr>
        </p:nvSpPr>
        <p:spPr>
          <a:xfrm>
            <a:off x="146050" y="6208713"/>
            <a:ext cx="457200" cy="457200"/>
          </a:xfrm>
        </p:spPr>
        <p:txBody>
          <a:bodyPr/>
          <a:lstStyle>
            <a:lvl1pPr>
              <a:defRPr/>
            </a:lvl1pPr>
          </a:lstStyle>
          <a:p>
            <a:pPr>
              <a:defRPr/>
            </a:pPr>
            <a:fld id="{624DFF81-5A19-465F-8538-56980FBEA7A2}" type="slidenum">
              <a:rPr lang="en-US"/>
              <a:pPr>
                <a:defRPr/>
              </a:pPr>
              <a:t>‹#›</a:t>
            </a:fld>
            <a:endParaRPr lang="en-US" dirty="0"/>
          </a:p>
        </p:txBody>
      </p:sp>
    </p:spTree>
    <p:extLst>
      <p:ext uri="{BB962C8B-B14F-4D97-AF65-F5344CB8AC3E}">
        <p14:creationId xmlns:p14="http://schemas.microsoft.com/office/powerpoint/2010/main" val="4108601847"/>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85A727EA-423D-1720-B872-508B519605CB}"/>
              </a:ext>
            </a:extLst>
          </p:cNvPr>
          <p:cNvSpPr>
            <a:spLocks noGrp="1"/>
          </p:cNvSpPr>
          <p:nvPr>
            <p:ph type="dt" sz="half" idx="10"/>
          </p:nvPr>
        </p:nvSpPr>
        <p:spPr/>
        <p:txBody>
          <a:bodyPr/>
          <a:lstStyle>
            <a:lvl1pPr>
              <a:defRPr/>
            </a:lvl1pPr>
          </a:lstStyle>
          <a:p>
            <a:pPr>
              <a:defRPr/>
            </a:pPr>
            <a:fld id="{D22E0D77-F2CB-437E-B99C-865F2FAA5BF1}" type="datetime1">
              <a:rPr lang="en-US"/>
              <a:pPr>
                <a:defRPr/>
              </a:pPr>
              <a:t>11/24/2025</a:t>
            </a:fld>
            <a:endParaRPr lang="en-US" dirty="0"/>
          </a:p>
        </p:txBody>
      </p:sp>
      <p:sp>
        <p:nvSpPr>
          <p:cNvPr id="4" name="Footer Placeholder 2">
            <a:extLst>
              <a:ext uri="{FF2B5EF4-FFF2-40B4-BE49-F238E27FC236}">
                <a16:creationId xmlns:a16="http://schemas.microsoft.com/office/drawing/2014/main" id="{9A5A4389-BDF7-A417-3733-333E086E7A95}"/>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CA70A2B6-DEAA-4CE9-1772-E0FD3F2857E8}"/>
              </a:ext>
            </a:extLst>
          </p:cNvPr>
          <p:cNvSpPr>
            <a:spLocks noGrp="1"/>
          </p:cNvSpPr>
          <p:nvPr>
            <p:ph type="sldNum" sz="quarter" idx="12"/>
          </p:nvPr>
        </p:nvSpPr>
        <p:spPr/>
        <p:txBody>
          <a:bodyPr/>
          <a:lstStyle>
            <a:lvl1pPr>
              <a:defRPr/>
            </a:lvl1pPr>
          </a:lstStyle>
          <a:p>
            <a:pPr>
              <a:defRPr/>
            </a:pPr>
            <a:fld id="{EC9E499B-12A7-4070-B533-602FBCB95A47}" type="slidenum">
              <a:rPr lang="en-US"/>
              <a:pPr>
                <a:defRPr/>
              </a:pPr>
              <a:t>‹#›</a:t>
            </a:fld>
            <a:endParaRPr lang="en-US" dirty="0"/>
          </a:p>
        </p:txBody>
      </p:sp>
    </p:spTree>
    <p:extLst>
      <p:ext uri="{BB962C8B-B14F-4D97-AF65-F5344CB8AC3E}">
        <p14:creationId xmlns:p14="http://schemas.microsoft.com/office/powerpoint/2010/main" val="1225535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0DD01C8D-7A59-AEDC-6FC9-2E05D2C9FE2D}"/>
              </a:ext>
            </a:extLst>
          </p:cNvPr>
          <p:cNvSpPr>
            <a:spLocks noGrp="1"/>
          </p:cNvSpPr>
          <p:nvPr>
            <p:ph type="dt" sz="half" idx="10"/>
          </p:nvPr>
        </p:nvSpPr>
        <p:spPr/>
        <p:txBody>
          <a:bodyPr/>
          <a:lstStyle>
            <a:lvl1pPr>
              <a:defRPr/>
            </a:lvl1pPr>
          </a:lstStyle>
          <a:p>
            <a:pPr>
              <a:defRPr/>
            </a:pPr>
            <a:fld id="{BB597935-3823-4B60-AB1F-7B598EBC026B}" type="datetime1">
              <a:rPr lang="en-US"/>
              <a:pPr>
                <a:defRPr/>
              </a:pPr>
              <a:t>11/24/2025</a:t>
            </a:fld>
            <a:endParaRPr lang="en-US" dirty="0"/>
          </a:p>
        </p:txBody>
      </p:sp>
      <p:sp>
        <p:nvSpPr>
          <p:cNvPr id="6" name="Footer Placeholder 2">
            <a:extLst>
              <a:ext uri="{FF2B5EF4-FFF2-40B4-BE49-F238E27FC236}">
                <a16:creationId xmlns:a16="http://schemas.microsoft.com/office/drawing/2014/main" id="{1412A25E-EC09-9AF5-CF0C-124EAB34A4C9}"/>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7" name="Slide Number Placeholder 22">
            <a:extLst>
              <a:ext uri="{FF2B5EF4-FFF2-40B4-BE49-F238E27FC236}">
                <a16:creationId xmlns:a16="http://schemas.microsoft.com/office/drawing/2014/main" id="{51C5FB64-40E9-99BB-0D56-A60FA33F2247}"/>
              </a:ext>
            </a:extLst>
          </p:cNvPr>
          <p:cNvSpPr>
            <a:spLocks noGrp="1"/>
          </p:cNvSpPr>
          <p:nvPr>
            <p:ph type="sldNum" sz="quarter" idx="12"/>
          </p:nvPr>
        </p:nvSpPr>
        <p:spPr/>
        <p:txBody>
          <a:bodyPr/>
          <a:lstStyle>
            <a:lvl1pPr>
              <a:defRPr/>
            </a:lvl1pPr>
          </a:lstStyle>
          <a:p>
            <a:pPr>
              <a:defRPr/>
            </a:pPr>
            <a:fld id="{8AE4481D-4CB7-45BF-94CE-4E4E23821957}" type="slidenum">
              <a:rPr lang="en-US"/>
              <a:pPr>
                <a:defRPr/>
              </a:pPr>
              <a:t>‹#›</a:t>
            </a:fld>
            <a:endParaRPr lang="en-US" dirty="0"/>
          </a:p>
        </p:txBody>
      </p:sp>
    </p:spTree>
    <p:extLst>
      <p:ext uri="{BB962C8B-B14F-4D97-AF65-F5344CB8AC3E}">
        <p14:creationId xmlns:p14="http://schemas.microsoft.com/office/powerpoint/2010/main" val="32078937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DAFCF03D-112D-D6F5-F0EE-9FCCC3254404}"/>
              </a:ext>
            </a:extLst>
          </p:cNvPr>
          <p:cNvSpPr>
            <a:spLocks noGrp="1"/>
          </p:cNvSpPr>
          <p:nvPr>
            <p:ph type="dt" sz="half" idx="10"/>
          </p:nvPr>
        </p:nvSpPr>
        <p:spPr/>
        <p:txBody>
          <a:bodyPr/>
          <a:lstStyle>
            <a:lvl1pPr>
              <a:defRPr/>
            </a:lvl1pPr>
          </a:lstStyle>
          <a:p>
            <a:pPr>
              <a:defRPr/>
            </a:pPr>
            <a:fld id="{7BEEAB02-4DBC-4411-A9CB-3193592CBD5F}" type="datetime1">
              <a:rPr lang="en-US"/>
              <a:pPr>
                <a:defRPr/>
              </a:pPr>
              <a:t>11/24/2025</a:t>
            </a:fld>
            <a:endParaRPr lang="en-US" dirty="0"/>
          </a:p>
        </p:txBody>
      </p:sp>
      <p:sp>
        <p:nvSpPr>
          <p:cNvPr id="4" name="Footer Placeholder 2">
            <a:extLst>
              <a:ext uri="{FF2B5EF4-FFF2-40B4-BE49-F238E27FC236}">
                <a16:creationId xmlns:a16="http://schemas.microsoft.com/office/drawing/2014/main" id="{0518BDB2-9627-E132-C991-2B1A1862C893}"/>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7B3BB722-75C9-2017-1F08-8F3CE740F081}"/>
              </a:ext>
            </a:extLst>
          </p:cNvPr>
          <p:cNvSpPr>
            <a:spLocks noGrp="1"/>
          </p:cNvSpPr>
          <p:nvPr>
            <p:ph type="sldNum" sz="quarter" idx="12"/>
          </p:nvPr>
        </p:nvSpPr>
        <p:spPr/>
        <p:txBody>
          <a:bodyPr/>
          <a:lstStyle>
            <a:lvl1pPr>
              <a:defRPr/>
            </a:lvl1pPr>
          </a:lstStyle>
          <a:p>
            <a:pPr>
              <a:defRPr/>
            </a:pPr>
            <a:fld id="{7AFFFC54-E765-4912-B6FC-158BED0589ED}" type="slidenum">
              <a:rPr lang="en-US"/>
              <a:pPr>
                <a:defRPr/>
              </a:pPr>
              <a:t>‹#›</a:t>
            </a:fld>
            <a:endParaRPr lang="en-US" dirty="0"/>
          </a:p>
        </p:txBody>
      </p:sp>
    </p:spTree>
    <p:extLst>
      <p:ext uri="{BB962C8B-B14F-4D97-AF65-F5344CB8AC3E}">
        <p14:creationId xmlns:p14="http://schemas.microsoft.com/office/powerpoint/2010/main" val="175301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B44E7FB9-FE6D-C031-57E2-88B04A8454CF}"/>
              </a:ext>
            </a:extLst>
          </p:cNvPr>
          <p:cNvSpPr>
            <a:spLocks noGrp="1"/>
          </p:cNvSpPr>
          <p:nvPr>
            <p:ph type="dt" sz="half" idx="10"/>
          </p:nvPr>
        </p:nvSpPr>
        <p:spPr/>
        <p:txBody>
          <a:bodyPr/>
          <a:lstStyle>
            <a:lvl1pPr>
              <a:defRPr/>
            </a:lvl1pPr>
          </a:lstStyle>
          <a:p>
            <a:pPr>
              <a:defRPr/>
            </a:pPr>
            <a:fld id="{351F9184-42C5-471C-8830-963E91A90EFA}" type="datetime1">
              <a:rPr lang="en-US"/>
              <a:pPr>
                <a:defRPr/>
              </a:pPr>
              <a:t>11/24/2025</a:t>
            </a:fld>
            <a:endParaRPr lang="en-US" dirty="0"/>
          </a:p>
        </p:txBody>
      </p:sp>
      <p:sp>
        <p:nvSpPr>
          <p:cNvPr id="3" name="Footer Placeholder 2">
            <a:extLst>
              <a:ext uri="{FF2B5EF4-FFF2-40B4-BE49-F238E27FC236}">
                <a16:creationId xmlns:a16="http://schemas.microsoft.com/office/drawing/2014/main" id="{C3C6B48B-B916-6B0F-84B5-67680983A3A0}"/>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4" name="Slide Number Placeholder 22">
            <a:extLst>
              <a:ext uri="{FF2B5EF4-FFF2-40B4-BE49-F238E27FC236}">
                <a16:creationId xmlns:a16="http://schemas.microsoft.com/office/drawing/2014/main" id="{D0031520-8AC2-6819-6596-35746EF05BC6}"/>
              </a:ext>
            </a:extLst>
          </p:cNvPr>
          <p:cNvSpPr>
            <a:spLocks noGrp="1"/>
          </p:cNvSpPr>
          <p:nvPr>
            <p:ph type="sldNum" sz="quarter" idx="12"/>
          </p:nvPr>
        </p:nvSpPr>
        <p:spPr/>
        <p:txBody>
          <a:bodyPr/>
          <a:lstStyle>
            <a:lvl1pPr>
              <a:defRPr/>
            </a:lvl1pPr>
          </a:lstStyle>
          <a:p>
            <a:pPr>
              <a:defRPr/>
            </a:pPr>
            <a:fld id="{DD43651B-B929-49DC-9FB0-312006B415D3}" type="slidenum">
              <a:rPr lang="en-US"/>
              <a:pPr>
                <a:defRPr/>
              </a:pPr>
              <a:t>‹#›</a:t>
            </a:fld>
            <a:endParaRPr lang="en-US" dirty="0"/>
          </a:p>
        </p:txBody>
      </p:sp>
    </p:spTree>
    <p:extLst>
      <p:ext uri="{BB962C8B-B14F-4D97-AF65-F5344CB8AC3E}">
        <p14:creationId xmlns:p14="http://schemas.microsoft.com/office/powerpoint/2010/main" val="3975706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0A75F8-4D7F-F7EB-7525-CAB92C729284}"/>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00F761BB-BDE0-BD5D-50F2-05067F470278}"/>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B7FB5391-5C5F-3C57-C569-7153CC9215C2}"/>
              </a:ext>
            </a:extLst>
          </p:cNvPr>
          <p:cNvSpPr>
            <a:spLocks noGrp="1"/>
          </p:cNvSpPr>
          <p:nvPr>
            <p:ph type="dt" sz="half" idx="10"/>
          </p:nvPr>
        </p:nvSpPr>
        <p:spPr/>
        <p:txBody>
          <a:bodyPr/>
          <a:lstStyle>
            <a:lvl1pPr>
              <a:defRPr/>
            </a:lvl1pPr>
          </a:lstStyle>
          <a:p>
            <a:pPr>
              <a:defRPr/>
            </a:pPr>
            <a:fld id="{5151BE9B-F2AE-404D-8360-76E4C47F9A23}" type="datetime1">
              <a:rPr lang="en-US"/>
              <a:pPr>
                <a:defRPr/>
              </a:pPr>
              <a:t>11/24/2025</a:t>
            </a:fld>
            <a:endParaRPr lang="en-US"/>
          </a:p>
        </p:txBody>
      </p:sp>
      <p:sp>
        <p:nvSpPr>
          <p:cNvPr id="7" name="Footer Placeholder 5">
            <a:extLst>
              <a:ext uri="{FF2B5EF4-FFF2-40B4-BE49-F238E27FC236}">
                <a16:creationId xmlns:a16="http://schemas.microsoft.com/office/drawing/2014/main" id="{C4CB5656-CA13-65FD-E3B4-BC93D7ED0B3B}"/>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8" name="Slide Number Placeholder 6">
            <a:extLst>
              <a:ext uri="{FF2B5EF4-FFF2-40B4-BE49-F238E27FC236}">
                <a16:creationId xmlns:a16="http://schemas.microsoft.com/office/drawing/2014/main" id="{7C787313-939C-6EBC-17DD-1C4BAE7C9FC5}"/>
              </a:ext>
            </a:extLst>
          </p:cNvPr>
          <p:cNvSpPr>
            <a:spLocks noGrp="1"/>
          </p:cNvSpPr>
          <p:nvPr>
            <p:ph type="sldNum" sz="quarter" idx="12"/>
          </p:nvPr>
        </p:nvSpPr>
        <p:spPr/>
        <p:txBody>
          <a:bodyPr/>
          <a:lstStyle>
            <a:lvl1pPr>
              <a:defRPr/>
            </a:lvl1pPr>
          </a:lstStyle>
          <a:p>
            <a:pPr>
              <a:defRPr/>
            </a:pPr>
            <a:fld id="{1C37AC5B-9900-44B9-87CB-09A338C94108}" type="slidenum">
              <a:rPr lang="en-US"/>
              <a:pPr>
                <a:defRPr/>
              </a:pPr>
              <a:t>‹#›</a:t>
            </a:fld>
            <a:endParaRPr lang="en-US"/>
          </a:p>
        </p:txBody>
      </p:sp>
    </p:spTree>
    <p:extLst>
      <p:ext uri="{BB962C8B-B14F-4D97-AF65-F5344CB8AC3E}">
        <p14:creationId xmlns:p14="http://schemas.microsoft.com/office/powerpoint/2010/main" val="12297690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C621CA3-32C3-F1AD-AAC6-210E7A7B6B37}"/>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11A3148B-EAB5-717F-53A4-82F6210A5FEC}"/>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88471194-6427-0687-91EA-ED29ADC7EC5B}"/>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85AD7A4A-CF19-FAC1-E163-54F72E4667C2}"/>
              </a:ext>
            </a:extLst>
          </p:cNvPr>
          <p:cNvSpPr>
            <a:spLocks noGrp="1"/>
          </p:cNvSpPr>
          <p:nvPr>
            <p:ph type="dt" sz="half" idx="10"/>
          </p:nvPr>
        </p:nvSpPr>
        <p:spPr/>
        <p:txBody>
          <a:bodyPr/>
          <a:lstStyle>
            <a:lvl1pPr>
              <a:defRPr/>
            </a:lvl1pPr>
          </a:lstStyle>
          <a:p>
            <a:pPr>
              <a:defRPr/>
            </a:pPr>
            <a:fld id="{61BDDA4C-E61B-45AA-92DC-5A7286C54758}" type="datetime1">
              <a:rPr lang="en-US"/>
              <a:pPr>
                <a:defRPr/>
              </a:pPr>
              <a:t>11/24/2025</a:t>
            </a:fld>
            <a:endParaRPr lang="en-US"/>
          </a:p>
        </p:txBody>
      </p:sp>
      <p:sp>
        <p:nvSpPr>
          <p:cNvPr id="9" name="Footer Placeholder 5">
            <a:extLst>
              <a:ext uri="{FF2B5EF4-FFF2-40B4-BE49-F238E27FC236}">
                <a16:creationId xmlns:a16="http://schemas.microsoft.com/office/drawing/2014/main" id="{57E1A08E-4546-EA16-322D-F4861E469100}"/>
              </a:ext>
            </a:extLst>
          </p:cNvPr>
          <p:cNvSpPr>
            <a:spLocks noGrp="1"/>
          </p:cNvSpPr>
          <p:nvPr>
            <p:ph type="ftr" sz="quarter" idx="11"/>
          </p:nvPr>
        </p:nvSpPr>
        <p:spPr>
          <a:xfrm>
            <a:off x="914400" y="6172200"/>
            <a:ext cx="3886200" cy="457200"/>
          </a:xfrm>
        </p:spPr>
        <p:txBody>
          <a:bodyPr/>
          <a:lstStyle>
            <a:lvl1pPr>
              <a:defRPr/>
            </a:lvl1pPr>
          </a:lstStyle>
          <a:p>
            <a:pPr>
              <a:defRPr/>
            </a:pPr>
            <a:r>
              <a:rPr lang="en-US"/>
              <a:t>Autonomous Robots -- Dr. Zawar Qayyum, 2010</a:t>
            </a:r>
          </a:p>
        </p:txBody>
      </p:sp>
      <p:sp>
        <p:nvSpPr>
          <p:cNvPr id="10" name="Slide Number Placeholder 6">
            <a:extLst>
              <a:ext uri="{FF2B5EF4-FFF2-40B4-BE49-F238E27FC236}">
                <a16:creationId xmlns:a16="http://schemas.microsoft.com/office/drawing/2014/main" id="{6A9493D0-50A6-BBBC-7702-1C3A956FB1A9}"/>
              </a:ext>
            </a:extLst>
          </p:cNvPr>
          <p:cNvSpPr>
            <a:spLocks noGrp="1"/>
          </p:cNvSpPr>
          <p:nvPr>
            <p:ph type="sldNum" sz="quarter" idx="12"/>
          </p:nvPr>
        </p:nvSpPr>
        <p:spPr>
          <a:xfrm>
            <a:off x="146050" y="6208713"/>
            <a:ext cx="457200" cy="457200"/>
          </a:xfrm>
        </p:spPr>
        <p:txBody>
          <a:bodyPr/>
          <a:lstStyle>
            <a:lvl1pPr>
              <a:defRPr/>
            </a:lvl1pPr>
          </a:lstStyle>
          <a:p>
            <a:pPr>
              <a:defRPr/>
            </a:pPr>
            <a:fld id="{D1340441-9DE6-4C05-BECA-F5D8485AADC5}" type="slidenum">
              <a:rPr lang="en-US"/>
              <a:pPr>
                <a:defRPr/>
              </a:pPr>
              <a:t>‹#›</a:t>
            </a:fld>
            <a:endParaRPr lang="en-US" dirty="0"/>
          </a:p>
        </p:txBody>
      </p:sp>
    </p:spTree>
    <p:extLst>
      <p:ext uri="{BB962C8B-B14F-4D97-AF65-F5344CB8AC3E}">
        <p14:creationId xmlns:p14="http://schemas.microsoft.com/office/powerpoint/2010/main" val="1811994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7130E72F-BC3C-ED37-C974-DCEE760C8F34}"/>
              </a:ext>
            </a:extLst>
          </p:cNvPr>
          <p:cNvSpPr>
            <a:spLocks noGrp="1"/>
          </p:cNvSpPr>
          <p:nvPr>
            <p:ph type="dt" sz="half" idx="10"/>
          </p:nvPr>
        </p:nvSpPr>
        <p:spPr/>
        <p:txBody>
          <a:bodyPr/>
          <a:lstStyle>
            <a:lvl1pPr>
              <a:defRPr/>
            </a:lvl1pPr>
          </a:lstStyle>
          <a:p>
            <a:pPr>
              <a:defRPr/>
            </a:pPr>
            <a:fld id="{A746A7FD-5ADD-4773-AD68-EB7FE171801E}" type="datetime1">
              <a:rPr lang="en-US"/>
              <a:pPr>
                <a:defRPr/>
              </a:pPr>
              <a:t>11/24/2025</a:t>
            </a:fld>
            <a:endParaRPr lang="en-US" dirty="0"/>
          </a:p>
        </p:txBody>
      </p:sp>
      <p:sp>
        <p:nvSpPr>
          <p:cNvPr id="5" name="Footer Placeholder 2">
            <a:extLst>
              <a:ext uri="{FF2B5EF4-FFF2-40B4-BE49-F238E27FC236}">
                <a16:creationId xmlns:a16="http://schemas.microsoft.com/office/drawing/2014/main" id="{89EDA5C1-5613-2078-DCE9-3FDB01751A72}"/>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6" name="Slide Number Placeholder 22">
            <a:extLst>
              <a:ext uri="{FF2B5EF4-FFF2-40B4-BE49-F238E27FC236}">
                <a16:creationId xmlns:a16="http://schemas.microsoft.com/office/drawing/2014/main" id="{53059840-E86B-ADD5-7EF8-A35589786321}"/>
              </a:ext>
            </a:extLst>
          </p:cNvPr>
          <p:cNvSpPr>
            <a:spLocks noGrp="1"/>
          </p:cNvSpPr>
          <p:nvPr>
            <p:ph type="sldNum" sz="quarter" idx="12"/>
          </p:nvPr>
        </p:nvSpPr>
        <p:spPr/>
        <p:txBody>
          <a:bodyPr/>
          <a:lstStyle>
            <a:lvl1pPr>
              <a:defRPr/>
            </a:lvl1pPr>
          </a:lstStyle>
          <a:p>
            <a:pPr>
              <a:defRPr/>
            </a:pPr>
            <a:fld id="{5D4DD0B1-92D2-405B-9D48-3925CAFF04E6}" type="slidenum">
              <a:rPr lang="en-US"/>
              <a:pPr>
                <a:defRPr/>
              </a:pPr>
              <a:t>‹#›</a:t>
            </a:fld>
            <a:endParaRPr lang="en-US" dirty="0"/>
          </a:p>
        </p:txBody>
      </p:sp>
    </p:spTree>
    <p:extLst>
      <p:ext uri="{BB962C8B-B14F-4D97-AF65-F5344CB8AC3E}">
        <p14:creationId xmlns:p14="http://schemas.microsoft.com/office/powerpoint/2010/main" val="3694829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5833E6F3-B58B-B253-D0B9-341790672221}"/>
              </a:ext>
            </a:extLst>
          </p:cNvPr>
          <p:cNvSpPr>
            <a:spLocks noGrp="1"/>
          </p:cNvSpPr>
          <p:nvPr>
            <p:ph type="dt" sz="half" idx="10"/>
          </p:nvPr>
        </p:nvSpPr>
        <p:spPr/>
        <p:txBody>
          <a:bodyPr/>
          <a:lstStyle>
            <a:lvl1pPr>
              <a:defRPr/>
            </a:lvl1pPr>
          </a:lstStyle>
          <a:p>
            <a:pPr>
              <a:defRPr/>
            </a:pPr>
            <a:fld id="{4346B97D-ADE6-4E0C-BCA7-7E89568693CF}" type="datetime1">
              <a:rPr lang="en-US"/>
              <a:pPr>
                <a:defRPr/>
              </a:pPr>
              <a:t>11/24/2025</a:t>
            </a:fld>
            <a:endParaRPr lang="en-US" dirty="0"/>
          </a:p>
        </p:txBody>
      </p:sp>
      <p:sp>
        <p:nvSpPr>
          <p:cNvPr id="5" name="Footer Placeholder 2">
            <a:extLst>
              <a:ext uri="{FF2B5EF4-FFF2-40B4-BE49-F238E27FC236}">
                <a16:creationId xmlns:a16="http://schemas.microsoft.com/office/drawing/2014/main" id="{F84AAC0C-6306-A7F2-B9B7-B579AE1CAE8C}"/>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6" name="Slide Number Placeholder 22">
            <a:extLst>
              <a:ext uri="{FF2B5EF4-FFF2-40B4-BE49-F238E27FC236}">
                <a16:creationId xmlns:a16="http://schemas.microsoft.com/office/drawing/2014/main" id="{7C8A8F67-1D77-4321-1669-039D977A5118}"/>
              </a:ext>
            </a:extLst>
          </p:cNvPr>
          <p:cNvSpPr>
            <a:spLocks noGrp="1"/>
          </p:cNvSpPr>
          <p:nvPr>
            <p:ph type="sldNum" sz="quarter" idx="12"/>
          </p:nvPr>
        </p:nvSpPr>
        <p:spPr/>
        <p:txBody>
          <a:bodyPr/>
          <a:lstStyle>
            <a:lvl1pPr>
              <a:defRPr/>
            </a:lvl1pPr>
          </a:lstStyle>
          <a:p>
            <a:pPr>
              <a:defRPr/>
            </a:pPr>
            <a:fld id="{0ACF049C-0AC7-4249-B9C4-68A089900FEB}" type="slidenum">
              <a:rPr lang="en-US"/>
              <a:pPr>
                <a:defRPr/>
              </a:pPr>
              <a:t>‹#›</a:t>
            </a:fld>
            <a:endParaRPr lang="en-US" dirty="0"/>
          </a:p>
        </p:txBody>
      </p:sp>
    </p:spTree>
    <p:extLst>
      <p:ext uri="{BB962C8B-B14F-4D97-AF65-F5344CB8AC3E}">
        <p14:creationId xmlns:p14="http://schemas.microsoft.com/office/powerpoint/2010/main" val="761207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able Placeholder 2"/>
          <p:cNvSpPr>
            <a:spLocks noGrp="1"/>
          </p:cNvSpPr>
          <p:nvPr>
            <p:ph type="tbl" idx="1"/>
          </p:nvPr>
        </p:nvSpPr>
        <p:spPr>
          <a:xfrm>
            <a:off x="433388" y="1524000"/>
            <a:ext cx="8277225" cy="4641850"/>
          </a:xfrm>
        </p:spPr>
        <p:txBody>
          <a:bodyPr/>
          <a:lstStyle/>
          <a:p>
            <a:pPr lvl="0"/>
            <a:endParaRPr lang="en-US" noProof="0"/>
          </a:p>
        </p:txBody>
      </p:sp>
      <p:sp>
        <p:nvSpPr>
          <p:cNvPr id="4" name="Rectangle 4">
            <a:extLst>
              <a:ext uri="{FF2B5EF4-FFF2-40B4-BE49-F238E27FC236}">
                <a16:creationId xmlns:a16="http://schemas.microsoft.com/office/drawing/2014/main" id="{8C72CBB8-40E6-3924-F7D5-8F44BE91E991}"/>
              </a:ext>
            </a:extLst>
          </p:cNvPr>
          <p:cNvSpPr>
            <a:spLocks noGrp="1" noChangeArrowheads="1"/>
          </p:cNvSpPr>
          <p:nvPr>
            <p:ph type="dt" sz="half" idx="10"/>
          </p:nvPr>
        </p:nvSpPr>
        <p:spPr/>
        <p:txBody>
          <a:bodyPr/>
          <a:lstStyle>
            <a:lvl1pPr>
              <a:defRPr/>
            </a:lvl1pPr>
          </a:lstStyle>
          <a:p>
            <a:pPr>
              <a:defRPr/>
            </a:pPr>
            <a:endParaRPr lang="de-DE"/>
          </a:p>
        </p:txBody>
      </p:sp>
    </p:spTree>
    <p:extLst>
      <p:ext uri="{BB962C8B-B14F-4D97-AF65-F5344CB8AC3E}">
        <p14:creationId xmlns:p14="http://schemas.microsoft.com/office/powerpoint/2010/main" val="886759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5853C4-58D4-E12E-F9D3-6DFE43E741A7}"/>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A0D65C4C-8978-E965-904E-825D91967615}"/>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23136D3B-1E38-B128-44B3-6A013A7071FF}"/>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9D193835-2205-D195-3A01-FB691AD2829B}"/>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E83FC762-605F-3A7B-E754-8B8554C5378A}"/>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dirty="0"/>
              <a:t>Click to edit Master title style</a:t>
            </a:r>
          </a:p>
        </p:txBody>
      </p:sp>
      <p:sp>
        <p:nvSpPr>
          <p:cNvPr id="10" name="Footer Placeholder 16">
            <a:extLst>
              <a:ext uri="{FF2B5EF4-FFF2-40B4-BE49-F238E27FC236}">
                <a16:creationId xmlns:a16="http://schemas.microsoft.com/office/drawing/2014/main" id="{5A97B514-3D2A-02CC-4EBE-220DF49B070A}"/>
              </a:ext>
            </a:extLst>
          </p:cNvPr>
          <p:cNvSpPr>
            <a:spLocks noGrp="1"/>
          </p:cNvSpPr>
          <p:nvPr>
            <p:ph type="ftr" sz="quarter" idx="11"/>
          </p:nvPr>
        </p:nvSpPr>
        <p:spPr>
          <a:xfrm>
            <a:off x="2483768" y="6428184"/>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1" name="Slide Number Placeholder 28">
            <a:extLst>
              <a:ext uri="{FF2B5EF4-FFF2-40B4-BE49-F238E27FC236}">
                <a16:creationId xmlns:a16="http://schemas.microsoft.com/office/drawing/2014/main" id="{A7231800-4E93-AC45-26C7-F83BA69F8A74}"/>
              </a:ext>
            </a:extLst>
          </p:cNvPr>
          <p:cNvSpPr>
            <a:spLocks noGrp="1"/>
          </p:cNvSpPr>
          <p:nvPr>
            <p:ph type="sldNum" sz="quarter" idx="12"/>
          </p:nvPr>
        </p:nvSpPr>
        <p:spPr/>
        <p:txBody>
          <a:bodyPr/>
          <a:lstStyle>
            <a:lvl1pPr>
              <a:defRPr sz="1400">
                <a:solidFill>
                  <a:srgbClr val="FFFFFF"/>
                </a:solidFill>
              </a:defRPr>
            </a:lvl1pPr>
          </a:lstStyle>
          <a:p>
            <a:pPr>
              <a:defRPr/>
            </a:pPr>
            <a:fld id="{5E4C22A4-67DC-44A8-A4FC-CE49B2567C98}" type="slidenum">
              <a:rPr lang="en-US"/>
              <a:pPr>
                <a:defRPr/>
              </a:pPr>
              <a:t>‹#›</a:t>
            </a:fld>
            <a:endParaRPr lang="en-US" dirty="0"/>
          </a:p>
        </p:txBody>
      </p:sp>
    </p:spTree>
    <p:extLst>
      <p:ext uri="{BB962C8B-B14F-4D97-AF65-F5344CB8AC3E}">
        <p14:creationId xmlns:p14="http://schemas.microsoft.com/office/powerpoint/2010/main" val="186324537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BD19D621-57AE-DF6C-3CB8-DA450630DD65}"/>
              </a:ext>
            </a:extLst>
          </p:cNvPr>
          <p:cNvSpPr>
            <a:spLocks noGrp="1"/>
          </p:cNvSpPr>
          <p:nvPr>
            <p:ph type="ftr" sz="quarter" idx="11"/>
          </p:nvPr>
        </p:nvSpPr>
        <p:spPr>
          <a:xfrm>
            <a:off x="2555776" y="6500192"/>
            <a:ext cx="48768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0AA46312-DD6F-C5AE-2F1E-907F31E829E1}"/>
              </a:ext>
            </a:extLst>
          </p:cNvPr>
          <p:cNvSpPr>
            <a:spLocks noGrp="1"/>
          </p:cNvSpPr>
          <p:nvPr>
            <p:ph type="sldNum" sz="quarter" idx="12"/>
          </p:nvPr>
        </p:nvSpPr>
        <p:spPr/>
        <p:txBody>
          <a:bodyPr/>
          <a:lstStyle>
            <a:lvl1pPr>
              <a:defRPr/>
            </a:lvl1pPr>
          </a:lstStyle>
          <a:p>
            <a:pPr>
              <a:defRPr/>
            </a:pPr>
            <a:fld id="{83AC8CC2-3150-4BDA-BDF0-6D695CA2D84D}" type="slidenum">
              <a:rPr lang="en-US"/>
              <a:pPr>
                <a:defRPr/>
              </a:pPr>
              <a:t>‹#›</a:t>
            </a:fld>
            <a:endParaRPr lang="en-US" dirty="0"/>
          </a:p>
        </p:txBody>
      </p:sp>
    </p:spTree>
    <p:extLst>
      <p:ext uri="{BB962C8B-B14F-4D97-AF65-F5344CB8AC3E}">
        <p14:creationId xmlns:p14="http://schemas.microsoft.com/office/powerpoint/2010/main" val="34686904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2">
            <a:extLst>
              <a:ext uri="{FF2B5EF4-FFF2-40B4-BE49-F238E27FC236}">
                <a16:creationId xmlns:a16="http://schemas.microsoft.com/office/drawing/2014/main" id="{0679A2C8-7DC8-AD37-9652-ABC5705D59FA}"/>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5" name="Slide Number Placeholder 22">
            <a:extLst>
              <a:ext uri="{FF2B5EF4-FFF2-40B4-BE49-F238E27FC236}">
                <a16:creationId xmlns:a16="http://schemas.microsoft.com/office/drawing/2014/main" id="{8D45CD1B-92F4-C034-40EE-43ED7BDDC965}"/>
              </a:ext>
            </a:extLst>
          </p:cNvPr>
          <p:cNvSpPr>
            <a:spLocks noGrp="1"/>
          </p:cNvSpPr>
          <p:nvPr>
            <p:ph type="sldNum" sz="quarter" idx="12"/>
          </p:nvPr>
        </p:nvSpPr>
        <p:spPr/>
        <p:txBody>
          <a:bodyPr/>
          <a:lstStyle>
            <a:lvl1pPr>
              <a:defRPr/>
            </a:lvl1pPr>
          </a:lstStyle>
          <a:p>
            <a:pPr>
              <a:defRPr/>
            </a:pPr>
            <a:fld id="{A6BCF859-27D9-4B15-909C-5A9275A8D5B1}" type="slidenum">
              <a:rPr lang="en-US"/>
              <a:pPr>
                <a:defRPr/>
              </a:pPr>
              <a:t>‹#›</a:t>
            </a:fld>
            <a:endParaRPr lang="en-US" dirty="0"/>
          </a:p>
        </p:txBody>
      </p:sp>
    </p:spTree>
    <p:extLst>
      <p:ext uri="{BB962C8B-B14F-4D97-AF65-F5344CB8AC3E}">
        <p14:creationId xmlns:p14="http://schemas.microsoft.com/office/powerpoint/2010/main" val="21967737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B13B5C1E-CA92-F658-DEB4-E6BCB21E8297}"/>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3" name="Footer Placeholder 2">
            <a:extLst>
              <a:ext uri="{FF2B5EF4-FFF2-40B4-BE49-F238E27FC236}">
                <a16:creationId xmlns:a16="http://schemas.microsoft.com/office/drawing/2014/main" id="{135B8D15-F384-5726-1DB0-82AA26D5A7C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4" name="Slide Number Placeholder 22">
            <a:extLst>
              <a:ext uri="{FF2B5EF4-FFF2-40B4-BE49-F238E27FC236}">
                <a16:creationId xmlns:a16="http://schemas.microsoft.com/office/drawing/2014/main" id="{7465CA12-935B-2EC7-0FD8-A29FFD9FDF20}"/>
              </a:ext>
            </a:extLst>
          </p:cNvPr>
          <p:cNvSpPr>
            <a:spLocks noGrp="1"/>
          </p:cNvSpPr>
          <p:nvPr>
            <p:ph type="sldNum" sz="quarter" idx="12"/>
          </p:nvPr>
        </p:nvSpPr>
        <p:spPr/>
        <p:txBody>
          <a:bodyPr/>
          <a:lstStyle>
            <a:lvl1pPr>
              <a:defRPr/>
            </a:lvl1pPr>
          </a:lstStyle>
          <a:p>
            <a:pPr>
              <a:defRPr/>
            </a:pPr>
            <a:fld id="{B60D0497-D7DF-42C1-83D6-B069BC9C71F9}" type="slidenum">
              <a:rPr lang="en-US"/>
              <a:pPr>
                <a:defRPr/>
              </a:pPr>
              <a:t>‹#›</a:t>
            </a:fld>
            <a:endParaRPr lang="en-US" dirty="0"/>
          </a:p>
        </p:txBody>
      </p:sp>
    </p:spTree>
    <p:extLst>
      <p:ext uri="{BB962C8B-B14F-4D97-AF65-F5344CB8AC3E}">
        <p14:creationId xmlns:p14="http://schemas.microsoft.com/office/powerpoint/2010/main" val="22128956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6C7B262-B703-0618-42D2-9A058F2E459A}"/>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2FF425DD-7DE3-3B8E-5719-78BCA9A8DE51}"/>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786D1F94-4295-F397-8F57-1D0E383BD25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7" name="Footer Placeholder 5">
            <a:extLst>
              <a:ext uri="{FF2B5EF4-FFF2-40B4-BE49-F238E27FC236}">
                <a16:creationId xmlns:a16="http://schemas.microsoft.com/office/drawing/2014/main" id="{6B009F90-231B-A3B6-5380-34C6E1C7CB21}"/>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8" name="Slide Number Placeholder 6">
            <a:extLst>
              <a:ext uri="{FF2B5EF4-FFF2-40B4-BE49-F238E27FC236}">
                <a16:creationId xmlns:a16="http://schemas.microsoft.com/office/drawing/2014/main" id="{7CCDB2AA-14FD-D925-D8FA-266FCFE64152}"/>
              </a:ext>
            </a:extLst>
          </p:cNvPr>
          <p:cNvSpPr>
            <a:spLocks noGrp="1"/>
          </p:cNvSpPr>
          <p:nvPr>
            <p:ph type="sldNum" sz="quarter" idx="12"/>
          </p:nvPr>
        </p:nvSpPr>
        <p:spPr/>
        <p:txBody>
          <a:bodyPr/>
          <a:lstStyle>
            <a:lvl1pPr>
              <a:defRPr/>
            </a:lvl1pPr>
          </a:lstStyle>
          <a:p>
            <a:pPr>
              <a:defRPr/>
            </a:pPr>
            <a:fld id="{2C82827D-15A4-4A3F-A005-421DE1CEC59D}" type="slidenum">
              <a:rPr lang="en-US"/>
              <a:pPr>
                <a:defRPr/>
              </a:pPr>
              <a:t>‹#›</a:t>
            </a:fld>
            <a:endParaRPr lang="en-US"/>
          </a:p>
        </p:txBody>
      </p:sp>
    </p:spTree>
    <p:extLst>
      <p:ext uri="{BB962C8B-B14F-4D97-AF65-F5344CB8AC3E}">
        <p14:creationId xmlns:p14="http://schemas.microsoft.com/office/powerpoint/2010/main" val="4305556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2E54CA-1402-D265-65C1-CAA477A5FCEF}"/>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5937FA26-21AA-4604-50B9-4AF1C1E5953D}"/>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B548A5EB-ECFF-0D60-907E-B4566654DEA1}"/>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dirty="0"/>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dirty="0"/>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03D557F4-1C10-84D5-70B1-B3F6002D602F}"/>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a:p>
        </p:txBody>
      </p:sp>
      <p:sp>
        <p:nvSpPr>
          <p:cNvPr id="9" name="Footer Placeholder 5">
            <a:extLst>
              <a:ext uri="{FF2B5EF4-FFF2-40B4-BE49-F238E27FC236}">
                <a16:creationId xmlns:a16="http://schemas.microsoft.com/office/drawing/2014/main" id="{1D25602D-131F-6FC6-D193-E0E3803E1E51}"/>
              </a:ext>
            </a:extLst>
          </p:cNvPr>
          <p:cNvSpPr>
            <a:spLocks noGrp="1"/>
          </p:cNvSpPr>
          <p:nvPr>
            <p:ph type="ftr" sz="quarter" idx="11"/>
          </p:nvPr>
        </p:nvSpPr>
        <p:spPr>
          <a:xfrm>
            <a:off x="914400" y="6172200"/>
            <a:ext cx="3886200" cy="457200"/>
          </a:xfrm>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10" name="Slide Number Placeholder 6">
            <a:extLst>
              <a:ext uri="{FF2B5EF4-FFF2-40B4-BE49-F238E27FC236}">
                <a16:creationId xmlns:a16="http://schemas.microsoft.com/office/drawing/2014/main" id="{D0109AE1-27A9-8EB7-803F-D676F48820DA}"/>
              </a:ext>
            </a:extLst>
          </p:cNvPr>
          <p:cNvSpPr>
            <a:spLocks noGrp="1"/>
          </p:cNvSpPr>
          <p:nvPr>
            <p:ph type="sldNum" sz="quarter" idx="12"/>
          </p:nvPr>
        </p:nvSpPr>
        <p:spPr>
          <a:xfrm>
            <a:off x="146050" y="6208713"/>
            <a:ext cx="457200" cy="457200"/>
          </a:xfrm>
        </p:spPr>
        <p:txBody>
          <a:bodyPr/>
          <a:lstStyle>
            <a:lvl1pPr>
              <a:defRPr/>
            </a:lvl1pPr>
          </a:lstStyle>
          <a:p>
            <a:pPr>
              <a:defRPr/>
            </a:pPr>
            <a:fld id="{F7562DC6-6DC9-45E2-AAC4-454004E6E023}" type="slidenum">
              <a:rPr lang="en-US"/>
              <a:pPr>
                <a:defRPr/>
              </a:pPr>
              <a:t>‹#›</a:t>
            </a:fld>
            <a:endParaRPr lang="en-US" dirty="0"/>
          </a:p>
        </p:txBody>
      </p:sp>
    </p:spTree>
    <p:extLst>
      <p:ext uri="{BB962C8B-B14F-4D97-AF65-F5344CB8AC3E}">
        <p14:creationId xmlns:p14="http://schemas.microsoft.com/office/powerpoint/2010/main" val="2551104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DF2C48B0-ABFE-CE4D-6188-9A9EAD773F61}"/>
              </a:ext>
            </a:extLst>
          </p:cNvPr>
          <p:cNvSpPr>
            <a:spLocks noGrp="1"/>
          </p:cNvSpPr>
          <p:nvPr>
            <p:ph type="dt" sz="half" idx="10"/>
          </p:nvPr>
        </p:nvSpPr>
        <p:spPr>
          <a:xfrm>
            <a:off x="6172200" y="6191250"/>
            <a:ext cx="2476500" cy="476250"/>
          </a:xfrm>
          <a:prstGeom prst="rect">
            <a:avLst/>
          </a:prstGeom>
        </p:spPr>
        <p:txBody>
          <a:bodyPr/>
          <a:lstStyle>
            <a:lvl1pPr>
              <a:defRPr/>
            </a:lvl1pPr>
          </a:lstStyle>
          <a:p>
            <a:pPr>
              <a:defRPr/>
            </a:pPr>
            <a:endParaRPr lang="en-US" dirty="0"/>
          </a:p>
        </p:txBody>
      </p:sp>
      <p:sp>
        <p:nvSpPr>
          <p:cNvPr id="5" name="Footer Placeholder 2">
            <a:extLst>
              <a:ext uri="{FF2B5EF4-FFF2-40B4-BE49-F238E27FC236}">
                <a16:creationId xmlns:a16="http://schemas.microsoft.com/office/drawing/2014/main" id="{2618189D-098F-74CA-DD3F-C7F3B7D6831E}"/>
              </a:ext>
            </a:extLst>
          </p:cNvPr>
          <p:cNvSpPr>
            <a:spLocks noGrp="1"/>
          </p:cNvSpPr>
          <p:nvPr>
            <p:ph type="ftr" sz="quarter" idx="11"/>
          </p:nvPr>
        </p:nvSpPr>
        <p:spPr/>
        <p:txBody>
          <a:bodyPr/>
          <a:lstStyle>
            <a:lvl1pPr>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6" name="Slide Number Placeholder 22">
            <a:extLst>
              <a:ext uri="{FF2B5EF4-FFF2-40B4-BE49-F238E27FC236}">
                <a16:creationId xmlns:a16="http://schemas.microsoft.com/office/drawing/2014/main" id="{06CD0044-3E35-3EB6-7892-259BA5B8A6D9}"/>
              </a:ext>
            </a:extLst>
          </p:cNvPr>
          <p:cNvSpPr>
            <a:spLocks noGrp="1"/>
          </p:cNvSpPr>
          <p:nvPr>
            <p:ph type="sldNum" sz="quarter" idx="12"/>
          </p:nvPr>
        </p:nvSpPr>
        <p:spPr/>
        <p:txBody>
          <a:bodyPr/>
          <a:lstStyle>
            <a:lvl1pPr>
              <a:defRPr/>
            </a:lvl1pPr>
          </a:lstStyle>
          <a:p>
            <a:pPr>
              <a:defRPr/>
            </a:pPr>
            <a:fld id="{C65D5C55-6BCA-4DBD-BE3B-26D0EAB7959A}" type="slidenum">
              <a:rPr lang="en-US"/>
              <a:pPr>
                <a:defRPr/>
              </a:pPr>
              <a:t>‹#›</a:t>
            </a:fld>
            <a:endParaRPr lang="en-US" dirty="0"/>
          </a:p>
        </p:txBody>
      </p:sp>
    </p:spTree>
    <p:extLst>
      <p:ext uri="{BB962C8B-B14F-4D97-AF65-F5344CB8AC3E}">
        <p14:creationId xmlns:p14="http://schemas.microsoft.com/office/powerpoint/2010/main" val="211993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9B44A936-745D-EF49-60A0-CF1AF5E0193C}"/>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711024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A3CBB52-8499-58D7-4680-BEB596C1FC9C}"/>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CBEA5B3E-986C-7C4A-1EBF-840C6A06208C}"/>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EDA57E00-514A-41B1-00BA-BB33F9155B60}"/>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3077" name="Text Placeholder 12">
            <a:extLst>
              <a:ext uri="{FF2B5EF4-FFF2-40B4-BE49-F238E27FC236}">
                <a16:creationId xmlns:a16="http://schemas.microsoft.com/office/drawing/2014/main" id="{277C498B-F113-9A51-18F5-8F87BB863A43}"/>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F9D0CD7F-2351-49EC-9527-F93EA9801061}"/>
              </a:ext>
            </a:extLst>
          </p:cNvPr>
          <p:cNvSpPr>
            <a:spLocks noGrp="1"/>
          </p:cNvSpPr>
          <p:nvPr>
            <p:ph type="dt" sz="half" idx="2"/>
          </p:nvPr>
        </p:nvSpPr>
        <p:spPr>
          <a:xfrm>
            <a:off x="6172200" y="6191250"/>
            <a:ext cx="2476500" cy="476250"/>
          </a:xfrm>
          <a:prstGeom prst="rect">
            <a:avLst/>
          </a:prstGeom>
        </p:spPr>
        <p:txBody>
          <a:bodyPr anchor="ctr" anchorCtr="0"/>
          <a:lstStyle>
            <a:lvl1pPr algn="r" eaLnBrk="1" fontAlgn="auto" latinLnBrk="0" hangingPunct="1">
              <a:spcBef>
                <a:spcPts val="0"/>
              </a:spcBef>
              <a:spcAft>
                <a:spcPts val="0"/>
              </a:spcAft>
              <a:defRPr kumimoji="0" sz="1400">
                <a:solidFill>
                  <a:schemeClr val="tx2"/>
                </a:solidFill>
                <a:latin typeface="+mn-lt"/>
                <a:cs typeface="+mn-cs"/>
              </a:defRPr>
            </a:lvl1pPr>
          </a:lstStyle>
          <a:p>
            <a:pPr>
              <a:defRPr/>
            </a:pPr>
            <a:fld id="{690831D6-FA96-46A7-A9FA-9ACF6615970B}" type="datetime1">
              <a:rPr lang="en-US"/>
              <a:pPr>
                <a:defRPr/>
              </a:pPr>
              <a:t>11/24/2025</a:t>
            </a:fld>
            <a:endParaRPr lang="en-US" dirty="0"/>
          </a:p>
        </p:txBody>
      </p:sp>
      <p:sp>
        <p:nvSpPr>
          <p:cNvPr id="3" name="Footer Placeholder 2">
            <a:extLst>
              <a:ext uri="{FF2B5EF4-FFF2-40B4-BE49-F238E27FC236}">
                <a16:creationId xmlns:a16="http://schemas.microsoft.com/office/drawing/2014/main" id="{71A56559-F7B8-DBDB-44B3-AF09B15D3076}"/>
              </a:ext>
            </a:extLst>
          </p:cNvPr>
          <p:cNvSpPr>
            <a:spLocks noGrp="1"/>
          </p:cNvSpPr>
          <p:nvPr>
            <p:ph type="ftr" sz="quarter" idx="3"/>
          </p:nvPr>
        </p:nvSpPr>
        <p:spPr>
          <a:xfrm>
            <a:off x="914400" y="6172200"/>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a:t>Autonomous Robots -- Dr. Zawar Qayyum, 2010</a:t>
            </a:r>
          </a:p>
        </p:txBody>
      </p:sp>
      <p:sp>
        <p:nvSpPr>
          <p:cNvPr id="23" name="Slide Number Placeholder 22">
            <a:extLst>
              <a:ext uri="{FF2B5EF4-FFF2-40B4-BE49-F238E27FC236}">
                <a16:creationId xmlns:a16="http://schemas.microsoft.com/office/drawing/2014/main" id="{7B583A9E-DE26-7A5E-C3AD-CD3973B556DA}"/>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89D32ED2-D5BF-43BE-A34F-5A098C562BD4}" type="slidenum">
              <a:rPr lang="en-US"/>
              <a:pPr>
                <a:defRPr/>
              </a:pPr>
              <a:t>‹#›</a:t>
            </a:fld>
            <a:endParaRPr lang="en-US" dirty="0"/>
          </a:p>
        </p:txBody>
      </p:sp>
    </p:spTree>
    <p:extLst>
      <p:ext uri="{BB962C8B-B14F-4D97-AF65-F5344CB8AC3E}">
        <p14:creationId xmlns:p14="http://schemas.microsoft.com/office/powerpoint/2010/main" val="883220144"/>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7CEB16-177C-11F3-6488-15217609B1F8}"/>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41EAD4DD-9D27-1FFD-AF29-68BC36D3A352}"/>
              </a:ext>
            </a:extLst>
          </p:cNvPr>
          <p:cNvSpPr/>
          <p:nvPr/>
        </p:nvSpPr>
        <p:spPr>
          <a:xfrm>
            <a:off x="112590" y="16510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2B8B0024-D6D1-A70C-46F3-E369B45B67D1}"/>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dirty="0"/>
              <a:t>Click to edit Master title style</a:t>
            </a:r>
          </a:p>
        </p:txBody>
      </p:sp>
      <p:sp>
        <p:nvSpPr>
          <p:cNvPr id="3077" name="Text Placeholder 12">
            <a:extLst>
              <a:ext uri="{FF2B5EF4-FFF2-40B4-BE49-F238E27FC236}">
                <a16:creationId xmlns:a16="http://schemas.microsoft.com/office/drawing/2014/main" id="{3488A6D1-71AB-0EF0-882A-8AEDA58A8733}"/>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3" name="Footer Placeholder 2">
            <a:extLst>
              <a:ext uri="{FF2B5EF4-FFF2-40B4-BE49-F238E27FC236}">
                <a16:creationId xmlns:a16="http://schemas.microsoft.com/office/drawing/2014/main" id="{F37FCC0C-B39C-DCE5-066A-B9F6AFE491FC}"/>
              </a:ext>
            </a:extLst>
          </p:cNvPr>
          <p:cNvSpPr>
            <a:spLocks noGrp="1"/>
          </p:cNvSpPr>
          <p:nvPr>
            <p:ph type="ftr" sz="quarter" idx="3"/>
          </p:nvPr>
        </p:nvSpPr>
        <p:spPr>
          <a:xfrm>
            <a:off x="2555776" y="6500192"/>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b="1" dirty="0">
                <a:solidFill>
                  <a:srgbClr val="0000FF"/>
                </a:solidFill>
              </a:rPr>
              <a:t>Dr. Asif Sohail,</a:t>
            </a:r>
            <a:r>
              <a:rPr lang="en-US" dirty="0">
                <a:solidFill>
                  <a:srgbClr val="0000FF"/>
                </a:solidFill>
              </a:rPr>
              <a:t> </a:t>
            </a:r>
            <a:r>
              <a:rPr lang="en-US" dirty="0">
                <a:solidFill>
                  <a:schemeClr val="tx1"/>
                </a:solidFill>
              </a:rPr>
              <a:t>Department of IT,</a:t>
            </a:r>
            <a:r>
              <a:rPr lang="en-US" dirty="0"/>
              <a:t> </a:t>
            </a:r>
            <a:r>
              <a:rPr lang="en-US" dirty="0">
                <a:solidFill>
                  <a:srgbClr val="EA0000"/>
                </a:solidFill>
              </a:rPr>
              <a:t>University of the Punjab, Lahore</a:t>
            </a:r>
          </a:p>
        </p:txBody>
      </p:sp>
      <p:sp>
        <p:nvSpPr>
          <p:cNvPr id="23" name="Slide Number Placeholder 22">
            <a:extLst>
              <a:ext uri="{FF2B5EF4-FFF2-40B4-BE49-F238E27FC236}">
                <a16:creationId xmlns:a16="http://schemas.microsoft.com/office/drawing/2014/main" id="{7CCC2D68-25F4-B5E2-90AE-129685EECD21}"/>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688D1139-B686-4DC4-A8B1-655130D02E34}" type="slidenum">
              <a:rPr lang="en-US"/>
              <a:pPr>
                <a:defRPr/>
              </a:pPr>
              <a:t>‹#›</a:t>
            </a:fld>
            <a:endParaRPr lang="en-US" dirty="0"/>
          </a:p>
        </p:txBody>
      </p:sp>
    </p:spTree>
    <p:extLst>
      <p:ext uri="{BB962C8B-B14F-4D97-AF65-F5344CB8AC3E}">
        <p14:creationId xmlns:p14="http://schemas.microsoft.com/office/powerpoint/2010/main" val="1131194017"/>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2">
            <a:extLst>
              <a:ext uri="{FF2B5EF4-FFF2-40B4-BE49-F238E27FC236}">
                <a16:creationId xmlns:a16="http://schemas.microsoft.com/office/drawing/2014/main" id="{6E223CA5-28DF-4EB8-9015-D48A747CA2F9}"/>
              </a:ext>
            </a:extLst>
          </p:cNvPr>
          <p:cNvSpPr>
            <a:spLocks noGrp="1" noChangeArrowheads="1"/>
          </p:cNvSpPr>
          <p:nvPr>
            <p:ph type="ctrTitle"/>
          </p:nvPr>
        </p:nvSpPr>
        <p:spPr>
          <a:xfrm>
            <a:off x="457200" y="1506538"/>
            <a:ext cx="8229600" cy="1470025"/>
          </a:xfrm>
        </p:spPr>
        <p:txBody>
          <a:bodyPr/>
          <a:lstStyle/>
          <a:p>
            <a:pPr eaLnBrk="1" hangingPunct="1"/>
            <a:r>
              <a:rPr altLang="en-US" b="1" dirty="0">
                <a:solidFill>
                  <a:srgbClr val="000099"/>
                </a:solidFill>
                <a:latin typeface="Cambria" panose="02040503050406030204" pitchFamily="18" charset="0"/>
                <a:ea typeface="Cambria" panose="02040503050406030204" pitchFamily="18" charset="0"/>
              </a:rPr>
              <a:t>CC-215</a:t>
            </a:r>
            <a:br>
              <a:rPr altLang="en-US" dirty="0">
                <a:solidFill>
                  <a:srgbClr val="000099"/>
                </a:solidFill>
                <a:latin typeface="Cambria" panose="02040503050406030204" pitchFamily="18" charset="0"/>
                <a:ea typeface="Cambria" panose="02040503050406030204" pitchFamily="18" charset="0"/>
              </a:rPr>
            </a:br>
            <a:r>
              <a:rPr altLang="en-US" b="1" dirty="0">
                <a:solidFill>
                  <a:srgbClr val="FFFF00"/>
                </a:solidFill>
                <a:latin typeface="Cambria" panose="02040503050406030204" pitchFamily="18" charset="0"/>
                <a:ea typeface="Cambria" panose="02040503050406030204" pitchFamily="18" charset="0"/>
              </a:rPr>
              <a:t>Database Systems</a:t>
            </a:r>
          </a:p>
        </p:txBody>
      </p:sp>
      <p:sp>
        <p:nvSpPr>
          <p:cNvPr id="2" name="Rectangle 2">
            <a:extLst>
              <a:ext uri="{FF2B5EF4-FFF2-40B4-BE49-F238E27FC236}">
                <a16:creationId xmlns:a16="http://schemas.microsoft.com/office/drawing/2014/main" id="{BE4B3138-A767-7D60-38B3-56978D7D4200}"/>
              </a:ext>
            </a:extLst>
          </p:cNvPr>
          <p:cNvSpPr txBox="1">
            <a:spLocks noChangeArrowheads="1"/>
          </p:cNvSpPr>
          <p:nvPr/>
        </p:nvSpPr>
        <p:spPr bwMode="auto">
          <a:xfrm>
            <a:off x="1256191" y="3171999"/>
            <a:ext cx="6477000" cy="1279530"/>
          </a:xfrm>
          <a:prstGeom prst="rect">
            <a:avLst/>
          </a:prstGeom>
          <a:noFill/>
          <a:ln w="19050">
            <a:solidFill>
              <a:schemeClr val="tx1"/>
            </a:solidFill>
          </a:ln>
        </p:spPr>
        <p:txBody>
          <a:bodyPr tIns="274320" bIns="182880"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200"/>
              </a:spcBef>
              <a:spcAft>
                <a:spcPts val="0"/>
              </a:spcAft>
              <a:buClrTx/>
              <a:buSzTx/>
              <a:buFontTx/>
              <a:buNone/>
              <a:tabLst/>
              <a:defRPr/>
            </a:pPr>
            <a:r>
              <a:rPr kumimoji="0" lang="en-US" sz="3200" b="1" i="0" u="none" strike="noStrike" kern="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j-cs"/>
              </a:rPr>
              <a:t>— Unit 10 —</a:t>
            </a:r>
            <a:br>
              <a:rPr kumimoji="0" lang="en-US" sz="3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sz="28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t>Normalization</a:t>
            </a:r>
            <a:endParaRPr kumimoji="0" lang="en-US" sz="1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
        <p:nvSpPr>
          <p:cNvPr id="7" name="Rectangle 2">
            <a:extLst>
              <a:ext uri="{FF2B5EF4-FFF2-40B4-BE49-F238E27FC236}">
                <a16:creationId xmlns:a16="http://schemas.microsoft.com/office/drawing/2014/main" id="{157297BE-EE28-F676-BE56-7D8A7B565F16}"/>
              </a:ext>
            </a:extLst>
          </p:cNvPr>
          <p:cNvSpPr txBox="1">
            <a:spLocks noChangeArrowheads="1"/>
          </p:cNvSpPr>
          <p:nvPr/>
        </p:nvSpPr>
        <p:spPr bwMode="auto">
          <a:xfrm>
            <a:off x="5652120" y="4637620"/>
            <a:ext cx="3233199" cy="2016224"/>
          </a:xfrm>
          <a:prstGeom prst="rect">
            <a:avLst/>
          </a:prstGeom>
          <a:noFill/>
          <a:ln w="19050">
            <a:solidFill>
              <a:srgbClr val="000000"/>
            </a:solidFill>
            <a:miter lim="800000"/>
            <a:headEnd/>
            <a:tailEnd/>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ctr" defTabSz="914400" rtl="0" eaLnBrk="1" fontAlgn="base" latinLnBrk="0" hangingPunct="1">
              <a:lnSpc>
                <a:spcPct val="100000"/>
              </a:lnSpc>
              <a:spcBef>
                <a:spcPts val="1800"/>
              </a:spcBef>
              <a:spcAft>
                <a:spcPts val="600"/>
              </a:spcAft>
              <a:buClrTx/>
              <a:buSzTx/>
              <a:buFontTx/>
              <a:buNone/>
              <a:tabLst/>
              <a:defRPr/>
            </a:pPr>
            <a:br>
              <a:rPr kumimoji="0" lang="en-US" sz="32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br>
            <a: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t>Dr. Asif Sohail</a:t>
            </a:r>
            <a:br>
              <a:rPr kumimoji="0" lang="en-US" sz="28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br>
              <a:rPr kumimoji="0" lang="en-US" sz="1200" b="1" i="0" u="none" strike="noStrike" kern="0" cap="none" spc="0" normalizeH="0" baseline="0" noProof="0" dirty="0">
                <a:ln>
                  <a:noFill/>
                </a:ln>
                <a:solidFill>
                  <a:srgbClr val="333399"/>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mj-cs"/>
              </a:rPr>
              <a:t>University of the Punjab</a:t>
            </a:r>
            <a:b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r>
              <a:rPr kumimoji="0" lang="en-US" altLang="en-US" sz="20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t>Department of Information Technology, FCIT</a:t>
            </a:r>
            <a:br>
              <a:rPr kumimoji="0" lang="de-AT" altLang="en-US" sz="18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rPr>
            </a:br>
            <a:endParaRPr kumimoji="0" lang="en-US" sz="32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pic>
        <p:nvPicPr>
          <p:cNvPr id="4" name="Picture 10">
            <a:extLst>
              <a:ext uri="{FF2B5EF4-FFF2-40B4-BE49-F238E27FC236}">
                <a16:creationId xmlns:a16="http://schemas.microsoft.com/office/drawing/2014/main" id="{6B819144-AC91-20AF-4E39-1CC6743EA6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917" y="295275"/>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2">
            <a:extLst>
              <a:ext uri="{FF2B5EF4-FFF2-40B4-BE49-F238E27FC236}">
                <a16:creationId xmlns:a16="http://schemas.microsoft.com/office/drawing/2014/main" id="{7C24E2FC-DC72-6DE9-973D-DFAF2B2A75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295275"/>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a:extLst>
              <a:ext uri="{FF2B5EF4-FFF2-40B4-BE49-F238E27FC236}">
                <a16:creationId xmlns:a16="http://schemas.microsoft.com/office/drawing/2014/main" id="{CFC7106B-BDE5-751B-3CDA-7C878E45D349}"/>
              </a:ext>
            </a:extLst>
          </p:cNvPr>
          <p:cNvSpPr txBox="1">
            <a:spLocks noChangeArrowheads="1"/>
          </p:cNvSpPr>
          <p:nvPr/>
        </p:nvSpPr>
        <p:spPr bwMode="auto">
          <a:xfrm>
            <a:off x="323528" y="4653136"/>
            <a:ext cx="5069656" cy="2016224"/>
          </a:xfrm>
          <a:prstGeom prst="rect">
            <a:avLst/>
          </a:prstGeom>
          <a:noFill/>
          <a:ln w="19050">
            <a:solidFill>
              <a:srgbClr val="000000"/>
            </a:solidFill>
            <a:miter lim="800000"/>
            <a:headEnd/>
            <a:tailEnd/>
          </a:ln>
        </p:spPr>
        <p:txBody>
          <a:bodyPr anchor="ct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Tahoma" pitchFamily="34" charset="0"/>
              </a:defRPr>
            </a:lvl2pPr>
            <a:lvl3pPr algn="ctr" rtl="0" eaLnBrk="0" fontAlgn="base" hangingPunct="0">
              <a:spcBef>
                <a:spcPct val="0"/>
              </a:spcBef>
              <a:spcAft>
                <a:spcPct val="0"/>
              </a:spcAft>
              <a:defRPr sz="3600" b="1">
                <a:solidFill>
                  <a:schemeClr val="tx2"/>
                </a:solidFill>
                <a:latin typeface="Tahoma" pitchFamily="34" charset="0"/>
              </a:defRPr>
            </a:lvl3pPr>
            <a:lvl4pPr algn="ctr" rtl="0" eaLnBrk="0" fontAlgn="base" hangingPunct="0">
              <a:spcBef>
                <a:spcPct val="0"/>
              </a:spcBef>
              <a:spcAft>
                <a:spcPct val="0"/>
              </a:spcAft>
              <a:defRPr sz="3600" b="1">
                <a:solidFill>
                  <a:schemeClr val="tx2"/>
                </a:solidFill>
                <a:latin typeface="Tahoma" pitchFamily="34" charset="0"/>
              </a:defRPr>
            </a:lvl4pPr>
            <a:lvl5pPr algn="ctr" rtl="0" eaLnBrk="0" fontAlgn="base" hangingPunct="0">
              <a:spcBef>
                <a:spcPct val="0"/>
              </a:spcBef>
              <a:spcAft>
                <a:spcPct val="0"/>
              </a:spcAft>
              <a:defRPr sz="3600" b="1">
                <a:solidFill>
                  <a:schemeClr val="tx2"/>
                </a:solidFill>
                <a:latin typeface="Tahoma" pitchFamily="34" charset="0"/>
              </a:defRPr>
            </a:lvl5pPr>
            <a:lvl6pPr marL="457200" algn="ctr" rtl="0" fontAlgn="base">
              <a:spcBef>
                <a:spcPct val="0"/>
              </a:spcBef>
              <a:spcAft>
                <a:spcPct val="0"/>
              </a:spcAft>
              <a:defRPr sz="3600" b="1">
                <a:solidFill>
                  <a:schemeClr val="tx2"/>
                </a:solidFill>
                <a:latin typeface="Tahoma" pitchFamily="34" charset="0"/>
              </a:defRPr>
            </a:lvl6pPr>
            <a:lvl7pPr marL="914400" algn="ctr" rtl="0" fontAlgn="base">
              <a:spcBef>
                <a:spcPct val="0"/>
              </a:spcBef>
              <a:spcAft>
                <a:spcPct val="0"/>
              </a:spcAft>
              <a:defRPr sz="3600" b="1">
                <a:solidFill>
                  <a:schemeClr val="tx2"/>
                </a:solidFill>
                <a:latin typeface="Tahoma" pitchFamily="34" charset="0"/>
              </a:defRPr>
            </a:lvl7pPr>
            <a:lvl8pPr marL="1371600" algn="ctr" rtl="0" fontAlgn="base">
              <a:spcBef>
                <a:spcPct val="0"/>
              </a:spcBef>
              <a:spcAft>
                <a:spcPct val="0"/>
              </a:spcAft>
              <a:defRPr sz="3600" b="1">
                <a:solidFill>
                  <a:schemeClr val="tx2"/>
                </a:solidFill>
                <a:latin typeface="Tahoma" pitchFamily="34" charset="0"/>
              </a:defRPr>
            </a:lvl8pPr>
            <a:lvl9pPr marL="1828800" algn="ctr" rtl="0" fontAlgn="base">
              <a:spcBef>
                <a:spcPct val="0"/>
              </a:spcBef>
              <a:spcAft>
                <a:spcPct val="0"/>
              </a:spcAft>
              <a:defRPr sz="3600" b="1">
                <a:solidFill>
                  <a:schemeClr val="tx2"/>
                </a:solidFill>
                <a:latin typeface="Tahoma"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br>
              <a:rPr kumimoji="0" lang="en-US" sz="18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rPr>
            </a:br>
            <a:endParaRPr kumimoji="0" lang="en-US" sz="1800" b="1" i="0" u="none" strike="noStrike" kern="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j-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Some slides and/or pictures are adapted from Lecture slides / Books of</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Peter Rob</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Jeffery. A. Hoffer</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Thomas M. Connolly</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rPr>
              <a:t>Ramez Elmasri</a:t>
            </a:r>
          </a:p>
          <a:p>
            <a:pPr marL="685800" marR="0" lvl="1" indent="-228600" algn="l" defTabSz="914400" rtl="0" eaLnBrk="1" fontAlgn="base" latinLnBrk="0" hangingPunct="1">
              <a:lnSpc>
                <a:spcPct val="100000"/>
              </a:lnSpc>
              <a:spcBef>
                <a:spcPct val="0"/>
              </a:spcBef>
              <a:spcAft>
                <a:spcPct val="0"/>
              </a:spcAft>
              <a:buClr>
                <a:srgbClr val="FF0000"/>
              </a:buClr>
              <a:buSzTx/>
              <a:buFontTx/>
              <a:buChar char="•"/>
              <a:tabLst/>
              <a:defRPr/>
            </a:pPr>
            <a:r>
              <a:rPr kumimoji="0" lang="en-US" sz="1800" b="0" i="0" u="none" strike="noStrike" kern="1200" cap="none" spc="0" normalizeH="0" baseline="0" noProof="0" dirty="0" err="1">
                <a:ln>
                  <a:noFill/>
                </a:ln>
                <a:solidFill>
                  <a:srgbClr val="0000CC"/>
                </a:solidFill>
                <a:effectLst/>
                <a:uLnTx/>
                <a:uFillTx/>
                <a:latin typeface="Cambria" panose="02040503050406030204" pitchFamily="18" charset="0"/>
                <a:ea typeface="Cambria" panose="02040503050406030204" pitchFamily="18" charset="0"/>
                <a:cs typeface="+mn-cs"/>
              </a:rPr>
              <a:t>Silberschtaz</a:t>
            </a:r>
            <a:endParaRPr kumimoji="0" lang="en-US" sz="1800" b="0" i="0" u="none" strike="noStrike" kern="1200" cap="none" spc="0" normalizeH="0" baseline="0" noProof="0" dirty="0">
              <a:ln>
                <a:noFill/>
              </a:ln>
              <a:solidFill>
                <a:srgbClr val="0000CC"/>
              </a:solidFill>
              <a:effectLst/>
              <a:uLnTx/>
              <a:uFillTx/>
              <a:latin typeface="Cambria" panose="02040503050406030204" pitchFamily="18" charset="0"/>
              <a:ea typeface="Cambria" panose="02040503050406030204" pitchFamily="18" charset="0"/>
              <a:cs typeface="+mn-cs"/>
            </a:endParaRPr>
          </a:p>
          <a:p>
            <a:pPr marL="0" marR="0" lvl="0" indent="0" algn="l" defTabSz="914400" rtl="0" eaLnBrk="1" fontAlgn="base" latinLnBrk="0" hangingPunct="1">
              <a:lnSpc>
                <a:spcPct val="100000"/>
              </a:lnSpc>
              <a:spcBef>
                <a:spcPts val="1800"/>
              </a:spcBef>
              <a:spcAft>
                <a:spcPts val="60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98CB9-4BF5-C5F2-8C4F-498B0DFAA31E}"/>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8DFC45EC-3177-3DFE-21EC-E9DF51777AE7}"/>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Introduction</a:t>
            </a:r>
          </a:p>
        </p:txBody>
      </p:sp>
      <p:sp>
        <p:nvSpPr>
          <p:cNvPr id="10243" name="Rectangle 3">
            <a:extLst>
              <a:ext uri="{FF2B5EF4-FFF2-40B4-BE49-F238E27FC236}">
                <a16:creationId xmlns:a16="http://schemas.microsoft.com/office/drawing/2014/main" id="{338FA7D6-5711-9C64-E668-35B79ADCEC1B}"/>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Normalization is a process of converting a complex, large and unstable relation into a set of simple, small and stable relations </a:t>
            </a:r>
            <a:r>
              <a:rPr lang="en-US" sz="2400" dirty="0">
                <a:solidFill>
                  <a:srgbClr val="0000FF"/>
                </a:solidFill>
                <a:latin typeface="Cambria" panose="02040503050406030204" pitchFamily="18" charset="0"/>
                <a:ea typeface="Cambria" panose="02040503050406030204" pitchFamily="18" charset="0"/>
              </a:rPr>
              <a:t>(Bottom-up database design).</a:t>
            </a:r>
          </a:p>
          <a:p>
            <a:pPr algn="just">
              <a:spcBef>
                <a:spcPts val="300"/>
              </a:spcBef>
              <a:defRPr/>
            </a:pPr>
            <a:r>
              <a:rPr lang="en-US" sz="2400" dirty="0">
                <a:latin typeface="Cambria" panose="02040503050406030204" pitchFamily="18" charset="0"/>
                <a:ea typeface="Cambria" panose="02040503050406030204" pitchFamily="18" charset="0"/>
              </a:rPr>
              <a:t>Alternatively, normalization can be used as a </a:t>
            </a:r>
            <a:r>
              <a:rPr lang="en-US" sz="2400" dirty="0">
                <a:solidFill>
                  <a:srgbClr val="0000FF"/>
                </a:solidFill>
                <a:latin typeface="Cambria" panose="02040503050406030204" pitchFamily="18" charset="0"/>
                <a:ea typeface="Cambria" panose="02040503050406030204" pitchFamily="18" charset="0"/>
              </a:rPr>
              <a:t>validation technique</a:t>
            </a:r>
            <a:r>
              <a:rPr lang="en-US" sz="2400" dirty="0">
                <a:latin typeface="Cambria" panose="02040503050406030204" pitchFamily="18" charset="0"/>
                <a:ea typeface="Cambria" panose="02040503050406030204" pitchFamily="18" charset="0"/>
              </a:rPr>
              <a:t> to check the structures of relations obtained after transforming an ERD into relations </a:t>
            </a:r>
            <a:r>
              <a:rPr lang="en-US" sz="2400" dirty="0">
                <a:solidFill>
                  <a:srgbClr val="0000FF"/>
                </a:solidFill>
                <a:latin typeface="Cambria" panose="02040503050406030204" pitchFamily="18" charset="0"/>
                <a:ea typeface="Cambria" panose="02040503050406030204" pitchFamily="18" charset="0"/>
              </a:rPr>
              <a:t>(Top-down database design). </a:t>
            </a:r>
          </a:p>
          <a:p>
            <a:pPr algn="just">
              <a:spcBef>
                <a:spcPts val="300"/>
              </a:spcBef>
              <a:defRPr/>
            </a:pPr>
            <a:r>
              <a:rPr lang="en-US" sz="2400" dirty="0">
                <a:latin typeface="Cambria" panose="02040503050406030204" pitchFamily="18" charset="0"/>
                <a:ea typeface="Cambria" panose="02040503050406030204" pitchFamily="18" charset="0"/>
              </a:rPr>
              <a:t>It is a process of efficiently organizing data in a database.</a:t>
            </a:r>
          </a:p>
          <a:p>
            <a:pPr algn="just">
              <a:spcBef>
                <a:spcPts val="300"/>
              </a:spcBef>
              <a:defRPr/>
            </a:pPr>
            <a:r>
              <a:rPr lang="en-US" sz="2400" dirty="0">
                <a:latin typeface="Cambria" panose="02040503050406030204" pitchFamily="18" charset="0"/>
                <a:ea typeface="Cambria" panose="02040503050406030204" pitchFamily="18" charset="0"/>
              </a:rPr>
              <a:t>Normalization results in a </a:t>
            </a:r>
            <a:r>
              <a:rPr lang="en-US" sz="2400" dirty="0">
                <a:solidFill>
                  <a:srgbClr val="0000FF"/>
                </a:solidFill>
                <a:latin typeface="Cambria" panose="02040503050406030204" pitchFamily="18" charset="0"/>
                <a:ea typeface="Cambria" panose="02040503050406030204" pitchFamily="18" charset="0"/>
              </a:rPr>
              <a:t>well-structured relation</a:t>
            </a:r>
            <a:r>
              <a:rPr lang="en-US" sz="2400" dirty="0">
                <a:latin typeface="Cambria" panose="02040503050406030204" pitchFamily="18" charset="0"/>
                <a:ea typeface="Cambria" panose="02040503050406030204" pitchFamily="18" charset="0"/>
              </a:rPr>
              <a:t> – a relation that contains minimum redundancy that allows insert, update and delete operations without errors or inconsistencies. </a:t>
            </a:r>
          </a:p>
          <a:p>
            <a:pPr algn="just">
              <a:spcBef>
                <a:spcPts val="300"/>
              </a:spcBef>
              <a:defRPr/>
            </a:pPr>
            <a:r>
              <a:rPr lang="en-US" sz="2400" dirty="0">
                <a:latin typeface="Cambria" panose="02040503050406030204" pitchFamily="18" charset="0"/>
                <a:ea typeface="Cambria" panose="02040503050406030204" pitchFamily="18" charset="0"/>
              </a:rPr>
              <a:t>Errors or inconsistencies caused by redundant data are also called </a:t>
            </a:r>
            <a:r>
              <a:rPr lang="en-US" sz="2400" dirty="0">
                <a:solidFill>
                  <a:srgbClr val="0000FF"/>
                </a:solidFill>
                <a:latin typeface="Cambria" panose="02040503050406030204" pitchFamily="18" charset="0"/>
                <a:ea typeface="Cambria" panose="02040503050406030204" pitchFamily="18" charset="0"/>
              </a:rPr>
              <a:t>anomalies.</a:t>
            </a:r>
            <a:r>
              <a:rPr lang="en-US" sz="2400" dirty="0">
                <a:latin typeface="Cambria" panose="02040503050406030204" pitchFamily="18" charset="0"/>
                <a:ea typeface="Cambria" panose="02040503050406030204" pitchFamily="18" charset="0"/>
              </a:rPr>
              <a:t> </a:t>
            </a:r>
          </a:p>
        </p:txBody>
      </p:sp>
      <p:sp>
        <p:nvSpPr>
          <p:cNvPr id="3" name="Footer Placeholder 2">
            <a:extLst>
              <a:ext uri="{FF2B5EF4-FFF2-40B4-BE49-F238E27FC236}">
                <a16:creationId xmlns:a16="http://schemas.microsoft.com/office/drawing/2014/main" id="{268E3710-1733-20E4-5FC3-C475DEA4B38C}"/>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60E969A3-E994-1903-4958-1B009E3E4A45}"/>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94747752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E8ACF-A388-CF70-12BF-59F94DCF5D00}"/>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FE0763C8-155E-9244-6C4F-8906E5D1F88C}"/>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Introduction</a:t>
            </a:r>
          </a:p>
        </p:txBody>
      </p:sp>
      <p:sp>
        <p:nvSpPr>
          <p:cNvPr id="10243" name="Rectangle 3">
            <a:extLst>
              <a:ext uri="{FF2B5EF4-FFF2-40B4-BE49-F238E27FC236}">
                <a16:creationId xmlns:a16="http://schemas.microsoft.com/office/drawing/2014/main" id="{7CFD585A-94DF-32B1-EADE-E3B68DEBA656}"/>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There are three types of data anomalies:</a:t>
            </a:r>
          </a:p>
          <a:p>
            <a:pPr marL="0" indent="0" algn="just">
              <a:spcBef>
                <a:spcPts val="300"/>
              </a:spcBef>
              <a:buNone/>
              <a:defRPr/>
            </a:pPr>
            <a:r>
              <a:rPr lang="en-US" sz="2400" dirty="0">
                <a:solidFill>
                  <a:srgbClr val="0000FF"/>
                </a:solidFill>
                <a:latin typeface="Cambria" panose="02040503050406030204" pitchFamily="18" charset="0"/>
                <a:ea typeface="Cambria" panose="02040503050406030204" pitchFamily="18" charset="0"/>
              </a:rPr>
              <a:t>1. Insertion Anomalies</a:t>
            </a:r>
          </a:p>
          <a:p>
            <a:pPr algn="just">
              <a:spcBef>
                <a:spcPts val="300"/>
              </a:spcBef>
              <a:defRPr/>
            </a:pPr>
            <a:r>
              <a:rPr lang="en-US" sz="2400" dirty="0">
                <a:latin typeface="Cambria" panose="02040503050406030204" pitchFamily="18" charset="0"/>
                <a:ea typeface="Cambria" panose="02040503050406030204" pitchFamily="18" charset="0"/>
              </a:rPr>
              <a:t>Extra data beyond the desired data must be added to the database. </a:t>
            </a:r>
          </a:p>
          <a:p>
            <a:pPr marL="0" indent="0" algn="just">
              <a:spcBef>
                <a:spcPts val="300"/>
              </a:spcBef>
              <a:buNone/>
              <a:defRPr/>
            </a:pPr>
            <a:r>
              <a:rPr lang="en-US" sz="2400" dirty="0">
                <a:solidFill>
                  <a:srgbClr val="0000FF"/>
                </a:solidFill>
                <a:latin typeface="Cambria" panose="02040503050406030204" pitchFamily="18" charset="0"/>
                <a:ea typeface="Cambria" panose="02040503050406030204" pitchFamily="18" charset="0"/>
              </a:rPr>
              <a:t>2. Deletion Anomalies</a:t>
            </a:r>
          </a:p>
          <a:p>
            <a:pPr algn="just">
              <a:spcBef>
                <a:spcPts val="300"/>
              </a:spcBef>
              <a:defRPr/>
            </a:pPr>
            <a:r>
              <a:rPr lang="en-US" sz="2400" dirty="0">
                <a:latin typeface="Cambria" panose="02040503050406030204" pitchFamily="18" charset="0"/>
                <a:ea typeface="Cambria" panose="02040503050406030204" pitchFamily="18" charset="0"/>
              </a:rPr>
              <a:t>Deletion of a row causes some unwanted deletions.</a:t>
            </a:r>
          </a:p>
          <a:p>
            <a:pPr marL="0" indent="0" algn="just">
              <a:spcBef>
                <a:spcPts val="300"/>
              </a:spcBef>
              <a:buNone/>
              <a:defRPr/>
            </a:pPr>
            <a:r>
              <a:rPr lang="en-US" sz="2400" dirty="0">
                <a:solidFill>
                  <a:srgbClr val="0000FF"/>
                </a:solidFill>
                <a:latin typeface="Cambria" panose="02040503050406030204" pitchFamily="18" charset="0"/>
                <a:ea typeface="Cambria" panose="02040503050406030204" pitchFamily="18" charset="0"/>
              </a:rPr>
              <a:t>3. Modification Anomalies</a:t>
            </a:r>
          </a:p>
          <a:p>
            <a:pPr algn="just">
              <a:spcBef>
                <a:spcPts val="300"/>
              </a:spcBef>
              <a:defRPr/>
            </a:pPr>
            <a:r>
              <a:rPr lang="en-US" sz="2400" dirty="0">
                <a:latin typeface="Cambria" panose="02040503050406030204" pitchFamily="18" charset="0"/>
                <a:ea typeface="Cambria" panose="02040503050406030204" pitchFamily="18" charset="0"/>
              </a:rPr>
              <a:t>Modification of a single fact requires modifications of multiple rows. </a:t>
            </a:r>
          </a:p>
        </p:txBody>
      </p:sp>
      <p:sp>
        <p:nvSpPr>
          <p:cNvPr id="3" name="Footer Placeholder 2">
            <a:extLst>
              <a:ext uri="{FF2B5EF4-FFF2-40B4-BE49-F238E27FC236}">
                <a16:creationId xmlns:a16="http://schemas.microsoft.com/office/drawing/2014/main" id="{B1E61F96-2452-B048-73F2-E5400FB70781}"/>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91643920-D407-0FEC-4E6F-69A3C029D923}"/>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113400437"/>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40EE8-7FA1-E50B-3E6D-AB8C2434750C}"/>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08DF4EC5-7040-9484-C7D4-3BFAC8EB3246}"/>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Introduction</a:t>
            </a:r>
          </a:p>
        </p:txBody>
      </p:sp>
      <p:sp>
        <p:nvSpPr>
          <p:cNvPr id="3" name="Footer Placeholder 2">
            <a:extLst>
              <a:ext uri="{FF2B5EF4-FFF2-40B4-BE49-F238E27FC236}">
                <a16:creationId xmlns:a16="http://schemas.microsoft.com/office/drawing/2014/main" id="{606237DF-84B4-7271-89BD-D4E4DFEC46F1}"/>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56A7C3BC-3828-347F-348A-949500F8915A}"/>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5" name="Picture 2">
            <a:extLst>
              <a:ext uri="{FF2B5EF4-FFF2-40B4-BE49-F238E27FC236}">
                <a16:creationId xmlns:a16="http://schemas.microsoft.com/office/drawing/2014/main" id="{CD7A8C67-16F5-BCEE-542F-12E005E440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704428"/>
            <a:ext cx="8601075" cy="567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8828882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B133D-49E9-7F4B-8B63-6171753CB2E4}"/>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071A9C3B-98AE-2E64-3625-88A8909A65E9}"/>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Introduction</a:t>
            </a:r>
          </a:p>
        </p:txBody>
      </p:sp>
      <p:sp>
        <p:nvSpPr>
          <p:cNvPr id="10243" name="Rectangle 3">
            <a:extLst>
              <a:ext uri="{FF2B5EF4-FFF2-40B4-BE49-F238E27FC236}">
                <a16:creationId xmlns:a16="http://schemas.microsoft.com/office/drawing/2014/main" id="{3C603290-7554-029D-8AFA-E6BAA635A561}"/>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A relational database design must ensure </a:t>
            </a:r>
            <a:r>
              <a:rPr lang="en-US" sz="2400" dirty="0">
                <a:solidFill>
                  <a:srgbClr val="0000FF"/>
                </a:solidFill>
                <a:latin typeface="Cambria" panose="02040503050406030204" pitchFamily="18" charset="0"/>
                <a:ea typeface="Cambria" panose="02040503050406030204" pitchFamily="18" charset="0"/>
              </a:rPr>
              <a:t>information preservation</a:t>
            </a:r>
            <a:r>
              <a:rPr lang="en-US" sz="2400" dirty="0">
                <a:latin typeface="Cambria" panose="02040503050406030204" pitchFamily="18" charset="0"/>
                <a:ea typeface="Cambria" panose="02040503050406030204" pitchFamily="18" charset="0"/>
              </a:rPr>
              <a:t> and </a:t>
            </a:r>
            <a:r>
              <a:rPr lang="en-US" sz="2400" dirty="0">
                <a:solidFill>
                  <a:srgbClr val="0000FF"/>
                </a:solidFill>
                <a:latin typeface="Cambria" panose="02040503050406030204" pitchFamily="18" charset="0"/>
                <a:ea typeface="Cambria" panose="02040503050406030204" pitchFamily="18" charset="0"/>
              </a:rPr>
              <a:t>minimum redundancy. </a:t>
            </a:r>
          </a:p>
          <a:p>
            <a:pPr algn="just">
              <a:spcBef>
                <a:spcPts val="300"/>
              </a:spcBef>
              <a:defRPr/>
            </a:pPr>
            <a:r>
              <a:rPr lang="en-US" sz="2400" dirty="0">
                <a:latin typeface="Cambria" panose="02040503050406030204" pitchFamily="18" charset="0"/>
                <a:ea typeface="Cambria" panose="02040503050406030204" pitchFamily="18" charset="0"/>
              </a:rPr>
              <a:t>Information preservation refers to maintaining all the concepts related entity types, attribute types, and relationship types including generalization/specialization relationships.</a:t>
            </a:r>
          </a:p>
          <a:p>
            <a:pPr algn="just">
              <a:spcBef>
                <a:spcPts val="300"/>
              </a:spcBef>
              <a:defRPr/>
            </a:pPr>
            <a:r>
              <a:rPr lang="en-US" sz="2400" dirty="0">
                <a:latin typeface="Cambria" panose="02040503050406030204" pitchFamily="18" charset="0"/>
                <a:ea typeface="Cambria" panose="02040503050406030204" pitchFamily="18" charset="0"/>
              </a:rPr>
              <a:t>Informal guidelines that may be used as measures to determine the quality of relation schema design are:</a:t>
            </a:r>
          </a:p>
          <a:p>
            <a:pPr marL="742950" indent="-457200" algn="just">
              <a:spcBef>
                <a:spcPts val="300"/>
              </a:spcBef>
              <a:buSzPct val="100000"/>
              <a:buFont typeface="+mj-lt"/>
              <a:buAutoNum type="alphaLcParenR"/>
              <a:defRPr/>
            </a:pPr>
            <a:endParaRPr lang="en-US" sz="20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0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63596F06-07A0-0EA7-25BF-C9CD4F74FA30}"/>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A668DE1E-E533-78E6-D658-B5EA00E7D879}"/>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8971457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84DE0-B0ED-3758-D0F6-453D27E80762}"/>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0612B376-4A4F-BF55-5AB8-3087503BFD9A}"/>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Introduction</a:t>
            </a:r>
          </a:p>
        </p:txBody>
      </p:sp>
      <p:sp>
        <p:nvSpPr>
          <p:cNvPr id="10243" name="Rectangle 3">
            <a:extLst>
              <a:ext uri="{FF2B5EF4-FFF2-40B4-BE49-F238E27FC236}">
                <a16:creationId xmlns:a16="http://schemas.microsoft.com/office/drawing/2014/main" id="{174E786B-2E5B-F40A-E2C6-54BAC41C974D}"/>
              </a:ext>
            </a:extLst>
          </p:cNvPr>
          <p:cNvSpPr>
            <a:spLocks noGrp="1" noChangeArrowheads="1"/>
          </p:cNvSpPr>
          <p:nvPr>
            <p:ph type="body" idx="1"/>
          </p:nvPr>
        </p:nvSpPr>
        <p:spPr>
          <a:xfrm>
            <a:off x="412751" y="682972"/>
            <a:ext cx="8407721" cy="5194300"/>
          </a:xfrm>
        </p:spPr>
        <p:txBody>
          <a:bodyPr/>
          <a:lstStyle/>
          <a:p>
            <a:pPr marL="461963" indent="-461963" algn="just">
              <a:spcBef>
                <a:spcPts val="300"/>
              </a:spcBef>
              <a:buSzPct val="100000"/>
              <a:buFont typeface="+mj-lt"/>
              <a:buAutoNum type="alphaLcParenR"/>
              <a:defRPr/>
            </a:pPr>
            <a:r>
              <a:rPr lang="en-US" sz="2400" dirty="0">
                <a:latin typeface="Cambria" panose="02040503050406030204" pitchFamily="18" charset="0"/>
                <a:ea typeface="Cambria" panose="02040503050406030204" pitchFamily="18" charset="0"/>
              </a:rPr>
              <a:t>The attributes in a relation must have </a:t>
            </a:r>
            <a:r>
              <a:rPr lang="en-US" sz="2400" dirty="0">
                <a:solidFill>
                  <a:srgbClr val="0000FF"/>
                </a:solidFill>
                <a:latin typeface="Cambria" panose="02040503050406030204" pitchFamily="18" charset="0"/>
                <a:ea typeface="Cambria" panose="02040503050406030204" pitchFamily="18" charset="0"/>
              </a:rPr>
              <a:t>clear semantics</a:t>
            </a:r>
            <a:r>
              <a:rPr lang="en-US" sz="2400" dirty="0">
                <a:latin typeface="Cambria" panose="02040503050406030204" pitchFamily="18" charset="0"/>
                <a:ea typeface="Cambria" panose="02040503050406030204" pitchFamily="18" charset="0"/>
              </a:rPr>
              <a:t> and bindings. Do not combine attributes from multiple entity types and relationship types into a single relation. It will reduce the redundant information and anomalies. </a:t>
            </a:r>
          </a:p>
          <a:p>
            <a:pPr marL="461963" indent="-461963" algn="just">
              <a:spcBef>
                <a:spcPts val="300"/>
              </a:spcBef>
              <a:buSzPct val="100000"/>
              <a:buFont typeface="+mj-lt"/>
              <a:buAutoNum type="alphaLcParenR"/>
              <a:defRPr/>
            </a:pPr>
            <a:r>
              <a:rPr lang="en-US" sz="2400" dirty="0">
                <a:solidFill>
                  <a:srgbClr val="0000FF"/>
                </a:solidFill>
                <a:latin typeface="Cambria" panose="02040503050406030204" pitchFamily="18" charset="0"/>
                <a:ea typeface="Cambria" panose="02040503050406030204" pitchFamily="18" charset="0"/>
              </a:rPr>
              <a:t>Reducing the NULL values in tuples.</a:t>
            </a:r>
            <a:r>
              <a:rPr lang="en-US" sz="2400" dirty="0">
                <a:latin typeface="Cambria" panose="02040503050406030204" pitchFamily="18" charset="0"/>
                <a:ea typeface="Cambria" panose="02040503050406030204" pitchFamily="18" charset="0"/>
              </a:rPr>
              <a:t> Avoid placing attributes in a base relation whose values may frequently be NULL.</a:t>
            </a:r>
          </a:p>
          <a:p>
            <a:pPr marL="461963" indent="-461963" algn="just">
              <a:spcBef>
                <a:spcPts val="300"/>
              </a:spcBef>
              <a:buSzPct val="100000"/>
              <a:buFont typeface="+mj-lt"/>
              <a:buAutoNum type="alphaLcParenR"/>
              <a:defRPr/>
            </a:pPr>
            <a:r>
              <a:rPr lang="en-US" sz="2400" dirty="0">
                <a:latin typeface="Cambria" panose="02040503050406030204" pitchFamily="18" charset="0"/>
                <a:ea typeface="Cambria" panose="02040503050406030204" pitchFamily="18" charset="0"/>
              </a:rPr>
              <a:t>Disallowing the possibility of generating </a:t>
            </a:r>
            <a:r>
              <a:rPr lang="en-US" sz="2400" dirty="0">
                <a:solidFill>
                  <a:srgbClr val="0000FF"/>
                </a:solidFill>
                <a:latin typeface="Cambria" panose="02040503050406030204" pitchFamily="18" charset="0"/>
                <a:ea typeface="Cambria" panose="02040503050406030204" pitchFamily="18" charset="0"/>
              </a:rPr>
              <a:t>spurious tuples. </a:t>
            </a:r>
            <a:r>
              <a:rPr lang="en-US" sz="2400" dirty="0">
                <a:latin typeface="Cambria" panose="02040503050406030204" pitchFamily="18" charset="0"/>
                <a:ea typeface="Cambria" panose="02040503050406030204" pitchFamily="18" charset="0"/>
              </a:rPr>
              <a:t>Design relation schemas so that they can be joined with equality conditions on attributes that are appropriately related (primary key, foreign key) pairs in a way that guarantees that no spurious tuples are generated.</a:t>
            </a:r>
          </a:p>
          <a:p>
            <a:pPr marL="742950" indent="-457200" algn="just">
              <a:spcBef>
                <a:spcPts val="300"/>
              </a:spcBef>
              <a:buSzPct val="100000"/>
              <a:buFont typeface="+mj-lt"/>
              <a:buAutoNum type="alphaLcParenR"/>
              <a:defRPr/>
            </a:pPr>
            <a:endParaRPr lang="en-US" sz="24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4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4F695452-7372-1C3C-534B-FBC0EF5397FB}"/>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34E9014A-7FDC-0574-12F8-320483F307CF}"/>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48694234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55FD4-22E2-23CE-62FB-9E6AF1900659}"/>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86A88BA9-C3C7-6FAB-0ACD-2FD31EFE533A}"/>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Normal Forms</a:t>
            </a:r>
          </a:p>
        </p:txBody>
      </p:sp>
      <p:sp>
        <p:nvSpPr>
          <p:cNvPr id="10243" name="Rectangle 3">
            <a:extLst>
              <a:ext uri="{FF2B5EF4-FFF2-40B4-BE49-F238E27FC236}">
                <a16:creationId xmlns:a16="http://schemas.microsoft.com/office/drawing/2014/main" id="{A7CE83DB-AAAF-A6F1-83AE-59F7B8121150}"/>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Normalization process is built around the concept of </a:t>
            </a:r>
            <a:r>
              <a:rPr lang="en-US" sz="2400" dirty="0">
                <a:solidFill>
                  <a:srgbClr val="0000FF"/>
                </a:solidFill>
                <a:latin typeface="Cambria" panose="02040503050406030204" pitchFamily="18" charset="0"/>
                <a:ea typeface="Cambria" panose="02040503050406030204" pitchFamily="18" charset="0"/>
              </a:rPr>
              <a:t>Normal Forms.</a:t>
            </a:r>
            <a:r>
              <a:rPr lang="en-US" sz="2400" dirty="0">
                <a:latin typeface="Cambria" panose="02040503050406030204" pitchFamily="18" charset="0"/>
                <a:ea typeface="Cambria" panose="02040503050406030204" pitchFamily="18" charset="0"/>
              </a:rPr>
              <a:t> </a:t>
            </a:r>
          </a:p>
          <a:p>
            <a:pPr algn="just">
              <a:spcBef>
                <a:spcPts val="300"/>
              </a:spcBef>
              <a:defRPr/>
            </a:pPr>
            <a:r>
              <a:rPr lang="en-US" sz="2400" dirty="0">
                <a:latin typeface="Cambria" panose="02040503050406030204" pitchFamily="18" charset="0"/>
                <a:ea typeface="Cambria" panose="02040503050406030204" pitchFamily="18" charset="0"/>
              </a:rPr>
              <a:t>A </a:t>
            </a:r>
            <a:r>
              <a:rPr lang="en-US" sz="2400" dirty="0">
                <a:solidFill>
                  <a:srgbClr val="0000FF"/>
                </a:solidFill>
                <a:latin typeface="Cambria" panose="02040503050406030204" pitchFamily="18" charset="0"/>
                <a:ea typeface="Cambria" panose="02040503050406030204" pitchFamily="18" charset="0"/>
              </a:rPr>
              <a:t>Normal Form</a:t>
            </a:r>
            <a:r>
              <a:rPr lang="en-US" sz="2400" dirty="0">
                <a:latin typeface="Cambria" panose="02040503050406030204" pitchFamily="18" charset="0"/>
                <a:ea typeface="Cambria" panose="02040503050406030204" pitchFamily="18" charset="0"/>
              </a:rPr>
              <a:t> is a state of a relation that can be determined by applying simple rules regarding </a:t>
            </a:r>
            <a:r>
              <a:rPr lang="en-US" sz="2400" dirty="0">
                <a:solidFill>
                  <a:srgbClr val="0000FF"/>
                </a:solidFill>
                <a:latin typeface="Cambria" panose="02040503050406030204" pitchFamily="18" charset="0"/>
                <a:ea typeface="Cambria" panose="02040503050406030204" pitchFamily="18" charset="0"/>
              </a:rPr>
              <a:t>functional Dependencies. </a:t>
            </a:r>
          </a:p>
          <a:p>
            <a:pPr algn="just">
              <a:spcBef>
                <a:spcPts val="300"/>
              </a:spcBef>
              <a:defRPr/>
            </a:pPr>
            <a:r>
              <a:rPr lang="en-US" sz="2400" dirty="0">
                <a:latin typeface="Cambria" panose="02040503050406030204" pitchFamily="18" charset="0"/>
                <a:ea typeface="Cambria" panose="02040503050406030204" pitchFamily="18" charset="0"/>
              </a:rPr>
              <a:t>The initial version of the normalization process proposed by </a:t>
            </a:r>
            <a:r>
              <a:rPr lang="en-US" sz="2400" dirty="0">
                <a:solidFill>
                  <a:srgbClr val="0000FF"/>
                </a:solidFill>
                <a:latin typeface="Cambria" panose="02040503050406030204" pitchFamily="18" charset="0"/>
                <a:ea typeface="Cambria" panose="02040503050406030204" pitchFamily="18" charset="0"/>
              </a:rPr>
              <a:t>E.F. Codd</a:t>
            </a:r>
            <a:r>
              <a:rPr lang="en-US" sz="2400" dirty="0">
                <a:latin typeface="Cambria" panose="02040503050406030204" pitchFamily="18" charset="0"/>
                <a:ea typeface="Cambria" panose="02040503050406030204" pitchFamily="18" charset="0"/>
              </a:rPr>
              <a:t> consists of </a:t>
            </a:r>
            <a:r>
              <a:rPr lang="en-US" sz="2400" dirty="0">
                <a:solidFill>
                  <a:srgbClr val="0000FF"/>
                </a:solidFill>
                <a:latin typeface="Cambria" panose="02040503050406030204" pitchFamily="18" charset="0"/>
                <a:ea typeface="Cambria" panose="02040503050406030204" pitchFamily="18" charset="0"/>
              </a:rPr>
              <a:t>three normal forms. </a:t>
            </a:r>
          </a:p>
          <a:p>
            <a:pPr algn="just">
              <a:spcBef>
                <a:spcPts val="300"/>
              </a:spcBef>
              <a:defRPr/>
            </a:pPr>
            <a:r>
              <a:rPr lang="en-US" sz="2400" dirty="0">
                <a:latin typeface="Cambria" panose="02040503050406030204" pitchFamily="18" charset="0"/>
                <a:ea typeface="Cambria" panose="02040503050406030204" pitchFamily="18" charset="0"/>
              </a:rPr>
              <a:t>A stronger definition of 3NF – called </a:t>
            </a:r>
            <a:r>
              <a:rPr lang="en-US" sz="2400" dirty="0">
                <a:solidFill>
                  <a:srgbClr val="0000FF"/>
                </a:solidFill>
                <a:latin typeface="Cambria" panose="02040503050406030204" pitchFamily="18" charset="0"/>
                <a:ea typeface="Cambria" panose="02040503050406030204" pitchFamily="18" charset="0"/>
              </a:rPr>
              <a:t>Boyce-Codd normal form (BCNF)</a:t>
            </a:r>
            <a:r>
              <a:rPr lang="en-US" sz="2400" dirty="0">
                <a:latin typeface="Cambria" panose="02040503050406030204" pitchFamily="18" charset="0"/>
                <a:ea typeface="Cambria" panose="02040503050406030204" pitchFamily="18" charset="0"/>
              </a:rPr>
              <a:t> was proposed later by Boyce and Codd.</a:t>
            </a:r>
          </a:p>
          <a:p>
            <a:pPr algn="just">
              <a:spcBef>
                <a:spcPts val="300"/>
              </a:spcBef>
              <a:defRPr/>
            </a:pPr>
            <a:r>
              <a:rPr lang="en-US" sz="2400" dirty="0">
                <a:latin typeface="Cambria" panose="02040503050406030204" pitchFamily="18" charset="0"/>
                <a:ea typeface="Cambria" panose="02040503050406030204" pitchFamily="18" charset="0"/>
              </a:rPr>
              <a:t>All the above normal forms are bases upon the analysis of function dependencies.</a:t>
            </a:r>
          </a:p>
          <a:p>
            <a:pPr algn="just">
              <a:spcBef>
                <a:spcPts val="300"/>
              </a:spcBef>
              <a:defRPr/>
            </a:pPr>
            <a:r>
              <a:rPr lang="en-US" sz="2400" dirty="0">
                <a:latin typeface="Cambria" panose="02040503050406030204" pitchFamily="18" charset="0"/>
                <a:ea typeface="Cambria" panose="02040503050406030204" pitchFamily="18" charset="0"/>
              </a:rPr>
              <a:t>Later </a:t>
            </a:r>
            <a:r>
              <a:rPr lang="en-US" sz="2400" dirty="0">
                <a:solidFill>
                  <a:srgbClr val="0000FF"/>
                </a:solidFill>
                <a:latin typeface="Cambria" panose="02040503050406030204" pitchFamily="18" charset="0"/>
                <a:ea typeface="Cambria" panose="02040503050406030204" pitchFamily="18" charset="0"/>
              </a:rPr>
              <a:t>4NF</a:t>
            </a:r>
            <a:r>
              <a:rPr lang="en-US" sz="2400" dirty="0">
                <a:latin typeface="Cambria" panose="02040503050406030204" pitchFamily="18" charset="0"/>
                <a:ea typeface="Cambria" panose="02040503050406030204" pitchFamily="18" charset="0"/>
              </a:rPr>
              <a:t> and </a:t>
            </a:r>
            <a:r>
              <a:rPr lang="en-US" sz="2400" dirty="0">
                <a:solidFill>
                  <a:srgbClr val="0000FF"/>
                </a:solidFill>
                <a:latin typeface="Cambria" panose="02040503050406030204" pitchFamily="18" charset="0"/>
                <a:ea typeface="Cambria" panose="02040503050406030204" pitchFamily="18" charset="0"/>
              </a:rPr>
              <a:t>5NF</a:t>
            </a:r>
            <a:r>
              <a:rPr lang="en-US" sz="2400" dirty="0">
                <a:latin typeface="Cambria" panose="02040503050406030204" pitchFamily="18" charset="0"/>
                <a:ea typeface="Cambria" panose="02040503050406030204" pitchFamily="18" charset="0"/>
              </a:rPr>
              <a:t> were proposed, based upon the concepts of </a:t>
            </a:r>
            <a:r>
              <a:rPr lang="en-US" sz="2400" dirty="0">
                <a:solidFill>
                  <a:srgbClr val="0000FF"/>
                </a:solidFill>
                <a:latin typeface="Cambria" panose="02040503050406030204" pitchFamily="18" charset="0"/>
                <a:ea typeface="Cambria" panose="02040503050406030204" pitchFamily="18" charset="0"/>
              </a:rPr>
              <a:t>multivalued dependencies</a:t>
            </a:r>
            <a:r>
              <a:rPr lang="en-US" sz="2400" dirty="0">
                <a:latin typeface="Cambria" panose="02040503050406030204" pitchFamily="18" charset="0"/>
                <a:ea typeface="Cambria" panose="02040503050406030204" pitchFamily="18" charset="0"/>
              </a:rPr>
              <a:t> and </a:t>
            </a:r>
            <a:r>
              <a:rPr lang="en-US" sz="2400" dirty="0">
                <a:solidFill>
                  <a:srgbClr val="0000FF"/>
                </a:solidFill>
                <a:latin typeface="Cambria" panose="02040503050406030204" pitchFamily="18" charset="0"/>
                <a:ea typeface="Cambria" panose="02040503050406030204" pitchFamily="18" charset="0"/>
              </a:rPr>
              <a:t>join dependencies, </a:t>
            </a:r>
            <a:r>
              <a:rPr lang="en-US" sz="2400" dirty="0">
                <a:latin typeface="Cambria" panose="02040503050406030204" pitchFamily="18" charset="0"/>
                <a:ea typeface="Cambria" panose="02040503050406030204" pitchFamily="18" charset="0"/>
              </a:rPr>
              <a:t>respectively.</a:t>
            </a:r>
          </a:p>
          <a:p>
            <a:pPr algn="just">
              <a:spcBef>
                <a:spcPts val="300"/>
              </a:spcBef>
              <a:defRPr/>
            </a:pPr>
            <a:endParaRPr lang="en-US" sz="20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0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700F5B48-A1C8-3290-FB2C-4CB4A2F2645E}"/>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42D03E0E-9944-F3C1-AD5C-AE1F000421A1}"/>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074167569"/>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FDDD2-4535-9811-8FC3-F0F66086F24E}"/>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EA8F58E4-D035-5CCE-6CDC-A0ACC860A7EB}"/>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Normal Forms</a:t>
            </a:r>
          </a:p>
        </p:txBody>
      </p:sp>
      <p:sp>
        <p:nvSpPr>
          <p:cNvPr id="2" name="Slide Number Placeholder 23">
            <a:extLst>
              <a:ext uri="{FF2B5EF4-FFF2-40B4-BE49-F238E27FC236}">
                <a16:creationId xmlns:a16="http://schemas.microsoft.com/office/drawing/2014/main" id="{7B7D96A0-CA42-B64E-4806-A44821D16417}"/>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
        <p:nvSpPr>
          <p:cNvPr id="5" name="Rectangle 2">
            <a:extLst>
              <a:ext uri="{FF2B5EF4-FFF2-40B4-BE49-F238E27FC236}">
                <a16:creationId xmlns:a16="http://schemas.microsoft.com/office/drawing/2014/main" id="{3F9C846D-1A1D-9AF6-9923-B0A23C7C414C}"/>
              </a:ext>
            </a:extLst>
          </p:cNvPr>
          <p:cNvSpPr>
            <a:spLocks noChangeArrowheads="1"/>
          </p:cNvSpPr>
          <p:nvPr/>
        </p:nvSpPr>
        <p:spPr bwMode="auto">
          <a:xfrm>
            <a:off x="1619672" y="692696"/>
            <a:ext cx="2286000" cy="629907"/>
          </a:xfrm>
          <a:prstGeom prst="rect">
            <a:avLst/>
          </a:prstGeom>
          <a:solidFill>
            <a:schemeClr val="bg1">
              <a:lumMod val="6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Table with </a:t>
            </a:r>
          </a:p>
          <a:p>
            <a:pPr algn="ctr">
              <a:spcBef>
                <a:spcPct val="0"/>
              </a:spcBef>
              <a:buFontTx/>
              <a:buNone/>
            </a:pPr>
            <a:r>
              <a:rPr lang="en-US" altLang="en-US" sz="1600"/>
              <a:t>Multivalued attribute</a:t>
            </a:r>
          </a:p>
        </p:txBody>
      </p:sp>
      <p:sp>
        <p:nvSpPr>
          <p:cNvPr id="6" name="Oval 3">
            <a:extLst>
              <a:ext uri="{FF2B5EF4-FFF2-40B4-BE49-F238E27FC236}">
                <a16:creationId xmlns:a16="http://schemas.microsoft.com/office/drawing/2014/main" id="{EAC9BD14-D74C-AF84-EF15-445745C98961}"/>
              </a:ext>
            </a:extLst>
          </p:cNvPr>
          <p:cNvSpPr>
            <a:spLocks noChangeArrowheads="1"/>
          </p:cNvSpPr>
          <p:nvPr/>
        </p:nvSpPr>
        <p:spPr bwMode="auto">
          <a:xfrm>
            <a:off x="4362872" y="1182624"/>
            <a:ext cx="3124200" cy="559918"/>
          </a:xfrm>
          <a:prstGeom prst="ellipse">
            <a:avLst/>
          </a:prstGeom>
          <a:solidFill>
            <a:schemeClr val="accent2">
              <a:lumMod val="40000"/>
              <a:lumOff val="60000"/>
            </a:schemeClr>
          </a:solidFill>
          <a:ln w="9525">
            <a:solidFill>
              <a:schemeClr val="tx1"/>
            </a:solidFill>
            <a:round/>
            <a:headEnd/>
            <a:tailEnd/>
          </a:ln>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Remove multivalued attributes</a:t>
            </a:r>
          </a:p>
        </p:txBody>
      </p:sp>
      <p:sp>
        <p:nvSpPr>
          <p:cNvPr id="7" name="Oval 4">
            <a:extLst>
              <a:ext uri="{FF2B5EF4-FFF2-40B4-BE49-F238E27FC236}">
                <a16:creationId xmlns:a16="http://schemas.microsoft.com/office/drawing/2014/main" id="{037D9F12-DD6F-03EA-D57F-D57F7F3E821E}"/>
              </a:ext>
            </a:extLst>
          </p:cNvPr>
          <p:cNvSpPr>
            <a:spLocks noChangeArrowheads="1"/>
          </p:cNvSpPr>
          <p:nvPr/>
        </p:nvSpPr>
        <p:spPr bwMode="auto">
          <a:xfrm>
            <a:off x="4439072" y="2092490"/>
            <a:ext cx="3124200" cy="559918"/>
          </a:xfrm>
          <a:prstGeom prst="ellipse">
            <a:avLst/>
          </a:prstGeom>
          <a:solidFill>
            <a:schemeClr val="accent2">
              <a:lumMod val="40000"/>
              <a:lumOff val="60000"/>
            </a:schemeClr>
          </a:solidFill>
          <a:ln w="9525">
            <a:solidFill>
              <a:schemeClr val="tx1"/>
            </a:solidFill>
            <a:round/>
            <a:headEnd/>
            <a:tailEnd/>
          </a:ln>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Remove partial dependencies</a:t>
            </a:r>
          </a:p>
        </p:txBody>
      </p:sp>
      <p:sp>
        <p:nvSpPr>
          <p:cNvPr id="8" name="Oval 5">
            <a:extLst>
              <a:ext uri="{FF2B5EF4-FFF2-40B4-BE49-F238E27FC236}">
                <a16:creationId xmlns:a16="http://schemas.microsoft.com/office/drawing/2014/main" id="{9D4AADEB-8094-CCE6-22F5-1D8FEE608B27}"/>
              </a:ext>
            </a:extLst>
          </p:cNvPr>
          <p:cNvSpPr>
            <a:spLocks noChangeArrowheads="1"/>
          </p:cNvSpPr>
          <p:nvPr/>
        </p:nvSpPr>
        <p:spPr bwMode="auto">
          <a:xfrm>
            <a:off x="4362872" y="3002356"/>
            <a:ext cx="3124200" cy="559918"/>
          </a:xfrm>
          <a:prstGeom prst="ellipse">
            <a:avLst/>
          </a:prstGeom>
          <a:solidFill>
            <a:schemeClr val="accent2">
              <a:lumMod val="40000"/>
              <a:lumOff val="60000"/>
            </a:schemeClr>
          </a:solidFill>
          <a:ln w="9525">
            <a:solidFill>
              <a:schemeClr val="tx1"/>
            </a:solidFill>
            <a:round/>
            <a:headEnd/>
            <a:tailEnd/>
          </a:ln>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Remove transitive dependencies</a:t>
            </a:r>
          </a:p>
        </p:txBody>
      </p:sp>
      <p:sp>
        <p:nvSpPr>
          <p:cNvPr id="9" name="Oval 6">
            <a:extLst>
              <a:ext uri="{FF2B5EF4-FFF2-40B4-BE49-F238E27FC236}">
                <a16:creationId xmlns:a16="http://schemas.microsoft.com/office/drawing/2014/main" id="{F40B9B93-D7CA-7029-ED68-D52F63907FF6}"/>
              </a:ext>
            </a:extLst>
          </p:cNvPr>
          <p:cNvSpPr>
            <a:spLocks noChangeArrowheads="1"/>
          </p:cNvSpPr>
          <p:nvPr/>
        </p:nvSpPr>
        <p:spPr bwMode="auto">
          <a:xfrm>
            <a:off x="4439072" y="3912222"/>
            <a:ext cx="3124200" cy="559918"/>
          </a:xfrm>
          <a:prstGeom prst="ellipse">
            <a:avLst/>
          </a:prstGeom>
          <a:solidFill>
            <a:schemeClr val="accent2">
              <a:lumMod val="40000"/>
              <a:lumOff val="60000"/>
            </a:schemeClr>
          </a:solidFill>
          <a:ln w="9525">
            <a:solidFill>
              <a:schemeClr val="tx1"/>
            </a:solidFill>
            <a:round/>
            <a:headEnd/>
            <a:tailEnd/>
          </a:ln>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Removing remaining anomalies</a:t>
            </a:r>
          </a:p>
        </p:txBody>
      </p:sp>
      <p:sp>
        <p:nvSpPr>
          <p:cNvPr id="10" name="Oval 7">
            <a:extLst>
              <a:ext uri="{FF2B5EF4-FFF2-40B4-BE49-F238E27FC236}">
                <a16:creationId xmlns:a16="http://schemas.microsoft.com/office/drawing/2014/main" id="{9368A6EF-E92E-2A9F-9AAB-0B1119D863A0}"/>
              </a:ext>
            </a:extLst>
          </p:cNvPr>
          <p:cNvSpPr>
            <a:spLocks noChangeArrowheads="1"/>
          </p:cNvSpPr>
          <p:nvPr/>
        </p:nvSpPr>
        <p:spPr bwMode="auto">
          <a:xfrm>
            <a:off x="4439072" y="4822088"/>
            <a:ext cx="3124200" cy="559918"/>
          </a:xfrm>
          <a:prstGeom prst="ellipse">
            <a:avLst/>
          </a:prstGeom>
          <a:solidFill>
            <a:schemeClr val="accent2">
              <a:lumMod val="40000"/>
              <a:lumOff val="60000"/>
            </a:schemeClr>
          </a:solidFill>
          <a:ln w="9525">
            <a:solidFill>
              <a:schemeClr val="tx1"/>
            </a:solidFill>
            <a:round/>
            <a:headEnd/>
            <a:tailEnd/>
          </a:ln>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Remove multivalued dependencies</a:t>
            </a:r>
          </a:p>
        </p:txBody>
      </p:sp>
      <p:sp>
        <p:nvSpPr>
          <p:cNvPr id="11" name="Oval 8">
            <a:extLst>
              <a:ext uri="{FF2B5EF4-FFF2-40B4-BE49-F238E27FC236}">
                <a16:creationId xmlns:a16="http://schemas.microsoft.com/office/drawing/2014/main" id="{088E3408-FA22-1A6A-3109-A958889F9051}"/>
              </a:ext>
            </a:extLst>
          </p:cNvPr>
          <p:cNvSpPr>
            <a:spLocks noChangeArrowheads="1"/>
          </p:cNvSpPr>
          <p:nvPr/>
        </p:nvSpPr>
        <p:spPr bwMode="auto">
          <a:xfrm>
            <a:off x="4362872" y="5731954"/>
            <a:ext cx="3124200" cy="559918"/>
          </a:xfrm>
          <a:prstGeom prst="ellipse">
            <a:avLst/>
          </a:prstGeom>
          <a:solidFill>
            <a:schemeClr val="accent2">
              <a:lumMod val="40000"/>
              <a:lumOff val="60000"/>
            </a:schemeClr>
          </a:solidFill>
          <a:ln w="9525">
            <a:solidFill>
              <a:schemeClr val="tx1"/>
            </a:solidFill>
            <a:round/>
            <a:headEnd/>
            <a:tailEnd/>
          </a:ln>
          <a:effec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Remove remaining anomalies</a:t>
            </a:r>
          </a:p>
        </p:txBody>
      </p:sp>
      <p:sp>
        <p:nvSpPr>
          <p:cNvPr id="12" name="Rectangle 9">
            <a:extLst>
              <a:ext uri="{FF2B5EF4-FFF2-40B4-BE49-F238E27FC236}">
                <a16:creationId xmlns:a16="http://schemas.microsoft.com/office/drawing/2014/main" id="{373E0151-3800-E22F-AF81-1BDCF3B99743}"/>
              </a:ext>
            </a:extLst>
          </p:cNvPr>
          <p:cNvSpPr>
            <a:spLocks noChangeArrowheads="1"/>
          </p:cNvSpPr>
          <p:nvPr/>
        </p:nvSpPr>
        <p:spPr bwMode="auto">
          <a:xfrm>
            <a:off x="1619672" y="1602562"/>
            <a:ext cx="2286000" cy="629907"/>
          </a:xfrm>
          <a:prstGeom prst="rect">
            <a:avLst/>
          </a:prstGeom>
          <a:solidFill>
            <a:schemeClr val="bg1">
              <a:lumMod val="6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First Normal Form</a:t>
            </a:r>
          </a:p>
        </p:txBody>
      </p:sp>
      <p:sp>
        <p:nvSpPr>
          <p:cNvPr id="13" name="Rectangle 10">
            <a:extLst>
              <a:ext uri="{FF2B5EF4-FFF2-40B4-BE49-F238E27FC236}">
                <a16:creationId xmlns:a16="http://schemas.microsoft.com/office/drawing/2014/main" id="{22C40D49-5B15-72A4-BD83-1C2F473B7822}"/>
              </a:ext>
            </a:extLst>
          </p:cNvPr>
          <p:cNvSpPr>
            <a:spLocks noChangeArrowheads="1"/>
          </p:cNvSpPr>
          <p:nvPr/>
        </p:nvSpPr>
        <p:spPr bwMode="auto">
          <a:xfrm>
            <a:off x="1619672" y="2512428"/>
            <a:ext cx="2286000" cy="629907"/>
          </a:xfrm>
          <a:prstGeom prst="rect">
            <a:avLst/>
          </a:prstGeom>
          <a:solidFill>
            <a:schemeClr val="bg1">
              <a:lumMod val="6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Second Normal Form</a:t>
            </a:r>
          </a:p>
        </p:txBody>
      </p:sp>
      <p:sp>
        <p:nvSpPr>
          <p:cNvPr id="14" name="Rectangle 11">
            <a:extLst>
              <a:ext uri="{FF2B5EF4-FFF2-40B4-BE49-F238E27FC236}">
                <a16:creationId xmlns:a16="http://schemas.microsoft.com/office/drawing/2014/main" id="{1DF1E83B-E157-6735-06AD-E1DECFDD0A1A}"/>
              </a:ext>
            </a:extLst>
          </p:cNvPr>
          <p:cNvSpPr>
            <a:spLocks noChangeArrowheads="1"/>
          </p:cNvSpPr>
          <p:nvPr/>
        </p:nvSpPr>
        <p:spPr bwMode="auto">
          <a:xfrm>
            <a:off x="1619672" y="3422294"/>
            <a:ext cx="2286000" cy="629907"/>
          </a:xfrm>
          <a:prstGeom prst="rect">
            <a:avLst/>
          </a:prstGeom>
          <a:solidFill>
            <a:schemeClr val="bg1">
              <a:lumMod val="6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Third Normal Form</a:t>
            </a:r>
          </a:p>
        </p:txBody>
      </p:sp>
      <p:sp>
        <p:nvSpPr>
          <p:cNvPr id="15" name="Rectangle 12">
            <a:extLst>
              <a:ext uri="{FF2B5EF4-FFF2-40B4-BE49-F238E27FC236}">
                <a16:creationId xmlns:a16="http://schemas.microsoft.com/office/drawing/2014/main" id="{FBCEBF0C-019B-4607-0109-53C4BACA1CCB}"/>
              </a:ext>
            </a:extLst>
          </p:cNvPr>
          <p:cNvSpPr>
            <a:spLocks noChangeArrowheads="1"/>
          </p:cNvSpPr>
          <p:nvPr/>
        </p:nvSpPr>
        <p:spPr bwMode="auto">
          <a:xfrm>
            <a:off x="1619672" y="4332160"/>
            <a:ext cx="2286000" cy="629907"/>
          </a:xfrm>
          <a:prstGeom prst="rect">
            <a:avLst/>
          </a:prstGeom>
          <a:solidFill>
            <a:schemeClr val="bg1">
              <a:lumMod val="6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Boyce-Codd </a:t>
            </a:r>
          </a:p>
          <a:p>
            <a:pPr algn="ctr">
              <a:spcBef>
                <a:spcPct val="0"/>
              </a:spcBef>
              <a:buFontTx/>
              <a:buNone/>
            </a:pPr>
            <a:r>
              <a:rPr lang="en-US" altLang="en-US" sz="1600"/>
              <a:t>Normal Form</a:t>
            </a:r>
          </a:p>
        </p:txBody>
      </p:sp>
      <p:sp>
        <p:nvSpPr>
          <p:cNvPr id="16" name="Rectangle 13">
            <a:extLst>
              <a:ext uri="{FF2B5EF4-FFF2-40B4-BE49-F238E27FC236}">
                <a16:creationId xmlns:a16="http://schemas.microsoft.com/office/drawing/2014/main" id="{6B61D920-58A7-F526-9163-3A6BEBB0172B}"/>
              </a:ext>
            </a:extLst>
          </p:cNvPr>
          <p:cNvSpPr>
            <a:spLocks noChangeArrowheads="1"/>
          </p:cNvSpPr>
          <p:nvPr/>
        </p:nvSpPr>
        <p:spPr bwMode="auto">
          <a:xfrm>
            <a:off x="1619672" y="5242027"/>
            <a:ext cx="2286000" cy="629907"/>
          </a:xfrm>
          <a:prstGeom prst="rect">
            <a:avLst/>
          </a:prstGeom>
          <a:solidFill>
            <a:schemeClr val="bg1">
              <a:lumMod val="6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Fourth Normal Form</a:t>
            </a:r>
          </a:p>
        </p:txBody>
      </p:sp>
      <p:sp>
        <p:nvSpPr>
          <p:cNvPr id="17" name="Rectangle 14">
            <a:extLst>
              <a:ext uri="{FF2B5EF4-FFF2-40B4-BE49-F238E27FC236}">
                <a16:creationId xmlns:a16="http://schemas.microsoft.com/office/drawing/2014/main" id="{5A876634-80D4-E446-8BA4-9FA710A20484}"/>
              </a:ext>
            </a:extLst>
          </p:cNvPr>
          <p:cNvSpPr>
            <a:spLocks noChangeArrowheads="1"/>
          </p:cNvSpPr>
          <p:nvPr/>
        </p:nvSpPr>
        <p:spPr bwMode="auto">
          <a:xfrm>
            <a:off x="1619672" y="6151893"/>
            <a:ext cx="2286000" cy="629907"/>
          </a:xfrm>
          <a:prstGeom prst="rect">
            <a:avLst/>
          </a:prstGeom>
          <a:solidFill>
            <a:schemeClr val="bg1">
              <a:lumMod val="6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1600"/>
              <a:t>Fifth Normal Form</a:t>
            </a:r>
          </a:p>
        </p:txBody>
      </p:sp>
      <p:cxnSp>
        <p:nvCxnSpPr>
          <p:cNvPr id="18" name="AutoShape 15">
            <a:extLst>
              <a:ext uri="{FF2B5EF4-FFF2-40B4-BE49-F238E27FC236}">
                <a16:creationId xmlns:a16="http://schemas.microsoft.com/office/drawing/2014/main" id="{5A5DC756-1C3D-1539-8FD8-4F299739FF23}"/>
              </a:ext>
            </a:extLst>
          </p:cNvPr>
          <p:cNvCxnSpPr>
            <a:cxnSpLocks noChangeShapeType="1"/>
            <a:stCxn id="5" idx="2"/>
            <a:endCxn id="12" idx="0"/>
          </p:cNvCxnSpPr>
          <p:nvPr/>
        </p:nvCxnSpPr>
        <p:spPr bwMode="auto">
          <a:xfrm>
            <a:off x="2762672" y="1322603"/>
            <a:ext cx="0" cy="279959"/>
          </a:xfrm>
          <a:prstGeom prst="straightConnector1">
            <a:avLst/>
          </a:prstGeom>
          <a:solidFill>
            <a:schemeClr val="bg1">
              <a:lumMod val="65000"/>
            </a:schemeClr>
          </a:solid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AutoShape 16">
            <a:extLst>
              <a:ext uri="{FF2B5EF4-FFF2-40B4-BE49-F238E27FC236}">
                <a16:creationId xmlns:a16="http://schemas.microsoft.com/office/drawing/2014/main" id="{5E19406E-E7C6-8F52-14C5-CAAFC35BA503}"/>
              </a:ext>
            </a:extLst>
          </p:cNvPr>
          <p:cNvCxnSpPr>
            <a:cxnSpLocks noChangeShapeType="1"/>
          </p:cNvCxnSpPr>
          <p:nvPr/>
        </p:nvCxnSpPr>
        <p:spPr bwMode="auto">
          <a:xfrm>
            <a:off x="2762672" y="2232469"/>
            <a:ext cx="0" cy="279959"/>
          </a:xfrm>
          <a:prstGeom prst="straightConnector1">
            <a:avLst/>
          </a:prstGeom>
          <a:solidFill>
            <a:schemeClr val="bg1">
              <a:lumMod val="65000"/>
            </a:schemeClr>
          </a:solid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AutoShape 17">
            <a:extLst>
              <a:ext uri="{FF2B5EF4-FFF2-40B4-BE49-F238E27FC236}">
                <a16:creationId xmlns:a16="http://schemas.microsoft.com/office/drawing/2014/main" id="{E2D102FE-2581-40AA-0144-E5E15D962676}"/>
              </a:ext>
            </a:extLst>
          </p:cNvPr>
          <p:cNvCxnSpPr>
            <a:cxnSpLocks noChangeShapeType="1"/>
          </p:cNvCxnSpPr>
          <p:nvPr/>
        </p:nvCxnSpPr>
        <p:spPr bwMode="auto">
          <a:xfrm>
            <a:off x="2762672" y="3142336"/>
            <a:ext cx="0" cy="279959"/>
          </a:xfrm>
          <a:prstGeom prst="straightConnector1">
            <a:avLst/>
          </a:prstGeom>
          <a:solidFill>
            <a:schemeClr val="bg1">
              <a:lumMod val="65000"/>
            </a:schemeClr>
          </a:solid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AutoShape 18">
            <a:extLst>
              <a:ext uri="{FF2B5EF4-FFF2-40B4-BE49-F238E27FC236}">
                <a16:creationId xmlns:a16="http://schemas.microsoft.com/office/drawing/2014/main" id="{A94E2C6E-588E-D177-FDF5-D58E21CA185C}"/>
              </a:ext>
            </a:extLst>
          </p:cNvPr>
          <p:cNvCxnSpPr>
            <a:cxnSpLocks noChangeShapeType="1"/>
          </p:cNvCxnSpPr>
          <p:nvPr/>
        </p:nvCxnSpPr>
        <p:spPr bwMode="auto">
          <a:xfrm>
            <a:off x="2762672" y="4052202"/>
            <a:ext cx="0" cy="279959"/>
          </a:xfrm>
          <a:prstGeom prst="straightConnector1">
            <a:avLst/>
          </a:prstGeom>
          <a:solidFill>
            <a:schemeClr val="bg1">
              <a:lumMod val="65000"/>
            </a:schemeClr>
          </a:solid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AutoShape 19">
            <a:extLst>
              <a:ext uri="{FF2B5EF4-FFF2-40B4-BE49-F238E27FC236}">
                <a16:creationId xmlns:a16="http://schemas.microsoft.com/office/drawing/2014/main" id="{2141CE7E-43FD-F2C3-E477-FFF32EAC5278}"/>
              </a:ext>
            </a:extLst>
          </p:cNvPr>
          <p:cNvCxnSpPr>
            <a:cxnSpLocks noChangeShapeType="1"/>
          </p:cNvCxnSpPr>
          <p:nvPr/>
        </p:nvCxnSpPr>
        <p:spPr bwMode="auto">
          <a:xfrm>
            <a:off x="2762672" y="4962068"/>
            <a:ext cx="0" cy="279959"/>
          </a:xfrm>
          <a:prstGeom prst="straightConnector1">
            <a:avLst/>
          </a:prstGeom>
          <a:solidFill>
            <a:schemeClr val="bg1">
              <a:lumMod val="65000"/>
            </a:schemeClr>
          </a:solid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AutoShape 20">
            <a:extLst>
              <a:ext uri="{FF2B5EF4-FFF2-40B4-BE49-F238E27FC236}">
                <a16:creationId xmlns:a16="http://schemas.microsoft.com/office/drawing/2014/main" id="{4DE31DD9-3694-D272-E9C0-B31A3695E75A}"/>
              </a:ext>
            </a:extLst>
          </p:cNvPr>
          <p:cNvCxnSpPr>
            <a:cxnSpLocks noChangeShapeType="1"/>
          </p:cNvCxnSpPr>
          <p:nvPr/>
        </p:nvCxnSpPr>
        <p:spPr bwMode="auto">
          <a:xfrm>
            <a:off x="2762672" y="5871934"/>
            <a:ext cx="0" cy="279959"/>
          </a:xfrm>
          <a:prstGeom prst="straightConnector1">
            <a:avLst/>
          </a:prstGeom>
          <a:solidFill>
            <a:schemeClr val="bg1">
              <a:lumMod val="65000"/>
            </a:schemeClr>
          </a:solidFill>
          <a:ln w="952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AutoShape 21">
            <a:extLst>
              <a:ext uri="{FF2B5EF4-FFF2-40B4-BE49-F238E27FC236}">
                <a16:creationId xmlns:a16="http://schemas.microsoft.com/office/drawing/2014/main" id="{E02C00CD-1656-499C-8D96-EFE154FDF805}"/>
              </a:ext>
            </a:extLst>
          </p:cNvPr>
          <p:cNvCxnSpPr>
            <a:cxnSpLocks noChangeShapeType="1"/>
            <a:endCxn id="6" idx="2"/>
          </p:cNvCxnSpPr>
          <p:nvPr/>
        </p:nvCxnSpPr>
        <p:spPr bwMode="auto">
          <a:xfrm>
            <a:off x="2762672" y="1462583"/>
            <a:ext cx="1600200" cy="0"/>
          </a:xfrm>
          <a:prstGeom prst="straightConnector1">
            <a:avLst/>
          </a:prstGeom>
          <a:solidFill>
            <a:schemeClr val="bg1">
              <a:lumMod val="65000"/>
            </a:schemeClr>
          </a:solid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AutoShape 22">
            <a:extLst>
              <a:ext uri="{FF2B5EF4-FFF2-40B4-BE49-F238E27FC236}">
                <a16:creationId xmlns:a16="http://schemas.microsoft.com/office/drawing/2014/main" id="{1ADF6E0A-4B9D-8290-5D1E-600AA5EBE08A}"/>
              </a:ext>
            </a:extLst>
          </p:cNvPr>
          <p:cNvCxnSpPr>
            <a:cxnSpLocks noChangeShapeType="1"/>
          </p:cNvCxnSpPr>
          <p:nvPr/>
        </p:nvCxnSpPr>
        <p:spPr bwMode="auto">
          <a:xfrm>
            <a:off x="2762672" y="2372449"/>
            <a:ext cx="1600200" cy="0"/>
          </a:xfrm>
          <a:prstGeom prst="straightConnector1">
            <a:avLst/>
          </a:prstGeom>
          <a:solidFill>
            <a:schemeClr val="bg1">
              <a:lumMod val="65000"/>
            </a:schemeClr>
          </a:solid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AutoShape 23">
            <a:extLst>
              <a:ext uri="{FF2B5EF4-FFF2-40B4-BE49-F238E27FC236}">
                <a16:creationId xmlns:a16="http://schemas.microsoft.com/office/drawing/2014/main" id="{106FA02E-F41B-AD51-D484-68B82A7E11A8}"/>
              </a:ext>
            </a:extLst>
          </p:cNvPr>
          <p:cNvCxnSpPr>
            <a:cxnSpLocks noChangeShapeType="1"/>
          </p:cNvCxnSpPr>
          <p:nvPr/>
        </p:nvCxnSpPr>
        <p:spPr bwMode="auto">
          <a:xfrm>
            <a:off x="2762672" y="3282315"/>
            <a:ext cx="1600200" cy="0"/>
          </a:xfrm>
          <a:prstGeom prst="straightConnector1">
            <a:avLst/>
          </a:prstGeom>
          <a:solidFill>
            <a:schemeClr val="bg1">
              <a:lumMod val="65000"/>
            </a:schemeClr>
          </a:solid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AutoShape 24">
            <a:extLst>
              <a:ext uri="{FF2B5EF4-FFF2-40B4-BE49-F238E27FC236}">
                <a16:creationId xmlns:a16="http://schemas.microsoft.com/office/drawing/2014/main" id="{BA6DC90C-2DFD-289E-B0AA-ADA4B5CF7EE5}"/>
              </a:ext>
            </a:extLst>
          </p:cNvPr>
          <p:cNvCxnSpPr>
            <a:cxnSpLocks noChangeShapeType="1"/>
          </p:cNvCxnSpPr>
          <p:nvPr/>
        </p:nvCxnSpPr>
        <p:spPr bwMode="auto">
          <a:xfrm>
            <a:off x="2762672" y="4192181"/>
            <a:ext cx="1600200" cy="0"/>
          </a:xfrm>
          <a:prstGeom prst="straightConnector1">
            <a:avLst/>
          </a:prstGeom>
          <a:solidFill>
            <a:schemeClr val="bg1">
              <a:lumMod val="65000"/>
            </a:schemeClr>
          </a:solid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AutoShape 25">
            <a:extLst>
              <a:ext uri="{FF2B5EF4-FFF2-40B4-BE49-F238E27FC236}">
                <a16:creationId xmlns:a16="http://schemas.microsoft.com/office/drawing/2014/main" id="{14E7C79E-6814-C402-A827-268F43B296FD}"/>
              </a:ext>
            </a:extLst>
          </p:cNvPr>
          <p:cNvCxnSpPr>
            <a:cxnSpLocks noChangeShapeType="1"/>
          </p:cNvCxnSpPr>
          <p:nvPr/>
        </p:nvCxnSpPr>
        <p:spPr bwMode="auto">
          <a:xfrm>
            <a:off x="2762672" y="5102047"/>
            <a:ext cx="1600200" cy="0"/>
          </a:xfrm>
          <a:prstGeom prst="straightConnector1">
            <a:avLst/>
          </a:prstGeom>
          <a:solidFill>
            <a:schemeClr val="bg1">
              <a:lumMod val="65000"/>
            </a:schemeClr>
          </a:solid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AutoShape 26">
            <a:extLst>
              <a:ext uri="{FF2B5EF4-FFF2-40B4-BE49-F238E27FC236}">
                <a16:creationId xmlns:a16="http://schemas.microsoft.com/office/drawing/2014/main" id="{F95A90B4-314B-4E5F-0C40-8A4C06FCC1FA}"/>
              </a:ext>
            </a:extLst>
          </p:cNvPr>
          <p:cNvCxnSpPr>
            <a:cxnSpLocks noChangeShapeType="1"/>
          </p:cNvCxnSpPr>
          <p:nvPr/>
        </p:nvCxnSpPr>
        <p:spPr bwMode="auto">
          <a:xfrm>
            <a:off x="2762672" y="6011913"/>
            <a:ext cx="1600200" cy="0"/>
          </a:xfrm>
          <a:prstGeom prst="straightConnector1">
            <a:avLst/>
          </a:prstGeom>
          <a:solidFill>
            <a:schemeClr val="bg1">
              <a:lumMod val="65000"/>
            </a:schemeClr>
          </a:solid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55863771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4920F-D142-A0E8-C605-199908176855}"/>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8B3AD65D-561C-FD1B-B387-A7B915E3531E}"/>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First Normal Form (1NF)</a:t>
            </a:r>
          </a:p>
        </p:txBody>
      </p:sp>
      <p:sp>
        <p:nvSpPr>
          <p:cNvPr id="10243" name="Rectangle 3">
            <a:extLst>
              <a:ext uri="{FF2B5EF4-FFF2-40B4-BE49-F238E27FC236}">
                <a16:creationId xmlns:a16="http://schemas.microsoft.com/office/drawing/2014/main" id="{5C5C38ED-144F-A4A2-5D3E-74C5B0CBD61C}"/>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A relation is said to be in 1NF, if </a:t>
            </a:r>
          </a:p>
          <a:p>
            <a:pPr lvl="1" algn="just">
              <a:spcBef>
                <a:spcPts val="300"/>
              </a:spcBef>
              <a:defRPr/>
            </a:pPr>
            <a:r>
              <a:rPr lang="en-US" dirty="0">
                <a:latin typeface="Cambria" panose="02040503050406030204" pitchFamily="18" charset="0"/>
                <a:ea typeface="Cambria" panose="02040503050406030204" pitchFamily="18" charset="0"/>
              </a:rPr>
              <a:t>It doesn’t  contain a </a:t>
            </a:r>
            <a:r>
              <a:rPr lang="en-US" dirty="0">
                <a:solidFill>
                  <a:srgbClr val="0000FF"/>
                </a:solidFill>
                <a:latin typeface="Cambria" panose="02040503050406030204" pitchFamily="18" charset="0"/>
                <a:ea typeface="Cambria" panose="02040503050406030204" pitchFamily="18" charset="0"/>
              </a:rPr>
              <a:t>Repeating Group (RG)</a:t>
            </a:r>
            <a:r>
              <a:rPr lang="en-US" dirty="0">
                <a:latin typeface="Cambria" panose="02040503050406030204" pitchFamily="18" charset="0"/>
                <a:ea typeface="Cambria" panose="02040503050406030204" pitchFamily="18" charset="0"/>
              </a:rPr>
              <a:t> OR</a:t>
            </a:r>
          </a:p>
          <a:p>
            <a:pPr lvl="1" algn="just">
              <a:spcBef>
                <a:spcPts val="300"/>
              </a:spcBef>
              <a:defRPr/>
            </a:pPr>
            <a:r>
              <a:rPr lang="en-US" dirty="0">
                <a:latin typeface="Cambria" panose="02040503050406030204" pitchFamily="18" charset="0"/>
                <a:ea typeface="Cambria" panose="02040503050406030204" pitchFamily="18" charset="0"/>
              </a:rPr>
              <a:t>Every attribute is </a:t>
            </a:r>
            <a:r>
              <a:rPr lang="en-US" dirty="0">
                <a:solidFill>
                  <a:srgbClr val="0000FF"/>
                </a:solidFill>
                <a:latin typeface="Cambria" panose="02040503050406030204" pitchFamily="18" charset="0"/>
                <a:ea typeface="Cambria" panose="02040503050406030204" pitchFamily="18" charset="0"/>
              </a:rPr>
              <a:t>single-valued</a:t>
            </a:r>
            <a:r>
              <a:rPr lang="en-US" dirty="0">
                <a:latin typeface="Cambria" panose="02040503050406030204" pitchFamily="18" charset="0"/>
                <a:ea typeface="Cambria" panose="02040503050406030204" pitchFamily="18" charset="0"/>
              </a:rPr>
              <a:t> OR </a:t>
            </a:r>
          </a:p>
          <a:p>
            <a:pPr lvl="1" algn="just">
              <a:spcBef>
                <a:spcPts val="300"/>
              </a:spcBef>
              <a:defRPr/>
            </a:pPr>
            <a:r>
              <a:rPr lang="en-US" dirty="0">
                <a:latin typeface="Cambria" panose="02040503050406030204" pitchFamily="18" charset="0"/>
                <a:ea typeface="Cambria" panose="02040503050406030204" pitchFamily="18" charset="0"/>
              </a:rPr>
              <a:t>Domains of the attributes are </a:t>
            </a:r>
            <a:r>
              <a:rPr lang="en-US" dirty="0">
                <a:solidFill>
                  <a:srgbClr val="0000FF"/>
                </a:solidFill>
                <a:latin typeface="Cambria" panose="02040503050406030204" pitchFamily="18" charset="0"/>
                <a:ea typeface="Cambria" panose="02040503050406030204" pitchFamily="18" charset="0"/>
              </a:rPr>
              <a:t>atomic.</a:t>
            </a:r>
            <a:r>
              <a:rPr lang="en-US" dirty="0">
                <a:latin typeface="Cambria" panose="02040503050406030204" pitchFamily="18" charset="0"/>
                <a:ea typeface="Cambria" panose="02040503050406030204" pitchFamily="18" charset="0"/>
              </a:rPr>
              <a:t> </a:t>
            </a:r>
          </a:p>
          <a:p>
            <a:pPr algn="just">
              <a:spcBef>
                <a:spcPts val="300"/>
              </a:spcBef>
              <a:defRPr/>
            </a:pPr>
            <a:r>
              <a:rPr lang="en-US" sz="2400" dirty="0">
                <a:latin typeface="Cambria" panose="02040503050406030204" pitchFamily="18" charset="0"/>
                <a:ea typeface="Cambria" panose="02040503050406030204" pitchFamily="18" charset="0"/>
              </a:rPr>
              <a:t>A </a:t>
            </a:r>
            <a:r>
              <a:rPr lang="en-US" sz="2400" dirty="0">
                <a:solidFill>
                  <a:srgbClr val="0000FF"/>
                </a:solidFill>
                <a:latin typeface="Cambria" panose="02040503050406030204" pitchFamily="18" charset="0"/>
                <a:ea typeface="Cambria" panose="02040503050406030204" pitchFamily="18" charset="0"/>
              </a:rPr>
              <a:t>Repeating Group (RG)</a:t>
            </a:r>
            <a:r>
              <a:rPr lang="en-US" sz="2400" dirty="0">
                <a:latin typeface="Cambria" panose="02040503050406030204" pitchFamily="18" charset="0"/>
                <a:ea typeface="Cambria" panose="02040503050406030204" pitchFamily="18" charset="0"/>
              </a:rPr>
              <a:t> is a collection of related multi-valued attributes OR when there is more than one field storing the same kind of information in a single table. </a:t>
            </a:r>
          </a:p>
          <a:p>
            <a:pPr algn="just">
              <a:spcBef>
                <a:spcPts val="300"/>
              </a:spcBef>
              <a:defRPr/>
            </a:pPr>
            <a:r>
              <a:rPr lang="en-US" sz="2400" dirty="0">
                <a:latin typeface="Cambria" panose="02040503050406030204" pitchFamily="18" charset="0"/>
                <a:ea typeface="Cambria" panose="02040503050406030204" pitchFamily="18" charset="0"/>
              </a:rPr>
              <a:t>To eliminate a RG, the value at the intersection of a row and column must be atomic.</a:t>
            </a:r>
          </a:p>
          <a:p>
            <a:pPr algn="just">
              <a:spcBef>
                <a:spcPts val="300"/>
              </a:spcBef>
              <a:defRPr/>
            </a:pPr>
            <a:r>
              <a:rPr lang="en-US" sz="2400" dirty="0">
                <a:latin typeface="Cambria" panose="02040503050406030204" pitchFamily="18" charset="0"/>
                <a:ea typeface="Cambria" panose="02040503050406030204" pitchFamily="18" charset="0"/>
              </a:rPr>
              <a:t>If you developed a logical design by transforming ER diagram into relations, there should not be any multivalued attributes remaining.</a:t>
            </a:r>
          </a:p>
          <a:p>
            <a:pPr algn="just">
              <a:spcBef>
                <a:spcPts val="300"/>
              </a:spcBef>
              <a:defRPr/>
            </a:pPr>
            <a:r>
              <a:rPr lang="en-US" sz="2400" dirty="0">
                <a:latin typeface="Cambria" panose="02040503050406030204" pitchFamily="18" charset="0"/>
                <a:ea typeface="Cambria" panose="02040503050406030204" pitchFamily="18" charset="0"/>
              </a:rPr>
              <a:t>Multiple values create problems in performing operations like select or join. </a:t>
            </a:r>
          </a:p>
          <a:p>
            <a:pPr algn="just">
              <a:spcBef>
                <a:spcPts val="300"/>
              </a:spcBef>
              <a:defRPr/>
            </a:pPr>
            <a:endParaRPr lang="en-US" sz="20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0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38AFEB80-91D4-4CE5-BCDC-72E1FC7B8ABA}"/>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0C3267E1-3278-9AFB-484C-743BAE5F4AD1}"/>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51947799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09B21-2FBF-1F60-CED6-BF2D02A42870}"/>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9C6EFD0A-4474-5946-5B3A-D9F4D63709E3}"/>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First Normal Form (1NF)</a:t>
            </a:r>
          </a:p>
        </p:txBody>
      </p:sp>
      <p:sp>
        <p:nvSpPr>
          <p:cNvPr id="10243" name="Rectangle 3">
            <a:extLst>
              <a:ext uri="{FF2B5EF4-FFF2-40B4-BE49-F238E27FC236}">
                <a16:creationId xmlns:a16="http://schemas.microsoft.com/office/drawing/2014/main" id="{2CD20816-9D85-AB39-6BA1-7B79B5D693CD}"/>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A relation R(</a:t>
            </a:r>
            <a:r>
              <a:rPr lang="en-US" sz="2400" u="sng" dirty="0">
                <a:solidFill>
                  <a:srgbClr val="0000FF"/>
                </a:solidFill>
                <a:latin typeface="Cambria" panose="02040503050406030204" pitchFamily="18" charset="0"/>
                <a:ea typeface="Cambria" panose="02040503050406030204" pitchFamily="18" charset="0"/>
              </a:rPr>
              <a:t>A, </a:t>
            </a:r>
            <a:r>
              <a:rPr lang="en-US" sz="2400" dirty="0">
                <a:latin typeface="Cambria" panose="02040503050406030204" pitchFamily="18" charset="0"/>
                <a:ea typeface="Cambria" panose="02040503050406030204" pitchFamily="18" charset="0"/>
              </a:rPr>
              <a:t>B , C, </a:t>
            </a:r>
            <a:r>
              <a:rPr lang="en-US" sz="2400" dirty="0">
                <a:solidFill>
                  <a:srgbClr val="FF0000"/>
                </a:solidFill>
                <a:latin typeface="Cambria" panose="02040503050406030204" pitchFamily="18" charset="0"/>
                <a:ea typeface="Cambria" panose="02040503050406030204" pitchFamily="18" charset="0"/>
              </a:rPr>
              <a:t>{M}</a:t>
            </a:r>
            <a:r>
              <a:rPr lang="en-US" sz="2400" dirty="0">
                <a:latin typeface="Cambria" panose="02040503050406030204" pitchFamily="18" charset="0"/>
                <a:ea typeface="Cambria" panose="02040503050406030204" pitchFamily="18" charset="0"/>
              </a:rPr>
              <a:t>) with </a:t>
            </a:r>
            <a:r>
              <a:rPr lang="en-US" sz="2400" dirty="0">
                <a:solidFill>
                  <a:srgbClr val="FF0000"/>
                </a:solidFill>
                <a:latin typeface="Cambria" panose="02040503050406030204" pitchFamily="18" charset="0"/>
                <a:ea typeface="Cambria" panose="02040503050406030204" pitchFamily="18" charset="0"/>
              </a:rPr>
              <a:t>A</a:t>
            </a:r>
            <a:r>
              <a:rPr lang="en-US" sz="2400" dirty="0">
                <a:latin typeface="Cambria" panose="02040503050406030204" pitchFamily="18" charset="0"/>
                <a:ea typeface="Cambria" panose="02040503050406030204" pitchFamily="18" charset="0"/>
              </a:rPr>
              <a:t> as a primary key, and </a:t>
            </a:r>
            <a:r>
              <a:rPr lang="en-US" sz="2400" dirty="0">
                <a:solidFill>
                  <a:srgbClr val="FF0000"/>
                </a:solidFill>
                <a:latin typeface="Cambria" panose="02040503050406030204" pitchFamily="18" charset="0"/>
                <a:ea typeface="Cambria" panose="02040503050406030204" pitchFamily="18" charset="0"/>
              </a:rPr>
              <a:t>M</a:t>
            </a:r>
            <a:r>
              <a:rPr lang="en-US" sz="2400" dirty="0">
                <a:latin typeface="Cambria" panose="02040503050406030204" pitchFamily="18" charset="0"/>
                <a:ea typeface="Cambria" panose="02040503050406030204" pitchFamily="18" charset="0"/>
              </a:rPr>
              <a:t> as a single multivalued attribute or a repeating group can be converted into 1NF using either of the following methods listed from the most recommended to the least recommended: </a:t>
            </a:r>
          </a:p>
          <a:p>
            <a:pPr marL="457200" indent="-457200" algn="just">
              <a:spcBef>
                <a:spcPts val="300"/>
              </a:spcBef>
              <a:buFont typeface="+mj-lt"/>
              <a:buAutoNum type="alphaLcParenR"/>
              <a:defRPr/>
            </a:pPr>
            <a:r>
              <a:rPr lang="en-US" sz="2400" dirty="0">
                <a:solidFill>
                  <a:srgbClr val="0000FF"/>
                </a:solidFill>
                <a:latin typeface="Cambria" panose="02040503050406030204" pitchFamily="18" charset="0"/>
                <a:ea typeface="Cambria" panose="02040503050406030204" pitchFamily="18" charset="0"/>
              </a:rPr>
              <a:t>Split the relation into 2 relations</a:t>
            </a:r>
            <a:r>
              <a:rPr lang="en-US" sz="2400" dirty="0">
                <a:latin typeface="Cambria" panose="02040503050406030204" pitchFamily="18" charset="0"/>
                <a:ea typeface="Cambria" panose="02040503050406030204" pitchFamily="18" charset="0"/>
              </a:rPr>
              <a:t> by placing the repeating data along with a copy of the original key attribute(s) in a separate relation. The new relation will always have concatenated key. 	R1 (</a:t>
            </a:r>
            <a:r>
              <a:rPr lang="en-US" sz="2400" u="sng" dirty="0">
                <a:solidFill>
                  <a:srgbClr val="0000FF"/>
                </a:solidFill>
                <a:latin typeface="Cambria" panose="02040503050406030204" pitchFamily="18" charset="0"/>
                <a:ea typeface="Cambria" panose="02040503050406030204" pitchFamily="18" charset="0"/>
              </a:rPr>
              <a:t>A,</a:t>
            </a:r>
            <a:r>
              <a:rPr lang="en-US" sz="2400" dirty="0">
                <a:latin typeface="Cambria" panose="02040503050406030204" pitchFamily="18" charset="0"/>
                <a:ea typeface="Cambria" panose="02040503050406030204" pitchFamily="18" charset="0"/>
              </a:rPr>
              <a:t> B, C)		R2(</a:t>
            </a:r>
            <a:r>
              <a:rPr lang="en-US" sz="2400" u="sng" dirty="0">
                <a:solidFill>
                  <a:srgbClr val="0000FF"/>
                </a:solidFill>
                <a:latin typeface="Cambria" panose="02040503050406030204" pitchFamily="18" charset="0"/>
                <a:ea typeface="Cambria" panose="02040503050406030204" pitchFamily="18" charset="0"/>
              </a:rPr>
              <a:t>A , M</a:t>
            </a:r>
            <a:r>
              <a:rPr lang="en-US" sz="2400" dirty="0">
                <a:latin typeface="Cambria" panose="02040503050406030204" pitchFamily="18" charset="0"/>
                <a:ea typeface="Cambria" panose="02040503050406030204" pitchFamily="18" charset="0"/>
              </a:rPr>
              <a:t>) </a:t>
            </a:r>
          </a:p>
          <a:p>
            <a:pPr marL="457200" indent="-457200" algn="just">
              <a:spcBef>
                <a:spcPts val="300"/>
              </a:spcBef>
              <a:buFont typeface="+mj-lt"/>
              <a:buAutoNum type="alphaLcParenR"/>
              <a:defRPr/>
            </a:pPr>
            <a:r>
              <a:rPr lang="en-US" sz="2400" dirty="0">
                <a:solidFill>
                  <a:srgbClr val="0000FF"/>
                </a:solidFill>
                <a:latin typeface="Cambria" panose="02040503050406030204" pitchFamily="18" charset="0"/>
                <a:ea typeface="Cambria" panose="02040503050406030204" pitchFamily="18" charset="0"/>
              </a:rPr>
              <a:t>Change the PK of the relation and define a composite key.</a:t>
            </a:r>
            <a:r>
              <a:rPr lang="en-US" sz="2400" dirty="0">
                <a:latin typeface="Cambria" panose="02040503050406030204" pitchFamily="18" charset="0"/>
                <a:ea typeface="Cambria" panose="02040503050406030204" pitchFamily="18" charset="0"/>
              </a:rPr>
              <a:t> The blanks are filled by duplicating the non-repeating data. This approach is called </a:t>
            </a:r>
            <a:r>
              <a:rPr lang="en-US" sz="2400" dirty="0">
                <a:solidFill>
                  <a:srgbClr val="FF0000"/>
                </a:solidFill>
                <a:latin typeface="Cambria" panose="02040503050406030204" pitchFamily="18" charset="0"/>
                <a:ea typeface="Cambria" panose="02040503050406030204" pitchFamily="18" charset="0"/>
              </a:rPr>
              <a:t>Flattening the table.</a:t>
            </a:r>
            <a:r>
              <a:rPr lang="en-US" sz="2400" dirty="0">
                <a:latin typeface="Cambria" panose="02040503050406030204" pitchFamily="18" charset="0"/>
                <a:ea typeface="Cambria" panose="02040503050406030204" pitchFamily="18" charset="0"/>
              </a:rPr>
              <a:t>	R (</a:t>
            </a:r>
            <a:r>
              <a:rPr lang="en-US" sz="2400" u="sng" dirty="0">
                <a:solidFill>
                  <a:srgbClr val="FF0000"/>
                </a:solidFill>
                <a:latin typeface="Cambria" panose="02040503050406030204" pitchFamily="18" charset="0"/>
                <a:ea typeface="Cambria" panose="02040503050406030204" pitchFamily="18" charset="0"/>
              </a:rPr>
              <a:t>A,</a:t>
            </a:r>
            <a:r>
              <a:rPr lang="en-US" sz="2400" dirty="0">
                <a:latin typeface="Cambria" panose="02040503050406030204" pitchFamily="18" charset="0"/>
                <a:ea typeface="Cambria" panose="02040503050406030204" pitchFamily="18" charset="0"/>
              </a:rPr>
              <a:t> B, C, </a:t>
            </a:r>
            <a:r>
              <a:rPr lang="en-US" sz="2400" u="sng" dirty="0">
                <a:solidFill>
                  <a:srgbClr val="FF0000"/>
                </a:solidFill>
                <a:latin typeface="Cambria" panose="02040503050406030204" pitchFamily="18" charset="0"/>
                <a:ea typeface="Cambria" panose="02040503050406030204" pitchFamily="18" charset="0"/>
              </a:rPr>
              <a:t>M</a:t>
            </a:r>
            <a:r>
              <a:rPr lang="en-US" sz="2400" dirty="0">
                <a:latin typeface="Cambria" panose="02040503050406030204" pitchFamily="18" charset="0"/>
                <a:ea typeface="Cambria" panose="02040503050406030204" pitchFamily="18" charset="0"/>
              </a:rPr>
              <a:t>)</a:t>
            </a:r>
          </a:p>
          <a:p>
            <a:pPr marL="457200" indent="-457200" algn="just">
              <a:spcBef>
                <a:spcPts val="300"/>
              </a:spcBef>
              <a:buFont typeface="+mj-lt"/>
              <a:buAutoNum type="alphaLcParenR"/>
              <a:defRPr/>
            </a:pPr>
            <a:r>
              <a:rPr lang="en-US" sz="2400" dirty="0">
                <a:latin typeface="Cambria" panose="02040503050406030204" pitchFamily="18" charset="0"/>
                <a:ea typeface="Cambria" panose="02040503050406030204" pitchFamily="18" charset="0"/>
              </a:rPr>
              <a:t>If number of repetitions of multivalued attribute is limited or known, then, multiple attributes can be introduced in place of a multivalued attribute. R1 (</a:t>
            </a:r>
            <a:r>
              <a:rPr lang="en-US" sz="2400" u="sng" dirty="0">
                <a:solidFill>
                  <a:srgbClr val="FF0000"/>
                </a:solidFill>
                <a:latin typeface="Cambria" panose="02040503050406030204" pitchFamily="18" charset="0"/>
                <a:ea typeface="Cambria" panose="02040503050406030204" pitchFamily="18" charset="0"/>
              </a:rPr>
              <a:t>A,</a:t>
            </a:r>
            <a:r>
              <a:rPr lang="en-US" sz="2400" dirty="0">
                <a:latin typeface="Cambria" panose="02040503050406030204" pitchFamily="18" charset="0"/>
                <a:ea typeface="Cambria" panose="02040503050406030204" pitchFamily="18" charset="0"/>
              </a:rPr>
              <a:t> B, C, M1, M2, M3)</a:t>
            </a:r>
          </a:p>
          <a:p>
            <a:pPr algn="just">
              <a:spcBef>
                <a:spcPts val="300"/>
              </a:spcBef>
              <a:defRPr/>
            </a:pPr>
            <a:endParaRPr lang="en-US" sz="20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0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734C94D3-C272-F8DE-09C4-7FA4BFD3EE8B}"/>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185B3487-4C5A-91FC-1CF2-02760A83C01C}"/>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445918470"/>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95761-184D-1F2C-4C09-A45CF4BC24E6}"/>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926CEA2B-25A7-EE40-A69C-C7B7E86FF02F}"/>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First Normal Form (1NF)</a:t>
            </a:r>
          </a:p>
        </p:txBody>
      </p:sp>
      <p:sp>
        <p:nvSpPr>
          <p:cNvPr id="10243" name="Rectangle 3">
            <a:extLst>
              <a:ext uri="{FF2B5EF4-FFF2-40B4-BE49-F238E27FC236}">
                <a16:creationId xmlns:a16="http://schemas.microsoft.com/office/drawing/2014/main" id="{57095045-E3E8-DF57-89F6-C8224276F535}"/>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Consider the following relation:</a:t>
            </a:r>
          </a:p>
          <a:p>
            <a:pPr marL="0" indent="0" algn="ctr">
              <a:spcBef>
                <a:spcPts val="300"/>
              </a:spcBef>
              <a:buNone/>
              <a:defRPr/>
            </a:pPr>
            <a:r>
              <a:rPr lang="en-US" sz="2400" dirty="0">
                <a:latin typeface="Cambria" panose="02040503050406030204" pitchFamily="18" charset="0"/>
                <a:ea typeface="Cambria" panose="02040503050406030204" pitchFamily="18" charset="0"/>
              </a:rPr>
              <a:t> </a:t>
            </a:r>
            <a:r>
              <a:rPr lang="en-US" sz="2400" dirty="0">
                <a:solidFill>
                  <a:srgbClr val="0000FF"/>
                </a:solidFill>
                <a:latin typeface="Cambria" panose="02040503050406030204" pitchFamily="18" charset="0"/>
                <a:ea typeface="Cambria" panose="02040503050406030204" pitchFamily="18" charset="0"/>
              </a:rPr>
              <a:t>STUDENT (</a:t>
            </a:r>
            <a:r>
              <a:rPr lang="en-US" sz="2400" u="sng" dirty="0" err="1">
                <a:solidFill>
                  <a:srgbClr val="0000FF"/>
                </a:solidFill>
                <a:latin typeface="Cambria" panose="02040503050406030204" pitchFamily="18" charset="0"/>
                <a:ea typeface="Cambria" panose="02040503050406030204" pitchFamily="18" charset="0"/>
              </a:rPr>
              <a:t>RegNo</a:t>
            </a:r>
            <a:r>
              <a:rPr lang="en-US" sz="2400" u="sng" dirty="0">
                <a:solidFill>
                  <a:srgbClr val="0000FF"/>
                </a:solidFill>
                <a:latin typeface="Cambria" panose="02040503050406030204" pitchFamily="18" charset="0"/>
                <a:ea typeface="Cambria" panose="02040503050406030204" pitchFamily="18" charset="0"/>
              </a:rPr>
              <a:t>,</a:t>
            </a:r>
            <a:r>
              <a:rPr lang="en-US" sz="2400" dirty="0">
                <a:solidFill>
                  <a:srgbClr val="0000FF"/>
                </a:solidFill>
                <a:latin typeface="Cambria" panose="02040503050406030204" pitchFamily="18" charset="0"/>
                <a:ea typeface="Cambria" panose="02040503050406030204" pitchFamily="18" charset="0"/>
              </a:rPr>
              <a:t> Name, Program, </a:t>
            </a:r>
            <a:r>
              <a:rPr lang="en-US" sz="2400" dirty="0">
                <a:solidFill>
                  <a:srgbClr val="FF0000"/>
                </a:solidFill>
                <a:latin typeface="Cambria" panose="02040503050406030204" pitchFamily="18" charset="0"/>
                <a:ea typeface="Cambria" panose="02040503050406030204" pitchFamily="18" charset="0"/>
              </a:rPr>
              <a:t>C-Code, C-Title, C-Grade</a:t>
            </a:r>
            <a:r>
              <a:rPr lang="en-US" sz="2400" dirty="0">
                <a:solidFill>
                  <a:srgbClr val="0000FF"/>
                </a:solidFill>
                <a:latin typeface="Cambria" panose="02040503050406030204" pitchFamily="18" charset="0"/>
                <a:ea typeface="Cambria" panose="02040503050406030204" pitchFamily="18" charset="0"/>
              </a:rPr>
              <a:t>)</a:t>
            </a:r>
          </a:p>
          <a:p>
            <a:pPr algn="just">
              <a:spcBef>
                <a:spcPts val="300"/>
              </a:spcBef>
              <a:defRPr/>
            </a:pPr>
            <a:r>
              <a:rPr lang="en-US" sz="2400" dirty="0">
                <a:latin typeface="Cambria" panose="02040503050406030204" pitchFamily="18" charset="0"/>
                <a:ea typeface="Cambria" panose="02040503050406030204" pitchFamily="18" charset="0"/>
              </a:rPr>
              <a:t>The relation has a repeating group  consisting of </a:t>
            </a:r>
            <a:r>
              <a:rPr lang="en-US" sz="2400" dirty="0">
                <a:solidFill>
                  <a:srgbClr val="FF0000"/>
                </a:solidFill>
                <a:latin typeface="Cambria" panose="02040503050406030204" pitchFamily="18" charset="0"/>
                <a:ea typeface="Cambria" panose="02040503050406030204" pitchFamily="18" charset="0"/>
              </a:rPr>
              <a:t>C-Code, C-Title, C-Grade</a:t>
            </a:r>
            <a:r>
              <a:rPr lang="en-US" sz="2400" dirty="0">
                <a:latin typeface="Cambria" panose="02040503050406030204" pitchFamily="18" charset="0"/>
                <a:ea typeface="Cambria" panose="02040503050406030204" pitchFamily="18" charset="0"/>
              </a:rPr>
              <a:t> and therefore it has the insert, delete and update anomalies.</a:t>
            </a:r>
          </a:p>
          <a:p>
            <a:pPr algn="just">
              <a:spcBef>
                <a:spcPts val="300"/>
              </a:spcBef>
              <a:defRPr/>
            </a:pPr>
            <a:r>
              <a:rPr lang="en-US" sz="2400" dirty="0">
                <a:latin typeface="Cambria" panose="02040503050406030204" pitchFamily="18" charset="0"/>
                <a:ea typeface="Cambria" panose="02040503050406030204" pitchFamily="18" charset="0"/>
              </a:rPr>
              <a:t>The relation Student can be converted into 1NF using either of the following methods: </a:t>
            </a:r>
          </a:p>
          <a:p>
            <a:pPr marL="0" indent="0" algn="just">
              <a:spcBef>
                <a:spcPts val="300"/>
              </a:spcBef>
              <a:buNone/>
              <a:defRPr/>
            </a:pPr>
            <a:r>
              <a:rPr lang="en-US" sz="2400" dirty="0">
                <a:solidFill>
                  <a:srgbClr val="0000FF"/>
                </a:solidFill>
                <a:latin typeface="Cambria" panose="02040503050406030204" pitchFamily="18" charset="0"/>
                <a:ea typeface="Cambria" panose="02040503050406030204" pitchFamily="18" charset="0"/>
              </a:rPr>
              <a:t>a) Split the relation into 2 relations.</a:t>
            </a:r>
          </a:p>
          <a:p>
            <a:pPr marL="0" indent="0" algn="just">
              <a:spcBef>
                <a:spcPts val="300"/>
              </a:spcBef>
              <a:buNone/>
              <a:defRPr/>
            </a:pPr>
            <a:r>
              <a:rPr lang="en-US" sz="2400" dirty="0">
                <a:latin typeface="Cambria" panose="02040503050406030204" pitchFamily="18" charset="0"/>
                <a:ea typeface="Cambria" panose="02040503050406030204" pitchFamily="18" charset="0"/>
              </a:rPr>
              <a:t>	STUDENT (</a:t>
            </a:r>
            <a:r>
              <a:rPr lang="en-US" sz="2400" u="sng" dirty="0" err="1">
                <a:solidFill>
                  <a:srgbClr val="FF0000"/>
                </a:solidFill>
                <a:latin typeface="Cambria" panose="02040503050406030204" pitchFamily="18" charset="0"/>
                <a:ea typeface="Cambria" panose="02040503050406030204" pitchFamily="18" charset="0"/>
              </a:rPr>
              <a:t>RegNo</a:t>
            </a:r>
            <a:r>
              <a:rPr lang="en-US" sz="2400" u="sng" dirty="0">
                <a:solidFill>
                  <a:srgbClr val="FF0000"/>
                </a:solidFill>
                <a:latin typeface="Cambria" panose="02040503050406030204" pitchFamily="18" charset="0"/>
                <a:ea typeface="Cambria" panose="02040503050406030204" pitchFamily="18" charset="0"/>
              </a:rPr>
              <a:t>,</a:t>
            </a:r>
            <a:r>
              <a:rPr lang="en-US" sz="2400" dirty="0">
                <a:latin typeface="Cambria" panose="02040503050406030204" pitchFamily="18" charset="0"/>
                <a:ea typeface="Cambria" panose="02040503050406030204" pitchFamily="18" charset="0"/>
              </a:rPr>
              <a:t> Name, Program) </a:t>
            </a:r>
          </a:p>
          <a:p>
            <a:pPr marL="0" indent="0" algn="just">
              <a:spcBef>
                <a:spcPts val="300"/>
              </a:spcBef>
              <a:buNone/>
              <a:defRPr/>
            </a:pPr>
            <a:r>
              <a:rPr lang="en-US" sz="2400" dirty="0">
                <a:latin typeface="Cambria" panose="02040503050406030204" pitchFamily="18" charset="0"/>
                <a:ea typeface="Cambria" panose="02040503050406030204" pitchFamily="18" charset="0"/>
              </a:rPr>
              <a:t>	COURSE (</a:t>
            </a:r>
            <a:r>
              <a:rPr lang="en-US" sz="2400" u="sng" dirty="0" err="1">
                <a:solidFill>
                  <a:srgbClr val="FF0000"/>
                </a:solidFill>
                <a:latin typeface="Cambria" panose="02040503050406030204" pitchFamily="18" charset="0"/>
                <a:ea typeface="Cambria" panose="02040503050406030204" pitchFamily="18" charset="0"/>
              </a:rPr>
              <a:t>RegNo</a:t>
            </a:r>
            <a:r>
              <a:rPr lang="en-US" sz="2400" u="sng" dirty="0">
                <a:solidFill>
                  <a:srgbClr val="FF0000"/>
                </a:solidFill>
                <a:latin typeface="Cambria" panose="02040503050406030204" pitchFamily="18" charset="0"/>
                <a:ea typeface="Cambria" panose="02040503050406030204" pitchFamily="18" charset="0"/>
              </a:rPr>
              <a:t>, C-Code,</a:t>
            </a:r>
            <a:r>
              <a:rPr lang="en-US" sz="2400" dirty="0">
                <a:latin typeface="Cambria" panose="02040503050406030204" pitchFamily="18" charset="0"/>
                <a:ea typeface="Cambria" panose="02040503050406030204" pitchFamily="18" charset="0"/>
              </a:rPr>
              <a:t> C-Title, </a:t>
            </a:r>
            <a:r>
              <a:rPr lang="en-US" sz="2400" dirty="0" err="1">
                <a:latin typeface="Cambria" panose="02040503050406030204" pitchFamily="18" charset="0"/>
                <a:ea typeface="Cambria" panose="02040503050406030204" pitchFamily="18" charset="0"/>
              </a:rPr>
              <a:t>C_Grade</a:t>
            </a:r>
            <a:r>
              <a:rPr lang="en-US" sz="2400" dirty="0">
                <a:latin typeface="Cambria" panose="02040503050406030204" pitchFamily="18" charset="0"/>
                <a:ea typeface="Cambria" panose="02040503050406030204" pitchFamily="18" charset="0"/>
              </a:rPr>
              <a:t>)</a:t>
            </a:r>
          </a:p>
          <a:p>
            <a:pPr marL="0" indent="0" algn="just">
              <a:spcBef>
                <a:spcPts val="300"/>
              </a:spcBef>
              <a:buNone/>
              <a:defRPr/>
            </a:pPr>
            <a:r>
              <a:rPr lang="en-US" sz="2400" dirty="0">
                <a:solidFill>
                  <a:srgbClr val="0000FF"/>
                </a:solidFill>
                <a:latin typeface="Cambria" panose="02040503050406030204" pitchFamily="18" charset="0"/>
                <a:ea typeface="Cambria" panose="02040503050406030204" pitchFamily="18" charset="0"/>
              </a:rPr>
              <a:t>b) Flattening the relation.</a:t>
            </a:r>
            <a:r>
              <a:rPr lang="en-US" sz="2400" dirty="0">
                <a:latin typeface="Cambria" panose="02040503050406030204" pitchFamily="18" charset="0"/>
                <a:ea typeface="Cambria" panose="02040503050406030204" pitchFamily="18" charset="0"/>
              </a:rPr>
              <a:t> </a:t>
            </a:r>
          </a:p>
          <a:p>
            <a:pPr marL="0" indent="0" algn="ctr">
              <a:spcBef>
                <a:spcPts val="300"/>
              </a:spcBef>
              <a:buNone/>
              <a:defRPr/>
            </a:pPr>
            <a:r>
              <a:rPr lang="en-US" sz="2400" dirty="0">
                <a:latin typeface="Cambria" panose="02040503050406030204" pitchFamily="18" charset="0"/>
                <a:ea typeface="Cambria" panose="02040503050406030204" pitchFamily="18" charset="0"/>
              </a:rPr>
              <a:t> STUDENT (</a:t>
            </a:r>
            <a:r>
              <a:rPr lang="en-US" sz="2400" u="sng" dirty="0" err="1">
                <a:solidFill>
                  <a:srgbClr val="FF0000"/>
                </a:solidFill>
                <a:latin typeface="Cambria" panose="02040503050406030204" pitchFamily="18" charset="0"/>
                <a:ea typeface="Cambria" panose="02040503050406030204" pitchFamily="18" charset="0"/>
              </a:rPr>
              <a:t>RegNo</a:t>
            </a:r>
            <a:r>
              <a:rPr lang="en-US" sz="2400" u="sng" dirty="0">
                <a:solidFill>
                  <a:srgbClr val="FF0000"/>
                </a:solidFill>
                <a:latin typeface="Cambria" panose="02040503050406030204" pitchFamily="18" charset="0"/>
                <a:ea typeface="Cambria" panose="02040503050406030204" pitchFamily="18" charset="0"/>
              </a:rPr>
              <a:t>,</a:t>
            </a:r>
            <a:r>
              <a:rPr lang="en-US" sz="2400" dirty="0">
                <a:latin typeface="Cambria" panose="02040503050406030204" pitchFamily="18" charset="0"/>
                <a:ea typeface="Cambria" panose="02040503050406030204" pitchFamily="18" charset="0"/>
              </a:rPr>
              <a:t> Name, Program, </a:t>
            </a:r>
            <a:r>
              <a:rPr lang="en-US" sz="2400" u="sng" dirty="0">
                <a:latin typeface="Cambria" panose="02040503050406030204" pitchFamily="18" charset="0"/>
                <a:ea typeface="Cambria" panose="02040503050406030204" pitchFamily="18" charset="0"/>
              </a:rPr>
              <a:t>C-Code,</a:t>
            </a:r>
            <a:r>
              <a:rPr lang="en-US" sz="2400" dirty="0">
                <a:latin typeface="Cambria" panose="02040503050406030204" pitchFamily="18" charset="0"/>
                <a:ea typeface="Cambria" panose="02040503050406030204" pitchFamily="18" charset="0"/>
              </a:rPr>
              <a:t> C-Title, C-Grade)</a:t>
            </a:r>
          </a:p>
          <a:p>
            <a:pPr marL="457200" indent="-457200" algn="just">
              <a:spcBef>
                <a:spcPts val="300"/>
              </a:spcBef>
              <a:buFont typeface="+mj-lt"/>
              <a:buAutoNum type="alphaLcParenR"/>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0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0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591B54C8-A150-8E18-6F90-94984346128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F4D1057E-0A97-E334-5097-548D02ACFC07}"/>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658994932"/>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486F2-AF24-8918-374A-CC14535683C2}"/>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397083A4-5DAE-2820-7D7E-DED364EB700C}"/>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First Normal Form (1NF)</a:t>
            </a:r>
          </a:p>
        </p:txBody>
      </p:sp>
      <p:sp>
        <p:nvSpPr>
          <p:cNvPr id="10243" name="Rectangle 3">
            <a:extLst>
              <a:ext uri="{FF2B5EF4-FFF2-40B4-BE49-F238E27FC236}">
                <a16:creationId xmlns:a16="http://schemas.microsoft.com/office/drawing/2014/main" id="{B26D6A91-295C-DBE2-89C3-F203FFBD88DF}"/>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First normal form also disallows multivalued attributes that are themselves composite. These are called </a:t>
            </a:r>
            <a:r>
              <a:rPr lang="en-US" sz="2400" dirty="0">
                <a:solidFill>
                  <a:srgbClr val="0000FF"/>
                </a:solidFill>
                <a:latin typeface="Cambria" panose="02040503050406030204" pitchFamily="18" charset="0"/>
                <a:ea typeface="Cambria" panose="02040503050406030204" pitchFamily="18" charset="0"/>
              </a:rPr>
              <a:t>nested relations.</a:t>
            </a:r>
          </a:p>
          <a:p>
            <a:pPr algn="just">
              <a:spcBef>
                <a:spcPts val="300"/>
              </a:spcBef>
              <a:defRPr/>
            </a:pPr>
            <a:r>
              <a:rPr lang="en-US" sz="2400" dirty="0">
                <a:latin typeface="Cambria" panose="02040503050406030204" pitchFamily="18" charset="0"/>
                <a:ea typeface="Cambria" panose="02040503050406030204" pitchFamily="18" charset="0"/>
              </a:rPr>
              <a:t>Consider the following relation:</a:t>
            </a:r>
          </a:p>
          <a:p>
            <a:pPr marL="0" indent="0" algn="ctr">
              <a:spcBef>
                <a:spcPts val="300"/>
              </a:spcBef>
              <a:buNone/>
              <a:defRPr/>
            </a:pPr>
            <a:r>
              <a:rPr lang="en-US" sz="2400" dirty="0">
                <a:solidFill>
                  <a:srgbClr val="0000FF"/>
                </a:solidFill>
                <a:latin typeface="Cambria" panose="02040503050406030204" pitchFamily="18" charset="0"/>
                <a:ea typeface="Cambria" panose="02040503050406030204" pitchFamily="18" charset="0"/>
              </a:rPr>
              <a:t>EMP_PROJS</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EmpNo</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EName</a:t>
            </a:r>
            <a:r>
              <a:rPr lang="en-US" sz="2400" dirty="0">
                <a:latin typeface="Cambria" panose="02040503050406030204" pitchFamily="18" charset="0"/>
                <a:ea typeface="Cambria" panose="02040503050406030204" pitchFamily="18" charset="0"/>
              </a:rPr>
              <a:t>, </a:t>
            </a:r>
            <a:r>
              <a:rPr lang="en-US" sz="2400" dirty="0">
                <a:solidFill>
                  <a:srgbClr val="FF0000"/>
                </a:solidFill>
                <a:latin typeface="Cambria" panose="02040503050406030204" pitchFamily="18" charset="0"/>
                <a:ea typeface="Cambria" panose="02040503050406030204" pitchFamily="18" charset="0"/>
              </a:rPr>
              <a:t>{PROJS(</a:t>
            </a:r>
            <a:r>
              <a:rPr lang="en-US" sz="2400" dirty="0" err="1">
                <a:solidFill>
                  <a:srgbClr val="FF0000"/>
                </a:solidFill>
                <a:latin typeface="Cambria" panose="02040503050406030204" pitchFamily="18" charset="0"/>
                <a:ea typeface="Cambria" panose="02040503050406030204" pitchFamily="18" charset="0"/>
              </a:rPr>
              <a:t>Pnumber,Hours</a:t>
            </a:r>
            <a:r>
              <a:rPr lang="en-US" sz="2400" dirty="0">
                <a:solidFill>
                  <a:srgbClr val="FF0000"/>
                </a:solidFill>
                <a:latin typeface="Cambria" panose="02040503050406030204" pitchFamily="18" charset="0"/>
                <a:ea typeface="Cambria" panose="02040503050406030204" pitchFamily="18" charset="0"/>
              </a:rPr>
              <a:t>)}</a:t>
            </a:r>
            <a:r>
              <a:rPr lang="en-US" sz="2400" dirty="0">
                <a:latin typeface="Cambria" panose="02040503050406030204" pitchFamily="18" charset="0"/>
                <a:ea typeface="Cambria" panose="02040503050406030204" pitchFamily="18" charset="0"/>
              </a:rPr>
              <a:t>) </a:t>
            </a:r>
          </a:p>
          <a:p>
            <a:pPr algn="just">
              <a:spcBef>
                <a:spcPts val="300"/>
              </a:spcBef>
              <a:defRPr/>
            </a:pPr>
            <a:r>
              <a:rPr lang="en-US" sz="2400" dirty="0">
                <a:latin typeface="Cambria" panose="02040503050406030204" pitchFamily="18" charset="0"/>
                <a:ea typeface="Cambria" panose="02040503050406030204" pitchFamily="18" charset="0"/>
              </a:rPr>
              <a:t>Two ways for converting the relation into 1NF:</a:t>
            </a:r>
          </a:p>
          <a:p>
            <a:pPr marL="0" indent="0" algn="just">
              <a:spcBef>
                <a:spcPts val="300"/>
              </a:spcBef>
              <a:buNone/>
              <a:defRPr/>
            </a:pPr>
            <a:r>
              <a:rPr lang="en-US" sz="2400" dirty="0">
                <a:latin typeface="Cambria" panose="02040503050406030204" pitchFamily="18" charset="0"/>
                <a:ea typeface="Cambria" panose="02040503050406030204" pitchFamily="18" charset="0"/>
              </a:rPr>
              <a:t>a) Splitting the relation into two: </a:t>
            </a:r>
          </a:p>
          <a:p>
            <a:pPr marL="0" indent="0">
              <a:spcBef>
                <a:spcPts val="300"/>
              </a:spcBef>
              <a:buNone/>
              <a:defRPr/>
            </a:pPr>
            <a:r>
              <a:rPr lang="en-US" sz="2400" dirty="0">
                <a:latin typeface="Cambria" panose="02040503050406030204" pitchFamily="18" charset="0"/>
                <a:ea typeface="Cambria" panose="02040503050406030204" pitchFamily="18" charset="0"/>
              </a:rPr>
              <a:t>	EMP_PROJS1 (</a:t>
            </a:r>
            <a:r>
              <a:rPr lang="en-US" sz="2400" u="sng" dirty="0" err="1">
                <a:solidFill>
                  <a:srgbClr val="FF0000"/>
                </a:solidFill>
                <a:latin typeface="Cambria" panose="02040503050406030204" pitchFamily="18" charset="0"/>
                <a:ea typeface="Cambria" panose="02040503050406030204" pitchFamily="18" charset="0"/>
              </a:rPr>
              <a:t>EmpNo</a:t>
            </a:r>
            <a:r>
              <a:rPr lang="en-US" sz="2400" u="sng" dirty="0">
                <a:solidFill>
                  <a:srgbClr val="FF0000"/>
                </a:solidFill>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EName</a:t>
            </a:r>
            <a:r>
              <a:rPr lang="en-US" sz="2400" dirty="0">
                <a:latin typeface="Cambria" panose="02040503050406030204" pitchFamily="18" charset="0"/>
                <a:ea typeface="Cambria" panose="02040503050406030204" pitchFamily="18" charset="0"/>
              </a:rPr>
              <a:t>) </a:t>
            </a:r>
          </a:p>
          <a:p>
            <a:pPr marL="0" indent="0">
              <a:spcBef>
                <a:spcPts val="300"/>
              </a:spcBef>
              <a:buNone/>
              <a:defRPr/>
            </a:pPr>
            <a:r>
              <a:rPr lang="en-US" sz="2400" dirty="0">
                <a:latin typeface="Cambria" panose="02040503050406030204" pitchFamily="18" charset="0"/>
                <a:ea typeface="Cambria" panose="02040503050406030204" pitchFamily="18" charset="0"/>
              </a:rPr>
              <a:t>	EMP_PROJS2 (</a:t>
            </a:r>
            <a:r>
              <a:rPr lang="en-US" sz="2400" u="sng" dirty="0" err="1">
                <a:solidFill>
                  <a:srgbClr val="FF0000"/>
                </a:solidFill>
                <a:latin typeface="Cambria" panose="02040503050406030204" pitchFamily="18" charset="0"/>
                <a:ea typeface="Cambria" panose="02040503050406030204" pitchFamily="18" charset="0"/>
              </a:rPr>
              <a:t>EmpNo</a:t>
            </a:r>
            <a:r>
              <a:rPr lang="en-US" sz="2400" u="sng" dirty="0">
                <a:solidFill>
                  <a:srgbClr val="FF0000"/>
                </a:solidFill>
                <a:latin typeface="Cambria" panose="02040503050406030204" pitchFamily="18" charset="0"/>
                <a:ea typeface="Cambria" panose="02040503050406030204" pitchFamily="18" charset="0"/>
              </a:rPr>
              <a:t>, </a:t>
            </a:r>
            <a:r>
              <a:rPr lang="en-US" sz="2400" u="sng" dirty="0" err="1">
                <a:solidFill>
                  <a:srgbClr val="FF0000"/>
                </a:solidFill>
                <a:latin typeface="Cambria" panose="02040503050406030204" pitchFamily="18" charset="0"/>
                <a:ea typeface="Cambria" panose="02040503050406030204" pitchFamily="18" charset="0"/>
              </a:rPr>
              <a:t>Pnumber</a:t>
            </a:r>
            <a:r>
              <a:rPr lang="en-US" sz="2400" u="sng" dirty="0">
                <a:solidFill>
                  <a:srgbClr val="FF0000"/>
                </a:solidFill>
                <a:latin typeface="Cambria" panose="02040503050406030204" pitchFamily="18" charset="0"/>
                <a:ea typeface="Cambria" panose="02040503050406030204" pitchFamily="18" charset="0"/>
              </a:rPr>
              <a:t>,</a:t>
            </a:r>
            <a:r>
              <a:rPr lang="en-US" sz="2400"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Hours)</a:t>
            </a:r>
          </a:p>
          <a:p>
            <a:pPr marL="0" indent="0" algn="just">
              <a:spcBef>
                <a:spcPts val="300"/>
              </a:spcBef>
              <a:buNone/>
              <a:defRPr/>
            </a:pPr>
            <a:r>
              <a:rPr lang="en-US" sz="2400" dirty="0">
                <a:latin typeface="Cambria" panose="02040503050406030204" pitchFamily="18" charset="0"/>
                <a:ea typeface="Cambria" panose="02040503050406030204" pitchFamily="18" charset="0"/>
              </a:rPr>
              <a:t>b) Flattening the relation.</a:t>
            </a:r>
          </a:p>
          <a:p>
            <a:pPr marL="0" indent="0" algn="just">
              <a:spcBef>
                <a:spcPts val="300"/>
              </a:spcBef>
              <a:buNone/>
              <a:defRPr/>
            </a:pPr>
            <a:r>
              <a:rPr lang="en-US" sz="2400" dirty="0">
                <a:latin typeface="Cambria" panose="02040503050406030204" pitchFamily="18" charset="0"/>
                <a:ea typeface="Cambria" panose="02040503050406030204" pitchFamily="18" charset="0"/>
              </a:rPr>
              <a:t>	EMP_PROJS (</a:t>
            </a:r>
            <a:r>
              <a:rPr lang="en-US" sz="2400" u="sng" dirty="0" err="1">
                <a:solidFill>
                  <a:srgbClr val="FF0000"/>
                </a:solidFill>
                <a:latin typeface="Cambria" panose="02040503050406030204" pitchFamily="18" charset="0"/>
                <a:ea typeface="Cambria" panose="02040503050406030204" pitchFamily="18" charset="0"/>
              </a:rPr>
              <a:t>EmpNo</a:t>
            </a:r>
            <a:r>
              <a:rPr lang="en-US" sz="2400" u="sng" dirty="0">
                <a:solidFill>
                  <a:srgbClr val="FF0000"/>
                </a:solidFill>
                <a:latin typeface="Cambria" panose="02040503050406030204" pitchFamily="18" charset="0"/>
                <a:ea typeface="Cambria" panose="02040503050406030204" pitchFamily="18" charset="0"/>
              </a:rPr>
              <a:t>,</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EName</a:t>
            </a:r>
            <a:r>
              <a:rPr lang="en-US" sz="2400" dirty="0">
                <a:latin typeface="Cambria" panose="02040503050406030204" pitchFamily="18" charset="0"/>
                <a:ea typeface="Cambria" panose="02040503050406030204" pitchFamily="18" charset="0"/>
              </a:rPr>
              <a:t>, </a:t>
            </a:r>
            <a:r>
              <a:rPr lang="en-US" sz="2400" u="sng" dirty="0" err="1">
                <a:solidFill>
                  <a:srgbClr val="FF0000"/>
                </a:solidFill>
                <a:latin typeface="Cambria" panose="02040503050406030204" pitchFamily="18" charset="0"/>
                <a:ea typeface="Cambria" panose="02040503050406030204" pitchFamily="18" charset="0"/>
              </a:rPr>
              <a:t>Pnumber</a:t>
            </a:r>
            <a:r>
              <a:rPr lang="en-US" sz="2400" u="sng" dirty="0">
                <a:solidFill>
                  <a:srgbClr val="FF0000"/>
                </a:solidFill>
                <a:latin typeface="Cambria" panose="02040503050406030204" pitchFamily="18" charset="0"/>
                <a:ea typeface="Cambria" panose="02040503050406030204" pitchFamily="18" charset="0"/>
              </a:rPr>
              <a:t>,</a:t>
            </a:r>
            <a:r>
              <a:rPr lang="en-US" sz="2400" dirty="0">
                <a:solidFill>
                  <a:srgbClr val="FF0000"/>
                </a:solidFill>
                <a:latin typeface="Cambria" panose="02040503050406030204" pitchFamily="18" charset="0"/>
                <a:ea typeface="Cambria" panose="02040503050406030204" pitchFamily="18" charset="0"/>
              </a:rPr>
              <a:t> </a:t>
            </a:r>
            <a:r>
              <a:rPr lang="en-US" sz="2400" dirty="0">
                <a:latin typeface="Cambria" panose="02040503050406030204" pitchFamily="18" charset="0"/>
                <a:ea typeface="Cambria" panose="02040503050406030204" pitchFamily="18" charset="0"/>
              </a:rPr>
              <a:t>Hours)</a:t>
            </a:r>
          </a:p>
          <a:p>
            <a:pPr algn="just">
              <a:spcBef>
                <a:spcPts val="300"/>
              </a:spcBef>
              <a:defRPr/>
            </a:pPr>
            <a:r>
              <a:rPr lang="en-US" sz="2400" dirty="0">
                <a:solidFill>
                  <a:srgbClr val="0000FF"/>
                </a:solidFill>
                <a:latin typeface="Cambria" panose="02040503050406030204" pitchFamily="18" charset="0"/>
                <a:ea typeface="Cambria" panose="02040503050406030204" pitchFamily="18" charset="0"/>
              </a:rPr>
              <a:t>Example:</a:t>
            </a:r>
            <a:r>
              <a:rPr lang="en-US" sz="2400" dirty="0">
                <a:latin typeface="Cambria" panose="02040503050406030204" pitchFamily="18" charset="0"/>
                <a:ea typeface="Cambria" panose="02040503050406030204" pitchFamily="18" charset="0"/>
              </a:rPr>
              <a:t> </a:t>
            </a:r>
          </a:p>
          <a:p>
            <a:pPr marL="0" indent="0" algn="just">
              <a:spcBef>
                <a:spcPts val="300"/>
              </a:spcBef>
              <a:buNone/>
              <a:defRPr/>
            </a:pPr>
            <a:r>
              <a:rPr lang="en-US" sz="2400" dirty="0">
                <a:latin typeface="Cambria" panose="02040503050406030204" pitchFamily="18" charset="0"/>
                <a:ea typeface="Cambria" panose="02040503050406030204" pitchFamily="18" charset="0"/>
              </a:rPr>
              <a:t>    STUDENT(</a:t>
            </a:r>
            <a:r>
              <a:rPr lang="en-US" sz="2400" dirty="0" err="1">
                <a:latin typeface="Cambria" panose="02040503050406030204" pitchFamily="18" charset="0"/>
                <a:ea typeface="Cambria" panose="02040503050406030204" pitchFamily="18" charset="0"/>
              </a:rPr>
              <a:t>stId</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stName</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stAdr</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prName</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bkId,bkTitle</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i</a:t>
            </a:r>
            <a:r>
              <a:rPr lang="en-US" sz="2400" dirty="0">
                <a:latin typeface="Cambria" panose="02040503050406030204" pitchFamily="18" charset="0"/>
                <a:ea typeface="Cambria" panose="02040503050406030204" pitchFamily="18" charset="0"/>
              </a:rPr>
              <a:t>-date)</a:t>
            </a:r>
          </a:p>
          <a:p>
            <a:pPr marL="457200" indent="-457200" algn="just">
              <a:spcBef>
                <a:spcPts val="300"/>
              </a:spcBef>
              <a:buFont typeface="+mj-lt"/>
              <a:buAutoNum type="alphaLcParenR"/>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0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0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40620569-8AD3-D836-5DED-8EDA3D138C3E}"/>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138E8B8D-636B-0179-D096-C60B725E1BCE}"/>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55175730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F56A3-A7F9-C3F8-1BCD-8304E393A8C5}"/>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D82220C3-06D7-5375-E78B-4C0F103C9C10}"/>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First Normal Form (1NF)</a:t>
            </a:r>
          </a:p>
        </p:txBody>
      </p:sp>
      <p:sp>
        <p:nvSpPr>
          <p:cNvPr id="10243" name="Rectangle 3">
            <a:extLst>
              <a:ext uri="{FF2B5EF4-FFF2-40B4-BE49-F238E27FC236}">
                <a16:creationId xmlns:a16="http://schemas.microsoft.com/office/drawing/2014/main" id="{D0C8BF7C-B212-4579-E0E2-2B7A58052B49}"/>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The existence of more than one (independent) multivalued attribute in one relation must be handled carefully.</a:t>
            </a:r>
          </a:p>
          <a:p>
            <a:pPr algn="just">
              <a:spcBef>
                <a:spcPts val="300"/>
              </a:spcBef>
              <a:defRPr/>
            </a:pPr>
            <a:r>
              <a:rPr lang="en-US" sz="2400" dirty="0">
                <a:latin typeface="Cambria" panose="02040503050406030204" pitchFamily="18" charset="0"/>
                <a:ea typeface="Cambria" panose="02040503050406030204" pitchFamily="18" charset="0"/>
              </a:rPr>
              <a:t>Consider the following relation:</a:t>
            </a:r>
          </a:p>
          <a:p>
            <a:pPr marL="0" indent="0" algn="just">
              <a:spcBef>
                <a:spcPts val="300"/>
              </a:spcBef>
              <a:buNone/>
              <a:defRPr/>
            </a:pPr>
            <a:r>
              <a:rPr lang="en-US" sz="2400" dirty="0">
                <a:latin typeface="Cambria" panose="02040503050406030204" pitchFamily="18" charset="0"/>
                <a:ea typeface="Cambria" panose="02040503050406030204" pitchFamily="18" charset="0"/>
              </a:rPr>
              <a:t>	</a:t>
            </a:r>
            <a:r>
              <a:rPr lang="en-US" sz="2400" dirty="0">
                <a:solidFill>
                  <a:srgbClr val="0000FF"/>
                </a:solidFill>
                <a:latin typeface="Cambria" panose="02040503050406030204" pitchFamily="18" charset="0"/>
                <a:ea typeface="Cambria" panose="02040503050406030204" pitchFamily="18" charset="0"/>
              </a:rPr>
              <a:t>PERSON</a:t>
            </a:r>
            <a:r>
              <a:rPr lang="en-US" sz="2400" dirty="0">
                <a:latin typeface="Cambria" panose="02040503050406030204" pitchFamily="18" charset="0"/>
                <a:ea typeface="Cambria" panose="02040503050406030204" pitchFamily="18" charset="0"/>
              </a:rPr>
              <a:t> (CNIC, {</a:t>
            </a:r>
            <a:r>
              <a:rPr lang="en-US" sz="2400" dirty="0" err="1">
                <a:latin typeface="Cambria" panose="02040503050406030204" pitchFamily="18" charset="0"/>
                <a:ea typeface="Cambria" panose="02040503050406030204" pitchFamily="18" charset="0"/>
              </a:rPr>
              <a:t>Car#,Model</a:t>
            </a:r>
            <a:r>
              <a:rPr lang="en-US" sz="2400" dirty="0">
                <a:latin typeface="Cambria" panose="02040503050406030204" pitchFamily="18" charset="0"/>
                <a:ea typeface="Cambria" panose="02040503050406030204" pitchFamily="18" charset="0"/>
              </a:rPr>
              <a:t>},{Phone#}) </a:t>
            </a:r>
          </a:p>
          <a:p>
            <a:pPr algn="just">
              <a:spcBef>
                <a:spcPts val="300"/>
              </a:spcBef>
              <a:defRPr/>
            </a:pPr>
            <a:r>
              <a:rPr lang="en-US" sz="2400" dirty="0">
                <a:latin typeface="Cambria" panose="02040503050406030204" pitchFamily="18" charset="0"/>
                <a:ea typeface="Cambria" panose="02040503050406030204" pitchFamily="18" charset="0"/>
              </a:rPr>
              <a:t>Two ways for converting the relation into 1NF:</a:t>
            </a:r>
          </a:p>
          <a:p>
            <a:pPr marL="0" indent="0" algn="just">
              <a:spcBef>
                <a:spcPts val="300"/>
              </a:spcBef>
              <a:buNone/>
              <a:defRPr/>
            </a:pPr>
            <a:r>
              <a:rPr lang="en-US" sz="2400" dirty="0">
                <a:latin typeface="Cambria" panose="02040503050406030204" pitchFamily="18" charset="0"/>
                <a:ea typeface="Cambria" panose="02040503050406030204" pitchFamily="18" charset="0"/>
              </a:rPr>
              <a:t>a) Splitting the relation into two: </a:t>
            </a:r>
          </a:p>
          <a:p>
            <a:pPr marL="0" indent="0" algn="just">
              <a:spcBef>
                <a:spcPts val="300"/>
              </a:spcBef>
              <a:buNone/>
              <a:defRPr/>
            </a:pPr>
            <a:r>
              <a:rPr lang="en-US" sz="2400" dirty="0">
                <a:latin typeface="Cambria" panose="02040503050406030204" pitchFamily="18" charset="0"/>
                <a:ea typeface="Cambria" panose="02040503050406030204" pitchFamily="18" charset="0"/>
              </a:rPr>
              <a:t>	 PERSON1 (</a:t>
            </a:r>
            <a:r>
              <a:rPr lang="en-US" sz="2400" u="sng" dirty="0">
                <a:solidFill>
                  <a:srgbClr val="FF0000"/>
                </a:solidFill>
                <a:latin typeface="Cambria" panose="02040503050406030204" pitchFamily="18" charset="0"/>
                <a:ea typeface="Cambria" panose="02040503050406030204" pitchFamily="18" charset="0"/>
              </a:rPr>
              <a:t>CNIC, Car#, </a:t>
            </a:r>
            <a:r>
              <a:rPr lang="en-US" sz="2400" dirty="0">
                <a:latin typeface="Cambria" panose="02040503050406030204" pitchFamily="18" charset="0"/>
                <a:ea typeface="Cambria" panose="02040503050406030204" pitchFamily="18" charset="0"/>
              </a:rPr>
              <a:t>Model) </a:t>
            </a:r>
          </a:p>
          <a:p>
            <a:pPr marL="0" indent="0" algn="just">
              <a:spcBef>
                <a:spcPts val="300"/>
              </a:spcBef>
              <a:buNone/>
              <a:defRPr/>
            </a:pPr>
            <a:r>
              <a:rPr lang="en-US" sz="2400" dirty="0">
                <a:latin typeface="Cambria" panose="02040503050406030204" pitchFamily="18" charset="0"/>
                <a:ea typeface="Cambria" panose="02040503050406030204" pitchFamily="18" charset="0"/>
              </a:rPr>
              <a:t>	 PERSON2 (</a:t>
            </a:r>
            <a:r>
              <a:rPr lang="en-US" sz="2400" u="sng" dirty="0">
                <a:solidFill>
                  <a:srgbClr val="FF0000"/>
                </a:solidFill>
                <a:latin typeface="Cambria" panose="02040503050406030204" pitchFamily="18" charset="0"/>
                <a:ea typeface="Cambria" panose="02040503050406030204" pitchFamily="18" charset="0"/>
              </a:rPr>
              <a:t>CNIC, Phone#</a:t>
            </a:r>
            <a:r>
              <a:rPr lang="en-US" sz="2400" dirty="0">
                <a:latin typeface="Cambria" panose="02040503050406030204" pitchFamily="18" charset="0"/>
                <a:ea typeface="Cambria" panose="02040503050406030204" pitchFamily="18" charset="0"/>
              </a:rPr>
              <a:t>)</a:t>
            </a:r>
          </a:p>
          <a:p>
            <a:pPr marL="0" indent="0" algn="just">
              <a:spcBef>
                <a:spcPts val="300"/>
              </a:spcBef>
              <a:buNone/>
              <a:defRPr/>
            </a:pPr>
            <a:r>
              <a:rPr lang="en-US" sz="2400" dirty="0">
                <a:latin typeface="Cambria" panose="02040503050406030204" pitchFamily="18" charset="0"/>
                <a:ea typeface="Cambria" panose="02040503050406030204" pitchFamily="18" charset="0"/>
              </a:rPr>
              <a:t>b) Flattening the relation. </a:t>
            </a:r>
          </a:p>
          <a:p>
            <a:pPr marL="0" indent="0" algn="just">
              <a:spcBef>
                <a:spcPts val="300"/>
              </a:spcBef>
              <a:buNone/>
              <a:defRPr/>
            </a:pPr>
            <a:r>
              <a:rPr lang="en-US" sz="2400" dirty="0">
                <a:latin typeface="Cambria" panose="02040503050406030204" pitchFamily="18" charset="0"/>
                <a:ea typeface="Cambria" panose="02040503050406030204" pitchFamily="18" charset="0"/>
              </a:rPr>
              <a:t>	PERSON (CNIC, Car#,  Model, Phone#) </a:t>
            </a:r>
          </a:p>
          <a:p>
            <a:pPr algn="just">
              <a:spcBef>
                <a:spcPts val="300"/>
              </a:spcBef>
              <a:defRPr/>
            </a:pPr>
            <a:r>
              <a:rPr lang="en-US" sz="2400" dirty="0">
                <a:highlight>
                  <a:srgbClr val="FFFF00"/>
                </a:highlight>
                <a:latin typeface="Cambria" panose="02040503050406030204" pitchFamily="18" charset="0"/>
                <a:ea typeface="Cambria" panose="02040503050406030204" pitchFamily="18" charset="0"/>
              </a:rPr>
              <a:t>The above solution leads to another problem of </a:t>
            </a:r>
            <a:r>
              <a:rPr lang="en-US" sz="2400" dirty="0">
                <a:solidFill>
                  <a:srgbClr val="FF0000"/>
                </a:solidFill>
                <a:highlight>
                  <a:srgbClr val="FFFF00"/>
                </a:highlight>
                <a:latin typeface="Cambria" panose="02040503050406030204" pitchFamily="18" charset="0"/>
                <a:ea typeface="Cambria" panose="02040503050406030204" pitchFamily="18" charset="0"/>
              </a:rPr>
              <a:t>multivalued dependencies</a:t>
            </a:r>
            <a:r>
              <a:rPr lang="en-US" sz="2400" dirty="0">
                <a:highlight>
                  <a:srgbClr val="FFFF00"/>
                </a:highlight>
                <a:latin typeface="Cambria" panose="02040503050406030204" pitchFamily="18" charset="0"/>
                <a:ea typeface="Cambria" panose="02040503050406030204" pitchFamily="18" charset="0"/>
              </a:rPr>
              <a:t> to be addressed in 4NF. </a:t>
            </a:r>
          </a:p>
          <a:p>
            <a:pPr algn="just">
              <a:spcBef>
                <a:spcPts val="300"/>
              </a:spcBef>
              <a:defRPr/>
            </a:pPr>
            <a:endParaRPr lang="en-US" sz="20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0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481F203F-BA01-7381-F098-0AC81B290FD6}"/>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04673956-9A8F-8D20-432D-8D0A65CEB7A4}"/>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70875878"/>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58F48A97-AA3D-7B2A-7B96-19DACC819CFC}"/>
              </a:ext>
            </a:extLst>
          </p:cNvPr>
          <p:cNvSpPr>
            <a:spLocks noGrp="1" noChangeArrowheads="1"/>
          </p:cNvSpPr>
          <p:nvPr>
            <p:ph type="title"/>
          </p:nvPr>
        </p:nvSpPr>
        <p:spPr>
          <a:xfrm>
            <a:off x="323850" y="242887"/>
            <a:ext cx="5148263" cy="504825"/>
          </a:xfrm>
          <a:noFill/>
        </p:spPr>
        <p:txBody>
          <a:bodyPr/>
          <a:lstStyle/>
          <a:p>
            <a:r>
              <a:rPr lang="en-US" altLang="en-US" sz="2800" b="1" u="sng" dirty="0">
                <a:solidFill>
                  <a:srgbClr val="D34817"/>
                </a:solidFill>
                <a:latin typeface="Cambria" panose="02040503050406030204" pitchFamily="18" charset="0"/>
                <a:ea typeface="Cambria" panose="02040503050406030204" pitchFamily="18" charset="0"/>
              </a:rPr>
              <a:t>First Normal Form (1NF)  </a:t>
            </a:r>
          </a:p>
        </p:txBody>
      </p:sp>
      <p:sp>
        <p:nvSpPr>
          <p:cNvPr id="22531" name="Rectangle 3">
            <a:extLst>
              <a:ext uri="{FF2B5EF4-FFF2-40B4-BE49-F238E27FC236}">
                <a16:creationId xmlns:a16="http://schemas.microsoft.com/office/drawing/2014/main" id="{37BFFAA1-4BB0-555C-8DEC-7BAE11504590}"/>
              </a:ext>
            </a:extLst>
          </p:cNvPr>
          <p:cNvSpPr>
            <a:spLocks noGrp="1" noChangeArrowheads="1"/>
          </p:cNvSpPr>
          <p:nvPr>
            <p:ph type="body" idx="1"/>
          </p:nvPr>
        </p:nvSpPr>
        <p:spPr>
          <a:xfrm>
            <a:off x="352450" y="692696"/>
            <a:ext cx="8497888" cy="5165725"/>
          </a:xfrm>
        </p:spPr>
        <p:txBody>
          <a:bodyPr/>
          <a:lstStyle/>
          <a:p>
            <a:pPr algn="just">
              <a:spcBef>
                <a:spcPts val="200"/>
              </a:spcBef>
            </a:pPr>
            <a:r>
              <a:rPr lang="en-US" altLang="en-US" sz="2400" dirty="0">
                <a:latin typeface="Cambria" panose="02040503050406030204" pitchFamily="18" charset="0"/>
                <a:ea typeface="Cambria" panose="02040503050406030204" pitchFamily="18" charset="0"/>
              </a:rPr>
              <a:t>This decomposition of relation can be applied recursively to a relation with multiple-level nesting to unnest the relation into a set of 1NF relations.</a:t>
            </a:r>
          </a:p>
          <a:p>
            <a:pPr algn="just">
              <a:spcBef>
                <a:spcPts val="200"/>
              </a:spcBef>
            </a:pPr>
            <a:r>
              <a:rPr lang="en-US" altLang="en-US" sz="2400" dirty="0">
                <a:latin typeface="Cambria" panose="02040503050406030204" pitchFamily="18" charset="0"/>
                <a:ea typeface="Cambria" panose="02040503050406030204" pitchFamily="18" charset="0"/>
              </a:rPr>
              <a:t>Consider the following relation:</a:t>
            </a:r>
          </a:p>
          <a:p>
            <a:pPr algn="just">
              <a:spcBef>
                <a:spcPts val="200"/>
              </a:spcBef>
              <a:buFontTx/>
              <a:buNone/>
            </a:pPr>
            <a:r>
              <a:rPr lang="en-US" altLang="en-US" sz="2400" dirty="0">
                <a:solidFill>
                  <a:schemeClr val="accent2"/>
                </a:solidFill>
                <a:latin typeface="Cambria" panose="02040503050406030204" pitchFamily="18" charset="0"/>
                <a:ea typeface="Cambria" panose="02040503050406030204" pitchFamily="18" charset="0"/>
              </a:rPr>
              <a:t>	</a:t>
            </a:r>
            <a:r>
              <a:rPr lang="en-US" altLang="en-US" sz="2400" dirty="0">
                <a:solidFill>
                  <a:srgbClr val="0000FF"/>
                </a:solidFill>
                <a:latin typeface="Cambria" panose="02040503050406030204" pitchFamily="18" charset="0"/>
                <a:ea typeface="Cambria" panose="02040503050406030204" pitchFamily="18" charset="0"/>
              </a:rPr>
              <a:t>CANDIDATE (</a:t>
            </a:r>
            <a:r>
              <a:rPr lang="en-US" altLang="en-US" sz="2400" u="sng" dirty="0" err="1">
                <a:solidFill>
                  <a:srgbClr val="FF0000"/>
                </a:solidFill>
                <a:latin typeface="Cambria" panose="02040503050406030204" pitchFamily="18" charset="0"/>
                <a:ea typeface="Cambria" panose="02040503050406030204" pitchFamily="18" charset="0"/>
              </a:rPr>
              <a:t>CandNo</a:t>
            </a:r>
            <a:r>
              <a:rPr lang="en-US" altLang="en-US" sz="2400" u="sng" dirty="0">
                <a:solidFill>
                  <a:srgbClr val="FF0000"/>
                </a:solidFill>
                <a:latin typeface="Cambria" panose="02040503050406030204" pitchFamily="18" charset="0"/>
                <a:ea typeface="Cambria" panose="02040503050406030204" pitchFamily="18" charset="0"/>
              </a:rPr>
              <a:t>,</a:t>
            </a:r>
            <a:r>
              <a:rPr lang="en-US" altLang="en-US" sz="2400" dirty="0">
                <a:solidFill>
                  <a:srgbClr val="0000FF"/>
                </a:solidFill>
                <a:latin typeface="Cambria" panose="02040503050406030204" pitchFamily="18" charset="0"/>
                <a:ea typeface="Cambria" panose="02040503050406030204" pitchFamily="18" charset="0"/>
              </a:rPr>
              <a:t> </a:t>
            </a:r>
            <a:r>
              <a:rPr lang="en-US" altLang="en-US" sz="2400" dirty="0" err="1">
                <a:solidFill>
                  <a:srgbClr val="0000FF"/>
                </a:solidFill>
                <a:latin typeface="Cambria" panose="02040503050406030204" pitchFamily="18" charset="0"/>
                <a:ea typeface="Cambria" panose="02040503050406030204" pitchFamily="18" charset="0"/>
              </a:rPr>
              <a:t>CName</a:t>
            </a:r>
            <a:r>
              <a:rPr lang="en-US" altLang="en-US" sz="2400" dirty="0">
                <a:solidFill>
                  <a:srgbClr val="0000FF"/>
                </a:solidFill>
                <a:latin typeface="Cambria" panose="02040503050406030204" pitchFamily="18" charset="0"/>
                <a:ea typeface="Cambria" panose="02040503050406030204" pitchFamily="18" charset="0"/>
              </a:rPr>
              <a:t>, </a:t>
            </a:r>
            <a:r>
              <a:rPr lang="en-US" altLang="en-US" sz="2400" dirty="0">
                <a:solidFill>
                  <a:srgbClr val="FF0000"/>
                </a:solidFill>
                <a:latin typeface="Cambria" panose="02040503050406030204" pitchFamily="18" charset="0"/>
                <a:ea typeface="Cambria" panose="02040503050406030204" pitchFamily="18" charset="0"/>
              </a:rPr>
              <a:t>{JOB_HIST(Company, Designation,{SAL_HIST(</a:t>
            </a:r>
            <a:r>
              <a:rPr lang="en-US" altLang="en-US" sz="2400" dirty="0" err="1">
                <a:solidFill>
                  <a:srgbClr val="FF0000"/>
                </a:solidFill>
                <a:latin typeface="Cambria" panose="02040503050406030204" pitchFamily="18" charset="0"/>
                <a:ea typeface="Cambria" panose="02040503050406030204" pitchFamily="18" charset="0"/>
              </a:rPr>
              <a:t>Year,Max_Sal</a:t>
            </a:r>
            <a:r>
              <a:rPr lang="en-US" altLang="en-US" sz="2400" dirty="0">
                <a:solidFill>
                  <a:srgbClr val="FF0000"/>
                </a:solidFill>
                <a:latin typeface="Cambria" panose="02040503050406030204" pitchFamily="18" charset="0"/>
                <a:ea typeface="Cambria" panose="02040503050406030204" pitchFamily="18" charset="0"/>
              </a:rPr>
              <a:t>})}</a:t>
            </a:r>
            <a:r>
              <a:rPr lang="en-US" altLang="en-US" sz="2400" dirty="0">
                <a:solidFill>
                  <a:srgbClr val="0000FF"/>
                </a:solidFill>
                <a:latin typeface="Cambria" panose="02040503050406030204" pitchFamily="18" charset="0"/>
                <a:ea typeface="Cambria" panose="02040503050406030204" pitchFamily="18" charset="0"/>
              </a:rPr>
              <a:t>)</a:t>
            </a:r>
            <a:r>
              <a:rPr lang="en-US" altLang="en-US" sz="2400" dirty="0">
                <a:solidFill>
                  <a:schemeClr val="accent2"/>
                </a:solidFill>
                <a:latin typeface="Cambria" panose="02040503050406030204" pitchFamily="18" charset="0"/>
                <a:ea typeface="Cambria" panose="02040503050406030204" pitchFamily="18" charset="0"/>
              </a:rPr>
              <a:t> </a:t>
            </a:r>
          </a:p>
          <a:p>
            <a:pPr algn="just">
              <a:spcBef>
                <a:spcPts val="200"/>
              </a:spcBef>
              <a:buFontTx/>
              <a:buNone/>
            </a:pPr>
            <a:r>
              <a:rPr lang="en-US" altLang="en-US" sz="2400" dirty="0">
                <a:solidFill>
                  <a:schemeClr val="accent2"/>
                </a:solidFill>
                <a:latin typeface="Cambria" panose="02040503050406030204" pitchFamily="18" charset="0"/>
                <a:ea typeface="Cambria" panose="02040503050406030204" pitchFamily="18" charset="0"/>
              </a:rPr>
              <a:t>	</a:t>
            </a:r>
            <a:r>
              <a:rPr lang="en-US" altLang="en-US" sz="2400" dirty="0">
                <a:latin typeface="Cambria" panose="02040503050406030204" pitchFamily="18" charset="0"/>
                <a:ea typeface="Cambria" panose="02040503050406030204" pitchFamily="18" charset="0"/>
              </a:rPr>
              <a:t>a) Splitting the relation into three:</a:t>
            </a:r>
            <a:r>
              <a:rPr lang="en-US" altLang="en-US" sz="2400" dirty="0">
                <a:solidFill>
                  <a:schemeClr val="accent2"/>
                </a:solidFill>
                <a:latin typeface="Cambria" panose="02040503050406030204" pitchFamily="18" charset="0"/>
                <a:ea typeface="Cambria" panose="02040503050406030204" pitchFamily="18" charset="0"/>
              </a:rPr>
              <a:t> </a:t>
            </a:r>
          </a:p>
          <a:p>
            <a:pPr algn="just">
              <a:spcBef>
                <a:spcPts val="200"/>
              </a:spcBef>
              <a:buFontTx/>
              <a:buNone/>
            </a:pPr>
            <a:r>
              <a:rPr lang="en-US" altLang="en-US" sz="2400" dirty="0">
                <a:solidFill>
                  <a:schemeClr val="accent2"/>
                </a:solidFill>
                <a:latin typeface="Cambria" panose="02040503050406030204" pitchFamily="18" charset="0"/>
                <a:ea typeface="Cambria" panose="02040503050406030204" pitchFamily="18" charset="0"/>
              </a:rPr>
              <a:t>	</a:t>
            </a:r>
            <a:r>
              <a:rPr lang="en-US" altLang="en-US" sz="2400" dirty="0">
                <a:solidFill>
                  <a:srgbClr val="0000FF"/>
                </a:solidFill>
                <a:latin typeface="Cambria" panose="02040503050406030204" pitchFamily="18" charset="0"/>
                <a:ea typeface="Cambria" panose="02040503050406030204" pitchFamily="18" charset="0"/>
              </a:rPr>
              <a:t>CANDIDATE1 (</a:t>
            </a:r>
            <a:r>
              <a:rPr lang="en-US" altLang="en-US" sz="2400" u="sng" dirty="0" err="1">
                <a:solidFill>
                  <a:srgbClr val="FF0000"/>
                </a:solidFill>
                <a:latin typeface="Cambria" panose="02040503050406030204" pitchFamily="18" charset="0"/>
                <a:ea typeface="Cambria" panose="02040503050406030204" pitchFamily="18" charset="0"/>
              </a:rPr>
              <a:t>CandNo</a:t>
            </a:r>
            <a:r>
              <a:rPr lang="en-US" altLang="en-US" sz="2400" u="sng" dirty="0">
                <a:solidFill>
                  <a:srgbClr val="FF0000"/>
                </a:solidFill>
                <a:latin typeface="Cambria" panose="02040503050406030204" pitchFamily="18" charset="0"/>
                <a:ea typeface="Cambria" panose="02040503050406030204" pitchFamily="18" charset="0"/>
              </a:rPr>
              <a:t>,</a:t>
            </a:r>
            <a:r>
              <a:rPr lang="en-US" altLang="en-US" sz="2400" dirty="0">
                <a:solidFill>
                  <a:srgbClr val="FF0000"/>
                </a:solidFill>
                <a:latin typeface="Cambria" panose="02040503050406030204" pitchFamily="18" charset="0"/>
                <a:ea typeface="Cambria" panose="02040503050406030204" pitchFamily="18" charset="0"/>
              </a:rPr>
              <a:t> </a:t>
            </a:r>
            <a:r>
              <a:rPr lang="en-US" altLang="en-US" sz="2400" dirty="0" err="1">
                <a:solidFill>
                  <a:srgbClr val="0000FF"/>
                </a:solidFill>
                <a:latin typeface="Cambria" panose="02040503050406030204" pitchFamily="18" charset="0"/>
                <a:ea typeface="Cambria" panose="02040503050406030204" pitchFamily="18" charset="0"/>
              </a:rPr>
              <a:t>Cname</a:t>
            </a:r>
            <a:r>
              <a:rPr lang="en-US" altLang="en-US" sz="2400" dirty="0">
                <a:solidFill>
                  <a:srgbClr val="0000FF"/>
                </a:solidFill>
                <a:latin typeface="Cambria" panose="02040503050406030204" pitchFamily="18" charset="0"/>
                <a:ea typeface="Cambria" panose="02040503050406030204" pitchFamily="18" charset="0"/>
              </a:rPr>
              <a:t>)</a:t>
            </a:r>
          </a:p>
          <a:p>
            <a:pPr algn="just">
              <a:spcBef>
                <a:spcPts val="200"/>
              </a:spcBef>
              <a:buFontTx/>
              <a:buNone/>
            </a:pPr>
            <a:r>
              <a:rPr lang="en-US" altLang="en-US" sz="2400" dirty="0">
                <a:solidFill>
                  <a:srgbClr val="0000FF"/>
                </a:solidFill>
                <a:latin typeface="Cambria" panose="02040503050406030204" pitchFamily="18" charset="0"/>
                <a:ea typeface="Cambria" panose="02040503050406030204" pitchFamily="18" charset="0"/>
              </a:rPr>
              <a:t>	CANDIDATE2( </a:t>
            </a:r>
            <a:r>
              <a:rPr lang="en-US" altLang="en-US" sz="2400" u="sng" dirty="0" err="1">
                <a:solidFill>
                  <a:srgbClr val="FF0000"/>
                </a:solidFill>
                <a:latin typeface="Cambria" panose="02040503050406030204" pitchFamily="18" charset="0"/>
                <a:ea typeface="Cambria" panose="02040503050406030204" pitchFamily="18" charset="0"/>
              </a:rPr>
              <a:t>CandNo</a:t>
            </a:r>
            <a:r>
              <a:rPr lang="en-US" altLang="en-US" sz="2400" u="sng" dirty="0">
                <a:solidFill>
                  <a:srgbClr val="FF0000"/>
                </a:solidFill>
                <a:latin typeface="Cambria" panose="02040503050406030204" pitchFamily="18" charset="0"/>
                <a:ea typeface="Cambria" panose="02040503050406030204" pitchFamily="18" charset="0"/>
              </a:rPr>
              <a:t>, Company</a:t>
            </a:r>
            <a:r>
              <a:rPr lang="en-US" altLang="en-US" sz="2400" dirty="0">
                <a:solidFill>
                  <a:srgbClr val="FF0000"/>
                </a:solidFill>
                <a:latin typeface="Cambria" panose="02040503050406030204" pitchFamily="18" charset="0"/>
                <a:ea typeface="Cambria" panose="02040503050406030204" pitchFamily="18" charset="0"/>
              </a:rPr>
              <a:t>,</a:t>
            </a:r>
            <a:r>
              <a:rPr lang="en-US" altLang="en-US" sz="2400" dirty="0">
                <a:solidFill>
                  <a:srgbClr val="0000FF"/>
                </a:solidFill>
                <a:latin typeface="Cambria" panose="02040503050406030204" pitchFamily="18" charset="0"/>
                <a:ea typeface="Cambria" panose="02040503050406030204" pitchFamily="18" charset="0"/>
              </a:rPr>
              <a:t> Designation)</a:t>
            </a:r>
          </a:p>
          <a:p>
            <a:pPr algn="just">
              <a:spcBef>
                <a:spcPts val="200"/>
              </a:spcBef>
              <a:buFontTx/>
              <a:buNone/>
            </a:pPr>
            <a:r>
              <a:rPr lang="en-US" altLang="en-US" sz="2400" dirty="0">
                <a:solidFill>
                  <a:srgbClr val="0000FF"/>
                </a:solidFill>
                <a:latin typeface="Cambria" panose="02040503050406030204" pitchFamily="18" charset="0"/>
                <a:ea typeface="Cambria" panose="02040503050406030204" pitchFamily="18" charset="0"/>
              </a:rPr>
              <a:t>	CANDIDATE3( </a:t>
            </a:r>
            <a:r>
              <a:rPr lang="en-US" altLang="en-US" sz="2400" u="sng" dirty="0" err="1">
                <a:solidFill>
                  <a:srgbClr val="FF0000"/>
                </a:solidFill>
                <a:latin typeface="Cambria" panose="02040503050406030204" pitchFamily="18" charset="0"/>
                <a:ea typeface="Cambria" panose="02040503050406030204" pitchFamily="18" charset="0"/>
              </a:rPr>
              <a:t>CandNo</a:t>
            </a:r>
            <a:r>
              <a:rPr lang="en-US" altLang="en-US" sz="2400" u="sng" dirty="0">
                <a:solidFill>
                  <a:srgbClr val="FF0000"/>
                </a:solidFill>
                <a:latin typeface="Cambria" panose="02040503050406030204" pitchFamily="18" charset="0"/>
                <a:ea typeface="Cambria" panose="02040503050406030204" pitchFamily="18" charset="0"/>
              </a:rPr>
              <a:t>, Company</a:t>
            </a:r>
            <a:r>
              <a:rPr lang="en-US" altLang="en-US" sz="2400" dirty="0">
                <a:solidFill>
                  <a:srgbClr val="FF0000"/>
                </a:solidFill>
                <a:latin typeface="Cambria" panose="02040503050406030204" pitchFamily="18" charset="0"/>
                <a:ea typeface="Cambria" panose="02040503050406030204" pitchFamily="18" charset="0"/>
              </a:rPr>
              <a:t>, </a:t>
            </a:r>
            <a:r>
              <a:rPr lang="en-US" altLang="en-US" sz="2400" u="sng" dirty="0">
                <a:solidFill>
                  <a:srgbClr val="FF0000"/>
                </a:solidFill>
                <a:latin typeface="Cambria" panose="02040503050406030204" pitchFamily="18" charset="0"/>
                <a:ea typeface="Cambria" panose="02040503050406030204" pitchFamily="18" charset="0"/>
              </a:rPr>
              <a:t>Year</a:t>
            </a:r>
            <a:r>
              <a:rPr lang="en-US" altLang="en-US" sz="2400" dirty="0">
                <a:solidFill>
                  <a:srgbClr val="FF0000"/>
                </a:solidFill>
                <a:latin typeface="Cambria" panose="02040503050406030204" pitchFamily="18" charset="0"/>
                <a:ea typeface="Cambria" panose="02040503050406030204" pitchFamily="18" charset="0"/>
              </a:rPr>
              <a:t>, </a:t>
            </a:r>
            <a:r>
              <a:rPr lang="en-US" altLang="en-US" sz="2400" dirty="0" err="1">
                <a:solidFill>
                  <a:srgbClr val="0000FF"/>
                </a:solidFill>
                <a:latin typeface="Cambria" panose="02040503050406030204" pitchFamily="18" charset="0"/>
                <a:ea typeface="Cambria" panose="02040503050406030204" pitchFamily="18" charset="0"/>
              </a:rPr>
              <a:t>Max_Sal</a:t>
            </a:r>
            <a:r>
              <a:rPr lang="en-US" altLang="en-US" sz="2400" dirty="0">
                <a:solidFill>
                  <a:srgbClr val="0000FF"/>
                </a:solidFill>
                <a:latin typeface="Cambria" panose="02040503050406030204" pitchFamily="18" charset="0"/>
                <a:ea typeface="Cambria" panose="02040503050406030204" pitchFamily="18" charset="0"/>
              </a:rPr>
              <a:t>) 	</a:t>
            </a:r>
          </a:p>
          <a:p>
            <a:pPr algn="just">
              <a:spcBef>
                <a:spcPts val="200"/>
              </a:spcBef>
              <a:buFontTx/>
              <a:buNone/>
            </a:pPr>
            <a:r>
              <a:rPr lang="en-US" altLang="en-US" sz="2400" dirty="0">
                <a:latin typeface="Cambria" panose="02040503050406030204" pitchFamily="18" charset="0"/>
                <a:ea typeface="Cambria" panose="02040503050406030204" pitchFamily="18" charset="0"/>
              </a:rPr>
              <a:t>	b) Flattening the relation.</a:t>
            </a:r>
            <a:endParaRPr lang="en-US" altLang="en-US" sz="2400" dirty="0">
              <a:solidFill>
                <a:schemeClr val="accent2"/>
              </a:solidFill>
              <a:latin typeface="Cambria" panose="02040503050406030204" pitchFamily="18" charset="0"/>
              <a:ea typeface="Cambria" panose="02040503050406030204" pitchFamily="18" charset="0"/>
            </a:endParaRPr>
          </a:p>
          <a:p>
            <a:pPr algn="just">
              <a:spcBef>
                <a:spcPts val="200"/>
              </a:spcBef>
              <a:buFontTx/>
              <a:buNone/>
            </a:pPr>
            <a:r>
              <a:rPr lang="en-US" altLang="en-US" sz="2400" dirty="0">
                <a:solidFill>
                  <a:srgbClr val="0000FF"/>
                </a:solidFill>
                <a:latin typeface="Cambria" panose="02040503050406030204" pitchFamily="18" charset="0"/>
                <a:ea typeface="Cambria" panose="02040503050406030204" pitchFamily="18" charset="0"/>
              </a:rPr>
              <a:t>CANDIDATE (</a:t>
            </a:r>
            <a:r>
              <a:rPr lang="en-US" altLang="en-US" sz="2400" u="sng" dirty="0" err="1">
                <a:solidFill>
                  <a:srgbClr val="FF0000"/>
                </a:solidFill>
                <a:latin typeface="Cambria" panose="02040503050406030204" pitchFamily="18" charset="0"/>
                <a:ea typeface="Cambria" panose="02040503050406030204" pitchFamily="18" charset="0"/>
              </a:rPr>
              <a:t>CandNo</a:t>
            </a:r>
            <a:r>
              <a:rPr lang="en-US" altLang="en-US" sz="2400" u="sng" dirty="0">
                <a:solidFill>
                  <a:srgbClr val="FF0000"/>
                </a:solidFill>
                <a:latin typeface="Cambria" panose="02040503050406030204" pitchFamily="18" charset="0"/>
                <a:ea typeface="Cambria" panose="02040503050406030204" pitchFamily="18" charset="0"/>
              </a:rPr>
              <a:t>,</a:t>
            </a:r>
            <a:r>
              <a:rPr lang="en-US" altLang="en-US" sz="2400" dirty="0">
                <a:solidFill>
                  <a:srgbClr val="0000FF"/>
                </a:solidFill>
                <a:latin typeface="Cambria" panose="02040503050406030204" pitchFamily="18" charset="0"/>
                <a:ea typeface="Cambria" panose="02040503050406030204" pitchFamily="18" charset="0"/>
              </a:rPr>
              <a:t> </a:t>
            </a:r>
            <a:r>
              <a:rPr lang="en-US" altLang="en-US" sz="2400" dirty="0" err="1">
                <a:solidFill>
                  <a:srgbClr val="0000FF"/>
                </a:solidFill>
                <a:latin typeface="Cambria" panose="02040503050406030204" pitchFamily="18" charset="0"/>
                <a:ea typeface="Cambria" panose="02040503050406030204" pitchFamily="18" charset="0"/>
              </a:rPr>
              <a:t>CName</a:t>
            </a:r>
            <a:r>
              <a:rPr lang="en-US" altLang="en-US" sz="2400" dirty="0">
                <a:solidFill>
                  <a:srgbClr val="0000FF"/>
                </a:solidFill>
                <a:latin typeface="Cambria" panose="02040503050406030204" pitchFamily="18" charset="0"/>
                <a:ea typeface="Cambria" panose="02040503050406030204" pitchFamily="18" charset="0"/>
              </a:rPr>
              <a:t>, </a:t>
            </a:r>
            <a:r>
              <a:rPr lang="en-US" altLang="en-US" sz="2400" u="sng" dirty="0">
                <a:solidFill>
                  <a:srgbClr val="FF0000"/>
                </a:solidFill>
                <a:latin typeface="Cambria" panose="02040503050406030204" pitchFamily="18" charset="0"/>
                <a:ea typeface="Cambria" panose="02040503050406030204" pitchFamily="18" charset="0"/>
              </a:rPr>
              <a:t>Company</a:t>
            </a:r>
            <a:r>
              <a:rPr lang="en-US" altLang="en-US" sz="2400" dirty="0">
                <a:solidFill>
                  <a:srgbClr val="FF0000"/>
                </a:solidFill>
                <a:latin typeface="Cambria" panose="02040503050406030204" pitchFamily="18" charset="0"/>
                <a:ea typeface="Cambria" panose="02040503050406030204" pitchFamily="18" charset="0"/>
              </a:rPr>
              <a:t>,</a:t>
            </a:r>
            <a:r>
              <a:rPr lang="en-US" altLang="en-US" sz="2400" dirty="0">
                <a:solidFill>
                  <a:srgbClr val="0000FF"/>
                </a:solidFill>
                <a:latin typeface="Cambria" panose="02040503050406030204" pitchFamily="18" charset="0"/>
                <a:ea typeface="Cambria" panose="02040503050406030204" pitchFamily="18" charset="0"/>
              </a:rPr>
              <a:t> Designation, </a:t>
            </a:r>
            <a:r>
              <a:rPr lang="en-US" altLang="en-US" sz="2400" u="sng" dirty="0">
                <a:solidFill>
                  <a:srgbClr val="FF0000"/>
                </a:solidFill>
                <a:latin typeface="Cambria" panose="02040503050406030204" pitchFamily="18" charset="0"/>
                <a:ea typeface="Cambria" panose="02040503050406030204" pitchFamily="18" charset="0"/>
              </a:rPr>
              <a:t>Year</a:t>
            </a:r>
            <a:r>
              <a:rPr lang="en-US" altLang="en-US" sz="2400" dirty="0">
                <a:solidFill>
                  <a:srgbClr val="FF0000"/>
                </a:solidFill>
                <a:latin typeface="Cambria" panose="02040503050406030204" pitchFamily="18" charset="0"/>
                <a:ea typeface="Cambria" panose="02040503050406030204" pitchFamily="18" charset="0"/>
              </a:rPr>
              <a:t>,</a:t>
            </a:r>
            <a:r>
              <a:rPr lang="en-US" altLang="en-US" sz="2400" dirty="0">
                <a:solidFill>
                  <a:srgbClr val="0000FF"/>
                </a:solidFill>
                <a:latin typeface="Cambria" panose="02040503050406030204" pitchFamily="18" charset="0"/>
                <a:ea typeface="Cambria" panose="02040503050406030204" pitchFamily="18" charset="0"/>
              </a:rPr>
              <a:t> </a:t>
            </a:r>
            <a:r>
              <a:rPr lang="en-US" altLang="en-US" sz="2400" dirty="0" err="1">
                <a:solidFill>
                  <a:srgbClr val="0000FF"/>
                </a:solidFill>
                <a:latin typeface="Cambria" panose="02040503050406030204" pitchFamily="18" charset="0"/>
                <a:ea typeface="Cambria" panose="02040503050406030204" pitchFamily="18" charset="0"/>
              </a:rPr>
              <a:t>Max_Sal</a:t>
            </a:r>
            <a:r>
              <a:rPr lang="en-US" altLang="en-US" sz="2400" dirty="0">
                <a:solidFill>
                  <a:srgbClr val="0000FF"/>
                </a:solidFill>
                <a:latin typeface="Cambria" panose="02040503050406030204" pitchFamily="18" charset="0"/>
                <a:ea typeface="Cambria" panose="02040503050406030204" pitchFamily="18" charset="0"/>
              </a:rPr>
              <a:t>)</a:t>
            </a:r>
          </a:p>
        </p:txBody>
      </p:sp>
      <p:sp>
        <p:nvSpPr>
          <p:cNvPr id="2" name="Footer Placeholder 2">
            <a:extLst>
              <a:ext uri="{FF2B5EF4-FFF2-40B4-BE49-F238E27FC236}">
                <a16:creationId xmlns:a16="http://schemas.microsoft.com/office/drawing/2014/main" id="{4CE7983C-28AA-B971-1A27-B259F54F98AB}"/>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Slide Number Placeholder 23">
            <a:extLst>
              <a:ext uri="{FF2B5EF4-FFF2-40B4-BE49-F238E27FC236}">
                <a16:creationId xmlns:a16="http://schemas.microsoft.com/office/drawing/2014/main" id="{C8E37660-41B7-1E4F-DCF0-8061CBA45605}"/>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DAB75-F2F3-4017-73EA-49EB53766657}"/>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C49AA728-9BF9-B620-7429-A4D81525A0BB}"/>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Second Normal Form (2NF)</a:t>
            </a:r>
          </a:p>
        </p:txBody>
      </p:sp>
      <p:sp>
        <p:nvSpPr>
          <p:cNvPr id="10243" name="Rectangle 3">
            <a:extLst>
              <a:ext uri="{FF2B5EF4-FFF2-40B4-BE49-F238E27FC236}">
                <a16:creationId xmlns:a16="http://schemas.microsoft.com/office/drawing/2014/main" id="{CE9D30C1-0BE1-68AA-83CD-A2655D9EDAAF}"/>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A relation is in 2NF if it </a:t>
            </a:r>
            <a:r>
              <a:rPr lang="en-US" dirty="0">
                <a:latin typeface="Cambria" panose="02040503050406030204" pitchFamily="18" charset="0"/>
                <a:ea typeface="Cambria" panose="02040503050406030204" pitchFamily="18" charset="0"/>
              </a:rPr>
              <a:t>is in 1NF, and every non-key attribute is </a:t>
            </a:r>
            <a:r>
              <a:rPr lang="en-US" dirty="0">
                <a:solidFill>
                  <a:srgbClr val="0000FF"/>
                </a:solidFill>
                <a:latin typeface="Cambria" panose="02040503050406030204" pitchFamily="18" charset="0"/>
                <a:ea typeface="Cambria" panose="02040503050406030204" pitchFamily="18" charset="0"/>
              </a:rPr>
              <a:t>fully functionally dependent</a:t>
            </a:r>
            <a:r>
              <a:rPr lang="en-US" dirty="0">
                <a:latin typeface="Cambria" panose="02040503050406030204" pitchFamily="18" charset="0"/>
                <a:ea typeface="Cambria" panose="02040503050406030204" pitchFamily="18" charset="0"/>
              </a:rPr>
              <a:t> on the PK.</a:t>
            </a:r>
          </a:p>
          <a:p>
            <a:pPr algn="just">
              <a:spcBef>
                <a:spcPts val="300"/>
              </a:spcBef>
              <a:defRPr/>
            </a:pPr>
            <a:r>
              <a:rPr lang="en-US" sz="2400" dirty="0">
                <a:latin typeface="Cambria" panose="02040503050406030204" pitchFamily="18" charset="0"/>
                <a:ea typeface="Cambria" panose="02040503050406030204" pitchFamily="18" charset="0"/>
              </a:rPr>
              <a:t>A situation of </a:t>
            </a:r>
            <a:r>
              <a:rPr lang="en-US" sz="2400" dirty="0">
                <a:solidFill>
                  <a:srgbClr val="0000FF"/>
                </a:solidFill>
                <a:latin typeface="Cambria" panose="02040503050406030204" pitchFamily="18" charset="0"/>
                <a:ea typeface="Cambria" panose="02040503050406030204" pitchFamily="18" charset="0"/>
              </a:rPr>
              <a:t>Partial Functional Dependency</a:t>
            </a:r>
            <a:r>
              <a:rPr lang="en-US" sz="2400" dirty="0">
                <a:latin typeface="Cambria" panose="02040503050406030204" pitchFamily="18" charset="0"/>
                <a:ea typeface="Cambria" panose="02040503050406030204" pitchFamily="18" charset="0"/>
              </a:rPr>
              <a:t> arises when PK of a relation is </a:t>
            </a:r>
            <a:r>
              <a:rPr lang="en-US" sz="2400" dirty="0">
                <a:solidFill>
                  <a:srgbClr val="FF0000"/>
                </a:solidFill>
                <a:latin typeface="Cambria" panose="02040503050406030204" pitchFamily="18" charset="0"/>
                <a:ea typeface="Cambria" panose="02040503050406030204" pitchFamily="18" charset="0"/>
              </a:rPr>
              <a:t>composite</a:t>
            </a:r>
            <a:r>
              <a:rPr lang="en-US" sz="2400" dirty="0">
                <a:latin typeface="Cambria" panose="02040503050406030204" pitchFamily="18" charset="0"/>
                <a:ea typeface="Cambria" panose="02040503050406030204" pitchFamily="18" charset="0"/>
              </a:rPr>
              <a:t> and a non key attribute is functionally dependent on part (but not all) of the PK. </a:t>
            </a:r>
          </a:p>
          <a:p>
            <a:pPr algn="just">
              <a:spcBef>
                <a:spcPts val="300"/>
              </a:spcBef>
              <a:defRPr/>
            </a:pPr>
            <a:r>
              <a:rPr lang="en-US" sz="2400" dirty="0">
                <a:latin typeface="Cambria" panose="02040503050406030204" pitchFamily="18" charset="0"/>
                <a:ea typeface="Cambria" panose="02040503050406030204" pitchFamily="18" charset="0"/>
              </a:rPr>
              <a:t>Referring to the Course relation:</a:t>
            </a:r>
          </a:p>
          <a:p>
            <a:pPr marL="0" indent="0" algn="just">
              <a:spcBef>
                <a:spcPts val="300"/>
              </a:spcBef>
              <a:buNone/>
              <a:defRPr/>
            </a:pPr>
            <a:r>
              <a:rPr lang="en-US" sz="2400" dirty="0">
                <a:latin typeface="Cambria" panose="02040503050406030204" pitchFamily="18" charset="0"/>
                <a:ea typeface="Cambria" panose="02040503050406030204" pitchFamily="18" charset="0"/>
              </a:rPr>
              <a:t>	Course (</a:t>
            </a:r>
            <a:r>
              <a:rPr lang="en-US" sz="2400" dirty="0" err="1">
                <a:latin typeface="Cambria" panose="02040503050406030204" pitchFamily="18" charset="0"/>
                <a:ea typeface="Cambria" panose="02040503050406030204" pitchFamily="18" charset="0"/>
              </a:rPr>
              <a:t>RegNo</a:t>
            </a:r>
            <a:r>
              <a:rPr lang="en-US" sz="2400" dirty="0">
                <a:latin typeface="Cambria" panose="02040503050406030204" pitchFamily="18" charset="0"/>
                <a:ea typeface="Cambria" panose="02040503050406030204" pitchFamily="18" charset="0"/>
              </a:rPr>
              <a:t>, C-Code, C-Title, </a:t>
            </a:r>
            <a:r>
              <a:rPr lang="en-US" sz="2400" dirty="0" err="1">
                <a:latin typeface="Cambria" panose="02040503050406030204" pitchFamily="18" charset="0"/>
                <a:ea typeface="Cambria" panose="02040503050406030204" pitchFamily="18" charset="0"/>
              </a:rPr>
              <a:t>C_Grade</a:t>
            </a:r>
            <a:r>
              <a:rPr lang="en-US" sz="2400" dirty="0">
                <a:latin typeface="Cambria" panose="02040503050406030204" pitchFamily="18" charset="0"/>
                <a:ea typeface="Cambria" panose="02040503050406030204" pitchFamily="18" charset="0"/>
              </a:rPr>
              <a:t>)</a:t>
            </a:r>
          </a:p>
          <a:p>
            <a:pPr algn="just">
              <a:spcBef>
                <a:spcPts val="300"/>
              </a:spcBef>
              <a:defRPr/>
            </a:pPr>
            <a:r>
              <a:rPr lang="en-US" sz="2400" dirty="0">
                <a:latin typeface="Cambria" panose="02040503050406030204" pitchFamily="18" charset="0"/>
                <a:ea typeface="Cambria" panose="02040503050406030204" pitchFamily="18" charset="0"/>
              </a:rPr>
              <a:t>The functional dependencies are:</a:t>
            </a:r>
          </a:p>
          <a:p>
            <a:pPr marL="0" indent="0" algn="just">
              <a:spcBef>
                <a:spcPts val="300"/>
              </a:spcBef>
              <a:buNone/>
              <a:defRPr/>
            </a:pPr>
            <a:r>
              <a:rPr lang="en-US" sz="2400" dirty="0">
                <a:latin typeface="Cambria" panose="02040503050406030204" pitchFamily="18" charset="0"/>
                <a:ea typeface="Cambria" panose="02040503050406030204" pitchFamily="18" charset="0"/>
              </a:rPr>
              <a:t>	C-Code -&gt; </a:t>
            </a:r>
            <a:r>
              <a:rPr lang="en-US" sz="2400" dirty="0" err="1">
                <a:latin typeface="Cambria" panose="02040503050406030204" pitchFamily="18" charset="0"/>
                <a:ea typeface="Cambria" panose="02040503050406030204" pitchFamily="18" charset="0"/>
              </a:rPr>
              <a:t>C_Title</a:t>
            </a:r>
            <a:r>
              <a:rPr lang="en-US" sz="2400" dirty="0">
                <a:latin typeface="Cambria" panose="02040503050406030204" pitchFamily="18" charset="0"/>
                <a:ea typeface="Cambria" panose="02040503050406030204" pitchFamily="18" charset="0"/>
              </a:rPr>
              <a:t> 		</a:t>
            </a:r>
            <a:r>
              <a:rPr lang="en-US" sz="2400" dirty="0">
                <a:solidFill>
                  <a:srgbClr val="FF0000"/>
                </a:solidFill>
                <a:latin typeface="Cambria" panose="02040503050406030204" pitchFamily="18" charset="0"/>
                <a:ea typeface="Cambria" panose="02040503050406030204" pitchFamily="18" charset="0"/>
              </a:rPr>
              <a:t>(Partial FD)</a:t>
            </a:r>
          </a:p>
          <a:p>
            <a:pPr marL="0" indent="0" algn="just">
              <a:spcBef>
                <a:spcPts val="300"/>
              </a:spcBef>
              <a:buNone/>
              <a:defRPr/>
            </a:pP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RegNo</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C_Code</a:t>
            </a:r>
            <a:r>
              <a:rPr lang="en-US" sz="2400" dirty="0">
                <a:latin typeface="Cambria" panose="02040503050406030204" pitchFamily="18" charset="0"/>
                <a:ea typeface="Cambria" panose="02040503050406030204" pitchFamily="18" charset="0"/>
              </a:rPr>
              <a:t> -&gt; </a:t>
            </a:r>
            <a:r>
              <a:rPr lang="en-US" sz="2400" dirty="0" err="1">
                <a:latin typeface="Cambria" panose="02040503050406030204" pitchFamily="18" charset="0"/>
                <a:ea typeface="Cambria" panose="02040503050406030204" pitchFamily="18" charset="0"/>
              </a:rPr>
              <a:t>C_Grade</a:t>
            </a:r>
            <a:r>
              <a:rPr lang="en-US" sz="2400" dirty="0">
                <a:latin typeface="Cambria" panose="02040503050406030204" pitchFamily="18" charset="0"/>
                <a:ea typeface="Cambria" panose="02040503050406030204" pitchFamily="18" charset="0"/>
              </a:rPr>
              <a:t>    </a:t>
            </a:r>
            <a:r>
              <a:rPr lang="en-US" sz="2400" dirty="0">
                <a:solidFill>
                  <a:srgbClr val="FF0000"/>
                </a:solidFill>
                <a:latin typeface="Cambria" panose="02040503050406030204" pitchFamily="18" charset="0"/>
                <a:ea typeface="Cambria" panose="02040503050406030204" pitchFamily="18" charset="0"/>
              </a:rPr>
              <a:t>(Full FD)</a:t>
            </a:r>
          </a:p>
          <a:p>
            <a:pPr algn="just">
              <a:spcBef>
                <a:spcPts val="300"/>
              </a:spcBef>
              <a:defRPr/>
            </a:pPr>
            <a:r>
              <a:rPr lang="en-US" sz="2400" dirty="0">
                <a:latin typeface="Cambria" panose="02040503050406030204" pitchFamily="18" charset="0"/>
                <a:ea typeface="Cambria" panose="02040503050406030204" pitchFamily="18" charset="0"/>
              </a:rPr>
              <a:t>The above relation has the following anomalies:</a:t>
            </a:r>
          </a:p>
          <a:p>
            <a:pPr marL="0" indent="0" algn="just">
              <a:spcBef>
                <a:spcPts val="300"/>
              </a:spcBef>
              <a:buNone/>
              <a:defRPr/>
            </a:pPr>
            <a:r>
              <a:rPr lang="en-US" sz="2000" dirty="0">
                <a:solidFill>
                  <a:srgbClr val="0000FF"/>
                </a:solidFill>
                <a:latin typeface="Cambria" panose="02040503050406030204" pitchFamily="18" charset="0"/>
                <a:ea typeface="Cambria" panose="02040503050406030204" pitchFamily="18" charset="0"/>
              </a:rPr>
              <a:t>a) Insert Anomaly:</a:t>
            </a:r>
            <a:r>
              <a:rPr lang="en-US" sz="2000" dirty="0">
                <a:latin typeface="Cambria" panose="02040503050406030204" pitchFamily="18" charset="0"/>
                <a:ea typeface="Cambria" panose="02040503050406030204" pitchFamily="18" charset="0"/>
              </a:rPr>
              <a:t> A course instance can't be inserted without student data.</a:t>
            </a:r>
          </a:p>
          <a:p>
            <a:pPr marL="0" indent="0" algn="just">
              <a:spcBef>
                <a:spcPts val="300"/>
              </a:spcBef>
              <a:buNone/>
              <a:defRPr/>
            </a:pPr>
            <a:r>
              <a:rPr lang="en-US" sz="2000" dirty="0">
                <a:solidFill>
                  <a:srgbClr val="0000FF"/>
                </a:solidFill>
                <a:latin typeface="Cambria" panose="02040503050406030204" pitchFamily="18" charset="0"/>
                <a:ea typeface="Cambria" panose="02040503050406030204" pitchFamily="18" charset="0"/>
              </a:rPr>
              <a:t>b) Delete Anomaly:</a:t>
            </a:r>
            <a:r>
              <a:rPr lang="en-US" sz="2000" dirty="0">
                <a:latin typeface="Cambria" panose="02040503050406030204" pitchFamily="18" charset="0"/>
                <a:ea typeface="Cambria" panose="02040503050406030204" pitchFamily="18" charset="0"/>
              </a:rPr>
              <a:t> Deleting a student will unnecessarily delete course data.</a:t>
            </a:r>
          </a:p>
          <a:p>
            <a:pPr marL="0" indent="0" algn="just">
              <a:spcBef>
                <a:spcPts val="300"/>
              </a:spcBef>
              <a:buNone/>
              <a:defRPr/>
            </a:pPr>
            <a:r>
              <a:rPr lang="en-US" sz="2000" dirty="0">
                <a:solidFill>
                  <a:srgbClr val="0000FF"/>
                </a:solidFill>
                <a:latin typeface="Cambria" panose="02040503050406030204" pitchFamily="18" charset="0"/>
                <a:ea typeface="Cambria" panose="02040503050406030204" pitchFamily="18" charset="0"/>
              </a:rPr>
              <a:t>c) Update Anomaly: </a:t>
            </a:r>
            <a:r>
              <a:rPr lang="en-US" sz="2000" dirty="0">
                <a:latin typeface="Cambria" panose="02040503050406030204" pitchFamily="18" charset="0"/>
                <a:ea typeface="Cambria" panose="02040503050406030204" pitchFamily="18" charset="0"/>
              </a:rPr>
              <a:t>A course can't be updated independently. </a:t>
            </a:r>
          </a:p>
          <a:p>
            <a:pPr algn="just">
              <a:spcBef>
                <a:spcPts val="300"/>
              </a:spcBef>
              <a:defRPr/>
            </a:pPr>
            <a:endParaRPr lang="en-US" sz="2400" dirty="0">
              <a:solidFill>
                <a:srgbClr val="FF0000"/>
              </a:solidFill>
              <a:latin typeface="Cambria" panose="02040503050406030204" pitchFamily="18" charset="0"/>
              <a:ea typeface="Cambria" panose="02040503050406030204" pitchFamily="18" charset="0"/>
            </a:endParaRPr>
          </a:p>
          <a:p>
            <a:pPr marL="0" indent="0" algn="just">
              <a:spcBef>
                <a:spcPts val="300"/>
              </a:spcBef>
              <a:buNone/>
              <a:defRPr/>
            </a:pPr>
            <a:endParaRPr lang="en-US" sz="24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0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0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7C56A472-BE70-8ECF-635F-12255FB65550}"/>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28C81828-7573-F4A8-9FD3-B34A82A6BADC}"/>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149869748"/>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F2A4B-BE18-B806-628E-3500C83F8E4A}"/>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DAB0C7F4-C606-0559-4CBD-EC1327C3B279}"/>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Second Normal Form (2NF)</a:t>
            </a:r>
          </a:p>
        </p:txBody>
      </p:sp>
      <p:sp>
        <p:nvSpPr>
          <p:cNvPr id="10243" name="Rectangle 3">
            <a:extLst>
              <a:ext uri="{FF2B5EF4-FFF2-40B4-BE49-F238E27FC236}">
                <a16:creationId xmlns:a16="http://schemas.microsoft.com/office/drawing/2014/main" id="{AB92FD11-7A52-85D2-A255-B30C21F439F3}"/>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The relation Course can be converted into 2NF by decomposing it into the following relations:</a:t>
            </a:r>
          </a:p>
          <a:p>
            <a:pPr marL="0" indent="0" algn="just">
              <a:spcBef>
                <a:spcPts val="300"/>
              </a:spcBef>
              <a:buNone/>
              <a:defRPr/>
            </a:pPr>
            <a:r>
              <a:rPr lang="en-US" sz="2400" dirty="0">
                <a:latin typeface="Cambria" panose="02040503050406030204" pitchFamily="18" charset="0"/>
                <a:ea typeface="Cambria" panose="02040503050406030204" pitchFamily="18" charset="0"/>
              </a:rPr>
              <a:t>	</a:t>
            </a:r>
            <a:r>
              <a:rPr lang="en-US" sz="2400" dirty="0">
                <a:solidFill>
                  <a:srgbClr val="0000FF"/>
                </a:solidFill>
                <a:latin typeface="Cambria" panose="02040503050406030204" pitchFamily="18" charset="0"/>
                <a:ea typeface="Cambria" panose="02040503050406030204" pitchFamily="18" charset="0"/>
              </a:rPr>
              <a:t>Course (</a:t>
            </a:r>
            <a:r>
              <a:rPr lang="en-US" sz="2400" u="sng" dirty="0">
                <a:solidFill>
                  <a:srgbClr val="0000FF"/>
                </a:solidFill>
                <a:latin typeface="Cambria" panose="02040503050406030204" pitchFamily="18" charset="0"/>
                <a:ea typeface="Cambria" panose="02040503050406030204" pitchFamily="18" charset="0"/>
              </a:rPr>
              <a:t>C-Code,</a:t>
            </a:r>
            <a:r>
              <a:rPr lang="en-US" sz="2400" dirty="0">
                <a:solidFill>
                  <a:srgbClr val="0000FF"/>
                </a:solidFill>
                <a:latin typeface="Cambria" panose="02040503050406030204" pitchFamily="18" charset="0"/>
                <a:ea typeface="Cambria" panose="02040503050406030204" pitchFamily="18" charset="0"/>
              </a:rPr>
              <a:t> C-Title)</a:t>
            </a:r>
          </a:p>
          <a:p>
            <a:pPr marL="0" indent="0" algn="just">
              <a:spcBef>
                <a:spcPts val="300"/>
              </a:spcBef>
              <a:buNone/>
              <a:defRPr/>
            </a:pPr>
            <a:r>
              <a:rPr lang="en-US" sz="2400" dirty="0">
                <a:solidFill>
                  <a:srgbClr val="0000FF"/>
                </a:solidFill>
                <a:latin typeface="Cambria" panose="02040503050406030204" pitchFamily="18" charset="0"/>
                <a:ea typeface="Cambria" panose="02040503050406030204" pitchFamily="18" charset="0"/>
              </a:rPr>
              <a:t>	Result (</a:t>
            </a:r>
            <a:r>
              <a:rPr lang="en-US" sz="2400" u="sng" dirty="0" err="1">
                <a:solidFill>
                  <a:srgbClr val="0000FF"/>
                </a:solidFill>
                <a:latin typeface="Cambria" panose="02040503050406030204" pitchFamily="18" charset="0"/>
                <a:ea typeface="Cambria" panose="02040503050406030204" pitchFamily="18" charset="0"/>
              </a:rPr>
              <a:t>RegNo</a:t>
            </a:r>
            <a:r>
              <a:rPr lang="en-US" sz="2400" u="sng" dirty="0">
                <a:solidFill>
                  <a:srgbClr val="0000FF"/>
                </a:solidFill>
                <a:latin typeface="Cambria" panose="02040503050406030204" pitchFamily="18" charset="0"/>
                <a:ea typeface="Cambria" panose="02040503050406030204" pitchFamily="18" charset="0"/>
              </a:rPr>
              <a:t>, C-Code,</a:t>
            </a:r>
            <a:r>
              <a:rPr lang="en-US" sz="2400" dirty="0">
                <a:solidFill>
                  <a:srgbClr val="0000FF"/>
                </a:solidFill>
                <a:latin typeface="Cambria" panose="02040503050406030204" pitchFamily="18" charset="0"/>
                <a:ea typeface="Cambria" panose="02040503050406030204" pitchFamily="18" charset="0"/>
              </a:rPr>
              <a:t> </a:t>
            </a:r>
            <a:r>
              <a:rPr lang="en-US" sz="2400" dirty="0" err="1">
                <a:solidFill>
                  <a:srgbClr val="0000FF"/>
                </a:solidFill>
                <a:latin typeface="Cambria" panose="02040503050406030204" pitchFamily="18" charset="0"/>
                <a:ea typeface="Cambria" panose="02040503050406030204" pitchFamily="18" charset="0"/>
              </a:rPr>
              <a:t>C_Grade</a:t>
            </a:r>
            <a:r>
              <a:rPr lang="en-US" sz="2400" dirty="0">
                <a:solidFill>
                  <a:srgbClr val="0000FF"/>
                </a:solidFill>
                <a:latin typeface="Cambria" panose="02040503050406030204" pitchFamily="18" charset="0"/>
                <a:ea typeface="Cambria" panose="02040503050406030204" pitchFamily="18" charset="0"/>
              </a:rPr>
              <a:t>)</a:t>
            </a:r>
          </a:p>
          <a:p>
            <a:pPr algn="just">
              <a:spcBef>
                <a:spcPts val="300"/>
              </a:spcBef>
              <a:defRPr/>
            </a:pPr>
            <a:r>
              <a:rPr lang="en-US" sz="2400" dirty="0">
                <a:latin typeface="Cambria" panose="02040503050406030204" pitchFamily="18" charset="0"/>
                <a:ea typeface="Cambria" panose="02040503050406030204" pitchFamily="18" charset="0"/>
              </a:rPr>
              <a:t>A relation in 1NF will be in 2NF if:</a:t>
            </a:r>
          </a:p>
          <a:p>
            <a:pPr lvl="1" algn="just">
              <a:spcBef>
                <a:spcPts val="300"/>
              </a:spcBef>
              <a:defRPr/>
            </a:pPr>
            <a:r>
              <a:rPr lang="en-US" dirty="0">
                <a:latin typeface="Cambria" panose="02040503050406030204" pitchFamily="18" charset="0"/>
                <a:ea typeface="Cambria" panose="02040503050406030204" pitchFamily="18" charset="0"/>
              </a:rPr>
              <a:t>The PK consists of only one attribute 		</a:t>
            </a:r>
            <a:r>
              <a:rPr lang="en-US" dirty="0">
                <a:solidFill>
                  <a:srgbClr val="0000FF"/>
                </a:solidFill>
                <a:latin typeface="Cambria" panose="02040503050406030204" pitchFamily="18" charset="0"/>
                <a:ea typeface="Cambria" panose="02040503050406030204" pitchFamily="18" charset="0"/>
              </a:rPr>
              <a:t>OR</a:t>
            </a:r>
          </a:p>
          <a:p>
            <a:pPr lvl="1" algn="just">
              <a:spcBef>
                <a:spcPts val="300"/>
              </a:spcBef>
              <a:defRPr/>
            </a:pPr>
            <a:r>
              <a:rPr lang="en-US" dirty="0">
                <a:latin typeface="Cambria" panose="02040503050406030204" pitchFamily="18" charset="0"/>
                <a:ea typeface="Cambria" panose="02040503050406030204" pitchFamily="18" charset="0"/>
              </a:rPr>
              <a:t>No non-key attributes exist in the relation	</a:t>
            </a:r>
            <a:r>
              <a:rPr lang="en-US" dirty="0">
                <a:solidFill>
                  <a:srgbClr val="0000FF"/>
                </a:solidFill>
                <a:latin typeface="Cambria" panose="02040503050406030204" pitchFamily="18" charset="0"/>
                <a:ea typeface="Cambria" panose="02040503050406030204" pitchFamily="18" charset="0"/>
              </a:rPr>
              <a:t>OR</a:t>
            </a:r>
          </a:p>
          <a:p>
            <a:pPr lvl="1" algn="just">
              <a:spcBef>
                <a:spcPts val="300"/>
              </a:spcBef>
              <a:defRPr/>
            </a:pPr>
            <a:r>
              <a:rPr lang="en-US" dirty="0">
                <a:latin typeface="Cambria" panose="02040503050406030204" pitchFamily="18" charset="0"/>
                <a:ea typeface="Cambria" panose="02040503050406030204" pitchFamily="18" charset="0"/>
              </a:rPr>
              <a:t>Every non-key attribute is functionally dependent on the full set of primary key attributes</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0" indent="0" algn="just">
              <a:spcBef>
                <a:spcPts val="300"/>
              </a:spcBef>
              <a:buNone/>
              <a:defRPr/>
            </a:pPr>
            <a:endParaRPr lang="en-US" sz="24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0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0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BA902BAC-129C-9CCC-F12E-E4EE50DB9F42}"/>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D11D2C20-8F5C-3EAE-5F92-EDA8BB2FB9E8}"/>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81955562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3C190-F470-C434-E4A5-CC13B07B5DD8}"/>
            </a:ext>
          </a:extLst>
        </p:cNvPr>
        <p:cNvGrpSpPr/>
        <p:nvPr/>
      </p:nvGrpSpPr>
      <p:grpSpPr>
        <a:xfrm>
          <a:off x="0" y="0"/>
          <a:ext cx="0" cy="0"/>
          <a:chOff x="0" y="0"/>
          <a:chExt cx="0" cy="0"/>
        </a:xfrm>
      </p:grpSpPr>
      <p:sp>
        <p:nvSpPr>
          <p:cNvPr id="26626" name="Rectangle 2">
            <a:extLst>
              <a:ext uri="{FF2B5EF4-FFF2-40B4-BE49-F238E27FC236}">
                <a16:creationId xmlns:a16="http://schemas.microsoft.com/office/drawing/2014/main" id="{E310DF54-427C-3297-36DE-B4431942BFC2}"/>
              </a:ext>
            </a:extLst>
          </p:cNvPr>
          <p:cNvSpPr>
            <a:spLocks noGrp="1" noChangeArrowheads="1"/>
          </p:cNvSpPr>
          <p:nvPr>
            <p:ph type="title"/>
          </p:nvPr>
        </p:nvSpPr>
        <p:spPr>
          <a:xfrm>
            <a:off x="467544" y="260648"/>
            <a:ext cx="5148263" cy="504825"/>
          </a:xfrm>
          <a:noFill/>
          <a:extLst>
            <a:ext uri="{91240B29-F687-4F45-9708-019B960494DF}">
              <a14:hiddenLine xmlns:a14="http://schemas.microsoft.com/office/drawing/2010/main" w="9525" cap="flat" cmpd="sng" algn="ctr">
                <a:solidFill>
                  <a:srgbClr val="000000"/>
                </a:solidFill>
                <a:prstDash val="solid"/>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ltLang="en-US" sz="2800" b="1" u="sng" dirty="0">
                <a:solidFill>
                  <a:srgbClr val="D34817"/>
                </a:solidFill>
                <a:latin typeface="Cambria" panose="02040503050406030204" pitchFamily="18" charset="0"/>
                <a:ea typeface="Cambria" panose="02040503050406030204" pitchFamily="18" charset="0"/>
              </a:rPr>
              <a:t>Second Normal Form (2NF)  </a:t>
            </a:r>
          </a:p>
        </p:txBody>
      </p:sp>
      <p:sp>
        <p:nvSpPr>
          <p:cNvPr id="26627" name="Rectangle 3">
            <a:extLst>
              <a:ext uri="{FF2B5EF4-FFF2-40B4-BE49-F238E27FC236}">
                <a16:creationId xmlns:a16="http://schemas.microsoft.com/office/drawing/2014/main" id="{FD6B922B-3B8A-C100-C374-EC71B6C6FAEC}"/>
              </a:ext>
            </a:extLst>
          </p:cNvPr>
          <p:cNvSpPr>
            <a:spLocks noGrp="1" noChangeArrowheads="1"/>
          </p:cNvSpPr>
          <p:nvPr>
            <p:ph type="body" idx="1"/>
          </p:nvPr>
        </p:nvSpPr>
        <p:spPr>
          <a:xfrm>
            <a:off x="323850" y="639539"/>
            <a:ext cx="8497888" cy="5165725"/>
          </a:xfrm>
        </p:spPr>
        <p:txBody>
          <a:bodyPr/>
          <a:lstStyle/>
          <a:p>
            <a:pPr algn="just">
              <a:spcBef>
                <a:spcPts val="300"/>
              </a:spcBef>
            </a:pPr>
            <a:r>
              <a:rPr lang="en-US" altLang="en-US" sz="2400" dirty="0">
                <a:latin typeface="Cambria" panose="02040503050406030204" pitchFamily="18" charset="0"/>
                <a:ea typeface="Cambria" panose="02040503050406030204" pitchFamily="18" charset="0"/>
              </a:rPr>
              <a:t>A functional dependency </a:t>
            </a:r>
            <a:r>
              <a:rPr lang="en-US" altLang="en-US" sz="2400" dirty="0">
                <a:solidFill>
                  <a:srgbClr val="FF0000"/>
                </a:solidFill>
                <a:latin typeface="Cambria" panose="02040503050406030204" pitchFamily="18" charset="0"/>
                <a:ea typeface="Cambria" panose="02040503050406030204" pitchFamily="18" charset="0"/>
              </a:rPr>
              <a:t>X → Y</a:t>
            </a:r>
            <a:r>
              <a:rPr lang="en-US" altLang="en-US" sz="2400" dirty="0">
                <a:latin typeface="Cambria" panose="02040503050406030204" pitchFamily="18" charset="0"/>
                <a:ea typeface="Cambria" panose="02040503050406030204" pitchFamily="18" charset="0"/>
              </a:rPr>
              <a:t> is a </a:t>
            </a:r>
            <a:r>
              <a:rPr lang="en-US" altLang="en-US" sz="2400" dirty="0">
                <a:solidFill>
                  <a:srgbClr val="FF0000"/>
                </a:solidFill>
                <a:latin typeface="Cambria" panose="02040503050406030204" pitchFamily="18" charset="0"/>
                <a:ea typeface="Cambria" panose="02040503050406030204" pitchFamily="18" charset="0"/>
              </a:rPr>
              <a:t>full functional dependency,</a:t>
            </a:r>
            <a:r>
              <a:rPr lang="en-US" altLang="en-US" sz="2400" dirty="0">
                <a:latin typeface="Cambria" panose="02040503050406030204" pitchFamily="18" charset="0"/>
                <a:ea typeface="Cambria" panose="02040503050406030204" pitchFamily="18" charset="0"/>
              </a:rPr>
              <a:t> if removal of any attribute </a:t>
            </a:r>
            <a:r>
              <a:rPr lang="en-US" altLang="en-US" sz="2400" dirty="0">
                <a:solidFill>
                  <a:srgbClr val="FF0000"/>
                </a:solidFill>
                <a:latin typeface="Cambria" panose="02040503050406030204" pitchFamily="18" charset="0"/>
                <a:ea typeface="Cambria" panose="02040503050406030204" pitchFamily="18" charset="0"/>
              </a:rPr>
              <a:t>A</a:t>
            </a:r>
            <a:r>
              <a:rPr lang="en-US" altLang="en-US" sz="2400" dirty="0">
                <a:latin typeface="Cambria" panose="02040503050406030204" pitchFamily="18" charset="0"/>
                <a:ea typeface="Cambria" panose="02040503050406030204" pitchFamily="18" charset="0"/>
              </a:rPr>
              <a:t> from </a:t>
            </a:r>
            <a:r>
              <a:rPr lang="en-US" altLang="en-US" sz="2400" dirty="0">
                <a:solidFill>
                  <a:srgbClr val="FF0000"/>
                </a:solidFill>
                <a:latin typeface="Cambria" panose="02040503050406030204" pitchFamily="18" charset="0"/>
                <a:ea typeface="Cambria" panose="02040503050406030204" pitchFamily="18" charset="0"/>
              </a:rPr>
              <a:t>X</a:t>
            </a:r>
            <a:r>
              <a:rPr lang="en-US" altLang="en-US" sz="2400" dirty="0">
                <a:latin typeface="Cambria" panose="02040503050406030204" pitchFamily="18" charset="0"/>
                <a:ea typeface="Cambria" panose="02040503050406030204" pitchFamily="18" charset="0"/>
              </a:rPr>
              <a:t> means that the dependency does not hold anymore; that is, for any attribute </a:t>
            </a:r>
            <a:r>
              <a:rPr lang="en-US" altLang="en-US" sz="2400" dirty="0">
                <a:solidFill>
                  <a:srgbClr val="FF0000"/>
                </a:solidFill>
                <a:latin typeface="Cambria" panose="02040503050406030204" pitchFamily="18" charset="0"/>
                <a:ea typeface="Cambria" panose="02040503050406030204" pitchFamily="18" charset="0"/>
              </a:rPr>
              <a:t>A ε X, (X − {A})</a:t>
            </a:r>
            <a:r>
              <a:rPr lang="en-US" altLang="en-US" sz="2400" dirty="0">
                <a:latin typeface="Cambria" panose="02040503050406030204" pitchFamily="18" charset="0"/>
                <a:ea typeface="Cambria" panose="02040503050406030204" pitchFamily="18" charset="0"/>
              </a:rPr>
              <a:t> does not functionally determine Y. </a:t>
            </a:r>
          </a:p>
          <a:p>
            <a:pPr algn="just">
              <a:spcBef>
                <a:spcPts val="300"/>
              </a:spcBef>
            </a:pPr>
            <a:r>
              <a:rPr lang="en-US" altLang="en-US" sz="2400" dirty="0">
                <a:latin typeface="Cambria" panose="02040503050406030204" pitchFamily="18" charset="0"/>
                <a:ea typeface="Cambria" panose="02040503050406030204" pitchFamily="18" charset="0"/>
              </a:rPr>
              <a:t>A functional dependency </a:t>
            </a:r>
            <a:r>
              <a:rPr lang="en-US" altLang="en-US" sz="2400" dirty="0">
                <a:solidFill>
                  <a:srgbClr val="FF0000"/>
                </a:solidFill>
                <a:latin typeface="Cambria" panose="02040503050406030204" pitchFamily="18" charset="0"/>
                <a:ea typeface="Cambria" panose="02040503050406030204" pitchFamily="18" charset="0"/>
              </a:rPr>
              <a:t>X → Y</a:t>
            </a:r>
            <a:r>
              <a:rPr lang="en-US" altLang="en-US" sz="2400" dirty="0">
                <a:latin typeface="Cambria" panose="02040503050406030204" pitchFamily="18" charset="0"/>
                <a:ea typeface="Cambria" panose="02040503050406030204" pitchFamily="18" charset="0"/>
              </a:rPr>
              <a:t> is a </a:t>
            </a:r>
            <a:r>
              <a:rPr lang="en-US" altLang="en-US" sz="2400" dirty="0">
                <a:solidFill>
                  <a:srgbClr val="FF0000"/>
                </a:solidFill>
                <a:latin typeface="Cambria" panose="02040503050406030204" pitchFamily="18" charset="0"/>
                <a:ea typeface="Cambria" panose="02040503050406030204" pitchFamily="18" charset="0"/>
              </a:rPr>
              <a:t>partial dependency</a:t>
            </a:r>
            <a:r>
              <a:rPr lang="en-US" altLang="en-US" sz="2400" dirty="0">
                <a:latin typeface="Cambria" panose="02040503050406030204" pitchFamily="18" charset="0"/>
                <a:ea typeface="Cambria" panose="02040503050406030204" pitchFamily="18" charset="0"/>
              </a:rPr>
              <a:t> if some attribute </a:t>
            </a:r>
            <a:r>
              <a:rPr lang="en-US" altLang="en-US" sz="2400" dirty="0">
                <a:solidFill>
                  <a:srgbClr val="FF0000"/>
                </a:solidFill>
                <a:latin typeface="Cambria" panose="02040503050406030204" pitchFamily="18" charset="0"/>
                <a:ea typeface="Cambria" panose="02040503050406030204" pitchFamily="18" charset="0"/>
              </a:rPr>
              <a:t>A ε X</a:t>
            </a:r>
            <a:r>
              <a:rPr lang="en-US" altLang="en-US" sz="2400" dirty="0">
                <a:latin typeface="Cambria" panose="02040503050406030204" pitchFamily="18" charset="0"/>
                <a:ea typeface="Cambria" panose="02040503050406030204" pitchFamily="18" charset="0"/>
              </a:rPr>
              <a:t> can be removed from </a:t>
            </a:r>
            <a:r>
              <a:rPr lang="en-US" altLang="en-US" sz="2400" dirty="0">
                <a:solidFill>
                  <a:srgbClr val="FF0000"/>
                </a:solidFill>
                <a:latin typeface="Cambria" panose="02040503050406030204" pitchFamily="18" charset="0"/>
                <a:ea typeface="Cambria" panose="02040503050406030204" pitchFamily="18" charset="0"/>
              </a:rPr>
              <a:t>X</a:t>
            </a:r>
            <a:r>
              <a:rPr lang="en-US" altLang="en-US" sz="2400" dirty="0">
                <a:latin typeface="Cambria" panose="02040503050406030204" pitchFamily="18" charset="0"/>
                <a:ea typeface="Cambria" panose="02040503050406030204" pitchFamily="18" charset="0"/>
              </a:rPr>
              <a:t> and the dependency still holds; that is, for some </a:t>
            </a:r>
            <a:r>
              <a:rPr lang="en-US" altLang="en-US" sz="2400" dirty="0">
                <a:solidFill>
                  <a:srgbClr val="FF0000"/>
                </a:solidFill>
                <a:latin typeface="Cambria" panose="02040503050406030204" pitchFamily="18" charset="0"/>
                <a:ea typeface="Cambria" panose="02040503050406030204" pitchFamily="18" charset="0"/>
              </a:rPr>
              <a:t>A ε X, (X − {A}) → Y</a:t>
            </a:r>
            <a:r>
              <a:rPr lang="en-US" altLang="en-US" sz="2400" dirty="0">
                <a:latin typeface="Cambria" panose="02040503050406030204" pitchFamily="18" charset="0"/>
                <a:ea typeface="Cambria" panose="02040503050406030204" pitchFamily="18" charset="0"/>
              </a:rPr>
              <a:t>.</a:t>
            </a:r>
          </a:p>
          <a:p>
            <a:pPr algn="just">
              <a:spcBef>
                <a:spcPts val="300"/>
              </a:spcBef>
            </a:pPr>
            <a:endParaRPr lang="en-US" alt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9556739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ACC86-7324-3140-95EB-DE295F5EC7E2}"/>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1C9603A8-04B2-1046-364F-D62FEA0D99B6}"/>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Second Normal Form (2NF)</a:t>
            </a:r>
          </a:p>
        </p:txBody>
      </p:sp>
      <p:sp>
        <p:nvSpPr>
          <p:cNvPr id="10243" name="Rectangle 3">
            <a:extLst>
              <a:ext uri="{FF2B5EF4-FFF2-40B4-BE49-F238E27FC236}">
                <a16:creationId xmlns:a16="http://schemas.microsoft.com/office/drawing/2014/main" id="{6533F85D-93F7-11F4-EC54-93C620253CA1}"/>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The process for transforming a 1NF table to 2NF is:</a:t>
            </a:r>
          </a:p>
          <a:p>
            <a:pPr algn="just">
              <a:spcBef>
                <a:spcPts val="300"/>
              </a:spcBef>
              <a:defRPr/>
            </a:pPr>
            <a:r>
              <a:rPr lang="en-US" sz="2400" dirty="0">
                <a:latin typeface="Cambria" panose="02040503050406030204" pitchFamily="18" charset="0"/>
                <a:ea typeface="Cambria" panose="02040503050406030204" pitchFamily="18" charset="0"/>
              </a:rPr>
              <a:t>Identify any determinants other than the composite key, and the columns they determine.</a:t>
            </a:r>
          </a:p>
          <a:p>
            <a:pPr algn="just">
              <a:spcBef>
                <a:spcPts val="300"/>
              </a:spcBef>
              <a:defRPr/>
            </a:pPr>
            <a:r>
              <a:rPr lang="en-US" sz="2400" dirty="0">
                <a:latin typeface="Cambria" panose="02040503050406030204" pitchFamily="18" charset="0"/>
                <a:ea typeface="Cambria" panose="02040503050406030204" pitchFamily="18" charset="0"/>
              </a:rPr>
              <a:t>Create and name a new table for each determinant and the unique columns it determines. </a:t>
            </a:r>
          </a:p>
          <a:p>
            <a:pPr algn="just">
              <a:spcBef>
                <a:spcPts val="300"/>
              </a:spcBef>
              <a:defRPr/>
            </a:pPr>
            <a:r>
              <a:rPr lang="en-US" sz="2400" dirty="0">
                <a:latin typeface="Cambria" panose="02040503050406030204" pitchFamily="18" charset="0"/>
                <a:ea typeface="Cambria" panose="02040503050406030204" pitchFamily="18" charset="0"/>
              </a:rPr>
              <a:t>Move the determined columns from the original table to the new table. The determinate becomes the primary key of the new table.</a:t>
            </a:r>
          </a:p>
          <a:p>
            <a:pPr algn="just">
              <a:spcBef>
                <a:spcPts val="300"/>
              </a:spcBef>
              <a:defRPr/>
            </a:pPr>
            <a:r>
              <a:rPr lang="en-US" sz="2400" dirty="0">
                <a:latin typeface="Cambria" panose="02040503050406030204" pitchFamily="18" charset="0"/>
                <a:ea typeface="Cambria" panose="02040503050406030204" pitchFamily="18" charset="0"/>
              </a:rPr>
              <a:t>Delete the columns you just moved from the original table except for the determinate which will serve as a foreign key.</a:t>
            </a:r>
          </a:p>
          <a:p>
            <a:pPr algn="just">
              <a:spcBef>
                <a:spcPts val="300"/>
              </a:spcBef>
              <a:defRPr/>
            </a:pPr>
            <a:r>
              <a:rPr lang="en-US" sz="2400" dirty="0">
                <a:latin typeface="Cambria" panose="02040503050406030204" pitchFamily="18" charset="0"/>
                <a:ea typeface="Cambria" panose="02040503050406030204" pitchFamily="18" charset="0"/>
              </a:rPr>
              <a:t>The original table may be renamed to maintain semantic meaning.</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0" indent="0" algn="just">
              <a:spcBef>
                <a:spcPts val="300"/>
              </a:spcBef>
              <a:buNone/>
              <a:defRPr/>
            </a:pPr>
            <a:endParaRPr lang="en-US" sz="24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0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0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41BD4B37-E1F2-D720-EFF9-3A7D7EC681BF}"/>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DCE612A2-D797-C015-F61C-C8EAD053D11F}"/>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37837228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5D715-A346-30AC-938A-6F1B74E82B24}"/>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92AD93DF-DC2D-327F-0621-3AB21F808909}"/>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Third Normal Form (3NF)</a:t>
            </a:r>
          </a:p>
        </p:txBody>
      </p:sp>
      <p:sp>
        <p:nvSpPr>
          <p:cNvPr id="10243" name="Rectangle 3">
            <a:extLst>
              <a:ext uri="{FF2B5EF4-FFF2-40B4-BE49-F238E27FC236}">
                <a16:creationId xmlns:a16="http://schemas.microsoft.com/office/drawing/2014/main" id="{84999490-A15D-1331-1CCE-3FD57BE4D188}"/>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A relation is said to be in 3NF, if it is in 2NF and there is no Transitive Dependency. </a:t>
            </a:r>
          </a:p>
          <a:p>
            <a:pPr algn="just">
              <a:spcBef>
                <a:spcPts val="300"/>
              </a:spcBef>
              <a:defRPr/>
            </a:pPr>
            <a:r>
              <a:rPr lang="en-US" sz="2400" dirty="0">
                <a:latin typeface="Cambria" panose="02040503050406030204" pitchFamily="18" charset="0"/>
                <a:ea typeface="Cambria" panose="02040503050406030204" pitchFamily="18" charset="0"/>
              </a:rPr>
              <a:t>A </a:t>
            </a:r>
            <a:r>
              <a:rPr lang="en-US" sz="2400" dirty="0">
                <a:solidFill>
                  <a:srgbClr val="0000FF"/>
                </a:solidFill>
                <a:latin typeface="Cambria" panose="02040503050406030204" pitchFamily="18" charset="0"/>
                <a:ea typeface="Cambria" panose="02040503050406030204" pitchFamily="18" charset="0"/>
              </a:rPr>
              <a:t>Transitive Dependency</a:t>
            </a:r>
            <a:r>
              <a:rPr lang="en-US" sz="2400" dirty="0">
                <a:latin typeface="Cambria" panose="02040503050406030204" pitchFamily="18" charset="0"/>
                <a:ea typeface="Cambria" panose="02040503050406030204" pitchFamily="18" charset="0"/>
              </a:rPr>
              <a:t> is a functional dependency between two or more non key attributes of a relation.</a:t>
            </a:r>
          </a:p>
          <a:p>
            <a:pPr algn="just">
              <a:spcBef>
                <a:spcPts val="300"/>
              </a:spcBef>
              <a:defRPr/>
            </a:pPr>
            <a:r>
              <a:rPr lang="en-US" sz="2400" dirty="0">
                <a:latin typeface="Cambria" panose="02040503050406030204" pitchFamily="18" charset="0"/>
                <a:ea typeface="Cambria" panose="02040503050406030204" pitchFamily="18" charset="0"/>
              </a:rPr>
              <a:t>Consider the following relation:</a:t>
            </a:r>
          </a:p>
          <a:p>
            <a:pPr marL="0" indent="0" algn="just">
              <a:spcBef>
                <a:spcPts val="300"/>
              </a:spcBef>
              <a:buNone/>
              <a:defRPr/>
            </a:pPr>
            <a:r>
              <a:rPr lang="en-US" sz="2400" dirty="0">
                <a:latin typeface="Cambria" panose="02040503050406030204" pitchFamily="18" charset="0"/>
                <a:ea typeface="Cambria" panose="02040503050406030204" pitchFamily="18" charset="0"/>
              </a:rPr>
              <a:t>	</a:t>
            </a:r>
            <a:r>
              <a:rPr lang="en-US" sz="2400" dirty="0">
                <a:solidFill>
                  <a:srgbClr val="0000FF"/>
                </a:solidFill>
                <a:latin typeface="Cambria" panose="02040503050406030204" pitchFamily="18" charset="0"/>
                <a:ea typeface="Cambria" panose="02040503050406030204" pitchFamily="18" charset="0"/>
              </a:rPr>
              <a:t>Emp (</a:t>
            </a:r>
            <a:r>
              <a:rPr lang="en-US" sz="2400" dirty="0" err="1">
                <a:solidFill>
                  <a:srgbClr val="0000FF"/>
                </a:solidFill>
                <a:latin typeface="Cambria" panose="02040503050406030204" pitchFamily="18" charset="0"/>
                <a:ea typeface="Cambria" panose="02040503050406030204" pitchFamily="18" charset="0"/>
              </a:rPr>
              <a:t>EmpNo</a:t>
            </a:r>
            <a:r>
              <a:rPr lang="en-US" sz="2400" dirty="0">
                <a:solidFill>
                  <a:srgbClr val="0000FF"/>
                </a:solidFill>
                <a:latin typeface="Cambria" panose="02040503050406030204" pitchFamily="18" charset="0"/>
                <a:ea typeface="Cambria" panose="02040503050406030204" pitchFamily="18" charset="0"/>
              </a:rPr>
              <a:t>, </a:t>
            </a:r>
            <a:r>
              <a:rPr lang="en-US" sz="2400" dirty="0" err="1">
                <a:solidFill>
                  <a:srgbClr val="0000FF"/>
                </a:solidFill>
                <a:latin typeface="Cambria" panose="02040503050406030204" pitchFamily="18" charset="0"/>
                <a:ea typeface="Cambria" panose="02040503050406030204" pitchFamily="18" charset="0"/>
              </a:rPr>
              <a:t>EName</a:t>
            </a:r>
            <a:r>
              <a:rPr lang="en-US" sz="2400" dirty="0">
                <a:solidFill>
                  <a:srgbClr val="0000FF"/>
                </a:solidFill>
                <a:latin typeface="Cambria" panose="02040503050406030204" pitchFamily="18" charset="0"/>
                <a:ea typeface="Cambria" panose="02040503050406030204" pitchFamily="18" charset="0"/>
              </a:rPr>
              <a:t>, Job, Sal, </a:t>
            </a:r>
            <a:r>
              <a:rPr lang="en-US" sz="2400" dirty="0" err="1">
                <a:solidFill>
                  <a:srgbClr val="0000FF"/>
                </a:solidFill>
                <a:latin typeface="Cambria" panose="02040503050406030204" pitchFamily="18" charset="0"/>
                <a:ea typeface="Cambria" panose="02040503050406030204" pitchFamily="18" charset="0"/>
              </a:rPr>
              <a:t>DeptNo,DName</a:t>
            </a:r>
            <a:r>
              <a:rPr lang="en-US" sz="2400" dirty="0">
                <a:solidFill>
                  <a:srgbClr val="0000FF"/>
                </a:solidFill>
                <a:latin typeface="Cambria" panose="02040503050406030204" pitchFamily="18" charset="0"/>
                <a:ea typeface="Cambria" panose="02040503050406030204" pitchFamily="18" charset="0"/>
              </a:rPr>
              <a:t>)</a:t>
            </a:r>
          </a:p>
          <a:p>
            <a:pPr algn="just">
              <a:spcBef>
                <a:spcPts val="300"/>
              </a:spcBef>
              <a:defRPr/>
            </a:pPr>
            <a:r>
              <a:rPr lang="en-US" sz="2400" dirty="0">
                <a:latin typeface="Cambria" panose="02040503050406030204" pitchFamily="18" charset="0"/>
                <a:ea typeface="Cambria" panose="02040503050406030204" pitchFamily="18" charset="0"/>
              </a:rPr>
              <a:t>In the above relation, </a:t>
            </a:r>
            <a:r>
              <a:rPr lang="en-US" sz="2400" dirty="0" err="1">
                <a:solidFill>
                  <a:srgbClr val="FF0000"/>
                </a:solidFill>
                <a:latin typeface="Cambria" panose="02040503050406030204" pitchFamily="18" charset="0"/>
                <a:ea typeface="Cambria" panose="02040503050406030204" pitchFamily="18" charset="0"/>
              </a:rPr>
              <a:t>DeptNo</a:t>
            </a:r>
            <a:r>
              <a:rPr lang="en-US" sz="2400" dirty="0">
                <a:solidFill>
                  <a:srgbClr val="FF0000"/>
                </a:solidFill>
                <a:latin typeface="Cambria" panose="02040503050406030204" pitchFamily="18" charset="0"/>
                <a:ea typeface="Cambria" panose="02040503050406030204" pitchFamily="18" charset="0"/>
              </a:rPr>
              <a:t> -&gt; </a:t>
            </a:r>
            <a:r>
              <a:rPr lang="en-US" sz="2400" dirty="0" err="1">
                <a:solidFill>
                  <a:srgbClr val="FF0000"/>
                </a:solidFill>
                <a:latin typeface="Cambria" panose="02040503050406030204" pitchFamily="18" charset="0"/>
                <a:ea typeface="Cambria" panose="02040503050406030204" pitchFamily="18" charset="0"/>
              </a:rPr>
              <a:t>DName</a:t>
            </a:r>
            <a:r>
              <a:rPr lang="en-US" sz="2400" dirty="0">
                <a:latin typeface="Cambria" panose="02040503050406030204" pitchFamily="18" charset="0"/>
                <a:ea typeface="Cambria" panose="02040503050406030204" pitchFamily="18" charset="0"/>
              </a:rPr>
              <a:t> is a transitive dependency: </a:t>
            </a:r>
          </a:p>
          <a:p>
            <a:pPr algn="just">
              <a:spcBef>
                <a:spcPts val="300"/>
              </a:spcBef>
              <a:defRPr/>
            </a:pPr>
            <a:r>
              <a:rPr lang="en-US" sz="2400" dirty="0">
                <a:latin typeface="Cambria" panose="02040503050406030204" pitchFamily="18" charset="0"/>
                <a:ea typeface="Cambria" panose="02040503050406030204" pitchFamily="18" charset="0"/>
              </a:rPr>
              <a:t>Due to the above transitive dependency, department information can’t be maintained independent of a employee record and hence there are anomalies in the relation.</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0" indent="0" algn="just">
              <a:spcBef>
                <a:spcPts val="300"/>
              </a:spcBef>
              <a:buNone/>
              <a:defRPr/>
            </a:pPr>
            <a:endParaRPr lang="en-US" sz="24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0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0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96FA763D-6A8A-EC3A-0C0E-8670C6C2E4EE}"/>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5F243183-771E-2416-CD29-2829FF3762D7}"/>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77349403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A113E-D314-569B-0DE1-DABEE2422A5C}"/>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2E90900E-7BE8-5659-EF24-3A35819ADA0D}"/>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Third Normal Form (3NF)</a:t>
            </a:r>
          </a:p>
        </p:txBody>
      </p:sp>
      <p:sp>
        <p:nvSpPr>
          <p:cNvPr id="10243" name="Rectangle 3">
            <a:extLst>
              <a:ext uri="{FF2B5EF4-FFF2-40B4-BE49-F238E27FC236}">
                <a16:creationId xmlns:a16="http://schemas.microsoft.com/office/drawing/2014/main" id="{DC7BE3E0-14A1-4ACD-96F9-7F40C472783A}"/>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Transitive dependency is removed by creating a new relation against transitively dependent attributes and leave the PK of new relation in the old relation to serve as a FK.</a:t>
            </a:r>
          </a:p>
          <a:p>
            <a:pPr marL="0" indent="0" algn="just">
              <a:spcBef>
                <a:spcPts val="300"/>
              </a:spcBef>
              <a:buNone/>
              <a:defRPr/>
            </a:pPr>
            <a:r>
              <a:rPr lang="en-US" sz="2400" dirty="0">
                <a:latin typeface="Cambria" panose="02040503050406030204" pitchFamily="18" charset="0"/>
                <a:ea typeface="Cambria" panose="02040503050406030204" pitchFamily="18" charset="0"/>
              </a:rPr>
              <a:t>	EMP (</a:t>
            </a:r>
            <a:r>
              <a:rPr lang="en-US" sz="2400" dirty="0" err="1">
                <a:latin typeface="Cambria" panose="02040503050406030204" pitchFamily="18" charset="0"/>
                <a:ea typeface="Cambria" panose="02040503050406030204" pitchFamily="18" charset="0"/>
              </a:rPr>
              <a:t>EmpNo</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EName</a:t>
            </a:r>
            <a:r>
              <a:rPr lang="en-US" sz="2400" dirty="0">
                <a:latin typeface="Cambria" panose="02040503050406030204" pitchFamily="18" charset="0"/>
                <a:ea typeface="Cambria" panose="02040503050406030204" pitchFamily="18" charset="0"/>
              </a:rPr>
              <a:t>, Job, Sal, </a:t>
            </a:r>
            <a:r>
              <a:rPr lang="en-US" sz="2400" dirty="0" err="1">
                <a:latin typeface="Cambria" panose="02040503050406030204" pitchFamily="18" charset="0"/>
                <a:ea typeface="Cambria" panose="02040503050406030204" pitchFamily="18" charset="0"/>
              </a:rPr>
              <a:t>DeptNo</a:t>
            </a:r>
            <a:r>
              <a:rPr lang="en-US" sz="2400" dirty="0">
                <a:latin typeface="Cambria" panose="02040503050406030204" pitchFamily="18" charset="0"/>
                <a:ea typeface="Cambria" panose="02040503050406030204" pitchFamily="18" charset="0"/>
              </a:rPr>
              <a:t>)</a:t>
            </a:r>
          </a:p>
          <a:p>
            <a:pPr marL="0" indent="0" algn="just">
              <a:spcBef>
                <a:spcPts val="300"/>
              </a:spcBef>
              <a:buNone/>
              <a:defRPr/>
            </a:pPr>
            <a:r>
              <a:rPr lang="en-US" sz="2400" dirty="0">
                <a:latin typeface="Cambria" panose="02040503050406030204" pitchFamily="18" charset="0"/>
                <a:ea typeface="Cambria" panose="02040503050406030204" pitchFamily="18" charset="0"/>
              </a:rPr>
              <a:t>	DEPT (</a:t>
            </a:r>
            <a:r>
              <a:rPr lang="en-US" sz="2400" dirty="0" err="1">
                <a:latin typeface="Cambria" panose="02040503050406030204" pitchFamily="18" charset="0"/>
                <a:ea typeface="Cambria" panose="02040503050406030204" pitchFamily="18" charset="0"/>
              </a:rPr>
              <a:t>DeptNo</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DName</a:t>
            </a:r>
            <a:r>
              <a:rPr lang="en-US" sz="2400" dirty="0">
                <a:latin typeface="Cambria" panose="02040503050406030204" pitchFamily="18" charset="0"/>
                <a:ea typeface="Cambria" panose="02040503050406030204" pitchFamily="18" charset="0"/>
              </a:rPr>
              <a:t>)</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r>
              <a:rPr lang="en-US" sz="2400" dirty="0">
                <a:latin typeface="Cambria" panose="02040503050406030204" pitchFamily="18" charset="0"/>
                <a:ea typeface="Cambria" panose="02040503050406030204" pitchFamily="18" charset="0"/>
              </a:rPr>
              <a:t>More Examples:</a:t>
            </a:r>
          </a:p>
          <a:p>
            <a:pPr algn="just">
              <a:spcBef>
                <a:spcPts val="300"/>
              </a:spcBef>
              <a:defRPr/>
            </a:pPr>
            <a:r>
              <a:rPr lang="en-US" sz="2400" dirty="0">
                <a:solidFill>
                  <a:srgbClr val="0000FF"/>
                </a:solidFill>
                <a:latin typeface="Cambria" panose="02040503050406030204" pitchFamily="18" charset="0"/>
                <a:ea typeface="Cambria" panose="02040503050406030204" pitchFamily="18" charset="0"/>
              </a:rPr>
              <a:t>Ex 1:</a:t>
            </a:r>
            <a:r>
              <a:rPr lang="en-US" sz="2400" dirty="0">
                <a:latin typeface="Cambria" panose="02040503050406030204" pitchFamily="18" charset="0"/>
                <a:ea typeface="Cambria" panose="02040503050406030204" pitchFamily="18" charset="0"/>
              </a:rPr>
              <a:t> PRJ (</a:t>
            </a:r>
            <a:r>
              <a:rPr lang="en-US" sz="2400" dirty="0" err="1">
                <a:latin typeface="Cambria" panose="02040503050406030204" pitchFamily="18" charset="0"/>
                <a:ea typeface="Cambria" panose="02040503050406030204" pitchFamily="18" charset="0"/>
              </a:rPr>
              <a:t>PNo</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PName</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PBudget</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EmpNo</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EName</a:t>
            </a:r>
            <a:r>
              <a:rPr lang="en-US" sz="2400" dirty="0">
                <a:latin typeface="Cambria" panose="02040503050406030204" pitchFamily="18" charset="0"/>
                <a:ea typeface="Cambria" panose="02040503050406030204" pitchFamily="18" charset="0"/>
              </a:rPr>
              <a:t>, Job, </a:t>
            </a:r>
            <a:r>
              <a:rPr lang="en-US" sz="2400" dirty="0" err="1">
                <a:latin typeface="Cambria" panose="02040503050406030204" pitchFamily="18" charset="0"/>
                <a:ea typeface="Cambria" panose="02040503050406030204" pitchFamily="18" charset="0"/>
              </a:rPr>
              <a:t>ChgHour</a:t>
            </a:r>
            <a:r>
              <a:rPr lang="en-US" sz="2400" dirty="0">
                <a:latin typeface="Cambria" panose="02040503050406030204" pitchFamily="18" charset="0"/>
                <a:ea typeface="Cambria" panose="02040503050406030204" pitchFamily="18" charset="0"/>
              </a:rPr>
              <a:t>, Hours)</a:t>
            </a:r>
          </a:p>
          <a:p>
            <a:pPr algn="just">
              <a:spcBef>
                <a:spcPts val="300"/>
              </a:spcBef>
              <a:defRPr/>
            </a:pPr>
            <a:r>
              <a:rPr lang="en-US" sz="2400" dirty="0">
                <a:solidFill>
                  <a:srgbClr val="0000FF"/>
                </a:solidFill>
                <a:latin typeface="Cambria" panose="02040503050406030204" pitchFamily="18" charset="0"/>
                <a:ea typeface="Cambria" panose="02040503050406030204" pitchFamily="18" charset="0"/>
              </a:rPr>
              <a:t>Ex2: </a:t>
            </a:r>
            <a:r>
              <a:rPr lang="en-US" sz="2400" dirty="0">
                <a:latin typeface="Cambria" panose="02040503050406030204" pitchFamily="18" charset="0"/>
                <a:ea typeface="Cambria" panose="02040503050406030204" pitchFamily="18" charset="0"/>
              </a:rPr>
              <a:t>STD (</a:t>
            </a:r>
            <a:r>
              <a:rPr lang="en-US" sz="2400" dirty="0" err="1">
                <a:latin typeface="Cambria" panose="02040503050406030204" pitchFamily="18" charset="0"/>
                <a:ea typeface="Cambria" panose="02040503050406030204" pitchFamily="18" charset="0"/>
              </a:rPr>
              <a:t>stId</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stName</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stAdr</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prName</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prCrdts</a:t>
            </a:r>
            <a:r>
              <a:rPr lang="en-US" sz="2400" dirty="0">
                <a:latin typeface="Cambria" panose="02040503050406030204" pitchFamily="18" charset="0"/>
                <a:ea typeface="Cambria" panose="02040503050406030204" pitchFamily="18" charset="0"/>
              </a:rPr>
              <a:t>)</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0" indent="0" algn="just">
              <a:spcBef>
                <a:spcPts val="300"/>
              </a:spcBef>
              <a:buNone/>
              <a:defRPr/>
            </a:pPr>
            <a:endParaRPr lang="en-US" sz="24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0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0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111A30E0-E2D8-14E3-DC42-0DB4658D9DE3}"/>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C73565C1-36F9-D513-5EF1-F98DCC63A3DD}"/>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75781642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1974D-62ED-1B63-7D53-EB4A69AC6518}"/>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62052FA4-1427-644F-691E-372D25288E0D}"/>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Third Normal Form (3NF)</a:t>
            </a:r>
          </a:p>
        </p:txBody>
      </p:sp>
      <p:sp>
        <p:nvSpPr>
          <p:cNvPr id="10243" name="Rectangle 3">
            <a:extLst>
              <a:ext uri="{FF2B5EF4-FFF2-40B4-BE49-F238E27FC236}">
                <a16:creationId xmlns:a16="http://schemas.microsoft.com/office/drawing/2014/main" id="{44465B04-8E70-92AE-A4F4-14EE6FF2A2B3}"/>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The process of transforming a table into 3NF is:</a:t>
            </a:r>
          </a:p>
          <a:p>
            <a:pPr algn="just">
              <a:spcBef>
                <a:spcPts val="300"/>
              </a:spcBef>
              <a:defRPr/>
            </a:pPr>
            <a:r>
              <a:rPr lang="en-US" sz="2400" dirty="0">
                <a:latin typeface="Cambria" panose="02040503050406030204" pitchFamily="18" charset="0"/>
                <a:ea typeface="Cambria" panose="02040503050406030204" pitchFamily="18" charset="0"/>
              </a:rPr>
              <a:t>Identify any determinants, other the primary key, and the columns they determine.</a:t>
            </a:r>
          </a:p>
          <a:p>
            <a:pPr algn="just">
              <a:spcBef>
                <a:spcPts val="300"/>
              </a:spcBef>
              <a:defRPr/>
            </a:pPr>
            <a:r>
              <a:rPr lang="en-US" sz="2400" dirty="0">
                <a:latin typeface="Cambria" panose="02040503050406030204" pitchFamily="18" charset="0"/>
                <a:ea typeface="Cambria" panose="02040503050406030204" pitchFamily="18" charset="0"/>
              </a:rPr>
              <a:t>Create and name a new table for each determinant and the unique columns it determines.</a:t>
            </a:r>
          </a:p>
          <a:p>
            <a:pPr algn="just">
              <a:spcBef>
                <a:spcPts val="300"/>
              </a:spcBef>
              <a:defRPr/>
            </a:pPr>
            <a:r>
              <a:rPr lang="en-US" sz="2400" dirty="0">
                <a:latin typeface="Cambria" panose="02040503050406030204" pitchFamily="18" charset="0"/>
                <a:ea typeface="Cambria" panose="02040503050406030204" pitchFamily="18" charset="0"/>
              </a:rPr>
              <a:t>Move the determined columns from the original table to the new table. The determinate becomes the primary key of the new table.</a:t>
            </a:r>
          </a:p>
          <a:p>
            <a:pPr algn="just">
              <a:spcBef>
                <a:spcPts val="300"/>
              </a:spcBef>
              <a:defRPr/>
            </a:pPr>
            <a:r>
              <a:rPr lang="en-US" sz="2400" dirty="0">
                <a:latin typeface="Cambria" panose="02040503050406030204" pitchFamily="18" charset="0"/>
                <a:ea typeface="Cambria" panose="02040503050406030204" pitchFamily="18" charset="0"/>
              </a:rPr>
              <a:t>Delete the columns you just moved from the original table except for the determinate which will serve as a foreign key.</a:t>
            </a:r>
          </a:p>
          <a:p>
            <a:pPr algn="just">
              <a:spcBef>
                <a:spcPts val="300"/>
              </a:spcBef>
              <a:defRPr/>
            </a:pPr>
            <a:r>
              <a:rPr lang="en-US" sz="2400" dirty="0">
                <a:latin typeface="Cambria" panose="02040503050406030204" pitchFamily="18" charset="0"/>
                <a:ea typeface="Cambria" panose="02040503050406030204" pitchFamily="18" charset="0"/>
              </a:rPr>
              <a:t>The original table may be renamed to maintain semantic meaning.</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0" indent="0" algn="just">
              <a:spcBef>
                <a:spcPts val="300"/>
              </a:spcBef>
              <a:buNone/>
              <a:defRPr/>
            </a:pPr>
            <a:endParaRPr lang="en-US" sz="24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0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0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C94A1439-7FBD-B25A-4673-630DD8AD209E}"/>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D713EB50-0833-1365-488D-246A0BFEEB7B}"/>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97986817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8161B-FA65-838B-E2D8-1DEC2314268E}"/>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8AF057B2-BC6D-B54A-0872-27EAC57DCE79}"/>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Practice Problems</a:t>
            </a:r>
          </a:p>
        </p:txBody>
      </p:sp>
      <p:sp>
        <p:nvSpPr>
          <p:cNvPr id="10243" name="Rectangle 3">
            <a:extLst>
              <a:ext uri="{FF2B5EF4-FFF2-40B4-BE49-F238E27FC236}">
                <a16:creationId xmlns:a16="http://schemas.microsoft.com/office/drawing/2014/main" id="{2D01F161-7615-017A-5B45-64C8048A35C6}"/>
              </a:ext>
            </a:extLst>
          </p:cNvPr>
          <p:cNvSpPr>
            <a:spLocks noGrp="1" noChangeArrowheads="1"/>
          </p:cNvSpPr>
          <p:nvPr>
            <p:ph type="body" idx="1"/>
          </p:nvPr>
        </p:nvSpPr>
        <p:spPr>
          <a:xfrm>
            <a:off x="412751" y="682972"/>
            <a:ext cx="8407721" cy="5194300"/>
          </a:xfrm>
        </p:spPr>
        <p:txBody>
          <a:bodyPr/>
          <a:lstStyle/>
          <a:p>
            <a:pPr marL="0" indent="0" algn="just">
              <a:spcBef>
                <a:spcPts val="300"/>
              </a:spcBef>
              <a:buNone/>
              <a:defRPr/>
            </a:pPr>
            <a:r>
              <a:rPr lang="en-US" sz="2400" dirty="0">
                <a:solidFill>
                  <a:srgbClr val="0000FF"/>
                </a:solidFill>
                <a:latin typeface="Cambria" panose="02040503050406030204" pitchFamily="18" charset="0"/>
                <a:ea typeface="Cambria" panose="02040503050406030204" pitchFamily="18" charset="0"/>
              </a:rPr>
              <a:t>1. Invoice Relation: </a:t>
            </a:r>
          </a:p>
          <a:p>
            <a:pPr marL="0" indent="0" algn="just">
              <a:spcBef>
                <a:spcPts val="300"/>
              </a:spcBef>
              <a:buNone/>
              <a:defRPr/>
            </a:pPr>
            <a:r>
              <a:rPr lang="en-US" sz="2400" dirty="0" err="1">
                <a:latin typeface="Cambria" panose="02040503050406030204" pitchFamily="18" charset="0"/>
                <a:ea typeface="Cambria" panose="02040503050406030204" pitchFamily="18" charset="0"/>
              </a:rPr>
              <a:t>InvNo</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InvDate</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PaymentMode</a:t>
            </a:r>
            <a:r>
              <a:rPr lang="en-US" sz="2400" dirty="0">
                <a:latin typeface="Cambria" panose="02040503050406030204" pitchFamily="18" charset="0"/>
                <a:ea typeface="Cambria" panose="02040503050406030204" pitchFamily="18" charset="0"/>
              </a:rPr>
              <a:t>, InvTotal, </a:t>
            </a:r>
            <a:r>
              <a:rPr lang="en-US" sz="2400" dirty="0" err="1">
                <a:latin typeface="Cambria" panose="02040503050406030204" pitchFamily="18" charset="0"/>
                <a:ea typeface="Cambria" panose="02040503050406030204" pitchFamily="18" charset="0"/>
              </a:rPr>
              <a:t>CustNo</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CustName</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CustAddress</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ProductNo</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ProdName</a:t>
            </a:r>
            <a:r>
              <a:rPr lang="en-US" sz="2400" dirty="0">
                <a:latin typeface="Cambria" panose="02040503050406030204" pitchFamily="18" charset="0"/>
                <a:ea typeface="Cambria" panose="02040503050406030204" pitchFamily="18" charset="0"/>
              </a:rPr>
              <a:t>, Price, </a:t>
            </a:r>
            <a:r>
              <a:rPr lang="en-US" sz="2400" dirty="0" err="1">
                <a:latin typeface="Cambria" panose="02040503050406030204" pitchFamily="18" charset="0"/>
                <a:ea typeface="Cambria" panose="02040503050406030204" pitchFamily="18" charset="0"/>
              </a:rPr>
              <a:t>ProdQty</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QtyInHand</a:t>
            </a:r>
            <a:r>
              <a:rPr lang="en-US" sz="2400" dirty="0">
                <a:latin typeface="Cambria" panose="02040503050406030204" pitchFamily="18" charset="0"/>
                <a:ea typeface="Cambria" panose="02040503050406030204" pitchFamily="18" charset="0"/>
              </a:rPr>
              <a:t>  </a:t>
            </a:r>
          </a:p>
          <a:p>
            <a:pPr marL="0" indent="0" algn="just">
              <a:spcBef>
                <a:spcPts val="300"/>
              </a:spcBef>
              <a:buNone/>
              <a:defRPr/>
            </a:pPr>
            <a:endParaRPr lang="en-US" sz="2400" dirty="0">
              <a:latin typeface="Cambria" panose="02040503050406030204" pitchFamily="18" charset="0"/>
              <a:ea typeface="Cambria" panose="02040503050406030204" pitchFamily="18" charset="0"/>
            </a:endParaRPr>
          </a:p>
          <a:p>
            <a:pPr marL="0" indent="0" algn="just">
              <a:spcBef>
                <a:spcPts val="300"/>
              </a:spcBef>
              <a:buNone/>
              <a:defRPr/>
            </a:pPr>
            <a:r>
              <a:rPr lang="en-US" sz="2400" dirty="0">
                <a:solidFill>
                  <a:srgbClr val="0000FF"/>
                </a:solidFill>
                <a:latin typeface="Cambria" panose="02040503050406030204" pitchFamily="18" charset="0"/>
                <a:ea typeface="Cambria" panose="02040503050406030204" pitchFamily="18" charset="0"/>
              </a:rPr>
              <a:t>2. Student Relation: </a:t>
            </a:r>
          </a:p>
          <a:p>
            <a:pPr marL="0" indent="0" algn="just">
              <a:spcBef>
                <a:spcPts val="300"/>
              </a:spcBef>
              <a:buNone/>
              <a:defRPr/>
            </a:pPr>
            <a:r>
              <a:rPr lang="en-US" sz="2400" dirty="0" err="1">
                <a:latin typeface="Cambria" panose="02040503050406030204" pitchFamily="18" charset="0"/>
                <a:ea typeface="Cambria" panose="02040503050406030204" pitchFamily="18" charset="0"/>
              </a:rPr>
              <a:t>RegNo</a:t>
            </a:r>
            <a:r>
              <a:rPr lang="en-US" sz="2400" dirty="0">
                <a:latin typeface="Cambria" panose="02040503050406030204" pitchFamily="18" charset="0"/>
                <a:ea typeface="Cambria" panose="02040503050406030204" pitchFamily="18" charset="0"/>
              </a:rPr>
              <a:t>, Name, Address, Program, C-Code, C-Title, C-Grade, </a:t>
            </a:r>
          </a:p>
          <a:p>
            <a:pPr marL="0" indent="0" algn="just">
              <a:spcBef>
                <a:spcPts val="300"/>
              </a:spcBef>
              <a:buNone/>
              <a:defRPr/>
            </a:pPr>
            <a:r>
              <a:rPr lang="en-US" sz="2400" dirty="0">
                <a:latin typeface="Cambria" panose="02040503050406030204" pitchFamily="18" charset="0"/>
                <a:ea typeface="Cambria" panose="02040503050406030204" pitchFamily="18" charset="0"/>
              </a:rPr>
              <a:t>T-Code, T-Name</a:t>
            </a:r>
          </a:p>
          <a:p>
            <a:pPr marL="0" indent="0" algn="just">
              <a:spcBef>
                <a:spcPts val="300"/>
              </a:spcBef>
              <a:buNone/>
              <a:defRPr/>
            </a:pPr>
            <a:endParaRPr lang="en-US" sz="2400" dirty="0">
              <a:latin typeface="Cambria" panose="02040503050406030204" pitchFamily="18" charset="0"/>
              <a:ea typeface="Cambria" panose="02040503050406030204" pitchFamily="18" charset="0"/>
            </a:endParaRPr>
          </a:p>
          <a:p>
            <a:pPr marL="0" indent="0" algn="just">
              <a:spcBef>
                <a:spcPts val="300"/>
              </a:spcBef>
              <a:buNone/>
              <a:defRPr/>
            </a:pPr>
            <a:r>
              <a:rPr lang="en-US" sz="2400" dirty="0">
                <a:solidFill>
                  <a:srgbClr val="0000FF"/>
                </a:solidFill>
                <a:latin typeface="Cambria" panose="02040503050406030204" pitchFamily="18" charset="0"/>
                <a:ea typeface="Cambria" panose="02040503050406030204" pitchFamily="18" charset="0"/>
              </a:rPr>
              <a:t>3. Patient Relation:</a:t>
            </a:r>
            <a:r>
              <a:rPr lang="en-US" sz="2400" dirty="0">
                <a:latin typeface="Cambria" panose="02040503050406030204" pitchFamily="18" charset="0"/>
                <a:ea typeface="Cambria" panose="02040503050406030204" pitchFamily="18" charset="0"/>
              </a:rPr>
              <a:t> </a:t>
            </a:r>
          </a:p>
          <a:p>
            <a:pPr marL="0" indent="0" algn="just">
              <a:spcBef>
                <a:spcPts val="300"/>
              </a:spcBef>
              <a:buNone/>
              <a:defRPr/>
            </a:pPr>
            <a:r>
              <a:rPr lang="en-US" sz="2400" dirty="0" err="1">
                <a:latin typeface="Cambria" panose="02040503050406030204" pitchFamily="18" charset="0"/>
                <a:ea typeface="Cambria" panose="02040503050406030204" pitchFamily="18" charset="0"/>
              </a:rPr>
              <a:t>VisitNo</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VisitDate</a:t>
            </a:r>
            <a:r>
              <a:rPr lang="en-US" sz="2400" dirty="0">
                <a:latin typeface="Cambria" panose="02040503050406030204" pitchFamily="18" charset="0"/>
                <a:ea typeface="Cambria" panose="02040503050406030204" pitchFamily="18" charset="0"/>
              </a:rPr>
              <a:t>, PatNo, </a:t>
            </a:r>
            <a:r>
              <a:rPr lang="en-US" sz="2400" dirty="0" err="1">
                <a:latin typeface="Cambria" panose="02040503050406030204" pitchFamily="18" charset="0"/>
                <a:ea typeface="Cambria" panose="02040503050406030204" pitchFamily="18" charset="0"/>
              </a:rPr>
              <a:t>PatName</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PatAge</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DNo</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DName</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DSpeciality</a:t>
            </a:r>
            <a:r>
              <a:rPr lang="en-US" sz="2400" dirty="0">
                <a:latin typeface="Cambria" panose="02040503050406030204" pitchFamily="18" charset="0"/>
                <a:ea typeface="Cambria" panose="02040503050406030204" pitchFamily="18" charset="0"/>
              </a:rPr>
              <a:t>, Diagnosis</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0" indent="0" algn="just">
              <a:spcBef>
                <a:spcPts val="300"/>
              </a:spcBef>
              <a:buNone/>
              <a:defRPr/>
            </a:pPr>
            <a:endParaRPr lang="en-US" sz="24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0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0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3C7A17ED-C7F8-5A0E-7503-14DF95D0580C}"/>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C883DFC0-A8DC-94F9-4EFC-9BAA8CE58A73}"/>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45519859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072E8-08A8-328E-ADE9-647BCE0A9B15}"/>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5C706BC7-E64B-8933-6A3B-BB5B62AC3FB2}"/>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Boyce-Codd Normal Form (BCNF)</a:t>
            </a:r>
          </a:p>
        </p:txBody>
      </p:sp>
      <p:sp>
        <p:nvSpPr>
          <p:cNvPr id="10243" name="Rectangle 3">
            <a:extLst>
              <a:ext uri="{FF2B5EF4-FFF2-40B4-BE49-F238E27FC236}">
                <a16:creationId xmlns:a16="http://schemas.microsoft.com/office/drawing/2014/main" id="{CD0E149E-F86F-4387-85FB-C872350DC2C1}"/>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A relation is said to be in BCNF, </a:t>
            </a:r>
            <a:r>
              <a:rPr lang="en-US" sz="2400" dirty="0" err="1">
                <a:latin typeface="Cambria" panose="02040503050406030204" pitchFamily="18" charset="0"/>
                <a:ea typeface="Cambria" panose="02040503050406030204" pitchFamily="18" charset="0"/>
              </a:rPr>
              <a:t>iff</a:t>
            </a:r>
            <a:r>
              <a:rPr lang="en-US" sz="2400" dirty="0">
                <a:latin typeface="Cambria" panose="02040503050406030204" pitchFamily="18" charset="0"/>
                <a:ea typeface="Cambria" panose="02040503050406030204" pitchFamily="18" charset="0"/>
              </a:rPr>
              <a:t> every determinant is a candidate key or there is no overlapping of candidate keys. </a:t>
            </a:r>
          </a:p>
          <a:p>
            <a:pPr algn="just">
              <a:spcBef>
                <a:spcPts val="300"/>
              </a:spcBef>
              <a:defRPr/>
            </a:pPr>
            <a:r>
              <a:rPr lang="en-US" sz="2400" dirty="0">
                <a:latin typeface="Cambria" panose="02040503050406030204" pitchFamily="18" charset="0"/>
                <a:ea typeface="Cambria" panose="02040503050406030204" pitchFamily="18" charset="0"/>
              </a:rPr>
              <a:t>Whenever </a:t>
            </a:r>
            <a:r>
              <a:rPr lang="en-US" sz="2400" dirty="0">
                <a:solidFill>
                  <a:srgbClr val="0000FF"/>
                </a:solidFill>
                <a:latin typeface="Cambria" panose="02040503050406030204" pitchFamily="18" charset="0"/>
                <a:ea typeface="Cambria" panose="02040503050406030204" pitchFamily="18" charset="0"/>
              </a:rPr>
              <a:t>X</a:t>
            </a:r>
            <a:r>
              <a:rPr lang="en-US" sz="2400" dirty="0">
                <a:solidFill>
                  <a:srgbClr val="0000FF"/>
                </a:solidFill>
                <a:latin typeface="Cambria" panose="02040503050406030204" pitchFamily="18" charset="0"/>
                <a:ea typeface="Cambria" panose="02040503050406030204" pitchFamily="18" charset="0"/>
                <a:sym typeface="Wingdings" panose="05000000000000000000" pitchFamily="2" charset="2"/>
              </a:rPr>
              <a:t></a:t>
            </a:r>
            <a:r>
              <a:rPr lang="en-US" sz="2400" dirty="0">
                <a:solidFill>
                  <a:srgbClr val="0000FF"/>
                </a:solidFill>
                <a:latin typeface="Cambria" panose="02040503050406030204" pitchFamily="18" charset="0"/>
                <a:ea typeface="Cambria" panose="02040503050406030204" pitchFamily="18" charset="0"/>
              </a:rPr>
              <a:t>A </a:t>
            </a:r>
            <a:r>
              <a:rPr lang="en-US" sz="2400" dirty="0">
                <a:latin typeface="Cambria" panose="02040503050406030204" pitchFamily="18" charset="0"/>
                <a:ea typeface="Cambria" panose="02040503050406030204" pitchFamily="18" charset="0"/>
              </a:rPr>
              <a:t>exists, then X is a super key.  </a:t>
            </a:r>
          </a:p>
          <a:p>
            <a:pPr algn="just">
              <a:spcBef>
                <a:spcPts val="300"/>
              </a:spcBef>
              <a:defRPr/>
            </a:pPr>
            <a:r>
              <a:rPr lang="en-US" sz="2400" dirty="0">
                <a:latin typeface="Cambria" panose="02040503050406030204" pitchFamily="18" charset="0"/>
                <a:ea typeface="Cambria" panose="02040503050406030204" pitchFamily="18" charset="0"/>
              </a:rPr>
              <a:t>BCNF and 3NF are equivalent when the candidate keys of a table are atomic. </a:t>
            </a:r>
          </a:p>
          <a:p>
            <a:pPr algn="just">
              <a:spcBef>
                <a:spcPts val="300"/>
              </a:spcBef>
              <a:defRPr/>
            </a:pPr>
            <a:r>
              <a:rPr lang="en-US" sz="2400" dirty="0">
                <a:latin typeface="Cambria" panose="02040503050406030204" pitchFamily="18" charset="0"/>
                <a:ea typeface="Cambria" panose="02040503050406030204" pitchFamily="18" charset="0"/>
              </a:rPr>
              <a:t>BCNF differs from the 3NF only when there are more than one overlapping candidate keys. </a:t>
            </a:r>
          </a:p>
          <a:p>
            <a:pPr algn="just">
              <a:spcBef>
                <a:spcPts val="300"/>
              </a:spcBef>
              <a:defRPr/>
            </a:pPr>
            <a:r>
              <a:rPr lang="en-US" sz="2400" dirty="0">
                <a:latin typeface="Cambria" panose="02040503050406030204" pitchFamily="18" charset="0"/>
                <a:ea typeface="Cambria" panose="02040503050406030204" pitchFamily="18" charset="0"/>
              </a:rPr>
              <a:t>A 3NF relation is not in BCNF and this happens only if</a:t>
            </a:r>
          </a:p>
          <a:p>
            <a:pPr lvl="1" algn="just">
              <a:spcBef>
                <a:spcPts val="300"/>
              </a:spcBef>
              <a:defRPr/>
            </a:pPr>
            <a:r>
              <a:rPr lang="en-US" dirty="0">
                <a:solidFill>
                  <a:srgbClr val="0000FF"/>
                </a:solidFill>
                <a:latin typeface="Cambria" panose="02040503050406030204" pitchFamily="18" charset="0"/>
                <a:ea typeface="Cambria" panose="02040503050406030204" pitchFamily="18" charset="0"/>
              </a:rPr>
              <a:t>the candidate keys in the relation are composite keys</a:t>
            </a:r>
          </a:p>
          <a:p>
            <a:pPr lvl="1" algn="just">
              <a:spcBef>
                <a:spcPts val="300"/>
              </a:spcBef>
              <a:defRPr/>
            </a:pPr>
            <a:r>
              <a:rPr lang="en-US" dirty="0">
                <a:solidFill>
                  <a:srgbClr val="0000FF"/>
                </a:solidFill>
                <a:latin typeface="Cambria" panose="02040503050406030204" pitchFamily="18" charset="0"/>
                <a:ea typeface="Cambria" panose="02040503050406030204" pitchFamily="18" charset="0"/>
              </a:rPr>
              <a:t>there is more than one candidate key in the relation, and</a:t>
            </a:r>
          </a:p>
          <a:p>
            <a:pPr lvl="1" algn="just">
              <a:spcBef>
                <a:spcPts val="300"/>
              </a:spcBef>
              <a:defRPr/>
            </a:pPr>
            <a:r>
              <a:rPr lang="en-US" dirty="0">
                <a:solidFill>
                  <a:srgbClr val="0000FF"/>
                </a:solidFill>
                <a:latin typeface="Cambria" panose="02040503050406030204" pitchFamily="18" charset="0"/>
                <a:ea typeface="Cambria" panose="02040503050406030204" pitchFamily="18" charset="0"/>
              </a:rPr>
              <a:t>the keys are not disjoint, that is, some attributes in the keys are common</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0" indent="0" algn="just">
              <a:spcBef>
                <a:spcPts val="300"/>
              </a:spcBef>
              <a:buNone/>
              <a:defRPr/>
            </a:pPr>
            <a:endParaRPr lang="en-US" sz="24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0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0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17D3D08D-6D6D-B204-B0C4-0D3A1AA9D86D}"/>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B54DC4EC-2C2D-F4F0-EE36-83AE841CF3B6}"/>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872182841"/>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38930-6CB7-C9E9-5DC9-6BE97F2175AD}"/>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4E68FF38-F1C9-CCB9-EFCC-5B807480AE68}"/>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Boyce-Codd Normal Form (BCNF)</a:t>
            </a:r>
          </a:p>
        </p:txBody>
      </p:sp>
      <p:sp>
        <p:nvSpPr>
          <p:cNvPr id="10243" name="Rectangle 3">
            <a:extLst>
              <a:ext uri="{FF2B5EF4-FFF2-40B4-BE49-F238E27FC236}">
                <a16:creationId xmlns:a16="http://schemas.microsoft.com/office/drawing/2014/main" id="{E18512E3-596F-4527-B172-5B13C23B3885}"/>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Consider a relation </a:t>
            </a:r>
            <a:r>
              <a:rPr lang="en-US" sz="2400" dirty="0">
                <a:solidFill>
                  <a:srgbClr val="0000FF"/>
                </a:solidFill>
                <a:latin typeface="Cambria" panose="02040503050406030204" pitchFamily="18" charset="0"/>
                <a:ea typeface="Cambria" panose="02040503050406030204" pitchFamily="18" charset="0"/>
              </a:rPr>
              <a:t>R(A, B, C, D)</a:t>
            </a:r>
            <a:r>
              <a:rPr lang="en-US" sz="2400" dirty="0">
                <a:latin typeface="Cambria" panose="02040503050406030204" pitchFamily="18" charset="0"/>
                <a:ea typeface="Cambria" panose="02040503050406030204" pitchFamily="18" charset="0"/>
              </a:rPr>
              <a:t> such that </a:t>
            </a:r>
          </a:p>
          <a:p>
            <a:pPr marL="0" indent="0" algn="just">
              <a:spcBef>
                <a:spcPts val="300"/>
              </a:spcBef>
              <a:buNone/>
              <a:defRPr/>
            </a:pPr>
            <a:r>
              <a:rPr lang="en-US" sz="2400" dirty="0">
                <a:latin typeface="Cambria" panose="02040503050406030204" pitchFamily="18" charset="0"/>
                <a:ea typeface="Cambria" panose="02040503050406030204" pitchFamily="18" charset="0"/>
              </a:rPr>
              <a:t>	</a:t>
            </a:r>
            <a:r>
              <a:rPr lang="en-US" sz="2400" dirty="0">
                <a:solidFill>
                  <a:srgbClr val="0000FF"/>
                </a:solidFill>
                <a:latin typeface="Cambria" panose="02040503050406030204" pitchFamily="18" charset="0"/>
                <a:ea typeface="Cambria" panose="02040503050406030204" pitchFamily="18" charset="0"/>
              </a:rPr>
              <a:t>AB -&gt; CD</a:t>
            </a:r>
            <a:r>
              <a:rPr lang="en-US" sz="2400" dirty="0">
                <a:latin typeface="Cambria" panose="02040503050406030204" pitchFamily="18" charset="0"/>
                <a:ea typeface="Cambria" panose="02040503050406030204" pitchFamily="18" charset="0"/>
              </a:rPr>
              <a:t> and </a:t>
            </a:r>
            <a:r>
              <a:rPr lang="en-US" sz="2400" dirty="0">
                <a:solidFill>
                  <a:srgbClr val="0000FF"/>
                </a:solidFill>
                <a:latin typeface="Cambria" panose="02040503050406030204" pitchFamily="18" charset="0"/>
                <a:ea typeface="Cambria" panose="02040503050406030204" pitchFamily="18" charset="0"/>
              </a:rPr>
              <a:t>C -&gt; B</a:t>
            </a:r>
          </a:p>
          <a:p>
            <a:pPr algn="just">
              <a:spcBef>
                <a:spcPts val="300"/>
              </a:spcBef>
              <a:defRPr/>
            </a:pPr>
            <a:r>
              <a:rPr lang="en-US" sz="2400" dirty="0">
                <a:latin typeface="Cambria" panose="02040503050406030204" pitchFamily="18" charset="0"/>
                <a:ea typeface="Cambria" panose="02040503050406030204" pitchFamily="18" charset="0"/>
              </a:rPr>
              <a:t>The relation </a:t>
            </a:r>
            <a:r>
              <a:rPr lang="en-US" sz="2400" dirty="0">
                <a:solidFill>
                  <a:srgbClr val="0000FF"/>
                </a:solidFill>
                <a:latin typeface="Cambria" panose="02040503050406030204" pitchFamily="18" charset="0"/>
                <a:ea typeface="Cambria" panose="02040503050406030204" pitchFamily="18" charset="0"/>
              </a:rPr>
              <a:t>R</a:t>
            </a:r>
            <a:r>
              <a:rPr lang="en-US" sz="2400" dirty="0">
                <a:latin typeface="Cambria" panose="02040503050406030204" pitchFamily="18" charset="0"/>
                <a:ea typeface="Cambria" panose="02040503050406030204" pitchFamily="18" charset="0"/>
              </a:rPr>
              <a:t> has </a:t>
            </a:r>
            <a:r>
              <a:rPr lang="en-US" sz="2400" dirty="0">
                <a:solidFill>
                  <a:srgbClr val="FF0000"/>
                </a:solidFill>
                <a:latin typeface="Cambria" panose="02040503050406030204" pitchFamily="18" charset="0"/>
                <a:ea typeface="Cambria" panose="02040503050406030204" pitchFamily="18" charset="0"/>
              </a:rPr>
              <a:t>no partial dependency nor it contains transitive dependency. </a:t>
            </a:r>
            <a:r>
              <a:rPr lang="en-US" sz="2400" dirty="0">
                <a:latin typeface="Cambria" panose="02040503050406030204" pitchFamily="18" charset="0"/>
                <a:ea typeface="Cambria" panose="02040503050406030204" pitchFamily="18" charset="0"/>
              </a:rPr>
              <a:t>Thus the relation R is in 3NF. </a:t>
            </a:r>
          </a:p>
          <a:p>
            <a:pPr algn="just">
              <a:spcBef>
                <a:spcPts val="300"/>
              </a:spcBef>
              <a:defRPr/>
            </a:pPr>
            <a:r>
              <a:rPr lang="en-US" sz="2400" dirty="0">
                <a:latin typeface="Cambria" panose="02040503050406030204" pitchFamily="18" charset="0"/>
                <a:ea typeface="Cambria" panose="02040503050406030204" pitchFamily="18" charset="0"/>
              </a:rPr>
              <a:t>According to the Pseudo transitivity principle,  we can have a dependency </a:t>
            </a:r>
            <a:r>
              <a:rPr lang="en-US" sz="2400" dirty="0">
                <a:solidFill>
                  <a:srgbClr val="0000FF"/>
                </a:solidFill>
                <a:latin typeface="Cambria" panose="02040503050406030204" pitchFamily="18" charset="0"/>
                <a:ea typeface="Cambria" panose="02040503050406030204" pitchFamily="18" charset="0"/>
              </a:rPr>
              <a:t>AC → BD</a:t>
            </a:r>
            <a:r>
              <a:rPr lang="en-US" sz="2400" dirty="0">
                <a:latin typeface="Cambria" panose="02040503050406030204" pitchFamily="18" charset="0"/>
                <a:ea typeface="Cambria" panose="02040503050406030204" pitchFamily="18" charset="0"/>
              </a:rPr>
              <a:t> </a:t>
            </a:r>
          </a:p>
          <a:p>
            <a:pPr algn="just">
              <a:spcBef>
                <a:spcPts val="300"/>
              </a:spcBef>
              <a:defRPr/>
            </a:pPr>
            <a:r>
              <a:rPr lang="en-US" sz="2400" dirty="0">
                <a:latin typeface="Cambria" panose="02040503050406030204" pitchFamily="18" charset="0"/>
                <a:ea typeface="Cambria" panose="02040503050406030204" pitchFamily="18" charset="0"/>
              </a:rPr>
              <a:t>Since </a:t>
            </a:r>
            <a:r>
              <a:rPr lang="en-US" sz="2400" dirty="0">
                <a:solidFill>
                  <a:srgbClr val="0000FF"/>
                </a:solidFill>
                <a:latin typeface="Cambria" panose="02040503050406030204" pitchFamily="18" charset="0"/>
                <a:ea typeface="Cambria" panose="02040503050406030204" pitchFamily="18" charset="0"/>
              </a:rPr>
              <a:t>C → B,</a:t>
            </a:r>
            <a:r>
              <a:rPr lang="en-US" sz="2400" dirty="0">
                <a:latin typeface="Cambria" panose="02040503050406030204" pitchFamily="18" charset="0"/>
                <a:ea typeface="Cambria" panose="02040503050406030204" pitchFamily="18" charset="0"/>
              </a:rPr>
              <a:t> so we now have Partial Functional Dependency. Accordingly, we decompose the relation as:</a:t>
            </a:r>
          </a:p>
          <a:p>
            <a:pPr marL="274638" lvl="1" indent="0" algn="just">
              <a:spcBef>
                <a:spcPts val="300"/>
              </a:spcBef>
              <a:buNone/>
              <a:defRPr/>
            </a:pPr>
            <a:r>
              <a:rPr lang="en-US" dirty="0">
                <a:solidFill>
                  <a:srgbClr val="0000FF"/>
                </a:solidFill>
                <a:latin typeface="Cambria" panose="02040503050406030204" pitchFamily="18" charset="0"/>
                <a:ea typeface="Cambria" panose="02040503050406030204" pitchFamily="18" charset="0"/>
              </a:rPr>
              <a:t>R1 (</a:t>
            </a:r>
            <a:r>
              <a:rPr lang="en-US" u="sng" dirty="0">
                <a:solidFill>
                  <a:srgbClr val="0000FF"/>
                </a:solidFill>
                <a:latin typeface="Cambria" panose="02040503050406030204" pitchFamily="18" charset="0"/>
                <a:ea typeface="Cambria" panose="02040503050406030204" pitchFamily="18" charset="0"/>
              </a:rPr>
              <a:t>A, C,</a:t>
            </a:r>
            <a:r>
              <a:rPr lang="en-US" dirty="0">
                <a:solidFill>
                  <a:srgbClr val="0000FF"/>
                </a:solidFill>
                <a:latin typeface="Cambria" panose="02040503050406030204" pitchFamily="18" charset="0"/>
                <a:ea typeface="Cambria" panose="02040503050406030204" pitchFamily="18" charset="0"/>
              </a:rPr>
              <a:t> D)</a:t>
            </a:r>
            <a:r>
              <a:rPr lang="en-US" dirty="0">
                <a:latin typeface="Cambria" panose="02040503050406030204" pitchFamily="18" charset="0"/>
                <a:ea typeface="Cambria" panose="02040503050406030204" pitchFamily="18" charset="0"/>
              </a:rPr>
              <a:t> and </a:t>
            </a:r>
          </a:p>
          <a:p>
            <a:pPr marL="274638" lvl="1" indent="0" algn="just">
              <a:spcBef>
                <a:spcPts val="300"/>
              </a:spcBef>
              <a:buNone/>
              <a:defRPr/>
            </a:pPr>
            <a:r>
              <a:rPr lang="en-US" dirty="0">
                <a:solidFill>
                  <a:srgbClr val="0000FF"/>
                </a:solidFill>
                <a:latin typeface="Cambria" panose="02040503050406030204" pitchFamily="18" charset="0"/>
                <a:ea typeface="Cambria" panose="02040503050406030204" pitchFamily="18" charset="0"/>
              </a:rPr>
              <a:t>R2 (</a:t>
            </a:r>
            <a:r>
              <a:rPr lang="en-US" u="sng" dirty="0">
                <a:solidFill>
                  <a:srgbClr val="0000FF"/>
                </a:solidFill>
                <a:latin typeface="Cambria" panose="02040503050406030204" pitchFamily="18" charset="0"/>
                <a:ea typeface="Cambria" panose="02040503050406030204" pitchFamily="18" charset="0"/>
              </a:rPr>
              <a:t>C,</a:t>
            </a:r>
            <a:r>
              <a:rPr lang="en-US" dirty="0">
                <a:solidFill>
                  <a:srgbClr val="0000FF"/>
                </a:solidFill>
                <a:latin typeface="Cambria" panose="02040503050406030204" pitchFamily="18" charset="0"/>
                <a:ea typeface="Cambria" panose="02040503050406030204" pitchFamily="18" charset="0"/>
              </a:rPr>
              <a:t> B)</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0" indent="0" algn="just">
              <a:spcBef>
                <a:spcPts val="300"/>
              </a:spcBef>
              <a:buNone/>
              <a:defRPr/>
            </a:pPr>
            <a:endParaRPr lang="en-US" sz="24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0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0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B7E14E0E-56A3-C18C-93BE-4D399BA001B9}"/>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D805F7CF-C8E4-058D-72B8-0E4B9223984A}"/>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24</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54167873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CDEE7-4DFA-E4ED-53A8-2C4A31B090AE}"/>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44DC2B4B-AE62-2DDE-562A-5601E803D3AA}"/>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Boyce-Codd Normal Form (BCNF)</a:t>
            </a:r>
          </a:p>
        </p:txBody>
      </p:sp>
      <p:sp>
        <p:nvSpPr>
          <p:cNvPr id="3" name="Footer Placeholder 2">
            <a:extLst>
              <a:ext uri="{FF2B5EF4-FFF2-40B4-BE49-F238E27FC236}">
                <a16:creationId xmlns:a16="http://schemas.microsoft.com/office/drawing/2014/main" id="{21CC6347-093D-6678-AD70-1B97113C65AF}"/>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6FCC35A3-128B-FFC4-3F84-7D610FBDA84A}"/>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pic>
        <p:nvPicPr>
          <p:cNvPr id="5" name="Picture 4">
            <a:extLst>
              <a:ext uri="{FF2B5EF4-FFF2-40B4-BE49-F238E27FC236}">
                <a16:creationId xmlns:a16="http://schemas.microsoft.com/office/drawing/2014/main" id="{C58C72EE-ED78-BFFB-3941-9691637881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650" y="908720"/>
            <a:ext cx="7467600" cy="510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30831196"/>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D0D06-46A8-926F-533B-1BC697D73431}"/>
            </a:ext>
          </a:extLst>
        </p:cNvPr>
        <p:cNvGrpSpPr/>
        <p:nvPr/>
      </p:nvGrpSpPr>
      <p:grpSpPr>
        <a:xfrm>
          <a:off x="0" y="0"/>
          <a:ext cx="0" cy="0"/>
          <a:chOff x="0" y="0"/>
          <a:chExt cx="0" cy="0"/>
        </a:xfrm>
      </p:grpSpPr>
      <p:sp>
        <p:nvSpPr>
          <p:cNvPr id="35842" name="Rectangle 2">
            <a:extLst>
              <a:ext uri="{FF2B5EF4-FFF2-40B4-BE49-F238E27FC236}">
                <a16:creationId xmlns:a16="http://schemas.microsoft.com/office/drawing/2014/main" id="{08922399-9E2A-B40F-1D50-A671AC6D369E}"/>
              </a:ext>
            </a:extLst>
          </p:cNvPr>
          <p:cNvSpPr>
            <a:spLocks noGrp="1" noChangeArrowheads="1"/>
          </p:cNvSpPr>
          <p:nvPr>
            <p:ph type="title"/>
          </p:nvPr>
        </p:nvSpPr>
        <p:spPr>
          <a:xfrm>
            <a:off x="323850" y="349802"/>
            <a:ext cx="6048375" cy="504825"/>
          </a:xfrm>
          <a:noFill/>
        </p:spPr>
        <p:txBody>
          <a:bodyPr/>
          <a:lstStyle/>
          <a:p>
            <a:r>
              <a:rPr lang="en-US" altLang="en-US" sz="2800" b="1" u="sng" dirty="0">
                <a:solidFill>
                  <a:srgbClr val="D34817"/>
                </a:solidFill>
                <a:latin typeface="Cambria" panose="02040503050406030204" pitchFamily="18" charset="0"/>
                <a:ea typeface="Cambria" panose="02040503050406030204" pitchFamily="18" charset="0"/>
              </a:rPr>
              <a:t>Boyce-Codd Normal Form (BCNF)  </a:t>
            </a:r>
          </a:p>
        </p:txBody>
      </p:sp>
      <p:sp>
        <p:nvSpPr>
          <p:cNvPr id="26627" name="Rectangle 3">
            <a:extLst>
              <a:ext uri="{FF2B5EF4-FFF2-40B4-BE49-F238E27FC236}">
                <a16:creationId xmlns:a16="http://schemas.microsoft.com/office/drawing/2014/main" id="{44F7249F-E12C-27C7-501C-9B32D1C6DA14}"/>
              </a:ext>
            </a:extLst>
          </p:cNvPr>
          <p:cNvSpPr>
            <a:spLocks noGrp="1" noChangeArrowheads="1"/>
          </p:cNvSpPr>
          <p:nvPr>
            <p:ph type="body" idx="1"/>
          </p:nvPr>
        </p:nvSpPr>
        <p:spPr>
          <a:xfrm>
            <a:off x="323850" y="712688"/>
            <a:ext cx="8677275" cy="5308600"/>
          </a:xfrm>
        </p:spPr>
        <p:txBody>
          <a:bodyPr/>
          <a:lstStyle/>
          <a:p>
            <a:pPr>
              <a:spcBef>
                <a:spcPts val="300"/>
              </a:spcBef>
              <a:defRPr/>
            </a:pPr>
            <a:r>
              <a:rPr lang="en-US" sz="2200" dirty="0">
                <a:latin typeface="Cambria" panose="02040503050406030204" pitchFamily="18" charset="0"/>
                <a:ea typeface="Cambria" panose="02040503050406030204" pitchFamily="18" charset="0"/>
              </a:rPr>
              <a:t>Consider the following relation: </a:t>
            </a:r>
          </a:p>
          <a:p>
            <a:pPr>
              <a:spcBef>
                <a:spcPts val="300"/>
              </a:spcBef>
              <a:buFontTx/>
              <a:buNone/>
              <a:defRPr/>
            </a:pPr>
            <a:r>
              <a:rPr lang="en-US" sz="2200" dirty="0">
                <a:latin typeface="Cambria" panose="02040503050406030204" pitchFamily="18" charset="0"/>
                <a:ea typeface="Cambria" panose="02040503050406030204" pitchFamily="18" charset="0"/>
              </a:rPr>
              <a:t>	</a:t>
            </a:r>
            <a:r>
              <a:rPr lang="en-US" sz="2200" dirty="0">
                <a:solidFill>
                  <a:srgbClr val="0000FF"/>
                </a:solidFill>
                <a:latin typeface="Cambria" panose="02040503050406030204" pitchFamily="18" charset="0"/>
                <a:ea typeface="Cambria" panose="02040503050406030204" pitchFamily="18" charset="0"/>
              </a:rPr>
              <a:t>PROJECT (</a:t>
            </a:r>
            <a:r>
              <a:rPr lang="en-US" sz="2200" u="sng" dirty="0" err="1">
                <a:solidFill>
                  <a:srgbClr val="0000FF"/>
                </a:solidFill>
                <a:latin typeface="Cambria" panose="02040503050406030204" pitchFamily="18" charset="0"/>
                <a:ea typeface="Cambria" panose="02040503050406030204" pitchFamily="18" charset="0"/>
              </a:rPr>
              <a:t>RegNo</a:t>
            </a:r>
            <a:r>
              <a:rPr lang="en-US" sz="2200" u="sng" dirty="0">
                <a:solidFill>
                  <a:srgbClr val="0000FF"/>
                </a:solidFill>
                <a:latin typeface="Cambria" panose="02040503050406030204" pitchFamily="18" charset="0"/>
                <a:ea typeface="Cambria" panose="02040503050406030204" pitchFamily="18" charset="0"/>
              </a:rPr>
              <a:t>, </a:t>
            </a:r>
            <a:r>
              <a:rPr lang="en-US" sz="2200" u="sng" dirty="0" err="1">
                <a:solidFill>
                  <a:srgbClr val="0000FF"/>
                </a:solidFill>
                <a:latin typeface="Cambria" panose="02040503050406030204" pitchFamily="18" charset="0"/>
                <a:ea typeface="Cambria" panose="02040503050406030204" pitchFamily="18" charset="0"/>
              </a:rPr>
              <a:t>ProjModule</a:t>
            </a:r>
            <a:r>
              <a:rPr lang="en-US" sz="2200" dirty="0">
                <a:solidFill>
                  <a:srgbClr val="0000FF"/>
                </a:solidFill>
                <a:latin typeface="Cambria" panose="02040503050406030204" pitchFamily="18" charset="0"/>
                <a:ea typeface="Cambria" panose="02040503050406030204" pitchFamily="18" charset="0"/>
              </a:rPr>
              <a:t>, </a:t>
            </a:r>
            <a:r>
              <a:rPr lang="en-US" sz="2200" dirty="0" err="1">
                <a:solidFill>
                  <a:srgbClr val="0000FF"/>
                </a:solidFill>
                <a:latin typeface="Cambria" panose="02040503050406030204" pitchFamily="18" charset="0"/>
                <a:ea typeface="Cambria" panose="02040503050406030204" pitchFamily="18" charset="0"/>
              </a:rPr>
              <a:t>Supervisor,ModuleGrade</a:t>
            </a:r>
            <a:r>
              <a:rPr lang="en-US" sz="2200" dirty="0">
                <a:solidFill>
                  <a:srgbClr val="0000FF"/>
                </a:solidFill>
                <a:latin typeface="Cambria" panose="02040503050406030204" pitchFamily="18" charset="0"/>
                <a:ea typeface="Cambria" panose="02040503050406030204" pitchFamily="18" charset="0"/>
              </a:rPr>
              <a:t>)</a:t>
            </a:r>
          </a:p>
          <a:p>
            <a:pPr>
              <a:spcBef>
                <a:spcPts val="300"/>
              </a:spcBef>
              <a:buFontTx/>
              <a:buNone/>
              <a:defRPr/>
            </a:pPr>
            <a:r>
              <a:rPr lang="en-US" sz="2200" u="sng" dirty="0">
                <a:solidFill>
                  <a:srgbClr val="FF0000"/>
                </a:solidFill>
                <a:latin typeface="Cambria" panose="02040503050406030204" pitchFamily="18" charset="0"/>
                <a:ea typeface="Cambria" panose="02040503050406030204" pitchFamily="18" charset="0"/>
              </a:rPr>
              <a:t>Constraints:</a:t>
            </a:r>
          </a:p>
          <a:p>
            <a:pPr>
              <a:spcBef>
                <a:spcPts val="300"/>
              </a:spcBef>
              <a:buFontTx/>
              <a:buAutoNum type="arabicPeriod"/>
              <a:defRPr/>
            </a:pPr>
            <a:r>
              <a:rPr lang="en-US" sz="2200" dirty="0">
                <a:solidFill>
                  <a:srgbClr val="0000FF"/>
                </a:solidFill>
                <a:latin typeface="Cambria" panose="02040503050406030204" pitchFamily="18" charset="0"/>
                <a:ea typeface="Cambria" panose="02040503050406030204" pitchFamily="18" charset="0"/>
              </a:rPr>
              <a:t>A project consists of multiple modules (</a:t>
            </a:r>
            <a:r>
              <a:rPr lang="en-US" sz="2200" dirty="0" err="1">
                <a:solidFill>
                  <a:srgbClr val="0000FF"/>
                </a:solidFill>
                <a:latin typeface="Cambria" panose="02040503050406030204" pitchFamily="18" charset="0"/>
                <a:ea typeface="Cambria" panose="02040503050406030204" pitchFamily="18" charset="0"/>
              </a:rPr>
              <a:t>ProjModule</a:t>
            </a:r>
            <a:r>
              <a:rPr lang="en-US" sz="2200" dirty="0">
                <a:solidFill>
                  <a:srgbClr val="0000FF"/>
                </a:solidFill>
                <a:latin typeface="Cambria" panose="02040503050406030204" pitchFamily="18" charset="0"/>
                <a:ea typeface="Cambria" panose="02040503050406030204" pitchFamily="18" charset="0"/>
              </a:rPr>
              <a:t>). </a:t>
            </a:r>
          </a:p>
          <a:p>
            <a:pPr>
              <a:spcBef>
                <a:spcPts val="300"/>
              </a:spcBef>
              <a:buFontTx/>
              <a:buAutoNum type="arabicPeriod"/>
              <a:defRPr/>
            </a:pPr>
            <a:r>
              <a:rPr lang="en-US" sz="2200" dirty="0">
                <a:solidFill>
                  <a:srgbClr val="0000FF"/>
                </a:solidFill>
                <a:latin typeface="Cambria" panose="02040503050406030204" pitchFamily="18" charset="0"/>
                <a:ea typeface="Cambria" panose="02040503050406030204" pitchFamily="18" charset="0"/>
              </a:rPr>
              <a:t>For each module, a student has only one supervisor. </a:t>
            </a:r>
          </a:p>
          <a:p>
            <a:pPr>
              <a:spcBef>
                <a:spcPts val="300"/>
              </a:spcBef>
              <a:buFontTx/>
              <a:buAutoNum type="arabicPeriod"/>
              <a:defRPr/>
            </a:pPr>
            <a:r>
              <a:rPr lang="en-US" sz="2200" dirty="0">
                <a:solidFill>
                  <a:srgbClr val="0000FF"/>
                </a:solidFill>
                <a:latin typeface="Cambria" panose="02040503050406030204" pitchFamily="18" charset="0"/>
                <a:ea typeface="Cambria" panose="02040503050406030204" pitchFamily="18" charset="0"/>
              </a:rPr>
              <a:t>Each supervisor can supervise only module. </a:t>
            </a:r>
          </a:p>
          <a:p>
            <a:pPr>
              <a:spcBef>
                <a:spcPts val="300"/>
              </a:spcBef>
              <a:defRPr/>
            </a:pPr>
            <a:r>
              <a:rPr lang="en-US" sz="2200" dirty="0">
                <a:latin typeface="Cambria" panose="02040503050406030204" pitchFamily="18" charset="0"/>
                <a:ea typeface="Cambria" panose="02040503050406030204" pitchFamily="18" charset="0"/>
              </a:rPr>
              <a:t>In the above relation, no single attribute is a PK.</a:t>
            </a:r>
          </a:p>
          <a:p>
            <a:pPr>
              <a:spcBef>
                <a:spcPts val="300"/>
              </a:spcBef>
              <a:defRPr/>
            </a:pPr>
            <a:r>
              <a:rPr lang="en-US" sz="2200" dirty="0">
                <a:latin typeface="Cambria" panose="02040503050406030204" pitchFamily="18" charset="0"/>
                <a:ea typeface="Cambria" panose="02040503050406030204" pitchFamily="18" charset="0"/>
              </a:rPr>
              <a:t>Possible candidate keys are </a:t>
            </a:r>
            <a:r>
              <a:rPr lang="en-US" sz="2200" dirty="0" err="1">
                <a:solidFill>
                  <a:srgbClr val="FF0000"/>
                </a:solidFill>
                <a:latin typeface="Cambria" panose="02040503050406030204" pitchFamily="18" charset="0"/>
                <a:ea typeface="Cambria" panose="02040503050406030204" pitchFamily="18" charset="0"/>
              </a:rPr>
              <a:t>RegNo</a:t>
            </a:r>
            <a:r>
              <a:rPr lang="en-US" sz="2200" dirty="0">
                <a:solidFill>
                  <a:srgbClr val="FF0000"/>
                </a:solidFill>
                <a:latin typeface="Cambria" panose="02040503050406030204" pitchFamily="18" charset="0"/>
                <a:ea typeface="Cambria" panose="02040503050406030204" pitchFamily="18" charset="0"/>
              </a:rPr>
              <a:t>, </a:t>
            </a:r>
            <a:r>
              <a:rPr lang="en-US" sz="2200" dirty="0" err="1">
                <a:solidFill>
                  <a:srgbClr val="FF0000"/>
                </a:solidFill>
                <a:latin typeface="Cambria" panose="02040503050406030204" pitchFamily="18" charset="0"/>
                <a:ea typeface="Cambria" panose="02040503050406030204" pitchFamily="18" charset="0"/>
              </a:rPr>
              <a:t>ProjModule</a:t>
            </a:r>
            <a:r>
              <a:rPr lang="en-US" sz="2200" dirty="0">
                <a:latin typeface="Cambria" panose="02040503050406030204" pitchFamily="18" charset="0"/>
                <a:ea typeface="Cambria" panose="02040503050406030204" pitchFamily="18" charset="0"/>
              </a:rPr>
              <a:t> and </a:t>
            </a:r>
            <a:r>
              <a:rPr lang="en-US" sz="2200" dirty="0" err="1">
                <a:solidFill>
                  <a:srgbClr val="FF0000"/>
                </a:solidFill>
                <a:latin typeface="Cambria" panose="02040503050406030204" pitchFamily="18" charset="0"/>
                <a:ea typeface="Cambria" panose="02040503050406030204" pitchFamily="18" charset="0"/>
              </a:rPr>
              <a:t>RegNo</a:t>
            </a:r>
            <a:r>
              <a:rPr lang="en-US" sz="2200" dirty="0">
                <a:solidFill>
                  <a:srgbClr val="FF0000"/>
                </a:solidFill>
                <a:latin typeface="Cambria" panose="02040503050406030204" pitchFamily="18" charset="0"/>
                <a:ea typeface="Cambria" panose="02040503050406030204" pitchFamily="18" charset="0"/>
              </a:rPr>
              <a:t>, Supervisor.</a:t>
            </a:r>
            <a:r>
              <a:rPr lang="en-US" sz="2200" dirty="0">
                <a:latin typeface="Cambria" panose="02040503050406030204" pitchFamily="18" charset="0"/>
                <a:ea typeface="Cambria" panose="02040503050406030204" pitchFamily="18" charset="0"/>
              </a:rPr>
              <a:t> </a:t>
            </a:r>
          </a:p>
          <a:p>
            <a:pPr>
              <a:spcBef>
                <a:spcPts val="300"/>
              </a:spcBef>
              <a:defRPr/>
            </a:pPr>
            <a:r>
              <a:rPr lang="en-US" sz="2200" dirty="0">
                <a:latin typeface="Cambria" panose="02040503050406030204" pitchFamily="18" charset="0"/>
                <a:ea typeface="Cambria" panose="02040503050406030204" pitchFamily="18" charset="0"/>
              </a:rPr>
              <a:t>The candidate keys overlap as they share </a:t>
            </a:r>
            <a:r>
              <a:rPr lang="en-US" sz="2200" dirty="0" err="1">
                <a:latin typeface="Cambria" panose="02040503050406030204" pitchFamily="18" charset="0"/>
                <a:ea typeface="Cambria" panose="02040503050406030204" pitchFamily="18" charset="0"/>
              </a:rPr>
              <a:t>RegNo</a:t>
            </a:r>
            <a:r>
              <a:rPr lang="en-US" sz="2200" dirty="0">
                <a:latin typeface="Cambria" panose="02040503050406030204" pitchFamily="18" charset="0"/>
                <a:ea typeface="Cambria" panose="02040503050406030204" pitchFamily="18" charset="0"/>
              </a:rPr>
              <a:t>.</a:t>
            </a:r>
          </a:p>
          <a:p>
            <a:pPr>
              <a:spcBef>
                <a:spcPts val="300"/>
              </a:spcBef>
              <a:defRPr/>
            </a:pPr>
            <a:r>
              <a:rPr lang="en-US" sz="2200" dirty="0">
                <a:latin typeface="Cambria" panose="02040503050406030204" pitchFamily="18" charset="0"/>
                <a:ea typeface="Cambria" panose="02040503050406030204" pitchFamily="18" charset="0"/>
              </a:rPr>
              <a:t>The functional dependencies are:</a:t>
            </a:r>
          </a:p>
          <a:p>
            <a:pPr>
              <a:spcBef>
                <a:spcPts val="300"/>
              </a:spcBef>
              <a:buFontTx/>
              <a:buNone/>
              <a:defRPr/>
            </a:pPr>
            <a:r>
              <a:rPr lang="en-US" sz="2200" dirty="0">
                <a:latin typeface="Cambria" panose="02040503050406030204" pitchFamily="18" charset="0"/>
                <a:ea typeface="Cambria" panose="02040503050406030204" pitchFamily="18" charset="0"/>
              </a:rPr>
              <a:t>	</a:t>
            </a:r>
            <a:r>
              <a:rPr lang="en-US" sz="2200" dirty="0" err="1">
                <a:solidFill>
                  <a:srgbClr val="FF0000"/>
                </a:solidFill>
                <a:latin typeface="Cambria" panose="02040503050406030204" pitchFamily="18" charset="0"/>
                <a:ea typeface="Cambria" panose="02040503050406030204" pitchFamily="18" charset="0"/>
              </a:rPr>
              <a:t>RegNo</a:t>
            </a:r>
            <a:r>
              <a:rPr lang="en-US" sz="2200" dirty="0">
                <a:solidFill>
                  <a:srgbClr val="FF0000"/>
                </a:solidFill>
                <a:latin typeface="Cambria" panose="02040503050406030204" pitchFamily="18" charset="0"/>
                <a:ea typeface="Cambria" panose="02040503050406030204" pitchFamily="18" charset="0"/>
              </a:rPr>
              <a:t>, </a:t>
            </a:r>
            <a:r>
              <a:rPr lang="en-US" sz="2200" dirty="0" err="1">
                <a:solidFill>
                  <a:srgbClr val="FF0000"/>
                </a:solidFill>
                <a:latin typeface="Cambria" panose="02040503050406030204" pitchFamily="18" charset="0"/>
                <a:ea typeface="Cambria" panose="02040503050406030204" pitchFamily="18" charset="0"/>
              </a:rPr>
              <a:t>ProjModule</a:t>
            </a:r>
            <a:r>
              <a:rPr lang="en-US" sz="2200" dirty="0">
                <a:solidFill>
                  <a:srgbClr val="FF0000"/>
                </a:solidFill>
                <a:latin typeface="Cambria" panose="02040503050406030204" pitchFamily="18" charset="0"/>
                <a:ea typeface="Cambria" panose="02040503050406030204" pitchFamily="18" charset="0"/>
              </a:rPr>
              <a:t>  -&gt; Supervisor, </a:t>
            </a:r>
            <a:r>
              <a:rPr lang="en-US" sz="2200" dirty="0" err="1">
                <a:solidFill>
                  <a:srgbClr val="FF0000"/>
                </a:solidFill>
                <a:latin typeface="Cambria" panose="02040503050406030204" pitchFamily="18" charset="0"/>
                <a:ea typeface="Cambria" panose="02040503050406030204" pitchFamily="18" charset="0"/>
              </a:rPr>
              <a:t>ModuleGrade</a:t>
            </a:r>
            <a:endParaRPr lang="en-US" sz="2200" dirty="0">
              <a:solidFill>
                <a:srgbClr val="FF0000"/>
              </a:solidFill>
              <a:latin typeface="Cambria" panose="02040503050406030204" pitchFamily="18" charset="0"/>
              <a:ea typeface="Cambria" panose="02040503050406030204" pitchFamily="18" charset="0"/>
            </a:endParaRPr>
          </a:p>
          <a:p>
            <a:pPr>
              <a:spcBef>
                <a:spcPts val="300"/>
              </a:spcBef>
              <a:buFontTx/>
              <a:buNone/>
              <a:defRPr/>
            </a:pPr>
            <a:r>
              <a:rPr lang="en-US" sz="2200" dirty="0">
                <a:solidFill>
                  <a:srgbClr val="FF0000"/>
                </a:solidFill>
                <a:latin typeface="Cambria" panose="02040503050406030204" pitchFamily="18" charset="0"/>
                <a:ea typeface="Cambria" panose="02040503050406030204" pitchFamily="18" charset="0"/>
              </a:rPr>
              <a:t>	Supervisor -&gt; </a:t>
            </a:r>
            <a:r>
              <a:rPr lang="en-US" sz="2200" dirty="0" err="1">
                <a:solidFill>
                  <a:srgbClr val="FF0000"/>
                </a:solidFill>
                <a:latin typeface="Cambria" panose="02040503050406030204" pitchFamily="18" charset="0"/>
                <a:ea typeface="Cambria" panose="02040503050406030204" pitchFamily="18" charset="0"/>
              </a:rPr>
              <a:t>ProjModule</a:t>
            </a:r>
            <a:endParaRPr lang="en-US" sz="2200" dirty="0">
              <a:solidFill>
                <a:srgbClr val="FF0000"/>
              </a:solidFill>
              <a:latin typeface="Cambria" panose="02040503050406030204" pitchFamily="18" charset="0"/>
              <a:ea typeface="Cambria" panose="02040503050406030204" pitchFamily="18" charset="0"/>
            </a:endParaRPr>
          </a:p>
          <a:p>
            <a:pPr>
              <a:spcBef>
                <a:spcPts val="300"/>
              </a:spcBef>
              <a:defRPr/>
            </a:pPr>
            <a:r>
              <a:rPr lang="en-US" sz="2200" dirty="0">
                <a:latin typeface="Cambria" panose="02040503050406030204" pitchFamily="18" charset="0"/>
                <a:ea typeface="Cambria" panose="02040503050406030204" pitchFamily="18" charset="0"/>
              </a:rPr>
              <a:t>The anomalies result from the fact that there is a determinant (Supervisor) that is not a candidate key in the relation. </a:t>
            </a:r>
          </a:p>
          <a:p>
            <a:pPr marL="609600" indent="-609600">
              <a:spcBef>
                <a:spcPts val="300"/>
              </a:spcBef>
              <a:defRPr/>
            </a:pPr>
            <a:endParaRPr lang="en-US" sz="2200" dirty="0">
              <a:latin typeface="Cambria" panose="02040503050406030204" pitchFamily="18" charset="0"/>
              <a:ea typeface="Cambria" panose="02040503050406030204" pitchFamily="18" charset="0"/>
            </a:endParaRPr>
          </a:p>
        </p:txBody>
      </p:sp>
      <p:sp>
        <p:nvSpPr>
          <p:cNvPr id="2" name="Footer Placeholder 2">
            <a:extLst>
              <a:ext uri="{FF2B5EF4-FFF2-40B4-BE49-F238E27FC236}">
                <a16:creationId xmlns:a16="http://schemas.microsoft.com/office/drawing/2014/main" id="{BD2A6603-40ED-A976-44F2-E9BF80721BA2}"/>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3" name="Slide Number Placeholder 23">
            <a:extLst>
              <a:ext uri="{FF2B5EF4-FFF2-40B4-BE49-F238E27FC236}">
                <a16:creationId xmlns:a16="http://schemas.microsoft.com/office/drawing/2014/main" id="{C637262D-AFCE-E99A-6F84-885CF0DED12D}"/>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22183261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ACCB9-9BCE-DB6C-822B-65E01624061F}"/>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7B098242-498D-8E41-5F11-2A484939C944}"/>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Boyce-Codd Normal Form (BCNF)</a:t>
            </a:r>
          </a:p>
        </p:txBody>
      </p:sp>
      <p:sp>
        <p:nvSpPr>
          <p:cNvPr id="10243" name="Rectangle 3">
            <a:extLst>
              <a:ext uri="{FF2B5EF4-FFF2-40B4-BE49-F238E27FC236}">
                <a16:creationId xmlns:a16="http://schemas.microsoft.com/office/drawing/2014/main" id="{37463746-9989-D966-EDB8-84913726FD93}"/>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The Anomalies associated with the course relation are: </a:t>
            </a:r>
          </a:p>
          <a:p>
            <a:pPr marL="0" indent="0" algn="just">
              <a:spcBef>
                <a:spcPts val="300"/>
              </a:spcBef>
              <a:buNone/>
              <a:defRPr/>
            </a:pPr>
            <a:r>
              <a:rPr lang="en-US" sz="2400" dirty="0">
                <a:solidFill>
                  <a:srgbClr val="0000FF"/>
                </a:solidFill>
                <a:latin typeface="Cambria" panose="02040503050406030204" pitchFamily="18" charset="0"/>
                <a:ea typeface="Cambria" panose="02040503050406030204" pitchFamily="18" charset="0"/>
              </a:rPr>
              <a:t>a) Insert Anomaly: </a:t>
            </a:r>
          </a:p>
          <a:p>
            <a:pPr algn="just">
              <a:spcBef>
                <a:spcPts val="300"/>
              </a:spcBef>
              <a:defRPr/>
            </a:pPr>
            <a:r>
              <a:rPr lang="en-US" sz="2400" dirty="0">
                <a:latin typeface="Cambria" panose="02040503050406030204" pitchFamily="18" charset="0"/>
                <a:ea typeface="Cambria" panose="02040503050406030204" pitchFamily="18" charset="0"/>
              </a:rPr>
              <a:t>Supervisor and </a:t>
            </a:r>
            <a:r>
              <a:rPr lang="en-US" sz="2400" dirty="0" err="1">
                <a:latin typeface="Cambria" panose="02040503050406030204" pitchFamily="18" charset="0"/>
                <a:ea typeface="Cambria" panose="02040503050406030204" pitchFamily="18" charset="0"/>
              </a:rPr>
              <a:t>PTool</a:t>
            </a:r>
            <a:r>
              <a:rPr lang="en-US" sz="2400" dirty="0">
                <a:latin typeface="Cambria" panose="02040503050406030204" pitchFamily="18" charset="0"/>
                <a:ea typeface="Cambria" panose="02040503050406030204" pitchFamily="18" charset="0"/>
              </a:rPr>
              <a:t> cant be defined unless a student takes a project. </a:t>
            </a:r>
          </a:p>
          <a:p>
            <a:pPr marL="0" indent="0" algn="just">
              <a:spcBef>
                <a:spcPts val="300"/>
              </a:spcBef>
              <a:buNone/>
              <a:defRPr/>
            </a:pPr>
            <a:r>
              <a:rPr lang="en-US" sz="2400" dirty="0">
                <a:solidFill>
                  <a:srgbClr val="0000FF"/>
                </a:solidFill>
                <a:latin typeface="Cambria" panose="02040503050406030204" pitchFamily="18" charset="0"/>
                <a:ea typeface="Cambria" panose="02040503050406030204" pitchFamily="18" charset="0"/>
              </a:rPr>
              <a:t>b) Delete Anomaly:</a:t>
            </a:r>
          </a:p>
          <a:p>
            <a:pPr algn="just">
              <a:spcBef>
                <a:spcPts val="300"/>
              </a:spcBef>
              <a:defRPr/>
            </a:pPr>
            <a:r>
              <a:rPr lang="en-US" sz="2400" dirty="0">
                <a:latin typeface="Cambria" panose="02040503050406030204" pitchFamily="18" charset="0"/>
                <a:ea typeface="Cambria" panose="02040503050406030204" pitchFamily="18" charset="0"/>
              </a:rPr>
              <a:t>Deleting a student will unnecessarily delete project data.</a:t>
            </a:r>
          </a:p>
          <a:p>
            <a:pPr marL="0" indent="0" algn="just">
              <a:spcBef>
                <a:spcPts val="300"/>
              </a:spcBef>
              <a:buNone/>
              <a:defRPr/>
            </a:pPr>
            <a:r>
              <a:rPr lang="en-US" sz="2400" dirty="0">
                <a:solidFill>
                  <a:srgbClr val="0000FF"/>
                </a:solidFill>
                <a:latin typeface="Cambria" panose="02040503050406030204" pitchFamily="18" charset="0"/>
                <a:ea typeface="Cambria" panose="02040503050406030204" pitchFamily="18" charset="0"/>
              </a:rPr>
              <a:t>c) Update Anomaly:</a:t>
            </a:r>
          </a:p>
          <a:p>
            <a:pPr algn="just">
              <a:spcBef>
                <a:spcPts val="300"/>
              </a:spcBef>
              <a:defRPr/>
            </a:pPr>
            <a:r>
              <a:rPr lang="en-US" sz="2400" dirty="0">
                <a:latin typeface="Cambria" panose="02040503050406030204" pitchFamily="18" charset="0"/>
                <a:ea typeface="Cambria" panose="02040503050406030204" pitchFamily="18" charset="0"/>
              </a:rPr>
              <a:t>Updating a </a:t>
            </a:r>
            <a:r>
              <a:rPr lang="en-US" sz="2400" dirty="0" err="1">
                <a:latin typeface="Cambria" panose="02040503050406030204" pitchFamily="18" charset="0"/>
                <a:ea typeface="Cambria" panose="02040503050406030204" pitchFamily="18" charset="0"/>
              </a:rPr>
              <a:t>PTool</a:t>
            </a:r>
            <a:r>
              <a:rPr lang="en-US" sz="2400" dirty="0">
                <a:latin typeface="Cambria" panose="02040503050406030204" pitchFamily="18" charset="0"/>
                <a:ea typeface="Cambria" panose="02040503050406030204" pitchFamily="18" charset="0"/>
              </a:rPr>
              <a:t> may result in unwanted changes. </a:t>
            </a:r>
          </a:p>
          <a:p>
            <a:pPr algn="just">
              <a:spcBef>
                <a:spcPts val="300"/>
              </a:spcBef>
              <a:defRPr/>
            </a:pPr>
            <a:r>
              <a:rPr lang="en-US" sz="2400" dirty="0">
                <a:latin typeface="Cambria" panose="02040503050406030204" pitchFamily="18" charset="0"/>
                <a:ea typeface="Cambria" panose="02040503050406030204" pitchFamily="18" charset="0"/>
              </a:rPr>
              <a:t>The relation Project can be converted into BCNF by decomposing it into the following relations:</a:t>
            </a:r>
          </a:p>
          <a:p>
            <a:pPr marL="0" indent="0" algn="just">
              <a:spcBef>
                <a:spcPts val="300"/>
              </a:spcBef>
              <a:buNone/>
              <a:defRPr/>
            </a:pPr>
            <a:r>
              <a:rPr lang="en-US" sz="2400" dirty="0">
                <a:latin typeface="Cambria" panose="02040503050406030204" pitchFamily="18" charset="0"/>
                <a:ea typeface="Cambria" panose="02040503050406030204" pitchFamily="18" charset="0"/>
              </a:rPr>
              <a:t>	</a:t>
            </a:r>
            <a:r>
              <a:rPr lang="en-US" sz="2400" dirty="0">
                <a:solidFill>
                  <a:srgbClr val="0000FF"/>
                </a:solidFill>
                <a:latin typeface="Cambria" panose="02040503050406030204" pitchFamily="18" charset="0"/>
                <a:ea typeface="Cambria" panose="02040503050406030204" pitchFamily="18" charset="0"/>
              </a:rPr>
              <a:t>PROJECT1 (</a:t>
            </a:r>
            <a:r>
              <a:rPr lang="en-US" sz="2400" u="sng" dirty="0" err="1">
                <a:solidFill>
                  <a:srgbClr val="0000FF"/>
                </a:solidFill>
                <a:latin typeface="Cambria" panose="02040503050406030204" pitchFamily="18" charset="0"/>
                <a:ea typeface="Cambria" panose="02040503050406030204" pitchFamily="18" charset="0"/>
              </a:rPr>
              <a:t>RegNo</a:t>
            </a:r>
            <a:r>
              <a:rPr lang="en-US" sz="2400" u="sng" dirty="0">
                <a:solidFill>
                  <a:srgbClr val="0000FF"/>
                </a:solidFill>
                <a:latin typeface="Cambria" panose="02040503050406030204" pitchFamily="18" charset="0"/>
                <a:ea typeface="Cambria" panose="02040503050406030204" pitchFamily="18" charset="0"/>
              </a:rPr>
              <a:t>, Supervisor,</a:t>
            </a:r>
            <a:r>
              <a:rPr lang="en-US" sz="2400" dirty="0">
                <a:solidFill>
                  <a:srgbClr val="0000FF"/>
                </a:solidFill>
                <a:latin typeface="Cambria" panose="02040503050406030204" pitchFamily="18" charset="0"/>
                <a:ea typeface="Cambria" panose="02040503050406030204" pitchFamily="18" charset="0"/>
              </a:rPr>
              <a:t> </a:t>
            </a:r>
            <a:r>
              <a:rPr lang="en-US" sz="2400" dirty="0" err="1">
                <a:solidFill>
                  <a:srgbClr val="0000FF"/>
                </a:solidFill>
                <a:latin typeface="Cambria" panose="02040503050406030204" pitchFamily="18" charset="0"/>
                <a:ea typeface="Cambria" panose="02040503050406030204" pitchFamily="18" charset="0"/>
              </a:rPr>
              <a:t>ModuleGrade</a:t>
            </a:r>
            <a:r>
              <a:rPr lang="en-US" sz="2400" dirty="0">
                <a:solidFill>
                  <a:srgbClr val="0000FF"/>
                </a:solidFill>
                <a:latin typeface="Cambria" panose="02040503050406030204" pitchFamily="18" charset="0"/>
                <a:ea typeface="Cambria" panose="02040503050406030204" pitchFamily="18" charset="0"/>
              </a:rPr>
              <a:t>)</a:t>
            </a:r>
          </a:p>
          <a:p>
            <a:pPr marL="0" indent="0" algn="just">
              <a:spcBef>
                <a:spcPts val="300"/>
              </a:spcBef>
              <a:buNone/>
              <a:defRPr/>
            </a:pPr>
            <a:r>
              <a:rPr lang="en-US" sz="2400" dirty="0">
                <a:solidFill>
                  <a:srgbClr val="0000FF"/>
                </a:solidFill>
                <a:latin typeface="Cambria" panose="02040503050406030204" pitchFamily="18" charset="0"/>
                <a:ea typeface="Cambria" panose="02040503050406030204" pitchFamily="18" charset="0"/>
              </a:rPr>
              <a:t>	PROJECT2 (</a:t>
            </a:r>
            <a:r>
              <a:rPr lang="en-US" sz="2400" u="sng" dirty="0">
                <a:solidFill>
                  <a:srgbClr val="0000FF"/>
                </a:solidFill>
                <a:latin typeface="Cambria" panose="02040503050406030204" pitchFamily="18" charset="0"/>
                <a:ea typeface="Cambria" panose="02040503050406030204" pitchFamily="18" charset="0"/>
              </a:rPr>
              <a:t>Supervisor,</a:t>
            </a:r>
            <a:r>
              <a:rPr lang="en-US" sz="2400" dirty="0">
                <a:solidFill>
                  <a:srgbClr val="0000FF"/>
                </a:solidFill>
                <a:latin typeface="Cambria" panose="02040503050406030204" pitchFamily="18" charset="0"/>
                <a:ea typeface="Cambria" panose="02040503050406030204" pitchFamily="18" charset="0"/>
              </a:rPr>
              <a:t> </a:t>
            </a:r>
            <a:r>
              <a:rPr lang="en-US" sz="2400" dirty="0" err="1">
                <a:solidFill>
                  <a:srgbClr val="0000FF"/>
                </a:solidFill>
                <a:latin typeface="Cambria" panose="02040503050406030204" pitchFamily="18" charset="0"/>
                <a:ea typeface="Cambria" panose="02040503050406030204" pitchFamily="18" charset="0"/>
              </a:rPr>
              <a:t>ProjModule</a:t>
            </a:r>
            <a:r>
              <a:rPr lang="en-US" sz="2400" dirty="0">
                <a:solidFill>
                  <a:srgbClr val="0000FF"/>
                </a:solidFill>
                <a:latin typeface="Cambria" panose="02040503050406030204" pitchFamily="18" charset="0"/>
                <a:ea typeface="Cambria" panose="02040503050406030204" pitchFamily="18" charset="0"/>
              </a:rPr>
              <a:t>)</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0" indent="0" algn="just">
              <a:spcBef>
                <a:spcPts val="300"/>
              </a:spcBef>
              <a:buNone/>
              <a:defRPr/>
            </a:pPr>
            <a:endParaRPr lang="en-US" sz="24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0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0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7FF5D52C-A9AC-B68F-6BD1-4B903E800872}"/>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D06CF41E-920B-6542-9AC3-B9433BEBFEE4}"/>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43197061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C5F36-E377-9D53-EB59-32CE59983A8C}"/>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A6F43690-2F5B-5DEA-B5A1-194948029488}"/>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Boyce-Codd Normal Form (BCNF)</a:t>
            </a:r>
          </a:p>
        </p:txBody>
      </p:sp>
      <p:sp>
        <p:nvSpPr>
          <p:cNvPr id="10243" name="Rectangle 3">
            <a:extLst>
              <a:ext uri="{FF2B5EF4-FFF2-40B4-BE49-F238E27FC236}">
                <a16:creationId xmlns:a16="http://schemas.microsoft.com/office/drawing/2014/main" id="{9CB31C80-8BF8-BC0A-C3D3-C63371D177FE}"/>
              </a:ext>
            </a:extLst>
          </p:cNvPr>
          <p:cNvSpPr>
            <a:spLocks noGrp="1" noChangeArrowheads="1"/>
          </p:cNvSpPr>
          <p:nvPr>
            <p:ph type="body" idx="1"/>
          </p:nvPr>
        </p:nvSpPr>
        <p:spPr>
          <a:xfrm>
            <a:off x="412751" y="682972"/>
            <a:ext cx="8407721" cy="5194300"/>
          </a:xfrm>
        </p:spPr>
        <p:txBody>
          <a:bodyPr/>
          <a:lstStyle/>
          <a:p>
            <a:pPr marL="0" indent="0" algn="just">
              <a:spcBef>
                <a:spcPts val="300"/>
              </a:spcBef>
              <a:buNone/>
              <a:defRPr/>
            </a:pPr>
            <a:r>
              <a:rPr lang="en-US" sz="2400" b="1" dirty="0">
                <a:solidFill>
                  <a:srgbClr val="0000FF"/>
                </a:solidFill>
                <a:latin typeface="Cambria" panose="02040503050406030204" pitchFamily="18" charset="0"/>
                <a:ea typeface="Cambria" panose="02040503050406030204" pitchFamily="18" charset="0"/>
              </a:rPr>
              <a:t>Example 2: </a:t>
            </a:r>
          </a:p>
          <a:p>
            <a:pPr marL="0" indent="0" algn="just">
              <a:spcBef>
                <a:spcPts val="300"/>
              </a:spcBef>
              <a:buNone/>
              <a:defRPr/>
            </a:pPr>
            <a:r>
              <a:rPr lang="en-US" sz="2400" dirty="0">
                <a:latin typeface="Cambria" panose="02040503050406030204" pitchFamily="18" charset="0"/>
                <a:ea typeface="Cambria" panose="02040503050406030204" pitchFamily="18" charset="0"/>
              </a:rPr>
              <a:t>FACULTY (FACNAME, DEPT, OFFICE, RANK, DATEHIRED) </a:t>
            </a:r>
          </a:p>
          <a:p>
            <a:pPr marL="0" indent="0" algn="just">
              <a:spcBef>
                <a:spcPts val="300"/>
              </a:spcBef>
              <a:buNone/>
              <a:defRPr/>
            </a:pPr>
            <a:r>
              <a:rPr lang="en-US" sz="2400" dirty="0">
                <a:solidFill>
                  <a:srgbClr val="0000FF"/>
                </a:solidFill>
                <a:latin typeface="Cambria" panose="02040503050406030204" pitchFamily="18" charset="0"/>
                <a:ea typeface="Cambria" panose="02040503050406030204" pitchFamily="18" charset="0"/>
              </a:rPr>
              <a:t>Assumptions / Constraints:</a:t>
            </a:r>
            <a:r>
              <a:rPr lang="en-US" sz="2400" dirty="0">
                <a:latin typeface="Cambria" panose="02040503050406030204" pitchFamily="18" charset="0"/>
                <a:ea typeface="Cambria" panose="02040503050406030204" pitchFamily="18" charset="0"/>
              </a:rPr>
              <a:t> </a:t>
            </a:r>
          </a:p>
          <a:p>
            <a:pPr algn="just">
              <a:spcBef>
                <a:spcPts val="300"/>
              </a:spcBef>
              <a:defRPr/>
            </a:pPr>
            <a:r>
              <a:rPr lang="en-US" sz="2400" dirty="0">
                <a:latin typeface="Cambria" panose="02040503050406030204" pitchFamily="18" charset="0"/>
                <a:ea typeface="Cambria" panose="02040503050406030204" pitchFamily="18" charset="0"/>
              </a:rPr>
              <a:t>FACNAME within a DEPT is unique.</a:t>
            </a:r>
          </a:p>
          <a:p>
            <a:pPr algn="just">
              <a:spcBef>
                <a:spcPts val="300"/>
              </a:spcBef>
              <a:defRPr/>
            </a:pPr>
            <a:r>
              <a:rPr lang="en-US" sz="2400" dirty="0">
                <a:latin typeface="Cambria" panose="02040503050406030204" pitchFamily="18" charset="0"/>
                <a:ea typeface="Cambria" panose="02040503050406030204" pitchFamily="18" charset="0"/>
              </a:rPr>
              <a:t>Each faculty member has only one OFFICE.</a:t>
            </a:r>
          </a:p>
          <a:p>
            <a:pPr algn="just">
              <a:spcBef>
                <a:spcPts val="300"/>
              </a:spcBef>
              <a:defRPr/>
            </a:pPr>
            <a:r>
              <a:rPr lang="en-US" sz="2400" dirty="0">
                <a:latin typeface="Cambria" panose="02040503050406030204" pitchFamily="18" charset="0"/>
                <a:ea typeface="Cambria" panose="02040503050406030204" pitchFamily="18" charset="0"/>
              </a:rPr>
              <a:t>Faculty members from the same DEPT may share offices. </a:t>
            </a:r>
          </a:p>
          <a:p>
            <a:pPr algn="just">
              <a:spcBef>
                <a:spcPts val="300"/>
              </a:spcBef>
              <a:defRPr/>
            </a:pPr>
            <a:r>
              <a:rPr lang="en-US" sz="2400" dirty="0">
                <a:latin typeface="Cambria" panose="02040503050406030204" pitchFamily="18" charset="0"/>
                <a:ea typeface="Cambria" panose="02040503050406030204" pitchFamily="18" charset="0"/>
              </a:rPr>
              <a:t>The OFFICE across all the departments are unique. </a:t>
            </a:r>
          </a:p>
          <a:p>
            <a:pPr marL="0" indent="0" algn="just">
              <a:spcBef>
                <a:spcPts val="300"/>
              </a:spcBef>
              <a:buNone/>
              <a:defRPr/>
            </a:pPr>
            <a:r>
              <a:rPr lang="en-US" sz="2400" dirty="0">
                <a:solidFill>
                  <a:srgbClr val="0000FF"/>
                </a:solidFill>
                <a:latin typeface="Cambria" panose="02040503050406030204" pitchFamily="18" charset="0"/>
                <a:ea typeface="Cambria" panose="02040503050406030204" pitchFamily="18" charset="0"/>
              </a:rPr>
              <a:t>Functional Dependencies:</a:t>
            </a:r>
          </a:p>
          <a:p>
            <a:pPr algn="just">
              <a:spcBef>
                <a:spcPts val="300"/>
              </a:spcBef>
              <a:defRPr/>
            </a:pPr>
            <a:r>
              <a:rPr lang="en-US" sz="2400" dirty="0">
                <a:latin typeface="Cambria" panose="02040503050406030204" pitchFamily="18" charset="0"/>
                <a:ea typeface="Cambria" panose="02040503050406030204" pitchFamily="18" charset="0"/>
              </a:rPr>
              <a:t>OFFICE -&gt; DEPT</a:t>
            </a:r>
          </a:p>
          <a:p>
            <a:pPr algn="just">
              <a:spcBef>
                <a:spcPts val="300"/>
              </a:spcBef>
              <a:defRPr/>
            </a:pPr>
            <a:r>
              <a:rPr lang="en-US" sz="2400" dirty="0">
                <a:latin typeface="Cambria" panose="02040503050406030204" pitchFamily="18" charset="0"/>
                <a:ea typeface="Cambria" panose="02040503050406030204" pitchFamily="18" charset="0"/>
              </a:rPr>
              <a:t>FACNAME, DEPT -&gt; OFFICE, RANK, DATEHIRED</a:t>
            </a:r>
          </a:p>
          <a:p>
            <a:pPr algn="just">
              <a:spcBef>
                <a:spcPts val="300"/>
              </a:spcBef>
              <a:defRPr/>
            </a:pPr>
            <a:r>
              <a:rPr lang="en-US" sz="2400" dirty="0">
                <a:latin typeface="Cambria" panose="02040503050406030204" pitchFamily="18" charset="0"/>
                <a:ea typeface="Cambria" panose="02040503050406030204" pitchFamily="18" charset="0"/>
              </a:rPr>
              <a:t>FACNAME, OFFICE -&gt; DEPT, RANK, DATEHIRED</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0" indent="0" algn="just">
              <a:spcBef>
                <a:spcPts val="300"/>
              </a:spcBef>
              <a:buNone/>
              <a:defRPr/>
            </a:pPr>
            <a:endParaRPr lang="en-US" sz="24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0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0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7BAF0843-D057-C447-51D8-FB592D68930D}"/>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80EFB431-340C-3B10-CFE6-99B581E177E1}"/>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28</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5734479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BE6A2-AC5C-C129-21DC-59E59D46C3F4}"/>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7D2A6F43-281A-ACBC-FCF0-67CEA80CEEE8}"/>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Fourth Normal Form (4NF)</a:t>
            </a:r>
          </a:p>
        </p:txBody>
      </p:sp>
      <p:sp>
        <p:nvSpPr>
          <p:cNvPr id="10243" name="Rectangle 3">
            <a:extLst>
              <a:ext uri="{FF2B5EF4-FFF2-40B4-BE49-F238E27FC236}">
                <a16:creationId xmlns:a16="http://schemas.microsoft.com/office/drawing/2014/main" id="{E1CFE8C1-FEAB-2362-D6B8-235C30D02DB1}"/>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A relation is said to be in 4NF, if it is in BCNF and there is no </a:t>
            </a:r>
            <a:r>
              <a:rPr lang="en-US" sz="2400" dirty="0">
                <a:solidFill>
                  <a:srgbClr val="0000FF"/>
                </a:solidFill>
                <a:latin typeface="Cambria" panose="02040503050406030204" pitchFamily="18" charset="0"/>
                <a:ea typeface="Cambria" panose="02040503050406030204" pitchFamily="18" charset="0"/>
              </a:rPr>
              <a:t>multivalued dependency. </a:t>
            </a:r>
          </a:p>
          <a:p>
            <a:pPr algn="just">
              <a:spcBef>
                <a:spcPts val="300"/>
              </a:spcBef>
              <a:defRPr/>
            </a:pPr>
            <a:r>
              <a:rPr lang="en-US" sz="2400" dirty="0">
                <a:latin typeface="Cambria" panose="02040503050406030204" pitchFamily="18" charset="0"/>
                <a:ea typeface="Cambria" panose="02040503050406030204" pitchFamily="18" charset="0"/>
              </a:rPr>
              <a:t>A Multivalued Dependency is a type of dependency that exists in a relation R having at least 3 attributes R(A, B, C) such that, for each value of A, there is a well defined set of values of B and a well defined set of values of C, but the set of values of B and the set of values of C is independent or have no impact on each other. </a:t>
            </a:r>
          </a:p>
          <a:p>
            <a:pPr algn="just">
              <a:spcBef>
                <a:spcPts val="300"/>
              </a:spcBef>
              <a:defRPr/>
            </a:pPr>
            <a:r>
              <a:rPr lang="en-US" sz="2400" dirty="0">
                <a:latin typeface="Cambria" panose="02040503050406030204" pitchFamily="18" charset="0"/>
                <a:ea typeface="Cambria" panose="02040503050406030204" pitchFamily="18" charset="0"/>
              </a:rPr>
              <a:t>Consider a relation </a:t>
            </a:r>
          </a:p>
          <a:p>
            <a:pPr marL="0" indent="0" algn="just">
              <a:spcBef>
                <a:spcPts val="300"/>
              </a:spcBef>
              <a:buNone/>
              <a:defRPr/>
            </a:pPr>
            <a:r>
              <a:rPr lang="en-US" sz="2400" dirty="0">
                <a:latin typeface="Cambria" panose="02040503050406030204" pitchFamily="18" charset="0"/>
                <a:ea typeface="Cambria" panose="02040503050406030204" pitchFamily="18" charset="0"/>
              </a:rPr>
              <a:t>	</a:t>
            </a:r>
            <a:r>
              <a:rPr lang="en-US" sz="2400" dirty="0">
                <a:solidFill>
                  <a:srgbClr val="0000FF"/>
                </a:solidFill>
                <a:latin typeface="Cambria" panose="02040503050406030204" pitchFamily="18" charset="0"/>
                <a:ea typeface="Cambria" panose="02040503050406030204" pitchFamily="18" charset="0"/>
              </a:rPr>
              <a:t>COURSE (</a:t>
            </a:r>
            <a:r>
              <a:rPr lang="en-US" sz="2400" dirty="0" err="1">
                <a:solidFill>
                  <a:srgbClr val="0000FF"/>
                </a:solidFill>
                <a:latin typeface="Cambria" panose="02040503050406030204" pitchFamily="18" charset="0"/>
                <a:ea typeface="Cambria" panose="02040503050406030204" pitchFamily="18" charset="0"/>
              </a:rPr>
              <a:t>C_Code</a:t>
            </a:r>
            <a:r>
              <a:rPr lang="en-US" sz="2400" dirty="0">
                <a:solidFill>
                  <a:srgbClr val="0000FF"/>
                </a:solidFill>
                <a:latin typeface="Cambria" panose="02040503050406030204" pitchFamily="18" charset="0"/>
                <a:ea typeface="Cambria" panose="02040503050406030204" pitchFamily="18" charset="0"/>
              </a:rPr>
              <a:t>, </a:t>
            </a:r>
            <a:r>
              <a:rPr lang="en-US" sz="2400" dirty="0" err="1">
                <a:solidFill>
                  <a:srgbClr val="0000FF"/>
                </a:solidFill>
                <a:latin typeface="Cambria" panose="02040503050406030204" pitchFamily="18" charset="0"/>
                <a:ea typeface="Cambria" panose="02040503050406030204" pitchFamily="18" charset="0"/>
              </a:rPr>
              <a:t>C_Instructor</a:t>
            </a:r>
            <a:r>
              <a:rPr lang="en-US" sz="2400" dirty="0">
                <a:solidFill>
                  <a:srgbClr val="0000FF"/>
                </a:solidFill>
                <a:latin typeface="Cambria" panose="02040503050406030204" pitchFamily="18" charset="0"/>
                <a:ea typeface="Cambria" panose="02040503050406030204" pitchFamily="18" charset="0"/>
              </a:rPr>
              <a:t>, </a:t>
            </a:r>
            <a:r>
              <a:rPr lang="en-US" sz="2400" dirty="0" err="1">
                <a:solidFill>
                  <a:srgbClr val="0000FF"/>
                </a:solidFill>
                <a:latin typeface="Cambria" panose="02040503050406030204" pitchFamily="18" charset="0"/>
                <a:ea typeface="Cambria" panose="02040503050406030204" pitchFamily="18" charset="0"/>
              </a:rPr>
              <a:t>Book_Titles</a:t>
            </a:r>
            <a:r>
              <a:rPr lang="en-US" sz="2400" dirty="0">
                <a:solidFill>
                  <a:srgbClr val="0000FF"/>
                </a:solidFill>
                <a:latin typeface="Cambria" panose="02040503050406030204" pitchFamily="18" charset="0"/>
                <a:ea typeface="Cambria" panose="02040503050406030204" pitchFamily="18" charset="0"/>
              </a:rPr>
              <a:t>)</a:t>
            </a:r>
          </a:p>
          <a:p>
            <a:pPr algn="just">
              <a:spcBef>
                <a:spcPts val="300"/>
              </a:spcBef>
              <a:defRPr/>
            </a:pPr>
            <a:r>
              <a:rPr lang="en-US" sz="2400" dirty="0">
                <a:latin typeface="Cambria" panose="02040503050406030204" pitchFamily="18" charset="0"/>
                <a:ea typeface="Cambria" panose="02040503050406030204" pitchFamily="18" charset="0"/>
              </a:rPr>
              <a:t>The constraints on the above relation are:</a:t>
            </a:r>
          </a:p>
          <a:p>
            <a:pPr lvl="1" algn="just">
              <a:spcBef>
                <a:spcPts val="300"/>
              </a:spcBef>
              <a:defRPr/>
            </a:pPr>
            <a:r>
              <a:rPr lang="en-US" sz="2200" dirty="0">
                <a:solidFill>
                  <a:srgbClr val="FF0000"/>
                </a:solidFill>
                <a:latin typeface="Cambria" panose="02040503050406030204" pitchFamily="18" charset="0"/>
                <a:ea typeface="Cambria" panose="02040503050406030204" pitchFamily="18" charset="0"/>
              </a:rPr>
              <a:t>Each course may have several instructors.</a:t>
            </a:r>
          </a:p>
          <a:p>
            <a:pPr lvl="1" algn="just">
              <a:spcBef>
                <a:spcPts val="300"/>
              </a:spcBef>
              <a:defRPr/>
            </a:pPr>
            <a:r>
              <a:rPr lang="en-US" sz="2200" dirty="0">
                <a:solidFill>
                  <a:srgbClr val="FF0000"/>
                </a:solidFill>
                <a:latin typeface="Cambria" panose="02040503050406030204" pitchFamily="18" charset="0"/>
                <a:ea typeface="Cambria" panose="02040503050406030204" pitchFamily="18" charset="0"/>
              </a:rPr>
              <a:t>Each course uses several book titles.</a:t>
            </a:r>
          </a:p>
          <a:p>
            <a:pPr lvl="1" algn="just">
              <a:spcBef>
                <a:spcPts val="300"/>
              </a:spcBef>
              <a:defRPr/>
            </a:pPr>
            <a:r>
              <a:rPr lang="en-US" sz="2200" dirty="0">
                <a:solidFill>
                  <a:srgbClr val="FF0000"/>
                </a:solidFill>
                <a:latin typeface="Cambria" panose="02040503050406030204" pitchFamily="18" charset="0"/>
                <a:ea typeface="Cambria" panose="02040503050406030204" pitchFamily="18" charset="0"/>
              </a:rPr>
              <a:t>Set of Book titles used for a course is independent of the set of instructors.</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0" indent="0" algn="just">
              <a:spcBef>
                <a:spcPts val="300"/>
              </a:spcBef>
              <a:buNone/>
              <a:defRPr/>
            </a:pPr>
            <a:endParaRPr lang="en-US" sz="24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0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0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CC7976EA-8880-696A-CE36-F4CA8A859A9F}"/>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51751600-9003-16B0-D792-4524DDE87421}"/>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29</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2425130724"/>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CBBCA-D19C-7525-E246-471FC4945EE4}"/>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E94D09F6-B9F3-7B4A-84FC-87D6F8898587}"/>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Fourth Normal Form (4NF)</a:t>
            </a:r>
          </a:p>
        </p:txBody>
      </p:sp>
      <p:sp>
        <p:nvSpPr>
          <p:cNvPr id="10243" name="Rectangle 3">
            <a:extLst>
              <a:ext uri="{FF2B5EF4-FFF2-40B4-BE49-F238E27FC236}">
                <a16:creationId xmlns:a16="http://schemas.microsoft.com/office/drawing/2014/main" id="{F741481F-D4F0-EFE7-F21A-BBF5FFE1699C}"/>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The Anomalies associated with the course relation are: </a:t>
            </a:r>
          </a:p>
          <a:p>
            <a:pPr marL="0" indent="0" algn="just">
              <a:spcBef>
                <a:spcPts val="300"/>
              </a:spcBef>
              <a:buNone/>
              <a:defRPr/>
            </a:pPr>
            <a:r>
              <a:rPr lang="en-US" sz="2400" dirty="0">
                <a:solidFill>
                  <a:srgbClr val="0000FF"/>
                </a:solidFill>
                <a:latin typeface="Cambria" panose="02040503050406030204" pitchFamily="18" charset="0"/>
                <a:ea typeface="Cambria" panose="02040503050406030204" pitchFamily="18" charset="0"/>
              </a:rPr>
              <a:t>a) Insert Anomaly:</a:t>
            </a:r>
            <a:r>
              <a:rPr lang="en-US" sz="2400" dirty="0">
                <a:latin typeface="Cambria" panose="02040503050406030204" pitchFamily="18" charset="0"/>
                <a:ea typeface="Cambria" panose="02040503050406030204" pitchFamily="18" charset="0"/>
              </a:rPr>
              <a:t> </a:t>
            </a:r>
          </a:p>
          <a:p>
            <a:pPr algn="just">
              <a:spcBef>
                <a:spcPts val="300"/>
              </a:spcBef>
              <a:defRPr/>
            </a:pPr>
            <a:r>
              <a:rPr lang="en-US" sz="2400" dirty="0">
                <a:latin typeface="Cambria" panose="02040503050406030204" pitchFamily="18" charset="0"/>
                <a:ea typeface="Cambria" panose="02040503050406030204" pitchFamily="18" charset="0"/>
              </a:rPr>
              <a:t>Adding a new book title will require adding as many rows as many instructors are there. </a:t>
            </a:r>
          </a:p>
          <a:p>
            <a:pPr marL="0" indent="0" algn="just">
              <a:spcBef>
                <a:spcPts val="300"/>
              </a:spcBef>
              <a:buNone/>
              <a:defRPr/>
            </a:pPr>
            <a:r>
              <a:rPr lang="en-US" sz="2400" dirty="0">
                <a:solidFill>
                  <a:srgbClr val="0000FF"/>
                </a:solidFill>
                <a:latin typeface="Cambria" panose="02040503050406030204" pitchFamily="18" charset="0"/>
                <a:ea typeface="Cambria" panose="02040503050406030204" pitchFamily="18" charset="0"/>
              </a:rPr>
              <a:t>b) Delete Anomaly:</a:t>
            </a:r>
          </a:p>
          <a:p>
            <a:pPr algn="just">
              <a:spcBef>
                <a:spcPts val="300"/>
              </a:spcBef>
              <a:defRPr/>
            </a:pPr>
            <a:r>
              <a:rPr lang="en-US" sz="2400" dirty="0">
                <a:latin typeface="Cambria" panose="02040503050406030204" pitchFamily="18" charset="0"/>
                <a:ea typeface="Cambria" panose="02040503050406030204" pitchFamily="18" charset="0"/>
              </a:rPr>
              <a:t>Deleting an instructor will result in unwanted deletions. </a:t>
            </a:r>
          </a:p>
          <a:p>
            <a:pPr marL="0" indent="0" algn="just">
              <a:spcBef>
                <a:spcPts val="300"/>
              </a:spcBef>
              <a:buNone/>
              <a:defRPr/>
            </a:pPr>
            <a:r>
              <a:rPr lang="en-US" sz="2400" dirty="0">
                <a:solidFill>
                  <a:srgbClr val="0000FF"/>
                </a:solidFill>
                <a:latin typeface="Cambria" panose="02040503050406030204" pitchFamily="18" charset="0"/>
                <a:ea typeface="Cambria" panose="02040503050406030204" pitchFamily="18" charset="0"/>
              </a:rPr>
              <a:t>c) Update Anomaly:</a:t>
            </a:r>
          </a:p>
          <a:p>
            <a:pPr algn="just">
              <a:spcBef>
                <a:spcPts val="300"/>
              </a:spcBef>
              <a:defRPr/>
            </a:pPr>
            <a:r>
              <a:rPr lang="en-US" sz="2400" dirty="0">
                <a:latin typeface="Cambria" panose="02040503050406030204" pitchFamily="18" charset="0"/>
                <a:ea typeface="Cambria" panose="02040503050406030204" pitchFamily="18" charset="0"/>
              </a:rPr>
              <a:t>Updating a book title requires updating several rows. </a:t>
            </a:r>
          </a:p>
          <a:p>
            <a:pPr algn="just">
              <a:spcBef>
                <a:spcPts val="300"/>
              </a:spcBef>
              <a:defRPr/>
            </a:pPr>
            <a:r>
              <a:rPr lang="en-US" sz="2400" dirty="0">
                <a:latin typeface="Cambria" panose="02040503050406030204" pitchFamily="18" charset="0"/>
                <a:ea typeface="Cambria" panose="02040503050406030204" pitchFamily="18" charset="0"/>
              </a:rPr>
              <a:t>The relation Course can be converted into 4NF by decomposing it into the following relations:</a:t>
            </a:r>
          </a:p>
          <a:p>
            <a:pPr marL="274638" lvl="1" indent="0" algn="just">
              <a:spcBef>
                <a:spcPts val="300"/>
              </a:spcBef>
              <a:buNone/>
              <a:defRPr/>
            </a:pPr>
            <a:r>
              <a:rPr lang="en-US" dirty="0">
                <a:solidFill>
                  <a:srgbClr val="FF0000"/>
                </a:solidFill>
                <a:latin typeface="Cambria" panose="02040503050406030204" pitchFamily="18" charset="0"/>
                <a:ea typeface="Cambria" panose="02040503050406030204" pitchFamily="18" charset="0"/>
              </a:rPr>
              <a:t>COURSE (</a:t>
            </a:r>
            <a:r>
              <a:rPr lang="en-US" dirty="0" err="1">
                <a:solidFill>
                  <a:srgbClr val="FF0000"/>
                </a:solidFill>
                <a:latin typeface="Cambria" panose="02040503050406030204" pitchFamily="18" charset="0"/>
                <a:ea typeface="Cambria" panose="02040503050406030204" pitchFamily="18" charset="0"/>
              </a:rPr>
              <a:t>C_Code</a:t>
            </a:r>
            <a:r>
              <a:rPr lang="en-US" dirty="0">
                <a:solidFill>
                  <a:srgbClr val="FF0000"/>
                </a:solidFill>
                <a:latin typeface="Cambria" panose="02040503050406030204" pitchFamily="18" charset="0"/>
                <a:ea typeface="Cambria" panose="02040503050406030204" pitchFamily="18" charset="0"/>
              </a:rPr>
              <a:t>, </a:t>
            </a:r>
            <a:r>
              <a:rPr lang="en-US" dirty="0" err="1">
                <a:solidFill>
                  <a:srgbClr val="FF0000"/>
                </a:solidFill>
                <a:latin typeface="Cambria" panose="02040503050406030204" pitchFamily="18" charset="0"/>
                <a:ea typeface="Cambria" panose="02040503050406030204" pitchFamily="18" charset="0"/>
              </a:rPr>
              <a:t>C_Instructor</a:t>
            </a:r>
            <a:r>
              <a:rPr lang="en-US" dirty="0">
                <a:solidFill>
                  <a:srgbClr val="FF0000"/>
                </a:solidFill>
                <a:latin typeface="Cambria" panose="02040503050406030204" pitchFamily="18" charset="0"/>
                <a:ea typeface="Cambria" panose="02040503050406030204" pitchFamily="18" charset="0"/>
              </a:rPr>
              <a:t>)</a:t>
            </a:r>
          </a:p>
          <a:p>
            <a:pPr marL="274638" lvl="1" indent="0" algn="just">
              <a:spcBef>
                <a:spcPts val="300"/>
              </a:spcBef>
              <a:buNone/>
              <a:defRPr/>
            </a:pPr>
            <a:r>
              <a:rPr lang="en-US" dirty="0">
                <a:solidFill>
                  <a:srgbClr val="FF0000"/>
                </a:solidFill>
                <a:latin typeface="Cambria" panose="02040503050406030204" pitchFamily="18" charset="0"/>
                <a:ea typeface="Cambria" panose="02040503050406030204" pitchFamily="18" charset="0"/>
              </a:rPr>
              <a:t>BOOKS (</a:t>
            </a:r>
            <a:r>
              <a:rPr lang="en-US" dirty="0" err="1">
                <a:solidFill>
                  <a:srgbClr val="FF0000"/>
                </a:solidFill>
                <a:latin typeface="Cambria" panose="02040503050406030204" pitchFamily="18" charset="0"/>
                <a:ea typeface="Cambria" panose="02040503050406030204" pitchFamily="18" charset="0"/>
              </a:rPr>
              <a:t>C_Code</a:t>
            </a:r>
            <a:r>
              <a:rPr lang="en-US" dirty="0">
                <a:solidFill>
                  <a:srgbClr val="FF0000"/>
                </a:solidFill>
                <a:latin typeface="Cambria" panose="02040503050406030204" pitchFamily="18" charset="0"/>
                <a:ea typeface="Cambria" panose="02040503050406030204" pitchFamily="18" charset="0"/>
              </a:rPr>
              <a:t>, </a:t>
            </a:r>
            <a:r>
              <a:rPr lang="en-US" dirty="0" err="1">
                <a:solidFill>
                  <a:srgbClr val="FF0000"/>
                </a:solidFill>
                <a:latin typeface="Cambria" panose="02040503050406030204" pitchFamily="18" charset="0"/>
                <a:ea typeface="Cambria" panose="02040503050406030204" pitchFamily="18" charset="0"/>
              </a:rPr>
              <a:t>Book_Titles</a:t>
            </a:r>
            <a:r>
              <a:rPr lang="en-US" dirty="0">
                <a:solidFill>
                  <a:srgbClr val="FF0000"/>
                </a:solidFill>
                <a:latin typeface="Cambria" panose="02040503050406030204" pitchFamily="18" charset="0"/>
                <a:ea typeface="Cambria" panose="02040503050406030204" pitchFamily="18" charset="0"/>
              </a:rPr>
              <a:t>)</a:t>
            </a:r>
          </a:p>
          <a:p>
            <a:pPr algn="just">
              <a:spcBef>
                <a:spcPts val="300"/>
              </a:spcBef>
              <a:defRPr/>
            </a:pPr>
            <a:r>
              <a:rPr lang="en-US" sz="2400" dirty="0">
                <a:solidFill>
                  <a:srgbClr val="0000FF"/>
                </a:solidFill>
                <a:latin typeface="Cambria" panose="02040503050406030204" pitchFamily="18" charset="0"/>
                <a:ea typeface="Cambria" panose="02040503050406030204" pitchFamily="18" charset="0"/>
              </a:rPr>
              <a:t>Example 2:</a:t>
            </a:r>
          </a:p>
          <a:p>
            <a:pPr marL="274638" lvl="1" indent="0" algn="just">
              <a:spcBef>
                <a:spcPts val="300"/>
              </a:spcBef>
              <a:buNone/>
              <a:defRPr/>
            </a:pPr>
            <a:r>
              <a:rPr lang="en-US" dirty="0">
                <a:latin typeface="Cambria" panose="02040503050406030204" pitchFamily="18" charset="0"/>
                <a:ea typeface="Cambria" panose="02040503050406030204" pitchFamily="18" charset="0"/>
              </a:rPr>
              <a:t>STUDENT (</a:t>
            </a:r>
            <a:r>
              <a:rPr lang="en-US" dirty="0" err="1">
                <a:latin typeface="Cambria" panose="02040503050406030204" pitchFamily="18" charset="0"/>
                <a:ea typeface="Cambria" panose="02040503050406030204" pitchFamily="18" charset="0"/>
              </a:rPr>
              <a:t>RegNo</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C_Code</a:t>
            </a:r>
            <a:r>
              <a:rPr lang="en-US" dirty="0">
                <a:latin typeface="Cambria" panose="02040503050406030204" pitchFamily="18" charset="0"/>
                <a:ea typeface="Cambria" panose="02040503050406030204" pitchFamily="18" charset="0"/>
              </a:rPr>
              <a:t>, Hobbies)</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0" indent="0" algn="just">
              <a:spcBef>
                <a:spcPts val="300"/>
              </a:spcBef>
              <a:buNone/>
              <a:defRPr/>
            </a:pPr>
            <a:endParaRPr lang="en-US" sz="24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0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0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04FA6C46-FD86-7578-41D3-D2F1D9660ED1}"/>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A266F87F-52BC-736D-6882-76124C7D1E94}"/>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30</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46176056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DF5D0-FD28-9650-21F0-5D33E8A62C1F}"/>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3240CACE-5CEB-66D0-8291-CC2566318C87}"/>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Fifth Normal Form (5NF)</a:t>
            </a:r>
          </a:p>
        </p:txBody>
      </p:sp>
      <p:sp>
        <p:nvSpPr>
          <p:cNvPr id="10243" name="Rectangle 3">
            <a:extLst>
              <a:ext uri="{FF2B5EF4-FFF2-40B4-BE49-F238E27FC236}">
                <a16:creationId xmlns:a16="http://schemas.microsoft.com/office/drawing/2014/main" id="{030FB7F9-602F-2CFC-12C0-D4FD2E019A0D}"/>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In every Normal Form, we decompose a given relation. The decomposition can be </a:t>
            </a:r>
            <a:r>
              <a:rPr lang="en-US" sz="2400" dirty="0">
                <a:solidFill>
                  <a:srgbClr val="0000FF"/>
                </a:solidFill>
                <a:latin typeface="Cambria" panose="02040503050406030204" pitchFamily="18" charset="0"/>
                <a:ea typeface="Cambria" panose="02040503050406030204" pitchFamily="18" charset="0"/>
              </a:rPr>
              <a:t>lossless</a:t>
            </a:r>
            <a:r>
              <a:rPr lang="en-US" sz="2400" dirty="0">
                <a:latin typeface="Cambria" panose="02040503050406030204" pitchFamily="18" charset="0"/>
                <a:ea typeface="Cambria" panose="02040503050406030204" pitchFamily="18" charset="0"/>
              </a:rPr>
              <a:t> or </a:t>
            </a:r>
            <a:r>
              <a:rPr lang="en-US" sz="2400" dirty="0">
                <a:solidFill>
                  <a:srgbClr val="0000FF"/>
                </a:solidFill>
                <a:latin typeface="Cambria" panose="02040503050406030204" pitchFamily="18" charset="0"/>
                <a:ea typeface="Cambria" panose="02040503050406030204" pitchFamily="18" charset="0"/>
              </a:rPr>
              <a:t>lossy decomposition.</a:t>
            </a:r>
            <a:r>
              <a:rPr lang="en-US" sz="2400" dirty="0">
                <a:latin typeface="Cambria" panose="02040503050406030204" pitchFamily="18" charset="0"/>
                <a:ea typeface="Cambria" panose="02040503050406030204" pitchFamily="18" charset="0"/>
              </a:rPr>
              <a:t> </a:t>
            </a:r>
          </a:p>
          <a:p>
            <a:pPr algn="just">
              <a:spcBef>
                <a:spcPts val="300"/>
              </a:spcBef>
              <a:defRPr/>
            </a:pPr>
            <a:r>
              <a:rPr lang="en-US" sz="2400" dirty="0">
                <a:latin typeface="Cambria" panose="02040503050406030204" pitchFamily="18" charset="0"/>
                <a:ea typeface="Cambria" panose="02040503050406030204" pitchFamily="18" charset="0"/>
              </a:rPr>
              <a:t>A decomposition {R1, R2, …., Rn} of a relation R is called a </a:t>
            </a:r>
            <a:r>
              <a:rPr lang="en-US" sz="2400" dirty="0">
                <a:solidFill>
                  <a:srgbClr val="0000FF"/>
                </a:solidFill>
                <a:latin typeface="Cambria" panose="02040503050406030204" pitchFamily="18" charset="0"/>
                <a:ea typeface="Cambria" panose="02040503050406030204" pitchFamily="18" charset="0"/>
              </a:rPr>
              <a:t>lossless decomposition</a:t>
            </a:r>
            <a:r>
              <a:rPr lang="en-US" sz="2400" dirty="0">
                <a:latin typeface="Cambria" panose="02040503050406030204" pitchFamily="18" charset="0"/>
                <a:ea typeface="Cambria" panose="02040503050406030204" pitchFamily="18" charset="0"/>
              </a:rPr>
              <a:t> for R, if the </a:t>
            </a:r>
            <a:r>
              <a:rPr lang="en-US" sz="2400" dirty="0">
                <a:solidFill>
                  <a:srgbClr val="0000FF"/>
                </a:solidFill>
                <a:latin typeface="Cambria" panose="02040503050406030204" pitchFamily="18" charset="0"/>
                <a:ea typeface="Cambria" panose="02040503050406030204" pitchFamily="18" charset="0"/>
              </a:rPr>
              <a:t>natural join</a:t>
            </a:r>
            <a:r>
              <a:rPr lang="en-US" sz="2400" dirty="0">
                <a:latin typeface="Cambria" panose="02040503050406030204" pitchFamily="18" charset="0"/>
                <a:ea typeface="Cambria" panose="02040503050406030204" pitchFamily="18" charset="0"/>
              </a:rPr>
              <a:t> of R1, R2, …., Rn produces exactly the relation R, otherwise the decomposition will be lossy </a:t>
            </a:r>
            <a:r>
              <a:rPr lang="en-US" sz="2000" dirty="0">
                <a:latin typeface="Cambria" panose="02040503050406030204" pitchFamily="18" charset="0"/>
                <a:ea typeface="Cambria" panose="02040503050406030204" pitchFamily="18" charset="0"/>
              </a:rPr>
              <a:t>and will result in loss of information.</a:t>
            </a:r>
            <a:endParaRPr lang="en-US" sz="2400" dirty="0">
              <a:latin typeface="Cambria" panose="02040503050406030204" pitchFamily="18" charset="0"/>
              <a:ea typeface="Cambria" panose="02040503050406030204" pitchFamily="18" charset="0"/>
            </a:endParaRPr>
          </a:p>
          <a:p>
            <a:pPr algn="just">
              <a:spcBef>
                <a:spcPts val="300"/>
              </a:spcBef>
              <a:defRPr/>
            </a:pPr>
            <a:r>
              <a:rPr lang="en-US" sz="2400" dirty="0">
                <a:latin typeface="Cambria" panose="02040503050406030204" pitchFamily="18" charset="0"/>
                <a:ea typeface="Cambria" panose="02040503050406030204" pitchFamily="18" charset="0"/>
              </a:rPr>
              <a:t>A relation is said to be in 5NF, if it is in 4NF and there is no remaining lossless decomposition (lossless join dependency). </a:t>
            </a:r>
          </a:p>
          <a:p>
            <a:pPr algn="just">
              <a:spcBef>
                <a:spcPts val="300"/>
              </a:spcBef>
              <a:defRPr/>
            </a:pPr>
            <a:r>
              <a:rPr lang="en-US" sz="2400" dirty="0">
                <a:latin typeface="Cambria" panose="02040503050406030204" pitchFamily="18" charset="0"/>
                <a:ea typeface="Cambria" panose="02040503050406030204" pitchFamily="18" charset="0"/>
              </a:rPr>
              <a:t>A </a:t>
            </a:r>
            <a:r>
              <a:rPr lang="en-US" sz="2400" dirty="0">
                <a:solidFill>
                  <a:srgbClr val="0000FF"/>
                </a:solidFill>
                <a:latin typeface="Cambria" panose="02040503050406030204" pitchFamily="18" charset="0"/>
                <a:ea typeface="Cambria" panose="02040503050406030204" pitchFamily="18" charset="0"/>
              </a:rPr>
              <a:t>Lossless Join Dependency</a:t>
            </a:r>
            <a:r>
              <a:rPr lang="en-US" sz="2400" dirty="0">
                <a:latin typeface="Cambria" panose="02040503050406030204" pitchFamily="18" charset="0"/>
                <a:ea typeface="Cambria" panose="02040503050406030204" pitchFamily="18" charset="0"/>
              </a:rPr>
              <a:t> means that a relation can be decomposed into two or more relations such that the resulting relations can be recombined to form original data. Thus if R(A, B, C) is decomposed into R1(A,B) and R2(B,C) – a join dependency exists if we can get back to R by taking natural join of R1 and R2. </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0" indent="0" algn="just">
              <a:spcBef>
                <a:spcPts val="300"/>
              </a:spcBef>
              <a:buNone/>
              <a:defRPr/>
            </a:pPr>
            <a:endParaRPr lang="en-US" sz="24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4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D07E59FA-A0F3-8D75-CA48-1FDB8AF403D8}"/>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7C47ED1A-AEEA-116C-0494-473FE202BCC4}"/>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31</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337917253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3E911-779B-D6AD-4281-7E833C201B6F}"/>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168154E5-EED3-CD77-7362-21AC6EC854E4}"/>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Fifth Normal Form (5NF)</a:t>
            </a:r>
          </a:p>
        </p:txBody>
      </p:sp>
      <p:sp>
        <p:nvSpPr>
          <p:cNvPr id="10243" name="Rectangle 3">
            <a:extLst>
              <a:ext uri="{FF2B5EF4-FFF2-40B4-BE49-F238E27FC236}">
                <a16:creationId xmlns:a16="http://schemas.microsoft.com/office/drawing/2014/main" id="{6FEF797F-F294-EE91-F3CF-AAA507B659CD}"/>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Consider the following relation </a:t>
            </a:r>
            <a:r>
              <a:rPr lang="en-US" sz="2400" dirty="0">
                <a:solidFill>
                  <a:srgbClr val="0000FF"/>
                </a:solidFill>
                <a:latin typeface="Cambria" panose="02040503050406030204" pitchFamily="18" charset="0"/>
                <a:ea typeface="Cambria" panose="02040503050406030204" pitchFamily="18" charset="0"/>
              </a:rPr>
              <a:t>STUDENT:</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r>
              <a:rPr lang="en-US" sz="2400" dirty="0">
                <a:latin typeface="Cambria" panose="02040503050406030204" pitchFamily="18" charset="0"/>
                <a:ea typeface="Cambria" panose="02040503050406030204" pitchFamily="18" charset="0"/>
              </a:rPr>
              <a:t>The relation contains a </a:t>
            </a:r>
            <a:r>
              <a:rPr lang="en-US" sz="2400" dirty="0">
                <a:solidFill>
                  <a:srgbClr val="0000FF"/>
                </a:solidFill>
                <a:latin typeface="Cambria" panose="02040503050406030204" pitchFamily="18" charset="0"/>
                <a:ea typeface="Cambria" panose="02040503050406030204" pitchFamily="18" charset="0"/>
              </a:rPr>
              <a:t>repeating group,</a:t>
            </a:r>
            <a:r>
              <a:rPr lang="en-US" sz="2400" dirty="0">
                <a:latin typeface="Cambria" panose="02040503050406030204" pitchFamily="18" charset="0"/>
                <a:ea typeface="Cambria" panose="02040503050406030204" pitchFamily="18" charset="0"/>
              </a:rPr>
              <a:t> and 1NF decomposes into the following relations:</a:t>
            </a:r>
          </a:p>
          <a:p>
            <a:pPr marL="0" indent="0" algn="just">
              <a:spcBef>
                <a:spcPts val="300"/>
              </a:spcBef>
              <a:buNone/>
              <a:defRPr/>
            </a:pPr>
            <a:r>
              <a:rPr lang="en-US" sz="2400" dirty="0">
                <a:latin typeface="Cambria" panose="02040503050406030204" pitchFamily="18" charset="0"/>
                <a:ea typeface="Cambria" panose="02040503050406030204" pitchFamily="18" charset="0"/>
              </a:rPr>
              <a:t>	</a:t>
            </a:r>
            <a:r>
              <a:rPr lang="en-US" sz="2400" dirty="0">
                <a:solidFill>
                  <a:srgbClr val="0000FF"/>
                </a:solidFill>
                <a:latin typeface="Cambria" panose="02040503050406030204" pitchFamily="18" charset="0"/>
                <a:ea typeface="Cambria" panose="02040503050406030204" pitchFamily="18" charset="0"/>
              </a:rPr>
              <a:t>STUDENT </a:t>
            </a:r>
            <a:r>
              <a:rPr lang="en-US" sz="2400" dirty="0">
                <a:solidFill>
                  <a:srgbClr val="FF0000"/>
                </a:solidFill>
                <a:latin typeface="Cambria" panose="02040503050406030204" pitchFamily="18" charset="0"/>
                <a:ea typeface="Cambria" panose="02040503050406030204" pitchFamily="18" charset="0"/>
              </a:rPr>
              <a:t>(</a:t>
            </a:r>
            <a:r>
              <a:rPr lang="en-US" sz="2400" dirty="0" err="1">
                <a:solidFill>
                  <a:srgbClr val="FF0000"/>
                </a:solidFill>
                <a:latin typeface="Cambria" panose="02040503050406030204" pitchFamily="18" charset="0"/>
                <a:ea typeface="Cambria" panose="02040503050406030204" pitchFamily="18" charset="0"/>
              </a:rPr>
              <a:t>RegNo</a:t>
            </a:r>
            <a:r>
              <a:rPr lang="en-US" sz="2400" dirty="0">
                <a:solidFill>
                  <a:srgbClr val="FF0000"/>
                </a:solidFill>
                <a:latin typeface="Cambria" panose="02040503050406030204" pitchFamily="18" charset="0"/>
                <a:ea typeface="Cambria" panose="02040503050406030204" pitchFamily="18" charset="0"/>
              </a:rPr>
              <a:t>, Name, Program)</a:t>
            </a:r>
          </a:p>
          <a:p>
            <a:pPr marL="0" indent="0" algn="just">
              <a:spcBef>
                <a:spcPts val="300"/>
              </a:spcBef>
              <a:buNone/>
              <a:defRPr/>
            </a:pPr>
            <a:r>
              <a:rPr lang="en-US" sz="2400" dirty="0">
                <a:solidFill>
                  <a:srgbClr val="0000FF"/>
                </a:solidFill>
                <a:latin typeface="Cambria" panose="02040503050406030204" pitchFamily="18" charset="0"/>
                <a:ea typeface="Cambria" panose="02040503050406030204" pitchFamily="18" charset="0"/>
              </a:rPr>
              <a:t>	RESULT </a:t>
            </a:r>
            <a:r>
              <a:rPr lang="en-US" sz="2400" dirty="0">
                <a:solidFill>
                  <a:srgbClr val="FF0000"/>
                </a:solidFill>
                <a:latin typeface="Cambria" panose="02040503050406030204" pitchFamily="18" charset="0"/>
                <a:ea typeface="Cambria" panose="02040503050406030204" pitchFamily="18" charset="0"/>
              </a:rPr>
              <a:t>(</a:t>
            </a:r>
            <a:r>
              <a:rPr lang="en-US" sz="2400" dirty="0" err="1">
                <a:solidFill>
                  <a:srgbClr val="FF0000"/>
                </a:solidFill>
                <a:latin typeface="Cambria" panose="02040503050406030204" pitchFamily="18" charset="0"/>
                <a:ea typeface="Cambria" panose="02040503050406030204" pitchFamily="18" charset="0"/>
              </a:rPr>
              <a:t>RegNo</a:t>
            </a:r>
            <a:r>
              <a:rPr lang="en-US" sz="2400" dirty="0">
                <a:solidFill>
                  <a:srgbClr val="FF0000"/>
                </a:solidFill>
                <a:latin typeface="Cambria" panose="02040503050406030204" pitchFamily="18" charset="0"/>
                <a:ea typeface="Cambria" panose="02040503050406030204" pitchFamily="18" charset="0"/>
              </a:rPr>
              <a:t>, </a:t>
            </a:r>
            <a:r>
              <a:rPr lang="en-US" sz="2400" dirty="0" err="1">
                <a:solidFill>
                  <a:srgbClr val="FF0000"/>
                </a:solidFill>
                <a:latin typeface="Cambria" panose="02040503050406030204" pitchFamily="18" charset="0"/>
                <a:ea typeface="Cambria" panose="02040503050406030204" pitchFamily="18" charset="0"/>
              </a:rPr>
              <a:t>C_Code</a:t>
            </a:r>
            <a:r>
              <a:rPr lang="en-US" sz="2400" dirty="0">
                <a:solidFill>
                  <a:srgbClr val="FF0000"/>
                </a:solidFill>
                <a:latin typeface="Cambria" panose="02040503050406030204" pitchFamily="18" charset="0"/>
                <a:ea typeface="Cambria" panose="02040503050406030204" pitchFamily="18" charset="0"/>
              </a:rPr>
              <a:t>, </a:t>
            </a:r>
            <a:r>
              <a:rPr lang="en-US" sz="2400" dirty="0" err="1">
                <a:solidFill>
                  <a:srgbClr val="FF0000"/>
                </a:solidFill>
                <a:latin typeface="Cambria" panose="02040503050406030204" pitchFamily="18" charset="0"/>
                <a:ea typeface="Cambria" panose="02040503050406030204" pitchFamily="18" charset="0"/>
              </a:rPr>
              <a:t>C_Grade</a:t>
            </a:r>
            <a:r>
              <a:rPr lang="en-US" sz="2400" dirty="0">
                <a:solidFill>
                  <a:srgbClr val="FF0000"/>
                </a:solidFill>
                <a:latin typeface="Cambria" panose="02040503050406030204" pitchFamily="18" charset="0"/>
                <a:ea typeface="Cambria" panose="02040503050406030204" pitchFamily="18" charset="0"/>
              </a:rPr>
              <a:t>)</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0" indent="0" algn="just">
              <a:spcBef>
                <a:spcPts val="300"/>
              </a:spcBef>
              <a:buNone/>
              <a:defRPr/>
            </a:pPr>
            <a:endParaRPr lang="en-US" sz="24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4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6C23AED0-61EE-0529-2C35-AD08AD0B6A9B}"/>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4CDD9327-B67A-72A4-984E-B99E203A10C1}"/>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32</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graphicFrame>
        <p:nvGraphicFramePr>
          <p:cNvPr id="4" name="Table 3">
            <a:extLst>
              <a:ext uri="{FF2B5EF4-FFF2-40B4-BE49-F238E27FC236}">
                <a16:creationId xmlns:a16="http://schemas.microsoft.com/office/drawing/2014/main" id="{F856DDFA-CB18-A2FD-5B4C-1DC03C8FD079}"/>
              </a:ext>
            </a:extLst>
          </p:cNvPr>
          <p:cNvGraphicFramePr>
            <a:graphicFrameLocks noGrp="1"/>
          </p:cNvGraphicFramePr>
          <p:nvPr>
            <p:extLst>
              <p:ext uri="{D42A27DB-BD31-4B8C-83A1-F6EECF244321}">
                <p14:modId xmlns:p14="http://schemas.microsoft.com/office/powerpoint/2010/main" val="3015590661"/>
              </p:ext>
            </p:extLst>
          </p:nvPr>
        </p:nvGraphicFramePr>
        <p:xfrm>
          <a:off x="1259632" y="1196752"/>
          <a:ext cx="6096000" cy="35661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1978929430"/>
                    </a:ext>
                  </a:extLst>
                </a:gridCol>
                <a:gridCol w="1219200">
                  <a:extLst>
                    <a:ext uri="{9D8B030D-6E8A-4147-A177-3AD203B41FA5}">
                      <a16:colId xmlns:a16="http://schemas.microsoft.com/office/drawing/2014/main" val="329230623"/>
                    </a:ext>
                  </a:extLst>
                </a:gridCol>
                <a:gridCol w="1219200">
                  <a:extLst>
                    <a:ext uri="{9D8B030D-6E8A-4147-A177-3AD203B41FA5}">
                      <a16:colId xmlns:a16="http://schemas.microsoft.com/office/drawing/2014/main" val="2003954303"/>
                    </a:ext>
                  </a:extLst>
                </a:gridCol>
                <a:gridCol w="1219200">
                  <a:extLst>
                    <a:ext uri="{9D8B030D-6E8A-4147-A177-3AD203B41FA5}">
                      <a16:colId xmlns:a16="http://schemas.microsoft.com/office/drawing/2014/main" val="3209706153"/>
                    </a:ext>
                  </a:extLst>
                </a:gridCol>
                <a:gridCol w="1219200">
                  <a:extLst>
                    <a:ext uri="{9D8B030D-6E8A-4147-A177-3AD203B41FA5}">
                      <a16:colId xmlns:a16="http://schemas.microsoft.com/office/drawing/2014/main" val="91620661"/>
                    </a:ext>
                  </a:extLst>
                </a:gridCol>
              </a:tblGrid>
              <a:tr h="370840">
                <a:tc>
                  <a:txBody>
                    <a:bodyPr/>
                    <a:lstStyle/>
                    <a:p>
                      <a:pPr algn="ctr"/>
                      <a:r>
                        <a:rPr lang="en-US" sz="2000" dirty="0" err="1">
                          <a:solidFill>
                            <a:srgbClr val="FFFF00"/>
                          </a:solidFill>
                          <a:latin typeface="Cambria" panose="02040503050406030204" pitchFamily="18" charset="0"/>
                          <a:ea typeface="Cambria" panose="02040503050406030204" pitchFamily="18" charset="0"/>
                        </a:rPr>
                        <a:t>RegNo</a:t>
                      </a:r>
                      <a:endParaRPr lang="en-US" sz="2000" dirty="0">
                        <a:solidFill>
                          <a:srgbClr val="FFFF00"/>
                        </a:solidFill>
                        <a:latin typeface="Cambria" panose="02040503050406030204" pitchFamily="18" charset="0"/>
                        <a:ea typeface="Cambria" panose="02040503050406030204" pitchFamily="18" charset="0"/>
                      </a:endParaRPr>
                    </a:p>
                  </a:txBody>
                  <a:tcPr/>
                </a:tc>
                <a:tc>
                  <a:txBody>
                    <a:bodyPr/>
                    <a:lstStyle/>
                    <a:p>
                      <a:pPr algn="ctr"/>
                      <a:r>
                        <a:rPr lang="en-US" sz="2000" dirty="0">
                          <a:solidFill>
                            <a:srgbClr val="FFFF00"/>
                          </a:solidFill>
                          <a:latin typeface="Cambria" panose="02040503050406030204" pitchFamily="18" charset="0"/>
                          <a:ea typeface="Cambria" panose="02040503050406030204" pitchFamily="18" charset="0"/>
                        </a:rPr>
                        <a:t>Name</a:t>
                      </a:r>
                    </a:p>
                  </a:txBody>
                  <a:tcPr/>
                </a:tc>
                <a:tc>
                  <a:txBody>
                    <a:bodyPr/>
                    <a:lstStyle/>
                    <a:p>
                      <a:pPr algn="ctr"/>
                      <a:r>
                        <a:rPr lang="en-US" sz="2000" dirty="0">
                          <a:solidFill>
                            <a:srgbClr val="FFFF00"/>
                          </a:solidFill>
                          <a:latin typeface="Cambria" panose="02040503050406030204" pitchFamily="18" charset="0"/>
                          <a:ea typeface="Cambria" panose="02040503050406030204" pitchFamily="18" charset="0"/>
                        </a:rPr>
                        <a:t>Program</a:t>
                      </a:r>
                    </a:p>
                  </a:txBody>
                  <a:tcPr/>
                </a:tc>
                <a:tc>
                  <a:txBody>
                    <a:bodyPr/>
                    <a:lstStyle/>
                    <a:p>
                      <a:pPr algn="ctr"/>
                      <a:r>
                        <a:rPr lang="en-US" sz="2000" dirty="0" err="1">
                          <a:solidFill>
                            <a:srgbClr val="FFFF00"/>
                          </a:solidFill>
                          <a:latin typeface="Cambria" panose="02040503050406030204" pitchFamily="18" charset="0"/>
                          <a:ea typeface="Cambria" panose="02040503050406030204" pitchFamily="18" charset="0"/>
                        </a:rPr>
                        <a:t>C_Code</a:t>
                      </a:r>
                      <a:endParaRPr lang="en-US" sz="2000" dirty="0">
                        <a:solidFill>
                          <a:srgbClr val="FFFF00"/>
                        </a:solidFill>
                        <a:latin typeface="Cambria" panose="02040503050406030204" pitchFamily="18" charset="0"/>
                        <a:ea typeface="Cambria" panose="02040503050406030204" pitchFamily="18" charset="0"/>
                      </a:endParaRPr>
                    </a:p>
                  </a:txBody>
                  <a:tcPr/>
                </a:tc>
                <a:tc>
                  <a:txBody>
                    <a:bodyPr/>
                    <a:lstStyle/>
                    <a:p>
                      <a:pPr algn="ctr"/>
                      <a:r>
                        <a:rPr lang="en-US" sz="2000" dirty="0" err="1">
                          <a:solidFill>
                            <a:srgbClr val="FFFF00"/>
                          </a:solidFill>
                          <a:latin typeface="Cambria" panose="02040503050406030204" pitchFamily="18" charset="0"/>
                          <a:ea typeface="Cambria" panose="02040503050406030204" pitchFamily="18" charset="0"/>
                        </a:rPr>
                        <a:t>C_Grade</a:t>
                      </a:r>
                      <a:endParaRPr lang="en-US" sz="2000" dirty="0">
                        <a:solidFill>
                          <a:srgbClr val="FFFF00"/>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460288160"/>
                  </a:ext>
                </a:extLst>
              </a:tr>
              <a:tr h="370840">
                <a:tc>
                  <a:txBody>
                    <a:bodyPr/>
                    <a:lstStyle/>
                    <a:p>
                      <a:pPr algn="ctr"/>
                      <a:r>
                        <a:rPr lang="en-US" sz="2000" dirty="0">
                          <a:latin typeface="Cambria" panose="02040503050406030204" pitchFamily="18" charset="0"/>
                          <a:ea typeface="Cambria" panose="02040503050406030204" pitchFamily="18" charset="0"/>
                        </a:rPr>
                        <a:t>1</a:t>
                      </a:r>
                    </a:p>
                  </a:txBody>
                  <a:tcPr/>
                </a:tc>
                <a:tc>
                  <a:txBody>
                    <a:bodyPr/>
                    <a:lstStyle/>
                    <a:p>
                      <a:pPr algn="ctr"/>
                      <a:r>
                        <a:rPr lang="en-US" sz="2000" dirty="0" err="1">
                          <a:latin typeface="Cambria" panose="02040503050406030204" pitchFamily="18" charset="0"/>
                          <a:ea typeface="Cambria" panose="02040503050406030204" pitchFamily="18" charset="0"/>
                        </a:rPr>
                        <a:t>Arif</a:t>
                      </a:r>
                      <a:endParaRPr lang="en-US" sz="2000" dirty="0">
                        <a:latin typeface="Cambria" panose="02040503050406030204" pitchFamily="18" charset="0"/>
                        <a:ea typeface="Cambria" panose="02040503050406030204" pitchFamily="18" charset="0"/>
                      </a:endParaRPr>
                    </a:p>
                  </a:txBody>
                  <a:tcPr/>
                </a:tc>
                <a:tc>
                  <a:txBody>
                    <a:bodyPr/>
                    <a:lstStyle/>
                    <a:p>
                      <a:pPr algn="ctr"/>
                      <a:r>
                        <a:rPr lang="en-US" sz="2000" dirty="0">
                          <a:latin typeface="Cambria" panose="02040503050406030204" pitchFamily="18" charset="0"/>
                          <a:ea typeface="Cambria" panose="02040503050406030204" pitchFamily="18" charset="0"/>
                        </a:rPr>
                        <a:t>BSSE</a:t>
                      </a:r>
                    </a:p>
                  </a:txBody>
                  <a:tcPr/>
                </a:tc>
                <a:tc>
                  <a:txBody>
                    <a:bodyPr/>
                    <a:lstStyle/>
                    <a:p>
                      <a:pPr algn="ctr"/>
                      <a:r>
                        <a:rPr lang="en-US" sz="2000" dirty="0">
                          <a:latin typeface="Cambria" panose="02040503050406030204" pitchFamily="18" charset="0"/>
                          <a:ea typeface="Cambria" panose="02040503050406030204" pitchFamily="18" charset="0"/>
                        </a:rPr>
                        <a:t>310</a:t>
                      </a:r>
                    </a:p>
                  </a:txBody>
                  <a:tcPr/>
                </a:tc>
                <a:tc>
                  <a:txBody>
                    <a:bodyPr/>
                    <a:lstStyle/>
                    <a:p>
                      <a:pPr algn="ctr"/>
                      <a:r>
                        <a:rPr lang="en-US" sz="2000" dirty="0">
                          <a:latin typeface="Cambria" panose="02040503050406030204" pitchFamily="18" charset="0"/>
                          <a:ea typeface="Cambria" panose="02040503050406030204" pitchFamily="18" charset="0"/>
                        </a:rPr>
                        <a:t>B</a:t>
                      </a:r>
                    </a:p>
                  </a:txBody>
                  <a:tcPr/>
                </a:tc>
                <a:extLst>
                  <a:ext uri="{0D108BD9-81ED-4DB2-BD59-A6C34878D82A}">
                    <a16:rowId xmlns:a16="http://schemas.microsoft.com/office/drawing/2014/main" val="288858250"/>
                  </a:ext>
                </a:extLst>
              </a:tr>
              <a:tr h="370840">
                <a:tc>
                  <a:txBody>
                    <a:bodyPr/>
                    <a:lstStyle/>
                    <a:p>
                      <a:pPr algn="ctr"/>
                      <a:r>
                        <a:rPr lang="en-US" sz="2000" dirty="0">
                          <a:latin typeface="Cambria" panose="02040503050406030204" pitchFamily="18" charset="0"/>
                          <a:ea typeface="Cambria" panose="02040503050406030204" pitchFamily="18" charset="0"/>
                        </a:rPr>
                        <a:t>1</a:t>
                      </a:r>
                    </a:p>
                  </a:txBody>
                  <a:tcPr/>
                </a:tc>
                <a:tc>
                  <a:txBody>
                    <a:bodyPr/>
                    <a:lstStyle/>
                    <a:p>
                      <a:pPr algn="ctr"/>
                      <a:r>
                        <a:rPr lang="en-US" sz="2000" dirty="0" err="1">
                          <a:latin typeface="Cambria" panose="02040503050406030204" pitchFamily="18" charset="0"/>
                          <a:ea typeface="Cambria" panose="02040503050406030204" pitchFamily="18" charset="0"/>
                        </a:rPr>
                        <a:t>Arif</a:t>
                      </a:r>
                      <a:endParaRPr lang="en-US" sz="2000" dirty="0">
                        <a:latin typeface="Cambria" panose="02040503050406030204" pitchFamily="18" charset="0"/>
                        <a:ea typeface="Cambria" panose="02040503050406030204" pitchFamily="18" charset="0"/>
                      </a:endParaRPr>
                    </a:p>
                  </a:txBody>
                  <a:tcPr/>
                </a:tc>
                <a:tc>
                  <a:txBody>
                    <a:bodyPr/>
                    <a:lstStyle/>
                    <a:p>
                      <a:pPr algn="ctr"/>
                      <a:r>
                        <a:rPr lang="en-US" sz="2000" dirty="0">
                          <a:latin typeface="Cambria" panose="02040503050406030204" pitchFamily="18" charset="0"/>
                          <a:ea typeface="Cambria" panose="02040503050406030204" pitchFamily="18" charset="0"/>
                        </a:rPr>
                        <a:t>BSSE</a:t>
                      </a:r>
                    </a:p>
                  </a:txBody>
                  <a:tcPr/>
                </a:tc>
                <a:tc>
                  <a:txBody>
                    <a:bodyPr/>
                    <a:lstStyle/>
                    <a:p>
                      <a:pPr algn="ctr"/>
                      <a:r>
                        <a:rPr lang="en-US" sz="2000" dirty="0">
                          <a:latin typeface="Cambria" panose="02040503050406030204" pitchFamily="18" charset="0"/>
                          <a:ea typeface="Cambria" panose="02040503050406030204" pitchFamily="18" charset="0"/>
                        </a:rPr>
                        <a:t>311</a:t>
                      </a:r>
                    </a:p>
                  </a:txBody>
                  <a:tcPr/>
                </a:tc>
                <a:tc>
                  <a:txBody>
                    <a:bodyPr/>
                    <a:lstStyle/>
                    <a:p>
                      <a:pPr algn="ctr"/>
                      <a:r>
                        <a:rPr lang="en-US" sz="2000" dirty="0">
                          <a:latin typeface="Cambria" panose="02040503050406030204" pitchFamily="18" charset="0"/>
                          <a:ea typeface="Cambria" panose="02040503050406030204" pitchFamily="18" charset="0"/>
                        </a:rPr>
                        <a:t>A</a:t>
                      </a:r>
                    </a:p>
                  </a:txBody>
                  <a:tcPr/>
                </a:tc>
                <a:extLst>
                  <a:ext uri="{0D108BD9-81ED-4DB2-BD59-A6C34878D82A}">
                    <a16:rowId xmlns:a16="http://schemas.microsoft.com/office/drawing/2014/main" val="2756665283"/>
                  </a:ext>
                </a:extLst>
              </a:tr>
              <a:tr h="370840">
                <a:tc>
                  <a:txBody>
                    <a:bodyPr/>
                    <a:lstStyle/>
                    <a:p>
                      <a:pPr algn="ctr"/>
                      <a:r>
                        <a:rPr lang="en-US" sz="2000" dirty="0">
                          <a:latin typeface="Cambria" panose="02040503050406030204" pitchFamily="18" charset="0"/>
                          <a:ea typeface="Cambria" panose="02040503050406030204" pitchFamily="18" charset="0"/>
                        </a:rPr>
                        <a:t>1</a:t>
                      </a:r>
                    </a:p>
                  </a:txBody>
                  <a:tcPr/>
                </a:tc>
                <a:tc>
                  <a:txBody>
                    <a:bodyPr/>
                    <a:lstStyle/>
                    <a:p>
                      <a:pPr algn="ctr"/>
                      <a:r>
                        <a:rPr lang="en-US" sz="2000" dirty="0" err="1">
                          <a:latin typeface="Cambria" panose="02040503050406030204" pitchFamily="18" charset="0"/>
                          <a:ea typeface="Cambria" panose="02040503050406030204" pitchFamily="18" charset="0"/>
                        </a:rPr>
                        <a:t>Arif</a:t>
                      </a:r>
                      <a:endParaRPr lang="en-US" sz="2000" dirty="0">
                        <a:latin typeface="Cambria" panose="02040503050406030204" pitchFamily="18" charset="0"/>
                        <a:ea typeface="Cambria" panose="02040503050406030204" pitchFamily="18" charset="0"/>
                      </a:endParaRPr>
                    </a:p>
                  </a:txBody>
                  <a:tcPr/>
                </a:tc>
                <a:tc>
                  <a:txBody>
                    <a:bodyPr/>
                    <a:lstStyle/>
                    <a:p>
                      <a:pPr algn="ctr"/>
                      <a:r>
                        <a:rPr lang="en-US" sz="2000" dirty="0">
                          <a:latin typeface="Cambria" panose="02040503050406030204" pitchFamily="18" charset="0"/>
                          <a:ea typeface="Cambria" panose="02040503050406030204" pitchFamily="18" charset="0"/>
                        </a:rPr>
                        <a:t>BSSE</a:t>
                      </a:r>
                    </a:p>
                  </a:txBody>
                  <a:tcPr/>
                </a:tc>
                <a:tc>
                  <a:txBody>
                    <a:bodyPr/>
                    <a:lstStyle/>
                    <a:p>
                      <a:pPr algn="ctr"/>
                      <a:r>
                        <a:rPr lang="en-US" sz="2000" dirty="0">
                          <a:latin typeface="Cambria" panose="02040503050406030204" pitchFamily="18" charset="0"/>
                          <a:ea typeface="Cambria" panose="02040503050406030204" pitchFamily="18" charset="0"/>
                        </a:rPr>
                        <a:t>312</a:t>
                      </a:r>
                    </a:p>
                  </a:txBody>
                  <a:tcPr/>
                </a:tc>
                <a:tc>
                  <a:txBody>
                    <a:bodyPr/>
                    <a:lstStyle/>
                    <a:p>
                      <a:pPr algn="ctr"/>
                      <a:r>
                        <a:rPr lang="en-US" sz="2000" dirty="0">
                          <a:latin typeface="Cambria" panose="02040503050406030204" pitchFamily="18" charset="0"/>
                          <a:ea typeface="Cambria" panose="02040503050406030204" pitchFamily="18" charset="0"/>
                        </a:rPr>
                        <a:t>C</a:t>
                      </a:r>
                    </a:p>
                  </a:txBody>
                  <a:tcPr/>
                </a:tc>
                <a:extLst>
                  <a:ext uri="{0D108BD9-81ED-4DB2-BD59-A6C34878D82A}">
                    <a16:rowId xmlns:a16="http://schemas.microsoft.com/office/drawing/2014/main" val="1465323855"/>
                  </a:ext>
                </a:extLst>
              </a:tr>
              <a:tr h="370840">
                <a:tc>
                  <a:txBody>
                    <a:bodyPr/>
                    <a:lstStyle/>
                    <a:p>
                      <a:pPr algn="ctr"/>
                      <a:r>
                        <a:rPr lang="en-US" sz="2000" dirty="0">
                          <a:latin typeface="Cambria" panose="02040503050406030204" pitchFamily="18" charset="0"/>
                          <a:ea typeface="Cambria" panose="02040503050406030204" pitchFamily="18" charset="0"/>
                        </a:rPr>
                        <a:t>2</a:t>
                      </a:r>
                    </a:p>
                  </a:txBody>
                  <a:tcPr/>
                </a:tc>
                <a:tc>
                  <a:txBody>
                    <a:bodyPr/>
                    <a:lstStyle/>
                    <a:p>
                      <a:pPr algn="ctr"/>
                      <a:r>
                        <a:rPr lang="en-US" sz="2000" dirty="0" err="1">
                          <a:latin typeface="Cambria" panose="02040503050406030204" pitchFamily="18" charset="0"/>
                          <a:ea typeface="Cambria" panose="02040503050406030204" pitchFamily="18" charset="0"/>
                        </a:rPr>
                        <a:t>Talha</a:t>
                      </a:r>
                      <a:endParaRPr lang="en-US" sz="2000" dirty="0">
                        <a:latin typeface="Cambria" panose="02040503050406030204" pitchFamily="18" charset="0"/>
                        <a:ea typeface="Cambria" panose="02040503050406030204" pitchFamily="18" charset="0"/>
                      </a:endParaRPr>
                    </a:p>
                  </a:txBody>
                  <a:tcPr/>
                </a:tc>
                <a:tc>
                  <a:txBody>
                    <a:bodyPr/>
                    <a:lstStyle/>
                    <a:p>
                      <a:pPr algn="ctr"/>
                      <a:r>
                        <a:rPr lang="en-US" sz="2000" dirty="0">
                          <a:latin typeface="Cambria" panose="02040503050406030204" pitchFamily="18" charset="0"/>
                          <a:ea typeface="Cambria" panose="02040503050406030204" pitchFamily="18" charset="0"/>
                        </a:rPr>
                        <a:t>BSIT</a:t>
                      </a:r>
                    </a:p>
                  </a:txBody>
                  <a:tcPr/>
                </a:tc>
                <a:tc>
                  <a:txBody>
                    <a:bodyPr/>
                    <a:lstStyle/>
                    <a:p>
                      <a:pPr algn="ctr"/>
                      <a:r>
                        <a:rPr lang="en-US" sz="2000" dirty="0">
                          <a:latin typeface="Cambria" panose="02040503050406030204" pitchFamily="18" charset="0"/>
                          <a:ea typeface="Cambria" panose="02040503050406030204" pitchFamily="18" charset="0"/>
                        </a:rPr>
                        <a:t>310</a:t>
                      </a:r>
                    </a:p>
                  </a:txBody>
                  <a:tcPr/>
                </a:tc>
                <a:tc>
                  <a:txBody>
                    <a:bodyPr/>
                    <a:lstStyle/>
                    <a:p>
                      <a:pPr algn="ctr"/>
                      <a:r>
                        <a:rPr lang="en-US" sz="2000" dirty="0">
                          <a:latin typeface="Cambria" panose="02040503050406030204" pitchFamily="18" charset="0"/>
                          <a:ea typeface="Cambria" panose="02040503050406030204" pitchFamily="18" charset="0"/>
                        </a:rPr>
                        <a:t>A</a:t>
                      </a:r>
                    </a:p>
                  </a:txBody>
                  <a:tcPr/>
                </a:tc>
                <a:extLst>
                  <a:ext uri="{0D108BD9-81ED-4DB2-BD59-A6C34878D82A}">
                    <a16:rowId xmlns:a16="http://schemas.microsoft.com/office/drawing/2014/main" val="1865390322"/>
                  </a:ext>
                </a:extLst>
              </a:tr>
              <a:tr h="370840">
                <a:tc>
                  <a:txBody>
                    <a:bodyPr/>
                    <a:lstStyle/>
                    <a:p>
                      <a:pPr algn="ctr"/>
                      <a:r>
                        <a:rPr lang="en-US" sz="2000" dirty="0">
                          <a:latin typeface="Cambria" panose="02040503050406030204" pitchFamily="18" charset="0"/>
                          <a:ea typeface="Cambria" panose="02040503050406030204" pitchFamily="18" charset="0"/>
                        </a:rPr>
                        <a:t>2</a:t>
                      </a:r>
                    </a:p>
                  </a:txBody>
                  <a:tcPr/>
                </a:tc>
                <a:tc>
                  <a:txBody>
                    <a:bodyPr/>
                    <a:lstStyle/>
                    <a:p>
                      <a:pPr algn="ctr"/>
                      <a:r>
                        <a:rPr lang="en-US" sz="2000" dirty="0" err="1">
                          <a:latin typeface="Cambria" panose="02040503050406030204" pitchFamily="18" charset="0"/>
                          <a:ea typeface="Cambria" panose="02040503050406030204" pitchFamily="18" charset="0"/>
                        </a:rPr>
                        <a:t>Talha</a:t>
                      </a:r>
                      <a:endParaRPr lang="en-US" sz="2000" dirty="0">
                        <a:latin typeface="Cambria" panose="02040503050406030204" pitchFamily="18" charset="0"/>
                        <a:ea typeface="Cambria" panose="02040503050406030204" pitchFamily="18" charset="0"/>
                      </a:endParaRPr>
                    </a:p>
                  </a:txBody>
                  <a:tcPr/>
                </a:tc>
                <a:tc>
                  <a:txBody>
                    <a:bodyPr/>
                    <a:lstStyle/>
                    <a:p>
                      <a:pPr algn="ctr"/>
                      <a:r>
                        <a:rPr lang="en-US" sz="2000" dirty="0">
                          <a:latin typeface="Cambria" panose="02040503050406030204" pitchFamily="18" charset="0"/>
                          <a:ea typeface="Cambria" panose="02040503050406030204" pitchFamily="18" charset="0"/>
                        </a:rPr>
                        <a:t>BSIT</a:t>
                      </a:r>
                    </a:p>
                  </a:txBody>
                  <a:tcPr/>
                </a:tc>
                <a:tc>
                  <a:txBody>
                    <a:bodyPr/>
                    <a:lstStyle/>
                    <a:p>
                      <a:pPr algn="ctr"/>
                      <a:r>
                        <a:rPr lang="en-US" sz="2000" dirty="0">
                          <a:latin typeface="Cambria" panose="02040503050406030204" pitchFamily="18" charset="0"/>
                          <a:ea typeface="Cambria" panose="02040503050406030204" pitchFamily="18" charset="0"/>
                        </a:rPr>
                        <a:t>311</a:t>
                      </a:r>
                    </a:p>
                  </a:txBody>
                  <a:tcPr/>
                </a:tc>
                <a:tc>
                  <a:txBody>
                    <a:bodyPr/>
                    <a:lstStyle/>
                    <a:p>
                      <a:pPr algn="ctr"/>
                      <a:r>
                        <a:rPr lang="en-US" sz="2000" dirty="0">
                          <a:latin typeface="Cambria" panose="02040503050406030204" pitchFamily="18" charset="0"/>
                          <a:ea typeface="Cambria" panose="02040503050406030204" pitchFamily="18" charset="0"/>
                        </a:rPr>
                        <a:t>C</a:t>
                      </a:r>
                    </a:p>
                  </a:txBody>
                  <a:tcPr/>
                </a:tc>
                <a:extLst>
                  <a:ext uri="{0D108BD9-81ED-4DB2-BD59-A6C34878D82A}">
                    <a16:rowId xmlns:a16="http://schemas.microsoft.com/office/drawing/2014/main" val="386750618"/>
                  </a:ext>
                </a:extLst>
              </a:tr>
              <a:tr h="370840">
                <a:tc>
                  <a:txBody>
                    <a:bodyPr/>
                    <a:lstStyle/>
                    <a:p>
                      <a:pPr algn="ctr"/>
                      <a:r>
                        <a:rPr lang="en-US" sz="2000" dirty="0">
                          <a:latin typeface="Cambria" panose="02040503050406030204" pitchFamily="18" charset="0"/>
                          <a:ea typeface="Cambria" panose="02040503050406030204" pitchFamily="18" charset="0"/>
                        </a:rPr>
                        <a:t>2</a:t>
                      </a:r>
                    </a:p>
                  </a:txBody>
                  <a:tcPr/>
                </a:tc>
                <a:tc>
                  <a:txBody>
                    <a:bodyPr/>
                    <a:lstStyle/>
                    <a:p>
                      <a:pPr algn="ctr"/>
                      <a:r>
                        <a:rPr lang="en-US" sz="2000" dirty="0" err="1">
                          <a:latin typeface="Cambria" panose="02040503050406030204" pitchFamily="18" charset="0"/>
                          <a:ea typeface="Cambria" panose="02040503050406030204" pitchFamily="18" charset="0"/>
                        </a:rPr>
                        <a:t>Talha</a:t>
                      </a:r>
                      <a:endParaRPr lang="en-US" sz="2000" dirty="0">
                        <a:latin typeface="Cambria" panose="02040503050406030204" pitchFamily="18" charset="0"/>
                        <a:ea typeface="Cambria" panose="02040503050406030204" pitchFamily="18" charset="0"/>
                      </a:endParaRPr>
                    </a:p>
                  </a:txBody>
                  <a:tcPr/>
                </a:tc>
                <a:tc>
                  <a:txBody>
                    <a:bodyPr/>
                    <a:lstStyle/>
                    <a:p>
                      <a:pPr algn="ctr"/>
                      <a:r>
                        <a:rPr lang="en-US" sz="2000" dirty="0">
                          <a:latin typeface="Cambria" panose="02040503050406030204" pitchFamily="18" charset="0"/>
                          <a:ea typeface="Cambria" panose="02040503050406030204" pitchFamily="18" charset="0"/>
                        </a:rPr>
                        <a:t>BSIT</a:t>
                      </a:r>
                    </a:p>
                  </a:txBody>
                  <a:tcPr/>
                </a:tc>
                <a:tc>
                  <a:txBody>
                    <a:bodyPr/>
                    <a:lstStyle/>
                    <a:p>
                      <a:pPr algn="ctr"/>
                      <a:r>
                        <a:rPr lang="en-US" sz="2000" dirty="0">
                          <a:latin typeface="Cambria" panose="02040503050406030204" pitchFamily="18" charset="0"/>
                          <a:ea typeface="Cambria" panose="02040503050406030204" pitchFamily="18" charset="0"/>
                        </a:rPr>
                        <a:t>312</a:t>
                      </a:r>
                    </a:p>
                  </a:txBody>
                  <a:tcPr/>
                </a:tc>
                <a:tc>
                  <a:txBody>
                    <a:bodyPr/>
                    <a:lstStyle/>
                    <a:p>
                      <a:pPr algn="ctr"/>
                      <a:r>
                        <a:rPr lang="en-US" sz="2000" dirty="0">
                          <a:latin typeface="Cambria" panose="02040503050406030204" pitchFamily="18" charset="0"/>
                          <a:ea typeface="Cambria" panose="02040503050406030204" pitchFamily="18" charset="0"/>
                        </a:rPr>
                        <a:t>B</a:t>
                      </a:r>
                    </a:p>
                  </a:txBody>
                  <a:tcPr/>
                </a:tc>
                <a:extLst>
                  <a:ext uri="{0D108BD9-81ED-4DB2-BD59-A6C34878D82A}">
                    <a16:rowId xmlns:a16="http://schemas.microsoft.com/office/drawing/2014/main" val="3727208376"/>
                  </a:ext>
                </a:extLst>
              </a:tr>
              <a:tr h="370840">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extLst>
                  <a:ext uri="{0D108BD9-81ED-4DB2-BD59-A6C34878D82A}">
                    <a16:rowId xmlns:a16="http://schemas.microsoft.com/office/drawing/2014/main" val="3112793402"/>
                  </a:ext>
                </a:extLst>
              </a:tr>
              <a:tr h="370840">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extLst>
                  <a:ext uri="{0D108BD9-81ED-4DB2-BD59-A6C34878D82A}">
                    <a16:rowId xmlns:a16="http://schemas.microsoft.com/office/drawing/2014/main" val="3998546655"/>
                  </a:ext>
                </a:extLst>
              </a:tr>
            </a:tbl>
          </a:graphicData>
        </a:graphic>
      </p:graphicFrame>
    </p:spTree>
    <p:extLst>
      <p:ext uri="{BB962C8B-B14F-4D97-AF65-F5344CB8AC3E}">
        <p14:creationId xmlns:p14="http://schemas.microsoft.com/office/powerpoint/2010/main" val="4039553182"/>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B4838-9482-3093-3FF9-FDAFBC90F606}"/>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DCE11645-3BA3-537B-FD48-07FA66A61715}"/>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Fifth Normal Form (5NF)</a:t>
            </a:r>
          </a:p>
        </p:txBody>
      </p:sp>
      <p:sp>
        <p:nvSpPr>
          <p:cNvPr id="10243" name="Rectangle 3">
            <a:extLst>
              <a:ext uri="{FF2B5EF4-FFF2-40B4-BE49-F238E27FC236}">
                <a16:creationId xmlns:a16="http://schemas.microsoft.com/office/drawing/2014/main" id="{A59506B9-D30D-DD72-E69E-DA384D2BE3F8}"/>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The Tuples of two relations are given as under:</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r>
              <a:rPr lang="en-US" sz="2400" dirty="0">
                <a:solidFill>
                  <a:srgbClr val="0000FF"/>
                </a:solidFill>
                <a:latin typeface="Cambria" panose="02040503050406030204" pitchFamily="18" charset="0"/>
                <a:ea typeface="Cambria" panose="02040503050406030204" pitchFamily="18" charset="0"/>
              </a:rPr>
              <a:t>Natural Join</a:t>
            </a:r>
            <a:r>
              <a:rPr lang="en-US" sz="2400" dirty="0">
                <a:latin typeface="Cambria" panose="02040503050406030204" pitchFamily="18" charset="0"/>
                <a:ea typeface="Cambria" panose="02040503050406030204" pitchFamily="18" charset="0"/>
              </a:rPr>
              <a:t> of the relations</a:t>
            </a:r>
          </a:p>
          <a:p>
            <a:pPr marL="0" indent="0" algn="just">
              <a:spcBef>
                <a:spcPts val="300"/>
              </a:spcBef>
              <a:buNone/>
              <a:defRPr/>
            </a:pPr>
            <a:r>
              <a:rPr lang="en-US" sz="2400" dirty="0">
                <a:latin typeface="Cambria" panose="02040503050406030204" pitchFamily="18" charset="0"/>
                <a:ea typeface="Cambria" panose="02040503050406030204" pitchFamily="18" charset="0"/>
              </a:rPr>
              <a:t>gives us the tuples of the original</a:t>
            </a:r>
          </a:p>
          <a:p>
            <a:pPr marL="0" indent="0" algn="just">
              <a:spcBef>
                <a:spcPts val="300"/>
              </a:spcBef>
              <a:buNone/>
              <a:defRPr/>
            </a:pPr>
            <a:r>
              <a:rPr lang="en-US" sz="2400" dirty="0">
                <a:latin typeface="Cambria" panose="02040503050406030204" pitchFamily="18" charset="0"/>
                <a:ea typeface="Cambria" panose="02040503050406030204" pitchFamily="18" charset="0"/>
              </a:rPr>
              <a:t>relation </a:t>
            </a:r>
            <a:r>
              <a:rPr lang="en-US" sz="2400" dirty="0">
                <a:solidFill>
                  <a:srgbClr val="FF0000"/>
                </a:solidFill>
                <a:latin typeface="Cambria" panose="02040503050406030204" pitchFamily="18" charset="0"/>
                <a:ea typeface="Cambria" panose="02040503050406030204" pitchFamily="18" charset="0"/>
              </a:rPr>
              <a:t>STUDENT.</a:t>
            </a:r>
            <a:r>
              <a:rPr lang="en-US" sz="2400" dirty="0">
                <a:latin typeface="Cambria" panose="02040503050406030204" pitchFamily="18" charset="0"/>
                <a:ea typeface="Cambria" panose="02040503050406030204" pitchFamily="18" charset="0"/>
              </a:rPr>
              <a:t> </a:t>
            </a:r>
          </a:p>
          <a:p>
            <a:pPr algn="just">
              <a:spcBef>
                <a:spcPts val="300"/>
              </a:spcBef>
              <a:defRPr/>
            </a:pPr>
            <a:r>
              <a:rPr lang="en-US" sz="2400" dirty="0">
                <a:latin typeface="Cambria" panose="02040503050406030204" pitchFamily="18" charset="0"/>
                <a:ea typeface="Cambria" panose="02040503050406030204" pitchFamily="18" charset="0"/>
              </a:rPr>
              <a:t>Thus, the </a:t>
            </a:r>
            <a:r>
              <a:rPr lang="en-US" sz="2400" dirty="0">
                <a:solidFill>
                  <a:srgbClr val="0000FF"/>
                </a:solidFill>
                <a:latin typeface="Cambria" panose="02040503050406030204" pitchFamily="18" charset="0"/>
                <a:ea typeface="Cambria" panose="02040503050406030204" pitchFamily="18" charset="0"/>
              </a:rPr>
              <a:t>decomposition is lossless.</a:t>
            </a:r>
            <a:r>
              <a:rPr lang="en-US" sz="2400" dirty="0">
                <a:latin typeface="Cambria" panose="02040503050406030204" pitchFamily="18" charset="0"/>
                <a:ea typeface="Cambria" panose="02040503050406030204" pitchFamily="18" charset="0"/>
              </a:rPr>
              <a:t> </a:t>
            </a:r>
          </a:p>
          <a:p>
            <a:pPr algn="just">
              <a:spcBef>
                <a:spcPts val="300"/>
              </a:spcBef>
              <a:defRPr/>
            </a:pPr>
            <a:r>
              <a:rPr lang="en-US" sz="2400" dirty="0">
                <a:latin typeface="Cambria" panose="02040503050406030204" pitchFamily="18" charset="0"/>
                <a:ea typeface="Cambria" panose="02040503050406030204" pitchFamily="18" charset="0"/>
              </a:rPr>
              <a:t>Now we decompose </a:t>
            </a:r>
            <a:r>
              <a:rPr lang="en-US" sz="2400" dirty="0">
                <a:solidFill>
                  <a:srgbClr val="FF0000"/>
                </a:solidFill>
                <a:latin typeface="Cambria" panose="02040503050406030204" pitchFamily="18" charset="0"/>
                <a:ea typeface="Cambria" panose="02040503050406030204" pitchFamily="18" charset="0"/>
              </a:rPr>
              <a:t>RESULT</a:t>
            </a:r>
            <a:r>
              <a:rPr lang="en-US" sz="2400" dirty="0">
                <a:latin typeface="Cambria" panose="02040503050406030204" pitchFamily="18" charset="0"/>
                <a:ea typeface="Cambria" panose="02040503050406030204" pitchFamily="18" charset="0"/>
              </a:rPr>
              <a:t> relation as:</a:t>
            </a:r>
          </a:p>
          <a:p>
            <a:pPr marL="0" indent="0" algn="just">
              <a:spcBef>
                <a:spcPts val="300"/>
              </a:spcBef>
              <a:buNone/>
              <a:defRPr/>
            </a:pPr>
            <a:r>
              <a:rPr lang="en-US" sz="2400" dirty="0">
                <a:latin typeface="Cambria" panose="02040503050406030204" pitchFamily="18" charset="0"/>
                <a:ea typeface="Cambria" panose="02040503050406030204" pitchFamily="18" charset="0"/>
              </a:rPr>
              <a:t>	</a:t>
            </a:r>
            <a:r>
              <a:rPr lang="en-US" sz="2400" dirty="0">
                <a:solidFill>
                  <a:srgbClr val="0000FF"/>
                </a:solidFill>
                <a:latin typeface="Cambria" panose="02040503050406030204" pitchFamily="18" charset="0"/>
                <a:ea typeface="Cambria" panose="02040503050406030204" pitchFamily="18" charset="0"/>
              </a:rPr>
              <a:t>RESULT1 </a:t>
            </a:r>
            <a:r>
              <a:rPr lang="en-US" sz="2400" dirty="0">
                <a:solidFill>
                  <a:srgbClr val="FF0000"/>
                </a:solidFill>
                <a:latin typeface="Cambria" panose="02040503050406030204" pitchFamily="18" charset="0"/>
                <a:ea typeface="Cambria" panose="02040503050406030204" pitchFamily="18" charset="0"/>
              </a:rPr>
              <a:t>(</a:t>
            </a:r>
            <a:r>
              <a:rPr lang="en-US" sz="2400" dirty="0" err="1">
                <a:solidFill>
                  <a:srgbClr val="FF0000"/>
                </a:solidFill>
                <a:latin typeface="Cambria" panose="02040503050406030204" pitchFamily="18" charset="0"/>
                <a:ea typeface="Cambria" panose="02040503050406030204" pitchFamily="18" charset="0"/>
              </a:rPr>
              <a:t>RegNo</a:t>
            </a:r>
            <a:r>
              <a:rPr lang="en-US" sz="2400" dirty="0">
                <a:solidFill>
                  <a:srgbClr val="FF0000"/>
                </a:solidFill>
                <a:latin typeface="Cambria" panose="02040503050406030204" pitchFamily="18" charset="0"/>
                <a:ea typeface="Cambria" panose="02040503050406030204" pitchFamily="18" charset="0"/>
              </a:rPr>
              <a:t>, </a:t>
            </a:r>
            <a:r>
              <a:rPr lang="en-US" sz="2400" dirty="0" err="1">
                <a:solidFill>
                  <a:srgbClr val="FF0000"/>
                </a:solidFill>
                <a:latin typeface="Cambria" panose="02040503050406030204" pitchFamily="18" charset="0"/>
                <a:ea typeface="Cambria" panose="02040503050406030204" pitchFamily="18" charset="0"/>
              </a:rPr>
              <a:t>C_Code</a:t>
            </a:r>
            <a:r>
              <a:rPr lang="en-US" sz="2400" dirty="0">
                <a:solidFill>
                  <a:srgbClr val="FF0000"/>
                </a:solidFill>
                <a:latin typeface="Cambria" panose="02040503050406030204" pitchFamily="18" charset="0"/>
                <a:ea typeface="Cambria" panose="02040503050406030204" pitchFamily="18" charset="0"/>
              </a:rPr>
              <a:t>)</a:t>
            </a:r>
          </a:p>
          <a:p>
            <a:pPr marL="0" indent="0" algn="just">
              <a:spcBef>
                <a:spcPts val="300"/>
              </a:spcBef>
              <a:buNone/>
              <a:defRPr/>
            </a:pPr>
            <a:r>
              <a:rPr lang="en-US" sz="2400" dirty="0">
                <a:solidFill>
                  <a:srgbClr val="0000FF"/>
                </a:solidFill>
                <a:latin typeface="Cambria" panose="02040503050406030204" pitchFamily="18" charset="0"/>
                <a:ea typeface="Cambria" panose="02040503050406030204" pitchFamily="18" charset="0"/>
              </a:rPr>
              <a:t>	RESULT2 </a:t>
            </a:r>
            <a:r>
              <a:rPr lang="en-US" sz="2400" dirty="0">
                <a:solidFill>
                  <a:srgbClr val="FF0000"/>
                </a:solidFill>
                <a:latin typeface="Cambria" panose="02040503050406030204" pitchFamily="18" charset="0"/>
                <a:ea typeface="Cambria" panose="02040503050406030204" pitchFamily="18" charset="0"/>
              </a:rPr>
              <a:t>(</a:t>
            </a:r>
            <a:r>
              <a:rPr lang="en-US" sz="2400" dirty="0" err="1">
                <a:solidFill>
                  <a:srgbClr val="FF0000"/>
                </a:solidFill>
                <a:latin typeface="Cambria" panose="02040503050406030204" pitchFamily="18" charset="0"/>
                <a:ea typeface="Cambria" panose="02040503050406030204" pitchFamily="18" charset="0"/>
              </a:rPr>
              <a:t>C_Code</a:t>
            </a:r>
            <a:r>
              <a:rPr lang="en-US" sz="2400" dirty="0">
                <a:solidFill>
                  <a:srgbClr val="FF0000"/>
                </a:solidFill>
                <a:latin typeface="Cambria" panose="02040503050406030204" pitchFamily="18" charset="0"/>
                <a:ea typeface="Cambria" panose="02040503050406030204" pitchFamily="18" charset="0"/>
              </a:rPr>
              <a:t>, </a:t>
            </a:r>
            <a:r>
              <a:rPr lang="en-US" sz="2400" dirty="0" err="1">
                <a:solidFill>
                  <a:srgbClr val="FF0000"/>
                </a:solidFill>
                <a:latin typeface="Cambria" panose="02040503050406030204" pitchFamily="18" charset="0"/>
                <a:ea typeface="Cambria" panose="02040503050406030204" pitchFamily="18" charset="0"/>
              </a:rPr>
              <a:t>C_Grade</a:t>
            </a:r>
            <a:r>
              <a:rPr lang="en-US" sz="2400" dirty="0">
                <a:solidFill>
                  <a:srgbClr val="FF0000"/>
                </a:solidFill>
                <a:latin typeface="Cambria" panose="02040503050406030204" pitchFamily="18" charset="0"/>
                <a:ea typeface="Cambria" panose="02040503050406030204" pitchFamily="18" charset="0"/>
              </a:rPr>
              <a:t>)</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0" indent="0" algn="just">
              <a:spcBef>
                <a:spcPts val="300"/>
              </a:spcBef>
              <a:buNone/>
              <a:defRPr/>
            </a:pPr>
            <a:endParaRPr lang="en-US" sz="24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4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CEEA6DA8-8174-3829-208E-BD276F4A1541}"/>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E68DA564-D76B-3565-7EA3-FD1227B7152A}"/>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33</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graphicFrame>
        <p:nvGraphicFramePr>
          <p:cNvPr id="4" name="Table 3">
            <a:extLst>
              <a:ext uri="{FF2B5EF4-FFF2-40B4-BE49-F238E27FC236}">
                <a16:creationId xmlns:a16="http://schemas.microsoft.com/office/drawing/2014/main" id="{C2F71EC7-8446-4B13-D5DC-9ED155D778C1}"/>
              </a:ext>
            </a:extLst>
          </p:cNvPr>
          <p:cNvGraphicFramePr>
            <a:graphicFrameLocks noGrp="1"/>
          </p:cNvGraphicFramePr>
          <p:nvPr>
            <p:extLst>
              <p:ext uri="{D42A27DB-BD31-4B8C-83A1-F6EECF244321}">
                <p14:modId xmlns:p14="http://schemas.microsoft.com/office/powerpoint/2010/main" val="4195403152"/>
              </p:ext>
            </p:extLst>
          </p:nvPr>
        </p:nvGraphicFramePr>
        <p:xfrm>
          <a:off x="385842" y="1186210"/>
          <a:ext cx="3657600" cy="198120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1978929430"/>
                    </a:ext>
                  </a:extLst>
                </a:gridCol>
                <a:gridCol w="1219200">
                  <a:extLst>
                    <a:ext uri="{9D8B030D-6E8A-4147-A177-3AD203B41FA5}">
                      <a16:colId xmlns:a16="http://schemas.microsoft.com/office/drawing/2014/main" val="329230623"/>
                    </a:ext>
                  </a:extLst>
                </a:gridCol>
                <a:gridCol w="1219200">
                  <a:extLst>
                    <a:ext uri="{9D8B030D-6E8A-4147-A177-3AD203B41FA5}">
                      <a16:colId xmlns:a16="http://schemas.microsoft.com/office/drawing/2014/main" val="2003954303"/>
                    </a:ext>
                  </a:extLst>
                </a:gridCol>
              </a:tblGrid>
              <a:tr h="370840">
                <a:tc>
                  <a:txBody>
                    <a:bodyPr/>
                    <a:lstStyle/>
                    <a:p>
                      <a:pPr algn="ctr"/>
                      <a:r>
                        <a:rPr lang="en-US" sz="2000" dirty="0" err="1">
                          <a:solidFill>
                            <a:srgbClr val="FFFF00"/>
                          </a:solidFill>
                          <a:latin typeface="Cambria" panose="02040503050406030204" pitchFamily="18" charset="0"/>
                          <a:ea typeface="Cambria" panose="02040503050406030204" pitchFamily="18" charset="0"/>
                        </a:rPr>
                        <a:t>RegNo</a:t>
                      </a:r>
                      <a:endParaRPr lang="en-US" sz="2000" dirty="0">
                        <a:solidFill>
                          <a:srgbClr val="FFFF00"/>
                        </a:solidFill>
                        <a:latin typeface="Cambria" panose="02040503050406030204" pitchFamily="18" charset="0"/>
                        <a:ea typeface="Cambria" panose="02040503050406030204" pitchFamily="18" charset="0"/>
                      </a:endParaRPr>
                    </a:p>
                  </a:txBody>
                  <a:tcPr/>
                </a:tc>
                <a:tc>
                  <a:txBody>
                    <a:bodyPr/>
                    <a:lstStyle/>
                    <a:p>
                      <a:pPr algn="ctr"/>
                      <a:r>
                        <a:rPr lang="en-US" sz="2000" dirty="0">
                          <a:solidFill>
                            <a:srgbClr val="FFFF00"/>
                          </a:solidFill>
                          <a:latin typeface="Cambria" panose="02040503050406030204" pitchFamily="18" charset="0"/>
                          <a:ea typeface="Cambria" panose="02040503050406030204" pitchFamily="18" charset="0"/>
                        </a:rPr>
                        <a:t>Name</a:t>
                      </a:r>
                    </a:p>
                  </a:txBody>
                  <a:tcPr/>
                </a:tc>
                <a:tc>
                  <a:txBody>
                    <a:bodyPr/>
                    <a:lstStyle/>
                    <a:p>
                      <a:pPr algn="ctr"/>
                      <a:r>
                        <a:rPr lang="en-US" sz="2000" dirty="0">
                          <a:solidFill>
                            <a:srgbClr val="FFFF00"/>
                          </a:solidFill>
                          <a:latin typeface="Cambria" panose="02040503050406030204" pitchFamily="18" charset="0"/>
                          <a:ea typeface="Cambria" panose="02040503050406030204" pitchFamily="18" charset="0"/>
                        </a:rPr>
                        <a:t>Program</a:t>
                      </a:r>
                    </a:p>
                  </a:txBody>
                  <a:tcPr/>
                </a:tc>
                <a:extLst>
                  <a:ext uri="{0D108BD9-81ED-4DB2-BD59-A6C34878D82A}">
                    <a16:rowId xmlns:a16="http://schemas.microsoft.com/office/drawing/2014/main" val="2460288160"/>
                  </a:ext>
                </a:extLst>
              </a:tr>
              <a:tr h="370840">
                <a:tc>
                  <a:txBody>
                    <a:bodyPr/>
                    <a:lstStyle/>
                    <a:p>
                      <a:pPr algn="ctr"/>
                      <a:r>
                        <a:rPr lang="en-US" sz="2000" dirty="0">
                          <a:latin typeface="Cambria" panose="02040503050406030204" pitchFamily="18" charset="0"/>
                          <a:ea typeface="Cambria" panose="02040503050406030204" pitchFamily="18" charset="0"/>
                        </a:rPr>
                        <a:t>1</a:t>
                      </a:r>
                    </a:p>
                  </a:txBody>
                  <a:tcPr/>
                </a:tc>
                <a:tc>
                  <a:txBody>
                    <a:bodyPr/>
                    <a:lstStyle/>
                    <a:p>
                      <a:pPr algn="ctr"/>
                      <a:r>
                        <a:rPr lang="en-US" sz="2000" dirty="0" err="1">
                          <a:latin typeface="Cambria" panose="02040503050406030204" pitchFamily="18" charset="0"/>
                          <a:ea typeface="Cambria" panose="02040503050406030204" pitchFamily="18" charset="0"/>
                        </a:rPr>
                        <a:t>Arif</a:t>
                      </a:r>
                      <a:endParaRPr lang="en-US" sz="2000" dirty="0">
                        <a:latin typeface="Cambria" panose="02040503050406030204" pitchFamily="18" charset="0"/>
                        <a:ea typeface="Cambria" panose="02040503050406030204" pitchFamily="18" charset="0"/>
                      </a:endParaRPr>
                    </a:p>
                  </a:txBody>
                  <a:tcPr/>
                </a:tc>
                <a:tc>
                  <a:txBody>
                    <a:bodyPr/>
                    <a:lstStyle/>
                    <a:p>
                      <a:pPr algn="ctr"/>
                      <a:r>
                        <a:rPr lang="en-US" sz="2000" dirty="0">
                          <a:latin typeface="Cambria" panose="02040503050406030204" pitchFamily="18" charset="0"/>
                          <a:ea typeface="Cambria" panose="02040503050406030204" pitchFamily="18" charset="0"/>
                        </a:rPr>
                        <a:t>BSSE</a:t>
                      </a:r>
                    </a:p>
                  </a:txBody>
                  <a:tcPr/>
                </a:tc>
                <a:extLst>
                  <a:ext uri="{0D108BD9-81ED-4DB2-BD59-A6C34878D82A}">
                    <a16:rowId xmlns:a16="http://schemas.microsoft.com/office/drawing/2014/main" val="288858250"/>
                  </a:ext>
                </a:extLst>
              </a:tr>
              <a:tr h="370840">
                <a:tc>
                  <a:txBody>
                    <a:bodyPr/>
                    <a:lstStyle/>
                    <a:p>
                      <a:pPr algn="ctr"/>
                      <a:r>
                        <a:rPr lang="en-US" sz="2000" dirty="0">
                          <a:latin typeface="Cambria" panose="02040503050406030204" pitchFamily="18" charset="0"/>
                          <a:ea typeface="Cambria" panose="02040503050406030204" pitchFamily="18" charset="0"/>
                        </a:rPr>
                        <a:t>2</a:t>
                      </a:r>
                    </a:p>
                  </a:txBody>
                  <a:tcPr/>
                </a:tc>
                <a:tc>
                  <a:txBody>
                    <a:bodyPr/>
                    <a:lstStyle/>
                    <a:p>
                      <a:pPr algn="ctr"/>
                      <a:r>
                        <a:rPr lang="en-US" sz="2000" dirty="0" err="1">
                          <a:latin typeface="Cambria" panose="02040503050406030204" pitchFamily="18" charset="0"/>
                          <a:ea typeface="Cambria" panose="02040503050406030204" pitchFamily="18" charset="0"/>
                        </a:rPr>
                        <a:t>Talha</a:t>
                      </a:r>
                      <a:endParaRPr lang="en-US" sz="2000" dirty="0">
                        <a:latin typeface="Cambria" panose="02040503050406030204" pitchFamily="18" charset="0"/>
                        <a:ea typeface="Cambria" panose="02040503050406030204" pitchFamily="18" charset="0"/>
                      </a:endParaRPr>
                    </a:p>
                  </a:txBody>
                  <a:tcPr/>
                </a:tc>
                <a:tc>
                  <a:txBody>
                    <a:bodyPr/>
                    <a:lstStyle/>
                    <a:p>
                      <a:pPr algn="ctr"/>
                      <a:r>
                        <a:rPr lang="en-US" sz="2000" dirty="0">
                          <a:latin typeface="Cambria" panose="02040503050406030204" pitchFamily="18" charset="0"/>
                          <a:ea typeface="Cambria" panose="02040503050406030204" pitchFamily="18" charset="0"/>
                        </a:rPr>
                        <a:t>BSIT</a:t>
                      </a:r>
                    </a:p>
                  </a:txBody>
                  <a:tcPr/>
                </a:tc>
                <a:extLst>
                  <a:ext uri="{0D108BD9-81ED-4DB2-BD59-A6C34878D82A}">
                    <a16:rowId xmlns:a16="http://schemas.microsoft.com/office/drawing/2014/main" val="2756665283"/>
                  </a:ext>
                </a:extLst>
              </a:tr>
              <a:tr h="370840">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extLst>
                  <a:ext uri="{0D108BD9-81ED-4DB2-BD59-A6C34878D82A}">
                    <a16:rowId xmlns:a16="http://schemas.microsoft.com/office/drawing/2014/main" val="3112793402"/>
                  </a:ext>
                </a:extLst>
              </a:tr>
              <a:tr h="370840">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extLst>
                  <a:ext uri="{0D108BD9-81ED-4DB2-BD59-A6C34878D82A}">
                    <a16:rowId xmlns:a16="http://schemas.microsoft.com/office/drawing/2014/main" val="3998546655"/>
                  </a:ext>
                </a:extLst>
              </a:tr>
            </a:tbl>
          </a:graphicData>
        </a:graphic>
      </p:graphicFrame>
      <p:graphicFrame>
        <p:nvGraphicFramePr>
          <p:cNvPr id="5" name="Table 4">
            <a:extLst>
              <a:ext uri="{FF2B5EF4-FFF2-40B4-BE49-F238E27FC236}">
                <a16:creationId xmlns:a16="http://schemas.microsoft.com/office/drawing/2014/main" id="{E3FB5115-6C39-26D2-7E02-EE2FB00AE64A}"/>
              </a:ext>
            </a:extLst>
          </p:cNvPr>
          <p:cNvGraphicFramePr>
            <a:graphicFrameLocks noGrp="1"/>
          </p:cNvGraphicFramePr>
          <p:nvPr>
            <p:extLst>
              <p:ext uri="{D42A27DB-BD31-4B8C-83A1-F6EECF244321}">
                <p14:modId xmlns:p14="http://schemas.microsoft.com/office/powerpoint/2010/main" val="3693204433"/>
              </p:ext>
            </p:extLst>
          </p:nvPr>
        </p:nvGraphicFramePr>
        <p:xfrm>
          <a:off x="4977943" y="1186210"/>
          <a:ext cx="3657600" cy="35661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1978929430"/>
                    </a:ext>
                  </a:extLst>
                </a:gridCol>
                <a:gridCol w="1219200">
                  <a:extLst>
                    <a:ext uri="{9D8B030D-6E8A-4147-A177-3AD203B41FA5}">
                      <a16:colId xmlns:a16="http://schemas.microsoft.com/office/drawing/2014/main" val="329230623"/>
                    </a:ext>
                  </a:extLst>
                </a:gridCol>
                <a:gridCol w="1219200">
                  <a:extLst>
                    <a:ext uri="{9D8B030D-6E8A-4147-A177-3AD203B41FA5}">
                      <a16:colId xmlns:a16="http://schemas.microsoft.com/office/drawing/2014/main" val="2003954303"/>
                    </a:ext>
                  </a:extLst>
                </a:gridCol>
              </a:tblGrid>
              <a:tr h="370840">
                <a:tc>
                  <a:txBody>
                    <a:bodyPr/>
                    <a:lstStyle/>
                    <a:p>
                      <a:pPr algn="ctr"/>
                      <a:r>
                        <a:rPr lang="en-US" sz="2000" dirty="0" err="1">
                          <a:solidFill>
                            <a:srgbClr val="FFFF00"/>
                          </a:solidFill>
                          <a:latin typeface="Cambria" panose="02040503050406030204" pitchFamily="18" charset="0"/>
                          <a:ea typeface="Cambria" panose="02040503050406030204" pitchFamily="18" charset="0"/>
                        </a:rPr>
                        <a:t>RegNo</a:t>
                      </a:r>
                      <a:endParaRPr lang="en-US" sz="2000" dirty="0">
                        <a:solidFill>
                          <a:srgbClr val="FFFF00"/>
                        </a:solidFill>
                        <a:latin typeface="Cambria" panose="02040503050406030204" pitchFamily="18" charset="0"/>
                        <a:ea typeface="Cambria" panose="02040503050406030204" pitchFamily="18" charset="0"/>
                      </a:endParaRPr>
                    </a:p>
                  </a:txBody>
                  <a:tcPr/>
                </a:tc>
                <a:tc>
                  <a:txBody>
                    <a:bodyPr/>
                    <a:lstStyle/>
                    <a:p>
                      <a:pPr algn="ctr"/>
                      <a:r>
                        <a:rPr lang="en-US" sz="2000" dirty="0" err="1">
                          <a:solidFill>
                            <a:srgbClr val="FFFF00"/>
                          </a:solidFill>
                          <a:latin typeface="Cambria" panose="02040503050406030204" pitchFamily="18" charset="0"/>
                          <a:ea typeface="Cambria" panose="02040503050406030204" pitchFamily="18" charset="0"/>
                        </a:rPr>
                        <a:t>C_Code</a:t>
                      </a:r>
                      <a:endParaRPr lang="en-US" sz="2000" dirty="0">
                        <a:solidFill>
                          <a:srgbClr val="FFFF00"/>
                        </a:solidFill>
                        <a:latin typeface="Cambria" panose="02040503050406030204" pitchFamily="18" charset="0"/>
                        <a:ea typeface="Cambria" panose="02040503050406030204" pitchFamily="18" charset="0"/>
                      </a:endParaRPr>
                    </a:p>
                  </a:txBody>
                  <a:tcPr/>
                </a:tc>
                <a:tc>
                  <a:txBody>
                    <a:bodyPr/>
                    <a:lstStyle/>
                    <a:p>
                      <a:pPr algn="ctr"/>
                      <a:r>
                        <a:rPr lang="en-US" sz="2000" dirty="0" err="1">
                          <a:solidFill>
                            <a:srgbClr val="FFFF00"/>
                          </a:solidFill>
                          <a:latin typeface="Cambria" panose="02040503050406030204" pitchFamily="18" charset="0"/>
                          <a:ea typeface="Cambria" panose="02040503050406030204" pitchFamily="18" charset="0"/>
                        </a:rPr>
                        <a:t>C_Grade</a:t>
                      </a:r>
                      <a:endParaRPr lang="en-US" sz="2000" dirty="0">
                        <a:solidFill>
                          <a:srgbClr val="FFFF00"/>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460288160"/>
                  </a:ext>
                </a:extLst>
              </a:tr>
              <a:tr h="370840">
                <a:tc>
                  <a:txBody>
                    <a:bodyPr/>
                    <a:lstStyle/>
                    <a:p>
                      <a:pPr algn="ctr"/>
                      <a:r>
                        <a:rPr lang="en-US" sz="2000" dirty="0">
                          <a:latin typeface="Cambria" panose="02040503050406030204" pitchFamily="18" charset="0"/>
                          <a:ea typeface="Cambria" panose="02040503050406030204" pitchFamily="18" charset="0"/>
                        </a:rPr>
                        <a:t>1</a:t>
                      </a:r>
                    </a:p>
                  </a:txBody>
                  <a:tcPr/>
                </a:tc>
                <a:tc>
                  <a:txBody>
                    <a:bodyPr/>
                    <a:lstStyle/>
                    <a:p>
                      <a:pPr algn="ctr"/>
                      <a:r>
                        <a:rPr lang="en-US" sz="2000" dirty="0">
                          <a:latin typeface="Cambria" panose="02040503050406030204" pitchFamily="18" charset="0"/>
                          <a:ea typeface="Cambria" panose="02040503050406030204" pitchFamily="18" charset="0"/>
                        </a:rPr>
                        <a:t>310</a:t>
                      </a:r>
                    </a:p>
                  </a:txBody>
                  <a:tcPr/>
                </a:tc>
                <a:tc>
                  <a:txBody>
                    <a:bodyPr/>
                    <a:lstStyle/>
                    <a:p>
                      <a:pPr algn="ctr"/>
                      <a:r>
                        <a:rPr lang="en-US" sz="2000" dirty="0">
                          <a:latin typeface="Cambria" panose="02040503050406030204" pitchFamily="18" charset="0"/>
                          <a:ea typeface="Cambria" panose="02040503050406030204" pitchFamily="18" charset="0"/>
                        </a:rPr>
                        <a:t>B</a:t>
                      </a:r>
                    </a:p>
                  </a:txBody>
                  <a:tcPr/>
                </a:tc>
                <a:extLst>
                  <a:ext uri="{0D108BD9-81ED-4DB2-BD59-A6C34878D82A}">
                    <a16:rowId xmlns:a16="http://schemas.microsoft.com/office/drawing/2014/main" val="288858250"/>
                  </a:ext>
                </a:extLst>
              </a:tr>
              <a:tr h="370840">
                <a:tc>
                  <a:txBody>
                    <a:bodyPr/>
                    <a:lstStyle/>
                    <a:p>
                      <a:pPr algn="ctr"/>
                      <a:r>
                        <a:rPr lang="en-US" sz="2000" dirty="0">
                          <a:latin typeface="Cambria" panose="02040503050406030204" pitchFamily="18" charset="0"/>
                          <a:ea typeface="Cambria" panose="02040503050406030204" pitchFamily="18" charset="0"/>
                        </a:rPr>
                        <a:t>1</a:t>
                      </a:r>
                    </a:p>
                  </a:txBody>
                  <a:tcPr/>
                </a:tc>
                <a:tc>
                  <a:txBody>
                    <a:bodyPr/>
                    <a:lstStyle/>
                    <a:p>
                      <a:pPr algn="ctr"/>
                      <a:r>
                        <a:rPr lang="en-US" sz="2000" dirty="0">
                          <a:latin typeface="Cambria" panose="02040503050406030204" pitchFamily="18" charset="0"/>
                          <a:ea typeface="Cambria" panose="02040503050406030204" pitchFamily="18" charset="0"/>
                        </a:rPr>
                        <a:t>311</a:t>
                      </a:r>
                    </a:p>
                  </a:txBody>
                  <a:tcPr/>
                </a:tc>
                <a:tc>
                  <a:txBody>
                    <a:bodyPr/>
                    <a:lstStyle/>
                    <a:p>
                      <a:pPr algn="ctr"/>
                      <a:r>
                        <a:rPr lang="en-US" sz="2000" dirty="0">
                          <a:latin typeface="Cambria" panose="02040503050406030204" pitchFamily="18" charset="0"/>
                          <a:ea typeface="Cambria" panose="02040503050406030204" pitchFamily="18" charset="0"/>
                        </a:rPr>
                        <a:t>A</a:t>
                      </a:r>
                    </a:p>
                  </a:txBody>
                  <a:tcPr/>
                </a:tc>
                <a:extLst>
                  <a:ext uri="{0D108BD9-81ED-4DB2-BD59-A6C34878D82A}">
                    <a16:rowId xmlns:a16="http://schemas.microsoft.com/office/drawing/2014/main" val="2756665283"/>
                  </a:ext>
                </a:extLst>
              </a:tr>
              <a:tr h="370840">
                <a:tc>
                  <a:txBody>
                    <a:bodyPr/>
                    <a:lstStyle/>
                    <a:p>
                      <a:pPr algn="ctr"/>
                      <a:r>
                        <a:rPr lang="en-US" sz="2000" dirty="0">
                          <a:latin typeface="Cambria" panose="02040503050406030204" pitchFamily="18" charset="0"/>
                          <a:ea typeface="Cambria" panose="02040503050406030204" pitchFamily="18" charset="0"/>
                        </a:rPr>
                        <a:t>1</a:t>
                      </a:r>
                    </a:p>
                  </a:txBody>
                  <a:tcPr/>
                </a:tc>
                <a:tc>
                  <a:txBody>
                    <a:bodyPr/>
                    <a:lstStyle/>
                    <a:p>
                      <a:pPr algn="ctr"/>
                      <a:r>
                        <a:rPr lang="en-US" sz="2000" dirty="0">
                          <a:latin typeface="Cambria" panose="02040503050406030204" pitchFamily="18" charset="0"/>
                          <a:ea typeface="Cambria" panose="02040503050406030204" pitchFamily="18" charset="0"/>
                        </a:rPr>
                        <a:t>312</a:t>
                      </a:r>
                    </a:p>
                  </a:txBody>
                  <a:tcPr/>
                </a:tc>
                <a:tc>
                  <a:txBody>
                    <a:bodyPr/>
                    <a:lstStyle/>
                    <a:p>
                      <a:pPr algn="ctr"/>
                      <a:r>
                        <a:rPr lang="en-US" sz="2000" dirty="0">
                          <a:latin typeface="Cambria" panose="02040503050406030204" pitchFamily="18" charset="0"/>
                          <a:ea typeface="Cambria" panose="02040503050406030204" pitchFamily="18" charset="0"/>
                        </a:rPr>
                        <a:t>C</a:t>
                      </a:r>
                    </a:p>
                  </a:txBody>
                  <a:tcPr/>
                </a:tc>
                <a:extLst>
                  <a:ext uri="{0D108BD9-81ED-4DB2-BD59-A6C34878D82A}">
                    <a16:rowId xmlns:a16="http://schemas.microsoft.com/office/drawing/2014/main" val="1465323855"/>
                  </a:ext>
                </a:extLst>
              </a:tr>
              <a:tr h="370840">
                <a:tc>
                  <a:txBody>
                    <a:bodyPr/>
                    <a:lstStyle/>
                    <a:p>
                      <a:pPr algn="ctr"/>
                      <a:r>
                        <a:rPr lang="en-US" sz="2000" dirty="0">
                          <a:latin typeface="Cambria" panose="02040503050406030204" pitchFamily="18" charset="0"/>
                          <a:ea typeface="Cambria" panose="02040503050406030204" pitchFamily="18" charset="0"/>
                        </a:rPr>
                        <a:t>2</a:t>
                      </a:r>
                    </a:p>
                  </a:txBody>
                  <a:tcPr/>
                </a:tc>
                <a:tc>
                  <a:txBody>
                    <a:bodyPr/>
                    <a:lstStyle/>
                    <a:p>
                      <a:pPr algn="ctr"/>
                      <a:r>
                        <a:rPr lang="en-US" sz="2000" dirty="0">
                          <a:latin typeface="Cambria" panose="02040503050406030204" pitchFamily="18" charset="0"/>
                          <a:ea typeface="Cambria" panose="02040503050406030204" pitchFamily="18" charset="0"/>
                        </a:rPr>
                        <a:t>310</a:t>
                      </a:r>
                    </a:p>
                  </a:txBody>
                  <a:tcPr/>
                </a:tc>
                <a:tc>
                  <a:txBody>
                    <a:bodyPr/>
                    <a:lstStyle/>
                    <a:p>
                      <a:pPr algn="ctr"/>
                      <a:r>
                        <a:rPr lang="en-US" sz="2000" dirty="0">
                          <a:latin typeface="Cambria" panose="02040503050406030204" pitchFamily="18" charset="0"/>
                          <a:ea typeface="Cambria" panose="02040503050406030204" pitchFamily="18" charset="0"/>
                        </a:rPr>
                        <a:t>A</a:t>
                      </a:r>
                    </a:p>
                  </a:txBody>
                  <a:tcPr/>
                </a:tc>
                <a:extLst>
                  <a:ext uri="{0D108BD9-81ED-4DB2-BD59-A6C34878D82A}">
                    <a16:rowId xmlns:a16="http://schemas.microsoft.com/office/drawing/2014/main" val="1865390322"/>
                  </a:ext>
                </a:extLst>
              </a:tr>
              <a:tr h="370840">
                <a:tc>
                  <a:txBody>
                    <a:bodyPr/>
                    <a:lstStyle/>
                    <a:p>
                      <a:pPr algn="ctr"/>
                      <a:r>
                        <a:rPr lang="en-US" sz="2000" dirty="0">
                          <a:latin typeface="Cambria" panose="02040503050406030204" pitchFamily="18" charset="0"/>
                          <a:ea typeface="Cambria" panose="02040503050406030204" pitchFamily="18" charset="0"/>
                        </a:rPr>
                        <a:t>2</a:t>
                      </a:r>
                    </a:p>
                  </a:txBody>
                  <a:tcPr/>
                </a:tc>
                <a:tc>
                  <a:txBody>
                    <a:bodyPr/>
                    <a:lstStyle/>
                    <a:p>
                      <a:pPr algn="ctr"/>
                      <a:r>
                        <a:rPr lang="en-US" sz="2000" dirty="0">
                          <a:latin typeface="Cambria" panose="02040503050406030204" pitchFamily="18" charset="0"/>
                          <a:ea typeface="Cambria" panose="02040503050406030204" pitchFamily="18" charset="0"/>
                        </a:rPr>
                        <a:t>311</a:t>
                      </a:r>
                    </a:p>
                  </a:txBody>
                  <a:tcPr/>
                </a:tc>
                <a:tc>
                  <a:txBody>
                    <a:bodyPr/>
                    <a:lstStyle/>
                    <a:p>
                      <a:pPr algn="ctr"/>
                      <a:r>
                        <a:rPr lang="en-US" sz="2000" dirty="0">
                          <a:latin typeface="Cambria" panose="02040503050406030204" pitchFamily="18" charset="0"/>
                          <a:ea typeface="Cambria" panose="02040503050406030204" pitchFamily="18" charset="0"/>
                        </a:rPr>
                        <a:t>C</a:t>
                      </a:r>
                    </a:p>
                  </a:txBody>
                  <a:tcPr/>
                </a:tc>
                <a:extLst>
                  <a:ext uri="{0D108BD9-81ED-4DB2-BD59-A6C34878D82A}">
                    <a16:rowId xmlns:a16="http://schemas.microsoft.com/office/drawing/2014/main" val="386750618"/>
                  </a:ext>
                </a:extLst>
              </a:tr>
              <a:tr h="370840">
                <a:tc>
                  <a:txBody>
                    <a:bodyPr/>
                    <a:lstStyle/>
                    <a:p>
                      <a:pPr algn="ctr"/>
                      <a:r>
                        <a:rPr lang="en-US" sz="2000" dirty="0">
                          <a:latin typeface="Cambria" panose="02040503050406030204" pitchFamily="18" charset="0"/>
                          <a:ea typeface="Cambria" panose="02040503050406030204" pitchFamily="18" charset="0"/>
                        </a:rPr>
                        <a:t>2</a:t>
                      </a:r>
                    </a:p>
                  </a:txBody>
                  <a:tcPr/>
                </a:tc>
                <a:tc>
                  <a:txBody>
                    <a:bodyPr/>
                    <a:lstStyle/>
                    <a:p>
                      <a:pPr algn="ctr"/>
                      <a:r>
                        <a:rPr lang="en-US" sz="2000" dirty="0">
                          <a:latin typeface="Cambria" panose="02040503050406030204" pitchFamily="18" charset="0"/>
                          <a:ea typeface="Cambria" panose="02040503050406030204" pitchFamily="18" charset="0"/>
                        </a:rPr>
                        <a:t>312</a:t>
                      </a:r>
                    </a:p>
                  </a:txBody>
                  <a:tcPr/>
                </a:tc>
                <a:tc>
                  <a:txBody>
                    <a:bodyPr/>
                    <a:lstStyle/>
                    <a:p>
                      <a:pPr algn="ctr"/>
                      <a:r>
                        <a:rPr lang="en-US" sz="2000" dirty="0">
                          <a:latin typeface="Cambria" panose="02040503050406030204" pitchFamily="18" charset="0"/>
                          <a:ea typeface="Cambria" panose="02040503050406030204" pitchFamily="18" charset="0"/>
                        </a:rPr>
                        <a:t>B</a:t>
                      </a:r>
                    </a:p>
                  </a:txBody>
                  <a:tcPr/>
                </a:tc>
                <a:extLst>
                  <a:ext uri="{0D108BD9-81ED-4DB2-BD59-A6C34878D82A}">
                    <a16:rowId xmlns:a16="http://schemas.microsoft.com/office/drawing/2014/main" val="3727208376"/>
                  </a:ext>
                </a:extLst>
              </a:tr>
              <a:tr h="370840">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extLst>
                  <a:ext uri="{0D108BD9-81ED-4DB2-BD59-A6C34878D82A}">
                    <a16:rowId xmlns:a16="http://schemas.microsoft.com/office/drawing/2014/main" val="3112793402"/>
                  </a:ext>
                </a:extLst>
              </a:tr>
              <a:tr h="370840">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extLst>
                  <a:ext uri="{0D108BD9-81ED-4DB2-BD59-A6C34878D82A}">
                    <a16:rowId xmlns:a16="http://schemas.microsoft.com/office/drawing/2014/main" val="3998546655"/>
                  </a:ext>
                </a:extLst>
              </a:tr>
            </a:tbl>
          </a:graphicData>
        </a:graphic>
      </p:graphicFrame>
    </p:spTree>
    <p:extLst>
      <p:ext uri="{BB962C8B-B14F-4D97-AF65-F5344CB8AC3E}">
        <p14:creationId xmlns:p14="http://schemas.microsoft.com/office/powerpoint/2010/main" val="105165523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09A5A-9EFB-6555-87FF-1AAF269CD3F6}"/>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3CE1C084-48DC-680A-229F-ADE938CEE74A}"/>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Fifth Normal Form (5NF)</a:t>
            </a:r>
          </a:p>
        </p:txBody>
      </p:sp>
      <p:sp>
        <p:nvSpPr>
          <p:cNvPr id="10243" name="Rectangle 3">
            <a:extLst>
              <a:ext uri="{FF2B5EF4-FFF2-40B4-BE49-F238E27FC236}">
                <a16:creationId xmlns:a16="http://schemas.microsoft.com/office/drawing/2014/main" id="{49737108-3DD2-2F98-FDC2-A5D666A59345}"/>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Natural join of RESULT1 and RESULT2 yields the following tuples:</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r>
              <a:rPr lang="en-US" sz="2400" dirty="0">
                <a:latin typeface="Cambria" panose="02040503050406030204" pitchFamily="18" charset="0"/>
                <a:ea typeface="Cambria" panose="02040503050406030204" pitchFamily="18" charset="0"/>
              </a:rPr>
              <a:t>The </a:t>
            </a:r>
            <a:r>
              <a:rPr lang="en-US" sz="2400" dirty="0">
                <a:highlight>
                  <a:srgbClr val="FF0000"/>
                </a:highlight>
                <a:latin typeface="Cambria" panose="02040503050406030204" pitchFamily="18" charset="0"/>
                <a:ea typeface="Cambria" panose="02040503050406030204" pitchFamily="18" charset="0"/>
              </a:rPr>
              <a:t>highlighted tuples</a:t>
            </a:r>
            <a:r>
              <a:rPr lang="en-US" sz="2400" dirty="0">
                <a:latin typeface="Cambria" panose="02040503050406030204" pitchFamily="18" charset="0"/>
                <a:ea typeface="Cambria" panose="02040503050406030204" pitchFamily="18" charset="0"/>
              </a:rPr>
              <a:t> are </a:t>
            </a:r>
            <a:r>
              <a:rPr lang="en-US" sz="2400" dirty="0">
                <a:solidFill>
                  <a:srgbClr val="0000FF"/>
                </a:solidFill>
                <a:latin typeface="Cambria" panose="02040503050406030204" pitchFamily="18" charset="0"/>
                <a:ea typeface="Cambria" panose="02040503050406030204" pitchFamily="18" charset="0"/>
              </a:rPr>
              <a:t>spurious,</a:t>
            </a:r>
          </a:p>
          <a:p>
            <a:pPr marL="0" indent="0" algn="just">
              <a:spcBef>
                <a:spcPts val="300"/>
              </a:spcBef>
              <a:buNone/>
              <a:defRPr/>
            </a:pPr>
            <a:r>
              <a:rPr lang="en-US" sz="2400" dirty="0">
                <a:latin typeface="Cambria" panose="02040503050406030204" pitchFamily="18" charset="0"/>
                <a:ea typeface="Cambria" panose="02040503050406030204" pitchFamily="18" charset="0"/>
              </a:rPr>
              <a:t>which were not in the original relation. </a:t>
            </a:r>
          </a:p>
          <a:p>
            <a:pPr algn="just">
              <a:spcBef>
                <a:spcPts val="300"/>
              </a:spcBef>
              <a:defRPr/>
            </a:pPr>
            <a:r>
              <a:rPr lang="en-US" sz="2400" dirty="0">
                <a:latin typeface="Cambria" panose="02040503050406030204" pitchFamily="18" charset="0"/>
                <a:ea typeface="Cambria" panose="02040503050406030204" pitchFamily="18" charset="0"/>
              </a:rPr>
              <a:t>Hence, in spite of getting the </a:t>
            </a:r>
          </a:p>
          <a:p>
            <a:pPr marL="0" indent="0" algn="just">
              <a:spcBef>
                <a:spcPts val="300"/>
              </a:spcBef>
              <a:buNone/>
              <a:defRPr/>
            </a:pPr>
            <a:r>
              <a:rPr lang="en-US" sz="2400" dirty="0">
                <a:latin typeface="Cambria" panose="02040503050406030204" pitchFamily="18" charset="0"/>
                <a:ea typeface="Cambria" panose="02040503050406030204" pitchFamily="18" charset="0"/>
              </a:rPr>
              <a:t>additional tuples, the decomposition is </a:t>
            </a:r>
            <a:r>
              <a:rPr lang="en-US" sz="2400" dirty="0">
                <a:solidFill>
                  <a:srgbClr val="0000FF"/>
                </a:solidFill>
                <a:latin typeface="Cambria" panose="02040503050406030204" pitchFamily="18" charset="0"/>
                <a:ea typeface="Cambria" panose="02040503050406030204" pitchFamily="18" charset="0"/>
              </a:rPr>
              <a:t>lossy.</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0" indent="0" algn="just">
              <a:spcBef>
                <a:spcPts val="300"/>
              </a:spcBef>
              <a:buNone/>
              <a:defRPr/>
            </a:pPr>
            <a:endParaRPr lang="en-US" sz="24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400" dirty="0">
              <a:latin typeface="Cambria" panose="02040503050406030204" pitchFamily="18" charset="0"/>
              <a:ea typeface="Cambria" panose="02040503050406030204" pitchFamily="18" charset="0"/>
            </a:endParaRPr>
          </a:p>
        </p:txBody>
      </p:sp>
      <p:graphicFrame>
        <p:nvGraphicFramePr>
          <p:cNvPr id="4" name="Table 3">
            <a:extLst>
              <a:ext uri="{FF2B5EF4-FFF2-40B4-BE49-F238E27FC236}">
                <a16:creationId xmlns:a16="http://schemas.microsoft.com/office/drawing/2014/main" id="{4CB22986-AA7B-C1CB-C1A9-345D1F988B73}"/>
              </a:ext>
            </a:extLst>
          </p:cNvPr>
          <p:cNvGraphicFramePr>
            <a:graphicFrameLocks noGrp="1"/>
          </p:cNvGraphicFramePr>
          <p:nvPr>
            <p:extLst>
              <p:ext uri="{D42A27DB-BD31-4B8C-83A1-F6EECF244321}">
                <p14:modId xmlns:p14="http://schemas.microsoft.com/office/powerpoint/2010/main" val="3755622456"/>
              </p:ext>
            </p:extLst>
          </p:nvPr>
        </p:nvGraphicFramePr>
        <p:xfrm>
          <a:off x="601864" y="1484784"/>
          <a:ext cx="2025918" cy="3566160"/>
        </p:xfrm>
        <a:graphic>
          <a:graphicData uri="http://schemas.openxmlformats.org/drawingml/2006/table">
            <a:tbl>
              <a:tblPr firstRow="1" bandRow="1">
                <a:tableStyleId>{5C22544A-7EE6-4342-B048-85BDC9FD1C3A}</a:tableStyleId>
              </a:tblPr>
              <a:tblGrid>
                <a:gridCol w="1012959">
                  <a:extLst>
                    <a:ext uri="{9D8B030D-6E8A-4147-A177-3AD203B41FA5}">
                      <a16:colId xmlns:a16="http://schemas.microsoft.com/office/drawing/2014/main" val="1978929430"/>
                    </a:ext>
                  </a:extLst>
                </a:gridCol>
                <a:gridCol w="1012959">
                  <a:extLst>
                    <a:ext uri="{9D8B030D-6E8A-4147-A177-3AD203B41FA5}">
                      <a16:colId xmlns:a16="http://schemas.microsoft.com/office/drawing/2014/main" val="329230623"/>
                    </a:ext>
                  </a:extLst>
                </a:gridCol>
              </a:tblGrid>
              <a:tr h="370840">
                <a:tc>
                  <a:txBody>
                    <a:bodyPr/>
                    <a:lstStyle/>
                    <a:p>
                      <a:pPr algn="ctr"/>
                      <a:r>
                        <a:rPr lang="en-US" sz="2000" dirty="0" err="1">
                          <a:solidFill>
                            <a:srgbClr val="FFFF00"/>
                          </a:solidFill>
                          <a:latin typeface="Cambria" panose="02040503050406030204" pitchFamily="18" charset="0"/>
                          <a:ea typeface="Cambria" panose="02040503050406030204" pitchFamily="18" charset="0"/>
                        </a:rPr>
                        <a:t>RegNo</a:t>
                      </a:r>
                      <a:endParaRPr lang="en-US" sz="2000" dirty="0">
                        <a:solidFill>
                          <a:srgbClr val="FFFF00"/>
                        </a:solidFill>
                        <a:latin typeface="Cambria" panose="02040503050406030204" pitchFamily="18" charset="0"/>
                        <a:ea typeface="Cambria" panose="02040503050406030204" pitchFamily="18" charset="0"/>
                      </a:endParaRPr>
                    </a:p>
                  </a:txBody>
                  <a:tcPr/>
                </a:tc>
                <a:tc>
                  <a:txBody>
                    <a:bodyPr/>
                    <a:lstStyle/>
                    <a:p>
                      <a:pPr algn="ctr"/>
                      <a:r>
                        <a:rPr lang="en-US" sz="2000" dirty="0" err="1">
                          <a:solidFill>
                            <a:srgbClr val="FFFF00"/>
                          </a:solidFill>
                          <a:latin typeface="Cambria" panose="02040503050406030204" pitchFamily="18" charset="0"/>
                          <a:ea typeface="Cambria" panose="02040503050406030204" pitchFamily="18" charset="0"/>
                        </a:rPr>
                        <a:t>C_Code</a:t>
                      </a:r>
                      <a:endParaRPr lang="en-US" sz="2000" dirty="0">
                        <a:solidFill>
                          <a:srgbClr val="FFFF00"/>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460288160"/>
                  </a:ext>
                </a:extLst>
              </a:tr>
              <a:tr h="370840">
                <a:tc>
                  <a:txBody>
                    <a:bodyPr/>
                    <a:lstStyle/>
                    <a:p>
                      <a:pPr algn="ctr"/>
                      <a:r>
                        <a:rPr lang="en-US" sz="2000" dirty="0">
                          <a:latin typeface="Cambria" panose="02040503050406030204" pitchFamily="18" charset="0"/>
                          <a:ea typeface="Cambria" panose="02040503050406030204" pitchFamily="18" charset="0"/>
                        </a:rPr>
                        <a:t>1</a:t>
                      </a:r>
                    </a:p>
                  </a:txBody>
                  <a:tcPr/>
                </a:tc>
                <a:tc>
                  <a:txBody>
                    <a:bodyPr/>
                    <a:lstStyle/>
                    <a:p>
                      <a:pPr algn="ctr"/>
                      <a:r>
                        <a:rPr lang="en-US" sz="2000" dirty="0">
                          <a:latin typeface="Cambria" panose="02040503050406030204" pitchFamily="18" charset="0"/>
                          <a:ea typeface="Cambria" panose="02040503050406030204" pitchFamily="18" charset="0"/>
                        </a:rPr>
                        <a:t>310</a:t>
                      </a:r>
                    </a:p>
                  </a:txBody>
                  <a:tcPr/>
                </a:tc>
                <a:extLst>
                  <a:ext uri="{0D108BD9-81ED-4DB2-BD59-A6C34878D82A}">
                    <a16:rowId xmlns:a16="http://schemas.microsoft.com/office/drawing/2014/main" val="288858250"/>
                  </a:ext>
                </a:extLst>
              </a:tr>
              <a:tr h="370840">
                <a:tc>
                  <a:txBody>
                    <a:bodyPr/>
                    <a:lstStyle/>
                    <a:p>
                      <a:pPr algn="ctr"/>
                      <a:r>
                        <a:rPr lang="en-US" sz="2000" dirty="0">
                          <a:latin typeface="Cambria" panose="02040503050406030204" pitchFamily="18" charset="0"/>
                          <a:ea typeface="Cambria" panose="02040503050406030204" pitchFamily="18" charset="0"/>
                        </a:rPr>
                        <a:t>1</a:t>
                      </a:r>
                    </a:p>
                  </a:txBody>
                  <a:tcPr/>
                </a:tc>
                <a:tc>
                  <a:txBody>
                    <a:bodyPr/>
                    <a:lstStyle/>
                    <a:p>
                      <a:pPr algn="ctr"/>
                      <a:r>
                        <a:rPr lang="en-US" sz="2000" dirty="0">
                          <a:latin typeface="Cambria" panose="02040503050406030204" pitchFamily="18" charset="0"/>
                          <a:ea typeface="Cambria" panose="02040503050406030204" pitchFamily="18" charset="0"/>
                        </a:rPr>
                        <a:t>311</a:t>
                      </a:r>
                    </a:p>
                  </a:txBody>
                  <a:tcPr/>
                </a:tc>
                <a:extLst>
                  <a:ext uri="{0D108BD9-81ED-4DB2-BD59-A6C34878D82A}">
                    <a16:rowId xmlns:a16="http://schemas.microsoft.com/office/drawing/2014/main" val="2756665283"/>
                  </a:ext>
                </a:extLst>
              </a:tr>
              <a:tr h="370840">
                <a:tc>
                  <a:txBody>
                    <a:bodyPr/>
                    <a:lstStyle/>
                    <a:p>
                      <a:pPr algn="ctr"/>
                      <a:r>
                        <a:rPr lang="en-US" sz="2000" dirty="0">
                          <a:latin typeface="Cambria" panose="02040503050406030204" pitchFamily="18" charset="0"/>
                          <a:ea typeface="Cambria" panose="02040503050406030204" pitchFamily="18" charset="0"/>
                        </a:rPr>
                        <a:t>1</a:t>
                      </a:r>
                    </a:p>
                  </a:txBody>
                  <a:tcPr/>
                </a:tc>
                <a:tc>
                  <a:txBody>
                    <a:bodyPr/>
                    <a:lstStyle/>
                    <a:p>
                      <a:pPr algn="ctr"/>
                      <a:r>
                        <a:rPr lang="en-US" sz="2000" dirty="0">
                          <a:latin typeface="Cambria" panose="02040503050406030204" pitchFamily="18" charset="0"/>
                          <a:ea typeface="Cambria" panose="02040503050406030204" pitchFamily="18" charset="0"/>
                        </a:rPr>
                        <a:t>312</a:t>
                      </a:r>
                    </a:p>
                  </a:txBody>
                  <a:tcPr/>
                </a:tc>
                <a:extLst>
                  <a:ext uri="{0D108BD9-81ED-4DB2-BD59-A6C34878D82A}">
                    <a16:rowId xmlns:a16="http://schemas.microsoft.com/office/drawing/2014/main" val="3112793402"/>
                  </a:ext>
                </a:extLst>
              </a:tr>
              <a:tr h="370840">
                <a:tc>
                  <a:txBody>
                    <a:bodyPr/>
                    <a:lstStyle/>
                    <a:p>
                      <a:pPr algn="ctr"/>
                      <a:r>
                        <a:rPr lang="en-US" sz="2000" dirty="0">
                          <a:latin typeface="Cambria" panose="02040503050406030204" pitchFamily="18" charset="0"/>
                          <a:ea typeface="Cambria" panose="02040503050406030204" pitchFamily="18" charset="0"/>
                        </a:rPr>
                        <a:t>2</a:t>
                      </a:r>
                    </a:p>
                  </a:txBody>
                  <a:tcPr/>
                </a:tc>
                <a:tc>
                  <a:txBody>
                    <a:bodyPr/>
                    <a:lstStyle/>
                    <a:p>
                      <a:pPr algn="ctr"/>
                      <a:r>
                        <a:rPr lang="en-US" sz="2000" dirty="0">
                          <a:latin typeface="Cambria" panose="02040503050406030204" pitchFamily="18" charset="0"/>
                          <a:ea typeface="Cambria" panose="02040503050406030204" pitchFamily="18" charset="0"/>
                        </a:rPr>
                        <a:t>310</a:t>
                      </a:r>
                    </a:p>
                  </a:txBody>
                  <a:tcPr/>
                </a:tc>
                <a:extLst>
                  <a:ext uri="{0D108BD9-81ED-4DB2-BD59-A6C34878D82A}">
                    <a16:rowId xmlns:a16="http://schemas.microsoft.com/office/drawing/2014/main" val="3998546655"/>
                  </a:ext>
                </a:extLst>
              </a:tr>
              <a:tr h="370840">
                <a:tc>
                  <a:txBody>
                    <a:bodyPr/>
                    <a:lstStyle/>
                    <a:p>
                      <a:pPr algn="ctr"/>
                      <a:r>
                        <a:rPr lang="en-US" sz="2000" dirty="0">
                          <a:latin typeface="Cambria" panose="02040503050406030204" pitchFamily="18" charset="0"/>
                          <a:ea typeface="Cambria" panose="02040503050406030204" pitchFamily="18" charset="0"/>
                        </a:rPr>
                        <a:t>2</a:t>
                      </a:r>
                    </a:p>
                  </a:txBody>
                  <a:tcPr/>
                </a:tc>
                <a:tc>
                  <a:txBody>
                    <a:bodyPr/>
                    <a:lstStyle/>
                    <a:p>
                      <a:pPr algn="ctr"/>
                      <a:r>
                        <a:rPr lang="en-US" sz="2000" dirty="0">
                          <a:latin typeface="Cambria" panose="02040503050406030204" pitchFamily="18" charset="0"/>
                          <a:ea typeface="Cambria" panose="02040503050406030204" pitchFamily="18" charset="0"/>
                        </a:rPr>
                        <a:t>311</a:t>
                      </a:r>
                    </a:p>
                  </a:txBody>
                  <a:tcPr/>
                </a:tc>
                <a:extLst>
                  <a:ext uri="{0D108BD9-81ED-4DB2-BD59-A6C34878D82A}">
                    <a16:rowId xmlns:a16="http://schemas.microsoft.com/office/drawing/2014/main" val="1837389498"/>
                  </a:ext>
                </a:extLst>
              </a:tr>
              <a:tr h="370840">
                <a:tc>
                  <a:txBody>
                    <a:bodyPr/>
                    <a:lstStyle/>
                    <a:p>
                      <a:pPr algn="ctr"/>
                      <a:r>
                        <a:rPr lang="en-US" sz="2000" dirty="0">
                          <a:latin typeface="Cambria" panose="02040503050406030204" pitchFamily="18" charset="0"/>
                          <a:ea typeface="Cambria" panose="02040503050406030204" pitchFamily="18" charset="0"/>
                        </a:rPr>
                        <a:t>2</a:t>
                      </a:r>
                    </a:p>
                  </a:txBody>
                  <a:tcPr/>
                </a:tc>
                <a:tc>
                  <a:txBody>
                    <a:bodyPr/>
                    <a:lstStyle/>
                    <a:p>
                      <a:pPr algn="ctr"/>
                      <a:r>
                        <a:rPr lang="en-US" sz="2000" dirty="0">
                          <a:latin typeface="Cambria" panose="02040503050406030204" pitchFamily="18" charset="0"/>
                          <a:ea typeface="Cambria" panose="02040503050406030204" pitchFamily="18" charset="0"/>
                        </a:rPr>
                        <a:t>312</a:t>
                      </a:r>
                    </a:p>
                  </a:txBody>
                  <a:tcPr/>
                </a:tc>
                <a:extLst>
                  <a:ext uri="{0D108BD9-81ED-4DB2-BD59-A6C34878D82A}">
                    <a16:rowId xmlns:a16="http://schemas.microsoft.com/office/drawing/2014/main" val="3491169652"/>
                  </a:ext>
                </a:extLst>
              </a:tr>
              <a:tr h="370840">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extLst>
                  <a:ext uri="{0D108BD9-81ED-4DB2-BD59-A6C34878D82A}">
                    <a16:rowId xmlns:a16="http://schemas.microsoft.com/office/drawing/2014/main" val="392865600"/>
                  </a:ext>
                </a:extLst>
              </a:tr>
              <a:tr h="370840">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extLst>
                  <a:ext uri="{0D108BD9-81ED-4DB2-BD59-A6C34878D82A}">
                    <a16:rowId xmlns:a16="http://schemas.microsoft.com/office/drawing/2014/main" val="2873918761"/>
                  </a:ext>
                </a:extLst>
              </a:tr>
            </a:tbl>
          </a:graphicData>
        </a:graphic>
      </p:graphicFrame>
      <p:graphicFrame>
        <p:nvGraphicFramePr>
          <p:cNvPr id="5" name="Table 4">
            <a:extLst>
              <a:ext uri="{FF2B5EF4-FFF2-40B4-BE49-F238E27FC236}">
                <a16:creationId xmlns:a16="http://schemas.microsoft.com/office/drawing/2014/main" id="{C10C17D8-B935-0B29-4D79-CA1AEFF02F7C}"/>
              </a:ext>
            </a:extLst>
          </p:cNvPr>
          <p:cNvGraphicFramePr>
            <a:graphicFrameLocks noGrp="1"/>
          </p:cNvGraphicFramePr>
          <p:nvPr>
            <p:extLst>
              <p:ext uri="{D42A27DB-BD31-4B8C-83A1-F6EECF244321}">
                <p14:modId xmlns:p14="http://schemas.microsoft.com/office/powerpoint/2010/main" val="1083200923"/>
              </p:ext>
            </p:extLst>
          </p:nvPr>
        </p:nvGraphicFramePr>
        <p:xfrm>
          <a:off x="5796136" y="1186210"/>
          <a:ext cx="3168351" cy="5217160"/>
        </p:xfrm>
        <a:graphic>
          <a:graphicData uri="http://schemas.openxmlformats.org/drawingml/2006/table">
            <a:tbl>
              <a:tblPr firstRow="1" bandRow="1">
                <a:tableStyleId>{5C22544A-7EE6-4342-B048-85BDC9FD1C3A}</a:tableStyleId>
              </a:tblPr>
              <a:tblGrid>
                <a:gridCol w="1056117">
                  <a:extLst>
                    <a:ext uri="{9D8B030D-6E8A-4147-A177-3AD203B41FA5}">
                      <a16:colId xmlns:a16="http://schemas.microsoft.com/office/drawing/2014/main" val="1978929430"/>
                    </a:ext>
                  </a:extLst>
                </a:gridCol>
                <a:gridCol w="1056117">
                  <a:extLst>
                    <a:ext uri="{9D8B030D-6E8A-4147-A177-3AD203B41FA5}">
                      <a16:colId xmlns:a16="http://schemas.microsoft.com/office/drawing/2014/main" val="329230623"/>
                    </a:ext>
                  </a:extLst>
                </a:gridCol>
                <a:gridCol w="1056117">
                  <a:extLst>
                    <a:ext uri="{9D8B030D-6E8A-4147-A177-3AD203B41FA5}">
                      <a16:colId xmlns:a16="http://schemas.microsoft.com/office/drawing/2014/main" val="2003954303"/>
                    </a:ext>
                  </a:extLst>
                </a:gridCol>
              </a:tblGrid>
              <a:tr h="370840">
                <a:tc>
                  <a:txBody>
                    <a:bodyPr/>
                    <a:lstStyle/>
                    <a:p>
                      <a:pPr algn="ctr"/>
                      <a:r>
                        <a:rPr lang="en-US" sz="1800" dirty="0" err="1">
                          <a:solidFill>
                            <a:srgbClr val="FFFF00"/>
                          </a:solidFill>
                          <a:latin typeface="Cambria" panose="02040503050406030204" pitchFamily="18" charset="0"/>
                          <a:ea typeface="Cambria" panose="02040503050406030204" pitchFamily="18" charset="0"/>
                        </a:rPr>
                        <a:t>RegNo</a:t>
                      </a:r>
                      <a:endParaRPr lang="en-US" sz="1800" dirty="0">
                        <a:solidFill>
                          <a:srgbClr val="FFFF00"/>
                        </a:solidFill>
                        <a:latin typeface="Cambria" panose="02040503050406030204" pitchFamily="18" charset="0"/>
                        <a:ea typeface="Cambria" panose="02040503050406030204" pitchFamily="18" charset="0"/>
                      </a:endParaRPr>
                    </a:p>
                  </a:txBody>
                  <a:tcPr/>
                </a:tc>
                <a:tc>
                  <a:txBody>
                    <a:bodyPr/>
                    <a:lstStyle/>
                    <a:p>
                      <a:pPr algn="ctr"/>
                      <a:r>
                        <a:rPr lang="en-US" sz="1800" dirty="0" err="1">
                          <a:solidFill>
                            <a:srgbClr val="FFFF00"/>
                          </a:solidFill>
                          <a:latin typeface="Cambria" panose="02040503050406030204" pitchFamily="18" charset="0"/>
                          <a:ea typeface="Cambria" panose="02040503050406030204" pitchFamily="18" charset="0"/>
                        </a:rPr>
                        <a:t>C_Code</a:t>
                      </a:r>
                      <a:endParaRPr lang="en-US" sz="1800" dirty="0">
                        <a:solidFill>
                          <a:srgbClr val="FFFF00"/>
                        </a:solidFill>
                        <a:latin typeface="Cambria" panose="02040503050406030204" pitchFamily="18" charset="0"/>
                        <a:ea typeface="Cambria" panose="02040503050406030204" pitchFamily="18" charset="0"/>
                      </a:endParaRPr>
                    </a:p>
                  </a:txBody>
                  <a:tcPr/>
                </a:tc>
                <a:tc>
                  <a:txBody>
                    <a:bodyPr/>
                    <a:lstStyle/>
                    <a:p>
                      <a:pPr algn="ctr"/>
                      <a:r>
                        <a:rPr lang="en-US" sz="1800" dirty="0" err="1">
                          <a:solidFill>
                            <a:srgbClr val="FFFF00"/>
                          </a:solidFill>
                          <a:latin typeface="Cambria" panose="02040503050406030204" pitchFamily="18" charset="0"/>
                          <a:ea typeface="Cambria" panose="02040503050406030204" pitchFamily="18" charset="0"/>
                        </a:rPr>
                        <a:t>C_Grade</a:t>
                      </a:r>
                      <a:endParaRPr lang="en-US" sz="1800" dirty="0">
                        <a:solidFill>
                          <a:srgbClr val="FFFF00"/>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460288160"/>
                  </a:ext>
                </a:extLst>
              </a:tr>
              <a:tr h="370840">
                <a:tc>
                  <a:txBody>
                    <a:bodyPr/>
                    <a:lstStyle/>
                    <a:p>
                      <a:pPr algn="ctr"/>
                      <a:r>
                        <a:rPr lang="en-US" sz="1800" dirty="0">
                          <a:latin typeface="Cambria" panose="02040503050406030204" pitchFamily="18" charset="0"/>
                          <a:ea typeface="Cambria" panose="02040503050406030204" pitchFamily="18" charset="0"/>
                        </a:rPr>
                        <a:t>1</a:t>
                      </a:r>
                    </a:p>
                  </a:txBody>
                  <a:tcPr/>
                </a:tc>
                <a:tc>
                  <a:txBody>
                    <a:bodyPr/>
                    <a:lstStyle/>
                    <a:p>
                      <a:pPr algn="ctr"/>
                      <a:r>
                        <a:rPr lang="en-US" sz="1800" dirty="0">
                          <a:latin typeface="Cambria" panose="02040503050406030204" pitchFamily="18" charset="0"/>
                          <a:ea typeface="Cambria" panose="02040503050406030204" pitchFamily="18" charset="0"/>
                        </a:rPr>
                        <a:t>310</a:t>
                      </a:r>
                    </a:p>
                  </a:txBody>
                  <a:tcPr/>
                </a:tc>
                <a:tc>
                  <a:txBody>
                    <a:bodyPr/>
                    <a:lstStyle/>
                    <a:p>
                      <a:pPr algn="ctr"/>
                      <a:r>
                        <a:rPr lang="en-US" sz="1800" dirty="0">
                          <a:latin typeface="Cambria" panose="02040503050406030204" pitchFamily="18" charset="0"/>
                          <a:ea typeface="Cambria" panose="02040503050406030204" pitchFamily="18" charset="0"/>
                        </a:rPr>
                        <a:t>B</a:t>
                      </a:r>
                    </a:p>
                  </a:txBody>
                  <a:tcPr/>
                </a:tc>
                <a:extLst>
                  <a:ext uri="{0D108BD9-81ED-4DB2-BD59-A6C34878D82A}">
                    <a16:rowId xmlns:a16="http://schemas.microsoft.com/office/drawing/2014/main" val="288858250"/>
                  </a:ext>
                </a:extLst>
              </a:tr>
              <a:tr h="370840">
                <a:tc>
                  <a:txBody>
                    <a:bodyPr/>
                    <a:lstStyle/>
                    <a:p>
                      <a:pPr algn="ctr"/>
                      <a:r>
                        <a:rPr lang="en-US" sz="1800" dirty="0">
                          <a:latin typeface="Cambria" panose="02040503050406030204" pitchFamily="18" charset="0"/>
                          <a:ea typeface="Cambria" panose="02040503050406030204" pitchFamily="18" charset="0"/>
                        </a:rPr>
                        <a:t>1</a:t>
                      </a:r>
                    </a:p>
                  </a:txBody>
                  <a:tcPr>
                    <a:solidFill>
                      <a:srgbClr val="FF0000"/>
                    </a:solidFill>
                  </a:tcPr>
                </a:tc>
                <a:tc>
                  <a:txBody>
                    <a:bodyPr/>
                    <a:lstStyle/>
                    <a:p>
                      <a:pPr algn="ctr"/>
                      <a:r>
                        <a:rPr lang="en-US" sz="1800" dirty="0">
                          <a:latin typeface="Cambria" panose="02040503050406030204" pitchFamily="18" charset="0"/>
                          <a:ea typeface="Cambria" panose="02040503050406030204" pitchFamily="18" charset="0"/>
                        </a:rPr>
                        <a:t>310</a:t>
                      </a:r>
                    </a:p>
                  </a:txBody>
                  <a:tcPr>
                    <a:solidFill>
                      <a:srgbClr val="FF0000"/>
                    </a:solidFill>
                  </a:tcPr>
                </a:tc>
                <a:tc>
                  <a:txBody>
                    <a:bodyPr/>
                    <a:lstStyle/>
                    <a:p>
                      <a:pPr algn="ctr"/>
                      <a:r>
                        <a:rPr lang="en-US" sz="1800" dirty="0">
                          <a:latin typeface="Cambria" panose="02040503050406030204" pitchFamily="18" charset="0"/>
                          <a:ea typeface="Cambria" panose="02040503050406030204" pitchFamily="18" charset="0"/>
                        </a:rPr>
                        <a:t>A</a:t>
                      </a:r>
                    </a:p>
                  </a:txBody>
                  <a:tcPr>
                    <a:solidFill>
                      <a:srgbClr val="FF0000"/>
                    </a:solidFill>
                  </a:tcPr>
                </a:tc>
                <a:extLst>
                  <a:ext uri="{0D108BD9-81ED-4DB2-BD59-A6C34878D82A}">
                    <a16:rowId xmlns:a16="http://schemas.microsoft.com/office/drawing/2014/main" val="2756665283"/>
                  </a:ext>
                </a:extLst>
              </a:tr>
              <a:tr h="370840">
                <a:tc>
                  <a:txBody>
                    <a:bodyPr/>
                    <a:lstStyle/>
                    <a:p>
                      <a:pPr algn="ctr"/>
                      <a:r>
                        <a:rPr lang="en-US" sz="1800" dirty="0">
                          <a:latin typeface="Cambria" panose="02040503050406030204" pitchFamily="18" charset="0"/>
                          <a:ea typeface="Cambria" panose="02040503050406030204" pitchFamily="18" charset="0"/>
                        </a:rPr>
                        <a:t>1</a:t>
                      </a:r>
                    </a:p>
                  </a:txBody>
                  <a:tcPr/>
                </a:tc>
                <a:tc>
                  <a:txBody>
                    <a:bodyPr/>
                    <a:lstStyle/>
                    <a:p>
                      <a:pPr algn="ctr"/>
                      <a:r>
                        <a:rPr lang="en-US" sz="1800" dirty="0">
                          <a:latin typeface="Cambria" panose="02040503050406030204" pitchFamily="18" charset="0"/>
                          <a:ea typeface="Cambria" panose="02040503050406030204" pitchFamily="18" charset="0"/>
                        </a:rPr>
                        <a:t>311</a:t>
                      </a:r>
                    </a:p>
                  </a:txBody>
                  <a:tcPr/>
                </a:tc>
                <a:tc>
                  <a:txBody>
                    <a:bodyPr/>
                    <a:lstStyle/>
                    <a:p>
                      <a:pPr algn="ctr"/>
                      <a:r>
                        <a:rPr lang="en-US" sz="1800" dirty="0">
                          <a:latin typeface="Cambria" panose="02040503050406030204" pitchFamily="18" charset="0"/>
                          <a:ea typeface="Cambria" panose="02040503050406030204" pitchFamily="18" charset="0"/>
                        </a:rPr>
                        <a:t>A</a:t>
                      </a:r>
                    </a:p>
                  </a:txBody>
                  <a:tcPr/>
                </a:tc>
                <a:extLst>
                  <a:ext uri="{0D108BD9-81ED-4DB2-BD59-A6C34878D82A}">
                    <a16:rowId xmlns:a16="http://schemas.microsoft.com/office/drawing/2014/main" val="1465323855"/>
                  </a:ext>
                </a:extLst>
              </a:tr>
              <a:tr h="370840">
                <a:tc>
                  <a:txBody>
                    <a:bodyPr/>
                    <a:lstStyle/>
                    <a:p>
                      <a:pPr algn="ctr"/>
                      <a:r>
                        <a:rPr lang="en-US" sz="1800" dirty="0">
                          <a:latin typeface="Cambria" panose="02040503050406030204" pitchFamily="18" charset="0"/>
                          <a:ea typeface="Cambria" panose="02040503050406030204" pitchFamily="18" charset="0"/>
                        </a:rPr>
                        <a:t>1</a:t>
                      </a:r>
                    </a:p>
                  </a:txBody>
                  <a:tcPr>
                    <a:solidFill>
                      <a:srgbClr val="FF0000"/>
                    </a:solidFill>
                  </a:tcPr>
                </a:tc>
                <a:tc>
                  <a:txBody>
                    <a:bodyPr/>
                    <a:lstStyle/>
                    <a:p>
                      <a:pPr algn="ctr"/>
                      <a:r>
                        <a:rPr lang="en-US" sz="1800" dirty="0">
                          <a:latin typeface="Cambria" panose="02040503050406030204" pitchFamily="18" charset="0"/>
                          <a:ea typeface="Cambria" panose="02040503050406030204" pitchFamily="18" charset="0"/>
                        </a:rPr>
                        <a:t>311</a:t>
                      </a:r>
                    </a:p>
                  </a:txBody>
                  <a:tcPr>
                    <a:solidFill>
                      <a:srgbClr val="FF0000"/>
                    </a:solidFill>
                  </a:tcPr>
                </a:tc>
                <a:tc>
                  <a:txBody>
                    <a:bodyPr/>
                    <a:lstStyle/>
                    <a:p>
                      <a:pPr algn="ctr"/>
                      <a:r>
                        <a:rPr lang="en-US" sz="1800" dirty="0">
                          <a:latin typeface="Cambria" panose="02040503050406030204" pitchFamily="18" charset="0"/>
                          <a:ea typeface="Cambria" panose="02040503050406030204" pitchFamily="18" charset="0"/>
                        </a:rPr>
                        <a:t>C</a:t>
                      </a:r>
                    </a:p>
                  </a:txBody>
                  <a:tcPr>
                    <a:solidFill>
                      <a:srgbClr val="FF0000"/>
                    </a:solidFill>
                  </a:tcPr>
                </a:tc>
                <a:extLst>
                  <a:ext uri="{0D108BD9-81ED-4DB2-BD59-A6C34878D82A}">
                    <a16:rowId xmlns:a16="http://schemas.microsoft.com/office/drawing/2014/main" val="1865390322"/>
                  </a:ext>
                </a:extLst>
              </a:tr>
              <a:tr h="370840">
                <a:tc>
                  <a:txBody>
                    <a:bodyPr/>
                    <a:lstStyle/>
                    <a:p>
                      <a:pPr algn="ctr"/>
                      <a:r>
                        <a:rPr lang="en-US" sz="1800" dirty="0">
                          <a:latin typeface="Cambria" panose="02040503050406030204" pitchFamily="18" charset="0"/>
                          <a:ea typeface="Cambria" panose="02040503050406030204" pitchFamily="18" charset="0"/>
                        </a:rPr>
                        <a:t>1</a:t>
                      </a:r>
                    </a:p>
                  </a:txBody>
                  <a:tcPr/>
                </a:tc>
                <a:tc>
                  <a:txBody>
                    <a:bodyPr/>
                    <a:lstStyle/>
                    <a:p>
                      <a:pPr algn="ctr"/>
                      <a:r>
                        <a:rPr lang="en-US" sz="1800" dirty="0">
                          <a:latin typeface="Cambria" panose="02040503050406030204" pitchFamily="18" charset="0"/>
                          <a:ea typeface="Cambria" panose="02040503050406030204" pitchFamily="18" charset="0"/>
                        </a:rPr>
                        <a:t>312</a:t>
                      </a:r>
                    </a:p>
                  </a:txBody>
                  <a:tcPr/>
                </a:tc>
                <a:tc>
                  <a:txBody>
                    <a:bodyPr/>
                    <a:lstStyle/>
                    <a:p>
                      <a:pPr algn="ctr"/>
                      <a:r>
                        <a:rPr lang="en-US" sz="1800" dirty="0">
                          <a:latin typeface="Cambria" panose="02040503050406030204" pitchFamily="18" charset="0"/>
                          <a:ea typeface="Cambria" panose="02040503050406030204" pitchFamily="18" charset="0"/>
                        </a:rPr>
                        <a:t>C</a:t>
                      </a:r>
                    </a:p>
                  </a:txBody>
                  <a:tcPr/>
                </a:tc>
                <a:extLst>
                  <a:ext uri="{0D108BD9-81ED-4DB2-BD59-A6C34878D82A}">
                    <a16:rowId xmlns:a16="http://schemas.microsoft.com/office/drawing/2014/main" val="386750618"/>
                  </a:ext>
                </a:extLst>
              </a:tr>
              <a:tr h="370840">
                <a:tc>
                  <a:txBody>
                    <a:bodyPr/>
                    <a:lstStyle/>
                    <a:p>
                      <a:pPr algn="ctr"/>
                      <a:r>
                        <a:rPr lang="en-US" sz="1800" dirty="0">
                          <a:latin typeface="Cambria" panose="02040503050406030204" pitchFamily="18" charset="0"/>
                          <a:ea typeface="Cambria" panose="02040503050406030204" pitchFamily="18" charset="0"/>
                        </a:rPr>
                        <a:t>1</a:t>
                      </a:r>
                    </a:p>
                  </a:txBody>
                  <a:tcPr>
                    <a:solidFill>
                      <a:srgbClr val="FF0000"/>
                    </a:solidFill>
                  </a:tcPr>
                </a:tc>
                <a:tc>
                  <a:txBody>
                    <a:bodyPr/>
                    <a:lstStyle/>
                    <a:p>
                      <a:pPr algn="ctr"/>
                      <a:r>
                        <a:rPr lang="en-US" sz="1800" dirty="0">
                          <a:latin typeface="Cambria" panose="02040503050406030204" pitchFamily="18" charset="0"/>
                          <a:ea typeface="Cambria" panose="02040503050406030204" pitchFamily="18" charset="0"/>
                        </a:rPr>
                        <a:t>312</a:t>
                      </a:r>
                    </a:p>
                  </a:txBody>
                  <a:tcPr>
                    <a:solidFill>
                      <a:srgbClr val="FF0000"/>
                    </a:solidFill>
                  </a:tcPr>
                </a:tc>
                <a:tc>
                  <a:txBody>
                    <a:bodyPr/>
                    <a:lstStyle/>
                    <a:p>
                      <a:pPr algn="ctr"/>
                      <a:r>
                        <a:rPr lang="en-US" sz="1800" dirty="0">
                          <a:latin typeface="Cambria" panose="02040503050406030204" pitchFamily="18" charset="0"/>
                          <a:ea typeface="Cambria" panose="02040503050406030204" pitchFamily="18" charset="0"/>
                        </a:rPr>
                        <a:t>B</a:t>
                      </a:r>
                    </a:p>
                  </a:txBody>
                  <a:tcPr>
                    <a:solidFill>
                      <a:srgbClr val="FF0000"/>
                    </a:solidFill>
                  </a:tcPr>
                </a:tc>
                <a:extLst>
                  <a:ext uri="{0D108BD9-81ED-4DB2-BD59-A6C34878D82A}">
                    <a16:rowId xmlns:a16="http://schemas.microsoft.com/office/drawing/2014/main" val="3727208376"/>
                  </a:ext>
                </a:extLst>
              </a:tr>
              <a:tr h="370840">
                <a:tc>
                  <a:txBody>
                    <a:bodyPr/>
                    <a:lstStyle/>
                    <a:p>
                      <a:pPr algn="ctr"/>
                      <a:r>
                        <a:rPr lang="en-US" sz="1800" dirty="0">
                          <a:latin typeface="Cambria" panose="02040503050406030204" pitchFamily="18" charset="0"/>
                          <a:ea typeface="Cambria" panose="02040503050406030204" pitchFamily="18" charset="0"/>
                        </a:rPr>
                        <a:t>2</a:t>
                      </a:r>
                    </a:p>
                  </a:txBody>
                  <a:tcPr>
                    <a:solidFill>
                      <a:srgbClr val="FF0000"/>
                    </a:solidFill>
                  </a:tcPr>
                </a:tc>
                <a:tc>
                  <a:txBody>
                    <a:bodyPr/>
                    <a:lstStyle/>
                    <a:p>
                      <a:pPr algn="ctr"/>
                      <a:r>
                        <a:rPr lang="en-US" sz="1800" dirty="0">
                          <a:latin typeface="Cambria" panose="02040503050406030204" pitchFamily="18" charset="0"/>
                          <a:ea typeface="Cambria" panose="02040503050406030204" pitchFamily="18" charset="0"/>
                        </a:rPr>
                        <a:t>310</a:t>
                      </a:r>
                    </a:p>
                  </a:txBody>
                  <a:tcPr>
                    <a:solidFill>
                      <a:srgbClr val="FF0000"/>
                    </a:solidFill>
                  </a:tcPr>
                </a:tc>
                <a:tc>
                  <a:txBody>
                    <a:bodyPr/>
                    <a:lstStyle/>
                    <a:p>
                      <a:pPr algn="ctr"/>
                      <a:r>
                        <a:rPr lang="en-US" sz="1800" dirty="0">
                          <a:latin typeface="Cambria" panose="02040503050406030204" pitchFamily="18" charset="0"/>
                          <a:ea typeface="Cambria" panose="02040503050406030204" pitchFamily="18" charset="0"/>
                        </a:rPr>
                        <a:t>B</a:t>
                      </a:r>
                    </a:p>
                  </a:txBody>
                  <a:tcPr>
                    <a:solidFill>
                      <a:srgbClr val="FF0000"/>
                    </a:solidFill>
                  </a:tcPr>
                </a:tc>
                <a:extLst>
                  <a:ext uri="{0D108BD9-81ED-4DB2-BD59-A6C34878D82A}">
                    <a16:rowId xmlns:a16="http://schemas.microsoft.com/office/drawing/2014/main" val="3112793402"/>
                  </a:ext>
                </a:extLst>
              </a:tr>
              <a:tr h="370840">
                <a:tc>
                  <a:txBody>
                    <a:bodyPr/>
                    <a:lstStyle/>
                    <a:p>
                      <a:pPr algn="ctr"/>
                      <a:r>
                        <a:rPr lang="en-US" sz="1800" dirty="0">
                          <a:latin typeface="Cambria" panose="02040503050406030204" pitchFamily="18" charset="0"/>
                          <a:ea typeface="Cambria" panose="02040503050406030204" pitchFamily="18" charset="0"/>
                        </a:rPr>
                        <a:t>2</a:t>
                      </a:r>
                    </a:p>
                  </a:txBody>
                  <a:tcPr/>
                </a:tc>
                <a:tc>
                  <a:txBody>
                    <a:bodyPr/>
                    <a:lstStyle/>
                    <a:p>
                      <a:pPr algn="ctr"/>
                      <a:r>
                        <a:rPr lang="en-US" sz="1800" dirty="0">
                          <a:latin typeface="Cambria" panose="02040503050406030204" pitchFamily="18" charset="0"/>
                          <a:ea typeface="Cambria" panose="02040503050406030204" pitchFamily="18" charset="0"/>
                        </a:rPr>
                        <a:t>310</a:t>
                      </a:r>
                    </a:p>
                  </a:txBody>
                  <a:tcPr/>
                </a:tc>
                <a:tc>
                  <a:txBody>
                    <a:bodyPr/>
                    <a:lstStyle/>
                    <a:p>
                      <a:pPr algn="ctr"/>
                      <a:r>
                        <a:rPr lang="en-US" sz="1800" dirty="0">
                          <a:latin typeface="Cambria" panose="02040503050406030204" pitchFamily="18" charset="0"/>
                          <a:ea typeface="Cambria" panose="02040503050406030204" pitchFamily="18" charset="0"/>
                        </a:rPr>
                        <a:t>A</a:t>
                      </a:r>
                    </a:p>
                  </a:txBody>
                  <a:tcPr/>
                </a:tc>
                <a:extLst>
                  <a:ext uri="{0D108BD9-81ED-4DB2-BD59-A6C34878D82A}">
                    <a16:rowId xmlns:a16="http://schemas.microsoft.com/office/drawing/2014/main" val="3998546655"/>
                  </a:ext>
                </a:extLst>
              </a:tr>
              <a:tr h="370840">
                <a:tc>
                  <a:txBody>
                    <a:bodyPr/>
                    <a:lstStyle/>
                    <a:p>
                      <a:pPr algn="ctr"/>
                      <a:r>
                        <a:rPr lang="en-US" sz="1800" dirty="0">
                          <a:latin typeface="Cambria" panose="02040503050406030204" pitchFamily="18" charset="0"/>
                          <a:ea typeface="Cambria" panose="02040503050406030204" pitchFamily="18" charset="0"/>
                        </a:rPr>
                        <a:t>2</a:t>
                      </a:r>
                    </a:p>
                  </a:txBody>
                  <a:tcPr>
                    <a:solidFill>
                      <a:srgbClr val="FF0000"/>
                    </a:solidFill>
                  </a:tcPr>
                </a:tc>
                <a:tc>
                  <a:txBody>
                    <a:bodyPr/>
                    <a:lstStyle/>
                    <a:p>
                      <a:pPr algn="ctr"/>
                      <a:r>
                        <a:rPr lang="en-US" sz="1800" dirty="0">
                          <a:latin typeface="Cambria" panose="02040503050406030204" pitchFamily="18" charset="0"/>
                          <a:ea typeface="Cambria" panose="02040503050406030204" pitchFamily="18" charset="0"/>
                        </a:rPr>
                        <a:t>311</a:t>
                      </a:r>
                    </a:p>
                  </a:txBody>
                  <a:tcPr>
                    <a:solidFill>
                      <a:srgbClr val="FF0000"/>
                    </a:solidFill>
                  </a:tcPr>
                </a:tc>
                <a:tc>
                  <a:txBody>
                    <a:bodyPr/>
                    <a:lstStyle/>
                    <a:p>
                      <a:pPr algn="ctr"/>
                      <a:r>
                        <a:rPr lang="en-US" sz="1800" dirty="0">
                          <a:latin typeface="Cambria" panose="02040503050406030204" pitchFamily="18" charset="0"/>
                          <a:ea typeface="Cambria" panose="02040503050406030204" pitchFamily="18" charset="0"/>
                        </a:rPr>
                        <a:t>A</a:t>
                      </a:r>
                    </a:p>
                  </a:txBody>
                  <a:tcPr>
                    <a:solidFill>
                      <a:srgbClr val="FF0000"/>
                    </a:solidFill>
                  </a:tcPr>
                </a:tc>
                <a:extLst>
                  <a:ext uri="{0D108BD9-81ED-4DB2-BD59-A6C34878D82A}">
                    <a16:rowId xmlns:a16="http://schemas.microsoft.com/office/drawing/2014/main" val="497062680"/>
                  </a:ext>
                </a:extLst>
              </a:tr>
              <a:tr h="370840">
                <a:tc>
                  <a:txBody>
                    <a:bodyPr/>
                    <a:lstStyle/>
                    <a:p>
                      <a:pPr algn="ctr"/>
                      <a:r>
                        <a:rPr lang="en-US" sz="1800" dirty="0">
                          <a:latin typeface="Cambria" panose="02040503050406030204" pitchFamily="18" charset="0"/>
                          <a:ea typeface="Cambria" panose="02040503050406030204" pitchFamily="18" charset="0"/>
                        </a:rPr>
                        <a:t>2</a:t>
                      </a:r>
                    </a:p>
                  </a:txBody>
                  <a:tcPr/>
                </a:tc>
                <a:tc>
                  <a:txBody>
                    <a:bodyPr/>
                    <a:lstStyle/>
                    <a:p>
                      <a:pPr algn="ctr"/>
                      <a:r>
                        <a:rPr lang="en-US" sz="1800" dirty="0">
                          <a:latin typeface="Cambria" panose="02040503050406030204" pitchFamily="18" charset="0"/>
                          <a:ea typeface="Cambria" panose="02040503050406030204" pitchFamily="18" charset="0"/>
                        </a:rPr>
                        <a:t>311</a:t>
                      </a:r>
                    </a:p>
                  </a:txBody>
                  <a:tcPr/>
                </a:tc>
                <a:tc>
                  <a:txBody>
                    <a:bodyPr/>
                    <a:lstStyle/>
                    <a:p>
                      <a:pPr algn="ctr"/>
                      <a:r>
                        <a:rPr lang="en-US" sz="1800" dirty="0">
                          <a:latin typeface="Cambria" panose="02040503050406030204" pitchFamily="18" charset="0"/>
                          <a:ea typeface="Cambria" panose="02040503050406030204" pitchFamily="18" charset="0"/>
                        </a:rPr>
                        <a:t>C</a:t>
                      </a:r>
                    </a:p>
                  </a:txBody>
                  <a:tcPr/>
                </a:tc>
                <a:extLst>
                  <a:ext uri="{0D108BD9-81ED-4DB2-BD59-A6C34878D82A}">
                    <a16:rowId xmlns:a16="http://schemas.microsoft.com/office/drawing/2014/main" val="1713238437"/>
                  </a:ext>
                </a:extLst>
              </a:tr>
              <a:tr h="370840">
                <a:tc>
                  <a:txBody>
                    <a:bodyPr/>
                    <a:lstStyle/>
                    <a:p>
                      <a:pPr algn="ctr"/>
                      <a:r>
                        <a:rPr lang="en-US" sz="1800" dirty="0">
                          <a:latin typeface="Cambria" panose="02040503050406030204" pitchFamily="18" charset="0"/>
                          <a:ea typeface="Cambria" panose="02040503050406030204" pitchFamily="18" charset="0"/>
                        </a:rPr>
                        <a:t>2</a:t>
                      </a:r>
                    </a:p>
                  </a:txBody>
                  <a:tcPr>
                    <a:solidFill>
                      <a:srgbClr val="FF0000"/>
                    </a:solidFill>
                  </a:tcPr>
                </a:tc>
                <a:tc>
                  <a:txBody>
                    <a:bodyPr/>
                    <a:lstStyle/>
                    <a:p>
                      <a:pPr algn="ctr"/>
                      <a:r>
                        <a:rPr lang="en-US" sz="1800" dirty="0">
                          <a:latin typeface="Cambria" panose="02040503050406030204" pitchFamily="18" charset="0"/>
                          <a:ea typeface="Cambria" panose="02040503050406030204" pitchFamily="18" charset="0"/>
                        </a:rPr>
                        <a:t>312</a:t>
                      </a:r>
                    </a:p>
                  </a:txBody>
                  <a:tcPr>
                    <a:solidFill>
                      <a:srgbClr val="FF0000"/>
                    </a:solidFill>
                  </a:tcPr>
                </a:tc>
                <a:tc>
                  <a:txBody>
                    <a:bodyPr/>
                    <a:lstStyle/>
                    <a:p>
                      <a:pPr algn="ctr"/>
                      <a:r>
                        <a:rPr lang="en-US" sz="1800" dirty="0">
                          <a:latin typeface="Cambria" panose="02040503050406030204" pitchFamily="18" charset="0"/>
                          <a:ea typeface="Cambria" panose="02040503050406030204" pitchFamily="18" charset="0"/>
                        </a:rPr>
                        <a:t>C</a:t>
                      </a:r>
                    </a:p>
                  </a:txBody>
                  <a:tcPr>
                    <a:solidFill>
                      <a:srgbClr val="FF0000"/>
                    </a:solidFill>
                  </a:tcPr>
                </a:tc>
                <a:extLst>
                  <a:ext uri="{0D108BD9-81ED-4DB2-BD59-A6C34878D82A}">
                    <a16:rowId xmlns:a16="http://schemas.microsoft.com/office/drawing/2014/main" val="2877518437"/>
                  </a:ext>
                </a:extLst>
              </a:tr>
              <a:tr h="370840">
                <a:tc>
                  <a:txBody>
                    <a:bodyPr/>
                    <a:lstStyle/>
                    <a:p>
                      <a:pPr algn="ctr"/>
                      <a:r>
                        <a:rPr lang="en-US" sz="1800" dirty="0">
                          <a:latin typeface="Cambria" panose="02040503050406030204" pitchFamily="18" charset="0"/>
                          <a:ea typeface="Cambria" panose="02040503050406030204" pitchFamily="18" charset="0"/>
                        </a:rPr>
                        <a:t>2</a:t>
                      </a:r>
                    </a:p>
                  </a:txBody>
                  <a:tcPr/>
                </a:tc>
                <a:tc>
                  <a:txBody>
                    <a:bodyPr/>
                    <a:lstStyle/>
                    <a:p>
                      <a:pPr algn="ctr"/>
                      <a:r>
                        <a:rPr lang="en-US" sz="1800" dirty="0">
                          <a:latin typeface="Cambria" panose="02040503050406030204" pitchFamily="18" charset="0"/>
                          <a:ea typeface="Cambria" panose="02040503050406030204" pitchFamily="18" charset="0"/>
                        </a:rPr>
                        <a:t>312</a:t>
                      </a:r>
                    </a:p>
                  </a:txBody>
                  <a:tcPr/>
                </a:tc>
                <a:tc>
                  <a:txBody>
                    <a:bodyPr/>
                    <a:lstStyle/>
                    <a:p>
                      <a:pPr algn="ctr"/>
                      <a:r>
                        <a:rPr lang="en-US" sz="1800" dirty="0">
                          <a:latin typeface="Cambria" panose="02040503050406030204" pitchFamily="18" charset="0"/>
                          <a:ea typeface="Cambria" panose="02040503050406030204" pitchFamily="18" charset="0"/>
                        </a:rPr>
                        <a:t>B</a:t>
                      </a:r>
                    </a:p>
                  </a:txBody>
                  <a:tcPr/>
                </a:tc>
                <a:extLst>
                  <a:ext uri="{0D108BD9-81ED-4DB2-BD59-A6C34878D82A}">
                    <a16:rowId xmlns:a16="http://schemas.microsoft.com/office/drawing/2014/main" val="1655099798"/>
                  </a:ext>
                </a:extLst>
              </a:tr>
              <a:tr h="370840">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extLst>
                  <a:ext uri="{0D108BD9-81ED-4DB2-BD59-A6C34878D82A}">
                    <a16:rowId xmlns:a16="http://schemas.microsoft.com/office/drawing/2014/main" val="1690880454"/>
                  </a:ext>
                </a:extLst>
              </a:tr>
            </a:tbl>
          </a:graphicData>
        </a:graphic>
      </p:graphicFrame>
      <p:graphicFrame>
        <p:nvGraphicFramePr>
          <p:cNvPr id="6" name="Table 5">
            <a:extLst>
              <a:ext uri="{FF2B5EF4-FFF2-40B4-BE49-F238E27FC236}">
                <a16:creationId xmlns:a16="http://schemas.microsoft.com/office/drawing/2014/main" id="{BE9D3750-9861-D53B-7353-540575643AB3}"/>
              </a:ext>
            </a:extLst>
          </p:cNvPr>
          <p:cNvGraphicFramePr>
            <a:graphicFrameLocks noGrp="1"/>
          </p:cNvGraphicFramePr>
          <p:nvPr>
            <p:extLst>
              <p:ext uri="{D42A27DB-BD31-4B8C-83A1-F6EECF244321}">
                <p14:modId xmlns:p14="http://schemas.microsoft.com/office/powerpoint/2010/main" val="3963648076"/>
              </p:ext>
            </p:extLst>
          </p:nvPr>
        </p:nvGraphicFramePr>
        <p:xfrm>
          <a:off x="2771798" y="1484784"/>
          <a:ext cx="2448274" cy="3566160"/>
        </p:xfrm>
        <a:graphic>
          <a:graphicData uri="http://schemas.openxmlformats.org/drawingml/2006/table">
            <a:tbl>
              <a:tblPr firstRow="1" bandRow="1">
                <a:tableStyleId>{5C22544A-7EE6-4342-B048-85BDC9FD1C3A}</a:tableStyleId>
              </a:tblPr>
              <a:tblGrid>
                <a:gridCol w="1224137">
                  <a:extLst>
                    <a:ext uri="{9D8B030D-6E8A-4147-A177-3AD203B41FA5}">
                      <a16:colId xmlns:a16="http://schemas.microsoft.com/office/drawing/2014/main" val="1978929430"/>
                    </a:ext>
                  </a:extLst>
                </a:gridCol>
                <a:gridCol w="1224137">
                  <a:extLst>
                    <a:ext uri="{9D8B030D-6E8A-4147-A177-3AD203B41FA5}">
                      <a16:colId xmlns:a16="http://schemas.microsoft.com/office/drawing/2014/main" val="329230623"/>
                    </a:ext>
                  </a:extLst>
                </a:gridCol>
              </a:tblGrid>
              <a:tr h="370840">
                <a:tc>
                  <a:txBody>
                    <a:bodyPr/>
                    <a:lstStyle/>
                    <a:p>
                      <a:pPr algn="ctr"/>
                      <a:r>
                        <a:rPr lang="en-US" sz="2000" dirty="0" err="1">
                          <a:solidFill>
                            <a:srgbClr val="FFFF00"/>
                          </a:solidFill>
                          <a:latin typeface="Cambria" panose="02040503050406030204" pitchFamily="18" charset="0"/>
                          <a:ea typeface="Cambria" panose="02040503050406030204" pitchFamily="18" charset="0"/>
                        </a:rPr>
                        <a:t>C_Code</a:t>
                      </a:r>
                      <a:endParaRPr lang="en-US" sz="2000" dirty="0">
                        <a:solidFill>
                          <a:srgbClr val="FFFF00"/>
                        </a:solidFill>
                        <a:latin typeface="Cambria" panose="02040503050406030204" pitchFamily="18" charset="0"/>
                        <a:ea typeface="Cambria" panose="02040503050406030204" pitchFamily="18" charset="0"/>
                      </a:endParaRPr>
                    </a:p>
                  </a:txBody>
                  <a:tcPr/>
                </a:tc>
                <a:tc>
                  <a:txBody>
                    <a:bodyPr/>
                    <a:lstStyle/>
                    <a:p>
                      <a:pPr algn="ctr"/>
                      <a:r>
                        <a:rPr lang="en-US" sz="2000" dirty="0" err="1">
                          <a:solidFill>
                            <a:srgbClr val="FFFF00"/>
                          </a:solidFill>
                          <a:latin typeface="Cambria" panose="02040503050406030204" pitchFamily="18" charset="0"/>
                          <a:ea typeface="Cambria" panose="02040503050406030204" pitchFamily="18" charset="0"/>
                        </a:rPr>
                        <a:t>C_Grade</a:t>
                      </a:r>
                      <a:endParaRPr lang="en-US" sz="2000" dirty="0">
                        <a:solidFill>
                          <a:srgbClr val="FFFF00"/>
                        </a:solidFill>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460288160"/>
                  </a:ext>
                </a:extLst>
              </a:tr>
              <a:tr h="370840">
                <a:tc>
                  <a:txBody>
                    <a:bodyPr/>
                    <a:lstStyle/>
                    <a:p>
                      <a:pPr algn="ctr"/>
                      <a:r>
                        <a:rPr lang="en-US" sz="2000" dirty="0">
                          <a:latin typeface="Cambria" panose="02040503050406030204" pitchFamily="18" charset="0"/>
                          <a:ea typeface="Cambria" panose="02040503050406030204" pitchFamily="18" charset="0"/>
                        </a:rPr>
                        <a:t>310</a:t>
                      </a:r>
                    </a:p>
                  </a:txBody>
                  <a:tcPr/>
                </a:tc>
                <a:tc>
                  <a:txBody>
                    <a:bodyPr/>
                    <a:lstStyle/>
                    <a:p>
                      <a:pPr algn="ctr"/>
                      <a:r>
                        <a:rPr lang="en-US" sz="2000" dirty="0">
                          <a:latin typeface="Cambria" panose="02040503050406030204" pitchFamily="18" charset="0"/>
                          <a:ea typeface="Cambria" panose="02040503050406030204" pitchFamily="18" charset="0"/>
                        </a:rPr>
                        <a:t>B</a:t>
                      </a:r>
                    </a:p>
                  </a:txBody>
                  <a:tcPr/>
                </a:tc>
                <a:extLst>
                  <a:ext uri="{0D108BD9-81ED-4DB2-BD59-A6C34878D82A}">
                    <a16:rowId xmlns:a16="http://schemas.microsoft.com/office/drawing/2014/main" val="288858250"/>
                  </a:ext>
                </a:extLst>
              </a:tr>
              <a:tr h="370840">
                <a:tc>
                  <a:txBody>
                    <a:bodyPr/>
                    <a:lstStyle/>
                    <a:p>
                      <a:pPr algn="ctr"/>
                      <a:r>
                        <a:rPr lang="en-US" sz="2000" dirty="0">
                          <a:latin typeface="Cambria" panose="02040503050406030204" pitchFamily="18" charset="0"/>
                          <a:ea typeface="Cambria" panose="02040503050406030204" pitchFamily="18" charset="0"/>
                        </a:rPr>
                        <a:t>311</a:t>
                      </a:r>
                    </a:p>
                  </a:txBody>
                  <a:tcPr/>
                </a:tc>
                <a:tc>
                  <a:txBody>
                    <a:bodyPr/>
                    <a:lstStyle/>
                    <a:p>
                      <a:pPr algn="ctr"/>
                      <a:r>
                        <a:rPr lang="en-US" sz="2000" dirty="0">
                          <a:latin typeface="Cambria" panose="02040503050406030204" pitchFamily="18" charset="0"/>
                          <a:ea typeface="Cambria" panose="02040503050406030204" pitchFamily="18" charset="0"/>
                        </a:rPr>
                        <a:t>A</a:t>
                      </a:r>
                    </a:p>
                  </a:txBody>
                  <a:tcPr/>
                </a:tc>
                <a:extLst>
                  <a:ext uri="{0D108BD9-81ED-4DB2-BD59-A6C34878D82A}">
                    <a16:rowId xmlns:a16="http://schemas.microsoft.com/office/drawing/2014/main" val="2756665283"/>
                  </a:ext>
                </a:extLst>
              </a:tr>
              <a:tr h="370840">
                <a:tc>
                  <a:txBody>
                    <a:bodyPr/>
                    <a:lstStyle/>
                    <a:p>
                      <a:pPr algn="ctr"/>
                      <a:r>
                        <a:rPr lang="en-US" sz="2000" dirty="0">
                          <a:latin typeface="Cambria" panose="02040503050406030204" pitchFamily="18" charset="0"/>
                          <a:ea typeface="Cambria" panose="02040503050406030204" pitchFamily="18" charset="0"/>
                        </a:rPr>
                        <a:t>312</a:t>
                      </a:r>
                    </a:p>
                  </a:txBody>
                  <a:tcPr/>
                </a:tc>
                <a:tc>
                  <a:txBody>
                    <a:bodyPr/>
                    <a:lstStyle/>
                    <a:p>
                      <a:pPr algn="ctr"/>
                      <a:r>
                        <a:rPr lang="en-US" sz="2000" dirty="0">
                          <a:latin typeface="Cambria" panose="02040503050406030204" pitchFamily="18" charset="0"/>
                          <a:ea typeface="Cambria" panose="02040503050406030204" pitchFamily="18" charset="0"/>
                        </a:rPr>
                        <a:t>C</a:t>
                      </a:r>
                    </a:p>
                  </a:txBody>
                  <a:tcPr/>
                </a:tc>
                <a:extLst>
                  <a:ext uri="{0D108BD9-81ED-4DB2-BD59-A6C34878D82A}">
                    <a16:rowId xmlns:a16="http://schemas.microsoft.com/office/drawing/2014/main" val="3112793402"/>
                  </a:ext>
                </a:extLst>
              </a:tr>
              <a:tr h="370840">
                <a:tc>
                  <a:txBody>
                    <a:bodyPr/>
                    <a:lstStyle/>
                    <a:p>
                      <a:pPr algn="ctr"/>
                      <a:r>
                        <a:rPr lang="en-US" sz="2000" dirty="0">
                          <a:latin typeface="Cambria" panose="02040503050406030204" pitchFamily="18" charset="0"/>
                          <a:ea typeface="Cambria" panose="02040503050406030204" pitchFamily="18" charset="0"/>
                        </a:rPr>
                        <a:t>310</a:t>
                      </a:r>
                    </a:p>
                  </a:txBody>
                  <a:tcPr/>
                </a:tc>
                <a:tc>
                  <a:txBody>
                    <a:bodyPr/>
                    <a:lstStyle/>
                    <a:p>
                      <a:pPr algn="ctr"/>
                      <a:r>
                        <a:rPr lang="en-US" sz="2000" dirty="0">
                          <a:latin typeface="Cambria" panose="02040503050406030204" pitchFamily="18" charset="0"/>
                          <a:ea typeface="Cambria" panose="02040503050406030204" pitchFamily="18" charset="0"/>
                        </a:rPr>
                        <a:t>A</a:t>
                      </a:r>
                    </a:p>
                  </a:txBody>
                  <a:tcPr/>
                </a:tc>
                <a:extLst>
                  <a:ext uri="{0D108BD9-81ED-4DB2-BD59-A6C34878D82A}">
                    <a16:rowId xmlns:a16="http://schemas.microsoft.com/office/drawing/2014/main" val="3998546655"/>
                  </a:ext>
                </a:extLst>
              </a:tr>
              <a:tr h="370840">
                <a:tc>
                  <a:txBody>
                    <a:bodyPr/>
                    <a:lstStyle/>
                    <a:p>
                      <a:pPr algn="ctr"/>
                      <a:r>
                        <a:rPr lang="en-US" sz="2000" dirty="0">
                          <a:latin typeface="Cambria" panose="02040503050406030204" pitchFamily="18" charset="0"/>
                          <a:ea typeface="Cambria" panose="02040503050406030204" pitchFamily="18" charset="0"/>
                        </a:rPr>
                        <a:t>311</a:t>
                      </a:r>
                    </a:p>
                  </a:txBody>
                  <a:tcPr/>
                </a:tc>
                <a:tc>
                  <a:txBody>
                    <a:bodyPr/>
                    <a:lstStyle/>
                    <a:p>
                      <a:pPr algn="ctr"/>
                      <a:r>
                        <a:rPr lang="en-US" sz="2000" dirty="0">
                          <a:latin typeface="Cambria" panose="02040503050406030204" pitchFamily="18" charset="0"/>
                          <a:ea typeface="Cambria" panose="02040503050406030204" pitchFamily="18" charset="0"/>
                        </a:rPr>
                        <a:t>C</a:t>
                      </a:r>
                    </a:p>
                  </a:txBody>
                  <a:tcPr/>
                </a:tc>
                <a:extLst>
                  <a:ext uri="{0D108BD9-81ED-4DB2-BD59-A6C34878D82A}">
                    <a16:rowId xmlns:a16="http://schemas.microsoft.com/office/drawing/2014/main" val="1837389498"/>
                  </a:ext>
                </a:extLst>
              </a:tr>
              <a:tr h="370840">
                <a:tc>
                  <a:txBody>
                    <a:bodyPr/>
                    <a:lstStyle/>
                    <a:p>
                      <a:pPr algn="ctr"/>
                      <a:r>
                        <a:rPr lang="en-US" sz="2000" dirty="0">
                          <a:latin typeface="Cambria" panose="02040503050406030204" pitchFamily="18" charset="0"/>
                          <a:ea typeface="Cambria" panose="02040503050406030204" pitchFamily="18" charset="0"/>
                        </a:rPr>
                        <a:t>312</a:t>
                      </a:r>
                    </a:p>
                  </a:txBody>
                  <a:tcPr/>
                </a:tc>
                <a:tc>
                  <a:txBody>
                    <a:bodyPr/>
                    <a:lstStyle/>
                    <a:p>
                      <a:pPr algn="ctr"/>
                      <a:r>
                        <a:rPr lang="en-US" sz="2000" dirty="0">
                          <a:latin typeface="Cambria" panose="02040503050406030204" pitchFamily="18" charset="0"/>
                          <a:ea typeface="Cambria" panose="02040503050406030204" pitchFamily="18" charset="0"/>
                        </a:rPr>
                        <a:t>B</a:t>
                      </a:r>
                    </a:p>
                  </a:txBody>
                  <a:tcPr/>
                </a:tc>
                <a:extLst>
                  <a:ext uri="{0D108BD9-81ED-4DB2-BD59-A6C34878D82A}">
                    <a16:rowId xmlns:a16="http://schemas.microsoft.com/office/drawing/2014/main" val="3491169652"/>
                  </a:ext>
                </a:extLst>
              </a:tr>
              <a:tr h="370840">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extLst>
                  <a:ext uri="{0D108BD9-81ED-4DB2-BD59-A6C34878D82A}">
                    <a16:rowId xmlns:a16="http://schemas.microsoft.com/office/drawing/2014/main" val="392865600"/>
                  </a:ext>
                </a:extLst>
              </a:tr>
              <a:tr h="370840">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tc>
                  <a:txBody>
                    <a:bodyPr/>
                    <a:lstStyle/>
                    <a:p>
                      <a:pPr algn="ctr"/>
                      <a:r>
                        <a:rPr lang="en-US" sz="2000" dirty="0">
                          <a:solidFill>
                            <a:srgbClr val="FF0000"/>
                          </a:solidFill>
                          <a:latin typeface="Cambria" panose="02040503050406030204" pitchFamily="18" charset="0"/>
                          <a:ea typeface="Cambria" panose="02040503050406030204" pitchFamily="18" charset="0"/>
                        </a:rPr>
                        <a:t>-</a:t>
                      </a:r>
                    </a:p>
                  </a:txBody>
                  <a:tcPr anchor="ctr"/>
                </a:tc>
                <a:extLst>
                  <a:ext uri="{0D108BD9-81ED-4DB2-BD59-A6C34878D82A}">
                    <a16:rowId xmlns:a16="http://schemas.microsoft.com/office/drawing/2014/main" val="2873918761"/>
                  </a:ext>
                </a:extLst>
              </a:tr>
            </a:tbl>
          </a:graphicData>
        </a:graphic>
      </p:graphicFrame>
    </p:spTree>
    <p:extLst>
      <p:ext uri="{BB962C8B-B14F-4D97-AF65-F5344CB8AC3E}">
        <p14:creationId xmlns:p14="http://schemas.microsoft.com/office/powerpoint/2010/main" val="2495567012"/>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3EB27-FAC9-8BAB-654F-A21AC00415F9}"/>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630C3C99-41C1-66E1-2D3E-809B26C612E1}"/>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Fifth Normal Form (5NF)</a:t>
            </a:r>
          </a:p>
        </p:txBody>
      </p:sp>
      <p:sp>
        <p:nvSpPr>
          <p:cNvPr id="10243" name="Rectangle 3">
            <a:extLst>
              <a:ext uri="{FF2B5EF4-FFF2-40B4-BE49-F238E27FC236}">
                <a16:creationId xmlns:a16="http://schemas.microsoft.com/office/drawing/2014/main" id="{56F92C02-186B-96C6-1F4A-F7CDE8E44BF6}"/>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We can guarantee that the decomposition is </a:t>
            </a:r>
            <a:r>
              <a:rPr lang="en-US" sz="2400" dirty="0">
                <a:solidFill>
                  <a:srgbClr val="0000FF"/>
                </a:solidFill>
                <a:latin typeface="Cambria" panose="02040503050406030204" pitchFamily="18" charset="0"/>
                <a:ea typeface="Cambria" panose="02040503050406030204" pitchFamily="18" charset="0"/>
              </a:rPr>
              <a:t>lossless</a:t>
            </a:r>
            <a:r>
              <a:rPr lang="en-US" sz="2400" dirty="0">
                <a:latin typeface="Cambria" panose="02040503050406030204" pitchFamily="18" charset="0"/>
                <a:ea typeface="Cambria" panose="02040503050406030204" pitchFamily="18" charset="0"/>
              </a:rPr>
              <a:t> by making sure that for each pair of relations that will be joined, the set of common attributes is a determinant in one of the relations.</a:t>
            </a:r>
          </a:p>
          <a:p>
            <a:pPr algn="just">
              <a:spcBef>
                <a:spcPts val="300"/>
              </a:spcBef>
              <a:defRPr/>
            </a:pPr>
            <a:r>
              <a:rPr lang="en-US" sz="2400" dirty="0">
                <a:latin typeface="Cambria" panose="02040503050406030204" pitchFamily="18" charset="0"/>
                <a:ea typeface="Cambria" panose="02040503050406030204" pitchFamily="18" charset="0"/>
              </a:rPr>
              <a:t>5NF is not easily verified as lower normal forms. </a:t>
            </a:r>
          </a:p>
          <a:p>
            <a:pPr algn="just">
              <a:spcBef>
                <a:spcPts val="300"/>
              </a:spcBef>
              <a:defRPr/>
            </a:pPr>
            <a:r>
              <a:rPr lang="en-US" sz="2400" dirty="0">
                <a:latin typeface="Cambria" panose="02040503050406030204" pitchFamily="18" charset="0"/>
                <a:ea typeface="Cambria" panose="02040503050406030204" pitchFamily="18" charset="0"/>
              </a:rPr>
              <a:t>In fact, no systematic method exists for obtaining 5NF or for ensuring that a set of relations is indeed in 5NF.</a:t>
            </a:r>
          </a:p>
          <a:p>
            <a:pPr algn="just">
              <a:spcBef>
                <a:spcPts val="300"/>
              </a:spcBef>
              <a:defRPr/>
            </a:pPr>
            <a:r>
              <a:rPr lang="en-US" sz="2400" dirty="0">
                <a:latin typeface="Cambria" panose="02040503050406030204" pitchFamily="18" charset="0"/>
                <a:ea typeface="Cambria" panose="02040503050406030204" pitchFamily="18" charset="0"/>
              </a:rPr>
              <a:t>It is tempting to suggest that such relations are pathological cases and are likely to be rare in practice. </a:t>
            </a:r>
          </a:p>
          <a:p>
            <a:pPr algn="just">
              <a:spcBef>
                <a:spcPts val="300"/>
              </a:spcBef>
              <a:defRPr/>
            </a:pPr>
            <a:r>
              <a:rPr lang="en-US" sz="2400" dirty="0">
                <a:latin typeface="Cambria" panose="02040503050406030204" pitchFamily="18" charset="0"/>
                <a:ea typeface="Cambria" panose="02040503050406030204" pitchFamily="18" charset="0"/>
              </a:rPr>
              <a:t>5NF is also called </a:t>
            </a:r>
            <a:r>
              <a:rPr lang="en-US" sz="2400" dirty="0">
                <a:solidFill>
                  <a:srgbClr val="0000FF"/>
                </a:solidFill>
                <a:latin typeface="Cambria" panose="02040503050406030204" pitchFamily="18" charset="0"/>
                <a:ea typeface="Cambria" panose="02040503050406030204" pitchFamily="18" charset="0"/>
              </a:rPr>
              <a:t>Project-Join Normal Form. </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0" indent="0" algn="just">
              <a:spcBef>
                <a:spcPts val="300"/>
              </a:spcBef>
              <a:buNone/>
              <a:defRPr/>
            </a:pPr>
            <a:endParaRPr lang="en-US" sz="24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4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35F2CEEE-F45C-F868-BEA0-D99ECA31EE9D}"/>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D8CD3EBB-7442-236B-31E4-90D495178646}"/>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35</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9478041"/>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71F49-E896-15E5-573A-19F84988075A}"/>
            </a:ext>
          </a:extLst>
        </p:cNvPr>
        <p:cNvGrpSpPr/>
        <p:nvPr/>
      </p:nvGrpSpPr>
      <p:grpSpPr>
        <a:xfrm>
          <a:off x="0" y="0"/>
          <a:ext cx="0" cy="0"/>
          <a:chOff x="0" y="0"/>
          <a:chExt cx="0" cy="0"/>
        </a:xfrm>
      </p:grpSpPr>
      <p:sp>
        <p:nvSpPr>
          <p:cNvPr id="30722" name="Rectangle 2">
            <a:extLst>
              <a:ext uri="{FF2B5EF4-FFF2-40B4-BE49-F238E27FC236}">
                <a16:creationId xmlns:a16="http://schemas.microsoft.com/office/drawing/2014/main" id="{E07CD859-08A3-DE47-C0A8-3909E8ED1494}"/>
              </a:ext>
            </a:extLst>
          </p:cNvPr>
          <p:cNvSpPr>
            <a:spLocks noGrp="1" noChangeArrowheads="1"/>
          </p:cNvSpPr>
          <p:nvPr>
            <p:ph type="title"/>
          </p:nvPr>
        </p:nvSpPr>
        <p:spPr>
          <a:xfrm>
            <a:off x="395536" y="261466"/>
            <a:ext cx="6480720" cy="503238"/>
          </a:xfrm>
        </p:spPr>
        <p:txBody>
          <a:bodyPr/>
          <a:lstStyle/>
          <a:p>
            <a:r>
              <a:rPr lang="en-US" altLang="en-US" sz="2800" b="1" u="sng" dirty="0">
                <a:solidFill>
                  <a:srgbClr val="D34817"/>
                </a:solidFill>
                <a:latin typeface="Cambria" panose="02040503050406030204" pitchFamily="18" charset="0"/>
                <a:ea typeface="Cambria" panose="02040503050406030204" pitchFamily="18" charset="0"/>
              </a:rPr>
              <a:t>General Guidelines </a:t>
            </a:r>
          </a:p>
        </p:txBody>
      </p:sp>
      <p:sp>
        <p:nvSpPr>
          <p:cNvPr id="10243" name="Rectangle 3">
            <a:extLst>
              <a:ext uri="{FF2B5EF4-FFF2-40B4-BE49-F238E27FC236}">
                <a16:creationId xmlns:a16="http://schemas.microsoft.com/office/drawing/2014/main" id="{8A8DFD46-A96D-ECC8-6202-766C8B398A7C}"/>
              </a:ext>
            </a:extLst>
          </p:cNvPr>
          <p:cNvSpPr>
            <a:spLocks noGrp="1" noChangeArrowheads="1"/>
          </p:cNvSpPr>
          <p:nvPr>
            <p:ph type="body" idx="1"/>
          </p:nvPr>
        </p:nvSpPr>
        <p:spPr>
          <a:xfrm>
            <a:off x="412751" y="682972"/>
            <a:ext cx="8407721" cy="5194300"/>
          </a:xfrm>
        </p:spPr>
        <p:txBody>
          <a:bodyPr/>
          <a:lstStyle/>
          <a:p>
            <a:pPr algn="just">
              <a:spcBef>
                <a:spcPts val="300"/>
              </a:spcBef>
              <a:defRPr/>
            </a:pPr>
            <a:r>
              <a:rPr lang="en-US" sz="2400" dirty="0">
                <a:latin typeface="Cambria" panose="02040503050406030204" pitchFamily="18" charset="0"/>
                <a:ea typeface="Cambria" panose="02040503050406030204" pitchFamily="18" charset="0"/>
              </a:rPr>
              <a:t>Design a relation schema so that it is easy to explain its meaning. Do not combine attributes from multiple entity types and relationship types into a single relation.</a:t>
            </a:r>
          </a:p>
          <a:p>
            <a:pPr algn="just">
              <a:spcBef>
                <a:spcPts val="300"/>
              </a:spcBef>
              <a:defRPr/>
            </a:pPr>
            <a:r>
              <a:rPr lang="en-US" sz="2400" dirty="0">
                <a:latin typeface="Cambria" panose="02040503050406030204" pitchFamily="18" charset="0"/>
                <a:ea typeface="Cambria" panose="02040503050406030204" pitchFamily="18" charset="0"/>
              </a:rPr>
              <a:t>As far as possible, avoid placing attributes in a base relation whose values may frequently be NULL.</a:t>
            </a: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0" indent="0" algn="just">
              <a:spcBef>
                <a:spcPts val="300"/>
              </a:spcBef>
              <a:buNone/>
              <a:defRPr/>
            </a:pPr>
            <a:endParaRPr lang="en-US" sz="2400" dirty="0">
              <a:solidFill>
                <a:srgbClr val="FF0000"/>
              </a:solidFill>
              <a:latin typeface="Cambria" panose="02040503050406030204" pitchFamily="18" charset="0"/>
              <a:ea typeface="Cambria" panose="02040503050406030204" pitchFamily="18" charset="0"/>
            </a:endParaRPr>
          </a:p>
          <a:p>
            <a:pPr algn="just">
              <a:spcBef>
                <a:spcPts val="300"/>
              </a:spcBef>
              <a:defRPr/>
            </a:pPr>
            <a:endParaRPr lang="en-US" sz="2400" dirty="0">
              <a:latin typeface="Cambria" panose="02040503050406030204" pitchFamily="18" charset="0"/>
              <a:ea typeface="Cambria" panose="02040503050406030204" pitchFamily="18" charset="0"/>
            </a:endParaRPr>
          </a:p>
          <a:p>
            <a:pPr marL="742950" indent="-457200" algn="just">
              <a:spcBef>
                <a:spcPts val="300"/>
              </a:spcBef>
              <a:buSzPct val="100000"/>
              <a:buFont typeface="+mj-lt"/>
              <a:buAutoNum type="alphaLcParenR"/>
              <a:defRPr/>
            </a:pPr>
            <a:endParaRPr lang="en-US" sz="2400" dirty="0">
              <a:latin typeface="Cambria" panose="02040503050406030204" pitchFamily="18" charset="0"/>
              <a:ea typeface="Cambria" panose="02040503050406030204" pitchFamily="18" charset="0"/>
            </a:endParaRPr>
          </a:p>
        </p:txBody>
      </p:sp>
      <p:sp>
        <p:nvSpPr>
          <p:cNvPr id="3" name="Footer Placeholder 2">
            <a:extLst>
              <a:ext uri="{FF2B5EF4-FFF2-40B4-BE49-F238E27FC236}">
                <a16:creationId xmlns:a16="http://schemas.microsoft.com/office/drawing/2014/main" id="{4A1B47D3-E985-B343-75F3-19A19625A86C}"/>
              </a:ext>
            </a:extLst>
          </p:cNvPr>
          <p:cNvSpPr>
            <a:spLocks noGrp="1"/>
          </p:cNvSpPr>
          <p:nvPr>
            <p:ph type="ftr" sz="quarter" idx="11"/>
          </p:nvPr>
        </p:nvSpPr>
        <p:spPr>
          <a:xfrm>
            <a:off x="2555776" y="6500192"/>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2" name="Slide Number Placeholder 23">
            <a:extLst>
              <a:ext uri="{FF2B5EF4-FFF2-40B4-BE49-F238E27FC236}">
                <a16:creationId xmlns:a16="http://schemas.microsoft.com/office/drawing/2014/main" id="{56F33579-6F81-23B4-EE32-F5EB9A012321}"/>
              </a:ext>
            </a:extLst>
          </p:cNvPr>
          <p:cNvSpPr>
            <a:spLocks noGrp="1"/>
          </p:cNvSpPr>
          <p:nvPr>
            <p:ph type="sldNum" sz="quarter" idx="12"/>
          </p:nvPr>
        </p:nvSpPr>
        <p:spPr>
          <a:xfrm>
            <a:off x="8532440" y="6284168"/>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36</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extLst>
      <p:ext uri="{BB962C8B-B14F-4D97-AF65-F5344CB8AC3E}">
        <p14:creationId xmlns:p14="http://schemas.microsoft.com/office/powerpoint/2010/main" val="1112021419"/>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A4929F11-C487-A396-DFF4-E6366BC696F2}"/>
              </a:ext>
            </a:extLst>
          </p:cNvPr>
          <p:cNvSpPr>
            <a:spLocks noGrp="1" noChangeArrowheads="1"/>
          </p:cNvSpPr>
          <p:nvPr>
            <p:ph type="title"/>
          </p:nvPr>
        </p:nvSpPr>
        <p:spPr>
          <a:xfrm>
            <a:off x="323528" y="188640"/>
            <a:ext cx="6886575" cy="457200"/>
          </a:xfrm>
        </p:spPr>
        <p:txBody>
          <a:bodyPr/>
          <a:lstStyle/>
          <a:p>
            <a:pPr eaLnBrk="1" hangingPunct="1"/>
            <a:r>
              <a:rPr lang="en-US" altLang="en-US" sz="2800" b="1" u="sng" dirty="0">
                <a:solidFill>
                  <a:srgbClr val="D34817"/>
                </a:solidFill>
                <a:latin typeface="Cambria" panose="02040503050406030204" pitchFamily="18" charset="0"/>
                <a:ea typeface="Cambria" panose="02040503050406030204" pitchFamily="18" charset="0"/>
              </a:rPr>
              <a:t>Reading Material</a:t>
            </a:r>
          </a:p>
        </p:txBody>
      </p:sp>
      <p:sp>
        <p:nvSpPr>
          <p:cNvPr id="95235" name="Rectangle 3">
            <a:extLst>
              <a:ext uri="{FF2B5EF4-FFF2-40B4-BE49-F238E27FC236}">
                <a16:creationId xmlns:a16="http://schemas.microsoft.com/office/drawing/2014/main" id="{7BB35BBD-746F-8E8C-FE4F-CF912DAE358F}"/>
              </a:ext>
            </a:extLst>
          </p:cNvPr>
          <p:cNvSpPr txBox="1">
            <a:spLocks noChangeArrowheads="1"/>
          </p:cNvSpPr>
          <p:nvPr/>
        </p:nvSpPr>
        <p:spPr bwMode="auto">
          <a:xfrm>
            <a:off x="266700" y="620688"/>
            <a:ext cx="8610600" cy="306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914400" indent="-45720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822325"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096963"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1371600" indent="-228600">
              <a:spcBef>
                <a:spcPts val="375"/>
              </a:spcBef>
              <a:buClr>
                <a:srgbClr val="A28E6A"/>
              </a:buClr>
              <a:buChar char="o"/>
              <a:defRPr sz="2000">
                <a:solidFill>
                  <a:schemeClr val="tx1"/>
                </a:solidFill>
                <a:latin typeface="Perpetua" panose="02020502060401020303" pitchFamily="18" charset="0"/>
              </a:defRPr>
            </a:lvl5pPr>
            <a:lvl6pPr marL="1828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286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2743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2004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marL="457200" marR="0" lvl="0" indent="-457200" algn="l" defTabSz="914400" rtl="0" eaLnBrk="1" fontAlgn="base" latinLnBrk="0" hangingPunct="1">
              <a:lnSpc>
                <a:spcPct val="100000"/>
              </a:lnSpc>
              <a:spcBef>
                <a:spcPts val="575"/>
              </a:spcBef>
              <a:spcAft>
                <a:spcPct val="0"/>
              </a:spcAft>
              <a:buClr>
                <a:srgbClr val="D34817"/>
              </a:buClr>
              <a:buSzPct val="85000"/>
              <a:buFont typeface="Franklin Gothic Book" panose="020B0503020102020204" pitchFamily="34" charset="0"/>
              <a:buAutoNum type="alphaUcPeriod"/>
              <a:tabLst/>
              <a:defRPr/>
            </a:pPr>
            <a:r>
              <a:rPr kumimoji="0" lang="en-US" altLang="en-US" sz="2400" b="0" i="0" u="none" strike="noStrike" kern="1200" cap="none" spc="0" normalizeH="0" baseline="0" noProof="0" dirty="0">
                <a:ln>
                  <a:noFill/>
                </a:ln>
                <a:solidFill>
                  <a:srgbClr val="000000"/>
                </a:solidFill>
                <a:effectLst/>
                <a:uLnTx/>
                <a:uFillTx/>
                <a:latin typeface="Perpetua" panose="02020502060401020303" pitchFamily="18" charset="0"/>
                <a:ea typeface="+mn-ea"/>
                <a:cs typeface="+mn-cs"/>
              </a:rPr>
              <a:t>Database Systems – Design, Implementation and Management: </a:t>
            </a:r>
            <a:r>
              <a:rPr kumimoji="0" lang="en-US" altLang="en-US" sz="2400" b="0" i="0" u="none" strike="noStrike" kern="1200" cap="none" spc="0" normalizeH="0" baseline="0" noProof="0" dirty="0">
                <a:ln>
                  <a:noFill/>
                </a:ln>
                <a:solidFill>
                  <a:srgbClr val="0000FF"/>
                </a:solidFill>
                <a:effectLst/>
                <a:uLnTx/>
                <a:uFillTx/>
                <a:latin typeface="Perpetua" panose="02020502060401020303" pitchFamily="18" charset="0"/>
                <a:ea typeface="+mn-ea"/>
                <a:cs typeface="+mn-cs"/>
              </a:rPr>
              <a:t>Carlos Coronel, Steven Morris (13</a:t>
            </a:r>
            <a:r>
              <a:rPr kumimoji="0" lang="en-US" altLang="en-US" sz="2400" b="0" i="0" u="none" strike="noStrike" kern="1200" cap="none" spc="0" normalizeH="0" baseline="30000" noProof="0" dirty="0">
                <a:ln>
                  <a:noFill/>
                </a:ln>
                <a:solidFill>
                  <a:srgbClr val="0000FF"/>
                </a:solidFill>
                <a:effectLst/>
                <a:uLnTx/>
                <a:uFillTx/>
                <a:latin typeface="Perpetua" panose="02020502060401020303" pitchFamily="18" charset="0"/>
                <a:ea typeface="+mn-ea"/>
                <a:cs typeface="+mn-cs"/>
              </a:rPr>
              <a:t>th</a:t>
            </a:r>
            <a:r>
              <a:rPr kumimoji="0" lang="en-US" altLang="en-US" sz="2400" b="0" i="0" u="none" strike="noStrike" kern="1200" cap="none" spc="0" normalizeH="0" baseline="0" noProof="0" dirty="0">
                <a:ln>
                  <a:noFill/>
                </a:ln>
                <a:solidFill>
                  <a:srgbClr val="0000FF"/>
                </a:solidFill>
                <a:effectLst/>
                <a:uLnTx/>
                <a:uFillTx/>
                <a:latin typeface="Perpetua" panose="02020502060401020303" pitchFamily="18" charset="0"/>
                <a:ea typeface="+mn-ea"/>
                <a:cs typeface="+mn-cs"/>
              </a:rPr>
              <a:t> Ed.)</a:t>
            </a:r>
          </a:p>
          <a:p>
            <a:pPr marL="457200" marR="0" lvl="0" indent="-457200" algn="l" defTabSz="914400" rtl="0" eaLnBrk="1" fontAlgn="base" latinLnBrk="0" hangingPunct="1">
              <a:lnSpc>
                <a:spcPct val="100000"/>
              </a:lnSpc>
              <a:spcBef>
                <a:spcPts val="575"/>
              </a:spcBef>
              <a:spcAft>
                <a:spcPct val="0"/>
              </a:spcAft>
              <a:buClr>
                <a:srgbClr val="D34817"/>
              </a:buClr>
              <a:buSzPct val="85000"/>
              <a:buFont typeface="Franklin Gothic Book" panose="020B0503020102020204" pitchFamily="34" charset="0"/>
              <a:buAutoNum type="alphaUcPeriod"/>
              <a:tabLst/>
              <a:defRPr/>
            </a:pPr>
            <a:r>
              <a:rPr kumimoji="0" lang="en-US" altLang="en-US" sz="2400" b="0" i="0" u="none" strike="noStrike" kern="1200" cap="none" spc="0" normalizeH="0" baseline="0" noProof="0" dirty="0">
                <a:ln>
                  <a:noFill/>
                </a:ln>
                <a:solidFill>
                  <a:srgbClr val="000000"/>
                </a:solidFill>
                <a:effectLst/>
                <a:uLnTx/>
                <a:uFillTx/>
                <a:latin typeface="Perpetua" panose="02020502060401020303" pitchFamily="18" charset="0"/>
                <a:ea typeface="+mn-ea"/>
                <a:cs typeface="+mn-cs"/>
              </a:rPr>
              <a:t>Modern Database Management: </a:t>
            </a:r>
            <a:r>
              <a:rPr kumimoji="0" lang="en-US" altLang="en-US" sz="2400" b="0" i="0" u="none" strike="noStrike" kern="1200" cap="none" spc="0" normalizeH="0" baseline="0" noProof="0" dirty="0">
                <a:ln>
                  <a:noFill/>
                </a:ln>
                <a:solidFill>
                  <a:srgbClr val="0000FF"/>
                </a:solidFill>
                <a:effectLst/>
                <a:uLnTx/>
                <a:uFillTx/>
                <a:latin typeface="Perpetua" panose="02020502060401020303" pitchFamily="18" charset="0"/>
                <a:ea typeface="+mn-ea"/>
                <a:cs typeface="+mn-cs"/>
              </a:rPr>
              <a:t>Jeffery. A. Hoffer (12</a:t>
            </a:r>
            <a:r>
              <a:rPr kumimoji="0" lang="en-US" altLang="en-US" sz="2400" b="0" i="0" u="none" strike="noStrike" kern="1200" cap="none" spc="0" normalizeH="0" baseline="30000" noProof="0" dirty="0">
                <a:ln>
                  <a:noFill/>
                </a:ln>
                <a:solidFill>
                  <a:srgbClr val="0000FF"/>
                </a:solidFill>
                <a:effectLst/>
                <a:uLnTx/>
                <a:uFillTx/>
                <a:latin typeface="Perpetua" panose="02020502060401020303" pitchFamily="18" charset="0"/>
                <a:ea typeface="+mn-ea"/>
                <a:cs typeface="+mn-cs"/>
              </a:rPr>
              <a:t>th</a:t>
            </a:r>
            <a:r>
              <a:rPr kumimoji="0" lang="en-US" altLang="en-US" sz="2400" b="0" i="0" u="none" strike="noStrike" kern="1200" cap="none" spc="0" normalizeH="0" baseline="0" noProof="0" dirty="0">
                <a:ln>
                  <a:noFill/>
                </a:ln>
                <a:solidFill>
                  <a:srgbClr val="0000FF"/>
                </a:solidFill>
                <a:effectLst/>
                <a:uLnTx/>
                <a:uFillTx/>
                <a:latin typeface="Perpetua" panose="02020502060401020303" pitchFamily="18" charset="0"/>
                <a:ea typeface="+mn-ea"/>
                <a:cs typeface="+mn-cs"/>
              </a:rPr>
              <a:t> Ed.)</a:t>
            </a:r>
          </a:p>
          <a:p>
            <a:pPr marL="457200" marR="0" lvl="0" indent="-457200" algn="l" defTabSz="914400" rtl="0" eaLnBrk="1" fontAlgn="base" latinLnBrk="0" hangingPunct="1">
              <a:lnSpc>
                <a:spcPct val="100000"/>
              </a:lnSpc>
              <a:spcBef>
                <a:spcPts val="575"/>
              </a:spcBef>
              <a:spcAft>
                <a:spcPct val="0"/>
              </a:spcAft>
              <a:buClr>
                <a:srgbClr val="D34817"/>
              </a:buClr>
              <a:buSzPct val="85000"/>
              <a:buFont typeface="Franklin Gothic Book" panose="020B0503020102020204" pitchFamily="34" charset="0"/>
              <a:buAutoNum type="alphaUcPeriod"/>
              <a:tabLst/>
              <a:defRPr/>
            </a:pPr>
            <a:r>
              <a:rPr kumimoji="0" lang="en-US" altLang="en-US" sz="2400" b="0" i="0" u="none" strike="noStrike" kern="1200" cap="none" spc="0" normalizeH="0" baseline="0" noProof="0" dirty="0">
                <a:ln>
                  <a:noFill/>
                </a:ln>
                <a:solidFill>
                  <a:srgbClr val="000000"/>
                </a:solidFill>
                <a:effectLst/>
                <a:uLnTx/>
                <a:uFillTx/>
                <a:latin typeface="Perpetua" panose="02020502060401020303" pitchFamily="18" charset="0"/>
                <a:ea typeface="+mn-ea"/>
                <a:cs typeface="+mn-cs"/>
              </a:rPr>
              <a:t>Database Systems: </a:t>
            </a:r>
            <a:r>
              <a:rPr kumimoji="0" lang="en-US" altLang="en-US" sz="2400" b="0" i="0" u="none" strike="noStrike" kern="1200" cap="none" spc="0" normalizeH="0" baseline="0" noProof="0" dirty="0">
                <a:ln>
                  <a:noFill/>
                </a:ln>
                <a:solidFill>
                  <a:srgbClr val="0000FF"/>
                </a:solidFill>
                <a:effectLst/>
                <a:uLnTx/>
                <a:uFillTx/>
                <a:latin typeface="Perpetua" panose="02020502060401020303" pitchFamily="18" charset="0"/>
                <a:ea typeface="+mn-ea"/>
                <a:cs typeface="+mn-cs"/>
              </a:rPr>
              <a:t>Thomas M. Connolly (6</a:t>
            </a:r>
            <a:r>
              <a:rPr kumimoji="0" lang="en-US" altLang="en-US" sz="2400" b="0" i="0" u="none" strike="noStrike" kern="1200" cap="none" spc="0" normalizeH="0" baseline="30000" noProof="0" dirty="0">
                <a:ln>
                  <a:noFill/>
                </a:ln>
                <a:solidFill>
                  <a:srgbClr val="0000FF"/>
                </a:solidFill>
                <a:effectLst/>
                <a:uLnTx/>
                <a:uFillTx/>
                <a:latin typeface="Perpetua" panose="02020502060401020303" pitchFamily="18" charset="0"/>
                <a:ea typeface="+mn-ea"/>
                <a:cs typeface="+mn-cs"/>
              </a:rPr>
              <a:t>th</a:t>
            </a:r>
            <a:r>
              <a:rPr kumimoji="0" lang="en-US" altLang="en-US" sz="2400" b="0" i="0" u="none" strike="noStrike" kern="1200" cap="none" spc="0" normalizeH="0" baseline="0" noProof="0" dirty="0">
                <a:ln>
                  <a:noFill/>
                </a:ln>
                <a:solidFill>
                  <a:srgbClr val="0000FF"/>
                </a:solidFill>
                <a:effectLst/>
                <a:uLnTx/>
                <a:uFillTx/>
                <a:latin typeface="Perpetua" panose="02020502060401020303" pitchFamily="18" charset="0"/>
                <a:ea typeface="+mn-ea"/>
                <a:cs typeface="+mn-cs"/>
              </a:rPr>
              <a:t> Ed.)</a:t>
            </a:r>
          </a:p>
          <a:p>
            <a:pPr marL="457200" marR="0" lvl="0" indent="-457200" algn="l" defTabSz="914400" rtl="0" eaLnBrk="1" fontAlgn="base" latinLnBrk="0" hangingPunct="1">
              <a:lnSpc>
                <a:spcPct val="100000"/>
              </a:lnSpc>
              <a:spcBef>
                <a:spcPts val="575"/>
              </a:spcBef>
              <a:spcAft>
                <a:spcPct val="0"/>
              </a:spcAft>
              <a:buClr>
                <a:srgbClr val="D34817"/>
              </a:buClr>
              <a:buSzPct val="85000"/>
              <a:buFont typeface="Franklin Gothic Book" panose="020B0503020102020204" pitchFamily="34" charset="0"/>
              <a:buAutoNum type="alphaUcPeriod"/>
              <a:tabLst/>
              <a:defRPr/>
            </a:pPr>
            <a:r>
              <a:rPr kumimoji="0" lang="en-US" altLang="en-US" sz="2400" b="0" i="0" u="none" strike="noStrike" kern="1200" cap="none" spc="0" normalizeH="0" baseline="0" noProof="0" dirty="0">
                <a:ln>
                  <a:noFill/>
                </a:ln>
                <a:solidFill>
                  <a:srgbClr val="000000"/>
                </a:solidFill>
                <a:effectLst/>
                <a:uLnTx/>
                <a:uFillTx/>
                <a:latin typeface="Perpetua" panose="02020502060401020303" pitchFamily="18" charset="0"/>
                <a:ea typeface="+mn-ea"/>
                <a:cs typeface="+mn-cs"/>
              </a:rPr>
              <a:t>Fundamentals of Database Systems: </a:t>
            </a:r>
            <a:r>
              <a:rPr kumimoji="0" lang="en-US" altLang="en-US" sz="2400" b="0" i="0" u="none" strike="noStrike" kern="1200" cap="none" spc="0" normalizeH="0" baseline="0" noProof="0" dirty="0">
                <a:ln>
                  <a:noFill/>
                </a:ln>
                <a:solidFill>
                  <a:srgbClr val="0000FF"/>
                </a:solidFill>
                <a:effectLst/>
                <a:uLnTx/>
                <a:uFillTx/>
                <a:latin typeface="Perpetua" panose="02020502060401020303" pitchFamily="18" charset="0"/>
                <a:ea typeface="+mn-ea"/>
                <a:cs typeface="+mn-cs"/>
              </a:rPr>
              <a:t>Elmasri (7</a:t>
            </a:r>
            <a:r>
              <a:rPr kumimoji="0" lang="en-US" altLang="en-US" sz="2400" b="0" i="0" u="none" strike="noStrike" kern="1200" cap="none" spc="0" normalizeH="0" baseline="30000" noProof="0" dirty="0">
                <a:ln>
                  <a:noFill/>
                </a:ln>
                <a:solidFill>
                  <a:srgbClr val="0000FF"/>
                </a:solidFill>
                <a:effectLst/>
                <a:uLnTx/>
                <a:uFillTx/>
                <a:latin typeface="Perpetua" panose="02020502060401020303" pitchFamily="18" charset="0"/>
                <a:ea typeface="+mn-ea"/>
                <a:cs typeface="+mn-cs"/>
              </a:rPr>
              <a:t>th</a:t>
            </a:r>
            <a:r>
              <a:rPr kumimoji="0" lang="en-US" altLang="en-US" sz="2400" b="0" i="0" u="none" strike="noStrike" kern="1200" cap="none" spc="0" normalizeH="0" baseline="0" noProof="0" dirty="0">
                <a:ln>
                  <a:noFill/>
                </a:ln>
                <a:solidFill>
                  <a:srgbClr val="0000FF"/>
                </a:solidFill>
                <a:effectLst/>
                <a:uLnTx/>
                <a:uFillTx/>
                <a:latin typeface="Perpetua" panose="02020502060401020303" pitchFamily="18" charset="0"/>
                <a:ea typeface="+mn-ea"/>
                <a:cs typeface="+mn-cs"/>
              </a:rPr>
              <a:t> Ed.)</a:t>
            </a:r>
            <a:r>
              <a:rPr kumimoji="0" lang="en-US" altLang="en-US" sz="2400" b="0" i="0" u="none" strike="noStrike" kern="1200" cap="none" spc="0" normalizeH="0" baseline="0" noProof="0" dirty="0">
                <a:ln>
                  <a:noFill/>
                </a:ln>
                <a:solidFill>
                  <a:srgbClr val="9B2D1F"/>
                </a:solidFill>
                <a:effectLst/>
                <a:uLnTx/>
                <a:uFillTx/>
                <a:latin typeface="Perpetua" panose="02020502060401020303" pitchFamily="18" charset="0"/>
                <a:ea typeface="+mn-ea"/>
                <a:cs typeface="+mn-cs"/>
              </a:rPr>
              <a:t> </a:t>
            </a:r>
          </a:p>
        </p:txBody>
      </p:sp>
      <p:graphicFrame>
        <p:nvGraphicFramePr>
          <p:cNvPr id="2" name="Table 1">
            <a:extLst>
              <a:ext uri="{FF2B5EF4-FFF2-40B4-BE49-F238E27FC236}">
                <a16:creationId xmlns:a16="http://schemas.microsoft.com/office/drawing/2014/main" id="{0126F7C9-B62A-24E8-1C19-746D60B1C8FF}"/>
              </a:ext>
            </a:extLst>
          </p:cNvPr>
          <p:cNvGraphicFramePr>
            <a:graphicFrameLocks noGrp="1"/>
          </p:cNvGraphicFramePr>
          <p:nvPr>
            <p:extLst>
              <p:ext uri="{D42A27DB-BD31-4B8C-83A1-F6EECF244321}">
                <p14:modId xmlns:p14="http://schemas.microsoft.com/office/powerpoint/2010/main" val="1937029649"/>
              </p:ext>
            </p:extLst>
          </p:nvPr>
        </p:nvGraphicFramePr>
        <p:xfrm>
          <a:off x="1547664" y="2780928"/>
          <a:ext cx="5832475" cy="2286000"/>
        </p:xfrm>
        <a:graphic>
          <a:graphicData uri="http://schemas.openxmlformats.org/drawingml/2006/table">
            <a:tbl>
              <a:tblPr firstRow="1" bandRow="1">
                <a:tableStyleId>{5C22544A-7EE6-4342-B048-85BDC9FD1C3A}</a:tableStyleId>
              </a:tblPr>
              <a:tblGrid>
                <a:gridCol w="1008082">
                  <a:extLst>
                    <a:ext uri="{9D8B030D-6E8A-4147-A177-3AD203B41FA5}">
                      <a16:colId xmlns:a16="http://schemas.microsoft.com/office/drawing/2014/main" val="20000"/>
                    </a:ext>
                  </a:extLst>
                </a:gridCol>
                <a:gridCol w="4824393">
                  <a:extLst>
                    <a:ext uri="{9D8B030D-6E8A-4147-A177-3AD203B41FA5}">
                      <a16:colId xmlns:a16="http://schemas.microsoft.com/office/drawing/2014/main" val="20001"/>
                    </a:ext>
                  </a:extLst>
                </a:gridCol>
              </a:tblGrid>
              <a:tr h="431970">
                <a:tc>
                  <a:txBody>
                    <a:bodyPr/>
                    <a:lstStyle/>
                    <a:p>
                      <a:pPr algn="ctr"/>
                      <a:r>
                        <a:rPr lang="en-US" sz="2400" dirty="0">
                          <a:solidFill>
                            <a:srgbClr val="FFFF00"/>
                          </a:solidFill>
                        </a:rPr>
                        <a:t>Book</a:t>
                      </a:r>
                    </a:p>
                  </a:txBody>
                  <a:tcPr marL="91437" marR="91437"/>
                </a:tc>
                <a:tc>
                  <a:txBody>
                    <a:bodyPr/>
                    <a:lstStyle/>
                    <a:p>
                      <a:pPr algn="ctr"/>
                      <a:r>
                        <a:rPr lang="en-US" sz="2400" dirty="0">
                          <a:solidFill>
                            <a:srgbClr val="FFFF00"/>
                          </a:solidFill>
                        </a:rPr>
                        <a:t>Section(s) / Chapter</a:t>
                      </a:r>
                    </a:p>
                  </a:txBody>
                  <a:tcPr marL="91437" marR="91437"/>
                </a:tc>
                <a:extLst>
                  <a:ext uri="{0D108BD9-81ED-4DB2-BD59-A6C34878D82A}">
                    <a16:rowId xmlns:a16="http://schemas.microsoft.com/office/drawing/2014/main" val="10000"/>
                  </a:ext>
                </a:extLst>
              </a:tr>
              <a:tr h="431970">
                <a:tc>
                  <a:txBody>
                    <a:bodyPr/>
                    <a:lstStyle/>
                    <a:p>
                      <a:pPr algn="ctr"/>
                      <a:r>
                        <a:rPr lang="en-US" sz="2400" b="0" dirty="0">
                          <a:solidFill>
                            <a:schemeClr val="tx1"/>
                          </a:solidFill>
                        </a:rPr>
                        <a:t>A</a:t>
                      </a:r>
                    </a:p>
                  </a:txBody>
                  <a:tcPr marL="91437" marR="91437"/>
                </a:tc>
                <a:tc>
                  <a:txBody>
                    <a:bodyPr/>
                    <a:lstStyle/>
                    <a:p>
                      <a:pPr algn="l"/>
                      <a:r>
                        <a:rPr lang="en-US" sz="2400" b="0" dirty="0">
                          <a:solidFill>
                            <a:schemeClr val="tx1"/>
                          </a:solidFill>
                        </a:rPr>
                        <a:t>6.1 to 6.7</a:t>
                      </a:r>
                    </a:p>
                  </a:txBody>
                  <a:tcPr marL="91437" marR="91437"/>
                </a:tc>
                <a:extLst>
                  <a:ext uri="{0D108BD9-81ED-4DB2-BD59-A6C34878D82A}">
                    <a16:rowId xmlns:a16="http://schemas.microsoft.com/office/drawing/2014/main" val="10001"/>
                  </a:ext>
                </a:extLst>
              </a:tr>
              <a:tr h="431970">
                <a:tc>
                  <a:txBody>
                    <a:bodyPr/>
                    <a:lstStyle/>
                    <a:p>
                      <a:pPr algn="ctr"/>
                      <a:r>
                        <a:rPr lang="en-US" sz="2400" dirty="0"/>
                        <a:t>B</a:t>
                      </a:r>
                    </a:p>
                  </a:txBody>
                  <a:tcPr marL="91437" marR="91437"/>
                </a:tc>
                <a:tc>
                  <a:txBody>
                    <a:bodyPr/>
                    <a:lstStyle/>
                    <a:p>
                      <a:pPr algn="l"/>
                      <a:r>
                        <a:rPr lang="en-US" sz="2400" dirty="0"/>
                        <a:t>Ch4 (p178 to p187)</a:t>
                      </a:r>
                    </a:p>
                  </a:txBody>
                  <a:tcPr marL="91437" marR="91437"/>
                </a:tc>
                <a:extLst>
                  <a:ext uri="{0D108BD9-81ED-4DB2-BD59-A6C34878D82A}">
                    <a16:rowId xmlns:a16="http://schemas.microsoft.com/office/drawing/2014/main" val="10002"/>
                  </a:ext>
                </a:extLst>
              </a:tr>
              <a:tr h="431970">
                <a:tc>
                  <a:txBody>
                    <a:bodyPr/>
                    <a:lstStyle/>
                    <a:p>
                      <a:pPr algn="ctr"/>
                      <a:r>
                        <a:rPr lang="en-US" sz="2400" dirty="0"/>
                        <a:t>C</a:t>
                      </a:r>
                    </a:p>
                  </a:txBody>
                  <a:tcPr marL="91437" marR="91437"/>
                </a:tc>
                <a:tc>
                  <a:txBody>
                    <a:bodyPr/>
                    <a:lstStyle/>
                    <a:p>
                      <a:pPr algn="l"/>
                      <a:r>
                        <a:rPr kumimoji="0" lang="en-US" sz="2400" kern="1200" dirty="0">
                          <a:solidFill>
                            <a:schemeClr val="dk1"/>
                          </a:solidFill>
                          <a:latin typeface="+mn-lt"/>
                          <a:ea typeface="+mn-ea"/>
                          <a:cs typeface="+mn-cs"/>
                        </a:rPr>
                        <a:t>Ch14 (14.1 to 14.9), Ch 15</a:t>
                      </a:r>
                    </a:p>
                  </a:txBody>
                  <a:tcPr marL="91437" marR="91437"/>
                </a:tc>
                <a:extLst>
                  <a:ext uri="{0D108BD9-81ED-4DB2-BD59-A6C34878D82A}">
                    <a16:rowId xmlns:a16="http://schemas.microsoft.com/office/drawing/2014/main" val="10003"/>
                  </a:ext>
                </a:extLst>
              </a:tr>
              <a:tr h="431970">
                <a:tc>
                  <a:txBody>
                    <a:bodyPr/>
                    <a:lstStyle/>
                    <a:p>
                      <a:pPr algn="ctr"/>
                      <a:r>
                        <a:rPr lang="en-US" sz="2400" dirty="0"/>
                        <a:t>D</a:t>
                      </a:r>
                    </a:p>
                  </a:txBody>
                  <a:tcPr marL="91437" marR="91437"/>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kern="1200" dirty="0">
                          <a:solidFill>
                            <a:schemeClr val="dk1"/>
                          </a:solidFill>
                          <a:latin typeface="+mn-lt"/>
                          <a:ea typeface="+mn-ea"/>
                          <a:cs typeface="+mn-cs"/>
                        </a:rPr>
                        <a:t>Ch14 (14.1 to 14.8)</a:t>
                      </a:r>
                      <a:endParaRPr lang="en-US" sz="2400" dirty="0"/>
                    </a:p>
                  </a:txBody>
                  <a:tcPr marL="91437" marR="91437"/>
                </a:tc>
                <a:extLst>
                  <a:ext uri="{0D108BD9-81ED-4DB2-BD59-A6C34878D82A}">
                    <a16:rowId xmlns:a16="http://schemas.microsoft.com/office/drawing/2014/main" val="10004"/>
                  </a:ext>
                </a:extLst>
              </a:tr>
            </a:tbl>
          </a:graphicData>
        </a:graphic>
      </p:graphicFrame>
      <p:sp>
        <p:nvSpPr>
          <p:cNvPr id="3" name="Footer Placeholder 2">
            <a:extLst>
              <a:ext uri="{FF2B5EF4-FFF2-40B4-BE49-F238E27FC236}">
                <a16:creationId xmlns:a16="http://schemas.microsoft.com/office/drawing/2014/main" id="{88EF16BA-EF97-0129-C444-0329BA9D3A20}"/>
              </a:ext>
            </a:extLst>
          </p:cNvPr>
          <p:cNvSpPr>
            <a:spLocks noGrp="1"/>
          </p:cNvSpPr>
          <p:nvPr>
            <p:ph type="ftr" sz="quarter" idx="11"/>
          </p:nvPr>
        </p:nvSpPr>
        <p:spPr>
          <a:xfrm>
            <a:off x="2483768" y="6381328"/>
            <a:ext cx="4876800" cy="45720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FF"/>
                </a:solidFill>
                <a:effectLst/>
                <a:uLnTx/>
                <a:uFillTx/>
                <a:latin typeface="Perpetua"/>
                <a:ea typeface="+mn-ea"/>
                <a:cs typeface="+mn-cs"/>
              </a:rPr>
              <a:t>Dr. Asif Sohail,</a:t>
            </a:r>
            <a:r>
              <a:rPr kumimoji="0" lang="en-US" sz="1400" b="0" i="0" u="none" strike="noStrike" kern="1200" cap="none" spc="0" normalizeH="0" baseline="0" noProof="0" dirty="0">
                <a:ln>
                  <a:noFill/>
                </a:ln>
                <a:solidFill>
                  <a:srgbClr val="696464"/>
                </a:solidFill>
                <a:effectLst/>
                <a:uLnTx/>
                <a:uFillTx/>
                <a:latin typeface="Perpetua"/>
                <a:ea typeface="+mn-ea"/>
                <a:cs typeface="+mn-cs"/>
              </a:rPr>
              <a:t> Department of IT, </a:t>
            </a:r>
            <a:r>
              <a:rPr kumimoji="0" lang="en-US" sz="1400" b="0" i="0" u="none" strike="noStrike" kern="1200" cap="none" spc="0" normalizeH="0" baseline="0" noProof="0" dirty="0">
                <a:ln>
                  <a:noFill/>
                </a:ln>
                <a:solidFill>
                  <a:srgbClr val="FF0000"/>
                </a:solidFill>
                <a:effectLst/>
                <a:uLnTx/>
                <a:uFillTx/>
                <a:latin typeface="Perpetua"/>
                <a:ea typeface="+mn-ea"/>
                <a:cs typeface="+mn-cs"/>
              </a:rPr>
              <a:t>University of the Punjab, Lahore</a:t>
            </a:r>
          </a:p>
        </p:txBody>
      </p:sp>
      <p:sp>
        <p:nvSpPr>
          <p:cNvPr id="4" name="Slide Number Placeholder 23">
            <a:extLst>
              <a:ext uri="{FF2B5EF4-FFF2-40B4-BE49-F238E27FC236}">
                <a16:creationId xmlns:a16="http://schemas.microsoft.com/office/drawing/2014/main" id="{95FF4DA2-6A9A-E22D-E508-7C029B7AA153}"/>
              </a:ext>
            </a:extLst>
          </p:cNvPr>
          <p:cNvSpPr>
            <a:spLocks noGrp="1"/>
          </p:cNvSpPr>
          <p:nvPr>
            <p:ph type="sldNum" sz="quarter" idx="12"/>
          </p:nvPr>
        </p:nvSpPr>
        <p:spPr>
          <a:xfrm>
            <a:off x="8460432" y="6165304"/>
            <a:ext cx="457200" cy="4572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110F9843-0372-4357-99AD-419BEB3ABF28}" type="slidenum">
              <a:rPr kumimoji="0" lang="en-US" sz="1400" b="0" i="0" u="none" strike="noStrike" kern="1200" cap="none" spc="0" normalizeH="0" baseline="0" noProof="0" smtClean="0">
                <a:ln>
                  <a:noFill/>
                </a:ln>
                <a:solidFill>
                  <a:srgbClr val="FFFFFF"/>
                </a:solidFill>
                <a:effectLst/>
                <a:uLnTx/>
                <a:uFillTx/>
                <a:latin typeface="Franklin Gothic Book"/>
                <a:ea typeface="+mj-ea"/>
                <a:cs typeface="+mj-cs"/>
              </a:rPr>
              <a:pPr marL="0" marR="0" lvl="0" indent="0" algn="ctr" defTabSz="914400" rtl="0" eaLnBrk="1" fontAlgn="auto" latinLnBrk="0" hangingPunct="1">
                <a:lnSpc>
                  <a:spcPct val="100000"/>
                </a:lnSpc>
                <a:spcBef>
                  <a:spcPts val="0"/>
                </a:spcBef>
                <a:spcAft>
                  <a:spcPts val="0"/>
                </a:spcAft>
                <a:buClrTx/>
                <a:buSzTx/>
                <a:buFontTx/>
                <a:buNone/>
                <a:tabLst/>
                <a:defRPr/>
              </a:pPr>
              <a:t>37</a:t>
            </a:fld>
            <a:endParaRPr kumimoji="0" lang="en-US" sz="1400" b="0" i="0" u="none" strike="noStrike" kern="1200" cap="none" spc="0" normalizeH="0" baseline="0" noProof="0">
              <a:ln>
                <a:noFill/>
              </a:ln>
              <a:solidFill>
                <a:srgbClr val="FFFFFF"/>
              </a:solidFill>
              <a:effectLst/>
              <a:uLnTx/>
              <a:uFillTx/>
              <a:latin typeface="Franklin Gothic Book"/>
              <a:ea typeface="+mj-ea"/>
              <a:cs typeface="+mj-cs"/>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2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Overload Protection</Template>
  <TotalTime>30246</TotalTime>
  <Words>4250</Words>
  <Application>Microsoft Office PowerPoint</Application>
  <PresentationFormat>On-screen Show (4:3)</PresentationFormat>
  <Paragraphs>628</Paragraphs>
  <Slides>37</Slides>
  <Notes>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37</vt:i4>
      </vt:variant>
    </vt:vector>
  </HeadingPairs>
  <TitlesOfParts>
    <vt:vector size="44" baseType="lpstr">
      <vt:lpstr>Arial</vt:lpstr>
      <vt:lpstr>Cambria</vt:lpstr>
      <vt:lpstr>Franklin Gothic Book</vt:lpstr>
      <vt:lpstr>Perpetua</vt:lpstr>
      <vt:lpstr>Wingdings 2</vt:lpstr>
      <vt:lpstr>Equity</vt:lpstr>
      <vt:lpstr>2_Equity</vt:lpstr>
      <vt:lpstr>CC-215 Database Systems</vt:lpstr>
      <vt:lpstr>Introduction</vt:lpstr>
      <vt:lpstr>Introduction</vt:lpstr>
      <vt:lpstr>Introduction</vt:lpstr>
      <vt:lpstr>Introduction</vt:lpstr>
      <vt:lpstr>Introduction</vt:lpstr>
      <vt:lpstr>Normal Forms</vt:lpstr>
      <vt:lpstr>Normal Forms</vt:lpstr>
      <vt:lpstr>First Normal Form (1NF)</vt:lpstr>
      <vt:lpstr>First Normal Form (1NF)</vt:lpstr>
      <vt:lpstr>First Normal Form (1NF)</vt:lpstr>
      <vt:lpstr>First Normal Form (1NF)</vt:lpstr>
      <vt:lpstr>First Normal Form (1NF)</vt:lpstr>
      <vt:lpstr>First Normal Form (1NF)  </vt:lpstr>
      <vt:lpstr>Second Normal Form (2NF)</vt:lpstr>
      <vt:lpstr>Second Normal Form (2NF)</vt:lpstr>
      <vt:lpstr>Second Normal Form (2NF)  </vt:lpstr>
      <vt:lpstr>Second Normal Form (2NF)</vt:lpstr>
      <vt:lpstr>Third Normal Form (3NF)</vt:lpstr>
      <vt:lpstr>Third Normal Form (3NF)</vt:lpstr>
      <vt:lpstr>Third Normal Form (3NF)</vt:lpstr>
      <vt:lpstr>Practice Problems</vt:lpstr>
      <vt:lpstr>Boyce-Codd Normal Form (BCNF)</vt:lpstr>
      <vt:lpstr>Boyce-Codd Normal Form (BCNF)</vt:lpstr>
      <vt:lpstr>Boyce-Codd Normal Form (BCNF)</vt:lpstr>
      <vt:lpstr>Boyce-Codd Normal Form (BCNF)  </vt:lpstr>
      <vt:lpstr>Boyce-Codd Normal Form (BCNF)</vt:lpstr>
      <vt:lpstr>Boyce-Codd Normal Form (BCNF)</vt:lpstr>
      <vt:lpstr>Fourth Normal Form (4NF)</vt:lpstr>
      <vt:lpstr>Fourth Normal Form (4NF)</vt:lpstr>
      <vt:lpstr>Fifth Normal Form (5NF)</vt:lpstr>
      <vt:lpstr>Fifth Normal Form (5NF)</vt:lpstr>
      <vt:lpstr>Fifth Normal Form (5NF)</vt:lpstr>
      <vt:lpstr>Fifth Normal Form (5NF)</vt:lpstr>
      <vt:lpstr>Fifth Normal Form (5NF)</vt:lpstr>
      <vt:lpstr>General Guidelines </vt:lpstr>
      <vt:lpstr>Reading Material</vt:lpstr>
    </vt:vector>
  </TitlesOfParts>
  <Company>TU - Wien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Model for Performance Measurement of Queueing Systems</dc:title>
  <dc:creator>ssarwar</dc:creator>
  <cp:lastModifiedBy>Dr.Asif Sohail</cp:lastModifiedBy>
  <cp:revision>878</cp:revision>
  <dcterms:created xsi:type="dcterms:W3CDTF">2006-05-17T12:38:56Z</dcterms:created>
  <dcterms:modified xsi:type="dcterms:W3CDTF">2025-11-30T13:16:24Z</dcterms:modified>
</cp:coreProperties>
</file>