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2" r:id="rId1"/>
    <p:sldMasterId id="2147484012" r:id="rId2"/>
  </p:sldMasterIdLst>
  <p:notesMasterIdLst>
    <p:notesMasterId r:id="rId38"/>
  </p:notesMasterIdLst>
  <p:handoutMasterIdLst>
    <p:handoutMasterId r:id="rId39"/>
  </p:handoutMasterIdLst>
  <p:sldIdLst>
    <p:sldId id="435" r:id="rId3"/>
    <p:sldId id="486" r:id="rId4"/>
    <p:sldId id="487" r:id="rId5"/>
    <p:sldId id="488" r:id="rId6"/>
    <p:sldId id="489" r:id="rId7"/>
    <p:sldId id="490" r:id="rId8"/>
    <p:sldId id="491" r:id="rId9"/>
    <p:sldId id="492" r:id="rId10"/>
    <p:sldId id="493" r:id="rId11"/>
    <p:sldId id="494" r:id="rId12"/>
    <p:sldId id="495" r:id="rId13"/>
    <p:sldId id="496" r:id="rId14"/>
    <p:sldId id="497" r:id="rId15"/>
    <p:sldId id="498" r:id="rId16"/>
    <p:sldId id="499" r:id="rId17"/>
    <p:sldId id="500" r:id="rId18"/>
    <p:sldId id="501" r:id="rId19"/>
    <p:sldId id="503" r:id="rId20"/>
    <p:sldId id="504" r:id="rId21"/>
    <p:sldId id="505" r:id="rId22"/>
    <p:sldId id="506" r:id="rId23"/>
    <p:sldId id="507" r:id="rId24"/>
    <p:sldId id="482" r:id="rId25"/>
    <p:sldId id="509" r:id="rId26"/>
    <p:sldId id="510" r:id="rId27"/>
    <p:sldId id="511" r:id="rId28"/>
    <p:sldId id="512" r:id="rId29"/>
    <p:sldId id="513" r:id="rId30"/>
    <p:sldId id="514" r:id="rId31"/>
    <p:sldId id="515" r:id="rId32"/>
    <p:sldId id="516" r:id="rId33"/>
    <p:sldId id="517" r:id="rId34"/>
    <p:sldId id="518" r:id="rId35"/>
    <p:sldId id="519" r:id="rId36"/>
    <p:sldId id="436" r:id="rId37"/>
  </p:sldIdLst>
  <p:sldSz cx="9144000" cy="6858000" type="screen4x3"/>
  <p:notesSz cx="6577013" cy="9753600"/>
  <p:defaultTex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FF0000"/>
    <a:srgbClr val="3399FF"/>
    <a:srgbClr val="006600"/>
    <a:srgbClr val="FFFF66"/>
    <a:srgbClr val="00FF00"/>
    <a:srgbClr val="FFFFCC"/>
    <a:srgbClr val="99CCFF"/>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690" autoAdjust="0"/>
    <p:restoredTop sz="85572" autoAdjust="0"/>
  </p:normalViewPr>
  <p:slideViewPr>
    <p:cSldViewPr>
      <p:cViewPr varScale="1">
        <p:scale>
          <a:sx n="83" d="100"/>
          <a:sy n="83" d="100"/>
        </p:scale>
        <p:origin x="114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89B9B8A5-E36C-0E34-B118-431CC9217B9D}"/>
              </a:ext>
            </a:extLst>
          </p:cNvPr>
          <p:cNvSpPr>
            <a:spLocks noGrp="1" noChangeArrowheads="1"/>
          </p:cNvSpPr>
          <p:nvPr>
            <p:ph type="hdr" sz="quarter"/>
          </p:nvPr>
        </p:nvSpPr>
        <p:spPr bwMode="auto">
          <a:xfrm>
            <a:off x="0"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7" name="Rectangle 3">
            <a:extLst>
              <a:ext uri="{FF2B5EF4-FFF2-40B4-BE49-F238E27FC236}">
                <a16:creationId xmlns:a16="http://schemas.microsoft.com/office/drawing/2014/main" id="{AF9F6DA8-B54E-C759-FEC2-55F228A5B5D3}"/>
              </a:ext>
            </a:extLst>
          </p:cNvPr>
          <p:cNvSpPr>
            <a:spLocks noGrp="1" noChangeArrowheads="1"/>
          </p:cNvSpPr>
          <p:nvPr>
            <p:ph type="dt" sz="quarter" idx="1"/>
          </p:nvPr>
        </p:nvSpPr>
        <p:spPr bwMode="auto">
          <a:xfrm>
            <a:off x="3725863"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en-GB"/>
          </a:p>
        </p:txBody>
      </p:sp>
      <p:sp>
        <p:nvSpPr>
          <p:cNvPr id="159748" name="Rectangle 4">
            <a:extLst>
              <a:ext uri="{FF2B5EF4-FFF2-40B4-BE49-F238E27FC236}">
                <a16:creationId xmlns:a16="http://schemas.microsoft.com/office/drawing/2014/main" id="{6FA106FE-8012-2552-884C-57F17F256C39}"/>
              </a:ext>
            </a:extLst>
          </p:cNvPr>
          <p:cNvSpPr>
            <a:spLocks noGrp="1" noChangeArrowheads="1"/>
          </p:cNvSpPr>
          <p:nvPr>
            <p:ph type="ftr" sz="quarter" idx="2"/>
          </p:nvPr>
        </p:nvSpPr>
        <p:spPr bwMode="auto">
          <a:xfrm>
            <a:off x="0" y="9266238"/>
            <a:ext cx="2851150" cy="487362"/>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9" name="Rectangle 5">
            <a:extLst>
              <a:ext uri="{FF2B5EF4-FFF2-40B4-BE49-F238E27FC236}">
                <a16:creationId xmlns:a16="http://schemas.microsoft.com/office/drawing/2014/main" id="{D550A68B-3F8F-42BE-79B8-CFF991CC6CE3}"/>
              </a:ext>
            </a:extLst>
          </p:cNvPr>
          <p:cNvSpPr>
            <a:spLocks noGrp="1" noChangeArrowheads="1"/>
          </p:cNvSpPr>
          <p:nvPr>
            <p:ph type="sldNum" sz="quarter" idx="3"/>
          </p:nvPr>
        </p:nvSpPr>
        <p:spPr bwMode="auto">
          <a:xfrm>
            <a:off x="3725863" y="9266238"/>
            <a:ext cx="2851150" cy="487362"/>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3CD387D1-68F6-4DD5-B01D-977415CFEE9D}" type="slidenum">
              <a:rPr lang="en-GB" altLang="en-US"/>
              <a:pPr>
                <a:defRPr/>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F5AFCEF-F241-EF7D-66CF-4A270D9E3F25}"/>
              </a:ext>
            </a:extLst>
          </p:cNvPr>
          <p:cNvSpPr>
            <a:spLocks noGrp="1" noChangeArrowheads="1"/>
          </p:cNvSpPr>
          <p:nvPr>
            <p:ph type="hdr" sz="quarter"/>
          </p:nvPr>
        </p:nvSpPr>
        <p:spPr bwMode="auto">
          <a:xfrm>
            <a:off x="0"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47" name="Rectangle 3">
            <a:extLst>
              <a:ext uri="{FF2B5EF4-FFF2-40B4-BE49-F238E27FC236}">
                <a16:creationId xmlns:a16="http://schemas.microsoft.com/office/drawing/2014/main" id="{22045846-12E6-00E9-4DBA-5215091E7057}"/>
              </a:ext>
            </a:extLst>
          </p:cNvPr>
          <p:cNvSpPr>
            <a:spLocks noGrp="1" noChangeArrowheads="1"/>
          </p:cNvSpPr>
          <p:nvPr>
            <p:ph type="dt" idx="1"/>
          </p:nvPr>
        </p:nvSpPr>
        <p:spPr bwMode="auto">
          <a:xfrm>
            <a:off x="3724275"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de-AT"/>
          </a:p>
        </p:txBody>
      </p:sp>
      <p:sp>
        <p:nvSpPr>
          <p:cNvPr id="24580" name="Rectangle 4">
            <a:extLst>
              <a:ext uri="{FF2B5EF4-FFF2-40B4-BE49-F238E27FC236}">
                <a16:creationId xmlns:a16="http://schemas.microsoft.com/office/drawing/2014/main" id="{573ED962-DB47-A2D5-E237-3F5F66B7E801}"/>
              </a:ext>
            </a:extLst>
          </p:cNvPr>
          <p:cNvSpPr>
            <a:spLocks noGrp="1" noRot="1" noChangeAspect="1" noChangeArrowheads="1" noTextEdit="1"/>
          </p:cNvSpPr>
          <p:nvPr>
            <p:ph type="sldImg" idx="2"/>
          </p:nvPr>
        </p:nvSpPr>
        <p:spPr bwMode="auto">
          <a:xfrm>
            <a:off x="850900" y="731838"/>
            <a:ext cx="4876800" cy="36576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05179787-57A6-D4E0-71A4-703F367D4FAC}"/>
              </a:ext>
            </a:extLst>
          </p:cNvPr>
          <p:cNvSpPr>
            <a:spLocks noGrp="1" noChangeArrowheads="1"/>
          </p:cNvSpPr>
          <p:nvPr>
            <p:ph type="body" sz="quarter" idx="3"/>
          </p:nvPr>
        </p:nvSpPr>
        <p:spPr bwMode="auto">
          <a:xfrm>
            <a:off x="657225" y="4633913"/>
            <a:ext cx="5262563" cy="4387850"/>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p>
            <a:pPr lvl="0"/>
            <a:r>
              <a:rPr lang="de-AT" noProof="0"/>
              <a:t>Click to edit Master text styles</a:t>
            </a:r>
          </a:p>
          <a:p>
            <a:pPr lvl="1"/>
            <a:r>
              <a:rPr lang="de-AT" noProof="0"/>
              <a:t>Second level</a:t>
            </a:r>
          </a:p>
          <a:p>
            <a:pPr lvl="2"/>
            <a:r>
              <a:rPr lang="de-AT" noProof="0"/>
              <a:t>Third level</a:t>
            </a:r>
          </a:p>
          <a:p>
            <a:pPr lvl="3"/>
            <a:r>
              <a:rPr lang="de-AT" noProof="0"/>
              <a:t>Fourth level</a:t>
            </a:r>
          </a:p>
          <a:p>
            <a:pPr lvl="4"/>
            <a:r>
              <a:rPr lang="de-AT" noProof="0"/>
              <a:t>Fifth level</a:t>
            </a:r>
          </a:p>
        </p:txBody>
      </p:sp>
      <p:sp>
        <p:nvSpPr>
          <p:cNvPr id="6150" name="Rectangle 6">
            <a:extLst>
              <a:ext uri="{FF2B5EF4-FFF2-40B4-BE49-F238E27FC236}">
                <a16:creationId xmlns:a16="http://schemas.microsoft.com/office/drawing/2014/main" id="{24326A5E-4095-E077-2052-974B9ECDADD9}"/>
              </a:ext>
            </a:extLst>
          </p:cNvPr>
          <p:cNvSpPr>
            <a:spLocks noGrp="1" noChangeArrowheads="1"/>
          </p:cNvSpPr>
          <p:nvPr>
            <p:ph type="ftr" sz="quarter" idx="4"/>
          </p:nvPr>
        </p:nvSpPr>
        <p:spPr bwMode="auto">
          <a:xfrm>
            <a:off x="0" y="9264650"/>
            <a:ext cx="2851150" cy="487363"/>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51" name="Rectangle 7">
            <a:extLst>
              <a:ext uri="{FF2B5EF4-FFF2-40B4-BE49-F238E27FC236}">
                <a16:creationId xmlns:a16="http://schemas.microsoft.com/office/drawing/2014/main" id="{2305418C-5BCB-B960-E32A-2C1BCE755907}"/>
              </a:ext>
            </a:extLst>
          </p:cNvPr>
          <p:cNvSpPr>
            <a:spLocks noGrp="1" noChangeArrowheads="1"/>
          </p:cNvSpPr>
          <p:nvPr>
            <p:ph type="sldNum" sz="quarter" idx="5"/>
          </p:nvPr>
        </p:nvSpPr>
        <p:spPr bwMode="auto">
          <a:xfrm>
            <a:off x="3724275" y="9264650"/>
            <a:ext cx="2851150" cy="487363"/>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D94D1836-FEEE-4B5B-BEC0-C2A3650C993F}" type="slidenum">
              <a:rPr lang="de-AT" altLang="en-US"/>
              <a:pPr>
                <a:defRPr/>
              </a:pPr>
              <a:t>‹#›</a:t>
            </a:fld>
            <a:endParaRPr lang="de-AT"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a:extLst>
              <a:ext uri="{FF2B5EF4-FFF2-40B4-BE49-F238E27FC236}">
                <a16:creationId xmlns:a16="http://schemas.microsoft.com/office/drawing/2014/main" id="{E03A0E9F-1AFC-2587-73CD-E01EEBF55D1E}"/>
              </a:ext>
            </a:extLst>
          </p:cNvPr>
          <p:cNvSpPr>
            <a:spLocks noGrp="1" noRot="1" noChangeAspect="1" noChangeArrowheads="1" noTextEdit="1"/>
          </p:cNvSpPr>
          <p:nvPr>
            <p:ph type="sldImg"/>
          </p:nvPr>
        </p:nvSpPr>
        <p:spPr>
          <a:ln/>
        </p:spPr>
      </p:sp>
      <p:sp>
        <p:nvSpPr>
          <p:cNvPr id="68611" name="Notes Placeholder 2">
            <a:extLst>
              <a:ext uri="{FF2B5EF4-FFF2-40B4-BE49-F238E27FC236}">
                <a16:creationId xmlns:a16="http://schemas.microsoft.com/office/drawing/2014/main" id="{9E23C27D-E4EB-0666-A002-3C42A16F44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68612" name="Slide Number Placeholder 3">
            <a:extLst>
              <a:ext uri="{FF2B5EF4-FFF2-40B4-BE49-F238E27FC236}">
                <a16:creationId xmlns:a16="http://schemas.microsoft.com/office/drawing/2014/main" id="{12B882D9-E556-1C2E-4D83-3CDB02EFA8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defTabSz="914400"/>
            <a:fld id="{E841D873-7CC1-48D9-8C2A-EE185AE1013F}" type="slidenum">
              <a:rPr lang="en-US" altLang="en-US" sz="1200" smtClean="0">
                <a:solidFill>
                  <a:srgbClr val="000000"/>
                </a:solidFill>
                <a:cs typeface="Arial" panose="020B0604020202020204" pitchFamily="34" charset="0"/>
              </a:rPr>
              <a:pPr defTabSz="914400"/>
              <a:t>35</a:t>
            </a:fld>
            <a:endParaRPr lang="en-US" altLang="en-US" sz="1200">
              <a:solidFill>
                <a:srgbClr val="000000"/>
              </a:solidFill>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F246969-6547-1917-48C2-3190C504F02C}"/>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FC85A544-6C59-5FF4-587E-E7B6FE5130BD}"/>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5775BD25-FEBE-11E0-DB59-486D9A9F4B82}"/>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FF22DF89-3EEC-B42C-46DB-27F7D83C80EF}"/>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6ECBA099-55F7-060D-B9FA-77289CB5BF80}"/>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7" name="Date Placeholder 27">
            <a:extLst>
              <a:ext uri="{FF2B5EF4-FFF2-40B4-BE49-F238E27FC236}">
                <a16:creationId xmlns:a16="http://schemas.microsoft.com/office/drawing/2014/main" id="{B52CCD90-2604-9740-32D4-CEE01A89C425}"/>
              </a:ext>
            </a:extLst>
          </p:cNvPr>
          <p:cNvSpPr>
            <a:spLocks noGrp="1"/>
          </p:cNvSpPr>
          <p:nvPr>
            <p:ph type="dt" sz="half" idx="10"/>
          </p:nvPr>
        </p:nvSpPr>
        <p:spPr/>
        <p:txBody>
          <a:bodyPr/>
          <a:lstStyle>
            <a:lvl1pPr>
              <a:defRPr/>
            </a:lvl1pPr>
          </a:lstStyle>
          <a:p>
            <a:pPr>
              <a:defRPr/>
            </a:pPr>
            <a:fld id="{907DA2B7-F707-49E3-96DB-5F082FD3D1BD}" type="datetime1">
              <a:rPr lang="en-US"/>
              <a:pPr>
                <a:defRPr/>
              </a:pPr>
              <a:t>10/6/2025</a:t>
            </a:fld>
            <a:endParaRPr lang="en-US"/>
          </a:p>
        </p:txBody>
      </p:sp>
      <p:sp>
        <p:nvSpPr>
          <p:cNvPr id="10" name="Footer Placeholder 16">
            <a:extLst>
              <a:ext uri="{FF2B5EF4-FFF2-40B4-BE49-F238E27FC236}">
                <a16:creationId xmlns:a16="http://schemas.microsoft.com/office/drawing/2014/main" id="{F186A1F0-6A56-7713-11E0-D55A550EB70C}"/>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11" name="Slide Number Placeholder 28">
            <a:extLst>
              <a:ext uri="{FF2B5EF4-FFF2-40B4-BE49-F238E27FC236}">
                <a16:creationId xmlns:a16="http://schemas.microsoft.com/office/drawing/2014/main" id="{6208C130-4BAD-DAA3-1917-32F5B33E6068}"/>
              </a:ext>
            </a:extLst>
          </p:cNvPr>
          <p:cNvSpPr>
            <a:spLocks noGrp="1"/>
          </p:cNvSpPr>
          <p:nvPr>
            <p:ph type="sldNum" sz="quarter" idx="12"/>
          </p:nvPr>
        </p:nvSpPr>
        <p:spPr/>
        <p:txBody>
          <a:bodyPr/>
          <a:lstStyle>
            <a:lvl1pPr>
              <a:defRPr sz="1400">
                <a:solidFill>
                  <a:srgbClr val="FFFFFF"/>
                </a:solidFill>
              </a:defRPr>
            </a:lvl1pPr>
          </a:lstStyle>
          <a:p>
            <a:pPr>
              <a:defRPr/>
            </a:pPr>
            <a:fld id="{562B372A-FF27-490D-A6B4-419E85D1D954}" type="slidenum">
              <a:rPr lang="en-US"/>
              <a:pPr>
                <a:defRPr/>
              </a:pPr>
              <a:t>‹#›</a:t>
            </a:fld>
            <a:endParaRPr lang="en-US" dirty="0"/>
          </a:p>
        </p:txBody>
      </p:sp>
    </p:spTree>
    <p:extLst>
      <p:ext uri="{BB962C8B-B14F-4D97-AF65-F5344CB8AC3E}">
        <p14:creationId xmlns:p14="http://schemas.microsoft.com/office/powerpoint/2010/main" val="356467986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778E9282-E760-F7A3-98EE-65BC2C6363E8}"/>
              </a:ext>
            </a:extLst>
          </p:cNvPr>
          <p:cNvSpPr>
            <a:spLocks noGrp="1"/>
          </p:cNvSpPr>
          <p:nvPr>
            <p:ph type="dt" sz="half" idx="10"/>
          </p:nvPr>
        </p:nvSpPr>
        <p:spPr/>
        <p:txBody>
          <a:bodyPr/>
          <a:lstStyle>
            <a:lvl1pPr>
              <a:defRPr/>
            </a:lvl1pPr>
          </a:lstStyle>
          <a:p>
            <a:pPr>
              <a:defRPr/>
            </a:pPr>
            <a:fld id="{05AC8A07-309B-45F6-B47A-B2722323FE08}" type="datetime1">
              <a:rPr lang="en-US"/>
              <a:pPr>
                <a:defRPr/>
              </a:pPr>
              <a:t>10/6/2025</a:t>
            </a:fld>
            <a:endParaRPr lang="en-US" dirty="0"/>
          </a:p>
        </p:txBody>
      </p:sp>
      <p:sp>
        <p:nvSpPr>
          <p:cNvPr id="4" name="Footer Placeholder 2">
            <a:extLst>
              <a:ext uri="{FF2B5EF4-FFF2-40B4-BE49-F238E27FC236}">
                <a16:creationId xmlns:a16="http://schemas.microsoft.com/office/drawing/2014/main" id="{C746829A-A095-E59C-41B6-4692B3F7E321}"/>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5" name="Slide Number Placeholder 22">
            <a:extLst>
              <a:ext uri="{FF2B5EF4-FFF2-40B4-BE49-F238E27FC236}">
                <a16:creationId xmlns:a16="http://schemas.microsoft.com/office/drawing/2014/main" id="{50D6BC45-63D0-9E58-8C7F-2B186161A14C}"/>
              </a:ext>
            </a:extLst>
          </p:cNvPr>
          <p:cNvSpPr>
            <a:spLocks noGrp="1"/>
          </p:cNvSpPr>
          <p:nvPr>
            <p:ph type="sldNum" sz="quarter" idx="12"/>
          </p:nvPr>
        </p:nvSpPr>
        <p:spPr/>
        <p:txBody>
          <a:bodyPr/>
          <a:lstStyle>
            <a:lvl1pPr>
              <a:defRPr/>
            </a:lvl1pPr>
          </a:lstStyle>
          <a:p>
            <a:pPr>
              <a:defRPr/>
            </a:pPr>
            <a:fld id="{51E48C84-7B20-4DFC-B3A3-0AA028FCDD67}" type="slidenum">
              <a:rPr lang="en-US"/>
              <a:pPr>
                <a:defRPr/>
              </a:pPr>
              <a:t>‹#›</a:t>
            </a:fld>
            <a:endParaRPr lang="en-US" dirty="0"/>
          </a:p>
        </p:txBody>
      </p:sp>
    </p:spTree>
    <p:extLst>
      <p:ext uri="{BB962C8B-B14F-4D97-AF65-F5344CB8AC3E}">
        <p14:creationId xmlns:p14="http://schemas.microsoft.com/office/powerpoint/2010/main" val="3470016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773026F-151C-BC7A-1592-8AC07C491E5E}"/>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4">
            <a:extLst>
              <a:ext uri="{FF2B5EF4-FFF2-40B4-BE49-F238E27FC236}">
                <a16:creationId xmlns:a16="http://schemas.microsoft.com/office/drawing/2014/main" id="{49093FAB-7E35-92D5-3A9A-52F05F853DD2}"/>
              </a:ext>
            </a:extLst>
          </p:cNvPr>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778DC511-B9F7-C823-6AAC-98512D380F0A}"/>
              </a:ext>
            </a:extLst>
          </p:cNvPr>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52A83962-7F0B-6404-71D4-C604FC778ACC}"/>
              </a:ext>
            </a:extLst>
          </p:cNvPr>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8DC33BB2-F488-EF5B-76CF-DDB6A1C5F992}"/>
              </a:ext>
            </a:extLst>
          </p:cNvPr>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a:extLst>
              <a:ext uri="{FF2B5EF4-FFF2-40B4-BE49-F238E27FC236}">
                <a16:creationId xmlns:a16="http://schemas.microsoft.com/office/drawing/2014/main" id="{04F32C5E-51C4-FE21-A69A-014F6B470664}"/>
              </a:ext>
            </a:extLst>
          </p:cNvPr>
          <p:cNvSpPr>
            <a:spLocks noGrp="1"/>
          </p:cNvSpPr>
          <p:nvPr>
            <p:ph type="dt" sz="half" idx="10"/>
          </p:nvPr>
        </p:nvSpPr>
        <p:spPr/>
        <p:txBody>
          <a:bodyPr/>
          <a:lstStyle>
            <a:lvl1pPr>
              <a:defRPr/>
            </a:lvl1pPr>
          </a:lstStyle>
          <a:p>
            <a:pPr>
              <a:defRPr/>
            </a:pPr>
            <a:fld id="{582715FE-CD62-4097-B16B-0878D1170933}" type="datetime1">
              <a:rPr lang="en-US"/>
              <a:pPr>
                <a:defRPr/>
              </a:pPr>
              <a:t>10/6/2025</a:t>
            </a:fld>
            <a:endParaRPr lang="en-US"/>
          </a:p>
        </p:txBody>
      </p:sp>
      <p:sp>
        <p:nvSpPr>
          <p:cNvPr id="10" name="Footer Placeholder 4">
            <a:extLst>
              <a:ext uri="{FF2B5EF4-FFF2-40B4-BE49-F238E27FC236}">
                <a16:creationId xmlns:a16="http://schemas.microsoft.com/office/drawing/2014/main" id="{B12F5B5D-313C-4B90-5236-7FED6D504774}"/>
              </a:ext>
            </a:extLst>
          </p:cNvPr>
          <p:cNvSpPr>
            <a:spLocks noGrp="1"/>
          </p:cNvSpPr>
          <p:nvPr>
            <p:ph type="ftr" sz="quarter" idx="11"/>
          </p:nvPr>
        </p:nvSpPr>
        <p:spPr>
          <a:xfrm>
            <a:off x="800100" y="6172200"/>
            <a:ext cx="4000500" cy="457200"/>
          </a:xfrm>
        </p:spPr>
        <p:txBody>
          <a:bodyPr/>
          <a:lstStyle>
            <a:lvl1pPr>
              <a:defRPr/>
            </a:lvl1pPr>
          </a:lstStyle>
          <a:p>
            <a:pPr>
              <a:defRPr/>
            </a:pPr>
            <a:r>
              <a:rPr lang="en-US"/>
              <a:t>Autonomous Robots -- Dr. Zawar Qayyum, 2010</a:t>
            </a:r>
          </a:p>
        </p:txBody>
      </p:sp>
      <p:sp>
        <p:nvSpPr>
          <p:cNvPr id="11" name="Slide Number Placeholder 5">
            <a:extLst>
              <a:ext uri="{FF2B5EF4-FFF2-40B4-BE49-F238E27FC236}">
                <a16:creationId xmlns:a16="http://schemas.microsoft.com/office/drawing/2014/main" id="{156D944B-ACA7-D18B-E2E2-B2717DF65F6C}"/>
              </a:ext>
            </a:extLst>
          </p:cNvPr>
          <p:cNvSpPr>
            <a:spLocks noGrp="1"/>
          </p:cNvSpPr>
          <p:nvPr>
            <p:ph type="sldNum" sz="quarter" idx="12"/>
          </p:nvPr>
        </p:nvSpPr>
        <p:spPr>
          <a:xfrm>
            <a:off x="146050" y="6208713"/>
            <a:ext cx="457200" cy="457200"/>
          </a:xfrm>
        </p:spPr>
        <p:txBody>
          <a:bodyPr/>
          <a:lstStyle>
            <a:lvl1pPr>
              <a:defRPr/>
            </a:lvl1pPr>
          </a:lstStyle>
          <a:p>
            <a:pPr>
              <a:defRPr/>
            </a:pPr>
            <a:fld id="{7C57E26F-56E1-4CEE-993E-B2E17B95B395}" type="slidenum">
              <a:rPr lang="en-US"/>
              <a:pPr>
                <a:defRPr/>
              </a:pPr>
              <a:t>‹#›</a:t>
            </a:fld>
            <a:endParaRPr lang="en-US" dirty="0"/>
          </a:p>
        </p:txBody>
      </p:sp>
    </p:spTree>
    <p:extLst>
      <p:ext uri="{BB962C8B-B14F-4D97-AF65-F5344CB8AC3E}">
        <p14:creationId xmlns:p14="http://schemas.microsoft.com/office/powerpoint/2010/main" val="312528326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60CB2DF9-0076-3C09-79C3-9762915D740D}"/>
              </a:ext>
            </a:extLst>
          </p:cNvPr>
          <p:cNvSpPr>
            <a:spLocks noGrp="1"/>
          </p:cNvSpPr>
          <p:nvPr>
            <p:ph type="dt" sz="half" idx="10"/>
          </p:nvPr>
        </p:nvSpPr>
        <p:spPr/>
        <p:txBody>
          <a:bodyPr/>
          <a:lstStyle>
            <a:lvl1pPr>
              <a:defRPr/>
            </a:lvl1pPr>
          </a:lstStyle>
          <a:p>
            <a:pPr>
              <a:defRPr/>
            </a:pPr>
            <a:fld id="{92B202A7-EA26-4EA1-A324-376FF5CF50BB}" type="datetime1">
              <a:rPr lang="en-US"/>
              <a:pPr>
                <a:defRPr/>
              </a:pPr>
              <a:t>10/6/2025</a:t>
            </a:fld>
            <a:endParaRPr lang="en-US" dirty="0"/>
          </a:p>
        </p:txBody>
      </p:sp>
      <p:sp>
        <p:nvSpPr>
          <p:cNvPr id="4" name="Footer Placeholder 2">
            <a:extLst>
              <a:ext uri="{FF2B5EF4-FFF2-40B4-BE49-F238E27FC236}">
                <a16:creationId xmlns:a16="http://schemas.microsoft.com/office/drawing/2014/main" id="{E94966EF-0583-9A4B-FEBD-1373B6C80118}"/>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5" name="Slide Number Placeholder 22">
            <a:extLst>
              <a:ext uri="{FF2B5EF4-FFF2-40B4-BE49-F238E27FC236}">
                <a16:creationId xmlns:a16="http://schemas.microsoft.com/office/drawing/2014/main" id="{A71D624B-1C9A-B7F5-7936-EA65C426F7B8}"/>
              </a:ext>
            </a:extLst>
          </p:cNvPr>
          <p:cNvSpPr>
            <a:spLocks noGrp="1"/>
          </p:cNvSpPr>
          <p:nvPr>
            <p:ph type="sldNum" sz="quarter" idx="12"/>
          </p:nvPr>
        </p:nvSpPr>
        <p:spPr/>
        <p:txBody>
          <a:bodyPr/>
          <a:lstStyle>
            <a:lvl1pPr>
              <a:defRPr/>
            </a:lvl1pPr>
          </a:lstStyle>
          <a:p>
            <a:pPr>
              <a:defRPr/>
            </a:pPr>
            <a:fld id="{D6FE18FD-4AB8-4721-B1F6-DF0FD0FAB4B7}" type="slidenum">
              <a:rPr lang="en-US"/>
              <a:pPr>
                <a:defRPr/>
              </a:pPr>
              <a:t>‹#›</a:t>
            </a:fld>
            <a:endParaRPr lang="en-US" dirty="0"/>
          </a:p>
        </p:txBody>
      </p:sp>
    </p:spTree>
    <p:extLst>
      <p:ext uri="{BB962C8B-B14F-4D97-AF65-F5344CB8AC3E}">
        <p14:creationId xmlns:p14="http://schemas.microsoft.com/office/powerpoint/2010/main" val="1271699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5DAD20B2-18A7-847D-F4B5-F2D3320674C5}"/>
              </a:ext>
            </a:extLst>
          </p:cNvPr>
          <p:cNvSpPr>
            <a:spLocks noGrp="1"/>
          </p:cNvSpPr>
          <p:nvPr>
            <p:ph type="dt" sz="half" idx="10"/>
          </p:nvPr>
        </p:nvSpPr>
        <p:spPr/>
        <p:txBody>
          <a:bodyPr/>
          <a:lstStyle>
            <a:lvl1pPr>
              <a:defRPr/>
            </a:lvl1pPr>
          </a:lstStyle>
          <a:p>
            <a:pPr>
              <a:defRPr/>
            </a:pPr>
            <a:fld id="{6EB1455B-7921-41B6-8AED-EF69C26DCCF5}" type="datetime1">
              <a:rPr lang="en-US"/>
              <a:pPr>
                <a:defRPr/>
              </a:pPr>
              <a:t>10/6/2025</a:t>
            </a:fld>
            <a:endParaRPr lang="en-US" dirty="0"/>
          </a:p>
        </p:txBody>
      </p:sp>
      <p:sp>
        <p:nvSpPr>
          <p:cNvPr id="6" name="Footer Placeholder 2">
            <a:extLst>
              <a:ext uri="{FF2B5EF4-FFF2-40B4-BE49-F238E27FC236}">
                <a16:creationId xmlns:a16="http://schemas.microsoft.com/office/drawing/2014/main" id="{EFC2CEB7-472F-F342-962B-5860A33223FD}"/>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7" name="Slide Number Placeholder 22">
            <a:extLst>
              <a:ext uri="{FF2B5EF4-FFF2-40B4-BE49-F238E27FC236}">
                <a16:creationId xmlns:a16="http://schemas.microsoft.com/office/drawing/2014/main" id="{356DBD1C-309F-8984-746A-62788267A090}"/>
              </a:ext>
            </a:extLst>
          </p:cNvPr>
          <p:cNvSpPr>
            <a:spLocks noGrp="1"/>
          </p:cNvSpPr>
          <p:nvPr>
            <p:ph type="sldNum" sz="quarter" idx="12"/>
          </p:nvPr>
        </p:nvSpPr>
        <p:spPr/>
        <p:txBody>
          <a:bodyPr/>
          <a:lstStyle>
            <a:lvl1pPr>
              <a:defRPr/>
            </a:lvl1pPr>
          </a:lstStyle>
          <a:p>
            <a:pPr>
              <a:defRPr/>
            </a:pPr>
            <a:fld id="{D7E04B16-DF70-4AC0-B2A0-C5BDD5E97F41}" type="slidenum">
              <a:rPr lang="en-US"/>
              <a:pPr>
                <a:defRPr/>
              </a:pPr>
              <a:t>‹#›</a:t>
            </a:fld>
            <a:endParaRPr lang="en-US" dirty="0"/>
          </a:p>
        </p:txBody>
      </p:sp>
    </p:spTree>
    <p:extLst>
      <p:ext uri="{BB962C8B-B14F-4D97-AF65-F5344CB8AC3E}">
        <p14:creationId xmlns:p14="http://schemas.microsoft.com/office/powerpoint/2010/main" val="13477508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D7F9D573-CE77-6455-AD32-B653233EE85F}"/>
              </a:ext>
            </a:extLst>
          </p:cNvPr>
          <p:cNvSpPr>
            <a:spLocks noGrp="1"/>
          </p:cNvSpPr>
          <p:nvPr>
            <p:ph type="dt" sz="half" idx="10"/>
          </p:nvPr>
        </p:nvSpPr>
        <p:spPr/>
        <p:txBody>
          <a:bodyPr/>
          <a:lstStyle>
            <a:lvl1pPr>
              <a:defRPr/>
            </a:lvl1pPr>
          </a:lstStyle>
          <a:p>
            <a:pPr>
              <a:defRPr/>
            </a:pPr>
            <a:fld id="{20AD92FA-55F0-42A4-95B8-AFD946359179}" type="datetime1">
              <a:rPr lang="en-US"/>
              <a:pPr>
                <a:defRPr/>
              </a:pPr>
              <a:t>10/6/2025</a:t>
            </a:fld>
            <a:endParaRPr lang="en-US" dirty="0"/>
          </a:p>
        </p:txBody>
      </p:sp>
      <p:sp>
        <p:nvSpPr>
          <p:cNvPr id="4" name="Footer Placeholder 2">
            <a:extLst>
              <a:ext uri="{FF2B5EF4-FFF2-40B4-BE49-F238E27FC236}">
                <a16:creationId xmlns:a16="http://schemas.microsoft.com/office/drawing/2014/main" id="{1F92F610-DC54-C73A-46B4-821F784DAB24}"/>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5" name="Slide Number Placeholder 22">
            <a:extLst>
              <a:ext uri="{FF2B5EF4-FFF2-40B4-BE49-F238E27FC236}">
                <a16:creationId xmlns:a16="http://schemas.microsoft.com/office/drawing/2014/main" id="{DC79F748-1DF6-1219-B026-E387E8A1A510}"/>
              </a:ext>
            </a:extLst>
          </p:cNvPr>
          <p:cNvSpPr>
            <a:spLocks noGrp="1"/>
          </p:cNvSpPr>
          <p:nvPr>
            <p:ph type="sldNum" sz="quarter" idx="12"/>
          </p:nvPr>
        </p:nvSpPr>
        <p:spPr/>
        <p:txBody>
          <a:bodyPr/>
          <a:lstStyle>
            <a:lvl1pPr>
              <a:defRPr/>
            </a:lvl1pPr>
          </a:lstStyle>
          <a:p>
            <a:pPr>
              <a:defRPr/>
            </a:pPr>
            <a:fld id="{C3D89D7E-6D5D-4874-8B07-B83B6B08937D}" type="slidenum">
              <a:rPr lang="en-US"/>
              <a:pPr>
                <a:defRPr/>
              </a:pPr>
              <a:t>‹#›</a:t>
            </a:fld>
            <a:endParaRPr lang="en-US" dirty="0"/>
          </a:p>
        </p:txBody>
      </p:sp>
    </p:spTree>
    <p:extLst>
      <p:ext uri="{BB962C8B-B14F-4D97-AF65-F5344CB8AC3E}">
        <p14:creationId xmlns:p14="http://schemas.microsoft.com/office/powerpoint/2010/main" val="2479125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A195DE97-458F-4C6E-E4B1-4E5D5E53BD09}"/>
              </a:ext>
            </a:extLst>
          </p:cNvPr>
          <p:cNvSpPr>
            <a:spLocks noGrp="1"/>
          </p:cNvSpPr>
          <p:nvPr>
            <p:ph type="dt" sz="half" idx="10"/>
          </p:nvPr>
        </p:nvSpPr>
        <p:spPr/>
        <p:txBody>
          <a:bodyPr/>
          <a:lstStyle>
            <a:lvl1pPr>
              <a:defRPr/>
            </a:lvl1pPr>
          </a:lstStyle>
          <a:p>
            <a:pPr>
              <a:defRPr/>
            </a:pPr>
            <a:fld id="{54D3D69A-2ACA-4690-85FB-6C881C148E93}" type="datetime1">
              <a:rPr lang="en-US"/>
              <a:pPr>
                <a:defRPr/>
              </a:pPr>
              <a:t>10/6/2025</a:t>
            </a:fld>
            <a:endParaRPr lang="en-US" dirty="0"/>
          </a:p>
        </p:txBody>
      </p:sp>
      <p:sp>
        <p:nvSpPr>
          <p:cNvPr id="3" name="Footer Placeholder 2">
            <a:extLst>
              <a:ext uri="{FF2B5EF4-FFF2-40B4-BE49-F238E27FC236}">
                <a16:creationId xmlns:a16="http://schemas.microsoft.com/office/drawing/2014/main" id="{4A835896-F485-00C9-781A-A550F6EC108C}"/>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4" name="Slide Number Placeholder 22">
            <a:extLst>
              <a:ext uri="{FF2B5EF4-FFF2-40B4-BE49-F238E27FC236}">
                <a16:creationId xmlns:a16="http://schemas.microsoft.com/office/drawing/2014/main" id="{A59EC4B1-A9DF-71B5-0463-535010934716}"/>
              </a:ext>
            </a:extLst>
          </p:cNvPr>
          <p:cNvSpPr>
            <a:spLocks noGrp="1"/>
          </p:cNvSpPr>
          <p:nvPr>
            <p:ph type="sldNum" sz="quarter" idx="12"/>
          </p:nvPr>
        </p:nvSpPr>
        <p:spPr/>
        <p:txBody>
          <a:bodyPr/>
          <a:lstStyle>
            <a:lvl1pPr>
              <a:defRPr/>
            </a:lvl1pPr>
          </a:lstStyle>
          <a:p>
            <a:pPr>
              <a:defRPr/>
            </a:pPr>
            <a:fld id="{32600574-9A6F-4405-AB91-EED27DEC2331}" type="slidenum">
              <a:rPr lang="en-US"/>
              <a:pPr>
                <a:defRPr/>
              </a:pPr>
              <a:t>‹#›</a:t>
            </a:fld>
            <a:endParaRPr lang="en-US" dirty="0"/>
          </a:p>
        </p:txBody>
      </p:sp>
    </p:spTree>
    <p:extLst>
      <p:ext uri="{BB962C8B-B14F-4D97-AF65-F5344CB8AC3E}">
        <p14:creationId xmlns:p14="http://schemas.microsoft.com/office/powerpoint/2010/main" val="925656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D9BF8E-FDD9-C1CB-9863-4502E93B0582}"/>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366AA735-79C2-A88F-1A25-090863832A59}"/>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BF3C2E85-4854-A24B-8F6C-82F5617ED01D}"/>
              </a:ext>
            </a:extLst>
          </p:cNvPr>
          <p:cNvSpPr>
            <a:spLocks noGrp="1"/>
          </p:cNvSpPr>
          <p:nvPr>
            <p:ph type="dt" sz="half" idx="10"/>
          </p:nvPr>
        </p:nvSpPr>
        <p:spPr/>
        <p:txBody>
          <a:bodyPr/>
          <a:lstStyle>
            <a:lvl1pPr>
              <a:defRPr/>
            </a:lvl1pPr>
          </a:lstStyle>
          <a:p>
            <a:pPr>
              <a:defRPr/>
            </a:pPr>
            <a:fld id="{44255E61-F90D-4770-9085-050CBF0CDB26}" type="datetime1">
              <a:rPr lang="en-US"/>
              <a:pPr>
                <a:defRPr/>
              </a:pPr>
              <a:t>10/6/2025</a:t>
            </a:fld>
            <a:endParaRPr lang="en-US"/>
          </a:p>
        </p:txBody>
      </p:sp>
      <p:sp>
        <p:nvSpPr>
          <p:cNvPr id="7" name="Footer Placeholder 5">
            <a:extLst>
              <a:ext uri="{FF2B5EF4-FFF2-40B4-BE49-F238E27FC236}">
                <a16:creationId xmlns:a16="http://schemas.microsoft.com/office/drawing/2014/main" id="{02BA7AB3-DFF7-7D78-0EE7-27087A33D94F}"/>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8" name="Slide Number Placeholder 6">
            <a:extLst>
              <a:ext uri="{FF2B5EF4-FFF2-40B4-BE49-F238E27FC236}">
                <a16:creationId xmlns:a16="http://schemas.microsoft.com/office/drawing/2014/main" id="{E24BCBA7-E4E5-D421-4C17-2F9F09792E6E}"/>
              </a:ext>
            </a:extLst>
          </p:cNvPr>
          <p:cNvSpPr>
            <a:spLocks noGrp="1"/>
          </p:cNvSpPr>
          <p:nvPr>
            <p:ph type="sldNum" sz="quarter" idx="12"/>
          </p:nvPr>
        </p:nvSpPr>
        <p:spPr/>
        <p:txBody>
          <a:bodyPr/>
          <a:lstStyle>
            <a:lvl1pPr>
              <a:defRPr/>
            </a:lvl1pPr>
          </a:lstStyle>
          <a:p>
            <a:pPr>
              <a:defRPr/>
            </a:pPr>
            <a:fld id="{45539FE7-9634-4909-A447-A9B09416BBA6}" type="slidenum">
              <a:rPr lang="en-US"/>
              <a:pPr>
                <a:defRPr/>
              </a:pPr>
              <a:t>‹#›</a:t>
            </a:fld>
            <a:endParaRPr lang="en-US"/>
          </a:p>
        </p:txBody>
      </p:sp>
    </p:spTree>
    <p:extLst>
      <p:ext uri="{BB962C8B-B14F-4D97-AF65-F5344CB8AC3E}">
        <p14:creationId xmlns:p14="http://schemas.microsoft.com/office/powerpoint/2010/main" val="3259443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35C8B64-692F-6FDE-BB07-C2C84C75D578}"/>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9BA877AD-4FAC-6522-6D2B-A8BA69F8751D}"/>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A3C92A6E-CC39-3E49-3DB3-6673454DBC3B}"/>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DFB52818-7F13-5EDF-C1FA-B66E57C8572B}"/>
              </a:ext>
            </a:extLst>
          </p:cNvPr>
          <p:cNvSpPr>
            <a:spLocks noGrp="1"/>
          </p:cNvSpPr>
          <p:nvPr>
            <p:ph type="dt" sz="half" idx="10"/>
          </p:nvPr>
        </p:nvSpPr>
        <p:spPr/>
        <p:txBody>
          <a:bodyPr/>
          <a:lstStyle>
            <a:lvl1pPr>
              <a:defRPr/>
            </a:lvl1pPr>
          </a:lstStyle>
          <a:p>
            <a:pPr>
              <a:defRPr/>
            </a:pPr>
            <a:fld id="{023F34ED-1415-4547-BF66-18243BBD8656}" type="datetime1">
              <a:rPr lang="en-US"/>
              <a:pPr>
                <a:defRPr/>
              </a:pPr>
              <a:t>10/6/2025</a:t>
            </a:fld>
            <a:endParaRPr lang="en-US"/>
          </a:p>
        </p:txBody>
      </p:sp>
      <p:sp>
        <p:nvSpPr>
          <p:cNvPr id="9" name="Footer Placeholder 5">
            <a:extLst>
              <a:ext uri="{FF2B5EF4-FFF2-40B4-BE49-F238E27FC236}">
                <a16:creationId xmlns:a16="http://schemas.microsoft.com/office/drawing/2014/main" id="{3F7D7A3E-94D5-FFDE-6818-D15465ED8EDE}"/>
              </a:ext>
            </a:extLst>
          </p:cNvPr>
          <p:cNvSpPr>
            <a:spLocks noGrp="1"/>
          </p:cNvSpPr>
          <p:nvPr>
            <p:ph type="ftr" sz="quarter" idx="11"/>
          </p:nvPr>
        </p:nvSpPr>
        <p:spPr>
          <a:xfrm>
            <a:off x="914400" y="6172200"/>
            <a:ext cx="3886200" cy="457200"/>
          </a:xfrm>
        </p:spPr>
        <p:txBody>
          <a:bodyPr/>
          <a:lstStyle>
            <a:lvl1pPr>
              <a:defRPr/>
            </a:lvl1pPr>
          </a:lstStyle>
          <a:p>
            <a:pPr>
              <a:defRPr/>
            </a:pPr>
            <a:r>
              <a:rPr lang="en-US"/>
              <a:t>Autonomous Robots -- Dr. Zawar Qayyum, 2010</a:t>
            </a:r>
          </a:p>
        </p:txBody>
      </p:sp>
      <p:sp>
        <p:nvSpPr>
          <p:cNvPr id="10" name="Slide Number Placeholder 6">
            <a:extLst>
              <a:ext uri="{FF2B5EF4-FFF2-40B4-BE49-F238E27FC236}">
                <a16:creationId xmlns:a16="http://schemas.microsoft.com/office/drawing/2014/main" id="{00D5DD97-2C70-FFCB-D12B-872B6E0D881C}"/>
              </a:ext>
            </a:extLst>
          </p:cNvPr>
          <p:cNvSpPr>
            <a:spLocks noGrp="1"/>
          </p:cNvSpPr>
          <p:nvPr>
            <p:ph type="sldNum" sz="quarter" idx="12"/>
          </p:nvPr>
        </p:nvSpPr>
        <p:spPr>
          <a:xfrm>
            <a:off x="146050" y="6208713"/>
            <a:ext cx="457200" cy="457200"/>
          </a:xfrm>
        </p:spPr>
        <p:txBody>
          <a:bodyPr/>
          <a:lstStyle>
            <a:lvl1pPr>
              <a:defRPr/>
            </a:lvl1pPr>
          </a:lstStyle>
          <a:p>
            <a:pPr>
              <a:defRPr/>
            </a:pPr>
            <a:fld id="{265D36BB-F696-4FC2-B82F-F4DAF7A7F35C}" type="slidenum">
              <a:rPr lang="en-US"/>
              <a:pPr>
                <a:defRPr/>
              </a:pPr>
              <a:t>‹#›</a:t>
            </a:fld>
            <a:endParaRPr lang="en-US" dirty="0"/>
          </a:p>
        </p:txBody>
      </p:sp>
    </p:spTree>
    <p:extLst>
      <p:ext uri="{BB962C8B-B14F-4D97-AF65-F5344CB8AC3E}">
        <p14:creationId xmlns:p14="http://schemas.microsoft.com/office/powerpoint/2010/main" val="3256764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E13C00F3-F12A-1FBE-7381-5500BD40DE11}"/>
              </a:ext>
            </a:extLst>
          </p:cNvPr>
          <p:cNvSpPr>
            <a:spLocks noGrp="1"/>
          </p:cNvSpPr>
          <p:nvPr>
            <p:ph type="dt" sz="half" idx="10"/>
          </p:nvPr>
        </p:nvSpPr>
        <p:spPr/>
        <p:txBody>
          <a:bodyPr/>
          <a:lstStyle>
            <a:lvl1pPr>
              <a:defRPr/>
            </a:lvl1pPr>
          </a:lstStyle>
          <a:p>
            <a:pPr>
              <a:defRPr/>
            </a:pPr>
            <a:fld id="{FB831F91-59DA-4E2C-92C2-29AD8AB1F92E}" type="datetime1">
              <a:rPr lang="en-US"/>
              <a:pPr>
                <a:defRPr/>
              </a:pPr>
              <a:t>10/6/2025</a:t>
            </a:fld>
            <a:endParaRPr lang="en-US" dirty="0"/>
          </a:p>
        </p:txBody>
      </p:sp>
      <p:sp>
        <p:nvSpPr>
          <p:cNvPr id="5" name="Footer Placeholder 2">
            <a:extLst>
              <a:ext uri="{FF2B5EF4-FFF2-40B4-BE49-F238E27FC236}">
                <a16:creationId xmlns:a16="http://schemas.microsoft.com/office/drawing/2014/main" id="{B6FDAA69-349F-47F3-2F4D-1E9C1E30D83E}"/>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6" name="Slide Number Placeholder 22">
            <a:extLst>
              <a:ext uri="{FF2B5EF4-FFF2-40B4-BE49-F238E27FC236}">
                <a16:creationId xmlns:a16="http://schemas.microsoft.com/office/drawing/2014/main" id="{BA7B28CF-79C9-DA47-0299-2CFEC9985BEE}"/>
              </a:ext>
            </a:extLst>
          </p:cNvPr>
          <p:cNvSpPr>
            <a:spLocks noGrp="1"/>
          </p:cNvSpPr>
          <p:nvPr>
            <p:ph type="sldNum" sz="quarter" idx="12"/>
          </p:nvPr>
        </p:nvSpPr>
        <p:spPr/>
        <p:txBody>
          <a:bodyPr/>
          <a:lstStyle>
            <a:lvl1pPr>
              <a:defRPr/>
            </a:lvl1pPr>
          </a:lstStyle>
          <a:p>
            <a:pPr>
              <a:defRPr/>
            </a:pPr>
            <a:fld id="{9FA08F6C-A8E0-4933-BC30-746993881F09}" type="slidenum">
              <a:rPr lang="en-US"/>
              <a:pPr>
                <a:defRPr/>
              </a:pPr>
              <a:t>‹#›</a:t>
            </a:fld>
            <a:endParaRPr lang="en-US" dirty="0"/>
          </a:p>
        </p:txBody>
      </p:sp>
    </p:spTree>
    <p:extLst>
      <p:ext uri="{BB962C8B-B14F-4D97-AF65-F5344CB8AC3E}">
        <p14:creationId xmlns:p14="http://schemas.microsoft.com/office/powerpoint/2010/main" val="1728700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1925A9A0-4177-38FD-C885-84FA59138AF8}"/>
              </a:ext>
            </a:extLst>
          </p:cNvPr>
          <p:cNvSpPr>
            <a:spLocks noGrp="1"/>
          </p:cNvSpPr>
          <p:nvPr>
            <p:ph type="dt" sz="half" idx="10"/>
          </p:nvPr>
        </p:nvSpPr>
        <p:spPr/>
        <p:txBody>
          <a:bodyPr/>
          <a:lstStyle>
            <a:lvl1pPr>
              <a:defRPr/>
            </a:lvl1pPr>
          </a:lstStyle>
          <a:p>
            <a:pPr>
              <a:defRPr/>
            </a:pPr>
            <a:fld id="{58DE1AB5-9A9C-4478-8D71-74E7C115993E}" type="datetime1">
              <a:rPr lang="en-US"/>
              <a:pPr>
                <a:defRPr/>
              </a:pPr>
              <a:t>10/6/2025</a:t>
            </a:fld>
            <a:endParaRPr lang="en-US" dirty="0"/>
          </a:p>
        </p:txBody>
      </p:sp>
      <p:sp>
        <p:nvSpPr>
          <p:cNvPr id="5" name="Footer Placeholder 2">
            <a:extLst>
              <a:ext uri="{FF2B5EF4-FFF2-40B4-BE49-F238E27FC236}">
                <a16:creationId xmlns:a16="http://schemas.microsoft.com/office/drawing/2014/main" id="{17ED6A26-2FB6-F706-A635-C04BB5BC71B2}"/>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6" name="Slide Number Placeholder 22">
            <a:extLst>
              <a:ext uri="{FF2B5EF4-FFF2-40B4-BE49-F238E27FC236}">
                <a16:creationId xmlns:a16="http://schemas.microsoft.com/office/drawing/2014/main" id="{F9B898D3-9812-AC77-D880-DE6CC2030B62}"/>
              </a:ext>
            </a:extLst>
          </p:cNvPr>
          <p:cNvSpPr>
            <a:spLocks noGrp="1"/>
          </p:cNvSpPr>
          <p:nvPr>
            <p:ph type="sldNum" sz="quarter" idx="12"/>
          </p:nvPr>
        </p:nvSpPr>
        <p:spPr/>
        <p:txBody>
          <a:bodyPr/>
          <a:lstStyle>
            <a:lvl1pPr>
              <a:defRPr/>
            </a:lvl1pPr>
          </a:lstStyle>
          <a:p>
            <a:pPr>
              <a:defRPr/>
            </a:pPr>
            <a:fld id="{6B03E8CC-4660-4A7F-B646-5B9063F843AD}" type="slidenum">
              <a:rPr lang="en-US"/>
              <a:pPr>
                <a:defRPr/>
              </a:pPr>
              <a:t>‹#›</a:t>
            </a:fld>
            <a:endParaRPr lang="en-US" dirty="0"/>
          </a:p>
        </p:txBody>
      </p:sp>
    </p:spTree>
    <p:extLst>
      <p:ext uri="{BB962C8B-B14F-4D97-AF65-F5344CB8AC3E}">
        <p14:creationId xmlns:p14="http://schemas.microsoft.com/office/powerpoint/2010/main" val="38430057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able Placeholder 2"/>
          <p:cNvSpPr>
            <a:spLocks noGrp="1"/>
          </p:cNvSpPr>
          <p:nvPr>
            <p:ph type="tbl" idx="1"/>
          </p:nvPr>
        </p:nvSpPr>
        <p:spPr>
          <a:xfrm>
            <a:off x="433388" y="1524000"/>
            <a:ext cx="8277225" cy="4641850"/>
          </a:xfrm>
        </p:spPr>
        <p:txBody>
          <a:bodyPr/>
          <a:lstStyle/>
          <a:p>
            <a:pPr lvl="0"/>
            <a:endParaRPr lang="en-US" noProof="0"/>
          </a:p>
        </p:txBody>
      </p:sp>
      <p:sp>
        <p:nvSpPr>
          <p:cNvPr id="4" name="Rectangle 4">
            <a:extLst>
              <a:ext uri="{FF2B5EF4-FFF2-40B4-BE49-F238E27FC236}">
                <a16:creationId xmlns:a16="http://schemas.microsoft.com/office/drawing/2014/main" id="{443012D9-857B-BDC1-DA29-323E2B727FF5}"/>
              </a:ext>
            </a:extLst>
          </p:cNvPr>
          <p:cNvSpPr>
            <a:spLocks noGrp="1" noChangeArrowheads="1"/>
          </p:cNvSpPr>
          <p:nvPr>
            <p:ph type="dt" sz="half" idx="10"/>
          </p:nvPr>
        </p:nvSpPr>
        <p:spPr/>
        <p:txBody>
          <a:bodyPr/>
          <a:lstStyle>
            <a:lvl1pPr>
              <a:defRPr/>
            </a:lvl1pPr>
          </a:lstStyle>
          <a:p>
            <a:pPr>
              <a:defRPr/>
            </a:pPr>
            <a:endParaRPr lang="de-DE"/>
          </a:p>
        </p:txBody>
      </p:sp>
    </p:spTree>
    <p:extLst>
      <p:ext uri="{BB962C8B-B14F-4D97-AF65-F5344CB8AC3E}">
        <p14:creationId xmlns:p14="http://schemas.microsoft.com/office/powerpoint/2010/main" val="35389914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5853C4-58D4-E12E-F9D3-6DFE43E741A7}"/>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A0D65C4C-8978-E965-904E-825D91967615}"/>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23136D3B-1E38-B128-44B3-6A013A7071FF}"/>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9D193835-2205-D195-3A01-FB691AD2829B}"/>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E83FC762-605F-3A7B-E754-8B8554C5378A}"/>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dirty="0"/>
              <a:t>Click to edit Master title style</a:t>
            </a:r>
          </a:p>
        </p:txBody>
      </p:sp>
      <p:sp>
        <p:nvSpPr>
          <p:cNvPr id="10" name="Footer Placeholder 16">
            <a:extLst>
              <a:ext uri="{FF2B5EF4-FFF2-40B4-BE49-F238E27FC236}">
                <a16:creationId xmlns:a16="http://schemas.microsoft.com/office/drawing/2014/main" id="{5A97B514-3D2A-02CC-4EBE-220DF49B070A}"/>
              </a:ext>
            </a:extLst>
          </p:cNvPr>
          <p:cNvSpPr>
            <a:spLocks noGrp="1"/>
          </p:cNvSpPr>
          <p:nvPr>
            <p:ph type="ftr" sz="quarter" idx="11"/>
          </p:nvPr>
        </p:nvSpPr>
        <p:spPr>
          <a:xfrm>
            <a:off x="2483768" y="6428184"/>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1" name="Slide Number Placeholder 28">
            <a:extLst>
              <a:ext uri="{FF2B5EF4-FFF2-40B4-BE49-F238E27FC236}">
                <a16:creationId xmlns:a16="http://schemas.microsoft.com/office/drawing/2014/main" id="{A7231800-4E93-AC45-26C7-F83BA69F8A74}"/>
              </a:ext>
            </a:extLst>
          </p:cNvPr>
          <p:cNvSpPr>
            <a:spLocks noGrp="1"/>
          </p:cNvSpPr>
          <p:nvPr>
            <p:ph type="sldNum" sz="quarter" idx="12"/>
          </p:nvPr>
        </p:nvSpPr>
        <p:spPr/>
        <p:txBody>
          <a:bodyPr/>
          <a:lstStyle>
            <a:lvl1pPr>
              <a:defRPr sz="1400">
                <a:solidFill>
                  <a:srgbClr val="FFFFFF"/>
                </a:solidFill>
              </a:defRPr>
            </a:lvl1pPr>
          </a:lstStyle>
          <a:p>
            <a:pPr>
              <a:defRPr/>
            </a:pPr>
            <a:fld id="{5E4C22A4-67DC-44A8-A4FC-CE49B2567C98}" type="slidenum">
              <a:rPr lang="en-US"/>
              <a:pPr>
                <a:defRPr/>
              </a:pPr>
              <a:t>‹#›</a:t>
            </a:fld>
            <a:endParaRPr lang="en-US" dirty="0"/>
          </a:p>
        </p:txBody>
      </p:sp>
    </p:spTree>
    <p:extLst>
      <p:ext uri="{BB962C8B-B14F-4D97-AF65-F5344CB8AC3E}">
        <p14:creationId xmlns:p14="http://schemas.microsoft.com/office/powerpoint/2010/main" val="491076344"/>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BD19D621-57AE-DF6C-3CB8-DA450630DD65}"/>
              </a:ext>
            </a:extLst>
          </p:cNvPr>
          <p:cNvSpPr>
            <a:spLocks noGrp="1"/>
          </p:cNvSpPr>
          <p:nvPr>
            <p:ph type="ftr" sz="quarter" idx="11"/>
          </p:nvPr>
        </p:nvSpPr>
        <p:spPr>
          <a:xfrm>
            <a:off x="2555776" y="6500192"/>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0AA46312-DD6F-C5AE-2F1E-907F31E829E1}"/>
              </a:ext>
            </a:extLst>
          </p:cNvPr>
          <p:cNvSpPr>
            <a:spLocks noGrp="1"/>
          </p:cNvSpPr>
          <p:nvPr>
            <p:ph type="sldNum" sz="quarter" idx="12"/>
          </p:nvPr>
        </p:nvSpPr>
        <p:spPr/>
        <p:txBody>
          <a:bodyPr/>
          <a:lstStyle>
            <a:lvl1pPr>
              <a:defRPr/>
            </a:lvl1pPr>
          </a:lstStyle>
          <a:p>
            <a:pPr>
              <a:defRPr/>
            </a:pPr>
            <a:fld id="{83AC8CC2-3150-4BDA-BDF0-6D695CA2D84D}" type="slidenum">
              <a:rPr lang="en-US"/>
              <a:pPr>
                <a:defRPr/>
              </a:pPr>
              <a:t>‹#›</a:t>
            </a:fld>
            <a:endParaRPr lang="en-US" dirty="0"/>
          </a:p>
        </p:txBody>
      </p:sp>
    </p:spTree>
    <p:extLst>
      <p:ext uri="{BB962C8B-B14F-4D97-AF65-F5344CB8AC3E}">
        <p14:creationId xmlns:p14="http://schemas.microsoft.com/office/powerpoint/2010/main" val="34488152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a:extLst>
              <a:ext uri="{FF2B5EF4-FFF2-40B4-BE49-F238E27FC236}">
                <a16:creationId xmlns:a16="http://schemas.microsoft.com/office/drawing/2014/main" id="{0679A2C8-7DC8-AD37-9652-ABC5705D59FA}"/>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8D45CD1B-92F4-C034-40EE-43ED7BDDC965}"/>
              </a:ext>
            </a:extLst>
          </p:cNvPr>
          <p:cNvSpPr>
            <a:spLocks noGrp="1"/>
          </p:cNvSpPr>
          <p:nvPr>
            <p:ph type="sldNum" sz="quarter" idx="12"/>
          </p:nvPr>
        </p:nvSpPr>
        <p:spPr/>
        <p:txBody>
          <a:bodyPr/>
          <a:lstStyle>
            <a:lvl1pPr>
              <a:defRPr/>
            </a:lvl1pPr>
          </a:lstStyle>
          <a:p>
            <a:pPr>
              <a:defRPr/>
            </a:pPr>
            <a:fld id="{A6BCF859-27D9-4B15-909C-5A9275A8D5B1}" type="slidenum">
              <a:rPr lang="en-US"/>
              <a:pPr>
                <a:defRPr/>
              </a:pPr>
              <a:t>‹#›</a:t>
            </a:fld>
            <a:endParaRPr lang="en-US" dirty="0"/>
          </a:p>
        </p:txBody>
      </p:sp>
    </p:spTree>
    <p:extLst>
      <p:ext uri="{BB962C8B-B14F-4D97-AF65-F5344CB8AC3E}">
        <p14:creationId xmlns:p14="http://schemas.microsoft.com/office/powerpoint/2010/main" val="42220676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B13B5C1E-CA92-F658-DEB4-E6BCB21E8297}"/>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3" name="Footer Placeholder 2">
            <a:extLst>
              <a:ext uri="{FF2B5EF4-FFF2-40B4-BE49-F238E27FC236}">
                <a16:creationId xmlns:a16="http://schemas.microsoft.com/office/drawing/2014/main" id="{135B8D15-F384-5726-1DB0-82AA26D5A7C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4" name="Slide Number Placeholder 22">
            <a:extLst>
              <a:ext uri="{FF2B5EF4-FFF2-40B4-BE49-F238E27FC236}">
                <a16:creationId xmlns:a16="http://schemas.microsoft.com/office/drawing/2014/main" id="{7465CA12-935B-2EC7-0FD8-A29FFD9FDF20}"/>
              </a:ext>
            </a:extLst>
          </p:cNvPr>
          <p:cNvSpPr>
            <a:spLocks noGrp="1"/>
          </p:cNvSpPr>
          <p:nvPr>
            <p:ph type="sldNum" sz="quarter" idx="12"/>
          </p:nvPr>
        </p:nvSpPr>
        <p:spPr/>
        <p:txBody>
          <a:bodyPr/>
          <a:lstStyle>
            <a:lvl1pPr>
              <a:defRPr/>
            </a:lvl1pPr>
          </a:lstStyle>
          <a:p>
            <a:pPr>
              <a:defRPr/>
            </a:pPr>
            <a:fld id="{B60D0497-D7DF-42C1-83D6-B069BC9C71F9}" type="slidenum">
              <a:rPr lang="en-US"/>
              <a:pPr>
                <a:defRPr/>
              </a:pPr>
              <a:t>‹#›</a:t>
            </a:fld>
            <a:endParaRPr lang="en-US" dirty="0"/>
          </a:p>
        </p:txBody>
      </p:sp>
    </p:spTree>
    <p:extLst>
      <p:ext uri="{BB962C8B-B14F-4D97-AF65-F5344CB8AC3E}">
        <p14:creationId xmlns:p14="http://schemas.microsoft.com/office/powerpoint/2010/main" val="1590961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6C7B262-B703-0618-42D2-9A058F2E459A}"/>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2FF425DD-7DE3-3B8E-5719-78BCA9A8DE51}"/>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786D1F94-4295-F397-8F57-1D0E383BD25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7" name="Footer Placeholder 5">
            <a:extLst>
              <a:ext uri="{FF2B5EF4-FFF2-40B4-BE49-F238E27FC236}">
                <a16:creationId xmlns:a16="http://schemas.microsoft.com/office/drawing/2014/main" id="{6B009F90-231B-A3B6-5380-34C6E1C7CB21}"/>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8" name="Slide Number Placeholder 6">
            <a:extLst>
              <a:ext uri="{FF2B5EF4-FFF2-40B4-BE49-F238E27FC236}">
                <a16:creationId xmlns:a16="http://schemas.microsoft.com/office/drawing/2014/main" id="{7CCDB2AA-14FD-D925-D8FA-266FCFE64152}"/>
              </a:ext>
            </a:extLst>
          </p:cNvPr>
          <p:cNvSpPr>
            <a:spLocks noGrp="1"/>
          </p:cNvSpPr>
          <p:nvPr>
            <p:ph type="sldNum" sz="quarter" idx="12"/>
          </p:nvPr>
        </p:nvSpPr>
        <p:spPr/>
        <p:txBody>
          <a:bodyPr/>
          <a:lstStyle>
            <a:lvl1pPr>
              <a:defRPr/>
            </a:lvl1pPr>
          </a:lstStyle>
          <a:p>
            <a:pPr>
              <a:defRPr/>
            </a:pPr>
            <a:fld id="{2C82827D-15A4-4A3F-A005-421DE1CEC59D}" type="slidenum">
              <a:rPr lang="en-US"/>
              <a:pPr>
                <a:defRPr/>
              </a:pPr>
              <a:t>‹#›</a:t>
            </a:fld>
            <a:endParaRPr lang="en-US"/>
          </a:p>
        </p:txBody>
      </p:sp>
    </p:spTree>
    <p:extLst>
      <p:ext uri="{BB962C8B-B14F-4D97-AF65-F5344CB8AC3E}">
        <p14:creationId xmlns:p14="http://schemas.microsoft.com/office/powerpoint/2010/main" val="23151450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2E54CA-1402-D265-65C1-CAA477A5FCEF}"/>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5937FA26-21AA-4604-50B9-4AF1C1E5953D}"/>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B548A5EB-ECFF-0D60-907E-B4566654DEA1}"/>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dirty="0"/>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dirty="0"/>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03D557F4-1C10-84D5-70B1-B3F6002D602F}"/>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9" name="Footer Placeholder 5">
            <a:extLst>
              <a:ext uri="{FF2B5EF4-FFF2-40B4-BE49-F238E27FC236}">
                <a16:creationId xmlns:a16="http://schemas.microsoft.com/office/drawing/2014/main" id="{1D25602D-131F-6FC6-D193-E0E3803E1E51}"/>
              </a:ext>
            </a:extLst>
          </p:cNvPr>
          <p:cNvSpPr>
            <a:spLocks noGrp="1"/>
          </p:cNvSpPr>
          <p:nvPr>
            <p:ph type="ftr" sz="quarter" idx="11"/>
          </p:nvPr>
        </p:nvSpPr>
        <p:spPr>
          <a:xfrm>
            <a:off x="914400" y="6172200"/>
            <a:ext cx="38862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0" name="Slide Number Placeholder 6">
            <a:extLst>
              <a:ext uri="{FF2B5EF4-FFF2-40B4-BE49-F238E27FC236}">
                <a16:creationId xmlns:a16="http://schemas.microsoft.com/office/drawing/2014/main" id="{D0109AE1-27A9-8EB7-803F-D676F48820DA}"/>
              </a:ext>
            </a:extLst>
          </p:cNvPr>
          <p:cNvSpPr>
            <a:spLocks noGrp="1"/>
          </p:cNvSpPr>
          <p:nvPr>
            <p:ph type="sldNum" sz="quarter" idx="12"/>
          </p:nvPr>
        </p:nvSpPr>
        <p:spPr>
          <a:xfrm>
            <a:off x="146050" y="6208713"/>
            <a:ext cx="457200" cy="457200"/>
          </a:xfrm>
        </p:spPr>
        <p:txBody>
          <a:bodyPr/>
          <a:lstStyle>
            <a:lvl1pPr>
              <a:defRPr/>
            </a:lvl1pPr>
          </a:lstStyle>
          <a:p>
            <a:pPr>
              <a:defRPr/>
            </a:pPr>
            <a:fld id="{F7562DC6-6DC9-45E2-AAC4-454004E6E023}" type="slidenum">
              <a:rPr lang="en-US"/>
              <a:pPr>
                <a:defRPr/>
              </a:pPr>
              <a:t>‹#›</a:t>
            </a:fld>
            <a:endParaRPr lang="en-US" dirty="0"/>
          </a:p>
        </p:txBody>
      </p:sp>
    </p:spTree>
    <p:extLst>
      <p:ext uri="{BB962C8B-B14F-4D97-AF65-F5344CB8AC3E}">
        <p14:creationId xmlns:p14="http://schemas.microsoft.com/office/powerpoint/2010/main" val="10193182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DF2C48B0-ABFE-CE4D-6188-9A9EAD773F6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5" name="Footer Placeholder 2">
            <a:extLst>
              <a:ext uri="{FF2B5EF4-FFF2-40B4-BE49-F238E27FC236}">
                <a16:creationId xmlns:a16="http://schemas.microsoft.com/office/drawing/2014/main" id="{2618189D-098F-74CA-DD3F-C7F3B7D6831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6" name="Slide Number Placeholder 22">
            <a:extLst>
              <a:ext uri="{FF2B5EF4-FFF2-40B4-BE49-F238E27FC236}">
                <a16:creationId xmlns:a16="http://schemas.microsoft.com/office/drawing/2014/main" id="{06CD0044-3E35-3EB6-7892-259BA5B8A6D9}"/>
              </a:ext>
            </a:extLst>
          </p:cNvPr>
          <p:cNvSpPr>
            <a:spLocks noGrp="1"/>
          </p:cNvSpPr>
          <p:nvPr>
            <p:ph type="sldNum" sz="quarter" idx="12"/>
          </p:nvPr>
        </p:nvSpPr>
        <p:spPr/>
        <p:txBody>
          <a:bodyPr/>
          <a:lstStyle>
            <a:lvl1pPr>
              <a:defRPr/>
            </a:lvl1pPr>
          </a:lstStyle>
          <a:p>
            <a:pPr>
              <a:defRPr/>
            </a:pPr>
            <a:fld id="{C65D5C55-6BCA-4DBD-BE3B-26D0EAB7959A}" type="slidenum">
              <a:rPr lang="en-US"/>
              <a:pPr>
                <a:defRPr/>
              </a:pPr>
              <a:t>‹#›</a:t>
            </a:fld>
            <a:endParaRPr lang="en-US" dirty="0"/>
          </a:p>
        </p:txBody>
      </p:sp>
    </p:spTree>
    <p:extLst>
      <p:ext uri="{BB962C8B-B14F-4D97-AF65-F5344CB8AC3E}">
        <p14:creationId xmlns:p14="http://schemas.microsoft.com/office/powerpoint/2010/main" val="1407267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E0C6FF5-9488-83F1-E08B-006D5749DCB0}"/>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83261898-40BA-3CAD-14B2-07A41A85167F}"/>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052" name="Title Placeholder 21">
            <a:extLst>
              <a:ext uri="{FF2B5EF4-FFF2-40B4-BE49-F238E27FC236}">
                <a16:creationId xmlns:a16="http://schemas.microsoft.com/office/drawing/2014/main" id="{1FBF773F-5843-CFED-18DB-2078E3BEED84}"/>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2053" name="Text Placeholder 12">
            <a:extLst>
              <a:ext uri="{FF2B5EF4-FFF2-40B4-BE49-F238E27FC236}">
                <a16:creationId xmlns:a16="http://schemas.microsoft.com/office/drawing/2014/main" id="{12DE8A2B-3D0A-4876-76D1-C30126046A98}"/>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0523003A-9C01-1816-8235-7F67B276B173}"/>
              </a:ext>
            </a:extLst>
          </p:cNvPr>
          <p:cNvSpPr>
            <a:spLocks noGrp="1"/>
          </p:cNvSpPr>
          <p:nvPr>
            <p:ph type="dt" sz="half" idx="2"/>
          </p:nvPr>
        </p:nvSpPr>
        <p:spPr>
          <a:xfrm>
            <a:off x="6172200" y="6191250"/>
            <a:ext cx="2476500" cy="476250"/>
          </a:xfrm>
          <a:prstGeom prst="rect">
            <a:avLst/>
          </a:prstGeom>
        </p:spPr>
        <p:txBody>
          <a:bodyPr anchor="ctr" anchorCtr="0"/>
          <a:lstStyle>
            <a:lvl1pPr algn="r" eaLnBrk="1" fontAlgn="auto" latinLnBrk="0" hangingPunct="1">
              <a:spcBef>
                <a:spcPts val="0"/>
              </a:spcBef>
              <a:spcAft>
                <a:spcPts val="0"/>
              </a:spcAft>
              <a:defRPr kumimoji="0" sz="1400">
                <a:solidFill>
                  <a:schemeClr val="tx2"/>
                </a:solidFill>
                <a:latin typeface="+mn-lt"/>
                <a:cs typeface="+mn-cs"/>
              </a:defRPr>
            </a:lvl1pPr>
          </a:lstStyle>
          <a:p>
            <a:pPr>
              <a:defRPr/>
            </a:pPr>
            <a:fld id="{5593F46A-6FD2-4A5A-A113-3E5AE19AE38F}" type="datetime1">
              <a:rPr lang="en-US"/>
              <a:pPr>
                <a:defRPr/>
              </a:pPr>
              <a:t>10/6/2025</a:t>
            </a:fld>
            <a:endParaRPr lang="en-US" dirty="0"/>
          </a:p>
        </p:txBody>
      </p:sp>
      <p:sp>
        <p:nvSpPr>
          <p:cNvPr id="3" name="Footer Placeholder 2">
            <a:extLst>
              <a:ext uri="{FF2B5EF4-FFF2-40B4-BE49-F238E27FC236}">
                <a16:creationId xmlns:a16="http://schemas.microsoft.com/office/drawing/2014/main" id="{56EDD233-CFC2-7553-3476-E78BF59B6FA6}"/>
              </a:ext>
            </a:extLst>
          </p:cNvPr>
          <p:cNvSpPr>
            <a:spLocks noGrp="1"/>
          </p:cNvSpPr>
          <p:nvPr>
            <p:ph type="ftr" sz="quarter" idx="3"/>
          </p:nvPr>
        </p:nvSpPr>
        <p:spPr>
          <a:xfrm>
            <a:off x="914400" y="6172200"/>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a:t>Autonomous Robots -- Dr. Zawar Qayyum, 2010</a:t>
            </a:r>
          </a:p>
        </p:txBody>
      </p:sp>
      <p:sp>
        <p:nvSpPr>
          <p:cNvPr id="23" name="Slide Number Placeholder 22">
            <a:extLst>
              <a:ext uri="{FF2B5EF4-FFF2-40B4-BE49-F238E27FC236}">
                <a16:creationId xmlns:a16="http://schemas.microsoft.com/office/drawing/2014/main" id="{4D7370CB-FCCF-C69F-9D94-02227E6312C5}"/>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E5412D75-23E2-4184-9D4C-A89B2146776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994" r:id="rId1"/>
    <p:sldLayoutId id="2147483995" r:id="rId2"/>
    <p:sldLayoutId id="2147483996" r:id="rId3"/>
    <p:sldLayoutId id="2147483997" r:id="rId4"/>
    <p:sldLayoutId id="2147483998" r:id="rId5"/>
    <p:sldLayoutId id="2147483999" r:id="rId6"/>
    <p:sldLayoutId id="2147484000" r:id="rId7"/>
    <p:sldLayoutId id="2147484001" r:id="rId8"/>
    <p:sldLayoutId id="2147484002" r:id="rId9"/>
    <p:sldLayoutId id="2147484003" r:id="rId10"/>
    <p:sldLayoutId id="2147484004" r:id="rId11"/>
    <p:sldLayoutId id="2147484005" r:id="rId12"/>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7CEB16-177C-11F3-6488-15217609B1F8}"/>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41EAD4DD-9D27-1FFD-AF29-68BC36D3A352}"/>
              </a:ext>
            </a:extLst>
          </p:cNvPr>
          <p:cNvSpPr/>
          <p:nvPr/>
        </p:nvSpPr>
        <p:spPr>
          <a:xfrm>
            <a:off x="112590" y="16510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2B8B0024-D6D1-A70C-46F3-E369B45B67D1}"/>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dirty="0"/>
              <a:t>Click to edit Master title style</a:t>
            </a:r>
          </a:p>
        </p:txBody>
      </p:sp>
      <p:sp>
        <p:nvSpPr>
          <p:cNvPr id="3077" name="Text Placeholder 12">
            <a:extLst>
              <a:ext uri="{FF2B5EF4-FFF2-40B4-BE49-F238E27FC236}">
                <a16:creationId xmlns:a16="http://schemas.microsoft.com/office/drawing/2014/main" id="{3488A6D1-71AB-0EF0-882A-8AEDA58A8733}"/>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3" name="Footer Placeholder 2">
            <a:extLst>
              <a:ext uri="{FF2B5EF4-FFF2-40B4-BE49-F238E27FC236}">
                <a16:creationId xmlns:a16="http://schemas.microsoft.com/office/drawing/2014/main" id="{F37FCC0C-B39C-DCE5-066A-B9F6AFE491FC}"/>
              </a:ext>
            </a:extLst>
          </p:cNvPr>
          <p:cNvSpPr>
            <a:spLocks noGrp="1"/>
          </p:cNvSpPr>
          <p:nvPr>
            <p:ph type="ftr" sz="quarter" idx="3"/>
          </p:nvPr>
        </p:nvSpPr>
        <p:spPr>
          <a:xfrm>
            <a:off x="2555776" y="6500192"/>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23" name="Slide Number Placeholder 22">
            <a:extLst>
              <a:ext uri="{FF2B5EF4-FFF2-40B4-BE49-F238E27FC236}">
                <a16:creationId xmlns:a16="http://schemas.microsoft.com/office/drawing/2014/main" id="{7CCC2D68-25F4-B5E2-90AE-129685EECD21}"/>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688D1139-B686-4DC4-A8B1-655130D02E34}" type="slidenum">
              <a:rPr lang="en-US"/>
              <a:pPr>
                <a:defRPr/>
              </a:pPr>
              <a:t>‹#›</a:t>
            </a:fld>
            <a:endParaRPr lang="en-US" dirty="0"/>
          </a:p>
        </p:txBody>
      </p:sp>
    </p:spTree>
    <p:extLst>
      <p:ext uri="{BB962C8B-B14F-4D97-AF65-F5344CB8AC3E}">
        <p14:creationId xmlns:p14="http://schemas.microsoft.com/office/powerpoint/2010/main" val="1838551521"/>
      </p:ext>
    </p:extLst>
  </p:cSld>
  <p:clrMap bg1="lt1" tx1="dk1" bg2="lt2" tx2="dk2" accent1="accent1" accent2="accent2" accent3="accent3" accent4="accent4" accent5="accent5" accent6="accent6" hlink="hlink" folHlink="folHlink"/>
  <p:sldLayoutIdLst>
    <p:sldLayoutId id="2147484013" r:id="rId1"/>
    <p:sldLayoutId id="2147484014" r:id="rId2"/>
    <p:sldLayoutId id="2147484015" r:id="rId3"/>
    <p:sldLayoutId id="2147484016" r:id="rId4"/>
    <p:sldLayoutId id="2147484017" r:id="rId5"/>
    <p:sldLayoutId id="2147484018" r:id="rId6"/>
    <p:sldLayoutId id="2147484019" r:id="rId7"/>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2">
            <a:extLst>
              <a:ext uri="{FF2B5EF4-FFF2-40B4-BE49-F238E27FC236}">
                <a16:creationId xmlns:a16="http://schemas.microsoft.com/office/drawing/2014/main" id="{6E223CA5-28DF-4EB8-9015-D48A747CA2F9}"/>
              </a:ext>
            </a:extLst>
          </p:cNvPr>
          <p:cNvSpPr>
            <a:spLocks noGrp="1" noChangeArrowheads="1"/>
          </p:cNvSpPr>
          <p:nvPr>
            <p:ph type="ctrTitle"/>
          </p:nvPr>
        </p:nvSpPr>
        <p:spPr>
          <a:xfrm>
            <a:off x="457200" y="1506538"/>
            <a:ext cx="8229600" cy="1470025"/>
          </a:xfrm>
        </p:spPr>
        <p:txBody>
          <a:bodyPr/>
          <a:lstStyle/>
          <a:p>
            <a:pPr eaLnBrk="1" hangingPunct="1"/>
            <a:r>
              <a:rPr altLang="en-US" dirty="0">
                <a:solidFill>
                  <a:srgbClr val="000099"/>
                </a:solidFill>
                <a:latin typeface="Cambria" panose="02040503050406030204" pitchFamily="18" charset="0"/>
                <a:ea typeface="Cambria" panose="02040503050406030204" pitchFamily="18" charset="0"/>
              </a:rPr>
              <a:t>CC-215</a:t>
            </a:r>
            <a:br>
              <a:rPr altLang="en-US" dirty="0">
                <a:solidFill>
                  <a:srgbClr val="000099"/>
                </a:solidFill>
                <a:latin typeface="Cambria" panose="02040503050406030204" pitchFamily="18" charset="0"/>
                <a:ea typeface="Cambria" panose="02040503050406030204" pitchFamily="18" charset="0"/>
              </a:rPr>
            </a:br>
            <a:r>
              <a:rPr altLang="en-US" b="1" dirty="0">
                <a:solidFill>
                  <a:srgbClr val="FFFF00"/>
                </a:solidFill>
                <a:latin typeface="Cambria" panose="02040503050406030204" pitchFamily="18" charset="0"/>
                <a:ea typeface="Cambria" panose="02040503050406030204" pitchFamily="18" charset="0"/>
              </a:rPr>
              <a:t>Database Systems</a:t>
            </a:r>
          </a:p>
        </p:txBody>
      </p:sp>
      <p:sp>
        <p:nvSpPr>
          <p:cNvPr id="2" name="Rectangle 2">
            <a:extLst>
              <a:ext uri="{FF2B5EF4-FFF2-40B4-BE49-F238E27FC236}">
                <a16:creationId xmlns:a16="http://schemas.microsoft.com/office/drawing/2014/main" id="{BE4B3138-A767-7D60-38B3-56978D7D4200}"/>
              </a:ext>
            </a:extLst>
          </p:cNvPr>
          <p:cNvSpPr txBox="1">
            <a:spLocks noChangeArrowheads="1"/>
          </p:cNvSpPr>
          <p:nvPr/>
        </p:nvSpPr>
        <p:spPr bwMode="auto">
          <a:xfrm>
            <a:off x="1256191" y="3171999"/>
            <a:ext cx="6477000" cy="1279530"/>
          </a:xfrm>
          <a:prstGeom prst="rect">
            <a:avLst/>
          </a:prstGeom>
          <a:noFill/>
          <a:ln w="19050">
            <a:solidFill>
              <a:schemeClr val="tx1"/>
            </a:solidFill>
          </a:ln>
        </p:spPr>
        <p:txBody>
          <a:bodyPr tIns="274320" bIns="182880"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200"/>
              </a:spcBef>
              <a:spcAft>
                <a:spcPts val="0"/>
              </a:spcAft>
              <a:buClrTx/>
              <a:buSzTx/>
              <a:buFontTx/>
              <a:buNone/>
              <a:tabLst/>
              <a:defRPr/>
            </a:pPr>
            <a:r>
              <a:rPr kumimoji="0" lang="en-US" sz="3200" b="1" i="0" u="none" strike="noStrike" kern="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rPr>
              <a:t>— Unit 3 —</a:t>
            </a:r>
            <a:br>
              <a:rPr kumimoji="0" lang="en-US" sz="3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rPr>
            </a:br>
            <a: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rPr>
              <a:t>Data Models</a:t>
            </a:r>
            <a:r>
              <a:rPr kumimoji="0" lang="en-US" sz="3200" b="1" i="0" u="none" strike="noStrike" kern="0" cap="none" spc="0" normalizeH="0" baseline="0" noProof="0" dirty="0">
                <a:ln>
                  <a:noFill/>
                </a:ln>
                <a:solidFill>
                  <a:srgbClr val="C00000"/>
                </a:solidFill>
                <a:effectLst/>
                <a:uLnTx/>
                <a:uFillTx/>
                <a:latin typeface="Tahoma"/>
                <a:ea typeface="+mj-ea"/>
                <a:cs typeface="+mj-cs"/>
              </a:rPr>
              <a:t> </a:t>
            </a:r>
            <a:endParaRPr kumimoji="0" lang="en-US" sz="2400" b="1" i="0" u="none" strike="noStrike" kern="1200" cap="none" spc="0" normalizeH="0" baseline="0" noProof="0" dirty="0">
              <a:ln>
                <a:noFill/>
              </a:ln>
              <a:solidFill>
                <a:srgbClr val="333399"/>
              </a:solidFill>
              <a:effectLst/>
              <a:uLnTx/>
              <a:uFillTx/>
              <a:latin typeface="Tahoma"/>
              <a:ea typeface="+mj-ea"/>
              <a:cs typeface="+mj-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Tahoma"/>
              <a:ea typeface="+mj-ea"/>
              <a:cs typeface="+mj-cs"/>
            </a:endParaRPr>
          </a:p>
        </p:txBody>
      </p:sp>
      <p:pic>
        <p:nvPicPr>
          <p:cNvPr id="4" name="Picture 10">
            <a:extLst>
              <a:ext uri="{FF2B5EF4-FFF2-40B4-BE49-F238E27FC236}">
                <a16:creationId xmlns:a16="http://schemas.microsoft.com/office/drawing/2014/main" id="{6B819144-AC91-20AF-4E39-1CC6743EA6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917" y="295275"/>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2">
            <a:extLst>
              <a:ext uri="{FF2B5EF4-FFF2-40B4-BE49-F238E27FC236}">
                <a16:creationId xmlns:a16="http://schemas.microsoft.com/office/drawing/2014/main" id="{7C24E2FC-DC72-6DE9-973D-DFAF2B2A75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95275"/>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a:extLst>
              <a:ext uri="{FF2B5EF4-FFF2-40B4-BE49-F238E27FC236}">
                <a16:creationId xmlns:a16="http://schemas.microsoft.com/office/drawing/2014/main" id="{69C70C3E-CF44-45D9-02C7-030D382693E5}"/>
              </a:ext>
            </a:extLst>
          </p:cNvPr>
          <p:cNvSpPr txBox="1">
            <a:spLocks noChangeArrowheads="1"/>
          </p:cNvSpPr>
          <p:nvPr/>
        </p:nvSpPr>
        <p:spPr bwMode="auto">
          <a:xfrm>
            <a:off x="5652120" y="4637620"/>
            <a:ext cx="3233199" cy="2016224"/>
          </a:xfrm>
          <a:prstGeom prst="rect">
            <a:avLst/>
          </a:prstGeom>
          <a:noFill/>
          <a:ln w="19050">
            <a:solidFill>
              <a:srgbClr val="000000"/>
            </a:solidFill>
            <a:miter lim="800000"/>
            <a:headEnd/>
            <a:tailEnd/>
          </a:ln>
        </p:spPr>
        <p:txBody>
          <a:bodyPr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800"/>
              </a:spcBef>
              <a:spcAft>
                <a:spcPts val="600"/>
              </a:spcAft>
              <a:buClrTx/>
              <a:buSzTx/>
              <a:buFontTx/>
              <a:buNone/>
              <a:tabLst/>
              <a:defRPr/>
            </a:pPr>
            <a:b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rPr>
            </a:br>
            <a: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rPr>
              <a:t>Dr. Asif Sohail</a:t>
            </a:r>
            <a:b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rPr>
            </a:br>
            <a:br>
              <a:rPr kumimoji="0" lang="en-US" sz="1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rPr>
            </a:br>
            <a:r>
              <a:rPr kumimoji="0" lang="en-US" altLang="en-US" sz="2000" b="0" i="0" u="none" strike="noStrike" kern="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rPr>
              <a:t>University of the Punjab</a:t>
            </a:r>
            <a:b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rPr>
            </a:br>
            <a: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rPr>
              <a:t>Department of Information Technology, FCIT</a:t>
            </a:r>
            <a:br>
              <a:rPr kumimoji="0" lang="de-AT" altLang="en-US" sz="18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rPr>
            </a:br>
            <a:endParaRPr kumimoji="0" lang="en-US" sz="3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endParaRPr>
          </a:p>
        </p:txBody>
      </p:sp>
      <p:sp>
        <p:nvSpPr>
          <p:cNvPr id="8" name="Rectangle 2">
            <a:extLst>
              <a:ext uri="{FF2B5EF4-FFF2-40B4-BE49-F238E27FC236}">
                <a16:creationId xmlns:a16="http://schemas.microsoft.com/office/drawing/2014/main" id="{DEE66F35-43B1-ED56-F602-BD4CFAE1FEDE}"/>
              </a:ext>
            </a:extLst>
          </p:cNvPr>
          <p:cNvSpPr txBox="1">
            <a:spLocks noChangeArrowheads="1"/>
          </p:cNvSpPr>
          <p:nvPr/>
        </p:nvSpPr>
        <p:spPr bwMode="auto">
          <a:xfrm>
            <a:off x="323528" y="4653136"/>
            <a:ext cx="5069656" cy="2016224"/>
          </a:xfrm>
          <a:prstGeom prst="rect">
            <a:avLst/>
          </a:prstGeom>
          <a:noFill/>
          <a:ln w="19050">
            <a:solidFill>
              <a:srgbClr val="000000"/>
            </a:solidFill>
            <a:miter lim="800000"/>
            <a:headEnd/>
            <a:tailEnd/>
          </a:ln>
        </p:spPr>
        <p:txBody>
          <a:bodyPr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algn="l" eaLnBrk="1" hangingPunct="1">
              <a:defRPr/>
            </a:pPr>
            <a:br>
              <a:rPr kumimoji="0" lang="en-US" sz="18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rPr>
            </a:br>
            <a:endParaRPr kumimoji="0" lang="en-US" sz="18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endParaRPr>
          </a:p>
          <a:p>
            <a:pPr algn="l" eaLnBrk="1" hangingPunct="1">
              <a:defRPr/>
            </a:pPr>
            <a:r>
              <a:rPr lang="en-US" sz="1800" b="0" dirty="0">
                <a:solidFill>
                  <a:schemeClr val="tx1"/>
                </a:solidFill>
                <a:latin typeface="Cambria" panose="02040503050406030204" pitchFamily="18" charset="0"/>
                <a:ea typeface="Cambria" panose="02040503050406030204" pitchFamily="18" charset="0"/>
              </a:rPr>
              <a:t>Some slides and/or pictures are adapted from Lecture slides / Books of</a:t>
            </a:r>
          </a:p>
          <a:p>
            <a:pPr marL="685800" lvl="1" indent="-228600" algn="l" eaLnBrk="1" hangingPunct="1">
              <a:buClr>
                <a:srgbClr val="FF0000"/>
              </a:buClr>
              <a:buFontTx/>
              <a:buChar char="•"/>
              <a:defRPr/>
            </a:pPr>
            <a:r>
              <a:rPr lang="en-US" sz="1800" b="0" dirty="0">
                <a:solidFill>
                  <a:srgbClr val="0000CC"/>
                </a:solidFill>
                <a:latin typeface="Cambria" panose="02040503050406030204" pitchFamily="18" charset="0"/>
                <a:ea typeface="Cambria" panose="02040503050406030204" pitchFamily="18" charset="0"/>
              </a:rPr>
              <a:t>Peter Rob</a:t>
            </a:r>
          </a:p>
          <a:p>
            <a:pPr marL="685800" lvl="1" indent="-228600" algn="l" eaLnBrk="1" hangingPunct="1">
              <a:buClr>
                <a:srgbClr val="FF0000"/>
              </a:buClr>
              <a:buFontTx/>
              <a:buChar char="•"/>
              <a:defRPr/>
            </a:pPr>
            <a:r>
              <a:rPr lang="en-US" sz="1800" b="0" dirty="0">
                <a:solidFill>
                  <a:srgbClr val="0000CC"/>
                </a:solidFill>
                <a:latin typeface="Cambria" panose="02040503050406030204" pitchFamily="18" charset="0"/>
                <a:ea typeface="Cambria" panose="02040503050406030204" pitchFamily="18" charset="0"/>
              </a:rPr>
              <a:t>Jeffery. A. Hoffer</a:t>
            </a:r>
          </a:p>
          <a:p>
            <a:pPr marL="685800" lvl="1" indent="-228600" algn="l" eaLnBrk="1" hangingPunct="1">
              <a:buClr>
                <a:srgbClr val="FF0000"/>
              </a:buClr>
              <a:buFontTx/>
              <a:buChar char="•"/>
              <a:defRPr/>
            </a:pPr>
            <a:r>
              <a:rPr lang="en-US" sz="1800" b="0" dirty="0">
                <a:solidFill>
                  <a:srgbClr val="0000CC"/>
                </a:solidFill>
                <a:latin typeface="Cambria" panose="02040503050406030204" pitchFamily="18" charset="0"/>
                <a:ea typeface="Cambria" panose="02040503050406030204" pitchFamily="18" charset="0"/>
              </a:rPr>
              <a:t>Thomas M. Connolly</a:t>
            </a:r>
          </a:p>
          <a:p>
            <a:pPr marL="685800" lvl="1" indent="-228600" algn="l" eaLnBrk="1" hangingPunct="1">
              <a:buClr>
                <a:srgbClr val="FF0000"/>
              </a:buClr>
              <a:buFontTx/>
              <a:buChar char="•"/>
              <a:defRPr/>
            </a:pPr>
            <a:r>
              <a:rPr lang="en-US" sz="1800" b="0" dirty="0">
                <a:solidFill>
                  <a:srgbClr val="0000CC"/>
                </a:solidFill>
                <a:latin typeface="Cambria" panose="02040503050406030204" pitchFamily="18" charset="0"/>
                <a:ea typeface="Cambria" panose="02040503050406030204" pitchFamily="18" charset="0"/>
              </a:rPr>
              <a:t>Ramez Elmasri</a:t>
            </a:r>
          </a:p>
          <a:p>
            <a:pPr marL="685800" lvl="1" indent="-228600" algn="l" eaLnBrk="1" hangingPunct="1">
              <a:buClr>
                <a:srgbClr val="FF0000"/>
              </a:buClr>
              <a:buFontTx/>
              <a:buChar char="•"/>
              <a:defRPr/>
            </a:pPr>
            <a:r>
              <a:rPr lang="en-US" sz="1800" b="0" dirty="0" err="1">
                <a:solidFill>
                  <a:srgbClr val="0000CC"/>
                </a:solidFill>
                <a:latin typeface="Cambria" panose="02040503050406030204" pitchFamily="18" charset="0"/>
                <a:ea typeface="Cambria" panose="02040503050406030204" pitchFamily="18" charset="0"/>
              </a:rPr>
              <a:t>Silberschtaz</a:t>
            </a:r>
            <a:endParaRPr lang="en-US" sz="1800" b="0" dirty="0">
              <a:solidFill>
                <a:srgbClr val="0000CC"/>
              </a:solidFill>
              <a:latin typeface="Cambria" panose="02040503050406030204" pitchFamily="18" charset="0"/>
              <a:ea typeface="Cambria" panose="02040503050406030204" pitchFamily="18" charset="0"/>
            </a:endParaRPr>
          </a:p>
          <a:p>
            <a:pPr marL="0" marR="0" lvl="0" indent="0" algn="l" defTabSz="914400" rtl="0" eaLnBrk="1" fontAlgn="base" latinLnBrk="0" hangingPunct="1">
              <a:lnSpc>
                <a:spcPct val="100000"/>
              </a:lnSpc>
              <a:spcBef>
                <a:spcPts val="1800"/>
              </a:spcBef>
              <a:spcAft>
                <a:spcPts val="60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6ACBD-5C47-4E6C-49C4-D6ADAA19D1FE}"/>
            </a:ext>
          </a:extLst>
        </p:cNvPr>
        <p:cNvGrpSpPr/>
        <p:nvPr/>
      </p:nvGrpSpPr>
      <p:grpSpPr>
        <a:xfrm>
          <a:off x="0" y="0"/>
          <a:ext cx="0" cy="0"/>
          <a:chOff x="0" y="0"/>
          <a:chExt cx="0" cy="0"/>
        </a:xfrm>
      </p:grpSpPr>
      <p:sp>
        <p:nvSpPr>
          <p:cNvPr id="28674" name="Rectangle 2">
            <a:extLst>
              <a:ext uri="{FF2B5EF4-FFF2-40B4-BE49-F238E27FC236}">
                <a16:creationId xmlns:a16="http://schemas.microsoft.com/office/drawing/2014/main" id="{B4AFBD8B-DDCF-FB62-57FE-15A226578EA9}"/>
              </a:ext>
            </a:extLst>
          </p:cNvPr>
          <p:cNvSpPr>
            <a:spLocks noChangeArrowheads="1"/>
          </p:cNvSpPr>
          <p:nvPr/>
        </p:nvSpPr>
        <p:spPr bwMode="auto">
          <a:xfrm>
            <a:off x="381000" y="457200"/>
            <a:ext cx="1828800" cy="838200"/>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dirty="0"/>
              <a:t>Project </a:t>
            </a:r>
          </a:p>
          <a:p>
            <a:pPr algn="ctr">
              <a:spcBef>
                <a:spcPct val="0"/>
              </a:spcBef>
              <a:buFontTx/>
              <a:buNone/>
            </a:pPr>
            <a:r>
              <a:rPr lang="en-US" altLang="en-US" sz="1800" dirty="0"/>
              <a:t>Identification</a:t>
            </a:r>
          </a:p>
          <a:p>
            <a:pPr algn="ctr">
              <a:spcBef>
                <a:spcPct val="0"/>
              </a:spcBef>
              <a:buFontTx/>
              <a:buNone/>
            </a:pPr>
            <a:r>
              <a:rPr lang="en-US" altLang="en-US" sz="1800" dirty="0"/>
              <a:t>&amp; Selection</a:t>
            </a:r>
          </a:p>
        </p:txBody>
      </p:sp>
      <p:sp>
        <p:nvSpPr>
          <p:cNvPr id="28675" name="Rectangle 3">
            <a:extLst>
              <a:ext uri="{FF2B5EF4-FFF2-40B4-BE49-F238E27FC236}">
                <a16:creationId xmlns:a16="http://schemas.microsoft.com/office/drawing/2014/main" id="{960F765D-B160-C836-6FD5-148CB11012EF}"/>
              </a:ext>
            </a:extLst>
          </p:cNvPr>
          <p:cNvSpPr>
            <a:spLocks noChangeArrowheads="1"/>
          </p:cNvSpPr>
          <p:nvPr/>
        </p:nvSpPr>
        <p:spPr bwMode="auto">
          <a:xfrm>
            <a:off x="685800" y="1371600"/>
            <a:ext cx="1828800" cy="838200"/>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a:t>Project </a:t>
            </a:r>
          </a:p>
          <a:p>
            <a:pPr algn="ctr">
              <a:spcBef>
                <a:spcPct val="0"/>
              </a:spcBef>
              <a:buFontTx/>
              <a:buNone/>
            </a:pPr>
            <a:r>
              <a:rPr lang="en-US" altLang="en-US" sz="1800"/>
              <a:t>Initiation </a:t>
            </a:r>
          </a:p>
          <a:p>
            <a:pPr algn="ctr">
              <a:spcBef>
                <a:spcPct val="0"/>
              </a:spcBef>
              <a:buFontTx/>
              <a:buNone/>
            </a:pPr>
            <a:r>
              <a:rPr lang="en-US" altLang="en-US" sz="1800"/>
              <a:t>&amp; Planning</a:t>
            </a:r>
          </a:p>
        </p:txBody>
      </p:sp>
      <p:sp>
        <p:nvSpPr>
          <p:cNvPr id="28676" name="Rectangle 4">
            <a:extLst>
              <a:ext uri="{FF2B5EF4-FFF2-40B4-BE49-F238E27FC236}">
                <a16:creationId xmlns:a16="http://schemas.microsoft.com/office/drawing/2014/main" id="{8BCA883F-0968-2C4C-391F-F0B79D9830A5}"/>
              </a:ext>
            </a:extLst>
          </p:cNvPr>
          <p:cNvSpPr>
            <a:spLocks noChangeArrowheads="1"/>
          </p:cNvSpPr>
          <p:nvPr/>
        </p:nvSpPr>
        <p:spPr bwMode="auto">
          <a:xfrm>
            <a:off x="1143000" y="2286000"/>
            <a:ext cx="1828800" cy="838200"/>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a:t>Analysis</a:t>
            </a:r>
          </a:p>
        </p:txBody>
      </p:sp>
      <p:sp>
        <p:nvSpPr>
          <p:cNvPr id="28677" name="Rectangle 5">
            <a:extLst>
              <a:ext uri="{FF2B5EF4-FFF2-40B4-BE49-F238E27FC236}">
                <a16:creationId xmlns:a16="http://schemas.microsoft.com/office/drawing/2014/main" id="{9FFAADEA-2BF9-88EE-AEC9-5564220ED827}"/>
              </a:ext>
            </a:extLst>
          </p:cNvPr>
          <p:cNvSpPr>
            <a:spLocks noChangeArrowheads="1"/>
          </p:cNvSpPr>
          <p:nvPr/>
        </p:nvSpPr>
        <p:spPr bwMode="auto">
          <a:xfrm>
            <a:off x="1600200" y="3200400"/>
            <a:ext cx="1828800" cy="838200"/>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a:t>Logical Design</a:t>
            </a:r>
          </a:p>
        </p:txBody>
      </p:sp>
      <p:sp>
        <p:nvSpPr>
          <p:cNvPr id="28678" name="Rectangle 6">
            <a:extLst>
              <a:ext uri="{FF2B5EF4-FFF2-40B4-BE49-F238E27FC236}">
                <a16:creationId xmlns:a16="http://schemas.microsoft.com/office/drawing/2014/main" id="{44A361E6-024C-DF7D-D271-23D57D42D6C2}"/>
              </a:ext>
            </a:extLst>
          </p:cNvPr>
          <p:cNvSpPr>
            <a:spLocks noChangeArrowheads="1"/>
          </p:cNvSpPr>
          <p:nvPr/>
        </p:nvSpPr>
        <p:spPr bwMode="auto">
          <a:xfrm>
            <a:off x="2057400" y="4114800"/>
            <a:ext cx="1828800" cy="838200"/>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a:t>Physical Design</a:t>
            </a:r>
          </a:p>
        </p:txBody>
      </p:sp>
      <p:sp>
        <p:nvSpPr>
          <p:cNvPr id="28679" name="Rectangle 7">
            <a:extLst>
              <a:ext uri="{FF2B5EF4-FFF2-40B4-BE49-F238E27FC236}">
                <a16:creationId xmlns:a16="http://schemas.microsoft.com/office/drawing/2014/main" id="{6543B601-312E-C1AC-B930-4CB6BF7F8B6B}"/>
              </a:ext>
            </a:extLst>
          </p:cNvPr>
          <p:cNvSpPr>
            <a:spLocks noChangeArrowheads="1"/>
          </p:cNvSpPr>
          <p:nvPr/>
        </p:nvSpPr>
        <p:spPr bwMode="auto">
          <a:xfrm>
            <a:off x="2362200" y="5029200"/>
            <a:ext cx="1828800" cy="838200"/>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a:t>Implementation</a:t>
            </a:r>
          </a:p>
        </p:txBody>
      </p:sp>
      <p:sp>
        <p:nvSpPr>
          <p:cNvPr id="28680" name="Rectangle 8">
            <a:extLst>
              <a:ext uri="{FF2B5EF4-FFF2-40B4-BE49-F238E27FC236}">
                <a16:creationId xmlns:a16="http://schemas.microsoft.com/office/drawing/2014/main" id="{26EA3703-EC0B-32E4-8C86-0C77B17F2FF3}"/>
              </a:ext>
            </a:extLst>
          </p:cNvPr>
          <p:cNvSpPr>
            <a:spLocks noChangeArrowheads="1"/>
          </p:cNvSpPr>
          <p:nvPr/>
        </p:nvSpPr>
        <p:spPr bwMode="auto">
          <a:xfrm>
            <a:off x="2743200" y="5943600"/>
            <a:ext cx="1828800" cy="838200"/>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a:t>Maintenance</a:t>
            </a:r>
          </a:p>
        </p:txBody>
      </p:sp>
      <p:sp>
        <p:nvSpPr>
          <p:cNvPr id="28681" name="Text Box 9">
            <a:extLst>
              <a:ext uri="{FF2B5EF4-FFF2-40B4-BE49-F238E27FC236}">
                <a16:creationId xmlns:a16="http://schemas.microsoft.com/office/drawing/2014/main" id="{D2DB4ECF-57CB-FEBC-2407-DAF81948F4A2}"/>
              </a:ext>
            </a:extLst>
          </p:cNvPr>
          <p:cNvSpPr txBox="1">
            <a:spLocks noChangeArrowheads="1"/>
          </p:cNvSpPr>
          <p:nvPr/>
        </p:nvSpPr>
        <p:spPr bwMode="auto">
          <a:xfrm>
            <a:off x="3124200" y="381000"/>
            <a:ext cx="57150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50000"/>
              </a:spcBef>
              <a:buFontTx/>
              <a:buNone/>
            </a:pPr>
            <a:r>
              <a:rPr lang="en-US" altLang="en-US" sz="1200" b="1"/>
              <a:t>Purpose:</a:t>
            </a:r>
            <a:r>
              <a:rPr lang="en-US" altLang="en-US" sz="1800"/>
              <a:t> </a:t>
            </a:r>
            <a:r>
              <a:rPr lang="en-US" altLang="en-US" sz="1200"/>
              <a:t>To develop a preliminary understanding of the business situation that has caused request for a new / enhanced IS</a:t>
            </a:r>
          </a:p>
          <a:p>
            <a:pPr algn="just">
              <a:spcBef>
                <a:spcPct val="50000"/>
              </a:spcBef>
              <a:buFontTx/>
              <a:buNone/>
            </a:pPr>
            <a:r>
              <a:rPr lang="en-US" altLang="en-US" sz="1200" b="1"/>
              <a:t>Deliverable:</a:t>
            </a:r>
            <a:r>
              <a:rPr lang="en-US" altLang="en-US" sz="1200"/>
              <a:t> A formal request to conduct a project to design &amp; develop an IS</a:t>
            </a:r>
          </a:p>
        </p:txBody>
      </p:sp>
      <p:sp>
        <p:nvSpPr>
          <p:cNvPr id="28682" name="Text Box 10">
            <a:extLst>
              <a:ext uri="{FF2B5EF4-FFF2-40B4-BE49-F238E27FC236}">
                <a16:creationId xmlns:a16="http://schemas.microsoft.com/office/drawing/2014/main" id="{1077E65E-A614-B881-13C8-914C95191AA1}"/>
              </a:ext>
            </a:extLst>
          </p:cNvPr>
          <p:cNvSpPr txBox="1">
            <a:spLocks noChangeArrowheads="1"/>
          </p:cNvSpPr>
          <p:nvPr/>
        </p:nvSpPr>
        <p:spPr bwMode="auto">
          <a:xfrm>
            <a:off x="3352800" y="1309688"/>
            <a:ext cx="548640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50000"/>
              </a:spcBef>
              <a:buFontTx/>
              <a:buNone/>
            </a:pPr>
            <a:r>
              <a:rPr lang="en-US" altLang="en-US" sz="1200" b="1"/>
              <a:t>Purpose:</a:t>
            </a:r>
            <a:r>
              <a:rPr lang="en-US" altLang="en-US" sz="1800"/>
              <a:t> </a:t>
            </a:r>
            <a:r>
              <a:rPr lang="en-US" altLang="en-US" sz="1200"/>
              <a:t>To state business situation &amp; how IS might solve problems</a:t>
            </a:r>
          </a:p>
          <a:p>
            <a:pPr algn="just">
              <a:spcBef>
                <a:spcPct val="50000"/>
              </a:spcBef>
              <a:buFontTx/>
              <a:buNone/>
            </a:pPr>
            <a:r>
              <a:rPr lang="en-US" altLang="en-US" sz="1200" b="1"/>
              <a:t>Deliverable:</a:t>
            </a:r>
            <a:r>
              <a:rPr lang="en-US" altLang="en-US" sz="1200"/>
              <a:t> A written request to study the possible changes to existing system / the development of a new system</a:t>
            </a:r>
          </a:p>
        </p:txBody>
      </p:sp>
      <p:sp>
        <p:nvSpPr>
          <p:cNvPr id="28683" name="Text Box 11">
            <a:extLst>
              <a:ext uri="{FF2B5EF4-FFF2-40B4-BE49-F238E27FC236}">
                <a16:creationId xmlns:a16="http://schemas.microsoft.com/office/drawing/2014/main" id="{A09F931D-E51D-0D40-9FE8-73A4EB1A5A5A}"/>
              </a:ext>
            </a:extLst>
          </p:cNvPr>
          <p:cNvSpPr txBox="1">
            <a:spLocks noChangeArrowheads="1"/>
          </p:cNvSpPr>
          <p:nvPr/>
        </p:nvSpPr>
        <p:spPr bwMode="auto">
          <a:xfrm>
            <a:off x="3886200" y="2209800"/>
            <a:ext cx="49530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50000"/>
              </a:spcBef>
              <a:buFontTx/>
              <a:buNone/>
            </a:pPr>
            <a:r>
              <a:rPr lang="en-US" altLang="en-US" sz="1200" b="1" dirty="0"/>
              <a:t>Purpose:</a:t>
            </a:r>
            <a:r>
              <a:rPr lang="en-US" altLang="en-US" sz="1800" dirty="0"/>
              <a:t> </a:t>
            </a:r>
            <a:r>
              <a:rPr lang="en-US" altLang="en-US" sz="1200" dirty="0"/>
              <a:t>To analyze business situation to determine requirements., to structure requirements</a:t>
            </a:r>
          </a:p>
          <a:p>
            <a:pPr algn="just">
              <a:spcBef>
                <a:spcPct val="50000"/>
              </a:spcBef>
              <a:buFontTx/>
              <a:buNone/>
            </a:pPr>
            <a:r>
              <a:rPr lang="en-US" altLang="en-US" sz="1200" b="1" dirty="0"/>
              <a:t>Deliverable:</a:t>
            </a:r>
            <a:r>
              <a:rPr lang="en-US" altLang="en-US" sz="1200" dirty="0"/>
              <a:t> A functional specs of the system</a:t>
            </a:r>
          </a:p>
        </p:txBody>
      </p:sp>
      <p:sp>
        <p:nvSpPr>
          <p:cNvPr id="28684" name="Text Box 12">
            <a:extLst>
              <a:ext uri="{FF2B5EF4-FFF2-40B4-BE49-F238E27FC236}">
                <a16:creationId xmlns:a16="http://schemas.microsoft.com/office/drawing/2014/main" id="{D388BE44-85DB-7FE1-79C5-531CCA8E73F8}"/>
              </a:ext>
            </a:extLst>
          </p:cNvPr>
          <p:cNvSpPr txBox="1">
            <a:spLocks noChangeArrowheads="1"/>
          </p:cNvSpPr>
          <p:nvPr/>
        </p:nvSpPr>
        <p:spPr bwMode="auto">
          <a:xfrm>
            <a:off x="4495800" y="3200400"/>
            <a:ext cx="43434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50000"/>
              </a:spcBef>
              <a:buFontTx/>
              <a:buNone/>
            </a:pPr>
            <a:r>
              <a:rPr lang="en-US" altLang="en-US" sz="1200" b="1"/>
              <a:t>Purpose:</a:t>
            </a:r>
            <a:r>
              <a:rPr lang="en-US" altLang="en-US" sz="1800"/>
              <a:t> </a:t>
            </a:r>
            <a:r>
              <a:rPr lang="en-US" altLang="en-US" sz="1200"/>
              <a:t>To elicit &amp; structure all information requirements</a:t>
            </a:r>
          </a:p>
          <a:p>
            <a:pPr algn="just">
              <a:spcBef>
                <a:spcPct val="50000"/>
              </a:spcBef>
              <a:buFontTx/>
              <a:buNone/>
            </a:pPr>
            <a:r>
              <a:rPr lang="en-US" altLang="en-US" sz="1200" b="1"/>
              <a:t>Deliverable:</a:t>
            </a:r>
            <a:r>
              <a:rPr lang="en-US" altLang="en-US" sz="1200"/>
              <a:t> Detailed functional specs of all data, forms, reports, displays and processing rules</a:t>
            </a:r>
          </a:p>
        </p:txBody>
      </p:sp>
      <p:sp>
        <p:nvSpPr>
          <p:cNvPr id="28685" name="Text Box 13">
            <a:extLst>
              <a:ext uri="{FF2B5EF4-FFF2-40B4-BE49-F238E27FC236}">
                <a16:creationId xmlns:a16="http://schemas.microsoft.com/office/drawing/2014/main" id="{BFC77C82-C4C6-8E97-D333-A7359B5F2695}"/>
              </a:ext>
            </a:extLst>
          </p:cNvPr>
          <p:cNvSpPr txBox="1">
            <a:spLocks noChangeArrowheads="1"/>
          </p:cNvSpPr>
          <p:nvPr/>
        </p:nvSpPr>
        <p:spPr bwMode="auto">
          <a:xfrm>
            <a:off x="4876800" y="4114800"/>
            <a:ext cx="43434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50000"/>
              </a:spcBef>
              <a:buFontTx/>
              <a:buNone/>
            </a:pPr>
            <a:r>
              <a:rPr lang="en-US" altLang="en-US" sz="1200" b="1"/>
              <a:t>Purpose:</a:t>
            </a:r>
            <a:r>
              <a:rPr lang="en-US" altLang="en-US" sz="1800"/>
              <a:t> </a:t>
            </a:r>
            <a:r>
              <a:rPr lang="en-US" altLang="en-US" sz="1200"/>
              <a:t>To develop all technology &amp; organizational specs</a:t>
            </a:r>
          </a:p>
          <a:p>
            <a:pPr algn="just">
              <a:spcBef>
                <a:spcPct val="50000"/>
              </a:spcBef>
              <a:buFontTx/>
              <a:buNone/>
            </a:pPr>
            <a:r>
              <a:rPr lang="en-US" altLang="en-US" sz="1200" b="1"/>
              <a:t>Deliverable:</a:t>
            </a:r>
            <a:r>
              <a:rPr lang="en-US" altLang="en-US" sz="1200"/>
              <a:t> Program &amp; DB structure, technology purchases, physical site plans and redesigns</a:t>
            </a:r>
          </a:p>
        </p:txBody>
      </p:sp>
      <p:sp>
        <p:nvSpPr>
          <p:cNvPr id="28686" name="Text Box 14">
            <a:extLst>
              <a:ext uri="{FF2B5EF4-FFF2-40B4-BE49-F238E27FC236}">
                <a16:creationId xmlns:a16="http://schemas.microsoft.com/office/drawing/2014/main" id="{BE2E8B94-1545-92AD-B15B-E36805837E9D}"/>
              </a:ext>
            </a:extLst>
          </p:cNvPr>
          <p:cNvSpPr txBox="1">
            <a:spLocks noChangeArrowheads="1"/>
          </p:cNvSpPr>
          <p:nvPr/>
        </p:nvSpPr>
        <p:spPr bwMode="auto">
          <a:xfrm>
            <a:off x="5181600" y="4937125"/>
            <a:ext cx="3962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50000"/>
              </a:spcBef>
              <a:buFontTx/>
              <a:buNone/>
            </a:pPr>
            <a:r>
              <a:rPr lang="en-US" altLang="en-US" sz="1200" b="1"/>
              <a:t>Purpose:</a:t>
            </a:r>
            <a:r>
              <a:rPr lang="en-US" altLang="en-US" sz="1800"/>
              <a:t> </a:t>
            </a:r>
            <a:r>
              <a:rPr lang="en-US" altLang="en-US" sz="1200"/>
              <a:t>To write programs, build data files , install new system, train users</a:t>
            </a:r>
          </a:p>
          <a:p>
            <a:pPr algn="just">
              <a:spcBef>
                <a:spcPct val="50000"/>
              </a:spcBef>
              <a:buFontTx/>
              <a:buNone/>
            </a:pPr>
            <a:r>
              <a:rPr lang="en-US" altLang="en-US" sz="1200" b="1"/>
              <a:t>Deliverable:</a:t>
            </a:r>
            <a:r>
              <a:rPr lang="en-US" altLang="en-US" sz="1200"/>
              <a:t> Properly working programs with specs, and training material</a:t>
            </a:r>
          </a:p>
        </p:txBody>
      </p:sp>
      <p:sp>
        <p:nvSpPr>
          <p:cNvPr id="28687" name="Text Box 15">
            <a:extLst>
              <a:ext uri="{FF2B5EF4-FFF2-40B4-BE49-F238E27FC236}">
                <a16:creationId xmlns:a16="http://schemas.microsoft.com/office/drawing/2014/main" id="{3D5FB42E-0BC7-4AE2-0761-4A2684C73125}"/>
              </a:ext>
            </a:extLst>
          </p:cNvPr>
          <p:cNvSpPr txBox="1">
            <a:spLocks noChangeArrowheads="1"/>
          </p:cNvSpPr>
          <p:nvPr/>
        </p:nvSpPr>
        <p:spPr bwMode="auto">
          <a:xfrm>
            <a:off x="5410200" y="5867400"/>
            <a:ext cx="37338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50000"/>
              </a:spcBef>
              <a:buFontTx/>
              <a:buNone/>
            </a:pPr>
            <a:r>
              <a:rPr lang="en-US" altLang="en-US" sz="1200" b="1"/>
              <a:t>Purpose:</a:t>
            </a:r>
            <a:r>
              <a:rPr lang="en-US" altLang="en-US" sz="1800"/>
              <a:t> </a:t>
            </a:r>
            <a:r>
              <a:rPr lang="en-US" altLang="en-US" sz="1200"/>
              <a:t>To monitor the operation and usefulness of system, to repair  and enhance it</a:t>
            </a:r>
          </a:p>
          <a:p>
            <a:pPr algn="just">
              <a:spcBef>
                <a:spcPct val="50000"/>
              </a:spcBef>
              <a:buFontTx/>
              <a:buNone/>
            </a:pPr>
            <a:r>
              <a:rPr lang="en-US" altLang="en-US" sz="1200" b="1"/>
              <a:t>Deliverable:</a:t>
            </a:r>
            <a:r>
              <a:rPr lang="en-US" altLang="en-US" sz="1200"/>
              <a:t> Periodic audits of the system</a:t>
            </a:r>
          </a:p>
        </p:txBody>
      </p:sp>
      <p:sp>
        <p:nvSpPr>
          <p:cNvPr id="28688" name="AutoShape 16">
            <a:extLst>
              <a:ext uri="{FF2B5EF4-FFF2-40B4-BE49-F238E27FC236}">
                <a16:creationId xmlns:a16="http://schemas.microsoft.com/office/drawing/2014/main" id="{AD1D9A16-3F3D-3D32-BC68-EFE5B1F6489B}"/>
              </a:ext>
            </a:extLst>
          </p:cNvPr>
          <p:cNvSpPr>
            <a:spLocks noChangeArrowheads="1"/>
          </p:cNvSpPr>
          <p:nvPr/>
        </p:nvSpPr>
        <p:spPr bwMode="auto">
          <a:xfrm rot="20159592" flipH="1">
            <a:off x="2133600" y="5715000"/>
            <a:ext cx="381000" cy="1219200"/>
          </a:xfrm>
          <a:prstGeom prst="curvedLeftArrow">
            <a:avLst>
              <a:gd name="adj1" fmla="val 8178"/>
              <a:gd name="adj2" fmla="val 154341"/>
              <a:gd name="adj3" fmla="val 36032"/>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8689" name="AutoShape 17">
            <a:extLst>
              <a:ext uri="{FF2B5EF4-FFF2-40B4-BE49-F238E27FC236}">
                <a16:creationId xmlns:a16="http://schemas.microsoft.com/office/drawing/2014/main" id="{DD6C08B2-F2BC-E67C-F56A-EE0C8BC1B557}"/>
              </a:ext>
            </a:extLst>
          </p:cNvPr>
          <p:cNvSpPr>
            <a:spLocks noChangeArrowheads="1"/>
          </p:cNvSpPr>
          <p:nvPr/>
        </p:nvSpPr>
        <p:spPr bwMode="auto">
          <a:xfrm rot="20159592" flipH="1">
            <a:off x="914400" y="2590800"/>
            <a:ext cx="381000" cy="1219200"/>
          </a:xfrm>
          <a:prstGeom prst="curvedLeftArrow">
            <a:avLst>
              <a:gd name="adj1" fmla="val 8178"/>
              <a:gd name="adj2" fmla="val 154341"/>
              <a:gd name="adj3" fmla="val 36032"/>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8690" name="AutoShape 18">
            <a:extLst>
              <a:ext uri="{FF2B5EF4-FFF2-40B4-BE49-F238E27FC236}">
                <a16:creationId xmlns:a16="http://schemas.microsoft.com/office/drawing/2014/main" id="{4DF5A695-07D4-0308-9E4D-659CC8060C07}"/>
              </a:ext>
            </a:extLst>
          </p:cNvPr>
          <p:cNvSpPr>
            <a:spLocks noChangeArrowheads="1"/>
          </p:cNvSpPr>
          <p:nvPr/>
        </p:nvSpPr>
        <p:spPr bwMode="auto">
          <a:xfrm rot="20159592" flipH="1">
            <a:off x="1447800" y="3581400"/>
            <a:ext cx="381000" cy="1219200"/>
          </a:xfrm>
          <a:prstGeom prst="curvedLeftArrow">
            <a:avLst>
              <a:gd name="adj1" fmla="val 8178"/>
              <a:gd name="adj2" fmla="val 154341"/>
              <a:gd name="adj3" fmla="val 36032"/>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8691" name="AutoShape 19">
            <a:extLst>
              <a:ext uri="{FF2B5EF4-FFF2-40B4-BE49-F238E27FC236}">
                <a16:creationId xmlns:a16="http://schemas.microsoft.com/office/drawing/2014/main" id="{5B41F34D-CF7C-CE55-5AE9-0B9F14437971}"/>
              </a:ext>
            </a:extLst>
          </p:cNvPr>
          <p:cNvSpPr>
            <a:spLocks noChangeArrowheads="1"/>
          </p:cNvSpPr>
          <p:nvPr/>
        </p:nvSpPr>
        <p:spPr bwMode="auto">
          <a:xfrm rot="20159592" flipH="1">
            <a:off x="1828800" y="4724400"/>
            <a:ext cx="381000" cy="1219200"/>
          </a:xfrm>
          <a:prstGeom prst="curvedLeftArrow">
            <a:avLst>
              <a:gd name="adj1" fmla="val 8178"/>
              <a:gd name="adj2" fmla="val 154341"/>
              <a:gd name="adj3" fmla="val 36032"/>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8692" name="AutoShape 20">
            <a:extLst>
              <a:ext uri="{FF2B5EF4-FFF2-40B4-BE49-F238E27FC236}">
                <a16:creationId xmlns:a16="http://schemas.microsoft.com/office/drawing/2014/main" id="{D39A253F-6C50-0369-C37F-4CB91F680091}"/>
              </a:ext>
            </a:extLst>
          </p:cNvPr>
          <p:cNvSpPr>
            <a:spLocks noChangeArrowheads="1"/>
          </p:cNvSpPr>
          <p:nvPr/>
        </p:nvSpPr>
        <p:spPr bwMode="auto">
          <a:xfrm rot="20159592" flipH="1">
            <a:off x="457200" y="1676400"/>
            <a:ext cx="381000" cy="1219200"/>
          </a:xfrm>
          <a:prstGeom prst="curvedLeftArrow">
            <a:avLst>
              <a:gd name="adj1" fmla="val 8178"/>
              <a:gd name="adj2" fmla="val 154341"/>
              <a:gd name="adj3" fmla="val 36032"/>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8693" name="AutoShape 21">
            <a:extLst>
              <a:ext uri="{FF2B5EF4-FFF2-40B4-BE49-F238E27FC236}">
                <a16:creationId xmlns:a16="http://schemas.microsoft.com/office/drawing/2014/main" id="{71CD5E22-70DC-50E3-1D72-24272FFE9B96}"/>
              </a:ext>
            </a:extLst>
          </p:cNvPr>
          <p:cNvSpPr>
            <a:spLocks noChangeArrowheads="1"/>
          </p:cNvSpPr>
          <p:nvPr/>
        </p:nvSpPr>
        <p:spPr bwMode="auto">
          <a:xfrm rot="20159592" flipH="1">
            <a:off x="152400" y="685800"/>
            <a:ext cx="381000" cy="1219200"/>
          </a:xfrm>
          <a:prstGeom prst="curvedLeftArrow">
            <a:avLst>
              <a:gd name="adj1" fmla="val 8178"/>
              <a:gd name="adj2" fmla="val 154341"/>
              <a:gd name="adj3" fmla="val 36032"/>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8694" name="AutoShape 22">
            <a:extLst>
              <a:ext uri="{FF2B5EF4-FFF2-40B4-BE49-F238E27FC236}">
                <a16:creationId xmlns:a16="http://schemas.microsoft.com/office/drawing/2014/main" id="{37152A49-E19F-C7BB-B918-40F54DD619C6}"/>
              </a:ext>
            </a:extLst>
          </p:cNvPr>
          <p:cNvSpPr>
            <a:spLocks noChangeArrowheads="1"/>
          </p:cNvSpPr>
          <p:nvPr/>
        </p:nvSpPr>
        <p:spPr bwMode="auto">
          <a:xfrm rot="20159592" flipV="1">
            <a:off x="2286000" y="609600"/>
            <a:ext cx="381000" cy="1219200"/>
          </a:xfrm>
          <a:prstGeom prst="curvedLeftArrow">
            <a:avLst>
              <a:gd name="adj1" fmla="val 8178"/>
              <a:gd name="adj2" fmla="val 154341"/>
              <a:gd name="adj3" fmla="val 36032"/>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8695" name="AutoShape 23">
            <a:extLst>
              <a:ext uri="{FF2B5EF4-FFF2-40B4-BE49-F238E27FC236}">
                <a16:creationId xmlns:a16="http://schemas.microsoft.com/office/drawing/2014/main" id="{E310CCEB-E883-3031-8478-0CFA3D8D1099}"/>
              </a:ext>
            </a:extLst>
          </p:cNvPr>
          <p:cNvSpPr>
            <a:spLocks noChangeArrowheads="1"/>
          </p:cNvSpPr>
          <p:nvPr/>
        </p:nvSpPr>
        <p:spPr bwMode="auto">
          <a:xfrm rot="20159592" flipV="1">
            <a:off x="2743200" y="1447800"/>
            <a:ext cx="381000" cy="1219200"/>
          </a:xfrm>
          <a:prstGeom prst="curvedLeftArrow">
            <a:avLst>
              <a:gd name="adj1" fmla="val 8178"/>
              <a:gd name="adj2" fmla="val 154341"/>
              <a:gd name="adj3" fmla="val 36032"/>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8696" name="AutoShape 24">
            <a:extLst>
              <a:ext uri="{FF2B5EF4-FFF2-40B4-BE49-F238E27FC236}">
                <a16:creationId xmlns:a16="http://schemas.microsoft.com/office/drawing/2014/main" id="{4A3F85C7-F32B-CC7C-7FE3-14857EE21647}"/>
              </a:ext>
            </a:extLst>
          </p:cNvPr>
          <p:cNvSpPr>
            <a:spLocks noChangeArrowheads="1"/>
          </p:cNvSpPr>
          <p:nvPr/>
        </p:nvSpPr>
        <p:spPr bwMode="auto">
          <a:xfrm rot="20159592" flipV="1">
            <a:off x="3200400" y="2286000"/>
            <a:ext cx="381000" cy="1219200"/>
          </a:xfrm>
          <a:prstGeom prst="curvedLeftArrow">
            <a:avLst>
              <a:gd name="adj1" fmla="val 8178"/>
              <a:gd name="adj2" fmla="val 154341"/>
              <a:gd name="adj3" fmla="val 36032"/>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8697" name="AutoShape 25">
            <a:extLst>
              <a:ext uri="{FF2B5EF4-FFF2-40B4-BE49-F238E27FC236}">
                <a16:creationId xmlns:a16="http://schemas.microsoft.com/office/drawing/2014/main" id="{2D028A12-9BE6-753B-2F81-FEEA97E80B2B}"/>
              </a:ext>
            </a:extLst>
          </p:cNvPr>
          <p:cNvSpPr>
            <a:spLocks noChangeArrowheads="1"/>
          </p:cNvSpPr>
          <p:nvPr/>
        </p:nvSpPr>
        <p:spPr bwMode="auto">
          <a:xfrm rot="20159592" flipV="1">
            <a:off x="3657600" y="3276600"/>
            <a:ext cx="381000" cy="1219200"/>
          </a:xfrm>
          <a:prstGeom prst="curvedLeftArrow">
            <a:avLst>
              <a:gd name="adj1" fmla="val 8178"/>
              <a:gd name="adj2" fmla="val 154341"/>
              <a:gd name="adj3" fmla="val 36032"/>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8698" name="AutoShape 26">
            <a:extLst>
              <a:ext uri="{FF2B5EF4-FFF2-40B4-BE49-F238E27FC236}">
                <a16:creationId xmlns:a16="http://schemas.microsoft.com/office/drawing/2014/main" id="{B0017B3D-138D-0992-34A9-AC9F150E3072}"/>
              </a:ext>
            </a:extLst>
          </p:cNvPr>
          <p:cNvSpPr>
            <a:spLocks noChangeArrowheads="1"/>
          </p:cNvSpPr>
          <p:nvPr/>
        </p:nvSpPr>
        <p:spPr bwMode="auto">
          <a:xfrm rot="20159592" flipV="1">
            <a:off x="4114800" y="4267200"/>
            <a:ext cx="381000" cy="1219200"/>
          </a:xfrm>
          <a:prstGeom prst="curvedLeftArrow">
            <a:avLst>
              <a:gd name="adj1" fmla="val 8178"/>
              <a:gd name="adj2" fmla="val 154341"/>
              <a:gd name="adj3" fmla="val 36032"/>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8699" name="AutoShape 27">
            <a:extLst>
              <a:ext uri="{FF2B5EF4-FFF2-40B4-BE49-F238E27FC236}">
                <a16:creationId xmlns:a16="http://schemas.microsoft.com/office/drawing/2014/main" id="{F79080C1-4AD9-2B2E-1E85-7FACD5658DE4}"/>
              </a:ext>
            </a:extLst>
          </p:cNvPr>
          <p:cNvSpPr>
            <a:spLocks noChangeArrowheads="1"/>
          </p:cNvSpPr>
          <p:nvPr/>
        </p:nvSpPr>
        <p:spPr bwMode="auto">
          <a:xfrm rot="20159592" flipV="1">
            <a:off x="4419600" y="5257800"/>
            <a:ext cx="381000" cy="1219200"/>
          </a:xfrm>
          <a:prstGeom prst="curvedLeftArrow">
            <a:avLst>
              <a:gd name="adj1" fmla="val 8178"/>
              <a:gd name="adj2" fmla="val 154341"/>
              <a:gd name="adj3" fmla="val 36032"/>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Tree>
    <p:extLst>
      <p:ext uri="{BB962C8B-B14F-4D97-AF65-F5344CB8AC3E}">
        <p14:creationId xmlns:p14="http://schemas.microsoft.com/office/powerpoint/2010/main" val="1719375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0B50B-BD68-601F-65C4-7145E655033F}"/>
            </a:ext>
          </a:extLst>
        </p:cNvPr>
        <p:cNvGrpSpPr/>
        <p:nvPr/>
      </p:nvGrpSpPr>
      <p:grpSpPr>
        <a:xfrm>
          <a:off x="0" y="0"/>
          <a:ext cx="0" cy="0"/>
          <a:chOff x="0" y="0"/>
          <a:chExt cx="0" cy="0"/>
        </a:xfrm>
      </p:grpSpPr>
      <p:sp>
        <p:nvSpPr>
          <p:cNvPr id="29698" name="Rectangle 2">
            <a:extLst>
              <a:ext uri="{FF2B5EF4-FFF2-40B4-BE49-F238E27FC236}">
                <a16:creationId xmlns:a16="http://schemas.microsoft.com/office/drawing/2014/main" id="{97C1D059-EE9B-42FC-7E69-A2A3AD1541E1}"/>
              </a:ext>
            </a:extLst>
          </p:cNvPr>
          <p:cNvSpPr>
            <a:spLocks noChangeArrowheads="1"/>
          </p:cNvSpPr>
          <p:nvPr/>
        </p:nvSpPr>
        <p:spPr bwMode="auto">
          <a:xfrm>
            <a:off x="381000" y="457200"/>
            <a:ext cx="1828800" cy="838200"/>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a:latin typeface="Cambria" panose="02040503050406030204" pitchFamily="18" charset="0"/>
                <a:ea typeface="Cambria" panose="02040503050406030204" pitchFamily="18" charset="0"/>
              </a:rPr>
              <a:t>Project </a:t>
            </a:r>
          </a:p>
          <a:p>
            <a:pPr algn="ctr">
              <a:spcBef>
                <a:spcPct val="0"/>
              </a:spcBef>
              <a:buFontTx/>
              <a:buNone/>
            </a:pPr>
            <a:r>
              <a:rPr lang="en-US" altLang="en-US" sz="1800">
                <a:latin typeface="Cambria" panose="02040503050406030204" pitchFamily="18" charset="0"/>
                <a:ea typeface="Cambria" panose="02040503050406030204" pitchFamily="18" charset="0"/>
              </a:rPr>
              <a:t>Identification</a:t>
            </a:r>
          </a:p>
          <a:p>
            <a:pPr algn="ctr">
              <a:spcBef>
                <a:spcPct val="0"/>
              </a:spcBef>
              <a:buFontTx/>
              <a:buNone/>
            </a:pPr>
            <a:r>
              <a:rPr lang="en-US" altLang="en-US" sz="1800">
                <a:latin typeface="Cambria" panose="02040503050406030204" pitchFamily="18" charset="0"/>
                <a:ea typeface="Cambria" panose="02040503050406030204" pitchFamily="18" charset="0"/>
              </a:rPr>
              <a:t>&amp; Selection</a:t>
            </a:r>
          </a:p>
        </p:txBody>
      </p:sp>
      <p:sp>
        <p:nvSpPr>
          <p:cNvPr id="29699" name="Rectangle 3">
            <a:extLst>
              <a:ext uri="{FF2B5EF4-FFF2-40B4-BE49-F238E27FC236}">
                <a16:creationId xmlns:a16="http://schemas.microsoft.com/office/drawing/2014/main" id="{2BAC30FF-53A7-1D96-D11A-69B062DE8D3C}"/>
              </a:ext>
            </a:extLst>
          </p:cNvPr>
          <p:cNvSpPr>
            <a:spLocks noChangeArrowheads="1"/>
          </p:cNvSpPr>
          <p:nvPr/>
        </p:nvSpPr>
        <p:spPr bwMode="auto">
          <a:xfrm>
            <a:off x="685800" y="1371600"/>
            <a:ext cx="1828800" cy="838200"/>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a:latin typeface="Cambria" panose="02040503050406030204" pitchFamily="18" charset="0"/>
                <a:ea typeface="Cambria" panose="02040503050406030204" pitchFamily="18" charset="0"/>
              </a:rPr>
              <a:t>Project </a:t>
            </a:r>
          </a:p>
          <a:p>
            <a:pPr algn="ctr">
              <a:spcBef>
                <a:spcPct val="0"/>
              </a:spcBef>
              <a:buFontTx/>
              <a:buNone/>
            </a:pPr>
            <a:r>
              <a:rPr lang="en-US" altLang="en-US" sz="1800">
                <a:latin typeface="Cambria" panose="02040503050406030204" pitchFamily="18" charset="0"/>
                <a:ea typeface="Cambria" panose="02040503050406030204" pitchFamily="18" charset="0"/>
              </a:rPr>
              <a:t>Initiation </a:t>
            </a:r>
          </a:p>
          <a:p>
            <a:pPr algn="ctr">
              <a:spcBef>
                <a:spcPct val="0"/>
              </a:spcBef>
              <a:buFontTx/>
              <a:buNone/>
            </a:pPr>
            <a:r>
              <a:rPr lang="en-US" altLang="en-US" sz="1800">
                <a:latin typeface="Cambria" panose="02040503050406030204" pitchFamily="18" charset="0"/>
                <a:ea typeface="Cambria" panose="02040503050406030204" pitchFamily="18" charset="0"/>
              </a:rPr>
              <a:t>&amp; Planning</a:t>
            </a:r>
          </a:p>
        </p:txBody>
      </p:sp>
      <p:sp>
        <p:nvSpPr>
          <p:cNvPr id="29700" name="Rectangle 4">
            <a:extLst>
              <a:ext uri="{FF2B5EF4-FFF2-40B4-BE49-F238E27FC236}">
                <a16:creationId xmlns:a16="http://schemas.microsoft.com/office/drawing/2014/main" id="{3CEC5588-CDAF-7C68-195A-2D511AD17A9E}"/>
              </a:ext>
            </a:extLst>
          </p:cNvPr>
          <p:cNvSpPr>
            <a:spLocks noChangeArrowheads="1"/>
          </p:cNvSpPr>
          <p:nvPr/>
        </p:nvSpPr>
        <p:spPr bwMode="auto">
          <a:xfrm>
            <a:off x="1143000" y="2286000"/>
            <a:ext cx="1828800" cy="838200"/>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a:latin typeface="Cambria" panose="02040503050406030204" pitchFamily="18" charset="0"/>
                <a:ea typeface="Cambria" panose="02040503050406030204" pitchFamily="18" charset="0"/>
              </a:rPr>
              <a:t>Analysis</a:t>
            </a:r>
          </a:p>
        </p:txBody>
      </p:sp>
      <p:sp>
        <p:nvSpPr>
          <p:cNvPr id="29701" name="Rectangle 5">
            <a:extLst>
              <a:ext uri="{FF2B5EF4-FFF2-40B4-BE49-F238E27FC236}">
                <a16:creationId xmlns:a16="http://schemas.microsoft.com/office/drawing/2014/main" id="{E11FCE45-1CEC-030D-D186-650A33BBCD86}"/>
              </a:ext>
            </a:extLst>
          </p:cNvPr>
          <p:cNvSpPr>
            <a:spLocks noChangeArrowheads="1"/>
          </p:cNvSpPr>
          <p:nvPr/>
        </p:nvSpPr>
        <p:spPr bwMode="auto">
          <a:xfrm>
            <a:off x="1600200" y="3200400"/>
            <a:ext cx="1828800" cy="838200"/>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a:latin typeface="Cambria" panose="02040503050406030204" pitchFamily="18" charset="0"/>
                <a:ea typeface="Cambria" panose="02040503050406030204" pitchFamily="18" charset="0"/>
              </a:rPr>
              <a:t>Logical Design</a:t>
            </a:r>
          </a:p>
        </p:txBody>
      </p:sp>
      <p:sp>
        <p:nvSpPr>
          <p:cNvPr id="29702" name="Rectangle 6">
            <a:extLst>
              <a:ext uri="{FF2B5EF4-FFF2-40B4-BE49-F238E27FC236}">
                <a16:creationId xmlns:a16="http://schemas.microsoft.com/office/drawing/2014/main" id="{5EFC35A6-AA56-9BCF-3209-853CC2A5CE2E}"/>
              </a:ext>
            </a:extLst>
          </p:cNvPr>
          <p:cNvSpPr>
            <a:spLocks noChangeArrowheads="1"/>
          </p:cNvSpPr>
          <p:nvPr/>
        </p:nvSpPr>
        <p:spPr bwMode="auto">
          <a:xfrm>
            <a:off x="2057400" y="4114800"/>
            <a:ext cx="1828800" cy="838200"/>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a:latin typeface="Cambria" panose="02040503050406030204" pitchFamily="18" charset="0"/>
                <a:ea typeface="Cambria" panose="02040503050406030204" pitchFamily="18" charset="0"/>
              </a:rPr>
              <a:t>Physical Design</a:t>
            </a:r>
          </a:p>
        </p:txBody>
      </p:sp>
      <p:sp>
        <p:nvSpPr>
          <p:cNvPr id="29703" name="Rectangle 7">
            <a:extLst>
              <a:ext uri="{FF2B5EF4-FFF2-40B4-BE49-F238E27FC236}">
                <a16:creationId xmlns:a16="http://schemas.microsoft.com/office/drawing/2014/main" id="{9EE06E32-2E61-43CB-181E-A9B4BA2D7758}"/>
              </a:ext>
            </a:extLst>
          </p:cNvPr>
          <p:cNvSpPr>
            <a:spLocks noChangeArrowheads="1"/>
          </p:cNvSpPr>
          <p:nvPr/>
        </p:nvSpPr>
        <p:spPr bwMode="auto">
          <a:xfrm>
            <a:off x="2362200" y="5029200"/>
            <a:ext cx="1828800" cy="838200"/>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a:latin typeface="Cambria" panose="02040503050406030204" pitchFamily="18" charset="0"/>
                <a:ea typeface="Cambria" panose="02040503050406030204" pitchFamily="18" charset="0"/>
              </a:rPr>
              <a:t>Implementation</a:t>
            </a:r>
          </a:p>
        </p:txBody>
      </p:sp>
      <p:sp>
        <p:nvSpPr>
          <p:cNvPr id="29704" name="Rectangle 8">
            <a:extLst>
              <a:ext uri="{FF2B5EF4-FFF2-40B4-BE49-F238E27FC236}">
                <a16:creationId xmlns:a16="http://schemas.microsoft.com/office/drawing/2014/main" id="{6241F173-9809-8F99-AC80-7F342C674DF3}"/>
              </a:ext>
            </a:extLst>
          </p:cNvPr>
          <p:cNvSpPr>
            <a:spLocks noChangeArrowheads="1"/>
          </p:cNvSpPr>
          <p:nvPr/>
        </p:nvSpPr>
        <p:spPr bwMode="auto">
          <a:xfrm>
            <a:off x="2743200" y="5943600"/>
            <a:ext cx="1828800" cy="838200"/>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a:latin typeface="Cambria" panose="02040503050406030204" pitchFamily="18" charset="0"/>
                <a:ea typeface="Cambria" panose="02040503050406030204" pitchFamily="18" charset="0"/>
              </a:rPr>
              <a:t>Maintenance</a:t>
            </a:r>
          </a:p>
        </p:txBody>
      </p:sp>
      <p:sp>
        <p:nvSpPr>
          <p:cNvPr id="29705" name="Text Box 9">
            <a:extLst>
              <a:ext uri="{FF2B5EF4-FFF2-40B4-BE49-F238E27FC236}">
                <a16:creationId xmlns:a16="http://schemas.microsoft.com/office/drawing/2014/main" id="{20AD7683-5B3D-18F3-8349-0676AFA9F99C}"/>
              </a:ext>
            </a:extLst>
          </p:cNvPr>
          <p:cNvSpPr txBox="1">
            <a:spLocks noChangeArrowheads="1"/>
          </p:cNvSpPr>
          <p:nvPr/>
        </p:nvSpPr>
        <p:spPr bwMode="auto">
          <a:xfrm>
            <a:off x="3252788" y="862013"/>
            <a:ext cx="5259387"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200000"/>
              </a:lnSpc>
              <a:spcBef>
                <a:spcPct val="50000"/>
              </a:spcBef>
              <a:buFontTx/>
              <a:buNone/>
            </a:pPr>
            <a:r>
              <a:rPr lang="en-US" altLang="en-US" sz="1600" b="1" dirty="0">
                <a:solidFill>
                  <a:srgbClr val="0033CC"/>
                </a:solidFill>
                <a:latin typeface="Cambria" panose="02040503050406030204" pitchFamily="18" charset="0"/>
                <a:ea typeface="Cambria" panose="02040503050406030204" pitchFamily="18" charset="0"/>
              </a:rPr>
              <a:t>Analyze current data processing, general business functions and their database needs</a:t>
            </a:r>
            <a:endParaRPr lang="en-US" altLang="en-US" sz="1600" dirty="0">
              <a:solidFill>
                <a:srgbClr val="0033CC"/>
              </a:solidFill>
              <a:latin typeface="Cambria" panose="02040503050406030204" pitchFamily="18" charset="0"/>
              <a:ea typeface="Cambria" panose="02040503050406030204" pitchFamily="18" charset="0"/>
            </a:endParaRPr>
          </a:p>
        </p:txBody>
      </p:sp>
      <p:sp>
        <p:nvSpPr>
          <p:cNvPr id="29706" name="Text Box 10">
            <a:extLst>
              <a:ext uri="{FF2B5EF4-FFF2-40B4-BE49-F238E27FC236}">
                <a16:creationId xmlns:a16="http://schemas.microsoft.com/office/drawing/2014/main" id="{AF2EF2DC-F6AD-21E0-D5FC-A3E9C8EEDD5F}"/>
              </a:ext>
            </a:extLst>
          </p:cNvPr>
          <p:cNvSpPr txBox="1">
            <a:spLocks noChangeArrowheads="1"/>
          </p:cNvSpPr>
          <p:nvPr/>
        </p:nvSpPr>
        <p:spPr bwMode="auto">
          <a:xfrm>
            <a:off x="3956050" y="2474913"/>
            <a:ext cx="39735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50000"/>
              </a:spcBef>
              <a:buFontTx/>
              <a:buNone/>
            </a:pPr>
            <a:r>
              <a:rPr lang="en-US" altLang="en-US" sz="1800" b="1" dirty="0">
                <a:solidFill>
                  <a:srgbClr val="0033CC"/>
                </a:solidFill>
                <a:latin typeface="Cambria" panose="02040503050406030204" pitchFamily="18" charset="0"/>
                <a:ea typeface="Cambria" panose="02040503050406030204" pitchFamily="18" charset="0"/>
              </a:rPr>
              <a:t>Conceptual Data Model</a:t>
            </a:r>
            <a:endParaRPr lang="en-US" altLang="en-US" sz="1800" dirty="0">
              <a:solidFill>
                <a:srgbClr val="0033CC"/>
              </a:solidFill>
              <a:latin typeface="Cambria" panose="02040503050406030204" pitchFamily="18" charset="0"/>
              <a:ea typeface="Cambria" panose="02040503050406030204" pitchFamily="18" charset="0"/>
            </a:endParaRPr>
          </a:p>
        </p:txBody>
      </p:sp>
      <p:sp>
        <p:nvSpPr>
          <p:cNvPr id="29707" name="Text Box 11">
            <a:extLst>
              <a:ext uri="{FF2B5EF4-FFF2-40B4-BE49-F238E27FC236}">
                <a16:creationId xmlns:a16="http://schemas.microsoft.com/office/drawing/2014/main" id="{D800634E-2224-4D80-0CAF-A3FF4D9DC25A}"/>
              </a:ext>
            </a:extLst>
          </p:cNvPr>
          <p:cNvSpPr txBox="1">
            <a:spLocks noChangeArrowheads="1"/>
          </p:cNvSpPr>
          <p:nvPr/>
        </p:nvSpPr>
        <p:spPr bwMode="auto">
          <a:xfrm>
            <a:off x="4270375" y="3413125"/>
            <a:ext cx="434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50000"/>
              </a:spcBef>
              <a:buFontTx/>
              <a:buNone/>
            </a:pPr>
            <a:r>
              <a:rPr lang="en-US" altLang="en-US" sz="1800" b="1" dirty="0">
                <a:solidFill>
                  <a:srgbClr val="0033CC"/>
                </a:solidFill>
                <a:latin typeface="Cambria" panose="02040503050406030204" pitchFamily="18" charset="0"/>
                <a:ea typeface="Cambria" panose="02040503050406030204" pitchFamily="18" charset="0"/>
              </a:rPr>
              <a:t>Logical Data Model</a:t>
            </a:r>
            <a:endParaRPr lang="en-US" altLang="en-US" sz="1800" dirty="0">
              <a:solidFill>
                <a:srgbClr val="0033CC"/>
              </a:solidFill>
              <a:latin typeface="Cambria" panose="02040503050406030204" pitchFamily="18" charset="0"/>
              <a:ea typeface="Cambria" panose="02040503050406030204" pitchFamily="18" charset="0"/>
            </a:endParaRPr>
          </a:p>
        </p:txBody>
      </p:sp>
      <p:sp>
        <p:nvSpPr>
          <p:cNvPr id="29708" name="Text Box 12">
            <a:extLst>
              <a:ext uri="{FF2B5EF4-FFF2-40B4-BE49-F238E27FC236}">
                <a16:creationId xmlns:a16="http://schemas.microsoft.com/office/drawing/2014/main" id="{5D7B1D2F-BA16-D312-BA46-C8A30567B6FB}"/>
              </a:ext>
            </a:extLst>
          </p:cNvPr>
          <p:cNvSpPr txBox="1">
            <a:spLocks noChangeArrowheads="1"/>
          </p:cNvSpPr>
          <p:nvPr/>
        </p:nvSpPr>
        <p:spPr bwMode="auto">
          <a:xfrm>
            <a:off x="4727575" y="4235450"/>
            <a:ext cx="25034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50000"/>
              </a:spcBef>
              <a:buFontTx/>
              <a:buNone/>
            </a:pPr>
            <a:r>
              <a:rPr lang="en-US" altLang="en-US" sz="1800" b="1">
                <a:solidFill>
                  <a:srgbClr val="0033CC"/>
                </a:solidFill>
                <a:latin typeface="Cambria" panose="02040503050406030204" pitchFamily="18" charset="0"/>
                <a:ea typeface="Cambria" panose="02040503050406030204" pitchFamily="18" charset="0"/>
              </a:rPr>
              <a:t>Internal Data Model</a:t>
            </a:r>
            <a:endParaRPr lang="en-US" altLang="en-US" sz="1800">
              <a:solidFill>
                <a:srgbClr val="0033CC"/>
              </a:solidFill>
              <a:latin typeface="Cambria" panose="02040503050406030204" pitchFamily="18" charset="0"/>
              <a:ea typeface="Cambria" panose="02040503050406030204" pitchFamily="18" charset="0"/>
            </a:endParaRPr>
          </a:p>
        </p:txBody>
      </p:sp>
      <p:sp>
        <p:nvSpPr>
          <p:cNvPr id="29709" name="AutoShape 15">
            <a:extLst>
              <a:ext uri="{FF2B5EF4-FFF2-40B4-BE49-F238E27FC236}">
                <a16:creationId xmlns:a16="http://schemas.microsoft.com/office/drawing/2014/main" id="{09C3DABB-CAC9-CED6-2B2B-04A05806376B}"/>
              </a:ext>
            </a:extLst>
          </p:cNvPr>
          <p:cNvSpPr>
            <a:spLocks noChangeArrowheads="1"/>
          </p:cNvSpPr>
          <p:nvPr/>
        </p:nvSpPr>
        <p:spPr bwMode="auto">
          <a:xfrm rot="20159592" flipH="1">
            <a:off x="2133600" y="5715000"/>
            <a:ext cx="381000" cy="1219200"/>
          </a:xfrm>
          <a:prstGeom prst="curvedLeftArrow">
            <a:avLst>
              <a:gd name="adj1" fmla="val 8178"/>
              <a:gd name="adj2" fmla="val 154341"/>
              <a:gd name="adj3" fmla="val 36032"/>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29710" name="AutoShape 16">
            <a:extLst>
              <a:ext uri="{FF2B5EF4-FFF2-40B4-BE49-F238E27FC236}">
                <a16:creationId xmlns:a16="http://schemas.microsoft.com/office/drawing/2014/main" id="{B39337C4-F0BA-BF89-65D2-D14BCEDFCF59}"/>
              </a:ext>
            </a:extLst>
          </p:cNvPr>
          <p:cNvSpPr>
            <a:spLocks noChangeArrowheads="1"/>
          </p:cNvSpPr>
          <p:nvPr/>
        </p:nvSpPr>
        <p:spPr bwMode="auto">
          <a:xfrm rot="20159592" flipH="1">
            <a:off x="914400" y="2590800"/>
            <a:ext cx="381000" cy="1219200"/>
          </a:xfrm>
          <a:prstGeom prst="curvedLeftArrow">
            <a:avLst>
              <a:gd name="adj1" fmla="val 8178"/>
              <a:gd name="adj2" fmla="val 154341"/>
              <a:gd name="adj3" fmla="val 36032"/>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29711" name="AutoShape 17">
            <a:extLst>
              <a:ext uri="{FF2B5EF4-FFF2-40B4-BE49-F238E27FC236}">
                <a16:creationId xmlns:a16="http://schemas.microsoft.com/office/drawing/2014/main" id="{A271FDAA-541D-F378-8313-92D91A148517}"/>
              </a:ext>
            </a:extLst>
          </p:cNvPr>
          <p:cNvSpPr>
            <a:spLocks noChangeArrowheads="1"/>
          </p:cNvSpPr>
          <p:nvPr/>
        </p:nvSpPr>
        <p:spPr bwMode="auto">
          <a:xfrm rot="20159592" flipH="1">
            <a:off x="1447800" y="3581400"/>
            <a:ext cx="381000" cy="1219200"/>
          </a:xfrm>
          <a:prstGeom prst="curvedLeftArrow">
            <a:avLst>
              <a:gd name="adj1" fmla="val 8178"/>
              <a:gd name="adj2" fmla="val 154341"/>
              <a:gd name="adj3" fmla="val 36032"/>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29712" name="AutoShape 18">
            <a:extLst>
              <a:ext uri="{FF2B5EF4-FFF2-40B4-BE49-F238E27FC236}">
                <a16:creationId xmlns:a16="http://schemas.microsoft.com/office/drawing/2014/main" id="{A2E3336A-2CBC-E2C9-8559-0001ABAEABBC}"/>
              </a:ext>
            </a:extLst>
          </p:cNvPr>
          <p:cNvSpPr>
            <a:spLocks noChangeArrowheads="1"/>
          </p:cNvSpPr>
          <p:nvPr/>
        </p:nvSpPr>
        <p:spPr bwMode="auto">
          <a:xfrm rot="20159592" flipH="1">
            <a:off x="1828800" y="4724400"/>
            <a:ext cx="381000" cy="1219200"/>
          </a:xfrm>
          <a:prstGeom prst="curvedLeftArrow">
            <a:avLst>
              <a:gd name="adj1" fmla="val 8178"/>
              <a:gd name="adj2" fmla="val 154341"/>
              <a:gd name="adj3" fmla="val 36032"/>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29713" name="AutoShape 19">
            <a:extLst>
              <a:ext uri="{FF2B5EF4-FFF2-40B4-BE49-F238E27FC236}">
                <a16:creationId xmlns:a16="http://schemas.microsoft.com/office/drawing/2014/main" id="{CBCF2C16-82AD-5E08-8737-F03F5C4D67BE}"/>
              </a:ext>
            </a:extLst>
          </p:cNvPr>
          <p:cNvSpPr>
            <a:spLocks noChangeArrowheads="1"/>
          </p:cNvSpPr>
          <p:nvPr/>
        </p:nvSpPr>
        <p:spPr bwMode="auto">
          <a:xfrm rot="20159592" flipH="1">
            <a:off x="457200" y="1676400"/>
            <a:ext cx="381000" cy="1219200"/>
          </a:xfrm>
          <a:prstGeom prst="curvedLeftArrow">
            <a:avLst>
              <a:gd name="adj1" fmla="val 8178"/>
              <a:gd name="adj2" fmla="val 154341"/>
              <a:gd name="adj3" fmla="val 36032"/>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29714" name="AutoShape 20">
            <a:extLst>
              <a:ext uri="{FF2B5EF4-FFF2-40B4-BE49-F238E27FC236}">
                <a16:creationId xmlns:a16="http://schemas.microsoft.com/office/drawing/2014/main" id="{51DA1367-CB58-4907-048A-C46955A5596F}"/>
              </a:ext>
            </a:extLst>
          </p:cNvPr>
          <p:cNvSpPr>
            <a:spLocks noChangeArrowheads="1"/>
          </p:cNvSpPr>
          <p:nvPr/>
        </p:nvSpPr>
        <p:spPr bwMode="auto">
          <a:xfrm rot="20159592" flipH="1">
            <a:off x="152400" y="685800"/>
            <a:ext cx="381000" cy="1219200"/>
          </a:xfrm>
          <a:prstGeom prst="curvedLeftArrow">
            <a:avLst>
              <a:gd name="adj1" fmla="val 8178"/>
              <a:gd name="adj2" fmla="val 154341"/>
              <a:gd name="adj3" fmla="val 36032"/>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29715" name="AutoShape 21">
            <a:extLst>
              <a:ext uri="{FF2B5EF4-FFF2-40B4-BE49-F238E27FC236}">
                <a16:creationId xmlns:a16="http://schemas.microsoft.com/office/drawing/2014/main" id="{DC54BE83-210E-B0BD-F2DB-B9E3E7745F48}"/>
              </a:ext>
            </a:extLst>
          </p:cNvPr>
          <p:cNvSpPr>
            <a:spLocks noChangeArrowheads="1"/>
          </p:cNvSpPr>
          <p:nvPr/>
        </p:nvSpPr>
        <p:spPr bwMode="auto">
          <a:xfrm rot="20159592" flipV="1">
            <a:off x="2286000" y="609600"/>
            <a:ext cx="381000" cy="1219200"/>
          </a:xfrm>
          <a:prstGeom prst="curvedLeftArrow">
            <a:avLst>
              <a:gd name="adj1" fmla="val 8178"/>
              <a:gd name="adj2" fmla="val 154341"/>
              <a:gd name="adj3" fmla="val 36032"/>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29716" name="AutoShape 22">
            <a:extLst>
              <a:ext uri="{FF2B5EF4-FFF2-40B4-BE49-F238E27FC236}">
                <a16:creationId xmlns:a16="http://schemas.microsoft.com/office/drawing/2014/main" id="{4A180373-547A-BB4A-ECF5-49D0CFC051B7}"/>
              </a:ext>
            </a:extLst>
          </p:cNvPr>
          <p:cNvSpPr>
            <a:spLocks noChangeArrowheads="1"/>
          </p:cNvSpPr>
          <p:nvPr/>
        </p:nvSpPr>
        <p:spPr bwMode="auto">
          <a:xfrm rot="20159592" flipV="1">
            <a:off x="2743200" y="1447800"/>
            <a:ext cx="381000" cy="1219200"/>
          </a:xfrm>
          <a:prstGeom prst="curvedLeftArrow">
            <a:avLst>
              <a:gd name="adj1" fmla="val 8178"/>
              <a:gd name="adj2" fmla="val 154341"/>
              <a:gd name="adj3" fmla="val 36032"/>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29717" name="AutoShape 23">
            <a:extLst>
              <a:ext uri="{FF2B5EF4-FFF2-40B4-BE49-F238E27FC236}">
                <a16:creationId xmlns:a16="http://schemas.microsoft.com/office/drawing/2014/main" id="{E3A7FBBA-D439-B5F6-A944-EEB0811428C8}"/>
              </a:ext>
            </a:extLst>
          </p:cNvPr>
          <p:cNvSpPr>
            <a:spLocks noChangeArrowheads="1"/>
          </p:cNvSpPr>
          <p:nvPr/>
        </p:nvSpPr>
        <p:spPr bwMode="auto">
          <a:xfrm rot="20159592" flipV="1">
            <a:off x="3200400" y="2286000"/>
            <a:ext cx="381000" cy="1219200"/>
          </a:xfrm>
          <a:prstGeom prst="curvedLeftArrow">
            <a:avLst>
              <a:gd name="adj1" fmla="val 8178"/>
              <a:gd name="adj2" fmla="val 154341"/>
              <a:gd name="adj3" fmla="val 36032"/>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29718" name="AutoShape 24">
            <a:extLst>
              <a:ext uri="{FF2B5EF4-FFF2-40B4-BE49-F238E27FC236}">
                <a16:creationId xmlns:a16="http://schemas.microsoft.com/office/drawing/2014/main" id="{45A6DEE8-C36D-D1EA-FF09-D838C117E38F}"/>
              </a:ext>
            </a:extLst>
          </p:cNvPr>
          <p:cNvSpPr>
            <a:spLocks noChangeArrowheads="1"/>
          </p:cNvSpPr>
          <p:nvPr/>
        </p:nvSpPr>
        <p:spPr bwMode="auto">
          <a:xfrm rot="20159592" flipV="1">
            <a:off x="3657600" y="3276600"/>
            <a:ext cx="381000" cy="1219200"/>
          </a:xfrm>
          <a:prstGeom prst="curvedLeftArrow">
            <a:avLst>
              <a:gd name="adj1" fmla="val 8178"/>
              <a:gd name="adj2" fmla="val 154341"/>
              <a:gd name="adj3" fmla="val 36032"/>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29719" name="AutoShape 25">
            <a:extLst>
              <a:ext uri="{FF2B5EF4-FFF2-40B4-BE49-F238E27FC236}">
                <a16:creationId xmlns:a16="http://schemas.microsoft.com/office/drawing/2014/main" id="{7A67BF40-41F7-7908-5DD9-4DB9C7423575}"/>
              </a:ext>
            </a:extLst>
          </p:cNvPr>
          <p:cNvSpPr>
            <a:spLocks noChangeArrowheads="1"/>
          </p:cNvSpPr>
          <p:nvPr/>
        </p:nvSpPr>
        <p:spPr bwMode="auto">
          <a:xfrm rot="20159592" flipV="1">
            <a:off x="4114800" y="4267200"/>
            <a:ext cx="381000" cy="1219200"/>
          </a:xfrm>
          <a:prstGeom prst="curvedLeftArrow">
            <a:avLst>
              <a:gd name="adj1" fmla="val 8178"/>
              <a:gd name="adj2" fmla="val 154341"/>
              <a:gd name="adj3" fmla="val 36032"/>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rgbClr val="0033CC"/>
              </a:solidFill>
              <a:latin typeface="Cambria" panose="02040503050406030204" pitchFamily="18" charset="0"/>
              <a:ea typeface="Cambria" panose="02040503050406030204" pitchFamily="18" charset="0"/>
            </a:endParaRPr>
          </a:p>
        </p:txBody>
      </p:sp>
      <p:sp>
        <p:nvSpPr>
          <p:cNvPr id="29720" name="AutoShape 26">
            <a:extLst>
              <a:ext uri="{FF2B5EF4-FFF2-40B4-BE49-F238E27FC236}">
                <a16:creationId xmlns:a16="http://schemas.microsoft.com/office/drawing/2014/main" id="{3DD9898B-8C19-52F8-8BB0-BE212B688EAB}"/>
              </a:ext>
            </a:extLst>
          </p:cNvPr>
          <p:cNvSpPr>
            <a:spLocks noChangeArrowheads="1"/>
          </p:cNvSpPr>
          <p:nvPr/>
        </p:nvSpPr>
        <p:spPr bwMode="auto">
          <a:xfrm rot="20159592" flipV="1">
            <a:off x="4419600" y="5257800"/>
            <a:ext cx="381000" cy="1219200"/>
          </a:xfrm>
          <a:prstGeom prst="curvedLeftArrow">
            <a:avLst>
              <a:gd name="adj1" fmla="val 8178"/>
              <a:gd name="adj2" fmla="val 154341"/>
              <a:gd name="adj3" fmla="val 36032"/>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29721" name="Text Box 12">
            <a:extLst>
              <a:ext uri="{FF2B5EF4-FFF2-40B4-BE49-F238E27FC236}">
                <a16:creationId xmlns:a16="http://schemas.microsoft.com/office/drawing/2014/main" id="{06C3F0E8-F9B0-2EAE-8218-7B4102E848CA}"/>
              </a:ext>
            </a:extLst>
          </p:cNvPr>
          <p:cNvSpPr txBox="1">
            <a:spLocks noChangeArrowheads="1"/>
          </p:cNvSpPr>
          <p:nvPr/>
        </p:nvSpPr>
        <p:spPr bwMode="auto">
          <a:xfrm>
            <a:off x="4859338" y="5232400"/>
            <a:ext cx="25034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50000"/>
              </a:spcBef>
              <a:buFontTx/>
              <a:buNone/>
            </a:pPr>
            <a:r>
              <a:rPr lang="en-US" altLang="en-US" sz="1800" b="1">
                <a:solidFill>
                  <a:srgbClr val="0033CC"/>
                </a:solidFill>
                <a:latin typeface="Cambria" panose="02040503050406030204" pitchFamily="18" charset="0"/>
                <a:ea typeface="Cambria" panose="02040503050406030204" pitchFamily="18" charset="0"/>
              </a:rPr>
              <a:t>Physical Data Model</a:t>
            </a:r>
            <a:endParaRPr lang="en-US" altLang="en-US" sz="1800">
              <a:solidFill>
                <a:srgbClr val="0033CC"/>
              </a:solidFill>
              <a:latin typeface="Cambria" panose="02040503050406030204" pitchFamily="18" charset="0"/>
              <a:ea typeface="Cambria" panose="02040503050406030204" pitchFamily="18" charset="0"/>
            </a:endParaRPr>
          </a:p>
        </p:txBody>
      </p:sp>
      <p:sp>
        <p:nvSpPr>
          <p:cNvPr id="2" name="Slide Number Placeholder 23">
            <a:extLst>
              <a:ext uri="{FF2B5EF4-FFF2-40B4-BE49-F238E27FC236}">
                <a16:creationId xmlns:a16="http://schemas.microsoft.com/office/drawing/2014/main" id="{56FB7C27-15AB-53DC-F586-F7FA37043F03}"/>
              </a:ext>
            </a:extLst>
          </p:cNvPr>
          <p:cNvSpPr>
            <a:spLocks noGrp="1"/>
          </p:cNvSpPr>
          <p:nvPr>
            <p:ph type="sldNum" sz="quarter" idx="12"/>
          </p:nvPr>
        </p:nvSpPr>
        <p:spPr>
          <a:xfrm>
            <a:off x="8459788" y="6165850"/>
            <a:ext cx="457200" cy="457200"/>
          </a:xfrm>
        </p:spPr>
        <p:txBody>
          <a:bodyPr/>
          <a:lstStyle/>
          <a:p>
            <a:pPr>
              <a:defRPr/>
            </a:pPr>
            <a:fld id="{110F9843-0372-4357-99AD-419BEB3ABF28}" type="slidenum">
              <a:rPr lang="en-US" smtClean="0"/>
              <a:pPr>
                <a:defRPr/>
              </a:pPr>
              <a:t>3</a:t>
            </a:fld>
            <a:endParaRPr lang="en-US"/>
          </a:p>
        </p:txBody>
      </p:sp>
    </p:spTree>
    <p:extLst>
      <p:ext uri="{BB962C8B-B14F-4D97-AF65-F5344CB8AC3E}">
        <p14:creationId xmlns:p14="http://schemas.microsoft.com/office/powerpoint/2010/main" val="292772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576D2-E48B-6C62-B45A-8066877F4F01}"/>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E5ECDBD4-36D6-7C7E-E1FD-854552E9179D}"/>
              </a:ext>
            </a:extLst>
          </p:cNvPr>
          <p:cNvSpPr>
            <a:spLocks noGrp="1" noChangeArrowheads="1"/>
          </p:cNvSpPr>
          <p:nvPr>
            <p:ph type="title"/>
          </p:nvPr>
        </p:nvSpPr>
        <p:spPr>
          <a:xfrm>
            <a:off x="323850" y="189458"/>
            <a:ext cx="4122738"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Types of Data Models</a:t>
            </a:r>
          </a:p>
        </p:txBody>
      </p:sp>
      <p:sp>
        <p:nvSpPr>
          <p:cNvPr id="10243" name="Rectangle 3">
            <a:extLst>
              <a:ext uri="{FF2B5EF4-FFF2-40B4-BE49-F238E27FC236}">
                <a16:creationId xmlns:a16="http://schemas.microsoft.com/office/drawing/2014/main" id="{8AFB3120-D017-1E15-789B-0086A5332871}"/>
              </a:ext>
            </a:extLst>
          </p:cNvPr>
          <p:cNvSpPr>
            <a:spLocks noGrp="1" noChangeArrowheads="1"/>
          </p:cNvSpPr>
          <p:nvPr>
            <p:ph type="body" idx="1"/>
          </p:nvPr>
        </p:nvSpPr>
        <p:spPr>
          <a:xfrm>
            <a:off x="412751" y="620688"/>
            <a:ext cx="8569325" cy="5194300"/>
          </a:xfrm>
        </p:spPr>
        <p:txBody>
          <a:bodyPr/>
          <a:lstStyle/>
          <a:p>
            <a:pPr marL="609600" indent="-609600" algn="just">
              <a:spcBef>
                <a:spcPts val="300"/>
              </a:spcBef>
              <a:buFontTx/>
              <a:buNone/>
              <a:defRPr/>
            </a:pPr>
            <a:r>
              <a:rPr lang="en-US" sz="2000" b="1" dirty="0">
                <a:solidFill>
                  <a:srgbClr val="0033CC"/>
                </a:solidFill>
                <a:latin typeface="Cambria" panose="02040503050406030204" pitchFamily="18" charset="0"/>
                <a:ea typeface="Cambria" panose="02040503050406030204" pitchFamily="18" charset="0"/>
              </a:rPr>
              <a:t>1. Conceptual Data Model</a:t>
            </a:r>
          </a:p>
          <a:p>
            <a:pPr algn="just">
              <a:spcBef>
                <a:spcPts val="300"/>
              </a:spcBef>
              <a:defRPr/>
            </a:pPr>
            <a:r>
              <a:rPr lang="en-US" sz="2000" dirty="0">
                <a:latin typeface="Cambria" panose="02040503050406030204" pitchFamily="18" charset="0"/>
                <a:ea typeface="Cambria" panose="02040503050406030204" pitchFamily="18" charset="0"/>
              </a:rPr>
              <a:t>It defines </a:t>
            </a:r>
            <a:r>
              <a:rPr lang="en-US" sz="2000" dirty="0">
                <a:solidFill>
                  <a:srgbClr val="FF0000"/>
                </a:solidFill>
                <a:latin typeface="Cambria" panose="02040503050406030204" pitchFamily="18" charset="0"/>
                <a:ea typeface="Cambria" panose="02040503050406030204" pitchFamily="18" charset="0"/>
              </a:rPr>
              <a:t>WHAT</a:t>
            </a:r>
            <a:r>
              <a:rPr lang="en-US" sz="2000" dirty="0">
                <a:latin typeface="Cambria" panose="02040503050406030204" pitchFamily="18" charset="0"/>
                <a:ea typeface="Cambria" panose="02040503050406030204" pitchFamily="18" charset="0"/>
              </a:rPr>
              <a:t> the system contains? </a:t>
            </a:r>
          </a:p>
          <a:p>
            <a:pPr algn="just">
              <a:spcBef>
                <a:spcPts val="300"/>
              </a:spcBef>
              <a:defRPr/>
            </a:pPr>
            <a:r>
              <a:rPr lang="en-US" sz="2000" dirty="0">
                <a:latin typeface="Cambria" panose="02040503050406030204" pitchFamily="18" charset="0"/>
                <a:ea typeface="Cambria" panose="02040503050406030204" pitchFamily="18" charset="0"/>
              </a:rPr>
              <a:t>It identifies </a:t>
            </a:r>
            <a:r>
              <a:rPr lang="en-US" sz="2000" dirty="0">
                <a:solidFill>
                  <a:srgbClr val="FF0000"/>
                </a:solidFill>
                <a:latin typeface="Cambria" panose="02040503050406030204" pitchFamily="18" charset="0"/>
                <a:ea typeface="Cambria" panose="02040503050406030204" pitchFamily="18" charset="0"/>
              </a:rPr>
              <a:t>entities</a:t>
            </a:r>
            <a:r>
              <a:rPr lang="en-US" sz="2000" dirty="0">
                <a:latin typeface="Cambria" panose="02040503050406030204" pitchFamily="18" charset="0"/>
                <a:ea typeface="Cambria" panose="02040503050406030204" pitchFamily="18" charset="0"/>
              </a:rPr>
              <a:t>, their </a:t>
            </a:r>
            <a:r>
              <a:rPr lang="en-US" sz="2000" dirty="0">
                <a:solidFill>
                  <a:srgbClr val="FF0000"/>
                </a:solidFill>
                <a:latin typeface="Cambria" panose="02040503050406030204" pitchFamily="18" charset="0"/>
                <a:ea typeface="Cambria" panose="02040503050406030204" pitchFamily="18" charset="0"/>
              </a:rPr>
              <a:t>attributes</a:t>
            </a:r>
            <a:r>
              <a:rPr lang="en-US" sz="2000" dirty="0">
                <a:latin typeface="Cambria" panose="02040503050406030204" pitchFamily="18" charset="0"/>
                <a:ea typeface="Cambria" panose="02040503050406030204" pitchFamily="18" charset="0"/>
              </a:rPr>
              <a:t> and their </a:t>
            </a:r>
            <a:r>
              <a:rPr lang="en-US" sz="2000" dirty="0">
                <a:solidFill>
                  <a:srgbClr val="FF0000"/>
                </a:solidFill>
                <a:latin typeface="Cambria" panose="02040503050406030204" pitchFamily="18" charset="0"/>
                <a:ea typeface="Cambria" panose="02040503050406030204" pitchFamily="18" charset="0"/>
              </a:rPr>
              <a:t>relationships</a:t>
            </a:r>
            <a:r>
              <a:rPr lang="en-US" sz="2000" dirty="0">
                <a:latin typeface="Cambria" panose="02040503050406030204" pitchFamily="18" charset="0"/>
                <a:ea typeface="Cambria" panose="02040503050406030204" pitchFamily="18" charset="0"/>
              </a:rPr>
              <a:t> (E-R Model).</a:t>
            </a:r>
          </a:p>
          <a:p>
            <a:pPr marL="609600" indent="-609600" algn="just">
              <a:spcBef>
                <a:spcPts val="300"/>
              </a:spcBef>
              <a:buFontTx/>
              <a:buNone/>
              <a:defRPr/>
            </a:pPr>
            <a:r>
              <a:rPr lang="en-US" sz="2000" b="1" dirty="0">
                <a:solidFill>
                  <a:srgbClr val="0033CC"/>
                </a:solidFill>
                <a:latin typeface="Cambria" panose="02040503050406030204" pitchFamily="18" charset="0"/>
                <a:ea typeface="Cambria" panose="02040503050406030204" pitchFamily="18" charset="0"/>
              </a:rPr>
              <a:t>2. Logical or Representational Data Models</a:t>
            </a:r>
          </a:p>
          <a:p>
            <a:pPr algn="just">
              <a:spcBef>
                <a:spcPts val="300"/>
              </a:spcBef>
              <a:defRPr/>
            </a:pPr>
            <a:r>
              <a:rPr lang="en-US" sz="2000" dirty="0">
                <a:latin typeface="Cambria" panose="02040503050406030204" pitchFamily="18" charset="0"/>
                <a:ea typeface="Cambria" panose="02040503050406030204" pitchFamily="18" charset="0"/>
              </a:rPr>
              <a:t>Defines </a:t>
            </a:r>
            <a:r>
              <a:rPr lang="en-US" sz="2000" dirty="0">
                <a:solidFill>
                  <a:srgbClr val="FF0000"/>
                </a:solidFill>
                <a:latin typeface="Cambria" panose="02040503050406030204" pitchFamily="18" charset="0"/>
                <a:ea typeface="Cambria" panose="02040503050406030204" pitchFamily="18" charset="0"/>
              </a:rPr>
              <a:t>HOW</a:t>
            </a:r>
            <a:r>
              <a:rPr lang="en-US" sz="2000" dirty="0">
                <a:latin typeface="Cambria" panose="02040503050406030204" pitchFamily="18" charset="0"/>
                <a:ea typeface="Cambria" panose="02040503050406030204" pitchFamily="18" charset="0"/>
              </a:rPr>
              <a:t> the system should be implemented regardless of the DBMS. </a:t>
            </a:r>
          </a:p>
          <a:p>
            <a:pPr algn="just">
              <a:spcBef>
                <a:spcPts val="300"/>
              </a:spcBef>
              <a:defRPr/>
            </a:pPr>
            <a:r>
              <a:rPr lang="en-US" sz="2000" dirty="0">
                <a:latin typeface="Cambria" panose="02040503050406030204" pitchFamily="18" charset="0"/>
                <a:ea typeface="Cambria" panose="02040503050406030204" pitchFamily="18" charset="0"/>
              </a:rPr>
              <a:t>Define the structure of data elements and the relationships between them. </a:t>
            </a:r>
            <a:endParaRPr lang="en-US" sz="2000" dirty="0">
              <a:solidFill>
                <a:schemeClr val="accent2"/>
              </a:solidFill>
              <a:latin typeface="Cambria" panose="02040503050406030204" pitchFamily="18" charset="0"/>
              <a:ea typeface="Cambria" panose="02040503050406030204" pitchFamily="18" charset="0"/>
            </a:endParaRPr>
          </a:p>
          <a:p>
            <a:pPr marL="609600" indent="-609600" algn="just">
              <a:spcBef>
                <a:spcPts val="300"/>
              </a:spcBef>
              <a:buFontTx/>
              <a:buNone/>
              <a:defRPr/>
            </a:pPr>
            <a:r>
              <a:rPr lang="en-US" sz="2000" dirty="0">
                <a:latin typeface="Cambria" panose="02040503050406030204" pitchFamily="18" charset="0"/>
                <a:ea typeface="Cambria" panose="02040503050406030204" pitchFamily="18" charset="0"/>
              </a:rPr>
              <a:t>	a) Hierarchical Data Model</a:t>
            </a:r>
          </a:p>
          <a:p>
            <a:pPr marL="609600" indent="-609600" algn="just">
              <a:spcBef>
                <a:spcPts val="300"/>
              </a:spcBef>
              <a:buFontTx/>
              <a:buNone/>
              <a:defRPr/>
            </a:pPr>
            <a:r>
              <a:rPr lang="en-US" sz="2000" dirty="0">
                <a:latin typeface="Cambria" panose="02040503050406030204" pitchFamily="18" charset="0"/>
                <a:ea typeface="Cambria" panose="02040503050406030204" pitchFamily="18" charset="0"/>
              </a:rPr>
              <a:t>	b) Network Data Model</a:t>
            </a:r>
          </a:p>
          <a:p>
            <a:pPr marL="609600" indent="-609600" algn="just">
              <a:spcBef>
                <a:spcPts val="300"/>
              </a:spcBef>
              <a:buFontTx/>
              <a:buNone/>
              <a:defRPr/>
            </a:pPr>
            <a:r>
              <a:rPr lang="en-US" sz="2000" dirty="0">
                <a:latin typeface="Cambria" panose="02040503050406030204" pitchFamily="18" charset="0"/>
                <a:ea typeface="Cambria" panose="02040503050406030204" pitchFamily="18" charset="0"/>
              </a:rPr>
              <a:t>	c) Relational Data Model</a:t>
            </a:r>
          </a:p>
          <a:p>
            <a:pPr marL="0" indent="0" algn="just">
              <a:spcBef>
                <a:spcPts val="300"/>
              </a:spcBef>
              <a:buFontTx/>
              <a:buNone/>
              <a:defRPr/>
            </a:pPr>
            <a:r>
              <a:rPr lang="en-US" sz="2000" b="1" dirty="0">
                <a:solidFill>
                  <a:srgbClr val="0033CC"/>
                </a:solidFill>
                <a:latin typeface="Cambria" panose="02040503050406030204" pitchFamily="18" charset="0"/>
                <a:ea typeface="Cambria" panose="02040503050406030204" pitchFamily="18" charset="0"/>
              </a:rPr>
              <a:t>3. Internal Data Model</a:t>
            </a:r>
          </a:p>
          <a:p>
            <a:pPr algn="just">
              <a:spcBef>
                <a:spcPts val="300"/>
              </a:spcBef>
              <a:defRPr/>
            </a:pPr>
            <a:r>
              <a:rPr lang="en-US" sz="2000" dirty="0">
                <a:latin typeface="Cambria" panose="02040503050406030204" pitchFamily="18" charset="0"/>
                <a:ea typeface="Cambria" panose="02040503050406030204" pitchFamily="18" charset="0"/>
              </a:rPr>
              <a:t>Describes the database specific implementation of the data model</a:t>
            </a:r>
          </a:p>
          <a:p>
            <a:pPr marL="400050" lvl="1" indent="0" eaLnBrk="1" hangingPunct="1">
              <a:spcBef>
                <a:spcPts val="300"/>
              </a:spcBef>
              <a:buFontTx/>
              <a:buNone/>
              <a:defRPr/>
            </a:pPr>
            <a:r>
              <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Create table Product ( </a:t>
            </a:r>
          </a:p>
          <a:p>
            <a:pPr marL="400050" lvl="1" indent="0" eaLnBrk="1" hangingPunct="1">
              <a:spcBef>
                <a:spcPts val="300"/>
              </a:spcBef>
              <a:buFontTx/>
              <a:buNone/>
              <a:defRPr/>
            </a:pPr>
            <a:r>
              <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Prod-Id	Character(6) PRIMARY KEY,</a:t>
            </a:r>
          </a:p>
          <a:p>
            <a:pPr marL="400050" lvl="1" indent="0" eaLnBrk="1" hangingPunct="1">
              <a:spcBef>
                <a:spcPts val="300"/>
              </a:spcBef>
              <a:buFontTx/>
              <a:buNone/>
              <a:defRPr/>
            </a:pPr>
            <a:r>
              <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Prod-Name	Character(30), …);</a:t>
            </a:r>
          </a:p>
          <a:p>
            <a:pPr marL="0" indent="0" algn="just">
              <a:spcBef>
                <a:spcPts val="300"/>
              </a:spcBef>
              <a:buFontTx/>
              <a:buNone/>
              <a:defRPr/>
            </a:pPr>
            <a:r>
              <a:rPr lang="en-US" sz="2000" b="1" dirty="0">
                <a:solidFill>
                  <a:srgbClr val="0033CC"/>
                </a:solidFill>
                <a:latin typeface="Cambria" panose="02040503050406030204" pitchFamily="18" charset="0"/>
                <a:ea typeface="Cambria" panose="02040503050406030204" pitchFamily="18" charset="0"/>
              </a:rPr>
              <a:t>4. Physical Data Model</a:t>
            </a:r>
          </a:p>
          <a:p>
            <a:pPr algn="just">
              <a:spcBef>
                <a:spcPts val="300"/>
              </a:spcBef>
              <a:defRPr/>
            </a:pPr>
            <a:r>
              <a:rPr lang="en-US" sz="2000" dirty="0">
                <a:latin typeface="Cambria" panose="02040503050406030204" pitchFamily="18" charset="0"/>
                <a:ea typeface="Cambria" panose="02040503050406030204" pitchFamily="18" charset="0"/>
              </a:rPr>
              <a:t>Describes the way data is stored on storage media</a:t>
            </a:r>
          </a:p>
          <a:p>
            <a:pPr algn="just">
              <a:spcBef>
                <a:spcPts val="300"/>
              </a:spcBef>
              <a:defRPr/>
            </a:pPr>
            <a:r>
              <a:rPr lang="en-US" sz="2000" dirty="0">
                <a:latin typeface="Cambria" panose="02040503050406030204" pitchFamily="18" charset="0"/>
                <a:ea typeface="Cambria" panose="02040503050406030204" pitchFamily="18" charset="0"/>
              </a:rPr>
              <a:t>It requires the definition of both the storage devices and access methods.</a:t>
            </a:r>
          </a:p>
          <a:p>
            <a:pPr algn="just">
              <a:spcBef>
                <a:spcPts val="300"/>
              </a:spcBef>
              <a:defRPr/>
            </a:pPr>
            <a:endParaRPr lang="en-US" sz="2000" dirty="0">
              <a:latin typeface="Cambria" panose="02040503050406030204" pitchFamily="18" charset="0"/>
              <a:ea typeface="Cambria" panose="02040503050406030204" pitchFamily="18" charset="0"/>
            </a:endParaRPr>
          </a:p>
          <a:p>
            <a:pPr algn="just">
              <a:spcBef>
                <a:spcPts val="300"/>
              </a:spcBef>
              <a:defRPr/>
            </a:pPr>
            <a:endParaRPr lang="en-US" sz="20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56224BB9-EE45-DAB2-9F45-EA0D30020A2D}"/>
              </a:ext>
            </a:extLst>
          </p:cNvPr>
          <p:cNvSpPr>
            <a:spLocks noGrp="1"/>
          </p:cNvSpPr>
          <p:nvPr>
            <p:ph type="ftr" sz="quarter" idx="11"/>
          </p:nvPr>
        </p:nvSpPr>
        <p:spPr>
          <a:xfrm>
            <a:off x="2555776" y="6500192"/>
            <a:ext cx="4876800" cy="457200"/>
          </a:xfrm>
        </p:spPr>
        <p:txBody>
          <a:body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spTree>
    <p:extLst>
      <p:ext uri="{BB962C8B-B14F-4D97-AF65-F5344CB8AC3E}">
        <p14:creationId xmlns:p14="http://schemas.microsoft.com/office/powerpoint/2010/main" val="24351505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0F187-ECED-CE65-DFB5-03CE03C20777}"/>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8B2E6D46-32B6-A8B0-24BA-0DDFED7611C5}"/>
              </a:ext>
            </a:extLst>
          </p:cNvPr>
          <p:cNvSpPr>
            <a:spLocks noGrp="1" noChangeArrowheads="1"/>
          </p:cNvSpPr>
          <p:nvPr>
            <p:ph type="title"/>
          </p:nvPr>
        </p:nvSpPr>
        <p:spPr>
          <a:xfrm>
            <a:off x="323850" y="188640"/>
            <a:ext cx="6696422"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Database Development Life Cycle</a:t>
            </a:r>
          </a:p>
        </p:txBody>
      </p:sp>
      <p:sp>
        <p:nvSpPr>
          <p:cNvPr id="10243" name="Rectangle 3">
            <a:extLst>
              <a:ext uri="{FF2B5EF4-FFF2-40B4-BE49-F238E27FC236}">
                <a16:creationId xmlns:a16="http://schemas.microsoft.com/office/drawing/2014/main" id="{52058030-C5CD-35CA-40C1-A41CBA70B2AA}"/>
              </a:ext>
            </a:extLst>
          </p:cNvPr>
          <p:cNvSpPr>
            <a:spLocks noGrp="1" noChangeArrowheads="1"/>
          </p:cNvSpPr>
          <p:nvPr>
            <p:ph type="body" idx="1"/>
          </p:nvPr>
        </p:nvSpPr>
        <p:spPr>
          <a:xfrm>
            <a:off x="412751" y="692696"/>
            <a:ext cx="3787601" cy="5194300"/>
          </a:xfrm>
        </p:spPr>
        <p:txBody>
          <a:bodyPr/>
          <a:lstStyle/>
          <a:p>
            <a:pPr algn="just">
              <a:spcBef>
                <a:spcPts val="300"/>
              </a:spcBef>
              <a:defRPr/>
            </a:pPr>
            <a:r>
              <a:rPr lang="en-US" sz="2200" dirty="0">
                <a:latin typeface="Cambria" panose="02040503050406030204" pitchFamily="18" charset="0"/>
                <a:ea typeface="Cambria" panose="02040503050406030204" pitchFamily="18" charset="0"/>
              </a:rPr>
              <a:t>It is important to recognize that the stages of the database development life cycle are not strictly sequential, but involve some of amount of repetition of previous stages through feedback loops.</a:t>
            </a:r>
          </a:p>
          <a:p>
            <a:pPr algn="just">
              <a:spcBef>
                <a:spcPts val="300"/>
              </a:spcBef>
              <a:defRPr/>
            </a:pPr>
            <a:r>
              <a:rPr lang="en-US" sz="2200" dirty="0">
                <a:latin typeface="Cambria" panose="02040503050406030204" pitchFamily="18" charset="0"/>
                <a:ea typeface="Cambria" panose="02040503050406030204" pitchFamily="18" charset="0"/>
              </a:rPr>
              <a:t>For example, problems encountered during database design may necessitate additional requirements collection and analysis. </a:t>
            </a:r>
          </a:p>
          <a:p>
            <a:pPr algn="just">
              <a:spcBef>
                <a:spcPts val="300"/>
              </a:spcBef>
              <a:defRPr/>
            </a:pPr>
            <a:endParaRPr lang="en-US" sz="2200" dirty="0">
              <a:latin typeface="Cambria" panose="02040503050406030204" pitchFamily="18" charset="0"/>
              <a:ea typeface="Cambria" panose="02040503050406030204" pitchFamily="18" charset="0"/>
            </a:endParaRPr>
          </a:p>
          <a:p>
            <a:pPr algn="just">
              <a:spcBef>
                <a:spcPts val="300"/>
              </a:spcBef>
              <a:defRPr/>
            </a:pPr>
            <a:endParaRPr lang="en-US" sz="22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D1646E51-32E0-4010-B804-C07884B9A926}"/>
              </a:ext>
            </a:extLst>
          </p:cNvPr>
          <p:cNvSpPr>
            <a:spLocks noGrp="1"/>
          </p:cNvSpPr>
          <p:nvPr>
            <p:ph type="ftr" sz="quarter" idx="11"/>
          </p:nvPr>
        </p:nvSpPr>
        <p:spPr>
          <a:xfrm>
            <a:off x="2555776" y="6500192"/>
            <a:ext cx="4876800" cy="457200"/>
          </a:xfrm>
        </p:spPr>
        <p:txBody>
          <a:body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sp>
        <p:nvSpPr>
          <p:cNvPr id="2" name="Text Box 5">
            <a:extLst>
              <a:ext uri="{FF2B5EF4-FFF2-40B4-BE49-F238E27FC236}">
                <a16:creationId xmlns:a16="http://schemas.microsoft.com/office/drawing/2014/main" id="{E7AC7B4E-2BA8-14E5-7BED-264E6D0601FC}"/>
              </a:ext>
            </a:extLst>
          </p:cNvPr>
          <p:cNvSpPr txBox="1">
            <a:spLocks noChangeArrowheads="1"/>
          </p:cNvSpPr>
          <p:nvPr/>
        </p:nvSpPr>
        <p:spPr bwMode="auto">
          <a:xfrm>
            <a:off x="4439748" y="897980"/>
            <a:ext cx="4176960" cy="409575"/>
          </a:xfrm>
          <a:prstGeom prst="rect">
            <a:avLst/>
          </a:prstGeom>
          <a:solidFill>
            <a:schemeClr val="accent1">
              <a:lumMod val="60000"/>
              <a:lumOff val="40000"/>
            </a:schemeClr>
          </a:solidFill>
          <a:ln w="12700">
            <a:solidFill>
              <a:schemeClr val="tx1"/>
            </a:solidFill>
            <a:miter lim="800000"/>
            <a:headEnd/>
            <a:tailEnd/>
          </a:ln>
        </p:spPr>
        <p:txBody>
          <a:bodyPr wrap="squar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000"/>
              <a:t>Analyze User Environment</a:t>
            </a:r>
          </a:p>
        </p:txBody>
      </p:sp>
      <p:sp>
        <p:nvSpPr>
          <p:cNvPr id="4" name="Text Box 6">
            <a:extLst>
              <a:ext uri="{FF2B5EF4-FFF2-40B4-BE49-F238E27FC236}">
                <a16:creationId xmlns:a16="http://schemas.microsoft.com/office/drawing/2014/main" id="{B127FD06-04D1-1AFB-C367-5DEA956723FA}"/>
              </a:ext>
            </a:extLst>
          </p:cNvPr>
          <p:cNvSpPr txBox="1">
            <a:spLocks noChangeArrowheads="1"/>
          </p:cNvSpPr>
          <p:nvPr/>
        </p:nvSpPr>
        <p:spPr bwMode="auto">
          <a:xfrm>
            <a:off x="4439748" y="1618705"/>
            <a:ext cx="4176960" cy="409575"/>
          </a:xfrm>
          <a:prstGeom prst="rect">
            <a:avLst/>
          </a:prstGeom>
          <a:solidFill>
            <a:schemeClr val="accent1">
              <a:lumMod val="60000"/>
              <a:lumOff val="40000"/>
            </a:schemeClr>
          </a:solidFill>
          <a:ln w="12700">
            <a:solidFill>
              <a:schemeClr val="tx1"/>
            </a:solidFill>
            <a:miter lim="800000"/>
            <a:headEnd/>
            <a:tailEnd/>
          </a:ln>
        </p:spPr>
        <p:txBody>
          <a:bodyPr wrap="squar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000"/>
              <a:t>Develop Conceptual Model</a:t>
            </a:r>
          </a:p>
        </p:txBody>
      </p:sp>
      <p:sp>
        <p:nvSpPr>
          <p:cNvPr id="5" name="Text Box 7">
            <a:extLst>
              <a:ext uri="{FF2B5EF4-FFF2-40B4-BE49-F238E27FC236}">
                <a16:creationId xmlns:a16="http://schemas.microsoft.com/office/drawing/2014/main" id="{80DCCC5B-3231-138B-5C3E-B84DA1EBFA5D}"/>
              </a:ext>
            </a:extLst>
          </p:cNvPr>
          <p:cNvSpPr txBox="1">
            <a:spLocks noChangeArrowheads="1"/>
          </p:cNvSpPr>
          <p:nvPr/>
        </p:nvSpPr>
        <p:spPr bwMode="auto">
          <a:xfrm>
            <a:off x="4439748" y="2267993"/>
            <a:ext cx="4176960" cy="409575"/>
          </a:xfrm>
          <a:prstGeom prst="rect">
            <a:avLst/>
          </a:prstGeom>
          <a:solidFill>
            <a:schemeClr val="accent1">
              <a:lumMod val="60000"/>
              <a:lumOff val="40000"/>
            </a:schemeClr>
          </a:solidFill>
          <a:ln w="12700">
            <a:solidFill>
              <a:schemeClr val="tx1"/>
            </a:solidFill>
            <a:miter lim="800000"/>
            <a:headEnd/>
            <a:tailEnd/>
          </a:ln>
        </p:spPr>
        <p:txBody>
          <a:bodyPr wrap="squar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000" dirty="0"/>
              <a:t>Map Conceptual Model into Logical</a:t>
            </a:r>
          </a:p>
        </p:txBody>
      </p:sp>
      <p:sp>
        <p:nvSpPr>
          <p:cNvPr id="6" name="Text Box 8">
            <a:extLst>
              <a:ext uri="{FF2B5EF4-FFF2-40B4-BE49-F238E27FC236}">
                <a16:creationId xmlns:a16="http://schemas.microsoft.com/office/drawing/2014/main" id="{85BF78CF-2893-DF27-0D45-19DE5B69DA55}"/>
              </a:ext>
            </a:extLst>
          </p:cNvPr>
          <p:cNvSpPr txBox="1">
            <a:spLocks noChangeArrowheads="1"/>
          </p:cNvSpPr>
          <p:nvPr/>
        </p:nvSpPr>
        <p:spPr bwMode="auto">
          <a:xfrm>
            <a:off x="4439748" y="5676355"/>
            <a:ext cx="4176960" cy="409575"/>
          </a:xfrm>
          <a:prstGeom prst="rect">
            <a:avLst/>
          </a:prstGeom>
          <a:solidFill>
            <a:schemeClr val="accent1">
              <a:lumMod val="60000"/>
              <a:lumOff val="40000"/>
            </a:schemeClr>
          </a:solidFill>
          <a:ln w="12700">
            <a:solidFill>
              <a:schemeClr val="tx1"/>
            </a:solidFill>
            <a:miter lim="800000"/>
            <a:headEnd/>
            <a:tailEnd/>
          </a:ln>
        </p:spPr>
        <p:txBody>
          <a:bodyPr wrap="squar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000"/>
              <a:t>Operational Maintenance</a:t>
            </a:r>
          </a:p>
        </p:txBody>
      </p:sp>
      <p:sp>
        <p:nvSpPr>
          <p:cNvPr id="7" name="Text Box 10">
            <a:extLst>
              <a:ext uri="{FF2B5EF4-FFF2-40B4-BE49-F238E27FC236}">
                <a16:creationId xmlns:a16="http://schemas.microsoft.com/office/drawing/2014/main" id="{4E1389D6-E7F9-1CAD-FA0D-BAC77DB4B90A}"/>
              </a:ext>
            </a:extLst>
          </p:cNvPr>
          <p:cNvSpPr txBox="1">
            <a:spLocks noChangeArrowheads="1"/>
          </p:cNvSpPr>
          <p:nvPr/>
        </p:nvSpPr>
        <p:spPr bwMode="auto">
          <a:xfrm>
            <a:off x="4439748" y="4380955"/>
            <a:ext cx="4176960" cy="409575"/>
          </a:xfrm>
          <a:prstGeom prst="rect">
            <a:avLst/>
          </a:prstGeom>
          <a:solidFill>
            <a:schemeClr val="accent1">
              <a:lumMod val="60000"/>
              <a:lumOff val="40000"/>
            </a:schemeClr>
          </a:solidFill>
          <a:ln w="12700">
            <a:solidFill>
              <a:schemeClr val="tx1"/>
            </a:solidFill>
            <a:miter lim="800000"/>
            <a:headEnd/>
            <a:tailEnd/>
          </a:ln>
        </p:spPr>
        <p:txBody>
          <a:bodyPr wrap="squar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000"/>
              <a:t>Implement System</a:t>
            </a:r>
          </a:p>
        </p:txBody>
      </p:sp>
      <p:sp>
        <p:nvSpPr>
          <p:cNvPr id="8" name="Text Box 11">
            <a:extLst>
              <a:ext uri="{FF2B5EF4-FFF2-40B4-BE49-F238E27FC236}">
                <a16:creationId xmlns:a16="http://schemas.microsoft.com/office/drawing/2014/main" id="{79CF3765-5458-10CE-34BB-E91F82A745CD}"/>
              </a:ext>
            </a:extLst>
          </p:cNvPr>
          <p:cNvSpPr txBox="1">
            <a:spLocks noChangeArrowheads="1"/>
          </p:cNvSpPr>
          <p:nvPr/>
        </p:nvSpPr>
        <p:spPr bwMode="auto">
          <a:xfrm>
            <a:off x="4439748" y="3707855"/>
            <a:ext cx="4176960" cy="409575"/>
          </a:xfrm>
          <a:prstGeom prst="rect">
            <a:avLst/>
          </a:prstGeom>
          <a:solidFill>
            <a:schemeClr val="accent1">
              <a:lumMod val="60000"/>
              <a:lumOff val="40000"/>
            </a:schemeClr>
          </a:solidFill>
          <a:ln w="12700">
            <a:solidFill>
              <a:schemeClr val="tx1"/>
            </a:solidFill>
            <a:miter lim="800000"/>
            <a:headEnd/>
            <a:tailEnd/>
          </a:ln>
        </p:spPr>
        <p:txBody>
          <a:bodyPr wrap="squar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000"/>
              <a:t>Develop Physical Design</a:t>
            </a:r>
          </a:p>
        </p:txBody>
      </p:sp>
      <p:sp>
        <p:nvSpPr>
          <p:cNvPr id="9" name="Text Box 12">
            <a:extLst>
              <a:ext uri="{FF2B5EF4-FFF2-40B4-BE49-F238E27FC236}">
                <a16:creationId xmlns:a16="http://schemas.microsoft.com/office/drawing/2014/main" id="{A327C87E-865C-CF17-5C4B-13A45D44BF93}"/>
              </a:ext>
            </a:extLst>
          </p:cNvPr>
          <p:cNvSpPr txBox="1">
            <a:spLocks noChangeArrowheads="1"/>
          </p:cNvSpPr>
          <p:nvPr/>
        </p:nvSpPr>
        <p:spPr bwMode="auto">
          <a:xfrm>
            <a:off x="4438161" y="2987130"/>
            <a:ext cx="4176960" cy="409575"/>
          </a:xfrm>
          <a:prstGeom prst="rect">
            <a:avLst/>
          </a:prstGeom>
          <a:solidFill>
            <a:schemeClr val="accent1">
              <a:lumMod val="60000"/>
              <a:lumOff val="40000"/>
            </a:schemeClr>
          </a:solidFill>
          <a:ln w="12700">
            <a:solidFill>
              <a:schemeClr val="tx1"/>
            </a:solidFill>
            <a:miter lim="800000"/>
            <a:headEnd/>
            <a:tailEnd/>
          </a:ln>
        </p:spPr>
        <p:txBody>
          <a:bodyPr wrap="squar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000"/>
              <a:t>Choose DBMS</a:t>
            </a:r>
          </a:p>
        </p:txBody>
      </p:sp>
      <p:sp>
        <p:nvSpPr>
          <p:cNvPr id="10" name="Text Box 13">
            <a:extLst>
              <a:ext uri="{FF2B5EF4-FFF2-40B4-BE49-F238E27FC236}">
                <a16:creationId xmlns:a16="http://schemas.microsoft.com/office/drawing/2014/main" id="{A901071E-B6E5-7689-A3AC-F5C4F8B51929}"/>
              </a:ext>
            </a:extLst>
          </p:cNvPr>
          <p:cNvSpPr txBox="1">
            <a:spLocks noChangeArrowheads="1"/>
          </p:cNvSpPr>
          <p:nvPr/>
        </p:nvSpPr>
        <p:spPr bwMode="auto">
          <a:xfrm>
            <a:off x="4439748" y="5030243"/>
            <a:ext cx="4176960" cy="409575"/>
          </a:xfrm>
          <a:prstGeom prst="rect">
            <a:avLst/>
          </a:prstGeom>
          <a:solidFill>
            <a:schemeClr val="accent1">
              <a:lumMod val="60000"/>
              <a:lumOff val="40000"/>
            </a:schemeClr>
          </a:solidFill>
          <a:ln w="12700">
            <a:solidFill>
              <a:schemeClr val="tx1"/>
            </a:solidFill>
            <a:miter lim="800000"/>
            <a:headEnd/>
            <a:tailEnd/>
          </a:ln>
        </p:spPr>
        <p:txBody>
          <a:bodyPr wrap="squar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000"/>
              <a:t>Test System</a:t>
            </a:r>
          </a:p>
        </p:txBody>
      </p:sp>
      <p:sp>
        <p:nvSpPr>
          <p:cNvPr id="11" name="Line 14">
            <a:extLst>
              <a:ext uri="{FF2B5EF4-FFF2-40B4-BE49-F238E27FC236}">
                <a16:creationId xmlns:a16="http://schemas.microsoft.com/office/drawing/2014/main" id="{480220A1-60EF-D6A9-DC5F-834461151A93}"/>
              </a:ext>
            </a:extLst>
          </p:cNvPr>
          <p:cNvSpPr>
            <a:spLocks noChangeShapeType="1"/>
          </p:cNvSpPr>
          <p:nvPr/>
        </p:nvSpPr>
        <p:spPr bwMode="auto">
          <a:xfrm>
            <a:off x="6516216" y="1331368"/>
            <a:ext cx="0" cy="28733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 name="Line 15">
            <a:extLst>
              <a:ext uri="{FF2B5EF4-FFF2-40B4-BE49-F238E27FC236}">
                <a16:creationId xmlns:a16="http://schemas.microsoft.com/office/drawing/2014/main" id="{7C846255-AAB8-6F88-EF4C-9DE005C26A94}"/>
              </a:ext>
            </a:extLst>
          </p:cNvPr>
          <p:cNvSpPr>
            <a:spLocks noChangeShapeType="1"/>
          </p:cNvSpPr>
          <p:nvPr/>
        </p:nvSpPr>
        <p:spPr bwMode="auto">
          <a:xfrm>
            <a:off x="6516216" y="1979068"/>
            <a:ext cx="0" cy="28733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 name="Line 16">
            <a:extLst>
              <a:ext uri="{FF2B5EF4-FFF2-40B4-BE49-F238E27FC236}">
                <a16:creationId xmlns:a16="http://schemas.microsoft.com/office/drawing/2014/main" id="{846B3442-AAC7-A6E6-B333-FACF05958279}"/>
              </a:ext>
            </a:extLst>
          </p:cNvPr>
          <p:cNvSpPr>
            <a:spLocks noChangeShapeType="1"/>
          </p:cNvSpPr>
          <p:nvPr/>
        </p:nvSpPr>
        <p:spPr bwMode="auto">
          <a:xfrm>
            <a:off x="6516216" y="2699793"/>
            <a:ext cx="0" cy="28733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 name="Line 17">
            <a:extLst>
              <a:ext uri="{FF2B5EF4-FFF2-40B4-BE49-F238E27FC236}">
                <a16:creationId xmlns:a16="http://schemas.microsoft.com/office/drawing/2014/main" id="{EF0E0CA9-AC70-CC42-57C5-07BBB971533A}"/>
              </a:ext>
            </a:extLst>
          </p:cNvPr>
          <p:cNvSpPr>
            <a:spLocks noChangeShapeType="1"/>
          </p:cNvSpPr>
          <p:nvPr/>
        </p:nvSpPr>
        <p:spPr bwMode="auto">
          <a:xfrm>
            <a:off x="6516216" y="3420518"/>
            <a:ext cx="0" cy="28733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 name="Line 18">
            <a:extLst>
              <a:ext uri="{FF2B5EF4-FFF2-40B4-BE49-F238E27FC236}">
                <a16:creationId xmlns:a16="http://schemas.microsoft.com/office/drawing/2014/main" id="{FEDCBC31-ECC9-D6FC-6406-8AA6EDF662C6}"/>
              </a:ext>
            </a:extLst>
          </p:cNvPr>
          <p:cNvSpPr>
            <a:spLocks noChangeShapeType="1"/>
          </p:cNvSpPr>
          <p:nvPr/>
        </p:nvSpPr>
        <p:spPr bwMode="auto">
          <a:xfrm>
            <a:off x="6516216" y="4139655"/>
            <a:ext cx="0" cy="2873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 name="Line 21">
            <a:extLst>
              <a:ext uri="{FF2B5EF4-FFF2-40B4-BE49-F238E27FC236}">
                <a16:creationId xmlns:a16="http://schemas.microsoft.com/office/drawing/2014/main" id="{D49A19CB-B202-8239-CBC0-CF97B89ECA9A}"/>
              </a:ext>
            </a:extLst>
          </p:cNvPr>
          <p:cNvSpPr>
            <a:spLocks noChangeShapeType="1"/>
          </p:cNvSpPr>
          <p:nvPr/>
        </p:nvSpPr>
        <p:spPr bwMode="auto">
          <a:xfrm>
            <a:off x="6516216" y="4787355"/>
            <a:ext cx="0" cy="2873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 name="Line 22">
            <a:extLst>
              <a:ext uri="{FF2B5EF4-FFF2-40B4-BE49-F238E27FC236}">
                <a16:creationId xmlns:a16="http://schemas.microsoft.com/office/drawing/2014/main" id="{C6A1EE25-ADE8-6701-F71C-EAC7DFA01BE1}"/>
              </a:ext>
            </a:extLst>
          </p:cNvPr>
          <p:cNvSpPr>
            <a:spLocks noChangeShapeType="1"/>
          </p:cNvSpPr>
          <p:nvPr/>
        </p:nvSpPr>
        <p:spPr bwMode="auto">
          <a:xfrm>
            <a:off x="6516216" y="5435055"/>
            <a:ext cx="0" cy="2873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 name="Line 24">
            <a:extLst>
              <a:ext uri="{FF2B5EF4-FFF2-40B4-BE49-F238E27FC236}">
                <a16:creationId xmlns:a16="http://schemas.microsoft.com/office/drawing/2014/main" id="{1D8FA6CA-23BF-735A-9D69-86F488A4430E}"/>
              </a:ext>
            </a:extLst>
          </p:cNvPr>
          <p:cNvSpPr>
            <a:spLocks noChangeShapeType="1"/>
          </p:cNvSpPr>
          <p:nvPr/>
        </p:nvSpPr>
        <p:spPr bwMode="auto">
          <a:xfrm flipV="1">
            <a:off x="8803271" y="1115465"/>
            <a:ext cx="27378" cy="58206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 name="Line 26">
            <a:extLst>
              <a:ext uri="{FF2B5EF4-FFF2-40B4-BE49-F238E27FC236}">
                <a16:creationId xmlns:a16="http://schemas.microsoft.com/office/drawing/2014/main" id="{B769EE24-A4CF-CDD9-E3A0-0983899CC30B}"/>
              </a:ext>
            </a:extLst>
          </p:cNvPr>
          <p:cNvSpPr>
            <a:spLocks noChangeShapeType="1"/>
          </p:cNvSpPr>
          <p:nvPr/>
        </p:nvSpPr>
        <p:spPr bwMode="auto">
          <a:xfrm flipH="1" flipV="1">
            <a:off x="8600936" y="1115467"/>
            <a:ext cx="239891" cy="486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 name="Line 27">
            <a:extLst>
              <a:ext uri="{FF2B5EF4-FFF2-40B4-BE49-F238E27FC236}">
                <a16:creationId xmlns:a16="http://schemas.microsoft.com/office/drawing/2014/main" id="{985F0727-1265-DE2B-7947-5E7249FB39B8}"/>
              </a:ext>
            </a:extLst>
          </p:cNvPr>
          <p:cNvSpPr>
            <a:spLocks noChangeShapeType="1"/>
          </p:cNvSpPr>
          <p:nvPr/>
        </p:nvSpPr>
        <p:spPr bwMode="auto">
          <a:xfrm flipV="1">
            <a:off x="8614625" y="2482304"/>
            <a:ext cx="18864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Line 28">
            <a:extLst>
              <a:ext uri="{FF2B5EF4-FFF2-40B4-BE49-F238E27FC236}">
                <a16:creationId xmlns:a16="http://schemas.microsoft.com/office/drawing/2014/main" id="{0866F90F-D765-7191-2FA4-ABF75CD08D16}"/>
              </a:ext>
            </a:extLst>
          </p:cNvPr>
          <p:cNvSpPr>
            <a:spLocks noChangeShapeType="1"/>
          </p:cNvSpPr>
          <p:nvPr/>
        </p:nvSpPr>
        <p:spPr bwMode="auto">
          <a:xfrm flipV="1">
            <a:off x="8803271" y="1916831"/>
            <a:ext cx="27378" cy="201462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 name="Line 31">
            <a:extLst>
              <a:ext uri="{FF2B5EF4-FFF2-40B4-BE49-F238E27FC236}">
                <a16:creationId xmlns:a16="http://schemas.microsoft.com/office/drawing/2014/main" id="{ACBC3FEC-B031-0C51-6334-A0EA80BFBE43}"/>
              </a:ext>
            </a:extLst>
          </p:cNvPr>
          <p:cNvSpPr>
            <a:spLocks noChangeShapeType="1"/>
          </p:cNvSpPr>
          <p:nvPr/>
        </p:nvSpPr>
        <p:spPr bwMode="auto">
          <a:xfrm flipH="1">
            <a:off x="8587249" y="966145"/>
            <a:ext cx="377239" cy="486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 name="Line 32">
            <a:extLst>
              <a:ext uri="{FF2B5EF4-FFF2-40B4-BE49-F238E27FC236}">
                <a16:creationId xmlns:a16="http://schemas.microsoft.com/office/drawing/2014/main" id="{56BE0FF5-E95B-C8F0-57BC-CDFCEF3798F0}"/>
              </a:ext>
            </a:extLst>
          </p:cNvPr>
          <p:cNvSpPr>
            <a:spLocks noChangeShapeType="1"/>
          </p:cNvSpPr>
          <p:nvPr/>
        </p:nvSpPr>
        <p:spPr bwMode="auto">
          <a:xfrm flipV="1">
            <a:off x="8902657" y="971003"/>
            <a:ext cx="61831" cy="49688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 name="Line 33">
            <a:extLst>
              <a:ext uri="{FF2B5EF4-FFF2-40B4-BE49-F238E27FC236}">
                <a16:creationId xmlns:a16="http://schemas.microsoft.com/office/drawing/2014/main" id="{790B9C70-5657-9038-058A-16E35051BE98}"/>
              </a:ext>
            </a:extLst>
          </p:cNvPr>
          <p:cNvSpPr>
            <a:spLocks noChangeShapeType="1"/>
          </p:cNvSpPr>
          <p:nvPr/>
        </p:nvSpPr>
        <p:spPr bwMode="auto">
          <a:xfrm flipV="1">
            <a:off x="8614626" y="5935020"/>
            <a:ext cx="288031" cy="48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 name="Line 27">
            <a:extLst>
              <a:ext uri="{FF2B5EF4-FFF2-40B4-BE49-F238E27FC236}">
                <a16:creationId xmlns:a16="http://schemas.microsoft.com/office/drawing/2014/main" id="{7E56E53E-90A4-754D-A672-40D15C2795ED}"/>
              </a:ext>
            </a:extLst>
          </p:cNvPr>
          <p:cNvSpPr>
            <a:spLocks noChangeShapeType="1"/>
          </p:cNvSpPr>
          <p:nvPr/>
        </p:nvSpPr>
        <p:spPr bwMode="auto">
          <a:xfrm flipV="1">
            <a:off x="8614625" y="1697531"/>
            <a:ext cx="188646" cy="486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 name="Line 27">
            <a:extLst>
              <a:ext uri="{FF2B5EF4-FFF2-40B4-BE49-F238E27FC236}">
                <a16:creationId xmlns:a16="http://schemas.microsoft.com/office/drawing/2014/main" id="{672D6047-F2BA-F8AF-2C21-CE74737B1C1E}"/>
              </a:ext>
            </a:extLst>
          </p:cNvPr>
          <p:cNvSpPr>
            <a:spLocks noChangeShapeType="1"/>
          </p:cNvSpPr>
          <p:nvPr/>
        </p:nvSpPr>
        <p:spPr bwMode="auto">
          <a:xfrm flipV="1">
            <a:off x="8614625" y="3931467"/>
            <a:ext cx="167633" cy="158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Line 26">
            <a:extLst>
              <a:ext uri="{FF2B5EF4-FFF2-40B4-BE49-F238E27FC236}">
                <a16:creationId xmlns:a16="http://schemas.microsoft.com/office/drawing/2014/main" id="{CB64F82E-1CAA-A0D2-550D-BEA2589E959C}"/>
              </a:ext>
            </a:extLst>
          </p:cNvPr>
          <p:cNvSpPr>
            <a:spLocks noChangeShapeType="1"/>
          </p:cNvSpPr>
          <p:nvPr/>
        </p:nvSpPr>
        <p:spPr bwMode="auto">
          <a:xfrm flipH="1" flipV="1">
            <a:off x="8614625" y="1911972"/>
            <a:ext cx="239891" cy="486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 name="Slide Number Placeholder 23">
            <a:extLst>
              <a:ext uri="{FF2B5EF4-FFF2-40B4-BE49-F238E27FC236}">
                <a16:creationId xmlns:a16="http://schemas.microsoft.com/office/drawing/2014/main" id="{67C285A4-A042-36F5-3362-1A271751BE7D}"/>
              </a:ext>
            </a:extLst>
          </p:cNvPr>
          <p:cNvSpPr>
            <a:spLocks noGrp="1"/>
          </p:cNvSpPr>
          <p:nvPr>
            <p:ph type="sldNum" sz="quarter" idx="12"/>
          </p:nvPr>
        </p:nvSpPr>
        <p:spPr>
          <a:xfrm>
            <a:off x="8507288" y="6309320"/>
            <a:ext cx="457200" cy="457200"/>
          </a:xfrm>
        </p:spPr>
        <p:txBody>
          <a:bodyPr/>
          <a:lstStyle/>
          <a:p>
            <a:pPr>
              <a:defRPr/>
            </a:pPr>
            <a:fld id="{110F9843-0372-4357-99AD-419BEB3ABF28}" type="slidenum">
              <a:rPr lang="en-US" smtClean="0"/>
              <a:pPr>
                <a:defRPr/>
              </a:pPr>
              <a:t>5</a:t>
            </a:fld>
            <a:endParaRPr lang="en-US"/>
          </a:p>
        </p:txBody>
      </p:sp>
    </p:spTree>
    <p:extLst>
      <p:ext uri="{BB962C8B-B14F-4D97-AF65-F5344CB8AC3E}">
        <p14:creationId xmlns:p14="http://schemas.microsoft.com/office/powerpoint/2010/main" val="319877473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C5ED0-C53F-6E5A-EEC6-3C054CDF3C21}"/>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0100165F-D5D9-0A93-DE4C-8ADC8B89925B}"/>
              </a:ext>
            </a:extLst>
          </p:cNvPr>
          <p:cNvSpPr>
            <a:spLocks noGrp="1" noChangeArrowheads="1"/>
          </p:cNvSpPr>
          <p:nvPr>
            <p:ph type="title"/>
          </p:nvPr>
        </p:nvSpPr>
        <p:spPr>
          <a:xfrm>
            <a:off x="323850" y="189458"/>
            <a:ext cx="4122738"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System Models</a:t>
            </a:r>
          </a:p>
        </p:txBody>
      </p:sp>
      <p:sp>
        <p:nvSpPr>
          <p:cNvPr id="10243" name="Rectangle 3">
            <a:extLst>
              <a:ext uri="{FF2B5EF4-FFF2-40B4-BE49-F238E27FC236}">
                <a16:creationId xmlns:a16="http://schemas.microsoft.com/office/drawing/2014/main" id="{0CDD0806-F979-DD49-0CF3-0276894F36CF}"/>
              </a:ext>
            </a:extLst>
          </p:cNvPr>
          <p:cNvSpPr>
            <a:spLocks noGrp="1" noChangeArrowheads="1"/>
          </p:cNvSpPr>
          <p:nvPr>
            <p:ph type="body" idx="1"/>
          </p:nvPr>
        </p:nvSpPr>
        <p:spPr>
          <a:xfrm>
            <a:off x="412751" y="620688"/>
            <a:ext cx="8569325" cy="5194300"/>
          </a:xfrm>
        </p:spPr>
        <p:txBody>
          <a:bodyPr/>
          <a:lstStyle/>
          <a:p>
            <a:pPr algn="just">
              <a:spcBef>
                <a:spcPts val="300"/>
              </a:spcBef>
              <a:defRPr/>
            </a:pPr>
            <a:r>
              <a:rPr lang="en-US" sz="2200" dirty="0">
                <a:latin typeface="Cambria" panose="02040503050406030204" pitchFamily="18" charset="0"/>
                <a:ea typeface="Cambria" panose="02040503050406030204" pitchFamily="18" charset="0"/>
              </a:rPr>
              <a:t>Webster’s Dictionary defines model as a “description or analogy used to visualize something that cant be directly observed”.</a:t>
            </a:r>
          </a:p>
          <a:p>
            <a:pPr algn="just">
              <a:spcBef>
                <a:spcPts val="300"/>
              </a:spcBef>
              <a:defRPr/>
            </a:pPr>
            <a:r>
              <a:rPr lang="en-US" sz="2200" dirty="0">
                <a:latin typeface="Cambria" panose="02040503050406030204" pitchFamily="18" charset="0"/>
                <a:ea typeface="Cambria" panose="02040503050406030204" pitchFamily="18" charset="0"/>
              </a:rPr>
              <a:t>Models are abstraction of a more complex real-world object or event. </a:t>
            </a:r>
          </a:p>
          <a:p>
            <a:pPr algn="just">
              <a:spcBef>
                <a:spcPts val="300"/>
              </a:spcBef>
              <a:defRPr/>
            </a:pPr>
            <a:r>
              <a:rPr lang="en-US" sz="2200" dirty="0">
                <a:latin typeface="Cambria" panose="02040503050406030204" pitchFamily="18" charset="0"/>
                <a:ea typeface="Cambria" panose="02040503050406030204" pitchFamily="18" charset="0"/>
              </a:rPr>
              <a:t>The System models are the graphical representation of a System. </a:t>
            </a:r>
          </a:p>
          <a:p>
            <a:pPr algn="just">
              <a:spcBef>
                <a:spcPts val="300"/>
              </a:spcBef>
              <a:defRPr/>
            </a:pPr>
            <a:r>
              <a:rPr lang="en-US" sz="2200" dirty="0">
                <a:latin typeface="Cambria" panose="02040503050406030204" pitchFamily="18" charset="0"/>
                <a:ea typeface="Cambria" panose="02040503050406030204" pitchFamily="18" charset="0"/>
              </a:rPr>
              <a:t>Models are more understandable than detailed natural language description of the system. </a:t>
            </a:r>
          </a:p>
          <a:p>
            <a:pPr algn="just">
              <a:spcBef>
                <a:spcPts val="300"/>
              </a:spcBef>
              <a:defRPr/>
            </a:pPr>
            <a:r>
              <a:rPr lang="en-US" sz="2200" dirty="0">
                <a:latin typeface="Cambria" panose="02040503050406030204" pitchFamily="18" charset="0"/>
                <a:ea typeface="Cambria" panose="02040503050406030204" pitchFamily="18" charset="0"/>
              </a:rPr>
              <a:t>Model is an effective communication tool use for communication with different stakeholders of the system as per their needs.</a:t>
            </a:r>
          </a:p>
          <a:p>
            <a:pPr algn="just">
              <a:spcBef>
                <a:spcPts val="300"/>
              </a:spcBef>
              <a:defRPr/>
            </a:pPr>
            <a:r>
              <a:rPr lang="en-US" sz="2200" dirty="0">
                <a:latin typeface="Cambria" panose="02040503050406030204" pitchFamily="18" charset="0"/>
                <a:ea typeface="Cambria" panose="02040503050406030204" pitchFamily="18" charset="0"/>
              </a:rPr>
              <a:t>Models are an abstraction of the system. It leaves out details. </a:t>
            </a:r>
          </a:p>
          <a:p>
            <a:pPr algn="just">
              <a:spcBef>
                <a:spcPts val="300"/>
              </a:spcBef>
              <a:defRPr/>
            </a:pPr>
            <a:r>
              <a:rPr lang="en-US" sz="2200" dirty="0">
                <a:latin typeface="Cambria" panose="02040503050406030204" pitchFamily="18" charset="0"/>
                <a:ea typeface="Cambria" panose="02040503050406030204" pitchFamily="18" charset="0"/>
              </a:rPr>
              <a:t>Models are helpful for:</a:t>
            </a:r>
          </a:p>
          <a:p>
            <a:pPr lvl="1" algn="just">
              <a:spcBef>
                <a:spcPts val="300"/>
              </a:spcBef>
              <a:defRPr/>
            </a:pPr>
            <a:r>
              <a:rPr lang="en-US" sz="2200" dirty="0">
                <a:solidFill>
                  <a:srgbClr val="FF0000"/>
                </a:solidFill>
                <a:latin typeface="Cambria" panose="02040503050406030204" pitchFamily="18" charset="0"/>
                <a:ea typeface="Cambria" panose="02040503050406030204" pitchFamily="18" charset="0"/>
              </a:rPr>
              <a:t>Testing a physical entity before building it</a:t>
            </a:r>
          </a:p>
          <a:p>
            <a:pPr lvl="1" algn="just">
              <a:spcBef>
                <a:spcPts val="300"/>
              </a:spcBef>
              <a:defRPr/>
            </a:pPr>
            <a:r>
              <a:rPr lang="en-US" sz="2200" dirty="0">
                <a:solidFill>
                  <a:srgbClr val="FF0000"/>
                </a:solidFill>
                <a:latin typeface="Cambria" panose="02040503050406030204" pitchFamily="18" charset="0"/>
                <a:ea typeface="Cambria" panose="02040503050406030204" pitchFamily="18" charset="0"/>
              </a:rPr>
              <a:t>Communication with the customer</a:t>
            </a:r>
          </a:p>
          <a:p>
            <a:pPr lvl="1" algn="just">
              <a:spcBef>
                <a:spcPts val="300"/>
              </a:spcBef>
              <a:defRPr/>
            </a:pPr>
            <a:r>
              <a:rPr lang="en-US" sz="2200" dirty="0">
                <a:solidFill>
                  <a:srgbClr val="FF0000"/>
                </a:solidFill>
                <a:latin typeface="Cambria" panose="02040503050406030204" pitchFamily="18" charset="0"/>
                <a:ea typeface="Cambria" panose="02040503050406030204" pitchFamily="18" charset="0"/>
              </a:rPr>
              <a:t>Visualization</a:t>
            </a:r>
          </a:p>
          <a:p>
            <a:pPr lvl="1" algn="just">
              <a:spcBef>
                <a:spcPts val="300"/>
              </a:spcBef>
              <a:defRPr/>
            </a:pPr>
            <a:r>
              <a:rPr lang="en-US" sz="2200" dirty="0">
                <a:solidFill>
                  <a:srgbClr val="FF0000"/>
                </a:solidFill>
                <a:latin typeface="Cambria" panose="02040503050406030204" pitchFamily="18" charset="0"/>
                <a:ea typeface="Cambria" panose="02040503050406030204" pitchFamily="18" charset="0"/>
              </a:rPr>
              <a:t>Reduction of Complexity</a:t>
            </a:r>
          </a:p>
          <a:p>
            <a:pPr lvl="1" algn="just">
              <a:spcBef>
                <a:spcPts val="300"/>
              </a:spcBef>
              <a:defRPr/>
            </a:pPr>
            <a:r>
              <a:rPr lang="en-US" sz="2200" dirty="0">
                <a:solidFill>
                  <a:srgbClr val="FF0000"/>
                </a:solidFill>
                <a:latin typeface="Cambria" panose="02040503050406030204" pitchFamily="18" charset="0"/>
                <a:ea typeface="Cambria" panose="02040503050406030204" pitchFamily="18" charset="0"/>
              </a:rPr>
              <a:t>Concept building and understanding</a:t>
            </a:r>
          </a:p>
          <a:p>
            <a:pPr algn="just">
              <a:spcBef>
                <a:spcPts val="300"/>
              </a:spcBef>
              <a:defRPr/>
            </a:pPr>
            <a:endParaRPr lang="en-US" sz="2200" dirty="0">
              <a:latin typeface="Cambria" panose="02040503050406030204" pitchFamily="18" charset="0"/>
              <a:ea typeface="Cambria" panose="02040503050406030204" pitchFamily="18" charset="0"/>
            </a:endParaRPr>
          </a:p>
          <a:p>
            <a:pPr algn="just">
              <a:spcBef>
                <a:spcPts val="300"/>
              </a:spcBef>
              <a:defRPr/>
            </a:pPr>
            <a:endParaRPr lang="en-US" sz="22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3F7826CE-17A4-180E-721F-E79706407F57}"/>
              </a:ext>
            </a:extLst>
          </p:cNvPr>
          <p:cNvSpPr>
            <a:spLocks noGrp="1"/>
          </p:cNvSpPr>
          <p:nvPr>
            <p:ph type="ftr" sz="quarter" idx="11"/>
          </p:nvPr>
        </p:nvSpPr>
        <p:spPr>
          <a:xfrm>
            <a:off x="2555776" y="6500192"/>
            <a:ext cx="4876800" cy="457200"/>
          </a:xfrm>
        </p:spPr>
        <p:txBody>
          <a:body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sp>
        <p:nvSpPr>
          <p:cNvPr id="2" name="Slide Number Placeholder 23">
            <a:extLst>
              <a:ext uri="{FF2B5EF4-FFF2-40B4-BE49-F238E27FC236}">
                <a16:creationId xmlns:a16="http://schemas.microsoft.com/office/drawing/2014/main" id="{13A6C24C-7704-950A-BEF8-B783E0854D5A}"/>
              </a:ext>
            </a:extLst>
          </p:cNvPr>
          <p:cNvSpPr>
            <a:spLocks noGrp="1"/>
          </p:cNvSpPr>
          <p:nvPr>
            <p:ph type="sldNum" sz="quarter" idx="12"/>
          </p:nvPr>
        </p:nvSpPr>
        <p:spPr>
          <a:xfrm>
            <a:off x="8532440" y="6284168"/>
            <a:ext cx="457200" cy="457200"/>
          </a:xfrm>
        </p:spPr>
        <p:txBody>
          <a:bodyPr/>
          <a:lstStyle/>
          <a:p>
            <a:pPr>
              <a:defRPr/>
            </a:pPr>
            <a:fld id="{110F9843-0372-4357-99AD-419BEB3ABF28}" type="slidenum">
              <a:rPr lang="en-US" smtClean="0"/>
              <a:pPr>
                <a:defRPr/>
              </a:pPr>
              <a:t>6</a:t>
            </a:fld>
            <a:endParaRPr lang="en-US"/>
          </a:p>
        </p:txBody>
      </p:sp>
    </p:spTree>
    <p:extLst>
      <p:ext uri="{BB962C8B-B14F-4D97-AF65-F5344CB8AC3E}">
        <p14:creationId xmlns:p14="http://schemas.microsoft.com/office/powerpoint/2010/main" val="99158697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5879F-71F6-0C87-D1A3-CA4FCF0CBE2A}"/>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BEE6B487-9431-94E5-B0B3-FB231A23A09B}"/>
              </a:ext>
            </a:extLst>
          </p:cNvPr>
          <p:cNvSpPr>
            <a:spLocks noGrp="1" noChangeArrowheads="1"/>
          </p:cNvSpPr>
          <p:nvPr>
            <p:ph type="title"/>
          </p:nvPr>
        </p:nvSpPr>
        <p:spPr>
          <a:xfrm>
            <a:off x="395536" y="261466"/>
            <a:ext cx="4122738"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Data Models</a:t>
            </a:r>
          </a:p>
        </p:txBody>
      </p:sp>
      <p:sp>
        <p:nvSpPr>
          <p:cNvPr id="10243" name="Rectangle 3">
            <a:extLst>
              <a:ext uri="{FF2B5EF4-FFF2-40B4-BE49-F238E27FC236}">
                <a16:creationId xmlns:a16="http://schemas.microsoft.com/office/drawing/2014/main" id="{66DA3C68-F60B-885E-D6B4-41F775DC61D8}"/>
              </a:ext>
            </a:extLst>
          </p:cNvPr>
          <p:cNvSpPr>
            <a:spLocks noGrp="1" noChangeArrowheads="1"/>
          </p:cNvSpPr>
          <p:nvPr>
            <p:ph type="body" idx="1"/>
          </p:nvPr>
        </p:nvSpPr>
        <p:spPr>
          <a:xfrm>
            <a:off x="412751" y="682972"/>
            <a:ext cx="8569325" cy="5194300"/>
          </a:xfrm>
        </p:spPr>
        <p:txBody>
          <a:bodyPr/>
          <a:lstStyle/>
          <a:p>
            <a:pPr algn="just">
              <a:spcBef>
                <a:spcPts val="300"/>
              </a:spcBef>
              <a:defRPr/>
            </a:pPr>
            <a:r>
              <a:rPr lang="en-US" sz="2200" dirty="0">
                <a:latin typeface="Cambria" panose="02040503050406030204" pitchFamily="18" charset="0"/>
                <a:ea typeface="Cambria" panose="02040503050406030204" pitchFamily="18" charset="0"/>
              </a:rPr>
              <a:t>A data model is a relatively simple representation, usually graphical, of more complex real-world data structures.</a:t>
            </a:r>
          </a:p>
          <a:p>
            <a:pPr algn="just">
              <a:spcBef>
                <a:spcPts val="300"/>
              </a:spcBef>
              <a:defRPr/>
            </a:pPr>
            <a:r>
              <a:rPr lang="en-US" sz="2200" dirty="0">
                <a:latin typeface="Cambria" panose="02040503050406030204" pitchFamily="18" charset="0"/>
                <a:ea typeface="Cambria" panose="02040503050406030204" pitchFamily="18" charset="0"/>
              </a:rPr>
              <a:t>Data model is an architecture that organizes the various sections of data and manages how data elements are related to each other.</a:t>
            </a:r>
          </a:p>
          <a:p>
            <a:pPr algn="just">
              <a:spcBef>
                <a:spcPts val="300"/>
              </a:spcBef>
              <a:defRPr/>
            </a:pPr>
            <a:r>
              <a:rPr lang="en-US" sz="2200" dirty="0">
                <a:latin typeface="Cambria" panose="02040503050406030204" pitchFamily="18" charset="0"/>
                <a:ea typeface="Cambria" panose="02040503050406030204" pitchFamily="18" charset="0"/>
              </a:rPr>
              <a:t>A data model is an integrated collection of concepts for describing and manipulating data, relationships between data, and constraints on the data in an organization.</a:t>
            </a:r>
          </a:p>
          <a:p>
            <a:pPr algn="just">
              <a:spcBef>
                <a:spcPts val="300"/>
              </a:spcBef>
              <a:defRPr/>
            </a:pPr>
            <a:r>
              <a:rPr lang="en-US" sz="2200" dirty="0">
                <a:latin typeface="Cambria" panose="02040503050406030204" pitchFamily="18" charset="0"/>
                <a:ea typeface="Cambria" panose="02040503050406030204" pitchFamily="18" charset="0"/>
              </a:rPr>
              <a:t>It is the first step in designing a database.</a:t>
            </a:r>
          </a:p>
          <a:p>
            <a:pPr algn="just">
              <a:spcBef>
                <a:spcPts val="300"/>
              </a:spcBef>
              <a:defRPr/>
            </a:pPr>
            <a:r>
              <a:rPr lang="en-US" sz="2200" dirty="0">
                <a:latin typeface="Cambria" panose="02040503050406030204" pitchFamily="18" charset="0"/>
                <a:ea typeface="Cambria" panose="02040503050406030204" pitchFamily="18" charset="0"/>
              </a:rPr>
              <a:t>It is unlikely to create a good database without first selecting an appropriate data model. </a:t>
            </a:r>
          </a:p>
          <a:p>
            <a:pPr algn="just">
              <a:spcBef>
                <a:spcPts val="300"/>
              </a:spcBef>
              <a:defRPr/>
            </a:pPr>
            <a:r>
              <a:rPr lang="en-US" sz="2200" dirty="0">
                <a:latin typeface="Cambria" panose="02040503050406030204" pitchFamily="18" charset="0"/>
                <a:ea typeface="Cambria" panose="02040503050406030204" pitchFamily="18" charset="0"/>
              </a:rPr>
              <a:t>Two main purposes of data modeling are to assist in the understanding of the data (semantics of data) and to facilitate communication about information requirements.</a:t>
            </a:r>
          </a:p>
          <a:p>
            <a:pPr algn="just">
              <a:spcBef>
                <a:spcPts val="300"/>
              </a:spcBef>
              <a:defRPr/>
            </a:pPr>
            <a:r>
              <a:rPr lang="en-US" sz="2200" dirty="0">
                <a:latin typeface="Cambria" panose="02040503050406030204" pitchFamily="18" charset="0"/>
                <a:ea typeface="Cambria" panose="02040503050406030204" pitchFamily="18" charset="0"/>
              </a:rPr>
              <a:t>Data Models are governed by the </a:t>
            </a:r>
            <a:r>
              <a:rPr lang="en-US" sz="2200" dirty="0">
                <a:solidFill>
                  <a:srgbClr val="0033CC"/>
                </a:solidFill>
                <a:latin typeface="Cambria" panose="02040503050406030204" pitchFamily="18" charset="0"/>
                <a:ea typeface="Cambria" panose="02040503050406030204" pitchFamily="18" charset="0"/>
              </a:rPr>
              <a:t>business rules</a:t>
            </a:r>
            <a:r>
              <a:rPr lang="en-US" sz="2200" dirty="0">
                <a:latin typeface="Cambria" panose="02040503050406030204" pitchFamily="18" charset="0"/>
                <a:ea typeface="Cambria" panose="02040503050406030204" pitchFamily="18" charset="0"/>
              </a:rPr>
              <a:t> of an organization.</a:t>
            </a:r>
          </a:p>
          <a:p>
            <a:pPr algn="just">
              <a:spcBef>
                <a:spcPts val="300"/>
              </a:spcBef>
              <a:defRPr/>
            </a:pPr>
            <a:r>
              <a:rPr lang="en-US" sz="2200" dirty="0">
                <a:latin typeface="Cambria" panose="02040503050406030204" pitchFamily="18" charset="0"/>
                <a:ea typeface="Cambria" panose="02040503050406030204" pitchFamily="18" charset="0"/>
              </a:rPr>
              <a:t>A </a:t>
            </a:r>
            <a:r>
              <a:rPr lang="en-US" sz="2200" dirty="0">
                <a:solidFill>
                  <a:srgbClr val="0033CC"/>
                </a:solidFill>
                <a:latin typeface="Cambria" panose="02040503050406030204" pitchFamily="18" charset="0"/>
                <a:ea typeface="Cambria" panose="02040503050406030204" pitchFamily="18" charset="0"/>
              </a:rPr>
              <a:t>business rule</a:t>
            </a:r>
            <a:r>
              <a:rPr lang="en-US" sz="2200" dirty="0">
                <a:latin typeface="Cambria" panose="02040503050406030204" pitchFamily="18" charset="0"/>
                <a:ea typeface="Cambria" panose="02040503050406030204" pitchFamily="18" charset="0"/>
              </a:rPr>
              <a:t> is a brief and precise description of policy or principle of an organization.</a:t>
            </a:r>
          </a:p>
          <a:p>
            <a:pPr algn="just">
              <a:spcBef>
                <a:spcPts val="300"/>
              </a:spcBef>
              <a:defRPr/>
            </a:pPr>
            <a:endParaRPr lang="en-US" sz="2200" dirty="0">
              <a:latin typeface="Cambria" panose="02040503050406030204" pitchFamily="18" charset="0"/>
              <a:ea typeface="Cambria" panose="02040503050406030204" pitchFamily="18" charset="0"/>
            </a:endParaRPr>
          </a:p>
          <a:p>
            <a:pPr algn="just">
              <a:spcBef>
                <a:spcPts val="300"/>
              </a:spcBef>
              <a:defRPr/>
            </a:pPr>
            <a:endParaRPr lang="en-US" sz="22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22340F06-B5A2-547F-C378-03CE01189C2A}"/>
              </a:ext>
            </a:extLst>
          </p:cNvPr>
          <p:cNvSpPr>
            <a:spLocks noGrp="1"/>
          </p:cNvSpPr>
          <p:nvPr>
            <p:ph type="ftr" sz="quarter" idx="11"/>
          </p:nvPr>
        </p:nvSpPr>
        <p:spPr>
          <a:xfrm>
            <a:off x="2555776" y="6500192"/>
            <a:ext cx="4876800" cy="457200"/>
          </a:xfrm>
        </p:spPr>
        <p:txBody>
          <a:body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sp>
        <p:nvSpPr>
          <p:cNvPr id="2" name="Slide Number Placeholder 23">
            <a:extLst>
              <a:ext uri="{FF2B5EF4-FFF2-40B4-BE49-F238E27FC236}">
                <a16:creationId xmlns:a16="http://schemas.microsoft.com/office/drawing/2014/main" id="{B53B3A6A-B828-BAD2-4B1C-DC6DB65A8200}"/>
              </a:ext>
            </a:extLst>
          </p:cNvPr>
          <p:cNvSpPr>
            <a:spLocks noGrp="1"/>
          </p:cNvSpPr>
          <p:nvPr>
            <p:ph type="sldNum" sz="quarter" idx="12"/>
          </p:nvPr>
        </p:nvSpPr>
        <p:spPr>
          <a:xfrm>
            <a:off x="8532440" y="6284168"/>
            <a:ext cx="457200" cy="457200"/>
          </a:xfrm>
        </p:spPr>
        <p:txBody>
          <a:bodyPr/>
          <a:lstStyle/>
          <a:p>
            <a:pPr>
              <a:defRPr/>
            </a:pPr>
            <a:fld id="{110F9843-0372-4357-99AD-419BEB3ABF28}" type="slidenum">
              <a:rPr lang="en-US" smtClean="0"/>
              <a:pPr>
                <a:defRPr/>
              </a:pPr>
              <a:t>7</a:t>
            </a:fld>
            <a:endParaRPr lang="en-US"/>
          </a:p>
        </p:txBody>
      </p:sp>
    </p:spTree>
    <p:extLst>
      <p:ext uri="{BB962C8B-B14F-4D97-AF65-F5344CB8AC3E}">
        <p14:creationId xmlns:p14="http://schemas.microsoft.com/office/powerpoint/2010/main" val="370733763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2A806-B89B-F266-990E-6F834D26F217}"/>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E6C330D3-925A-C667-73C2-7763C43E8CAD}"/>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Components of Data Models</a:t>
            </a:r>
          </a:p>
        </p:txBody>
      </p:sp>
      <p:sp>
        <p:nvSpPr>
          <p:cNvPr id="10243" name="Rectangle 3">
            <a:extLst>
              <a:ext uri="{FF2B5EF4-FFF2-40B4-BE49-F238E27FC236}">
                <a16:creationId xmlns:a16="http://schemas.microsoft.com/office/drawing/2014/main" id="{60A90F94-AA25-98B0-3F9C-D331AA44A3D6}"/>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800" dirty="0">
                <a:latin typeface="Cambria" panose="02040503050406030204" pitchFamily="18" charset="0"/>
                <a:ea typeface="Cambria" panose="02040503050406030204" pitchFamily="18" charset="0"/>
              </a:rPr>
              <a:t>A data model has the following three components: </a:t>
            </a:r>
          </a:p>
          <a:p>
            <a:pPr marL="457200" indent="-457200" algn="just">
              <a:spcBef>
                <a:spcPts val="300"/>
              </a:spcBef>
              <a:buFont typeface="+mj-lt"/>
              <a:buAutoNum type="arabicPeriod"/>
              <a:defRPr/>
            </a:pPr>
            <a:r>
              <a:rPr lang="en-US" sz="2800" dirty="0">
                <a:solidFill>
                  <a:srgbClr val="0033CC"/>
                </a:solidFill>
                <a:latin typeface="Cambria" panose="02040503050406030204" pitchFamily="18" charset="0"/>
                <a:ea typeface="Cambria" panose="02040503050406030204" pitchFamily="18" charset="0"/>
              </a:rPr>
              <a:t>Structural Part: </a:t>
            </a:r>
            <a:r>
              <a:rPr lang="en-US" sz="2800" dirty="0">
                <a:latin typeface="Cambria" panose="02040503050406030204" pitchFamily="18" charset="0"/>
                <a:ea typeface="Cambria" panose="02040503050406030204" pitchFamily="18" charset="0"/>
              </a:rPr>
              <a:t>How the data are structured?</a:t>
            </a:r>
          </a:p>
          <a:p>
            <a:pPr marL="457200" indent="-457200" algn="just">
              <a:spcBef>
                <a:spcPts val="300"/>
              </a:spcBef>
              <a:buFont typeface="+mj-lt"/>
              <a:buAutoNum type="arabicPeriod"/>
              <a:defRPr/>
            </a:pPr>
            <a:r>
              <a:rPr lang="en-US" sz="2800" dirty="0">
                <a:solidFill>
                  <a:srgbClr val="0033CC"/>
                </a:solidFill>
                <a:latin typeface="Cambria" panose="02040503050406030204" pitchFamily="18" charset="0"/>
                <a:ea typeface="Cambria" panose="02040503050406030204" pitchFamily="18" charset="0"/>
              </a:rPr>
              <a:t>Manipulative Part:</a:t>
            </a:r>
            <a:r>
              <a:rPr lang="en-US" sz="2800" dirty="0">
                <a:latin typeface="Cambria" panose="02040503050406030204" pitchFamily="18" charset="0"/>
                <a:ea typeface="Cambria" panose="02040503050406030204" pitchFamily="18" charset="0"/>
              </a:rPr>
              <a:t> Defines the types of operations that are allowed on the data. This includes the operations that are used for updating or retrieving data and for changing the structure of the database. </a:t>
            </a:r>
          </a:p>
          <a:p>
            <a:pPr marL="457200" indent="-457200" algn="just">
              <a:spcBef>
                <a:spcPts val="300"/>
              </a:spcBef>
              <a:buFont typeface="+mj-lt"/>
              <a:buAutoNum type="arabicPeriod"/>
              <a:defRPr/>
            </a:pPr>
            <a:r>
              <a:rPr lang="en-US" sz="2800" dirty="0">
                <a:solidFill>
                  <a:srgbClr val="0033CC"/>
                </a:solidFill>
                <a:latin typeface="Cambria" panose="02040503050406030204" pitchFamily="18" charset="0"/>
                <a:ea typeface="Cambria" panose="02040503050406030204" pitchFamily="18" charset="0"/>
              </a:rPr>
              <a:t>Integrity Constraints.</a:t>
            </a:r>
            <a:r>
              <a:rPr lang="en-US" sz="2800" dirty="0">
                <a:latin typeface="Cambria" panose="02040503050406030204" pitchFamily="18" charset="0"/>
                <a:ea typeface="Cambria" panose="02040503050406030204" pitchFamily="18" charset="0"/>
              </a:rPr>
              <a:t> Defines the checks that are used to ensures correctness of data.</a:t>
            </a:r>
          </a:p>
          <a:p>
            <a:pPr algn="just">
              <a:spcBef>
                <a:spcPts val="300"/>
              </a:spcBef>
              <a:defRPr/>
            </a:pPr>
            <a:r>
              <a:rPr lang="en-US" sz="2800" dirty="0">
                <a:latin typeface="Cambria" panose="02040503050406030204" pitchFamily="18" charset="0"/>
                <a:ea typeface="Cambria" panose="02040503050406030204" pitchFamily="18" charset="0"/>
              </a:rPr>
              <a:t>The basic building blocks of all the data models are </a:t>
            </a:r>
            <a:r>
              <a:rPr lang="en-US" sz="2800" dirty="0">
                <a:solidFill>
                  <a:srgbClr val="FF0000"/>
                </a:solidFill>
                <a:latin typeface="Cambria" panose="02040503050406030204" pitchFamily="18" charset="0"/>
                <a:ea typeface="Cambria" panose="02040503050406030204" pitchFamily="18" charset="0"/>
              </a:rPr>
              <a:t>entities, attributes, relationships</a:t>
            </a:r>
            <a:r>
              <a:rPr lang="en-US" sz="2800" dirty="0">
                <a:latin typeface="Cambria" panose="02040503050406030204" pitchFamily="18" charset="0"/>
                <a:ea typeface="Cambria" panose="02040503050406030204" pitchFamily="18" charset="0"/>
              </a:rPr>
              <a:t> and </a:t>
            </a:r>
            <a:r>
              <a:rPr lang="en-US" sz="2800" dirty="0">
                <a:solidFill>
                  <a:srgbClr val="FF0000"/>
                </a:solidFill>
                <a:latin typeface="Cambria" panose="02040503050406030204" pitchFamily="18" charset="0"/>
                <a:ea typeface="Cambria" panose="02040503050406030204" pitchFamily="18" charset="0"/>
              </a:rPr>
              <a:t>constraints</a:t>
            </a:r>
            <a:r>
              <a:rPr lang="en-US" sz="2800" dirty="0">
                <a:latin typeface="Cambria" panose="02040503050406030204" pitchFamily="18" charset="0"/>
                <a:ea typeface="Cambria" panose="02040503050406030204" pitchFamily="18" charset="0"/>
              </a:rPr>
              <a:t> that are determined on the basis of </a:t>
            </a:r>
            <a:r>
              <a:rPr lang="en-US" sz="2800" dirty="0">
                <a:solidFill>
                  <a:srgbClr val="FF0000"/>
                </a:solidFill>
                <a:latin typeface="Cambria" panose="02040503050406030204" pitchFamily="18" charset="0"/>
                <a:ea typeface="Cambria" panose="02040503050406030204" pitchFamily="18" charset="0"/>
              </a:rPr>
              <a:t>business rules</a:t>
            </a:r>
            <a:r>
              <a:rPr lang="en-US" sz="2800" dirty="0">
                <a:latin typeface="Cambria" panose="02040503050406030204" pitchFamily="18" charset="0"/>
                <a:ea typeface="Cambria" panose="02040503050406030204" pitchFamily="18" charset="0"/>
              </a:rPr>
              <a:t> of an organization. </a:t>
            </a:r>
          </a:p>
          <a:p>
            <a:pPr algn="just">
              <a:spcBef>
                <a:spcPts val="300"/>
              </a:spcBef>
              <a:defRPr/>
            </a:pPr>
            <a:endParaRPr lang="en-US" sz="2800" dirty="0">
              <a:latin typeface="Cambria" panose="02040503050406030204" pitchFamily="18" charset="0"/>
              <a:ea typeface="Cambria" panose="02040503050406030204" pitchFamily="18" charset="0"/>
            </a:endParaRPr>
          </a:p>
          <a:p>
            <a:pPr algn="just">
              <a:spcBef>
                <a:spcPts val="300"/>
              </a:spcBef>
              <a:defRPr/>
            </a:pPr>
            <a:endParaRPr lang="en-US" sz="28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352951D8-D64F-0D49-B555-2D095040F5D4}"/>
              </a:ext>
            </a:extLst>
          </p:cNvPr>
          <p:cNvSpPr>
            <a:spLocks noGrp="1"/>
          </p:cNvSpPr>
          <p:nvPr>
            <p:ph type="ftr" sz="quarter" idx="11"/>
          </p:nvPr>
        </p:nvSpPr>
        <p:spPr>
          <a:xfrm>
            <a:off x="2555776" y="6500192"/>
            <a:ext cx="4876800" cy="457200"/>
          </a:xfrm>
        </p:spPr>
        <p:txBody>
          <a:body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sp>
        <p:nvSpPr>
          <p:cNvPr id="2" name="Slide Number Placeholder 23">
            <a:extLst>
              <a:ext uri="{FF2B5EF4-FFF2-40B4-BE49-F238E27FC236}">
                <a16:creationId xmlns:a16="http://schemas.microsoft.com/office/drawing/2014/main" id="{B3E03A84-78CB-B14A-36B4-B2A8A5869832}"/>
              </a:ext>
            </a:extLst>
          </p:cNvPr>
          <p:cNvSpPr>
            <a:spLocks noGrp="1"/>
          </p:cNvSpPr>
          <p:nvPr>
            <p:ph type="sldNum" sz="quarter" idx="12"/>
          </p:nvPr>
        </p:nvSpPr>
        <p:spPr>
          <a:xfrm>
            <a:off x="8532440" y="6284168"/>
            <a:ext cx="457200" cy="457200"/>
          </a:xfrm>
        </p:spPr>
        <p:txBody>
          <a:bodyPr/>
          <a:lstStyle/>
          <a:p>
            <a:pPr>
              <a:defRPr/>
            </a:pPr>
            <a:fld id="{110F9843-0372-4357-99AD-419BEB3ABF28}" type="slidenum">
              <a:rPr lang="en-US" smtClean="0"/>
              <a:pPr>
                <a:defRPr/>
              </a:pPr>
              <a:t>8</a:t>
            </a:fld>
            <a:endParaRPr lang="en-US"/>
          </a:p>
        </p:txBody>
      </p:sp>
    </p:spTree>
    <p:extLst>
      <p:ext uri="{BB962C8B-B14F-4D97-AF65-F5344CB8AC3E}">
        <p14:creationId xmlns:p14="http://schemas.microsoft.com/office/powerpoint/2010/main" val="380697018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E5FF8-72C6-C40B-7202-CEE885B5B36D}"/>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70F09826-191C-AA30-2435-DB5C7AEA8FC8}"/>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Entity</a:t>
            </a:r>
          </a:p>
        </p:txBody>
      </p:sp>
      <p:sp>
        <p:nvSpPr>
          <p:cNvPr id="10243" name="Rectangle 3">
            <a:extLst>
              <a:ext uri="{FF2B5EF4-FFF2-40B4-BE49-F238E27FC236}">
                <a16:creationId xmlns:a16="http://schemas.microsoft.com/office/drawing/2014/main" id="{CEE7D617-3665-87DC-1A34-7E3C90668BE7}"/>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An Entity is an </a:t>
            </a:r>
            <a:r>
              <a:rPr lang="en-US" sz="2400" dirty="0">
                <a:solidFill>
                  <a:srgbClr val="0033CC"/>
                </a:solidFill>
                <a:latin typeface="Cambria" panose="02040503050406030204" pitchFamily="18" charset="0"/>
                <a:ea typeface="Cambria" panose="02040503050406030204" pitchFamily="18" charset="0"/>
              </a:rPr>
              <a:t>Object, Event, Persons, Place or Concept</a:t>
            </a:r>
            <a:r>
              <a:rPr lang="en-US" sz="2400" dirty="0">
                <a:latin typeface="Cambria" panose="02040503050406030204" pitchFamily="18" charset="0"/>
                <a:ea typeface="Cambria" panose="02040503050406030204" pitchFamily="18" charset="0"/>
              </a:rPr>
              <a:t> about which the organization wishes to maintain data.</a:t>
            </a:r>
          </a:p>
          <a:p>
            <a:pPr algn="just">
              <a:spcBef>
                <a:spcPts val="300"/>
              </a:spcBef>
              <a:defRPr/>
            </a:pPr>
            <a:r>
              <a:rPr lang="en-US" sz="2400" dirty="0">
                <a:latin typeface="Cambria" panose="02040503050406030204" pitchFamily="18" charset="0"/>
                <a:ea typeface="Cambria" panose="02040503050406030204" pitchFamily="18" charset="0"/>
              </a:rPr>
              <a:t>An </a:t>
            </a:r>
            <a:r>
              <a:rPr lang="en-US" sz="2400" dirty="0">
                <a:solidFill>
                  <a:srgbClr val="0033CC"/>
                </a:solidFill>
                <a:latin typeface="Cambria" panose="02040503050406030204" pitchFamily="18" charset="0"/>
                <a:ea typeface="Cambria" panose="02040503050406030204" pitchFamily="18" charset="0"/>
              </a:rPr>
              <a:t>Entity Type</a:t>
            </a:r>
            <a:r>
              <a:rPr lang="en-US" sz="2400" dirty="0">
                <a:latin typeface="Cambria" panose="02040503050406030204" pitchFamily="18" charset="0"/>
                <a:ea typeface="Cambria" panose="02040503050406030204" pitchFamily="18" charset="0"/>
              </a:rPr>
              <a:t> or </a:t>
            </a:r>
            <a:r>
              <a:rPr lang="en-US" sz="2400" dirty="0">
                <a:solidFill>
                  <a:srgbClr val="0033CC"/>
                </a:solidFill>
                <a:latin typeface="Cambria" panose="02040503050406030204" pitchFamily="18" charset="0"/>
                <a:ea typeface="Cambria" panose="02040503050406030204" pitchFamily="18" charset="0"/>
              </a:rPr>
              <a:t>Entity Class</a:t>
            </a:r>
            <a:r>
              <a:rPr lang="en-US" sz="2400" dirty="0">
                <a:latin typeface="Cambria" panose="02040503050406030204" pitchFamily="18" charset="0"/>
                <a:ea typeface="Cambria" panose="02040503050406030204" pitchFamily="18" charset="0"/>
              </a:rPr>
              <a:t> is a collection of entities that can described under the same set of characteristics. </a:t>
            </a:r>
          </a:p>
          <a:p>
            <a:pPr algn="just">
              <a:spcBef>
                <a:spcPts val="300"/>
              </a:spcBef>
              <a:defRPr/>
            </a:pPr>
            <a:r>
              <a:rPr lang="en-US" sz="2400" dirty="0">
                <a:latin typeface="Cambria" panose="02040503050406030204" pitchFamily="18" charset="0"/>
                <a:ea typeface="Cambria" panose="02040503050406030204" pitchFamily="18" charset="0"/>
              </a:rPr>
              <a:t>An </a:t>
            </a:r>
            <a:r>
              <a:rPr lang="en-US" sz="2400" dirty="0">
                <a:solidFill>
                  <a:srgbClr val="0033CC"/>
                </a:solidFill>
                <a:latin typeface="Cambria" panose="02040503050406030204" pitchFamily="18" charset="0"/>
                <a:ea typeface="Cambria" panose="02040503050406030204" pitchFamily="18" charset="0"/>
              </a:rPr>
              <a:t>Entity Instance</a:t>
            </a:r>
            <a:r>
              <a:rPr lang="en-US" sz="2400" dirty="0">
                <a:latin typeface="Cambria" panose="02040503050406030204" pitchFamily="18" charset="0"/>
                <a:ea typeface="Cambria" panose="02040503050406030204" pitchFamily="18" charset="0"/>
              </a:rPr>
              <a:t> is a single occurrence of an entity type.</a:t>
            </a:r>
          </a:p>
          <a:p>
            <a:pPr algn="just">
              <a:spcBef>
                <a:spcPts val="300"/>
              </a:spcBef>
              <a:defRPr/>
            </a:pPr>
            <a:r>
              <a:rPr lang="en-US" sz="2400" dirty="0">
                <a:latin typeface="Cambria" panose="02040503050406030204" pitchFamily="18" charset="0"/>
                <a:ea typeface="Cambria" panose="02040503050406030204" pitchFamily="18" charset="0"/>
              </a:rPr>
              <a:t>Generally, an entity in the real world is defined under a single entity type, but sometimes an entity may fall in more than one entity classes. </a:t>
            </a:r>
          </a:p>
          <a:p>
            <a:pPr algn="just">
              <a:spcBef>
                <a:spcPts val="300"/>
              </a:spcBef>
              <a:defRPr/>
            </a:pPr>
            <a:r>
              <a:rPr lang="en-US" sz="2400" dirty="0">
                <a:latin typeface="Cambria" panose="02040503050406030204" pitchFamily="18" charset="0"/>
                <a:ea typeface="Cambria" panose="02040503050406030204" pitchFamily="18" charset="0"/>
              </a:rPr>
              <a:t>For Example: Doctor and Patient Entity Class, Student and Faculty Entity Class etc. </a:t>
            </a:r>
          </a:p>
          <a:p>
            <a:pPr algn="just">
              <a:spcBef>
                <a:spcPts val="300"/>
              </a:spcBef>
              <a:defRPr/>
            </a:pPr>
            <a:r>
              <a:rPr lang="en-US" sz="2400" dirty="0">
                <a:latin typeface="Cambria" panose="02040503050406030204" pitchFamily="18" charset="0"/>
                <a:ea typeface="Cambria" panose="02040503050406030204" pitchFamily="18" charset="0"/>
              </a:rPr>
              <a:t>An Entity is diagrammatically represented as </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CD391F5B-7CD7-22B8-8B63-CEACE2A3F531}"/>
              </a:ext>
            </a:extLst>
          </p:cNvPr>
          <p:cNvSpPr>
            <a:spLocks noGrp="1"/>
          </p:cNvSpPr>
          <p:nvPr>
            <p:ph type="ftr" sz="quarter" idx="11"/>
          </p:nvPr>
        </p:nvSpPr>
        <p:spPr>
          <a:xfrm>
            <a:off x="2555776" y="6500192"/>
            <a:ext cx="4876800" cy="457200"/>
          </a:xfrm>
        </p:spPr>
        <p:txBody>
          <a:body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sp>
        <p:nvSpPr>
          <p:cNvPr id="2" name="Slide Number Placeholder 23">
            <a:extLst>
              <a:ext uri="{FF2B5EF4-FFF2-40B4-BE49-F238E27FC236}">
                <a16:creationId xmlns:a16="http://schemas.microsoft.com/office/drawing/2014/main" id="{30E181FA-73D4-BA17-AEE0-664660431F66}"/>
              </a:ext>
            </a:extLst>
          </p:cNvPr>
          <p:cNvSpPr>
            <a:spLocks noGrp="1"/>
          </p:cNvSpPr>
          <p:nvPr>
            <p:ph type="sldNum" sz="quarter" idx="12"/>
          </p:nvPr>
        </p:nvSpPr>
        <p:spPr>
          <a:xfrm>
            <a:off x="8532440" y="6284168"/>
            <a:ext cx="457200" cy="457200"/>
          </a:xfrm>
        </p:spPr>
        <p:txBody>
          <a:bodyPr/>
          <a:lstStyle/>
          <a:p>
            <a:pPr>
              <a:defRPr/>
            </a:pPr>
            <a:fld id="{110F9843-0372-4357-99AD-419BEB3ABF28}" type="slidenum">
              <a:rPr lang="en-US" smtClean="0"/>
              <a:pPr>
                <a:defRPr/>
              </a:pPr>
              <a:t>9</a:t>
            </a:fld>
            <a:endParaRPr lang="en-US"/>
          </a:p>
        </p:txBody>
      </p:sp>
      <p:sp>
        <p:nvSpPr>
          <p:cNvPr id="4" name="Rectangle 4">
            <a:extLst>
              <a:ext uri="{FF2B5EF4-FFF2-40B4-BE49-F238E27FC236}">
                <a16:creationId xmlns:a16="http://schemas.microsoft.com/office/drawing/2014/main" id="{ADF78834-C8BC-7436-3358-587B932AE9F6}"/>
              </a:ext>
            </a:extLst>
          </p:cNvPr>
          <p:cNvSpPr>
            <a:spLocks noChangeArrowheads="1"/>
          </p:cNvSpPr>
          <p:nvPr/>
        </p:nvSpPr>
        <p:spPr bwMode="auto">
          <a:xfrm>
            <a:off x="6732240" y="4437112"/>
            <a:ext cx="1905000" cy="762000"/>
          </a:xfrm>
          <a:prstGeom prst="rect">
            <a:avLst/>
          </a:prstGeom>
          <a:solidFill>
            <a:srgbClr val="FFCC99"/>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2400">
                <a:solidFill>
                  <a:srgbClr val="0033CC"/>
                </a:solidFill>
                <a:latin typeface="Cambria" panose="02040503050406030204" pitchFamily="18" charset="0"/>
                <a:ea typeface="Cambria" panose="02040503050406030204" pitchFamily="18" charset="0"/>
              </a:rPr>
              <a:t>STUDENT</a:t>
            </a:r>
          </a:p>
        </p:txBody>
      </p:sp>
    </p:spTree>
    <p:extLst>
      <p:ext uri="{BB962C8B-B14F-4D97-AF65-F5344CB8AC3E}">
        <p14:creationId xmlns:p14="http://schemas.microsoft.com/office/powerpoint/2010/main" val="2369394226"/>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27E04-2121-9C4F-E002-DFE657EE496E}"/>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4D0251F4-5AA7-A2E2-433B-832742592A86}"/>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Attribute</a:t>
            </a:r>
          </a:p>
        </p:txBody>
      </p:sp>
      <p:sp>
        <p:nvSpPr>
          <p:cNvPr id="10243" name="Rectangle 3">
            <a:extLst>
              <a:ext uri="{FF2B5EF4-FFF2-40B4-BE49-F238E27FC236}">
                <a16:creationId xmlns:a16="http://schemas.microsoft.com/office/drawing/2014/main" id="{B00F68B6-F5D8-6C39-6DA3-1CBD4EF3D8B8}"/>
              </a:ext>
            </a:extLst>
          </p:cNvPr>
          <p:cNvSpPr>
            <a:spLocks noGrp="1" noChangeArrowheads="1"/>
          </p:cNvSpPr>
          <p:nvPr>
            <p:ph type="body" idx="1"/>
          </p:nvPr>
        </p:nvSpPr>
        <p:spPr>
          <a:xfrm>
            <a:off x="412751" y="682972"/>
            <a:ext cx="5383385" cy="2097956"/>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An Attribute is a property or characteristics of an entity type that is of interest to the organization. </a:t>
            </a:r>
          </a:p>
          <a:p>
            <a:pPr algn="just">
              <a:spcBef>
                <a:spcPts val="300"/>
              </a:spcBef>
              <a:defRPr/>
            </a:pPr>
            <a:r>
              <a:rPr lang="en-US" sz="2400" dirty="0">
                <a:latin typeface="Cambria" panose="02040503050406030204" pitchFamily="18" charset="0"/>
                <a:ea typeface="Cambria" panose="02040503050406030204" pitchFamily="18" charset="0"/>
              </a:rPr>
              <a:t>The other terms used for attribute are </a:t>
            </a:r>
            <a:r>
              <a:rPr lang="en-US" sz="2400" dirty="0">
                <a:solidFill>
                  <a:srgbClr val="0033CC"/>
                </a:solidFill>
                <a:latin typeface="Cambria" panose="02040503050406030204" pitchFamily="18" charset="0"/>
                <a:ea typeface="Cambria" panose="02040503050406030204" pitchFamily="18" charset="0"/>
              </a:rPr>
              <a:t>feature</a:t>
            </a:r>
            <a:r>
              <a:rPr lang="en-US" sz="2400" dirty="0">
                <a:latin typeface="Cambria" panose="02040503050406030204" pitchFamily="18" charset="0"/>
                <a:ea typeface="Cambria" panose="02040503050406030204" pitchFamily="18" charset="0"/>
              </a:rPr>
              <a:t> used in machine learning, </a:t>
            </a:r>
            <a:r>
              <a:rPr lang="en-US" sz="2400" dirty="0">
                <a:solidFill>
                  <a:srgbClr val="0033CC"/>
                </a:solidFill>
                <a:latin typeface="Cambria" panose="02040503050406030204" pitchFamily="18" charset="0"/>
                <a:ea typeface="Cambria" panose="02040503050406030204" pitchFamily="18" charset="0"/>
              </a:rPr>
              <a:t>dimension</a:t>
            </a:r>
            <a:r>
              <a:rPr lang="en-US" sz="2400" dirty="0">
                <a:latin typeface="Cambria" panose="02040503050406030204" pitchFamily="18" charset="0"/>
                <a:ea typeface="Cambria" panose="02040503050406030204" pitchFamily="18" charset="0"/>
              </a:rPr>
              <a:t> used in data warehousing and </a:t>
            </a:r>
            <a:r>
              <a:rPr lang="en-US" sz="2400" dirty="0">
                <a:solidFill>
                  <a:srgbClr val="0033CC"/>
                </a:solidFill>
                <a:latin typeface="Cambria" panose="02040503050406030204" pitchFamily="18" charset="0"/>
                <a:ea typeface="Cambria" panose="02040503050406030204" pitchFamily="18" charset="0"/>
              </a:rPr>
              <a:t>variable</a:t>
            </a:r>
            <a:r>
              <a:rPr lang="en-US" sz="2400" dirty="0">
                <a:latin typeface="Cambria" panose="02040503050406030204" pitchFamily="18" charset="0"/>
                <a:ea typeface="Cambria" panose="02040503050406030204" pitchFamily="18" charset="0"/>
              </a:rPr>
              <a:t> used in statistics.</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A5A1EC34-8313-AB09-61B7-1EE507DA5EC8}"/>
              </a:ext>
            </a:extLst>
          </p:cNvPr>
          <p:cNvSpPr>
            <a:spLocks noGrp="1"/>
          </p:cNvSpPr>
          <p:nvPr>
            <p:ph type="ftr" sz="quarter" idx="11"/>
          </p:nvPr>
        </p:nvSpPr>
        <p:spPr>
          <a:xfrm>
            <a:off x="2555776" y="6500192"/>
            <a:ext cx="4876800" cy="457200"/>
          </a:xfrm>
        </p:spPr>
        <p:txBody>
          <a:body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sp>
        <p:nvSpPr>
          <p:cNvPr id="2" name="Slide Number Placeholder 23">
            <a:extLst>
              <a:ext uri="{FF2B5EF4-FFF2-40B4-BE49-F238E27FC236}">
                <a16:creationId xmlns:a16="http://schemas.microsoft.com/office/drawing/2014/main" id="{8C438678-0E47-5EE3-9B24-859619829F80}"/>
              </a:ext>
            </a:extLst>
          </p:cNvPr>
          <p:cNvSpPr>
            <a:spLocks noGrp="1"/>
          </p:cNvSpPr>
          <p:nvPr>
            <p:ph type="sldNum" sz="quarter" idx="12"/>
          </p:nvPr>
        </p:nvSpPr>
        <p:spPr>
          <a:xfrm>
            <a:off x="8532440" y="6284168"/>
            <a:ext cx="457200" cy="457200"/>
          </a:xfrm>
        </p:spPr>
        <p:txBody>
          <a:bodyPr/>
          <a:lstStyle/>
          <a:p>
            <a:pPr>
              <a:defRPr/>
            </a:pPr>
            <a:fld id="{110F9843-0372-4357-99AD-419BEB3ABF28}" type="slidenum">
              <a:rPr lang="en-US" smtClean="0"/>
              <a:pPr>
                <a:defRPr/>
              </a:pPr>
              <a:t>10</a:t>
            </a:fld>
            <a:endParaRPr lang="en-US"/>
          </a:p>
        </p:txBody>
      </p:sp>
      <p:grpSp>
        <p:nvGrpSpPr>
          <p:cNvPr id="5" name="Group 9">
            <a:extLst>
              <a:ext uri="{FF2B5EF4-FFF2-40B4-BE49-F238E27FC236}">
                <a16:creationId xmlns:a16="http://schemas.microsoft.com/office/drawing/2014/main" id="{0E09198A-2D53-D5CB-411B-39458C2A8C63}"/>
              </a:ext>
            </a:extLst>
          </p:cNvPr>
          <p:cNvGrpSpPr>
            <a:grpSpLocks/>
          </p:cNvGrpSpPr>
          <p:nvPr/>
        </p:nvGrpSpPr>
        <p:grpSpPr bwMode="auto">
          <a:xfrm>
            <a:off x="6300193" y="1484313"/>
            <a:ext cx="2621558" cy="1465262"/>
            <a:chOff x="2858539" y="4772396"/>
            <a:chExt cx="2793580" cy="1464916"/>
          </a:xfrm>
        </p:grpSpPr>
        <p:sp>
          <p:nvSpPr>
            <p:cNvPr id="6" name="Oval 4">
              <a:extLst>
                <a:ext uri="{FF2B5EF4-FFF2-40B4-BE49-F238E27FC236}">
                  <a16:creationId xmlns:a16="http://schemas.microsoft.com/office/drawing/2014/main" id="{2FB725EC-28DB-EB87-CA10-73C6A5A12A3E}"/>
                </a:ext>
              </a:extLst>
            </p:cNvPr>
            <p:cNvSpPr>
              <a:spLocks noChangeArrowheads="1"/>
            </p:cNvSpPr>
            <p:nvPr/>
          </p:nvSpPr>
          <p:spPr bwMode="auto">
            <a:xfrm>
              <a:off x="4427984" y="4772396"/>
              <a:ext cx="1224135" cy="550491"/>
            </a:xfrm>
            <a:prstGeom prst="ellipse">
              <a:avLst/>
            </a:prstGeom>
            <a:solidFill>
              <a:srgbClr val="3399FF"/>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2000" dirty="0">
                  <a:solidFill>
                    <a:srgbClr val="A12B0B"/>
                  </a:solidFill>
                </a:rPr>
                <a:t>Attribute</a:t>
              </a:r>
            </a:p>
          </p:txBody>
        </p:sp>
        <p:sp>
          <p:nvSpPr>
            <p:cNvPr id="7" name="Rectangle 5">
              <a:extLst>
                <a:ext uri="{FF2B5EF4-FFF2-40B4-BE49-F238E27FC236}">
                  <a16:creationId xmlns:a16="http://schemas.microsoft.com/office/drawing/2014/main" id="{EF2E217A-B2BD-53BE-F0D7-7495FF1D2045}"/>
                </a:ext>
              </a:extLst>
            </p:cNvPr>
            <p:cNvSpPr>
              <a:spLocks noChangeArrowheads="1"/>
            </p:cNvSpPr>
            <p:nvPr/>
          </p:nvSpPr>
          <p:spPr bwMode="auto">
            <a:xfrm>
              <a:off x="2858539" y="5589239"/>
              <a:ext cx="1281415" cy="648073"/>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2000" dirty="0">
                  <a:solidFill>
                    <a:srgbClr val="0033CC"/>
                  </a:solidFill>
                  <a:latin typeface="Cambria" panose="02040503050406030204" pitchFamily="18" charset="0"/>
                  <a:ea typeface="Cambria" panose="02040503050406030204" pitchFamily="18" charset="0"/>
                </a:rPr>
                <a:t>ENTITY</a:t>
              </a:r>
            </a:p>
          </p:txBody>
        </p:sp>
        <p:cxnSp>
          <p:nvCxnSpPr>
            <p:cNvPr id="8" name="AutoShape 6">
              <a:extLst>
                <a:ext uri="{FF2B5EF4-FFF2-40B4-BE49-F238E27FC236}">
                  <a16:creationId xmlns:a16="http://schemas.microsoft.com/office/drawing/2014/main" id="{AFF5F386-C700-4ECF-EB35-715B4AFA928B}"/>
                </a:ext>
              </a:extLst>
            </p:cNvPr>
            <p:cNvCxnSpPr>
              <a:cxnSpLocks noChangeShapeType="1"/>
              <a:stCxn id="7" idx="0"/>
            </p:cNvCxnSpPr>
            <p:nvPr/>
          </p:nvCxnSpPr>
          <p:spPr bwMode="auto">
            <a:xfrm flipV="1">
              <a:off x="3499247" y="5056535"/>
              <a:ext cx="928737" cy="532704"/>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sp>
        <p:nvSpPr>
          <p:cNvPr id="10" name="Rectangle 3">
            <a:extLst>
              <a:ext uri="{FF2B5EF4-FFF2-40B4-BE49-F238E27FC236}">
                <a16:creationId xmlns:a16="http://schemas.microsoft.com/office/drawing/2014/main" id="{3598C297-9CF8-25EE-941C-105E7D32DC9C}"/>
              </a:ext>
            </a:extLst>
          </p:cNvPr>
          <p:cNvSpPr txBox="1">
            <a:spLocks noChangeArrowheads="1"/>
          </p:cNvSpPr>
          <p:nvPr/>
        </p:nvSpPr>
        <p:spPr bwMode="auto">
          <a:xfrm>
            <a:off x="381202" y="3347268"/>
            <a:ext cx="8439270" cy="2097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lgn="just">
              <a:spcBef>
                <a:spcPts val="300"/>
              </a:spcBef>
              <a:defRPr/>
            </a:pPr>
            <a:r>
              <a:rPr lang="en-US" sz="2400" dirty="0">
                <a:latin typeface="Cambria" panose="02040503050406030204" pitchFamily="18" charset="0"/>
                <a:ea typeface="Cambria" panose="02040503050406030204" pitchFamily="18" charset="0"/>
              </a:rPr>
              <a:t>The attributes of a entity are selected on the basis of information requirements of an organization. For Ex, the attribute of a product for Sales Department will be different than that for Manufacturing Department.</a:t>
            </a:r>
          </a:p>
          <a:p>
            <a:pPr algn="just">
              <a:spcBef>
                <a:spcPts val="300"/>
              </a:spcBef>
              <a:defRPr/>
            </a:pPr>
            <a:r>
              <a:rPr lang="en-US" sz="2400" dirty="0">
                <a:latin typeface="Cambria" panose="02040503050406030204" pitchFamily="18" charset="0"/>
                <a:ea typeface="Cambria" panose="02040503050406030204" pitchFamily="18" charset="0"/>
              </a:rPr>
              <a:t>A set of attributes used to describe an entity is called an </a:t>
            </a:r>
            <a:r>
              <a:rPr lang="en-US" sz="2400" dirty="0">
                <a:solidFill>
                  <a:srgbClr val="0033CC"/>
                </a:solidFill>
                <a:latin typeface="Cambria" panose="02040503050406030204" pitchFamily="18" charset="0"/>
                <a:ea typeface="Cambria" panose="02040503050406030204" pitchFamily="18" charset="0"/>
              </a:rPr>
              <a:t>attribute vector.</a:t>
            </a:r>
            <a:r>
              <a:rPr lang="en-US" sz="2400" dirty="0">
                <a:latin typeface="Cambria" panose="02040503050406030204" pitchFamily="18" charset="0"/>
                <a:ea typeface="Cambria" panose="02040503050406030204" pitchFamily="18" charset="0"/>
              </a:rPr>
              <a:t> </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4001643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70182-CE21-6AE8-1817-13C90DEA429B}"/>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FA3F9318-C573-87C9-F0D3-B6CBF7791846}"/>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Attribute</a:t>
            </a:r>
          </a:p>
        </p:txBody>
      </p:sp>
      <p:sp>
        <p:nvSpPr>
          <p:cNvPr id="10243" name="Rectangle 3">
            <a:extLst>
              <a:ext uri="{FF2B5EF4-FFF2-40B4-BE49-F238E27FC236}">
                <a16:creationId xmlns:a16="http://schemas.microsoft.com/office/drawing/2014/main" id="{67103A1A-D43F-A9DA-E2AB-A7EBFFC0B06C}"/>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800" dirty="0">
                <a:latin typeface="Cambria" panose="02040503050406030204" pitchFamily="18" charset="0"/>
                <a:ea typeface="Cambria" panose="02040503050406030204" pitchFamily="18" charset="0"/>
              </a:rPr>
              <a:t>Each entity in an entity class must posses at least one attribute </a:t>
            </a:r>
            <a:r>
              <a:rPr lang="en-US" sz="2800" dirty="0">
                <a:solidFill>
                  <a:srgbClr val="0033CC"/>
                </a:solidFill>
                <a:latin typeface="Cambria" panose="02040503050406030204" pitchFamily="18" charset="0"/>
                <a:ea typeface="Cambria" panose="02040503050406030204" pitchFamily="18" charset="0"/>
              </a:rPr>
              <a:t>(identifier)</a:t>
            </a:r>
            <a:r>
              <a:rPr lang="en-US" sz="2800" dirty="0">
                <a:latin typeface="Cambria" panose="02040503050406030204" pitchFamily="18" charset="0"/>
                <a:ea typeface="Cambria" panose="02040503050406030204" pitchFamily="18" charset="0"/>
              </a:rPr>
              <a:t> that distinguishes it from other entities in the same entity class. </a:t>
            </a:r>
          </a:p>
          <a:p>
            <a:pPr algn="just">
              <a:spcBef>
                <a:spcPts val="300"/>
              </a:spcBef>
              <a:defRPr/>
            </a:pPr>
            <a:r>
              <a:rPr lang="en-US" sz="2800" dirty="0">
                <a:solidFill>
                  <a:srgbClr val="0033CC"/>
                </a:solidFill>
                <a:latin typeface="Cambria" panose="02040503050406030204" pitchFamily="18" charset="0"/>
                <a:ea typeface="Cambria" panose="02040503050406030204" pitchFamily="18" charset="0"/>
              </a:rPr>
              <a:t>Domain</a:t>
            </a:r>
            <a:r>
              <a:rPr lang="en-US" sz="2800" dirty="0">
                <a:latin typeface="Cambria" panose="02040503050406030204" pitchFamily="18" charset="0"/>
                <a:ea typeface="Cambria" panose="02040503050406030204" pitchFamily="18" charset="0"/>
              </a:rPr>
              <a:t> of an attribute is a set of permitted values for an attribute OR Domain is a pool of value from which an attribute extracts its actual value.</a:t>
            </a:r>
          </a:p>
          <a:p>
            <a:pPr algn="just">
              <a:spcBef>
                <a:spcPts val="300"/>
              </a:spcBef>
              <a:defRPr/>
            </a:pPr>
            <a:r>
              <a:rPr lang="en-US" sz="2800" dirty="0">
                <a:solidFill>
                  <a:srgbClr val="0033CC"/>
                </a:solidFill>
                <a:latin typeface="Cambria" panose="02040503050406030204" pitchFamily="18" charset="0"/>
                <a:ea typeface="Cambria" panose="02040503050406030204" pitchFamily="18" charset="0"/>
              </a:rPr>
              <a:t>Null Value</a:t>
            </a:r>
            <a:r>
              <a:rPr lang="en-US" sz="2800" dirty="0">
                <a:latin typeface="Cambria" panose="02040503050406030204" pitchFamily="18" charset="0"/>
                <a:ea typeface="Cambria" panose="02040503050406030204" pitchFamily="18" charset="0"/>
              </a:rPr>
              <a:t> of an attribute means the absence of value. Some less important attributes of an entity may be allowed to accept null values. Such attributes are called optional attributes.</a:t>
            </a:r>
          </a:p>
          <a:p>
            <a:pPr algn="just">
              <a:spcBef>
                <a:spcPts val="300"/>
              </a:spcBef>
              <a:defRPr/>
            </a:pPr>
            <a:endParaRPr lang="en-US" sz="2800" dirty="0">
              <a:latin typeface="Cambria" panose="02040503050406030204" pitchFamily="18" charset="0"/>
              <a:ea typeface="Cambria" panose="02040503050406030204" pitchFamily="18" charset="0"/>
            </a:endParaRPr>
          </a:p>
          <a:p>
            <a:pPr algn="just">
              <a:spcBef>
                <a:spcPts val="300"/>
              </a:spcBef>
              <a:defRPr/>
            </a:pPr>
            <a:endParaRPr lang="en-US" sz="28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F1B0ACC0-C0DB-A813-2927-9B382B99F476}"/>
              </a:ext>
            </a:extLst>
          </p:cNvPr>
          <p:cNvSpPr>
            <a:spLocks noGrp="1"/>
          </p:cNvSpPr>
          <p:nvPr>
            <p:ph type="ftr" sz="quarter" idx="11"/>
          </p:nvPr>
        </p:nvSpPr>
        <p:spPr>
          <a:xfrm>
            <a:off x="2555776" y="6500192"/>
            <a:ext cx="4876800" cy="457200"/>
          </a:xfrm>
        </p:spPr>
        <p:txBody>
          <a:body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sp>
        <p:nvSpPr>
          <p:cNvPr id="2" name="Slide Number Placeholder 23">
            <a:extLst>
              <a:ext uri="{FF2B5EF4-FFF2-40B4-BE49-F238E27FC236}">
                <a16:creationId xmlns:a16="http://schemas.microsoft.com/office/drawing/2014/main" id="{D6C9A159-07EB-E5D3-F3C8-C8C5CD5BECB6}"/>
              </a:ext>
            </a:extLst>
          </p:cNvPr>
          <p:cNvSpPr>
            <a:spLocks noGrp="1"/>
          </p:cNvSpPr>
          <p:nvPr>
            <p:ph type="sldNum" sz="quarter" idx="12"/>
          </p:nvPr>
        </p:nvSpPr>
        <p:spPr>
          <a:xfrm>
            <a:off x="8532440" y="6284168"/>
            <a:ext cx="457200" cy="457200"/>
          </a:xfrm>
        </p:spPr>
        <p:txBody>
          <a:bodyPr/>
          <a:lstStyle/>
          <a:p>
            <a:pPr>
              <a:defRPr/>
            </a:pPr>
            <a:fld id="{110F9843-0372-4357-99AD-419BEB3ABF28}" type="slidenum">
              <a:rPr lang="en-US" smtClean="0"/>
              <a:pPr>
                <a:defRPr/>
              </a:pPr>
              <a:t>11</a:t>
            </a:fld>
            <a:endParaRPr lang="en-US"/>
          </a:p>
        </p:txBody>
      </p:sp>
    </p:spTree>
    <p:extLst>
      <p:ext uri="{BB962C8B-B14F-4D97-AF65-F5344CB8AC3E}">
        <p14:creationId xmlns:p14="http://schemas.microsoft.com/office/powerpoint/2010/main" val="86658900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627C3-138D-13CA-EA49-C984735C96BB}"/>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1366E380-070A-99FC-DA55-5316B61B7DD5}"/>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Attribute</a:t>
            </a:r>
          </a:p>
        </p:txBody>
      </p:sp>
      <p:sp>
        <p:nvSpPr>
          <p:cNvPr id="3" name="Footer Placeholder 2">
            <a:extLst>
              <a:ext uri="{FF2B5EF4-FFF2-40B4-BE49-F238E27FC236}">
                <a16:creationId xmlns:a16="http://schemas.microsoft.com/office/drawing/2014/main" id="{0B191FEC-D5B6-C465-78F2-F26EFC90AE6B}"/>
              </a:ext>
            </a:extLst>
          </p:cNvPr>
          <p:cNvSpPr>
            <a:spLocks noGrp="1"/>
          </p:cNvSpPr>
          <p:nvPr>
            <p:ph type="ftr" sz="quarter" idx="11"/>
          </p:nvPr>
        </p:nvSpPr>
        <p:spPr>
          <a:xfrm>
            <a:off x="2555776" y="6500192"/>
            <a:ext cx="4876800" cy="457200"/>
          </a:xfrm>
        </p:spPr>
        <p:txBody>
          <a:body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pic>
        <p:nvPicPr>
          <p:cNvPr id="7" name="Content Placeholder 6">
            <a:extLst>
              <a:ext uri="{FF2B5EF4-FFF2-40B4-BE49-F238E27FC236}">
                <a16:creationId xmlns:a16="http://schemas.microsoft.com/office/drawing/2014/main" id="{64E2E6E8-D957-9C81-6BB9-85E0977F3FB2}"/>
              </a:ext>
            </a:extLst>
          </p:cNvPr>
          <p:cNvPicPr>
            <a:picLocks noGrp="1" noChangeAspect="1"/>
          </p:cNvPicPr>
          <p:nvPr>
            <p:ph sz="quarter" idx="1"/>
          </p:nvPr>
        </p:nvPicPr>
        <p:blipFill>
          <a:blip r:embed="rId2"/>
          <a:stretch>
            <a:fillRect/>
          </a:stretch>
        </p:blipFill>
        <p:spPr>
          <a:xfrm>
            <a:off x="360041" y="743362"/>
            <a:ext cx="8460431" cy="5827122"/>
          </a:xfrm>
          <a:prstGeom prst="rect">
            <a:avLst/>
          </a:prstGeom>
        </p:spPr>
      </p:pic>
    </p:spTree>
    <p:extLst>
      <p:ext uri="{BB962C8B-B14F-4D97-AF65-F5344CB8AC3E}">
        <p14:creationId xmlns:p14="http://schemas.microsoft.com/office/powerpoint/2010/main" val="407247839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465BB-4EFE-A1D2-C7EC-4F21E809CDE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C830B62-8E5C-EED7-7AFA-42DC3F2A09B8}"/>
              </a:ext>
            </a:extLst>
          </p:cNvPr>
          <p:cNvSpPr>
            <a:spLocks noGrp="1"/>
          </p:cNvSpPr>
          <p:nvPr>
            <p:ph type="ftr" sz="quarter" idx="11"/>
          </p:nvPr>
        </p:nvSpPr>
        <p:spPr>
          <a:xfrm>
            <a:off x="2555776" y="6500192"/>
            <a:ext cx="4876800" cy="457200"/>
          </a:xfrm>
        </p:spPr>
        <p:txBody>
          <a:body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pic>
        <p:nvPicPr>
          <p:cNvPr id="209922" name="Picture 2" descr="Types of Data - Infographic">
            <a:extLst>
              <a:ext uri="{FF2B5EF4-FFF2-40B4-BE49-F238E27FC236}">
                <a16:creationId xmlns:a16="http://schemas.microsoft.com/office/drawing/2014/main" id="{0F9618FD-9764-524A-216A-02A59AF576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256" y="404664"/>
            <a:ext cx="8077200" cy="600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437058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11F35-6A2A-B906-EE94-7737DEA939F2}"/>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109BA694-18A0-EE07-EE8E-41FB1AAAA9C3}"/>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Types of Attributes</a:t>
            </a:r>
          </a:p>
        </p:txBody>
      </p:sp>
      <p:sp>
        <p:nvSpPr>
          <p:cNvPr id="10243" name="Rectangle 3">
            <a:extLst>
              <a:ext uri="{FF2B5EF4-FFF2-40B4-BE49-F238E27FC236}">
                <a16:creationId xmlns:a16="http://schemas.microsoft.com/office/drawing/2014/main" id="{20F79C9F-A23D-BF25-B18D-7E1436B7C3E7}"/>
              </a:ext>
            </a:extLst>
          </p:cNvPr>
          <p:cNvSpPr>
            <a:spLocks noGrp="1" noChangeArrowheads="1"/>
          </p:cNvSpPr>
          <p:nvPr>
            <p:ph type="body" idx="1"/>
          </p:nvPr>
        </p:nvSpPr>
        <p:spPr>
          <a:xfrm>
            <a:off x="412751" y="682972"/>
            <a:ext cx="8407721" cy="5194300"/>
          </a:xfrm>
        </p:spPr>
        <p:txBody>
          <a:bodyPr/>
          <a:lstStyle/>
          <a:p>
            <a:pPr marL="0" indent="0" algn="just">
              <a:spcBef>
                <a:spcPts val="300"/>
              </a:spcBef>
              <a:buNone/>
              <a:defRPr/>
            </a:pPr>
            <a:r>
              <a:rPr lang="en-US" sz="2800" dirty="0">
                <a:solidFill>
                  <a:srgbClr val="0033CC"/>
                </a:solidFill>
                <a:latin typeface="Cambria" panose="02040503050406030204" pitchFamily="18" charset="0"/>
                <a:ea typeface="Cambria" panose="02040503050406030204" pitchFamily="18" charset="0"/>
              </a:rPr>
              <a:t>1. Qualitative Data</a:t>
            </a:r>
          </a:p>
          <a:p>
            <a:pPr marL="0" indent="0" algn="just">
              <a:spcBef>
                <a:spcPts val="300"/>
              </a:spcBef>
              <a:buNone/>
              <a:defRPr/>
            </a:pPr>
            <a:r>
              <a:rPr lang="en-US" sz="2800" dirty="0">
                <a:solidFill>
                  <a:srgbClr val="FF0000"/>
                </a:solidFill>
                <a:latin typeface="Cambria" panose="02040503050406030204" pitchFamily="18" charset="0"/>
                <a:ea typeface="Cambria" panose="02040503050406030204" pitchFamily="18" charset="0"/>
              </a:rPr>
              <a:t>a) Nominal Attributes: </a:t>
            </a:r>
          </a:p>
          <a:p>
            <a:pPr algn="just">
              <a:spcBef>
                <a:spcPts val="300"/>
              </a:spcBef>
              <a:defRPr/>
            </a:pPr>
            <a:r>
              <a:rPr lang="en-US" sz="2800" dirty="0">
                <a:latin typeface="Cambria" panose="02040503050406030204" pitchFamily="18" charset="0"/>
                <a:ea typeface="Cambria" panose="02040503050406030204" pitchFamily="18" charset="0"/>
              </a:rPr>
              <a:t>The attributes used to put entities into </a:t>
            </a:r>
            <a:r>
              <a:rPr lang="en-US" sz="2800" dirty="0">
                <a:solidFill>
                  <a:srgbClr val="FF0000"/>
                </a:solidFill>
                <a:latin typeface="Cambria" panose="02040503050406030204" pitchFamily="18" charset="0"/>
                <a:ea typeface="Cambria" panose="02040503050406030204" pitchFamily="18" charset="0"/>
              </a:rPr>
              <a:t>categories.</a:t>
            </a:r>
            <a:r>
              <a:rPr lang="en-US" sz="2800" dirty="0">
                <a:latin typeface="Cambria" panose="02040503050406030204" pitchFamily="18" charset="0"/>
                <a:ea typeface="Cambria" panose="02040503050406030204" pitchFamily="18" charset="0"/>
              </a:rPr>
              <a:t> </a:t>
            </a:r>
          </a:p>
          <a:p>
            <a:pPr algn="just">
              <a:spcBef>
                <a:spcPts val="300"/>
              </a:spcBef>
              <a:defRPr/>
            </a:pPr>
            <a:r>
              <a:rPr lang="en-US" sz="2800" dirty="0">
                <a:latin typeface="Cambria" panose="02040503050406030204" pitchFamily="18" charset="0"/>
                <a:ea typeface="Cambria" panose="02040503050406030204" pitchFamily="18" charset="0"/>
              </a:rPr>
              <a:t>Predefined set of values. </a:t>
            </a:r>
          </a:p>
          <a:p>
            <a:pPr algn="just">
              <a:spcBef>
                <a:spcPts val="300"/>
              </a:spcBef>
              <a:defRPr/>
            </a:pPr>
            <a:r>
              <a:rPr lang="en-US" sz="2800" dirty="0">
                <a:solidFill>
                  <a:srgbClr val="FF0000"/>
                </a:solidFill>
                <a:latin typeface="Cambria" panose="02040503050406030204" pitchFamily="18" charset="0"/>
                <a:ea typeface="Cambria" panose="02040503050406030204" pitchFamily="18" charset="0"/>
              </a:rPr>
              <a:t>Examples:</a:t>
            </a:r>
            <a:r>
              <a:rPr lang="en-US" sz="2800" dirty="0">
                <a:latin typeface="Cambria" panose="02040503050406030204" pitchFamily="18" charset="0"/>
                <a:ea typeface="Cambria" panose="02040503050406030204" pitchFamily="18" charset="0"/>
              </a:rPr>
              <a:t> Occupation, Marital-status, Province etc. </a:t>
            </a:r>
          </a:p>
          <a:p>
            <a:pPr algn="just">
              <a:spcBef>
                <a:spcPts val="300"/>
              </a:spcBef>
              <a:defRPr/>
            </a:pPr>
            <a:r>
              <a:rPr lang="en-US" sz="2800" dirty="0">
                <a:latin typeface="Cambria" panose="02040503050406030204" pitchFamily="18" charset="0"/>
                <a:ea typeface="Cambria" panose="02040503050406030204" pitchFamily="18" charset="0"/>
              </a:rPr>
              <a:t>Nominal attributes may be represented using numbers, however, mathematical operations on nominal attributes are not meaningful.</a:t>
            </a:r>
          </a:p>
          <a:p>
            <a:pPr marL="0" indent="0" algn="just">
              <a:spcBef>
                <a:spcPts val="300"/>
              </a:spcBef>
              <a:buNone/>
              <a:defRPr/>
            </a:pPr>
            <a:r>
              <a:rPr lang="en-US" sz="2800" dirty="0">
                <a:solidFill>
                  <a:srgbClr val="0033CC"/>
                </a:solidFill>
                <a:latin typeface="Cambria" panose="02040503050406030204" pitchFamily="18" charset="0"/>
                <a:ea typeface="Cambria" panose="02040503050406030204" pitchFamily="18" charset="0"/>
              </a:rPr>
              <a:t>Binary Attributes: </a:t>
            </a:r>
          </a:p>
          <a:p>
            <a:pPr algn="just">
              <a:spcBef>
                <a:spcPts val="300"/>
              </a:spcBef>
              <a:defRPr/>
            </a:pPr>
            <a:r>
              <a:rPr lang="en-US" sz="2800" dirty="0">
                <a:latin typeface="Cambria" panose="02040503050406030204" pitchFamily="18" charset="0"/>
                <a:ea typeface="Cambria" panose="02040503050406030204" pitchFamily="18" charset="0"/>
              </a:rPr>
              <a:t>A binary attribute is a special case of nominal attribute with only two categories. </a:t>
            </a:r>
          </a:p>
          <a:p>
            <a:pPr algn="just">
              <a:spcBef>
                <a:spcPts val="300"/>
              </a:spcBef>
              <a:defRPr/>
            </a:pPr>
            <a:r>
              <a:rPr lang="en-US" sz="2800" dirty="0">
                <a:solidFill>
                  <a:srgbClr val="FF0000"/>
                </a:solidFill>
                <a:latin typeface="Cambria" panose="02040503050406030204" pitchFamily="18" charset="0"/>
                <a:ea typeface="Cambria" panose="02040503050406030204" pitchFamily="18" charset="0"/>
              </a:rPr>
              <a:t>Examples:</a:t>
            </a:r>
            <a:r>
              <a:rPr lang="en-US" sz="2800" dirty="0">
                <a:latin typeface="Cambria" panose="02040503050406030204" pitchFamily="18" charset="0"/>
                <a:ea typeface="Cambria" panose="02040503050406030204" pitchFamily="18" charset="0"/>
              </a:rPr>
              <a:t> Class-attendance-status, gender etc.</a:t>
            </a:r>
          </a:p>
          <a:p>
            <a:pPr algn="just">
              <a:spcBef>
                <a:spcPts val="300"/>
              </a:spcBef>
              <a:defRPr/>
            </a:pPr>
            <a:endParaRPr lang="en-US" sz="2800" dirty="0">
              <a:latin typeface="Cambria" panose="02040503050406030204" pitchFamily="18" charset="0"/>
              <a:ea typeface="Cambria" panose="02040503050406030204" pitchFamily="18" charset="0"/>
            </a:endParaRPr>
          </a:p>
          <a:p>
            <a:pPr algn="just">
              <a:spcBef>
                <a:spcPts val="300"/>
              </a:spcBef>
              <a:defRPr/>
            </a:pPr>
            <a:endParaRPr lang="en-US" sz="28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503A8760-11D5-E683-3015-733A8B1B3E1C}"/>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C98EB88F-3B14-0F6C-D159-C54F79064A5B}"/>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12198452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44230-D808-A96F-38A2-7BE1029D7AE4}"/>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94A4D6EA-FFE6-383C-2344-F7AA02495880}"/>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Types of Attributes</a:t>
            </a:r>
          </a:p>
        </p:txBody>
      </p:sp>
      <p:sp>
        <p:nvSpPr>
          <p:cNvPr id="10243" name="Rectangle 3">
            <a:extLst>
              <a:ext uri="{FF2B5EF4-FFF2-40B4-BE49-F238E27FC236}">
                <a16:creationId xmlns:a16="http://schemas.microsoft.com/office/drawing/2014/main" id="{375F288B-5681-EE77-0195-CEEFB56103C6}"/>
              </a:ext>
            </a:extLst>
          </p:cNvPr>
          <p:cNvSpPr>
            <a:spLocks noGrp="1" noChangeArrowheads="1"/>
          </p:cNvSpPr>
          <p:nvPr>
            <p:ph type="body" idx="1"/>
          </p:nvPr>
        </p:nvSpPr>
        <p:spPr>
          <a:xfrm>
            <a:off x="412751" y="682972"/>
            <a:ext cx="8407721" cy="5194300"/>
          </a:xfrm>
        </p:spPr>
        <p:txBody>
          <a:bodyPr/>
          <a:lstStyle/>
          <a:p>
            <a:pPr marL="0" indent="0" algn="just">
              <a:spcBef>
                <a:spcPts val="300"/>
              </a:spcBef>
              <a:buNone/>
              <a:defRPr/>
            </a:pPr>
            <a:r>
              <a:rPr lang="en-US" sz="2800" dirty="0">
                <a:solidFill>
                  <a:srgbClr val="0033CC"/>
                </a:solidFill>
                <a:latin typeface="Cambria" panose="02040503050406030204" pitchFamily="18" charset="0"/>
                <a:ea typeface="Cambria" panose="02040503050406030204" pitchFamily="18" charset="0"/>
              </a:rPr>
              <a:t>1. Qualitative Data</a:t>
            </a:r>
          </a:p>
          <a:p>
            <a:pPr marL="0" indent="0" algn="just">
              <a:spcBef>
                <a:spcPts val="300"/>
              </a:spcBef>
              <a:buNone/>
              <a:defRPr/>
            </a:pPr>
            <a:r>
              <a:rPr lang="en-US" sz="2800" dirty="0">
                <a:solidFill>
                  <a:srgbClr val="FF0000"/>
                </a:solidFill>
                <a:latin typeface="Cambria" panose="02040503050406030204" pitchFamily="18" charset="0"/>
                <a:ea typeface="Cambria" panose="02040503050406030204" pitchFamily="18" charset="0"/>
              </a:rPr>
              <a:t>b) Ordinal Attributes: </a:t>
            </a:r>
          </a:p>
          <a:p>
            <a:pPr algn="just">
              <a:spcBef>
                <a:spcPts val="300"/>
              </a:spcBef>
              <a:defRPr/>
            </a:pPr>
            <a:r>
              <a:rPr lang="en-US" sz="2800" dirty="0">
                <a:latin typeface="Cambria" panose="02040503050406030204" pitchFamily="18" charset="0"/>
                <a:ea typeface="Cambria" panose="02040503050406030204" pitchFamily="18" charset="0"/>
              </a:rPr>
              <a:t>An ordinal attribute is an attribute with possible values that have a meaningful order or ranking among them, but the magnitude between successive values may not be known.</a:t>
            </a:r>
          </a:p>
          <a:p>
            <a:pPr algn="just">
              <a:spcBef>
                <a:spcPts val="300"/>
              </a:spcBef>
              <a:defRPr/>
            </a:pPr>
            <a:r>
              <a:rPr lang="en-US" sz="2800" dirty="0">
                <a:solidFill>
                  <a:srgbClr val="FF0000"/>
                </a:solidFill>
                <a:latin typeface="Cambria" panose="02040503050406030204" pitchFamily="18" charset="0"/>
                <a:ea typeface="Cambria" panose="02040503050406030204" pitchFamily="18" charset="0"/>
              </a:rPr>
              <a:t>Examples:</a:t>
            </a:r>
            <a:r>
              <a:rPr lang="en-US" sz="2800" dirty="0">
                <a:latin typeface="Cambria" panose="02040503050406030204" pitchFamily="18" charset="0"/>
                <a:ea typeface="Cambria" panose="02040503050406030204" pitchFamily="18" charset="0"/>
              </a:rPr>
              <a:t> Grade, drink-size (small, medium, large)</a:t>
            </a:r>
          </a:p>
          <a:p>
            <a:pPr algn="just">
              <a:spcBef>
                <a:spcPts val="300"/>
              </a:spcBef>
              <a:defRPr/>
            </a:pPr>
            <a:r>
              <a:rPr lang="en-US" sz="2800" dirty="0">
                <a:latin typeface="Cambria" panose="02040503050406030204" pitchFamily="18" charset="0"/>
                <a:ea typeface="Cambria" panose="02040503050406030204" pitchFamily="18" charset="0"/>
              </a:rPr>
              <a:t>Describe a feature of an object without giving an actual size or quantity.</a:t>
            </a:r>
          </a:p>
          <a:p>
            <a:pPr algn="just">
              <a:spcBef>
                <a:spcPts val="300"/>
              </a:spcBef>
              <a:defRPr/>
            </a:pPr>
            <a:endParaRPr lang="en-US" sz="2800" dirty="0">
              <a:latin typeface="Cambria" panose="02040503050406030204" pitchFamily="18" charset="0"/>
              <a:ea typeface="Cambria" panose="02040503050406030204" pitchFamily="18" charset="0"/>
            </a:endParaRPr>
          </a:p>
          <a:p>
            <a:pPr algn="just">
              <a:spcBef>
                <a:spcPts val="300"/>
              </a:spcBef>
              <a:defRPr/>
            </a:pPr>
            <a:endParaRPr lang="en-US" sz="28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3FAD1FE9-DDCB-7405-A59C-56F1B7DE5CBF}"/>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50C37C81-3A19-0257-E60D-235CDDA7CBD6}"/>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6613677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FF436-F9FC-9C6B-CE93-9748390F6E5D}"/>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8EA5BD97-D33F-F0A0-A560-BD42BBE12E8D}"/>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Types of Attributes</a:t>
            </a:r>
          </a:p>
        </p:txBody>
      </p:sp>
      <p:sp>
        <p:nvSpPr>
          <p:cNvPr id="10243" name="Rectangle 3">
            <a:extLst>
              <a:ext uri="{FF2B5EF4-FFF2-40B4-BE49-F238E27FC236}">
                <a16:creationId xmlns:a16="http://schemas.microsoft.com/office/drawing/2014/main" id="{BFD1C38B-8FBC-E440-E848-9903BCD344F0}"/>
              </a:ext>
            </a:extLst>
          </p:cNvPr>
          <p:cNvSpPr>
            <a:spLocks noGrp="1" noChangeArrowheads="1"/>
          </p:cNvSpPr>
          <p:nvPr>
            <p:ph type="body" idx="1"/>
          </p:nvPr>
        </p:nvSpPr>
        <p:spPr>
          <a:xfrm>
            <a:off x="412751" y="682972"/>
            <a:ext cx="8407721" cy="5194300"/>
          </a:xfrm>
        </p:spPr>
        <p:txBody>
          <a:bodyPr/>
          <a:lstStyle/>
          <a:p>
            <a:pPr marL="0" indent="0" algn="just">
              <a:spcBef>
                <a:spcPts val="300"/>
              </a:spcBef>
              <a:buNone/>
              <a:defRPr/>
            </a:pPr>
            <a:r>
              <a:rPr lang="en-US" sz="2800" dirty="0">
                <a:solidFill>
                  <a:srgbClr val="0033CC"/>
                </a:solidFill>
                <a:latin typeface="Cambria" panose="02040503050406030204" pitchFamily="18" charset="0"/>
                <a:ea typeface="Cambria" panose="02040503050406030204" pitchFamily="18" charset="0"/>
              </a:rPr>
              <a:t>2. </a:t>
            </a:r>
            <a:r>
              <a:rPr lang="en-US" sz="2800" dirty="0" err="1">
                <a:solidFill>
                  <a:srgbClr val="0033CC"/>
                </a:solidFill>
                <a:latin typeface="Cambria" panose="02040503050406030204" pitchFamily="18" charset="0"/>
                <a:ea typeface="Cambria" panose="02040503050406030204" pitchFamily="18" charset="0"/>
              </a:rPr>
              <a:t>Quantative</a:t>
            </a:r>
            <a:r>
              <a:rPr lang="en-US" sz="2800" dirty="0">
                <a:solidFill>
                  <a:srgbClr val="0033CC"/>
                </a:solidFill>
                <a:latin typeface="Cambria" panose="02040503050406030204" pitchFamily="18" charset="0"/>
                <a:ea typeface="Cambria" panose="02040503050406030204" pitchFamily="18" charset="0"/>
              </a:rPr>
              <a:t> or Numeric Data:</a:t>
            </a:r>
          </a:p>
          <a:p>
            <a:pPr marL="0" indent="0" algn="just">
              <a:spcBef>
                <a:spcPts val="300"/>
              </a:spcBef>
              <a:buNone/>
              <a:defRPr/>
            </a:pPr>
            <a:r>
              <a:rPr lang="en-US" sz="2800" dirty="0">
                <a:solidFill>
                  <a:srgbClr val="FF0000"/>
                </a:solidFill>
                <a:latin typeface="Cambria" panose="02040503050406030204" pitchFamily="18" charset="0"/>
                <a:ea typeface="Cambria" panose="02040503050406030204" pitchFamily="18" charset="0"/>
              </a:rPr>
              <a:t>a)  Discrete Attributes:</a:t>
            </a:r>
          </a:p>
          <a:p>
            <a:pPr algn="just">
              <a:spcBef>
                <a:spcPts val="300"/>
              </a:spcBef>
              <a:defRPr/>
            </a:pPr>
            <a:r>
              <a:rPr lang="en-US" sz="2800" dirty="0">
                <a:latin typeface="Cambria" panose="02040503050406030204" pitchFamily="18" charset="0"/>
                <a:ea typeface="Cambria" panose="02040503050406030204" pitchFamily="18" charset="0"/>
              </a:rPr>
              <a:t>The discrete data are countable and have </a:t>
            </a:r>
            <a:r>
              <a:rPr lang="en-US" sz="2800" dirty="0">
                <a:solidFill>
                  <a:srgbClr val="0033CC"/>
                </a:solidFill>
                <a:latin typeface="Cambria" panose="02040503050406030204" pitchFamily="18" charset="0"/>
                <a:ea typeface="Cambria" panose="02040503050406030204" pitchFamily="18" charset="0"/>
              </a:rPr>
              <a:t>finite values.</a:t>
            </a:r>
          </a:p>
          <a:p>
            <a:pPr algn="just">
              <a:spcBef>
                <a:spcPts val="300"/>
              </a:spcBef>
              <a:defRPr/>
            </a:pPr>
            <a:r>
              <a:rPr lang="en-US" sz="2800" dirty="0">
                <a:solidFill>
                  <a:srgbClr val="FF0000"/>
                </a:solidFill>
                <a:latin typeface="Cambria" panose="02040503050406030204" pitchFamily="18" charset="0"/>
                <a:ea typeface="Cambria" panose="02040503050406030204" pitchFamily="18" charset="0"/>
              </a:rPr>
              <a:t>Examples: </a:t>
            </a:r>
            <a:r>
              <a:rPr lang="en-US" sz="2800" dirty="0">
                <a:latin typeface="Cambria" panose="02040503050406030204" pitchFamily="18" charset="0"/>
                <a:ea typeface="Cambria" panose="02040503050406030204" pitchFamily="18" charset="0"/>
              </a:rPr>
              <a:t>Number of students in a class, Number of leaves of an employee, etc. </a:t>
            </a:r>
          </a:p>
          <a:p>
            <a:pPr marL="0" indent="0" algn="just">
              <a:spcBef>
                <a:spcPts val="300"/>
              </a:spcBef>
              <a:buNone/>
              <a:defRPr/>
            </a:pPr>
            <a:r>
              <a:rPr lang="en-US" sz="2800" dirty="0">
                <a:solidFill>
                  <a:srgbClr val="FF0000"/>
                </a:solidFill>
                <a:latin typeface="Cambria" panose="02040503050406030204" pitchFamily="18" charset="0"/>
                <a:ea typeface="Cambria" panose="02040503050406030204" pitchFamily="18" charset="0"/>
              </a:rPr>
              <a:t>b) Continuous Attributes:</a:t>
            </a:r>
          </a:p>
          <a:p>
            <a:pPr algn="just">
              <a:spcBef>
                <a:spcPts val="300"/>
              </a:spcBef>
              <a:defRPr/>
            </a:pPr>
            <a:r>
              <a:rPr lang="en-US" sz="2800" dirty="0">
                <a:latin typeface="Cambria" panose="02040503050406030204" pitchFamily="18" charset="0"/>
                <a:ea typeface="Cambria" panose="02040503050406030204" pitchFamily="18" charset="0"/>
              </a:rPr>
              <a:t>Continuous data represents information that can be divided into smaller levels or </a:t>
            </a:r>
            <a:r>
              <a:rPr lang="en-US" sz="2800" dirty="0">
                <a:solidFill>
                  <a:srgbClr val="0033CC"/>
                </a:solidFill>
                <a:latin typeface="Cambria" panose="02040503050406030204" pitchFamily="18" charset="0"/>
                <a:ea typeface="Cambria" panose="02040503050406030204" pitchFamily="18" charset="0"/>
              </a:rPr>
              <a:t>infinite values.</a:t>
            </a:r>
          </a:p>
          <a:p>
            <a:pPr algn="just">
              <a:spcBef>
                <a:spcPts val="300"/>
              </a:spcBef>
              <a:defRPr/>
            </a:pPr>
            <a:r>
              <a:rPr lang="en-US" sz="2800" dirty="0">
                <a:solidFill>
                  <a:srgbClr val="FF0000"/>
                </a:solidFill>
                <a:latin typeface="Cambria" panose="02040503050406030204" pitchFamily="18" charset="0"/>
                <a:ea typeface="Cambria" panose="02040503050406030204" pitchFamily="18" charset="0"/>
              </a:rPr>
              <a:t>Examples: </a:t>
            </a:r>
            <a:r>
              <a:rPr lang="en-US" sz="2800" dirty="0">
                <a:latin typeface="Cambria" panose="02040503050406030204" pitchFamily="18" charset="0"/>
                <a:ea typeface="Cambria" panose="02040503050406030204" pitchFamily="18" charset="0"/>
              </a:rPr>
              <a:t>Height of a person, Speed of a vehicle, etc.</a:t>
            </a:r>
            <a:r>
              <a:rPr lang="en-US" sz="2800" dirty="0">
                <a:solidFill>
                  <a:srgbClr val="FF0000"/>
                </a:solidFill>
                <a:latin typeface="Cambria" panose="02040503050406030204" pitchFamily="18" charset="0"/>
                <a:ea typeface="Cambria" panose="02040503050406030204" pitchFamily="18" charset="0"/>
              </a:rPr>
              <a:t> </a:t>
            </a:r>
            <a:endParaRPr lang="en-US" sz="2800" dirty="0">
              <a:latin typeface="Cambria" panose="02040503050406030204" pitchFamily="18" charset="0"/>
              <a:ea typeface="Cambria" panose="02040503050406030204" pitchFamily="18" charset="0"/>
            </a:endParaRPr>
          </a:p>
          <a:p>
            <a:pPr algn="just">
              <a:spcBef>
                <a:spcPts val="300"/>
              </a:spcBef>
              <a:defRPr/>
            </a:pPr>
            <a:endParaRPr lang="en-US" sz="2800" dirty="0">
              <a:latin typeface="Cambria" panose="02040503050406030204" pitchFamily="18" charset="0"/>
              <a:ea typeface="Cambria" panose="02040503050406030204" pitchFamily="18" charset="0"/>
            </a:endParaRPr>
          </a:p>
          <a:p>
            <a:pPr algn="just">
              <a:spcBef>
                <a:spcPts val="300"/>
              </a:spcBef>
              <a:defRPr/>
            </a:pPr>
            <a:endParaRPr lang="en-US" sz="28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4A93E1D7-F16A-DBBE-0A53-30A284AC00C7}"/>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164718F4-CF59-BD3B-E81C-64493326007D}"/>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3946990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2EB74-1D2F-5E6C-F1B2-A016A910AE0D}"/>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C9D404A8-FB2E-F639-126C-380C1BD420F5}"/>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Binary Classes of Attributes</a:t>
            </a:r>
          </a:p>
        </p:txBody>
      </p:sp>
      <p:sp>
        <p:nvSpPr>
          <p:cNvPr id="10243" name="Rectangle 3">
            <a:extLst>
              <a:ext uri="{FF2B5EF4-FFF2-40B4-BE49-F238E27FC236}">
                <a16:creationId xmlns:a16="http://schemas.microsoft.com/office/drawing/2014/main" id="{1071952C-FDA9-E094-9F5D-1A04FEF9763C}"/>
              </a:ext>
            </a:extLst>
          </p:cNvPr>
          <p:cNvSpPr>
            <a:spLocks noGrp="1" noChangeArrowheads="1"/>
          </p:cNvSpPr>
          <p:nvPr>
            <p:ph type="body" idx="1"/>
          </p:nvPr>
        </p:nvSpPr>
        <p:spPr>
          <a:xfrm>
            <a:off x="412751" y="682972"/>
            <a:ext cx="8407721" cy="5194300"/>
          </a:xfrm>
        </p:spPr>
        <p:txBody>
          <a:bodyPr/>
          <a:lstStyle/>
          <a:p>
            <a:pPr marL="514350" indent="-514350" algn="just">
              <a:spcBef>
                <a:spcPts val="300"/>
              </a:spcBef>
              <a:buFont typeface="+mj-lt"/>
              <a:buAutoNum type="arabicPeriod"/>
              <a:defRPr/>
            </a:pPr>
            <a:r>
              <a:rPr lang="en-US" sz="2800" dirty="0">
                <a:latin typeface="Cambria" panose="02040503050406030204" pitchFamily="18" charset="0"/>
                <a:ea typeface="Cambria" panose="02040503050406030204" pitchFamily="18" charset="0"/>
              </a:rPr>
              <a:t>Required Attribute / Optional Attribute</a:t>
            </a:r>
          </a:p>
          <a:p>
            <a:pPr marL="514350" indent="-514350" algn="just">
              <a:spcBef>
                <a:spcPts val="300"/>
              </a:spcBef>
              <a:buFont typeface="+mj-lt"/>
              <a:buAutoNum type="arabicPeriod"/>
              <a:defRPr/>
            </a:pPr>
            <a:r>
              <a:rPr lang="en-US" sz="2800" dirty="0">
                <a:latin typeface="Cambria" panose="02040503050406030204" pitchFamily="18" charset="0"/>
                <a:ea typeface="Cambria" panose="02040503050406030204" pitchFamily="18" charset="0"/>
              </a:rPr>
              <a:t>Atomic Attribute / Composite Attribute </a:t>
            </a:r>
          </a:p>
          <a:p>
            <a:pPr marL="514350" indent="-514350" algn="just">
              <a:spcBef>
                <a:spcPts val="300"/>
              </a:spcBef>
              <a:buFont typeface="+mj-lt"/>
              <a:buAutoNum type="arabicPeriod"/>
              <a:defRPr/>
            </a:pPr>
            <a:r>
              <a:rPr lang="en-US" sz="2800" dirty="0">
                <a:latin typeface="Cambria" panose="02040503050406030204" pitchFamily="18" charset="0"/>
                <a:ea typeface="Cambria" panose="02040503050406030204" pitchFamily="18" charset="0"/>
              </a:rPr>
              <a:t>Single Valued Attribute / Multi-valued Attribute</a:t>
            </a:r>
          </a:p>
          <a:p>
            <a:pPr marL="514350" indent="-514350" algn="just">
              <a:spcBef>
                <a:spcPts val="300"/>
              </a:spcBef>
              <a:buFont typeface="+mj-lt"/>
              <a:buAutoNum type="arabicPeriod"/>
              <a:defRPr/>
            </a:pPr>
            <a:r>
              <a:rPr lang="en-US" sz="2800" dirty="0">
                <a:latin typeface="Cambria" panose="02040503050406030204" pitchFamily="18" charset="0"/>
                <a:ea typeface="Cambria" panose="02040503050406030204" pitchFamily="18" charset="0"/>
              </a:rPr>
              <a:t>Base Attribute / Derived Attribute </a:t>
            </a:r>
          </a:p>
          <a:p>
            <a:pPr marL="514350" indent="-514350" algn="just">
              <a:spcBef>
                <a:spcPts val="300"/>
              </a:spcBef>
              <a:buFont typeface="+mj-lt"/>
              <a:buAutoNum type="arabicPeriod"/>
              <a:defRPr/>
            </a:pPr>
            <a:r>
              <a:rPr lang="en-US" sz="2800" dirty="0">
                <a:latin typeface="Cambria" panose="02040503050406030204" pitchFamily="18" charset="0"/>
                <a:ea typeface="Cambria" panose="02040503050406030204" pitchFamily="18" charset="0"/>
              </a:rPr>
              <a:t>Discrete Attribute / Continuous Attribute</a:t>
            </a:r>
          </a:p>
          <a:p>
            <a:pPr marL="0" indent="0" algn="just">
              <a:spcBef>
                <a:spcPts val="300"/>
              </a:spcBef>
              <a:buNone/>
              <a:defRPr/>
            </a:pPr>
            <a:r>
              <a:rPr lang="en-US" sz="2800" dirty="0">
                <a:solidFill>
                  <a:srgbClr val="FF0000"/>
                </a:solidFill>
                <a:latin typeface="Cambria" panose="02040503050406030204" pitchFamily="18" charset="0"/>
                <a:ea typeface="Cambria" panose="02040503050406030204" pitchFamily="18" charset="0"/>
              </a:rPr>
              <a:t> </a:t>
            </a:r>
            <a:endParaRPr lang="en-US" sz="2800" dirty="0">
              <a:latin typeface="Cambria" panose="02040503050406030204" pitchFamily="18" charset="0"/>
              <a:ea typeface="Cambria" panose="02040503050406030204" pitchFamily="18" charset="0"/>
            </a:endParaRPr>
          </a:p>
          <a:p>
            <a:pPr algn="just">
              <a:spcBef>
                <a:spcPts val="300"/>
              </a:spcBef>
              <a:defRPr/>
            </a:pPr>
            <a:endParaRPr lang="en-US" sz="28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9F6AC0A4-1E35-D324-A82E-6E6161E104C4}"/>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47CC9354-B606-8B67-C7B1-EB10BF5C1793}"/>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83911832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8E985-B6C6-4D07-9708-82E83EB2F21A}"/>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1F5F077F-71F1-C63A-5AAD-F7F752AB9652}"/>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Binary Classes of Attributes</a:t>
            </a:r>
          </a:p>
        </p:txBody>
      </p:sp>
      <p:sp>
        <p:nvSpPr>
          <p:cNvPr id="10243" name="Rectangle 3">
            <a:extLst>
              <a:ext uri="{FF2B5EF4-FFF2-40B4-BE49-F238E27FC236}">
                <a16:creationId xmlns:a16="http://schemas.microsoft.com/office/drawing/2014/main" id="{99E682CA-76BD-D1A2-664A-087885EF5F1F}"/>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800" dirty="0">
                <a:solidFill>
                  <a:srgbClr val="0033CC"/>
                </a:solidFill>
                <a:latin typeface="Cambria" panose="02040503050406030204" pitchFamily="18" charset="0"/>
                <a:ea typeface="Cambria" panose="02040503050406030204" pitchFamily="18" charset="0"/>
              </a:rPr>
              <a:t>Required Attribute:</a:t>
            </a:r>
            <a:r>
              <a:rPr lang="en-US" sz="2800" dirty="0">
                <a:latin typeface="Cambria" panose="02040503050406030204" pitchFamily="18" charset="0"/>
                <a:ea typeface="Cambria" panose="02040503050406030204" pitchFamily="18" charset="0"/>
              </a:rPr>
              <a:t> An attribute of an entity that must have a value for each entity instance</a:t>
            </a:r>
          </a:p>
          <a:p>
            <a:pPr algn="just">
              <a:spcBef>
                <a:spcPts val="300"/>
              </a:spcBef>
              <a:defRPr/>
            </a:pPr>
            <a:r>
              <a:rPr lang="en-US" sz="2800" dirty="0">
                <a:solidFill>
                  <a:srgbClr val="FF0000"/>
                </a:solidFill>
                <a:latin typeface="Cambria" panose="02040503050406030204" pitchFamily="18" charset="0"/>
                <a:ea typeface="Cambria" panose="02040503050406030204" pitchFamily="18" charset="0"/>
              </a:rPr>
              <a:t>Optional Attribute:</a:t>
            </a:r>
            <a:r>
              <a:rPr lang="en-US" sz="2800" dirty="0">
                <a:latin typeface="Cambria" panose="02040503050406030204" pitchFamily="18" charset="0"/>
                <a:ea typeface="Cambria" panose="02040503050406030204" pitchFamily="18" charset="0"/>
              </a:rPr>
              <a:t> An attribute of an entity that may/may not have a value for every entity instance.</a:t>
            </a:r>
          </a:p>
          <a:p>
            <a:pPr algn="just">
              <a:spcBef>
                <a:spcPts val="300"/>
              </a:spcBef>
              <a:defRPr/>
            </a:pPr>
            <a:endParaRPr lang="en-US" sz="2800" dirty="0">
              <a:latin typeface="Cambria" panose="02040503050406030204" pitchFamily="18" charset="0"/>
              <a:ea typeface="Cambria" panose="02040503050406030204" pitchFamily="18" charset="0"/>
            </a:endParaRPr>
          </a:p>
          <a:p>
            <a:pPr algn="just">
              <a:spcBef>
                <a:spcPts val="300"/>
              </a:spcBef>
              <a:defRPr/>
            </a:pPr>
            <a:endParaRPr lang="en-US" sz="28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03E56A96-A0B6-BFEB-7736-B1CB5B0CCB80}"/>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E0C6E843-4CA4-6843-7CD4-88BD28DB25B6}"/>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grpSp>
        <p:nvGrpSpPr>
          <p:cNvPr id="4" name="Group 4">
            <a:extLst>
              <a:ext uri="{FF2B5EF4-FFF2-40B4-BE49-F238E27FC236}">
                <a16:creationId xmlns:a16="http://schemas.microsoft.com/office/drawing/2014/main" id="{20A24481-E6AE-60AD-5B02-AF0943C5795E}"/>
              </a:ext>
            </a:extLst>
          </p:cNvPr>
          <p:cNvGrpSpPr>
            <a:grpSpLocks/>
          </p:cNvGrpSpPr>
          <p:nvPr/>
        </p:nvGrpSpPr>
        <p:grpSpPr bwMode="auto">
          <a:xfrm>
            <a:off x="386358" y="3102632"/>
            <a:ext cx="8534400" cy="2057400"/>
            <a:chOff x="240" y="2496"/>
            <a:chExt cx="4560" cy="1296"/>
          </a:xfrm>
        </p:grpSpPr>
        <p:cxnSp>
          <p:nvCxnSpPr>
            <p:cNvPr id="5" name="AutoShape 5">
              <a:extLst>
                <a:ext uri="{FF2B5EF4-FFF2-40B4-BE49-F238E27FC236}">
                  <a16:creationId xmlns:a16="http://schemas.microsoft.com/office/drawing/2014/main" id="{6EC6C0E3-CD2B-ECED-EA2B-537D455EA991}"/>
                </a:ext>
              </a:extLst>
            </p:cNvPr>
            <p:cNvCxnSpPr>
              <a:cxnSpLocks noChangeShapeType="1"/>
              <a:stCxn id="6" idx="0"/>
              <a:endCxn id="7" idx="4"/>
            </p:cNvCxnSpPr>
            <p:nvPr/>
          </p:nvCxnSpPr>
          <p:spPr bwMode="auto">
            <a:xfrm flipH="1" flipV="1">
              <a:off x="1488" y="3024"/>
              <a:ext cx="648" cy="43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6" name="Rectangle 6">
              <a:extLst>
                <a:ext uri="{FF2B5EF4-FFF2-40B4-BE49-F238E27FC236}">
                  <a16:creationId xmlns:a16="http://schemas.microsoft.com/office/drawing/2014/main" id="{FC73E155-2080-D30F-D630-CFAD4601A2AC}"/>
                </a:ext>
              </a:extLst>
            </p:cNvPr>
            <p:cNvSpPr>
              <a:spLocks noChangeArrowheads="1"/>
            </p:cNvSpPr>
            <p:nvPr/>
          </p:nvSpPr>
          <p:spPr bwMode="auto">
            <a:xfrm>
              <a:off x="1536" y="3456"/>
              <a:ext cx="1200" cy="336"/>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2000">
                  <a:latin typeface="Cambria" panose="02040503050406030204" pitchFamily="18" charset="0"/>
                  <a:ea typeface="Cambria" panose="02040503050406030204" pitchFamily="18" charset="0"/>
                </a:rPr>
                <a:t>STUDENT</a:t>
              </a:r>
            </a:p>
          </p:txBody>
        </p:sp>
        <p:sp>
          <p:nvSpPr>
            <p:cNvPr id="7" name="Oval 7">
              <a:extLst>
                <a:ext uri="{FF2B5EF4-FFF2-40B4-BE49-F238E27FC236}">
                  <a16:creationId xmlns:a16="http://schemas.microsoft.com/office/drawing/2014/main" id="{D0B5952E-5124-D248-243B-C3565C42506B}"/>
                </a:ext>
              </a:extLst>
            </p:cNvPr>
            <p:cNvSpPr>
              <a:spLocks noChangeArrowheads="1"/>
            </p:cNvSpPr>
            <p:nvPr/>
          </p:nvSpPr>
          <p:spPr bwMode="auto">
            <a:xfrm>
              <a:off x="912" y="2496"/>
              <a:ext cx="1152" cy="528"/>
            </a:xfrm>
            <a:prstGeom prst="ellipse">
              <a:avLst/>
            </a:prstGeom>
            <a:solidFill>
              <a:srgbClr val="3399FF"/>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2000" dirty="0">
                  <a:latin typeface="Cambria" panose="02040503050406030204" pitchFamily="18" charset="0"/>
                  <a:ea typeface="Cambria" panose="02040503050406030204" pitchFamily="18" charset="0"/>
                </a:rPr>
                <a:t>Name</a:t>
              </a:r>
              <a:r>
                <a:rPr lang="en-US" altLang="en-US" sz="2000" dirty="0">
                  <a:solidFill>
                    <a:srgbClr val="CC0000"/>
                  </a:solidFill>
                  <a:latin typeface="Cambria" panose="02040503050406030204" pitchFamily="18" charset="0"/>
                  <a:ea typeface="Cambria" panose="02040503050406030204" pitchFamily="18" charset="0"/>
                </a:rPr>
                <a:t>*</a:t>
              </a:r>
            </a:p>
          </p:txBody>
        </p:sp>
        <p:sp>
          <p:nvSpPr>
            <p:cNvPr id="8" name="Oval 8">
              <a:extLst>
                <a:ext uri="{FF2B5EF4-FFF2-40B4-BE49-F238E27FC236}">
                  <a16:creationId xmlns:a16="http://schemas.microsoft.com/office/drawing/2014/main" id="{E10FF7CE-2990-A24A-91D1-097194230C2D}"/>
                </a:ext>
              </a:extLst>
            </p:cNvPr>
            <p:cNvSpPr>
              <a:spLocks noChangeArrowheads="1"/>
            </p:cNvSpPr>
            <p:nvPr/>
          </p:nvSpPr>
          <p:spPr bwMode="auto">
            <a:xfrm>
              <a:off x="2640" y="2496"/>
              <a:ext cx="1152" cy="528"/>
            </a:xfrm>
            <a:prstGeom prst="ellipse">
              <a:avLst/>
            </a:prstGeom>
            <a:solidFill>
              <a:srgbClr val="FFFF00"/>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2000" dirty="0" err="1">
                  <a:latin typeface="Cambria" panose="02040503050406030204" pitchFamily="18" charset="0"/>
                  <a:ea typeface="Cambria" panose="02040503050406030204" pitchFamily="18" charset="0"/>
                </a:rPr>
                <a:t>Mobile_Number</a:t>
              </a:r>
              <a:r>
                <a:rPr lang="en-US" altLang="en-US" sz="2000" baseline="30000" dirty="0" err="1">
                  <a:solidFill>
                    <a:srgbClr val="CC0000"/>
                  </a:solidFill>
                  <a:latin typeface="Cambria" panose="02040503050406030204" pitchFamily="18" charset="0"/>
                  <a:ea typeface="Cambria" panose="02040503050406030204" pitchFamily="18" charset="0"/>
                </a:rPr>
                <a:t>O</a:t>
              </a:r>
              <a:endParaRPr lang="en-US" altLang="en-US" sz="2000" baseline="30000" dirty="0">
                <a:solidFill>
                  <a:srgbClr val="CC0000"/>
                </a:solidFill>
                <a:latin typeface="Cambria" panose="02040503050406030204" pitchFamily="18" charset="0"/>
                <a:ea typeface="Cambria" panose="02040503050406030204" pitchFamily="18" charset="0"/>
              </a:endParaRPr>
            </a:p>
          </p:txBody>
        </p:sp>
        <p:cxnSp>
          <p:nvCxnSpPr>
            <p:cNvPr id="9" name="AutoShape 9">
              <a:extLst>
                <a:ext uri="{FF2B5EF4-FFF2-40B4-BE49-F238E27FC236}">
                  <a16:creationId xmlns:a16="http://schemas.microsoft.com/office/drawing/2014/main" id="{D0065EC5-48A6-288F-F161-9669475BC8E6}"/>
                </a:ext>
              </a:extLst>
            </p:cNvPr>
            <p:cNvCxnSpPr>
              <a:cxnSpLocks noChangeShapeType="1"/>
              <a:stCxn id="6" idx="0"/>
              <a:endCxn id="8" idx="4"/>
            </p:cNvCxnSpPr>
            <p:nvPr/>
          </p:nvCxnSpPr>
          <p:spPr bwMode="auto">
            <a:xfrm flipV="1">
              <a:off x="2136" y="3024"/>
              <a:ext cx="1080" cy="43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0" name="Text Box 10">
              <a:extLst>
                <a:ext uri="{FF2B5EF4-FFF2-40B4-BE49-F238E27FC236}">
                  <a16:creationId xmlns:a16="http://schemas.microsoft.com/office/drawing/2014/main" id="{B11A6577-DCFC-7460-5D49-89AECF1C08E3}"/>
                </a:ext>
              </a:extLst>
            </p:cNvPr>
            <p:cNvSpPr txBox="1">
              <a:spLocks noChangeArrowheads="1"/>
            </p:cNvSpPr>
            <p:nvPr/>
          </p:nvSpPr>
          <p:spPr bwMode="auto">
            <a:xfrm>
              <a:off x="240" y="3456"/>
              <a:ext cx="12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000" dirty="0">
                  <a:solidFill>
                    <a:srgbClr val="0033CC"/>
                  </a:solidFill>
                  <a:latin typeface="Cambria" panose="02040503050406030204" pitchFamily="18" charset="0"/>
                  <a:ea typeface="Cambria" panose="02040503050406030204" pitchFamily="18" charset="0"/>
                </a:rPr>
                <a:t>Required Attribute</a:t>
              </a:r>
            </a:p>
          </p:txBody>
        </p:sp>
        <p:cxnSp>
          <p:nvCxnSpPr>
            <p:cNvPr id="11" name="AutoShape 11">
              <a:extLst>
                <a:ext uri="{FF2B5EF4-FFF2-40B4-BE49-F238E27FC236}">
                  <a16:creationId xmlns:a16="http://schemas.microsoft.com/office/drawing/2014/main" id="{FF7F1486-B570-A463-FD5E-E6FAF7D1165D}"/>
                </a:ext>
              </a:extLst>
            </p:cNvPr>
            <p:cNvCxnSpPr>
              <a:cxnSpLocks noChangeShapeType="1"/>
              <a:endCxn id="7" idx="3"/>
            </p:cNvCxnSpPr>
            <p:nvPr/>
          </p:nvCxnSpPr>
          <p:spPr bwMode="auto">
            <a:xfrm flipV="1">
              <a:off x="816" y="2947"/>
              <a:ext cx="265" cy="55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2" name="Text Box 12">
              <a:extLst>
                <a:ext uri="{FF2B5EF4-FFF2-40B4-BE49-F238E27FC236}">
                  <a16:creationId xmlns:a16="http://schemas.microsoft.com/office/drawing/2014/main" id="{E433E3AE-C568-F91C-8CAC-D6363361117F}"/>
                </a:ext>
              </a:extLst>
            </p:cNvPr>
            <p:cNvSpPr txBox="1">
              <a:spLocks noChangeArrowheads="1"/>
            </p:cNvSpPr>
            <p:nvPr/>
          </p:nvSpPr>
          <p:spPr bwMode="auto">
            <a:xfrm>
              <a:off x="3552" y="3456"/>
              <a:ext cx="12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000" dirty="0">
                  <a:solidFill>
                    <a:srgbClr val="FF0000"/>
                  </a:solidFill>
                  <a:latin typeface="Cambria" panose="02040503050406030204" pitchFamily="18" charset="0"/>
                  <a:ea typeface="Cambria" panose="02040503050406030204" pitchFamily="18" charset="0"/>
                </a:rPr>
                <a:t>Optional Attribute</a:t>
              </a:r>
            </a:p>
          </p:txBody>
        </p:sp>
        <p:cxnSp>
          <p:nvCxnSpPr>
            <p:cNvPr id="13" name="AutoShape 13">
              <a:extLst>
                <a:ext uri="{FF2B5EF4-FFF2-40B4-BE49-F238E27FC236}">
                  <a16:creationId xmlns:a16="http://schemas.microsoft.com/office/drawing/2014/main" id="{2E182654-53F5-3E45-3E56-1445D4E5DE41}"/>
                </a:ext>
              </a:extLst>
            </p:cNvPr>
            <p:cNvCxnSpPr>
              <a:cxnSpLocks noChangeShapeType="1"/>
              <a:stCxn id="12" idx="0"/>
              <a:endCxn id="8" idx="5"/>
            </p:cNvCxnSpPr>
            <p:nvPr/>
          </p:nvCxnSpPr>
          <p:spPr bwMode="auto">
            <a:xfrm flipH="1" flipV="1">
              <a:off x="3623" y="2947"/>
              <a:ext cx="553" cy="509"/>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30623830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50897-CEF7-4738-A1A7-C0CE4312507C}"/>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E031ECC9-85E6-75A2-B650-CE214D8529B7}"/>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Binary Classes of Attributes</a:t>
            </a:r>
          </a:p>
        </p:txBody>
      </p:sp>
      <p:sp>
        <p:nvSpPr>
          <p:cNvPr id="10243" name="Rectangle 3">
            <a:extLst>
              <a:ext uri="{FF2B5EF4-FFF2-40B4-BE49-F238E27FC236}">
                <a16:creationId xmlns:a16="http://schemas.microsoft.com/office/drawing/2014/main" id="{DCF681C3-BCB1-E033-2C12-130E9C94580A}"/>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800" dirty="0">
                <a:solidFill>
                  <a:srgbClr val="0033CC"/>
                </a:solidFill>
                <a:latin typeface="Cambria" panose="02040503050406030204" pitchFamily="18" charset="0"/>
                <a:ea typeface="Cambria" panose="02040503050406030204" pitchFamily="18" charset="0"/>
              </a:rPr>
              <a:t>Atomic Attribute:</a:t>
            </a:r>
            <a:r>
              <a:rPr lang="en-US" sz="2800" dirty="0">
                <a:latin typeface="Cambria" panose="02040503050406030204" pitchFamily="18" charset="0"/>
                <a:ea typeface="Cambria" panose="02040503050406030204" pitchFamily="18" charset="0"/>
              </a:rPr>
              <a:t> An attribute which can’t be further subdivided into further meaningful attributes. For Ex: Price of a product.</a:t>
            </a:r>
          </a:p>
          <a:p>
            <a:pPr algn="just">
              <a:spcBef>
                <a:spcPts val="300"/>
              </a:spcBef>
              <a:defRPr/>
            </a:pPr>
            <a:r>
              <a:rPr lang="en-US" sz="2800" dirty="0">
                <a:solidFill>
                  <a:srgbClr val="FF0000"/>
                </a:solidFill>
                <a:latin typeface="Cambria" panose="02040503050406030204" pitchFamily="18" charset="0"/>
                <a:ea typeface="Cambria" panose="02040503050406030204" pitchFamily="18" charset="0"/>
              </a:rPr>
              <a:t>Composite Attribute:</a:t>
            </a:r>
            <a:r>
              <a:rPr lang="en-US" sz="2800" dirty="0">
                <a:latin typeface="Cambria" panose="02040503050406030204" pitchFamily="18" charset="0"/>
                <a:ea typeface="Cambria" panose="02040503050406030204" pitchFamily="18" charset="0"/>
              </a:rPr>
              <a:t> An attribute which can be broken into further meaningful attributes.</a:t>
            </a:r>
          </a:p>
          <a:p>
            <a:pPr algn="just">
              <a:spcBef>
                <a:spcPts val="300"/>
              </a:spcBef>
              <a:defRPr/>
            </a:pPr>
            <a:r>
              <a:rPr lang="en-US" sz="2800" dirty="0">
                <a:latin typeface="Cambria" panose="02040503050406030204" pitchFamily="18" charset="0"/>
                <a:ea typeface="Cambria" panose="02040503050406030204" pitchFamily="18" charset="0"/>
              </a:rPr>
              <a:t>For Ex: Address of a student.</a:t>
            </a:r>
          </a:p>
          <a:p>
            <a:pPr algn="just">
              <a:spcBef>
                <a:spcPts val="300"/>
              </a:spcBef>
              <a:defRPr/>
            </a:pPr>
            <a:endParaRPr lang="en-US" sz="28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800" dirty="0">
              <a:latin typeface="Cambria" panose="02040503050406030204" pitchFamily="18" charset="0"/>
              <a:ea typeface="Cambria" panose="02040503050406030204" pitchFamily="18" charset="0"/>
            </a:endParaRPr>
          </a:p>
          <a:p>
            <a:pPr algn="just">
              <a:spcBef>
                <a:spcPts val="300"/>
              </a:spcBef>
              <a:defRPr/>
            </a:pPr>
            <a:endParaRPr lang="en-US" sz="28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928E77B6-7798-4BB6-8B6A-38A4A597E92D}"/>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CA3DD72E-38AF-5155-BCFF-7FAFB0E207BC}"/>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grpSp>
        <p:nvGrpSpPr>
          <p:cNvPr id="25" name="Group 24">
            <a:extLst>
              <a:ext uri="{FF2B5EF4-FFF2-40B4-BE49-F238E27FC236}">
                <a16:creationId xmlns:a16="http://schemas.microsoft.com/office/drawing/2014/main" id="{16C93978-69D8-EFD0-7960-7E78BAD20829}"/>
              </a:ext>
            </a:extLst>
          </p:cNvPr>
          <p:cNvGrpSpPr/>
          <p:nvPr/>
        </p:nvGrpSpPr>
        <p:grpSpPr>
          <a:xfrm>
            <a:off x="1500188" y="3571875"/>
            <a:ext cx="6572250" cy="2643188"/>
            <a:chOff x="1500188" y="3571875"/>
            <a:chExt cx="6572250" cy="2643188"/>
          </a:xfrm>
        </p:grpSpPr>
        <p:sp>
          <p:nvSpPr>
            <p:cNvPr id="14" name="Rectangle 5">
              <a:extLst>
                <a:ext uri="{FF2B5EF4-FFF2-40B4-BE49-F238E27FC236}">
                  <a16:creationId xmlns:a16="http://schemas.microsoft.com/office/drawing/2014/main" id="{A5A715D9-98D9-2C3D-F993-6CEC0641B9B3}"/>
                </a:ext>
              </a:extLst>
            </p:cNvPr>
            <p:cNvSpPr>
              <a:spLocks noChangeArrowheads="1"/>
            </p:cNvSpPr>
            <p:nvPr/>
          </p:nvSpPr>
          <p:spPr bwMode="auto">
            <a:xfrm>
              <a:off x="1500188" y="5000625"/>
              <a:ext cx="1905000" cy="533400"/>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2000" dirty="0">
                  <a:latin typeface="Cambria" panose="02040503050406030204" pitchFamily="18" charset="0"/>
                  <a:ea typeface="Cambria" panose="02040503050406030204" pitchFamily="18" charset="0"/>
                </a:rPr>
                <a:t>EMPLOYEE</a:t>
              </a:r>
            </a:p>
          </p:txBody>
        </p:sp>
        <p:sp>
          <p:nvSpPr>
            <p:cNvPr id="15" name="Oval 13">
              <a:extLst>
                <a:ext uri="{FF2B5EF4-FFF2-40B4-BE49-F238E27FC236}">
                  <a16:creationId xmlns:a16="http://schemas.microsoft.com/office/drawing/2014/main" id="{72E6F51B-B11A-C4FD-BA41-55E6F5EDDB02}"/>
                </a:ext>
              </a:extLst>
            </p:cNvPr>
            <p:cNvSpPr>
              <a:spLocks noChangeArrowheads="1"/>
            </p:cNvSpPr>
            <p:nvPr/>
          </p:nvSpPr>
          <p:spPr bwMode="auto">
            <a:xfrm>
              <a:off x="4429125" y="4857750"/>
              <a:ext cx="1419225" cy="533400"/>
            </a:xfrm>
            <a:prstGeom prst="ellipse">
              <a:avLst/>
            </a:prstGeom>
            <a:solidFill>
              <a:srgbClr val="00B0F0"/>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2000">
                  <a:latin typeface="Cambria" panose="02040503050406030204" pitchFamily="18" charset="0"/>
                  <a:ea typeface="Cambria" panose="02040503050406030204" pitchFamily="18" charset="0"/>
                </a:rPr>
                <a:t>Address</a:t>
              </a:r>
            </a:p>
          </p:txBody>
        </p:sp>
        <p:cxnSp>
          <p:nvCxnSpPr>
            <p:cNvPr id="16" name="AutoShape 17">
              <a:extLst>
                <a:ext uri="{FF2B5EF4-FFF2-40B4-BE49-F238E27FC236}">
                  <a16:creationId xmlns:a16="http://schemas.microsoft.com/office/drawing/2014/main" id="{532EDA61-D278-7B92-E358-73F59F0FE513}"/>
                </a:ext>
              </a:extLst>
            </p:cNvPr>
            <p:cNvCxnSpPr>
              <a:cxnSpLocks noChangeShapeType="1"/>
              <a:endCxn id="14" idx="3"/>
            </p:cNvCxnSpPr>
            <p:nvPr/>
          </p:nvCxnSpPr>
          <p:spPr bwMode="auto">
            <a:xfrm rot="10800000" flipV="1">
              <a:off x="3405188" y="5145088"/>
              <a:ext cx="1023937" cy="12223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7" name="Oval 19">
              <a:extLst>
                <a:ext uri="{FF2B5EF4-FFF2-40B4-BE49-F238E27FC236}">
                  <a16:creationId xmlns:a16="http://schemas.microsoft.com/office/drawing/2014/main" id="{00C1EC49-FCA3-4F04-8200-9EF25109AA38}"/>
                </a:ext>
              </a:extLst>
            </p:cNvPr>
            <p:cNvSpPr>
              <a:spLocks noChangeArrowheads="1"/>
            </p:cNvSpPr>
            <p:nvPr/>
          </p:nvSpPr>
          <p:spPr bwMode="auto">
            <a:xfrm>
              <a:off x="5572125" y="3571875"/>
              <a:ext cx="1071563" cy="500063"/>
            </a:xfrm>
            <a:prstGeom prst="ellipse">
              <a:avLst/>
            </a:prstGeom>
            <a:solidFill>
              <a:srgbClr val="FFFF00"/>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2000">
                  <a:latin typeface="Cambria" panose="02040503050406030204" pitchFamily="18" charset="0"/>
                  <a:ea typeface="Cambria" panose="02040503050406030204" pitchFamily="18" charset="0"/>
                </a:rPr>
                <a:t>H_No</a:t>
              </a:r>
            </a:p>
          </p:txBody>
        </p:sp>
        <p:sp>
          <p:nvSpPr>
            <p:cNvPr id="18" name="Oval 20">
              <a:extLst>
                <a:ext uri="{FF2B5EF4-FFF2-40B4-BE49-F238E27FC236}">
                  <a16:creationId xmlns:a16="http://schemas.microsoft.com/office/drawing/2014/main" id="{B8AEDBCD-AA7A-6D04-B062-FDE5B24E1A4D}"/>
                </a:ext>
              </a:extLst>
            </p:cNvPr>
            <p:cNvSpPr>
              <a:spLocks noChangeArrowheads="1"/>
            </p:cNvSpPr>
            <p:nvPr/>
          </p:nvSpPr>
          <p:spPr bwMode="auto">
            <a:xfrm>
              <a:off x="6786563" y="3929063"/>
              <a:ext cx="1057275" cy="428625"/>
            </a:xfrm>
            <a:prstGeom prst="ellipse">
              <a:avLst/>
            </a:prstGeom>
            <a:solidFill>
              <a:srgbClr val="FFFF00"/>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2000">
                  <a:latin typeface="Cambria" panose="02040503050406030204" pitchFamily="18" charset="0"/>
                  <a:ea typeface="Cambria" panose="02040503050406030204" pitchFamily="18" charset="0"/>
                </a:rPr>
                <a:t>St_No</a:t>
              </a:r>
            </a:p>
          </p:txBody>
        </p:sp>
        <p:sp>
          <p:nvSpPr>
            <p:cNvPr id="19" name="Oval 21">
              <a:extLst>
                <a:ext uri="{FF2B5EF4-FFF2-40B4-BE49-F238E27FC236}">
                  <a16:creationId xmlns:a16="http://schemas.microsoft.com/office/drawing/2014/main" id="{863709E5-31B2-CDB6-FC22-7D341C2277BA}"/>
                </a:ext>
              </a:extLst>
            </p:cNvPr>
            <p:cNvSpPr>
              <a:spLocks noChangeArrowheads="1"/>
            </p:cNvSpPr>
            <p:nvPr/>
          </p:nvSpPr>
          <p:spPr bwMode="auto">
            <a:xfrm>
              <a:off x="7000875" y="4857750"/>
              <a:ext cx="1071563" cy="428625"/>
            </a:xfrm>
            <a:prstGeom prst="ellipse">
              <a:avLst/>
            </a:prstGeom>
            <a:solidFill>
              <a:srgbClr val="FFFF00"/>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2000">
                  <a:latin typeface="Cambria" panose="02040503050406030204" pitchFamily="18" charset="0"/>
                  <a:ea typeface="Cambria" panose="02040503050406030204" pitchFamily="18" charset="0"/>
                </a:rPr>
                <a:t>Area</a:t>
              </a:r>
            </a:p>
          </p:txBody>
        </p:sp>
        <p:cxnSp>
          <p:nvCxnSpPr>
            <p:cNvPr id="20" name="AutoShape 22">
              <a:extLst>
                <a:ext uri="{FF2B5EF4-FFF2-40B4-BE49-F238E27FC236}">
                  <a16:creationId xmlns:a16="http://schemas.microsoft.com/office/drawing/2014/main" id="{F72C2F5D-36B2-144A-FD85-B44C35D90B09}"/>
                </a:ext>
              </a:extLst>
            </p:cNvPr>
            <p:cNvCxnSpPr>
              <a:cxnSpLocks noChangeShapeType="1"/>
              <a:stCxn id="17" idx="4"/>
            </p:cNvCxnSpPr>
            <p:nvPr/>
          </p:nvCxnSpPr>
          <p:spPr bwMode="auto">
            <a:xfrm rot="5400000">
              <a:off x="5233194" y="3982244"/>
              <a:ext cx="785812" cy="9652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1" name="AutoShape 23">
              <a:extLst>
                <a:ext uri="{FF2B5EF4-FFF2-40B4-BE49-F238E27FC236}">
                  <a16:creationId xmlns:a16="http://schemas.microsoft.com/office/drawing/2014/main" id="{B2AF37F8-BB16-B5EE-A538-A6CFBA7945F9}"/>
                </a:ext>
              </a:extLst>
            </p:cNvPr>
            <p:cNvCxnSpPr>
              <a:cxnSpLocks noChangeShapeType="1"/>
              <a:stCxn id="18" idx="4"/>
              <a:endCxn id="15" idx="7"/>
            </p:cNvCxnSpPr>
            <p:nvPr/>
          </p:nvCxnSpPr>
          <p:spPr bwMode="auto">
            <a:xfrm rot="5400000">
              <a:off x="6188869" y="3809207"/>
              <a:ext cx="577850" cy="167481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2" name="AutoShape 24">
              <a:extLst>
                <a:ext uri="{FF2B5EF4-FFF2-40B4-BE49-F238E27FC236}">
                  <a16:creationId xmlns:a16="http://schemas.microsoft.com/office/drawing/2014/main" id="{BC38FAE7-FF7D-AC07-FEBE-A679C1E20D16}"/>
                </a:ext>
              </a:extLst>
            </p:cNvPr>
            <p:cNvCxnSpPr>
              <a:cxnSpLocks noChangeShapeType="1"/>
              <a:stCxn id="19" idx="2"/>
              <a:endCxn id="15" idx="5"/>
            </p:cNvCxnSpPr>
            <p:nvPr/>
          </p:nvCxnSpPr>
          <p:spPr bwMode="auto">
            <a:xfrm rot="10800000" flipV="1">
              <a:off x="5640388" y="5072063"/>
              <a:ext cx="1360487" cy="2413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23" name="Oval 21">
              <a:extLst>
                <a:ext uri="{FF2B5EF4-FFF2-40B4-BE49-F238E27FC236}">
                  <a16:creationId xmlns:a16="http://schemas.microsoft.com/office/drawing/2014/main" id="{C4207C49-8F62-621F-BE1D-C828ACEF4476}"/>
                </a:ext>
              </a:extLst>
            </p:cNvPr>
            <p:cNvSpPr>
              <a:spLocks noChangeArrowheads="1"/>
            </p:cNvSpPr>
            <p:nvPr/>
          </p:nvSpPr>
          <p:spPr bwMode="auto">
            <a:xfrm>
              <a:off x="6286500" y="5786438"/>
              <a:ext cx="1071563" cy="428625"/>
            </a:xfrm>
            <a:prstGeom prst="ellipse">
              <a:avLst/>
            </a:prstGeom>
            <a:solidFill>
              <a:srgbClr val="FFFF00"/>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2000">
                  <a:latin typeface="Cambria" panose="02040503050406030204" pitchFamily="18" charset="0"/>
                  <a:ea typeface="Cambria" panose="02040503050406030204" pitchFamily="18" charset="0"/>
                </a:rPr>
                <a:t>City</a:t>
              </a:r>
            </a:p>
          </p:txBody>
        </p:sp>
        <p:cxnSp>
          <p:nvCxnSpPr>
            <p:cNvPr id="24" name="AutoShape 24">
              <a:extLst>
                <a:ext uri="{FF2B5EF4-FFF2-40B4-BE49-F238E27FC236}">
                  <a16:creationId xmlns:a16="http://schemas.microsoft.com/office/drawing/2014/main" id="{F2B46FFF-FC3E-D6FB-F1A3-942D809A7DB4}"/>
                </a:ext>
              </a:extLst>
            </p:cNvPr>
            <p:cNvCxnSpPr>
              <a:cxnSpLocks noChangeShapeType="1"/>
              <a:stCxn id="23" idx="0"/>
              <a:endCxn id="15" idx="4"/>
            </p:cNvCxnSpPr>
            <p:nvPr/>
          </p:nvCxnSpPr>
          <p:spPr bwMode="auto">
            <a:xfrm rot="16200000" flipV="1">
              <a:off x="5783263" y="4746625"/>
              <a:ext cx="395288" cy="168433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79762722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C39B5-DBAE-4272-0FE5-46A1B990344B}"/>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3CA3E036-921C-EE08-054C-76F375861AD9}"/>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Binary Classes of Attributes</a:t>
            </a:r>
          </a:p>
        </p:txBody>
      </p:sp>
      <p:sp>
        <p:nvSpPr>
          <p:cNvPr id="10243" name="Rectangle 3">
            <a:extLst>
              <a:ext uri="{FF2B5EF4-FFF2-40B4-BE49-F238E27FC236}">
                <a16:creationId xmlns:a16="http://schemas.microsoft.com/office/drawing/2014/main" id="{15D2C3C8-D268-ABE6-12AE-0171B11F6C6A}"/>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800" dirty="0">
                <a:solidFill>
                  <a:srgbClr val="0033CC"/>
                </a:solidFill>
                <a:latin typeface="Cambria" panose="02040503050406030204" pitchFamily="18" charset="0"/>
                <a:ea typeface="Cambria" panose="02040503050406030204" pitchFamily="18" charset="0"/>
              </a:rPr>
              <a:t>Single Valued Attribute:</a:t>
            </a:r>
            <a:r>
              <a:rPr lang="en-US" sz="2800" dirty="0">
                <a:latin typeface="Cambria" panose="02040503050406030204" pitchFamily="18" charset="0"/>
                <a:ea typeface="Cambria" panose="02040503050406030204" pitchFamily="18" charset="0"/>
              </a:rPr>
              <a:t> An attribute which has one and only one value against an entity instance. For Ex: </a:t>
            </a:r>
            <a:r>
              <a:rPr lang="en-US" sz="2800" dirty="0" err="1">
                <a:latin typeface="Cambria" panose="02040503050406030204" pitchFamily="18" charset="0"/>
                <a:ea typeface="Cambria" panose="02040503050406030204" pitchFamily="18" charset="0"/>
              </a:rPr>
              <a:t>RegNo</a:t>
            </a:r>
            <a:r>
              <a:rPr lang="en-US" sz="2800" dirty="0">
                <a:latin typeface="Cambria" panose="02040503050406030204" pitchFamily="18" charset="0"/>
                <a:ea typeface="Cambria" panose="02040503050406030204" pitchFamily="18" charset="0"/>
              </a:rPr>
              <a:t> of a Student, </a:t>
            </a:r>
            <a:r>
              <a:rPr lang="en-US" sz="2800" dirty="0" err="1">
                <a:latin typeface="Cambria" panose="02040503050406030204" pitchFamily="18" charset="0"/>
                <a:ea typeface="Cambria" panose="02040503050406030204" pitchFamily="18" charset="0"/>
              </a:rPr>
              <a:t>Pno</a:t>
            </a:r>
            <a:r>
              <a:rPr lang="en-US" sz="2800" dirty="0">
                <a:latin typeface="Cambria" panose="02040503050406030204" pitchFamily="18" charset="0"/>
                <a:ea typeface="Cambria" panose="02040503050406030204" pitchFamily="18" charset="0"/>
              </a:rPr>
              <a:t> of a product etc.</a:t>
            </a:r>
          </a:p>
          <a:p>
            <a:pPr algn="just">
              <a:spcBef>
                <a:spcPts val="300"/>
              </a:spcBef>
              <a:defRPr/>
            </a:pPr>
            <a:r>
              <a:rPr lang="en-US" sz="2800" dirty="0">
                <a:solidFill>
                  <a:srgbClr val="FF0000"/>
                </a:solidFill>
                <a:latin typeface="Cambria" panose="02040503050406030204" pitchFamily="18" charset="0"/>
                <a:ea typeface="Cambria" panose="02040503050406030204" pitchFamily="18" charset="0"/>
              </a:rPr>
              <a:t>Multi valued Attribute:</a:t>
            </a:r>
            <a:r>
              <a:rPr lang="en-US" sz="2800" dirty="0">
                <a:latin typeface="Cambria" panose="02040503050406030204" pitchFamily="18" charset="0"/>
                <a:ea typeface="Cambria" panose="02040503050406030204" pitchFamily="18" charset="0"/>
              </a:rPr>
              <a:t> An attribute that may take on more than one values for a given entity instance.</a:t>
            </a:r>
          </a:p>
          <a:p>
            <a:pPr algn="just">
              <a:spcBef>
                <a:spcPts val="300"/>
              </a:spcBef>
              <a:defRPr/>
            </a:pPr>
            <a:endParaRPr lang="en-US" sz="28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800" dirty="0">
              <a:latin typeface="Cambria" panose="02040503050406030204" pitchFamily="18" charset="0"/>
              <a:ea typeface="Cambria" panose="02040503050406030204" pitchFamily="18" charset="0"/>
            </a:endParaRPr>
          </a:p>
          <a:p>
            <a:pPr algn="just">
              <a:spcBef>
                <a:spcPts val="300"/>
              </a:spcBef>
              <a:defRPr/>
            </a:pPr>
            <a:endParaRPr lang="en-US" sz="28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77BB2408-98DF-E1E3-F7B8-827328AD5581}"/>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4F07F2AC-34A7-7C08-4044-80CDA42CA570}"/>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grpSp>
        <p:nvGrpSpPr>
          <p:cNvPr id="13" name="Group 12">
            <a:extLst>
              <a:ext uri="{FF2B5EF4-FFF2-40B4-BE49-F238E27FC236}">
                <a16:creationId xmlns:a16="http://schemas.microsoft.com/office/drawing/2014/main" id="{243C71A8-A1C6-0B63-AAEF-40C0B2783CB6}"/>
              </a:ext>
            </a:extLst>
          </p:cNvPr>
          <p:cNvGrpSpPr/>
          <p:nvPr/>
        </p:nvGrpSpPr>
        <p:grpSpPr>
          <a:xfrm>
            <a:off x="1828800" y="3733800"/>
            <a:ext cx="5172497" cy="2133600"/>
            <a:chOff x="1828800" y="3733800"/>
            <a:chExt cx="5172497" cy="2133600"/>
          </a:xfrm>
        </p:grpSpPr>
        <p:cxnSp>
          <p:nvCxnSpPr>
            <p:cNvPr id="4" name="AutoShape 4">
              <a:extLst>
                <a:ext uri="{FF2B5EF4-FFF2-40B4-BE49-F238E27FC236}">
                  <a16:creationId xmlns:a16="http://schemas.microsoft.com/office/drawing/2014/main" id="{DFEF691B-B1A9-14F5-AB97-59CBFD93F703}"/>
                </a:ext>
              </a:extLst>
            </p:cNvPr>
            <p:cNvCxnSpPr>
              <a:cxnSpLocks noChangeShapeType="1"/>
              <a:stCxn id="5" idx="0"/>
              <a:endCxn id="7" idx="4"/>
            </p:cNvCxnSpPr>
            <p:nvPr/>
          </p:nvCxnSpPr>
          <p:spPr bwMode="auto">
            <a:xfrm flipH="1" flipV="1">
              <a:off x="2819400" y="4800600"/>
              <a:ext cx="1409700" cy="304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 name="Rectangle 5">
              <a:extLst>
                <a:ext uri="{FF2B5EF4-FFF2-40B4-BE49-F238E27FC236}">
                  <a16:creationId xmlns:a16="http://schemas.microsoft.com/office/drawing/2014/main" id="{0A586F7E-A3DA-3E6B-3E28-6C1ED43D28D5}"/>
                </a:ext>
              </a:extLst>
            </p:cNvPr>
            <p:cNvSpPr>
              <a:spLocks noChangeArrowheads="1"/>
            </p:cNvSpPr>
            <p:nvPr/>
          </p:nvSpPr>
          <p:spPr bwMode="auto">
            <a:xfrm>
              <a:off x="3276600" y="5105400"/>
              <a:ext cx="1905000" cy="762000"/>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2000" dirty="0">
                  <a:latin typeface="Cambria" panose="02040503050406030204" pitchFamily="18" charset="0"/>
                  <a:ea typeface="Cambria" panose="02040503050406030204" pitchFamily="18" charset="0"/>
                </a:rPr>
                <a:t>EMPLOYEE</a:t>
              </a:r>
            </a:p>
          </p:txBody>
        </p:sp>
        <p:sp>
          <p:nvSpPr>
            <p:cNvPr id="6" name="Oval 6">
              <a:extLst>
                <a:ext uri="{FF2B5EF4-FFF2-40B4-BE49-F238E27FC236}">
                  <a16:creationId xmlns:a16="http://schemas.microsoft.com/office/drawing/2014/main" id="{37F71C5F-B55E-F5AC-ACC8-31D1359C8E12}"/>
                </a:ext>
              </a:extLst>
            </p:cNvPr>
            <p:cNvSpPr>
              <a:spLocks noChangeArrowheads="1"/>
            </p:cNvSpPr>
            <p:nvPr/>
          </p:nvSpPr>
          <p:spPr bwMode="auto">
            <a:xfrm>
              <a:off x="1905000" y="3886200"/>
              <a:ext cx="1828800" cy="838200"/>
            </a:xfrm>
            <a:prstGeom prst="ellipse">
              <a:avLst/>
            </a:prstGeom>
            <a:solidFill>
              <a:srgbClr val="3399FF"/>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2000">
                  <a:latin typeface="Cambria" panose="02040503050406030204" pitchFamily="18" charset="0"/>
                  <a:ea typeface="Cambria" panose="02040503050406030204" pitchFamily="18" charset="0"/>
                </a:rPr>
                <a:t>Phone_No</a:t>
              </a:r>
            </a:p>
          </p:txBody>
        </p:sp>
        <p:sp>
          <p:nvSpPr>
            <p:cNvPr id="7" name="Oval 7">
              <a:extLst>
                <a:ext uri="{FF2B5EF4-FFF2-40B4-BE49-F238E27FC236}">
                  <a16:creationId xmlns:a16="http://schemas.microsoft.com/office/drawing/2014/main" id="{A2D485F7-5A2D-64AF-3BF0-C1FC1E8CA3E0}"/>
                </a:ext>
              </a:extLst>
            </p:cNvPr>
            <p:cNvSpPr>
              <a:spLocks noChangeArrowheads="1"/>
            </p:cNvSpPr>
            <p:nvPr/>
          </p:nvSpPr>
          <p:spPr bwMode="auto">
            <a:xfrm>
              <a:off x="1828800" y="3810000"/>
              <a:ext cx="19812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endParaRPr lang="en-US" altLang="en-US" sz="2000">
                <a:latin typeface="Cambria" panose="02040503050406030204" pitchFamily="18" charset="0"/>
                <a:ea typeface="Cambria" panose="02040503050406030204" pitchFamily="18" charset="0"/>
              </a:endParaRPr>
            </a:p>
          </p:txBody>
        </p:sp>
        <p:cxnSp>
          <p:nvCxnSpPr>
            <p:cNvPr id="9" name="AutoShape 4">
              <a:extLst>
                <a:ext uri="{FF2B5EF4-FFF2-40B4-BE49-F238E27FC236}">
                  <a16:creationId xmlns:a16="http://schemas.microsoft.com/office/drawing/2014/main" id="{3E281D3D-2778-3F30-17CB-80F975BDD51E}"/>
                </a:ext>
              </a:extLst>
            </p:cNvPr>
            <p:cNvCxnSpPr>
              <a:cxnSpLocks noChangeShapeType="1"/>
              <a:stCxn id="5" idx="0"/>
              <a:endCxn id="11" idx="4"/>
            </p:cNvCxnSpPr>
            <p:nvPr/>
          </p:nvCxnSpPr>
          <p:spPr bwMode="auto">
            <a:xfrm flipV="1">
              <a:off x="4229100" y="4724400"/>
              <a:ext cx="1781597" cy="3810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0" name="Oval 6">
              <a:extLst>
                <a:ext uri="{FF2B5EF4-FFF2-40B4-BE49-F238E27FC236}">
                  <a16:creationId xmlns:a16="http://schemas.microsoft.com/office/drawing/2014/main" id="{756A4828-B0EB-7B7E-8F0B-C68A0274DB46}"/>
                </a:ext>
              </a:extLst>
            </p:cNvPr>
            <p:cNvSpPr>
              <a:spLocks noChangeArrowheads="1"/>
            </p:cNvSpPr>
            <p:nvPr/>
          </p:nvSpPr>
          <p:spPr bwMode="auto">
            <a:xfrm>
              <a:off x="5096297" y="3810000"/>
              <a:ext cx="1828800" cy="838200"/>
            </a:xfrm>
            <a:prstGeom prst="ellipse">
              <a:avLst/>
            </a:prstGeom>
            <a:solidFill>
              <a:srgbClr val="00B0F0"/>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2000" dirty="0">
                  <a:latin typeface="Cambria" panose="02040503050406030204" pitchFamily="18" charset="0"/>
                  <a:ea typeface="Cambria" panose="02040503050406030204" pitchFamily="18" charset="0"/>
                </a:rPr>
                <a:t>Skills</a:t>
              </a:r>
            </a:p>
          </p:txBody>
        </p:sp>
        <p:sp>
          <p:nvSpPr>
            <p:cNvPr id="11" name="Oval 7">
              <a:extLst>
                <a:ext uri="{FF2B5EF4-FFF2-40B4-BE49-F238E27FC236}">
                  <a16:creationId xmlns:a16="http://schemas.microsoft.com/office/drawing/2014/main" id="{D991D9F7-14B5-D319-275E-FB7801EB25A4}"/>
                </a:ext>
              </a:extLst>
            </p:cNvPr>
            <p:cNvSpPr>
              <a:spLocks noChangeArrowheads="1"/>
            </p:cNvSpPr>
            <p:nvPr/>
          </p:nvSpPr>
          <p:spPr bwMode="auto">
            <a:xfrm>
              <a:off x="5020097" y="3733800"/>
              <a:ext cx="19812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endParaRPr lang="en-US" altLang="en-US" sz="2000">
                <a:latin typeface="Cambria" panose="02040503050406030204" pitchFamily="18" charset="0"/>
                <a:ea typeface="Cambria" panose="02040503050406030204" pitchFamily="18" charset="0"/>
              </a:endParaRPr>
            </a:p>
          </p:txBody>
        </p:sp>
      </p:grpSp>
    </p:spTree>
    <p:extLst>
      <p:ext uri="{BB962C8B-B14F-4D97-AF65-F5344CB8AC3E}">
        <p14:creationId xmlns:p14="http://schemas.microsoft.com/office/powerpoint/2010/main" val="6200540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D4358-050E-567E-E5CD-D79BF23A0657}"/>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A47976D2-BC36-1816-5913-8A8CCE1A2A35}"/>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Binary Classes of Attributes</a:t>
            </a:r>
          </a:p>
        </p:txBody>
      </p:sp>
      <p:sp>
        <p:nvSpPr>
          <p:cNvPr id="10243" name="Rectangle 3">
            <a:extLst>
              <a:ext uri="{FF2B5EF4-FFF2-40B4-BE49-F238E27FC236}">
                <a16:creationId xmlns:a16="http://schemas.microsoft.com/office/drawing/2014/main" id="{C2ECD843-3547-B04C-A3D1-AB0CAE633B03}"/>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800" dirty="0">
                <a:solidFill>
                  <a:srgbClr val="0033CC"/>
                </a:solidFill>
                <a:latin typeface="Cambria" panose="02040503050406030204" pitchFamily="18" charset="0"/>
                <a:ea typeface="Cambria" panose="02040503050406030204" pitchFamily="18" charset="0"/>
              </a:rPr>
              <a:t>Single Valued Attribute:</a:t>
            </a:r>
            <a:r>
              <a:rPr lang="en-US" sz="2800" dirty="0">
                <a:latin typeface="Cambria" panose="02040503050406030204" pitchFamily="18" charset="0"/>
                <a:ea typeface="Cambria" panose="02040503050406030204" pitchFamily="18" charset="0"/>
              </a:rPr>
              <a:t> </a:t>
            </a:r>
          </a:p>
          <a:p>
            <a:pPr algn="just">
              <a:spcBef>
                <a:spcPts val="300"/>
              </a:spcBef>
              <a:defRPr/>
            </a:pPr>
            <a:r>
              <a:rPr lang="en-US" sz="2800" dirty="0">
                <a:solidFill>
                  <a:srgbClr val="0033CC"/>
                </a:solidFill>
                <a:latin typeface="Cambria" panose="02040503050406030204" pitchFamily="18" charset="0"/>
                <a:ea typeface="Cambria" panose="02040503050406030204" pitchFamily="18" charset="0"/>
              </a:rPr>
              <a:t>Base Attribute:</a:t>
            </a:r>
            <a:r>
              <a:rPr lang="en-US" sz="2800" dirty="0">
                <a:latin typeface="Cambria" panose="02040503050406030204" pitchFamily="18" charset="0"/>
                <a:ea typeface="Cambria" panose="02040503050406030204" pitchFamily="18" charset="0"/>
              </a:rPr>
              <a:t> an attribute that is stored in the database. </a:t>
            </a:r>
          </a:p>
          <a:p>
            <a:pPr algn="just">
              <a:spcBef>
                <a:spcPts val="300"/>
              </a:spcBef>
              <a:defRPr/>
            </a:pPr>
            <a:r>
              <a:rPr lang="en-US" sz="2800" dirty="0">
                <a:solidFill>
                  <a:srgbClr val="FF0000"/>
                </a:solidFill>
                <a:latin typeface="Cambria" panose="02040503050406030204" pitchFamily="18" charset="0"/>
                <a:ea typeface="Cambria" panose="02040503050406030204" pitchFamily="18" charset="0"/>
              </a:rPr>
              <a:t>Derived Attribute:</a:t>
            </a:r>
            <a:r>
              <a:rPr lang="en-US" sz="2800" dirty="0">
                <a:latin typeface="Cambria" panose="02040503050406030204" pitchFamily="18" charset="0"/>
                <a:ea typeface="Cambria" panose="02040503050406030204" pitchFamily="18" charset="0"/>
              </a:rPr>
              <a:t> An attribute whose value can be calculated from related attribute values.</a:t>
            </a:r>
          </a:p>
          <a:p>
            <a:pPr algn="just">
              <a:spcBef>
                <a:spcPts val="300"/>
              </a:spcBef>
              <a:defRPr/>
            </a:pPr>
            <a:endParaRPr lang="en-US" sz="28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800" dirty="0">
              <a:latin typeface="Cambria" panose="02040503050406030204" pitchFamily="18" charset="0"/>
              <a:ea typeface="Cambria" panose="02040503050406030204" pitchFamily="18" charset="0"/>
            </a:endParaRPr>
          </a:p>
          <a:p>
            <a:pPr algn="just">
              <a:spcBef>
                <a:spcPts val="300"/>
              </a:spcBef>
              <a:defRPr/>
            </a:pPr>
            <a:endParaRPr lang="en-US" sz="28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79218662-A6EB-56D3-1DDD-76CAF0E98A96}"/>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341EF1C5-252A-3ED5-D9C2-2B99C722B231}"/>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19" name="Oval 4">
            <a:extLst>
              <a:ext uri="{FF2B5EF4-FFF2-40B4-BE49-F238E27FC236}">
                <a16:creationId xmlns:a16="http://schemas.microsoft.com/office/drawing/2014/main" id="{C42C9148-5992-C0A5-FD74-0CEA3A29A1CA}"/>
              </a:ext>
            </a:extLst>
          </p:cNvPr>
          <p:cNvSpPr>
            <a:spLocks noChangeArrowheads="1"/>
          </p:cNvSpPr>
          <p:nvPr/>
        </p:nvSpPr>
        <p:spPr bwMode="auto">
          <a:xfrm>
            <a:off x="4648200" y="4751040"/>
            <a:ext cx="2286000" cy="838200"/>
          </a:xfrm>
          <a:prstGeom prst="ellipse">
            <a:avLst/>
          </a:prstGeom>
          <a:solidFill>
            <a:srgbClr val="FFFF00"/>
          </a:solidFill>
          <a:ln w="9525">
            <a:solidFill>
              <a:schemeClr val="tx1"/>
            </a:solidFill>
            <a:prstDash val="dash"/>
            <a:round/>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2000" dirty="0" err="1">
                <a:latin typeface="Cambria" panose="02040503050406030204" pitchFamily="18" charset="0"/>
                <a:ea typeface="Cambria" panose="02040503050406030204" pitchFamily="18" charset="0"/>
              </a:rPr>
              <a:t>Years_Employed</a:t>
            </a:r>
            <a:endParaRPr lang="en-US" altLang="en-US" sz="2000" dirty="0">
              <a:latin typeface="Cambria" panose="02040503050406030204" pitchFamily="18" charset="0"/>
              <a:ea typeface="Cambria" panose="02040503050406030204" pitchFamily="18" charset="0"/>
            </a:endParaRPr>
          </a:p>
        </p:txBody>
      </p:sp>
      <p:cxnSp>
        <p:nvCxnSpPr>
          <p:cNvPr id="20" name="AutoShape 5">
            <a:extLst>
              <a:ext uri="{FF2B5EF4-FFF2-40B4-BE49-F238E27FC236}">
                <a16:creationId xmlns:a16="http://schemas.microsoft.com/office/drawing/2014/main" id="{DFC6FE01-55E1-06F2-7612-FDB8F7BDAB85}"/>
              </a:ext>
            </a:extLst>
          </p:cNvPr>
          <p:cNvCxnSpPr>
            <a:cxnSpLocks noChangeShapeType="1"/>
            <a:stCxn id="23" idx="2"/>
            <a:endCxn id="22" idx="0"/>
          </p:cNvCxnSpPr>
          <p:nvPr/>
        </p:nvCxnSpPr>
        <p:spPr bwMode="auto">
          <a:xfrm flipH="1">
            <a:off x="2895600" y="4038600"/>
            <a:ext cx="1409700" cy="6096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1" name="AutoShape 6">
            <a:extLst>
              <a:ext uri="{FF2B5EF4-FFF2-40B4-BE49-F238E27FC236}">
                <a16:creationId xmlns:a16="http://schemas.microsoft.com/office/drawing/2014/main" id="{70E2F00D-2B17-17E7-0CF1-BDF8E6618E6D}"/>
              </a:ext>
            </a:extLst>
          </p:cNvPr>
          <p:cNvCxnSpPr>
            <a:cxnSpLocks noChangeShapeType="1"/>
            <a:stCxn id="23" idx="2"/>
            <a:endCxn id="19" idx="0"/>
          </p:cNvCxnSpPr>
          <p:nvPr/>
        </p:nvCxnSpPr>
        <p:spPr bwMode="auto">
          <a:xfrm>
            <a:off x="4305300" y="4038600"/>
            <a:ext cx="1485900" cy="71244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22" name="Oval 7">
            <a:extLst>
              <a:ext uri="{FF2B5EF4-FFF2-40B4-BE49-F238E27FC236}">
                <a16:creationId xmlns:a16="http://schemas.microsoft.com/office/drawing/2014/main" id="{91A520EA-FC49-AED3-E5AD-D57F7C50FADF}"/>
              </a:ext>
            </a:extLst>
          </p:cNvPr>
          <p:cNvSpPr>
            <a:spLocks noChangeArrowheads="1"/>
          </p:cNvSpPr>
          <p:nvPr/>
        </p:nvSpPr>
        <p:spPr bwMode="auto">
          <a:xfrm>
            <a:off x="1828800" y="4648200"/>
            <a:ext cx="2133600" cy="838200"/>
          </a:xfrm>
          <a:prstGeom prst="ellipse">
            <a:avLst/>
          </a:prstGeom>
          <a:solidFill>
            <a:srgbClr val="3399FF"/>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2000" dirty="0" err="1">
                <a:latin typeface="Cambria" panose="02040503050406030204" pitchFamily="18" charset="0"/>
                <a:ea typeface="Cambria" panose="02040503050406030204" pitchFamily="18" charset="0"/>
              </a:rPr>
              <a:t>Date_Employed</a:t>
            </a:r>
            <a:endParaRPr lang="en-US" altLang="en-US" sz="2000" dirty="0">
              <a:latin typeface="Cambria" panose="02040503050406030204" pitchFamily="18" charset="0"/>
              <a:ea typeface="Cambria" panose="02040503050406030204" pitchFamily="18" charset="0"/>
            </a:endParaRPr>
          </a:p>
        </p:txBody>
      </p:sp>
      <p:sp>
        <p:nvSpPr>
          <p:cNvPr id="23" name="Rectangle 8">
            <a:extLst>
              <a:ext uri="{FF2B5EF4-FFF2-40B4-BE49-F238E27FC236}">
                <a16:creationId xmlns:a16="http://schemas.microsoft.com/office/drawing/2014/main" id="{A4E5BEB8-27BC-E233-D2E8-019A3DBDABE5}"/>
              </a:ext>
            </a:extLst>
          </p:cNvPr>
          <p:cNvSpPr>
            <a:spLocks noChangeArrowheads="1"/>
          </p:cNvSpPr>
          <p:nvPr/>
        </p:nvSpPr>
        <p:spPr bwMode="auto">
          <a:xfrm>
            <a:off x="3352800" y="3276600"/>
            <a:ext cx="1905000" cy="762000"/>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2000">
                <a:latin typeface="Cambria" panose="02040503050406030204" pitchFamily="18" charset="0"/>
                <a:ea typeface="Cambria" panose="02040503050406030204" pitchFamily="18" charset="0"/>
              </a:rPr>
              <a:t>EMPLOYEE</a:t>
            </a:r>
          </a:p>
        </p:txBody>
      </p:sp>
      <p:sp>
        <p:nvSpPr>
          <p:cNvPr id="24" name="Text Box 9">
            <a:extLst>
              <a:ext uri="{FF2B5EF4-FFF2-40B4-BE49-F238E27FC236}">
                <a16:creationId xmlns:a16="http://schemas.microsoft.com/office/drawing/2014/main" id="{B6EA5345-EA3A-D267-D794-D3D30318FEAD}"/>
              </a:ext>
            </a:extLst>
          </p:cNvPr>
          <p:cNvSpPr txBox="1">
            <a:spLocks noChangeArrowheads="1"/>
          </p:cNvSpPr>
          <p:nvPr/>
        </p:nvSpPr>
        <p:spPr bwMode="auto">
          <a:xfrm>
            <a:off x="381000" y="3810000"/>
            <a:ext cx="1219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000" dirty="0">
                <a:solidFill>
                  <a:srgbClr val="0033CC"/>
                </a:solidFill>
                <a:latin typeface="Cambria" panose="02040503050406030204" pitchFamily="18" charset="0"/>
                <a:ea typeface="Cambria" panose="02040503050406030204" pitchFamily="18" charset="0"/>
              </a:rPr>
              <a:t>Base Attribute</a:t>
            </a:r>
          </a:p>
        </p:txBody>
      </p:sp>
      <p:sp>
        <p:nvSpPr>
          <p:cNvPr id="25" name="Text Box 10">
            <a:extLst>
              <a:ext uri="{FF2B5EF4-FFF2-40B4-BE49-F238E27FC236}">
                <a16:creationId xmlns:a16="http://schemas.microsoft.com/office/drawing/2014/main" id="{6C21BE3A-BE9B-DB59-05AB-EB2380961AD5}"/>
              </a:ext>
            </a:extLst>
          </p:cNvPr>
          <p:cNvSpPr txBox="1">
            <a:spLocks noChangeArrowheads="1"/>
          </p:cNvSpPr>
          <p:nvPr/>
        </p:nvSpPr>
        <p:spPr bwMode="auto">
          <a:xfrm>
            <a:off x="7239000" y="3962400"/>
            <a:ext cx="1676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000" dirty="0">
                <a:solidFill>
                  <a:srgbClr val="FF0000"/>
                </a:solidFill>
                <a:latin typeface="Cambria" panose="02040503050406030204" pitchFamily="18" charset="0"/>
                <a:ea typeface="Cambria" panose="02040503050406030204" pitchFamily="18" charset="0"/>
              </a:rPr>
              <a:t>Derived Attribute</a:t>
            </a:r>
          </a:p>
        </p:txBody>
      </p:sp>
      <p:cxnSp>
        <p:nvCxnSpPr>
          <p:cNvPr id="26" name="AutoShape 11">
            <a:extLst>
              <a:ext uri="{FF2B5EF4-FFF2-40B4-BE49-F238E27FC236}">
                <a16:creationId xmlns:a16="http://schemas.microsoft.com/office/drawing/2014/main" id="{6EB47633-3451-FF3F-CAED-C26A2E8254FD}"/>
              </a:ext>
            </a:extLst>
          </p:cNvPr>
          <p:cNvCxnSpPr>
            <a:cxnSpLocks noChangeShapeType="1"/>
            <a:stCxn id="24" idx="2"/>
            <a:endCxn id="22" idx="1"/>
          </p:cNvCxnSpPr>
          <p:nvPr/>
        </p:nvCxnSpPr>
        <p:spPr bwMode="auto">
          <a:xfrm>
            <a:off x="990600" y="4511675"/>
            <a:ext cx="1150938" cy="25876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7" name="AutoShape 12">
            <a:extLst>
              <a:ext uri="{FF2B5EF4-FFF2-40B4-BE49-F238E27FC236}">
                <a16:creationId xmlns:a16="http://schemas.microsoft.com/office/drawing/2014/main" id="{ADF5921F-CDB4-FAB0-BEED-F08081BFF509}"/>
              </a:ext>
            </a:extLst>
          </p:cNvPr>
          <p:cNvCxnSpPr>
            <a:cxnSpLocks noChangeShapeType="1"/>
            <a:stCxn id="25" idx="2"/>
            <a:endCxn id="19" idx="6"/>
          </p:cNvCxnSpPr>
          <p:nvPr/>
        </p:nvCxnSpPr>
        <p:spPr bwMode="auto">
          <a:xfrm flipH="1">
            <a:off x="6934200" y="4664075"/>
            <a:ext cx="1143000" cy="50606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5086617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47339-74FA-B0CF-6439-642DE23151DB}"/>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8724DF36-2F05-3973-2606-858D58926C83}"/>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Logical Data Models</a:t>
            </a:r>
          </a:p>
        </p:txBody>
      </p:sp>
      <p:sp>
        <p:nvSpPr>
          <p:cNvPr id="10243" name="Rectangle 3">
            <a:extLst>
              <a:ext uri="{FF2B5EF4-FFF2-40B4-BE49-F238E27FC236}">
                <a16:creationId xmlns:a16="http://schemas.microsoft.com/office/drawing/2014/main" id="{A69C4DB2-70D8-53F8-9B71-51E007AAF9C4}"/>
              </a:ext>
            </a:extLst>
          </p:cNvPr>
          <p:cNvSpPr>
            <a:spLocks noGrp="1" noChangeArrowheads="1"/>
          </p:cNvSpPr>
          <p:nvPr>
            <p:ph type="body" idx="1"/>
          </p:nvPr>
        </p:nvSpPr>
        <p:spPr>
          <a:xfrm>
            <a:off x="412751" y="682972"/>
            <a:ext cx="8407721" cy="5194300"/>
          </a:xfrm>
        </p:spPr>
        <p:txBody>
          <a:bodyPr/>
          <a:lstStyle/>
          <a:p>
            <a:pPr marL="514350" indent="-514350" algn="just">
              <a:spcBef>
                <a:spcPts val="300"/>
              </a:spcBef>
              <a:buClr>
                <a:srgbClr val="0033CC"/>
              </a:buClr>
              <a:buFont typeface="+mj-lt"/>
              <a:buAutoNum type="arabicPeriod"/>
              <a:defRPr/>
            </a:pPr>
            <a:r>
              <a:rPr lang="en-US" sz="3200" dirty="0">
                <a:latin typeface="Cambria" panose="02040503050406030204" pitchFamily="18" charset="0"/>
                <a:ea typeface="Cambria" panose="02040503050406030204" pitchFamily="18" charset="0"/>
              </a:rPr>
              <a:t>Hierarchical Data Model</a:t>
            </a:r>
          </a:p>
          <a:p>
            <a:pPr marL="514350" indent="-514350" algn="just">
              <a:spcBef>
                <a:spcPts val="300"/>
              </a:spcBef>
              <a:buClr>
                <a:srgbClr val="0033CC"/>
              </a:buClr>
              <a:buFont typeface="+mj-lt"/>
              <a:buAutoNum type="arabicPeriod"/>
              <a:defRPr/>
            </a:pPr>
            <a:r>
              <a:rPr lang="en-US" sz="3200" dirty="0">
                <a:latin typeface="Cambria" panose="02040503050406030204" pitchFamily="18" charset="0"/>
                <a:ea typeface="Cambria" panose="02040503050406030204" pitchFamily="18" charset="0"/>
              </a:rPr>
              <a:t>Network Data Model</a:t>
            </a:r>
          </a:p>
          <a:p>
            <a:pPr marL="514350" indent="-514350" algn="just">
              <a:spcBef>
                <a:spcPts val="300"/>
              </a:spcBef>
              <a:buClr>
                <a:srgbClr val="0033CC"/>
              </a:buClr>
              <a:buFont typeface="+mj-lt"/>
              <a:buAutoNum type="arabicPeriod"/>
              <a:defRPr/>
            </a:pPr>
            <a:r>
              <a:rPr lang="en-US" sz="3200" dirty="0">
                <a:latin typeface="Cambria" panose="02040503050406030204" pitchFamily="18" charset="0"/>
                <a:ea typeface="Cambria" panose="02040503050406030204" pitchFamily="18" charset="0"/>
              </a:rPr>
              <a:t>Relational Data Model</a:t>
            </a:r>
          </a:p>
          <a:p>
            <a:pPr marL="514350" indent="-514350" algn="just">
              <a:spcBef>
                <a:spcPts val="300"/>
              </a:spcBef>
              <a:buClr>
                <a:srgbClr val="0033CC"/>
              </a:buClr>
              <a:buFont typeface="+mj-lt"/>
              <a:buAutoNum type="arabicPeriod"/>
              <a:defRPr/>
            </a:pPr>
            <a:r>
              <a:rPr lang="en-US" sz="3200" dirty="0">
                <a:latin typeface="Cambria" panose="02040503050406030204" pitchFamily="18" charset="0"/>
                <a:ea typeface="Cambria" panose="02040503050406030204" pitchFamily="18" charset="0"/>
              </a:rPr>
              <a:t>Object Oriented Data Model</a:t>
            </a:r>
          </a:p>
          <a:p>
            <a:pPr marL="514350" indent="-514350" algn="just">
              <a:spcBef>
                <a:spcPts val="300"/>
              </a:spcBef>
              <a:buClr>
                <a:srgbClr val="0033CC"/>
              </a:buClr>
              <a:buFont typeface="+mj-lt"/>
              <a:buAutoNum type="arabicPeriod"/>
              <a:defRPr/>
            </a:pPr>
            <a:r>
              <a:rPr lang="en-US" sz="3200" dirty="0">
                <a:latin typeface="Cambria" panose="02040503050406030204" pitchFamily="18" charset="0"/>
                <a:ea typeface="Cambria" panose="02040503050406030204" pitchFamily="18" charset="0"/>
              </a:rPr>
              <a:t>Object Relational Data Model</a:t>
            </a:r>
          </a:p>
          <a:p>
            <a:pPr algn="just">
              <a:spcBef>
                <a:spcPts val="300"/>
              </a:spcBef>
              <a:defRPr/>
            </a:pPr>
            <a:endParaRPr lang="en-US" sz="2800" dirty="0">
              <a:latin typeface="Cambria" panose="02040503050406030204" pitchFamily="18" charset="0"/>
              <a:ea typeface="Cambria" panose="02040503050406030204" pitchFamily="18" charset="0"/>
            </a:endParaRPr>
          </a:p>
          <a:p>
            <a:pPr algn="just">
              <a:spcBef>
                <a:spcPts val="300"/>
              </a:spcBef>
              <a:defRPr/>
            </a:pPr>
            <a:endParaRPr lang="en-US" sz="28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5890BCAB-28CD-08EC-0A2D-9B5202FFAF9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3DBB41AE-95D7-C9A4-4EED-2F4FE288E96E}"/>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230919013"/>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D2B2947D-C459-1D50-92AD-B807B960E754}"/>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Evolution of Data Models</a:t>
            </a:r>
          </a:p>
        </p:txBody>
      </p:sp>
      <p:sp>
        <p:nvSpPr>
          <p:cNvPr id="24579" name="Rectangle 3">
            <a:extLst>
              <a:ext uri="{FF2B5EF4-FFF2-40B4-BE49-F238E27FC236}">
                <a16:creationId xmlns:a16="http://schemas.microsoft.com/office/drawing/2014/main" id="{C82D498C-42DD-FC95-B65B-F107B82C280E}"/>
              </a:ext>
            </a:extLst>
          </p:cNvPr>
          <p:cNvSpPr>
            <a:spLocks noGrp="1" noChangeArrowheads="1"/>
          </p:cNvSpPr>
          <p:nvPr>
            <p:ph type="body" idx="1"/>
          </p:nvPr>
        </p:nvSpPr>
        <p:spPr>
          <a:xfrm>
            <a:off x="354013" y="692150"/>
            <a:ext cx="8466137" cy="4343400"/>
          </a:xfrm>
        </p:spPr>
        <p:txBody>
          <a:bodyPr/>
          <a:lstStyle/>
          <a:p>
            <a:pPr marL="0" indent="0" algn="just" eaLnBrk="1" hangingPunct="1">
              <a:spcBef>
                <a:spcPts val="0"/>
              </a:spcBef>
              <a:spcAft>
                <a:spcPts val="300"/>
              </a:spcAft>
              <a:buFont typeface="Wingdings 2" panose="05020102010507070707" pitchFamily="18" charset="2"/>
              <a:buNone/>
              <a:defRPr/>
            </a:pPr>
            <a:r>
              <a:rPr lang="en-US" sz="2400" dirty="0">
                <a:latin typeface="Cambria" panose="02040503050406030204" pitchFamily="18" charset="0"/>
                <a:ea typeface="Cambria" panose="02040503050406030204" pitchFamily="18" charset="0"/>
                <a:cs typeface="Calibri" panose="020F0502020204030204" pitchFamily="34" charset="0"/>
              </a:rPr>
              <a:t>The data models have evolved in response to meeting the following objectives: </a:t>
            </a:r>
          </a:p>
          <a:p>
            <a:pPr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The need to provide greater independence between programs and data. </a:t>
            </a:r>
          </a:p>
          <a:p>
            <a:pPr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The desire to manage increasingly complex data types and structures.</a:t>
            </a:r>
          </a:p>
          <a:p>
            <a:pPr marL="344488" indent="-344488" algn="just">
              <a:defRPr/>
            </a:pPr>
            <a:r>
              <a:rPr lang="en-US" altLang="en-US" sz="2400" dirty="0">
                <a:latin typeface="Cambria" panose="02040503050406030204" pitchFamily="18" charset="0"/>
                <a:ea typeface="Cambria" panose="02040503050406030204" pitchFamily="18" charset="0"/>
                <a:cs typeface="Calibri" panose="020F0502020204030204" pitchFamily="34" charset="0"/>
              </a:rPr>
              <a:t>The desire to provide easier and faster access to data.</a:t>
            </a:r>
          </a:p>
          <a:p>
            <a:pPr marL="344488" indent="-344488" algn="just">
              <a:defRPr/>
            </a:pPr>
            <a:r>
              <a:rPr lang="en-US" altLang="en-US" sz="2400" dirty="0">
                <a:latin typeface="Cambria" panose="02040503050406030204" pitchFamily="18" charset="0"/>
                <a:ea typeface="Cambria" panose="02040503050406030204" pitchFamily="18" charset="0"/>
                <a:cs typeface="Calibri" panose="020F0502020204030204" pitchFamily="34" charset="0"/>
              </a:rPr>
              <a:t>The need to provide ever more powerful platforms for decision support applications.</a:t>
            </a:r>
          </a:p>
          <a:p>
            <a:pPr algn="just" eaLnBrk="1" hangingPunct="1">
              <a:spcBef>
                <a:spcPts val="0"/>
              </a:spcBef>
              <a:spcAft>
                <a:spcPts val="300"/>
              </a:spcAft>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8B308CCD-4652-ED8F-7F0F-BE82CDECECB0}"/>
              </a:ext>
            </a:extLst>
          </p:cNvPr>
          <p:cNvGraphicFramePr>
            <a:graphicFrameLocks noGrp="1"/>
          </p:cNvGraphicFramePr>
          <p:nvPr/>
        </p:nvGraphicFramePr>
        <p:xfrm>
          <a:off x="1763713" y="4437063"/>
          <a:ext cx="5832475" cy="2286000"/>
        </p:xfrm>
        <a:graphic>
          <a:graphicData uri="http://schemas.openxmlformats.org/drawingml/2006/table">
            <a:tbl>
              <a:tblPr firstRow="1" bandRow="1">
                <a:tableStyleId>{5C22544A-7EE6-4342-B048-85BDC9FD1C3A}</a:tableStyleId>
              </a:tblPr>
              <a:tblGrid>
                <a:gridCol w="1656135">
                  <a:extLst>
                    <a:ext uri="{9D8B030D-6E8A-4147-A177-3AD203B41FA5}">
                      <a16:colId xmlns:a16="http://schemas.microsoft.com/office/drawing/2014/main" val="20000"/>
                    </a:ext>
                  </a:extLst>
                </a:gridCol>
                <a:gridCol w="4176340">
                  <a:extLst>
                    <a:ext uri="{9D8B030D-6E8A-4147-A177-3AD203B41FA5}">
                      <a16:colId xmlns:a16="http://schemas.microsoft.com/office/drawing/2014/main" val="20001"/>
                    </a:ext>
                  </a:extLst>
                </a:gridCol>
              </a:tblGrid>
              <a:tr h="431970">
                <a:tc>
                  <a:txBody>
                    <a:bodyPr/>
                    <a:lstStyle/>
                    <a:p>
                      <a:pPr algn="ctr"/>
                      <a:r>
                        <a:rPr lang="en-US" sz="2400" dirty="0">
                          <a:solidFill>
                            <a:srgbClr val="FFFF00"/>
                          </a:solidFill>
                        </a:rPr>
                        <a:t>Generation</a:t>
                      </a:r>
                    </a:p>
                  </a:txBody>
                  <a:tcPr marL="91437" marR="91437"/>
                </a:tc>
                <a:tc>
                  <a:txBody>
                    <a:bodyPr/>
                    <a:lstStyle/>
                    <a:p>
                      <a:pPr algn="ctr"/>
                      <a:r>
                        <a:rPr lang="en-US" sz="2400" dirty="0">
                          <a:solidFill>
                            <a:srgbClr val="FFFF00"/>
                          </a:solidFill>
                        </a:rPr>
                        <a:t>Data Models</a:t>
                      </a:r>
                    </a:p>
                  </a:txBody>
                  <a:tcPr marL="91437" marR="91437"/>
                </a:tc>
                <a:extLst>
                  <a:ext uri="{0D108BD9-81ED-4DB2-BD59-A6C34878D82A}">
                    <a16:rowId xmlns:a16="http://schemas.microsoft.com/office/drawing/2014/main" val="10000"/>
                  </a:ext>
                </a:extLst>
              </a:tr>
              <a:tr h="431970">
                <a:tc>
                  <a:txBody>
                    <a:bodyPr/>
                    <a:lstStyle/>
                    <a:p>
                      <a:pPr algn="l"/>
                      <a:r>
                        <a:rPr lang="en-US" sz="2400" b="0" dirty="0">
                          <a:solidFill>
                            <a:schemeClr val="tx1"/>
                          </a:solidFill>
                        </a:rPr>
                        <a:t>First</a:t>
                      </a:r>
                    </a:p>
                  </a:txBody>
                  <a:tcPr marL="91437" marR="91437"/>
                </a:tc>
                <a:tc>
                  <a:txBody>
                    <a:bodyPr/>
                    <a:lstStyle/>
                    <a:p>
                      <a:pPr algn="l"/>
                      <a:r>
                        <a:rPr lang="en-US" sz="2400" b="0" dirty="0">
                          <a:solidFill>
                            <a:schemeClr val="tx1"/>
                          </a:solidFill>
                        </a:rPr>
                        <a:t>Hierarchical &amp; Network </a:t>
                      </a:r>
                    </a:p>
                  </a:txBody>
                  <a:tcPr marL="91437" marR="91437"/>
                </a:tc>
                <a:extLst>
                  <a:ext uri="{0D108BD9-81ED-4DB2-BD59-A6C34878D82A}">
                    <a16:rowId xmlns:a16="http://schemas.microsoft.com/office/drawing/2014/main" val="10001"/>
                  </a:ext>
                </a:extLst>
              </a:tr>
              <a:tr h="431970">
                <a:tc>
                  <a:txBody>
                    <a:bodyPr/>
                    <a:lstStyle/>
                    <a:p>
                      <a:pPr algn="l"/>
                      <a:r>
                        <a:rPr lang="en-US" sz="2400" dirty="0"/>
                        <a:t>Second</a:t>
                      </a:r>
                    </a:p>
                  </a:txBody>
                  <a:tcPr marL="91437" marR="91437"/>
                </a:tc>
                <a:tc>
                  <a:txBody>
                    <a:bodyPr/>
                    <a:lstStyle/>
                    <a:p>
                      <a:pPr algn="l"/>
                      <a:r>
                        <a:rPr lang="en-US" sz="2400" dirty="0"/>
                        <a:t>Relational</a:t>
                      </a:r>
                    </a:p>
                  </a:txBody>
                  <a:tcPr marL="91437" marR="91437"/>
                </a:tc>
                <a:extLst>
                  <a:ext uri="{0D108BD9-81ED-4DB2-BD59-A6C34878D82A}">
                    <a16:rowId xmlns:a16="http://schemas.microsoft.com/office/drawing/2014/main" val="10002"/>
                  </a:ext>
                </a:extLst>
              </a:tr>
              <a:tr h="431970">
                <a:tc>
                  <a:txBody>
                    <a:bodyPr/>
                    <a:lstStyle/>
                    <a:p>
                      <a:pPr algn="l"/>
                      <a:r>
                        <a:rPr lang="en-US" sz="2400" dirty="0"/>
                        <a:t>Third</a:t>
                      </a:r>
                    </a:p>
                  </a:txBody>
                  <a:tcPr marL="91437" marR="91437"/>
                </a:tc>
                <a:tc>
                  <a:txBody>
                    <a:bodyPr/>
                    <a:lstStyle/>
                    <a:p>
                      <a:pPr algn="l"/>
                      <a:r>
                        <a:rPr lang="en-US" sz="2400" dirty="0"/>
                        <a:t>Object Oriented, Object Relational </a:t>
                      </a:r>
                    </a:p>
                  </a:txBody>
                  <a:tcPr marL="91437" marR="91437"/>
                </a:tc>
                <a:extLst>
                  <a:ext uri="{0D108BD9-81ED-4DB2-BD59-A6C34878D82A}">
                    <a16:rowId xmlns:a16="http://schemas.microsoft.com/office/drawing/2014/main" val="10003"/>
                  </a:ext>
                </a:extLst>
              </a:tr>
              <a:tr h="431970">
                <a:tc>
                  <a:txBody>
                    <a:bodyPr/>
                    <a:lstStyle/>
                    <a:p>
                      <a:pPr algn="l"/>
                      <a:r>
                        <a:rPr lang="en-US" sz="2400" dirty="0"/>
                        <a:t>Fourth</a:t>
                      </a:r>
                    </a:p>
                  </a:txBody>
                  <a:tcPr marL="91437" marR="91437"/>
                </a:tc>
                <a:tc>
                  <a:txBody>
                    <a:bodyPr/>
                    <a:lstStyle/>
                    <a:p>
                      <a:pPr algn="l"/>
                      <a:r>
                        <a:rPr lang="en-US" sz="2400" dirty="0"/>
                        <a:t>NoSQL (Non Relational)</a:t>
                      </a:r>
                    </a:p>
                  </a:txBody>
                  <a:tcPr marL="91437" marR="91437"/>
                </a:tc>
                <a:extLst>
                  <a:ext uri="{0D108BD9-81ED-4DB2-BD59-A6C34878D82A}">
                    <a16:rowId xmlns:a16="http://schemas.microsoft.com/office/drawing/2014/main" val="10004"/>
                  </a:ext>
                </a:extLst>
              </a:tr>
            </a:tbl>
          </a:graphicData>
        </a:graphic>
      </p:graphicFrame>
      <p:sp>
        <p:nvSpPr>
          <p:cNvPr id="3" name="Slide Number Placeholder 23">
            <a:extLst>
              <a:ext uri="{FF2B5EF4-FFF2-40B4-BE49-F238E27FC236}">
                <a16:creationId xmlns:a16="http://schemas.microsoft.com/office/drawing/2014/main" id="{F9A9B04D-8DA5-1EE8-B547-FD64DC9F4052}"/>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32710058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9D29D-D581-22CD-4819-AC3CCA6CAE39}"/>
            </a:ext>
          </a:extLst>
        </p:cNvPr>
        <p:cNvGrpSpPr/>
        <p:nvPr/>
      </p:nvGrpSpPr>
      <p:grpSpPr>
        <a:xfrm>
          <a:off x="0" y="0"/>
          <a:ext cx="0" cy="0"/>
          <a:chOff x="0" y="0"/>
          <a:chExt cx="0" cy="0"/>
        </a:xfrm>
      </p:grpSpPr>
      <p:sp>
        <p:nvSpPr>
          <p:cNvPr id="58370" name="Rectangle 2">
            <a:extLst>
              <a:ext uri="{FF2B5EF4-FFF2-40B4-BE49-F238E27FC236}">
                <a16:creationId xmlns:a16="http://schemas.microsoft.com/office/drawing/2014/main" id="{F33EF3BC-CF61-BB0F-C317-9622E58C0784}"/>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Evolution of Data Models</a:t>
            </a:r>
          </a:p>
        </p:txBody>
      </p:sp>
      <p:pic>
        <p:nvPicPr>
          <p:cNvPr id="4" name="Picture 2">
            <a:extLst>
              <a:ext uri="{FF2B5EF4-FFF2-40B4-BE49-F238E27FC236}">
                <a16:creationId xmlns:a16="http://schemas.microsoft.com/office/drawing/2014/main" id="{7F593F71-2CE5-C4DE-680B-043169BC6E81}"/>
              </a:ext>
            </a:extLst>
          </p:cNvPr>
          <p:cNvPicPr>
            <a:picLocks noChangeAspect="1" noChangeArrowheads="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738188" y="908720"/>
            <a:ext cx="7667625" cy="512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2">
            <a:extLst>
              <a:ext uri="{FF2B5EF4-FFF2-40B4-BE49-F238E27FC236}">
                <a16:creationId xmlns:a16="http://schemas.microsoft.com/office/drawing/2014/main" id="{042318F8-9E56-1CD3-DABD-124FED2CBD6F}"/>
              </a:ext>
            </a:extLst>
          </p:cNvPr>
          <p:cNvSpPr>
            <a:spLocks noGrp="1"/>
          </p:cNvSpPr>
          <p:nvPr>
            <p:ph type="ftr" sz="quarter" idx="11"/>
          </p:nvPr>
        </p:nvSpPr>
        <p:spPr>
          <a:xfrm>
            <a:off x="2339752" y="6453336"/>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Slide Number Placeholder 23">
            <a:extLst>
              <a:ext uri="{FF2B5EF4-FFF2-40B4-BE49-F238E27FC236}">
                <a16:creationId xmlns:a16="http://schemas.microsoft.com/office/drawing/2014/main" id="{0DE0573D-5CE1-4EF1-2E45-8412B0CC1836}"/>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406351505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3F038-299E-6AF7-B700-660441D6D9A4}"/>
            </a:ext>
          </a:extLst>
        </p:cNvPr>
        <p:cNvGrpSpPr/>
        <p:nvPr/>
      </p:nvGrpSpPr>
      <p:grpSpPr>
        <a:xfrm>
          <a:off x="0" y="0"/>
          <a:ext cx="0" cy="0"/>
          <a:chOff x="0" y="0"/>
          <a:chExt cx="0" cy="0"/>
        </a:xfrm>
      </p:grpSpPr>
      <p:sp>
        <p:nvSpPr>
          <p:cNvPr id="58370" name="Rectangle 2">
            <a:extLst>
              <a:ext uri="{FF2B5EF4-FFF2-40B4-BE49-F238E27FC236}">
                <a16:creationId xmlns:a16="http://schemas.microsoft.com/office/drawing/2014/main" id="{FDE47B27-3964-CF44-9E09-60F1324FD8AB}"/>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2800" b="1" u="sng">
                <a:solidFill>
                  <a:srgbClr val="D34817"/>
                </a:solidFill>
                <a:latin typeface="Cambria" panose="02040503050406030204" pitchFamily="18" charset="0"/>
                <a:ea typeface="Cambria" panose="02040503050406030204" pitchFamily="18" charset="0"/>
              </a:rPr>
              <a:t>Evolution of Data Models</a:t>
            </a:r>
          </a:p>
        </p:txBody>
      </p:sp>
      <p:pic>
        <p:nvPicPr>
          <p:cNvPr id="2" name="Picture 3">
            <a:extLst>
              <a:ext uri="{FF2B5EF4-FFF2-40B4-BE49-F238E27FC236}">
                <a16:creationId xmlns:a16="http://schemas.microsoft.com/office/drawing/2014/main" id="{CE5DE664-0B4F-8099-8198-FEDA678805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908720"/>
            <a:ext cx="7430913" cy="5789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3">
            <a:extLst>
              <a:ext uri="{FF2B5EF4-FFF2-40B4-BE49-F238E27FC236}">
                <a16:creationId xmlns:a16="http://schemas.microsoft.com/office/drawing/2014/main" id="{B610B66B-8CCD-B5C6-118E-6B8E7F35C768}"/>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66653048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38F11-1F60-C38D-A681-B0DD923B49D4}"/>
            </a:ext>
          </a:extLst>
        </p:cNvPr>
        <p:cNvGrpSpPr/>
        <p:nvPr/>
      </p:nvGrpSpPr>
      <p:grpSpPr>
        <a:xfrm>
          <a:off x="0" y="0"/>
          <a:ext cx="0" cy="0"/>
          <a:chOff x="0" y="0"/>
          <a:chExt cx="0" cy="0"/>
        </a:xfrm>
      </p:grpSpPr>
      <p:sp>
        <p:nvSpPr>
          <p:cNvPr id="58370" name="Rectangle 2">
            <a:extLst>
              <a:ext uri="{FF2B5EF4-FFF2-40B4-BE49-F238E27FC236}">
                <a16:creationId xmlns:a16="http://schemas.microsoft.com/office/drawing/2014/main" id="{11D1AA6E-CEA8-A948-4583-48A7C61A67A4}"/>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2800" b="1" u="sng">
                <a:solidFill>
                  <a:srgbClr val="D34817"/>
                </a:solidFill>
                <a:latin typeface="Cambria" panose="02040503050406030204" pitchFamily="18" charset="0"/>
                <a:ea typeface="Cambria" panose="02040503050406030204" pitchFamily="18" charset="0"/>
              </a:rPr>
              <a:t>Evolution of Data Models</a:t>
            </a:r>
          </a:p>
        </p:txBody>
      </p:sp>
      <p:sp>
        <p:nvSpPr>
          <p:cNvPr id="3" name="Slide Number Placeholder 23">
            <a:extLst>
              <a:ext uri="{FF2B5EF4-FFF2-40B4-BE49-F238E27FC236}">
                <a16:creationId xmlns:a16="http://schemas.microsoft.com/office/drawing/2014/main" id="{E79D7287-0799-3814-4D26-F521D8935CBA}"/>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pic>
        <p:nvPicPr>
          <p:cNvPr id="4" name="Picture 2">
            <a:extLst>
              <a:ext uri="{FF2B5EF4-FFF2-40B4-BE49-F238E27FC236}">
                <a16:creationId xmlns:a16="http://schemas.microsoft.com/office/drawing/2014/main" id="{E8DD1568-23B8-8442-049F-87F602359C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742" y="1412875"/>
            <a:ext cx="8440738" cy="388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2">
            <a:extLst>
              <a:ext uri="{FF2B5EF4-FFF2-40B4-BE49-F238E27FC236}">
                <a16:creationId xmlns:a16="http://schemas.microsoft.com/office/drawing/2014/main" id="{5052F796-A982-E586-7B82-EABA6E38848D}"/>
              </a:ext>
            </a:extLst>
          </p:cNvPr>
          <p:cNvSpPr>
            <a:spLocks noGrp="1"/>
          </p:cNvSpPr>
          <p:nvPr>
            <p:ph type="ftr" sz="quarter" idx="11"/>
          </p:nvPr>
        </p:nvSpPr>
        <p:spPr>
          <a:xfrm>
            <a:off x="2339752" y="6453336"/>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330987966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E061F-3D2D-57D0-EA02-B84382CF892B}"/>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CE800B02-7874-5EDE-F504-51BBA613CA76}"/>
              </a:ext>
            </a:extLst>
          </p:cNvPr>
          <p:cNvSpPr>
            <a:spLocks noGrp="1" noChangeArrowheads="1"/>
          </p:cNvSpPr>
          <p:nvPr>
            <p:ph type="title"/>
          </p:nvPr>
        </p:nvSpPr>
        <p:spPr>
          <a:xfrm>
            <a:off x="395536" y="261466"/>
            <a:ext cx="576064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Hierarchical Data Model (HDM)</a:t>
            </a:r>
          </a:p>
        </p:txBody>
      </p:sp>
      <p:sp>
        <p:nvSpPr>
          <p:cNvPr id="3" name="Footer Placeholder 2">
            <a:extLst>
              <a:ext uri="{FF2B5EF4-FFF2-40B4-BE49-F238E27FC236}">
                <a16:creationId xmlns:a16="http://schemas.microsoft.com/office/drawing/2014/main" id="{7724727D-0365-B4CF-9D7C-87B1ECFFAD74}"/>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99746BA9-22D5-7212-5848-1B5C7EC13259}"/>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27</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45A788B0-0FF6-2934-8B9E-DB7360B9FD88}"/>
              </a:ext>
            </a:extLst>
          </p:cNvPr>
          <p:cNvSpPr txBox="1">
            <a:spLocks noChangeArrowheads="1"/>
          </p:cNvSpPr>
          <p:nvPr/>
        </p:nvSpPr>
        <p:spPr bwMode="auto">
          <a:xfrm>
            <a:off x="395536" y="764704"/>
            <a:ext cx="846613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4488" indent="-344488" algn="just">
              <a:defRPr/>
            </a:pPr>
            <a:r>
              <a:rPr lang="en-US" altLang="en-US" sz="2400" dirty="0">
                <a:latin typeface="Cambria" panose="02040503050406030204" pitchFamily="18" charset="0"/>
                <a:ea typeface="Cambria" panose="02040503050406030204" pitchFamily="18" charset="0"/>
                <a:cs typeface="Calibri" panose="020F0502020204030204" pitchFamily="34" charset="0"/>
              </a:rPr>
              <a:t>It is one of the oldest data model in which data are organized a top down structure that resembles a tree. </a:t>
            </a:r>
          </a:p>
          <a:p>
            <a:pPr marL="0" indent="0" algn="just">
              <a:buNone/>
              <a:defRPr/>
            </a:pPr>
            <a:r>
              <a:rPr lang="en-US" altLang="en-US" sz="2800" b="1" dirty="0">
                <a:solidFill>
                  <a:srgbClr val="FF0000"/>
                </a:solidFill>
                <a:latin typeface="Cambria" panose="02040503050406030204" pitchFamily="18" charset="0"/>
                <a:ea typeface="Cambria" panose="02040503050406030204" pitchFamily="18" charset="0"/>
                <a:cs typeface="Calibri" panose="020F0502020204030204" pitchFamily="34" charset="0"/>
              </a:rPr>
              <a:t>Terminologies:</a:t>
            </a:r>
          </a:p>
          <a:p>
            <a:pPr algn="just">
              <a:spcBef>
                <a:spcPts val="300"/>
              </a:spcBef>
              <a:buClr>
                <a:schemeClr val="accent2">
                  <a:lumMod val="60000"/>
                  <a:lumOff val="40000"/>
                </a:schemeClr>
              </a:buClr>
              <a:defRPr/>
            </a:pPr>
            <a:r>
              <a:rPr lang="en-US" sz="2400" dirty="0">
                <a:solidFill>
                  <a:srgbClr val="0033CC"/>
                </a:solidFill>
                <a:latin typeface="Cambria" panose="02040503050406030204" pitchFamily="18" charset="0"/>
                <a:ea typeface="Cambria" panose="02040503050406030204" pitchFamily="18" charset="0"/>
              </a:rPr>
              <a:t>Node </a:t>
            </a:r>
            <a:r>
              <a:rPr lang="en-US" sz="2400" dirty="0">
                <a:latin typeface="Cambria" panose="02040503050406030204" pitchFamily="18" charset="0"/>
                <a:ea typeface="Cambria" panose="02040503050406030204" pitchFamily="18" charset="0"/>
              </a:rPr>
              <a:t>(also called segment) corresponds to a record </a:t>
            </a:r>
          </a:p>
          <a:p>
            <a:pPr algn="just">
              <a:spcBef>
                <a:spcPts val="300"/>
              </a:spcBef>
              <a:buClr>
                <a:schemeClr val="accent2">
                  <a:lumMod val="60000"/>
                  <a:lumOff val="40000"/>
                </a:schemeClr>
              </a:buClr>
              <a:defRPr/>
            </a:pPr>
            <a:r>
              <a:rPr lang="en-US" sz="2400" dirty="0">
                <a:solidFill>
                  <a:srgbClr val="0033CC"/>
                </a:solidFill>
                <a:latin typeface="Cambria" panose="02040503050406030204" pitchFamily="18" charset="0"/>
                <a:ea typeface="Cambria" panose="02040503050406030204" pitchFamily="18" charset="0"/>
              </a:rPr>
              <a:t>Root Node:</a:t>
            </a:r>
            <a:r>
              <a:rPr lang="en-US" sz="2400" dirty="0">
                <a:latin typeface="Cambria" panose="02040503050406030204" pitchFamily="18" charset="0"/>
                <a:ea typeface="Cambria" panose="02040503050406030204" pitchFamily="18" charset="0"/>
              </a:rPr>
              <a:t> The top most node</a:t>
            </a:r>
          </a:p>
          <a:p>
            <a:pPr algn="just">
              <a:spcBef>
                <a:spcPts val="300"/>
              </a:spcBef>
              <a:buClr>
                <a:schemeClr val="accent2">
                  <a:lumMod val="60000"/>
                  <a:lumOff val="40000"/>
                </a:schemeClr>
              </a:buClr>
              <a:defRPr/>
            </a:pPr>
            <a:r>
              <a:rPr lang="en-US" sz="2400" dirty="0">
                <a:latin typeface="Cambria" panose="02040503050406030204" pitchFamily="18" charset="0"/>
                <a:ea typeface="Cambria" panose="02040503050406030204" pitchFamily="18" charset="0"/>
              </a:rPr>
              <a:t>Parent &amp; Child Nodes</a:t>
            </a:r>
          </a:p>
          <a:p>
            <a:pPr algn="just">
              <a:spcBef>
                <a:spcPts val="300"/>
              </a:spcBef>
              <a:buClr>
                <a:schemeClr val="accent2">
                  <a:lumMod val="60000"/>
                  <a:lumOff val="40000"/>
                </a:schemeClr>
              </a:buClr>
              <a:defRPr/>
            </a:pPr>
            <a:r>
              <a:rPr lang="en-US" sz="2400" dirty="0">
                <a:solidFill>
                  <a:srgbClr val="0033CC"/>
                </a:solidFill>
                <a:latin typeface="Cambria" panose="02040503050406030204" pitchFamily="18" charset="0"/>
                <a:ea typeface="Cambria" panose="02040503050406030204" pitchFamily="18" charset="0"/>
              </a:rPr>
              <a:t>Leaf Node</a:t>
            </a:r>
            <a:r>
              <a:rPr lang="en-US" sz="2400" dirty="0">
                <a:latin typeface="Cambria" panose="02040503050406030204" pitchFamily="18" charset="0"/>
                <a:ea typeface="Cambria" panose="02040503050406030204" pitchFamily="18" charset="0"/>
              </a:rPr>
              <a:t> is a node having no children</a:t>
            </a:r>
          </a:p>
          <a:p>
            <a:pPr algn="just">
              <a:spcBef>
                <a:spcPts val="300"/>
              </a:spcBef>
              <a:buClr>
                <a:schemeClr val="accent2">
                  <a:lumMod val="60000"/>
                  <a:lumOff val="40000"/>
                </a:schemeClr>
              </a:buClr>
              <a:defRPr/>
            </a:pPr>
            <a:r>
              <a:rPr lang="en-US" sz="2400" dirty="0">
                <a:solidFill>
                  <a:srgbClr val="0033CC"/>
                </a:solidFill>
                <a:latin typeface="Cambria" panose="02040503050406030204" pitchFamily="18" charset="0"/>
                <a:ea typeface="Cambria" panose="02040503050406030204" pitchFamily="18" charset="0"/>
              </a:rPr>
              <a:t>Siblings:</a:t>
            </a:r>
            <a:r>
              <a:rPr lang="en-US" sz="2400" dirty="0">
                <a:latin typeface="Cambria" panose="02040503050406030204" pitchFamily="18" charset="0"/>
                <a:ea typeface="Cambria" panose="02040503050406030204" pitchFamily="18" charset="0"/>
              </a:rPr>
              <a:t> The children of same parent</a:t>
            </a:r>
          </a:p>
          <a:p>
            <a:pPr algn="just">
              <a:spcBef>
                <a:spcPts val="300"/>
              </a:spcBef>
              <a:buClr>
                <a:schemeClr val="accent2">
                  <a:lumMod val="60000"/>
                  <a:lumOff val="40000"/>
                </a:schemeClr>
              </a:buClr>
              <a:defRPr/>
            </a:pPr>
            <a:r>
              <a:rPr lang="en-US" sz="2400" dirty="0">
                <a:solidFill>
                  <a:srgbClr val="0033CC"/>
                </a:solidFill>
                <a:latin typeface="Cambria" panose="02040503050406030204" pitchFamily="18" charset="0"/>
                <a:ea typeface="Cambria" panose="02040503050406030204" pitchFamily="18" charset="0"/>
              </a:rPr>
              <a:t>Family of Nodes:</a:t>
            </a:r>
            <a:r>
              <a:rPr lang="en-US" sz="2400" dirty="0">
                <a:latin typeface="Cambria" panose="02040503050406030204" pitchFamily="18" charset="0"/>
                <a:ea typeface="Cambria" panose="02040503050406030204" pitchFamily="18" charset="0"/>
              </a:rPr>
              <a:t> All children of same node</a:t>
            </a:r>
          </a:p>
          <a:p>
            <a:pPr algn="just">
              <a:spcBef>
                <a:spcPts val="300"/>
              </a:spcBef>
              <a:buClr>
                <a:schemeClr val="accent2">
                  <a:lumMod val="60000"/>
                  <a:lumOff val="40000"/>
                </a:schemeClr>
              </a:buClr>
              <a:defRPr/>
            </a:pPr>
            <a:r>
              <a:rPr lang="en-US" sz="2400" dirty="0">
                <a:solidFill>
                  <a:srgbClr val="0033CC"/>
                </a:solidFill>
                <a:latin typeface="Cambria" panose="02040503050406030204" pitchFamily="18" charset="0"/>
                <a:ea typeface="Cambria" panose="02040503050406030204" pitchFamily="18" charset="0"/>
              </a:rPr>
              <a:t>Hierarchical Path</a:t>
            </a:r>
            <a:r>
              <a:rPr lang="en-US" sz="2400" dirty="0">
                <a:latin typeface="Cambria" panose="02040503050406030204" pitchFamily="18" charset="0"/>
                <a:ea typeface="Cambria" panose="02040503050406030204" pitchFamily="18" charset="0"/>
              </a:rPr>
              <a:t> is a path from root node to any node</a:t>
            </a:r>
          </a:p>
          <a:p>
            <a:pPr algn="just">
              <a:spcBef>
                <a:spcPts val="300"/>
              </a:spcBef>
              <a:buClr>
                <a:schemeClr val="accent2">
                  <a:lumMod val="60000"/>
                  <a:lumOff val="40000"/>
                </a:schemeClr>
              </a:buClr>
              <a:defRPr/>
            </a:pPr>
            <a:r>
              <a:rPr lang="en-US" sz="2400" dirty="0">
                <a:solidFill>
                  <a:srgbClr val="0033CC"/>
                </a:solidFill>
                <a:latin typeface="Cambria" panose="02040503050406030204" pitchFamily="18" charset="0"/>
                <a:ea typeface="Cambria" panose="02040503050406030204" pitchFamily="18" charset="0"/>
              </a:rPr>
              <a:t>Tree levels</a:t>
            </a:r>
            <a:r>
              <a:rPr lang="en-US" sz="2400" dirty="0">
                <a:latin typeface="Cambria" panose="02040503050406030204" pitchFamily="18" charset="0"/>
                <a:ea typeface="Cambria" panose="02040503050406030204" pitchFamily="18" charset="0"/>
              </a:rPr>
              <a:t> called </a:t>
            </a:r>
            <a:r>
              <a:rPr lang="en-US" sz="2400" dirty="0">
                <a:solidFill>
                  <a:srgbClr val="FF0000"/>
                </a:solidFill>
                <a:latin typeface="Cambria" panose="02040503050406030204" pitchFamily="18" charset="0"/>
                <a:ea typeface="Cambria" panose="02040503050406030204" pitchFamily="18" charset="0"/>
              </a:rPr>
              <a:t>segments</a:t>
            </a:r>
            <a:r>
              <a:rPr lang="en-US" sz="2400" dirty="0">
                <a:latin typeface="Cambria" panose="02040503050406030204" pitchFamily="18" charset="0"/>
                <a:ea typeface="Cambria" panose="02040503050406030204" pitchFamily="18" charset="0"/>
              </a:rPr>
              <a:t> (equivalent to records)</a:t>
            </a:r>
          </a:p>
          <a:p>
            <a:pPr algn="just">
              <a:spcBef>
                <a:spcPts val="300"/>
              </a:spcBef>
              <a:buClr>
                <a:schemeClr val="accent2">
                  <a:lumMod val="60000"/>
                  <a:lumOff val="40000"/>
                </a:schemeClr>
              </a:buClr>
              <a:defRPr/>
            </a:pPr>
            <a:r>
              <a:rPr lang="en-US" sz="2400" dirty="0">
                <a:solidFill>
                  <a:srgbClr val="0033CC"/>
                </a:solidFill>
                <a:latin typeface="Cambria" panose="02040503050406030204" pitchFamily="18" charset="0"/>
                <a:ea typeface="Cambria" panose="02040503050406030204" pitchFamily="18" charset="0"/>
              </a:rPr>
              <a:t>Height</a:t>
            </a:r>
            <a:r>
              <a:rPr lang="en-US" sz="2400" dirty="0">
                <a:latin typeface="Cambria" panose="02040503050406030204" pitchFamily="18" charset="0"/>
                <a:ea typeface="Cambria" panose="02040503050406030204" pitchFamily="18" charset="0"/>
              </a:rPr>
              <a:t> of a tree refers to no. of levels</a:t>
            </a:r>
          </a:p>
          <a:p>
            <a:pPr marL="344488" indent="-344488" algn="jus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algn="just" eaLnBrk="1" hangingPunct="1">
              <a:spcBef>
                <a:spcPts val="0"/>
              </a:spcBef>
              <a:spcAft>
                <a:spcPts val="300"/>
              </a:spcAft>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4235005847"/>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4D37F-B0C0-1730-2AA7-D95F05307D8E}"/>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F6B26658-6C04-48F1-46EA-146E42760245}"/>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Background of HDM</a:t>
            </a:r>
          </a:p>
        </p:txBody>
      </p:sp>
      <p:sp>
        <p:nvSpPr>
          <p:cNvPr id="3" name="Footer Placeholder 2">
            <a:extLst>
              <a:ext uri="{FF2B5EF4-FFF2-40B4-BE49-F238E27FC236}">
                <a16:creationId xmlns:a16="http://schemas.microsoft.com/office/drawing/2014/main" id="{648C81DF-2D3F-963C-C3D6-CCF6B69C567B}"/>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2B25275E-F20A-87D6-8EEC-AB18E29923F7}"/>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28</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2D20F910-E480-6FE3-260A-0C763ADB1472}"/>
              </a:ext>
            </a:extLst>
          </p:cNvPr>
          <p:cNvSpPr txBox="1">
            <a:spLocks noChangeArrowheads="1"/>
          </p:cNvSpPr>
          <p:nvPr/>
        </p:nvSpPr>
        <p:spPr bwMode="auto">
          <a:xfrm>
            <a:off x="395536" y="764704"/>
            <a:ext cx="846613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4488" indent="-344488" algn="just">
              <a:defRPr/>
            </a:pPr>
            <a:r>
              <a:rPr lang="en-US" altLang="en-US" sz="2800" dirty="0">
                <a:latin typeface="Cambria" panose="02040503050406030204" pitchFamily="18" charset="0"/>
                <a:ea typeface="Cambria" panose="02040503050406030204" pitchFamily="18" charset="0"/>
                <a:cs typeface="Calibri" panose="020F0502020204030204" pitchFamily="34" charset="0"/>
              </a:rPr>
              <a:t>Hierarchical Data Model was developed in 1969 (Moon landing project).</a:t>
            </a:r>
          </a:p>
          <a:p>
            <a:pPr marL="344488" indent="-344488" algn="just">
              <a:defRPr/>
            </a:pPr>
            <a:r>
              <a:rPr lang="en-US" altLang="en-US" sz="2800" dirty="0">
                <a:latin typeface="Cambria" panose="02040503050406030204" pitchFamily="18" charset="0"/>
                <a:ea typeface="Cambria" panose="02040503050406030204" pitchFamily="18" charset="0"/>
                <a:cs typeface="Calibri" panose="020F0502020204030204" pitchFamily="34" charset="0"/>
              </a:rPr>
              <a:t>The earliest DBMS were based on HDM. </a:t>
            </a:r>
          </a:p>
          <a:p>
            <a:pPr marL="344488" indent="-344488" algn="just">
              <a:defRPr/>
            </a:pPr>
            <a:r>
              <a:rPr lang="en-US" altLang="en-US" sz="2800" dirty="0">
                <a:latin typeface="Cambria" panose="02040503050406030204" pitchFamily="18" charset="0"/>
                <a:ea typeface="Cambria" panose="02040503050406030204" pitchFamily="18" charset="0"/>
                <a:cs typeface="Calibri" panose="020F0502020204030204" pitchFamily="34" charset="0"/>
              </a:rPr>
              <a:t>It follows </a:t>
            </a:r>
            <a:r>
              <a:rPr lang="en-US" altLang="en-US" sz="2800" dirty="0">
                <a:solidFill>
                  <a:srgbClr val="FF0000"/>
                </a:solidFill>
                <a:latin typeface="Cambria" panose="02040503050406030204" pitchFamily="18" charset="0"/>
                <a:ea typeface="Cambria" panose="02040503050406030204" pitchFamily="18" charset="0"/>
                <a:cs typeface="Calibri" panose="020F0502020204030204" pitchFamily="34" charset="0"/>
              </a:rPr>
              <a:t>navigational approach</a:t>
            </a:r>
            <a:r>
              <a:rPr lang="en-US" altLang="en-US" sz="2800" dirty="0">
                <a:latin typeface="Cambria" panose="02040503050406030204" pitchFamily="18" charset="0"/>
                <a:ea typeface="Cambria" panose="02040503050406030204" pitchFamily="18" charset="0"/>
                <a:cs typeface="Calibri" panose="020F0502020204030204" pitchFamily="34" charset="0"/>
              </a:rPr>
              <a:t> (need to specify how the data is to be retrieved).</a:t>
            </a:r>
          </a:p>
          <a:p>
            <a:pPr marL="344488" indent="-344488" algn="just">
              <a:defRPr/>
            </a:pPr>
            <a:r>
              <a:rPr lang="en-US" altLang="en-US" sz="2800" dirty="0">
                <a:latin typeface="Cambria" panose="02040503050406030204" pitchFamily="18" charset="0"/>
                <a:ea typeface="Cambria" panose="02040503050406030204" pitchFamily="18" charset="0"/>
                <a:cs typeface="Calibri" panose="020F0502020204030204" pitchFamily="34" charset="0"/>
              </a:rPr>
              <a:t>One of the most popular HDM was </a:t>
            </a:r>
            <a:r>
              <a:rPr lang="en-US" alt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IBM’s Information Management System (IMS).</a:t>
            </a:r>
          </a:p>
          <a:p>
            <a:pPr marL="344488" indent="-344488" algn="just">
              <a:defRPr/>
            </a:pPr>
            <a:r>
              <a:rPr lang="en-US" altLang="en-US" sz="2800" dirty="0">
                <a:latin typeface="Cambria" panose="02040503050406030204" pitchFamily="18" charset="0"/>
                <a:ea typeface="Cambria" panose="02040503050406030204" pitchFamily="18" charset="0"/>
                <a:cs typeface="Calibri" panose="020F0502020204030204" pitchFamily="34" charset="0"/>
              </a:rPr>
              <a:t>For this reason, the term HDM and IMS are sometime used interchangeably. </a:t>
            </a:r>
          </a:p>
          <a:p>
            <a:pPr algn="just" eaLnBrk="1" hangingPunct="1">
              <a:spcBef>
                <a:spcPts val="0"/>
              </a:spcBef>
              <a:spcAft>
                <a:spcPts val="300"/>
              </a:spcAft>
              <a:defRPr/>
            </a:pPr>
            <a:endParaRPr 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2869796844"/>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6AF2E-C5EF-AE91-1D42-B3839A2BFAD1}"/>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3B79FD37-E0D4-0784-D3BE-D12ECF97E146}"/>
              </a:ext>
            </a:extLst>
          </p:cNvPr>
          <p:cNvSpPr>
            <a:spLocks noGrp="1" noChangeArrowheads="1"/>
          </p:cNvSpPr>
          <p:nvPr>
            <p:ph type="title"/>
          </p:nvPr>
        </p:nvSpPr>
        <p:spPr>
          <a:xfrm>
            <a:off x="395536" y="261466"/>
            <a:ext cx="576064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Strengths of HDM</a:t>
            </a:r>
          </a:p>
        </p:txBody>
      </p:sp>
      <p:sp>
        <p:nvSpPr>
          <p:cNvPr id="3" name="Footer Placeholder 2">
            <a:extLst>
              <a:ext uri="{FF2B5EF4-FFF2-40B4-BE49-F238E27FC236}">
                <a16:creationId xmlns:a16="http://schemas.microsoft.com/office/drawing/2014/main" id="{3181BDC7-E46C-AF49-82DA-13D31BFE4DCC}"/>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4ED7DFA7-650B-6D12-9591-541FCB8DC3AF}"/>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29</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6254FCE8-322C-0C21-C216-DFB803B6F562}"/>
              </a:ext>
            </a:extLst>
          </p:cNvPr>
          <p:cNvSpPr txBox="1">
            <a:spLocks noChangeArrowheads="1"/>
          </p:cNvSpPr>
          <p:nvPr/>
        </p:nvSpPr>
        <p:spPr bwMode="auto">
          <a:xfrm>
            <a:off x="395536" y="764704"/>
            <a:ext cx="846613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4488" indent="-344488" algn="just">
              <a:defRPr/>
            </a:pPr>
            <a:r>
              <a:rPr lang="en-US" alt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Conceptual Simplicity:</a:t>
            </a:r>
            <a:r>
              <a:rPr lang="en-US" altLang="en-US" sz="2800" dirty="0">
                <a:latin typeface="Cambria" panose="02040503050406030204" pitchFamily="18" charset="0"/>
                <a:ea typeface="Cambria" panose="02040503050406030204" pitchFamily="18" charset="0"/>
                <a:cs typeface="Calibri" panose="020F0502020204030204" pitchFamily="34" charset="0"/>
              </a:rPr>
              <a:t> The relationship between the various layers of the model is logically simple. </a:t>
            </a:r>
          </a:p>
          <a:p>
            <a:pPr marL="344488" indent="-344488" algn="just">
              <a:defRPr/>
            </a:pPr>
            <a:r>
              <a:rPr lang="en-US" alt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Database Integrity</a:t>
            </a:r>
          </a:p>
          <a:p>
            <a:pPr marL="344488" indent="-344488" algn="just">
              <a:defRPr/>
            </a:pPr>
            <a:r>
              <a:rPr lang="en-US" alt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Efficiency:</a:t>
            </a:r>
            <a:r>
              <a:rPr lang="en-US" altLang="en-US" sz="2800" dirty="0">
                <a:latin typeface="Cambria" panose="02040503050406030204" pitchFamily="18" charset="0"/>
                <a:ea typeface="Cambria" panose="02040503050406030204" pitchFamily="18" charset="0"/>
                <a:cs typeface="Calibri" panose="020F0502020204030204" pitchFamily="34" charset="0"/>
              </a:rPr>
              <a:t> The HDM is very efficient when a database contains a large volume of data in 1:M relationship that are fixed over time.</a:t>
            </a:r>
          </a:p>
          <a:p>
            <a:pPr marL="344488" indent="-344488" algn="jus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344488" indent="-344488" algn="jus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algn="just" eaLnBrk="1" hangingPunct="1">
              <a:spcBef>
                <a:spcPts val="0"/>
              </a:spcBef>
              <a:spcAft>
                <a:spcPts val="300"/>
              </a:spcAft>
              <a:defRPr/>
            </a:pPr>
            <a:endParaRPr 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3333167036"/>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CF7F3-958D-87DE-B644-7D6375E87359}"/>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385BDE39-0DE3-A366-49E3-A7E8DBB56B92}"/>
              </a:ext>
            </a:extLst>
          </p:cNvPr>
          <p:cNvSpPr>
            <a:spLocks noGrp="1" noChangeArrowheads="1"/>
          </p:cNvSpPr>
          <p:nvPr>
            <p:ph type="title"/>
          </p:nvPr>
        </p:nvSpPr>
        <p:spPr>
          <a:xfrm>
            <a:off x="395536" y="261466"/>
            <a:ext cx="576064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Weaknesses of HDM</a:t>
            </a:r>
          </a:p>
        </p:txBody>
      </p:sp>
      <p:sp>
        <p:nvSpPr>
          <p:cNvPr id="3" name="Footer Placeholder 2">
            <a:extLst>
              <a:ext uri="{FF2B5EF4-FFF2-40B4-BE49-F238E27FC236}">
                <a16:creationId xmlns:a16="http://schemas.microsoft.com/office/drawing/2014/main" id="{4D907805-D66A-F8A4-06D3-AF2313087393}"/>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7BAA2207-059C-C718-3153-33E5E7D2BA94}"/>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30</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DD819E56-5A33-3B19-E4A4-2474FBE975BE}"/>
              </a:ext>
            </a:extLst>
          </p:cNvPr>
          <p:cNvSpPr txBox="1">
            <a:spLocks noChangeArrowheads="1"/>
          </p:cNvSpPr>
          <p:nvPr/>
        </p:nvSpPr>
        <p:spPr bwMode="auto">
          <a:xfrm>
            <a:off x="395536" y="764704"/>
            <a:ext cx="846613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4488" indent="-344488" algn="just">
              <a:defRPr/>
            </a:pPr>
            <a:r>
              <a:rPr lang="en-US" alt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Duplication:</a:t>
            </a:r>
            <a:r>
              <a:rPr lang="en-US" altLang="en-US" sz="2800" dirty="0">
                <a:latin typeface="Cambria" panose="02040503050406030204" pitchFamily="18" charset="0"/>
                <a:ea typeface="Cambria" panose="02040503050406030204" pitchFamily="18" charset="0"/>
                <a:cs typeface="Calibri" panose="020F0502020204030204" pitchFamily="34" charset="0"/>
              </a:rPr>
              <a:t> HDM supports one-to-one and one-to-many association but doesn’t support many-to-many association.</a:t>
            </a:r>
          </a:p>
          <a:p>
            <a:pPr marL="344488" indent="-344488" algn="just">
              <a:defRPr/>
            </a:pPr>
            <a:r>
              <a:rPr lang="en-US" alt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Root Node</a:t>
            </a:r>
            <a:r>
              <a:rPr lang="en-US" altLang="en-US" sz="2800" dirty="0">
                <a:latin typeface="Cambria" panose="02040503050406030204" pitchFamily="18" charset="0"/>
                <a:ea typeface="Cambria" panose="02040503050406030204" pitchFamily="18" charset="0"/>
                <a:cs typeface="Calibri" panose="020F0502020204030204" pitchFamily="34" charset="0"/>
              </a:rPr>
              <a:t> dominates the other nodes and other nodes can’t exist independently. </a:t>
            </a:r>
          </a:p>
          <a:p>
            <a:pPr marL="344488" indent="-344488" algn="just">
              <a:defRPr/>
            </a:pPr>
            <a:r>
              <a:rPr lang="en-US" altLang="en-US" sz="2800" dirty="0">
                <a:latin typeface="Cambria" panose="02040503050406030204" pitchFamily="18" charset="0"/>
                <a:ea typeface="Cambria" panose="02040503050406030204" pitchFamily="18" charset="0"/>
                <a:cs typeface="Calibri" panose="020F0502020204030204" pitchFamily="34" charset="0"/>
              </a:rPr>
              <a:t>Not capable to answer all sorts of queries with the same efficiency (Navigational approach requires the knowledge of  hierarchical path). </a:t>
            </a:r>
          </a:p>
          <a:p>
            <a:pPr marL="344488" indent="-344488" algn="just">
              <a:defRPr/>
            </a:pPr>
            <a:r>
              <a:rPr lang="en-US" alt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Complex</a:t>
            </a:r>
          </a:p>
          <a:p>
            <a:pPr marL="344488" indent="-344488" algn="just">
              <a:spcBef>
                <a:spcPts val="0"/>
              </a:spcBef>
              <a:defRPr/>
            </a:pPr>
            <a:r>
              <a:rPr lang="en-US" altLang="en-US" sz="2800" dirty="0">
                <a:latin typeface="Cambria" panose="02040503050406030204" pitchFamily="18" charset="0"/>
                <a:ea typeface="Cambria" panose="02040503050406030204" pitchFamily="18" charset="0"/>
                <a:cs typeface="Calibri" panose="020F0502020204030204" pitchFamily="34" charset="0"/>
              </a:rPr>
              <a:t>The relationships are </a:t>
            </a:r>
            <a:r>
              <a:rPr lang="en-US" alt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predefined</a:t>
            </a:r>
            <a:r>
              <a:rPr lang="en-US" altLang="en-US" sz="2800" dirty="0">
                <a:latin typeface="Cambria" panose="02040503050406030204" pitchFamily="18" charset="0"/>
                <a:ea typeface="Cambria" panose="02040503050406030204" pitchFamily="18" charset="0"/>
                <a:cs typeface="Calibri" panose="020F0502020204030204" pitchFamily="34" charset="0"/>
              </a:rPr>
              <a:t> (pointer based) and new </a:t>
            </a:r>
            <a:r>
              <a:rPr lang="en-US" altLang="en-US" sz="2800">
                <a:latin typeface="Cambria" panose="02040503050406030204" pitchFamily="18" charset="0"/>
                <a:ea typeface="Cambria" panose="02040503050406030204" pitchFamily="18" charset="0"/>
                <a:cs typeface="Calibri" panose="020F0502020204030204" pitchFamily="34" charset="0"/>
              </a:rPr>
              <a:t>relationships cannot </a:t>
            </a:r>
            <a:r>
              <a:rPr lang="en-US" altLang="en-US" sz="2800" dirty="0">
                <a:latin typeface="Cambria" panose="02040503050406030204" pitchFamily="18" charset="0"/>
                <a:ea typeface="Cambria" panose="02040503050406030204" pitchFamily="18" charset="0"/>
                <a:cs typeface="Calibri" panose="020F0502020204030204" pitchFamily="34" charset="0"/>
              </a:rPr>
              <a:t>be accommodated unless we redraw the model.</a:t>
            </a:r>
          </a:p>
          <a:p>
            <a:pPr marL="344488" indent="-344488" algn="jus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344488" indent="-344488" algn="jus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algn="just" eaLnBrk="1" hangingPunct="1">
              <a:spcBef>
                <a:spcPts val="0"/>
              </a:spcBef>
              <a:spcAft>
                <a:spcPts val="300"/>
              </a:spcAft>
              <a:defRPr/>
            </a:pPr>
            <a:endParaRPr 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225238068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9BC62-66F5-7CE1-B1F5-EE9BDA1D0111}"/>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595E6645-6565-6E2C-6CE0-6B8795BB370F}"/>
              </a:ext>
            </a:extLst>
          </p:cNvPr>
          <p:cNvSpPr>
            <a:spLocks noGrp="1" noChangeArrowheads="1"/>
          </p:cNvSpPr>
          <p:nvPr>
            <p:ph type="title"/>
          </p:nvPr>
        </p:nvSpPr>
        <p:spPr>
          <a:xfrm>
            <a:off x="395536" y="261466"/>
            <a:ext cx="576064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Network Data Model (NDM)</a:t>
            </a:r>
          </a:p>
        </p:txBody>
      </p:sp>
      <p:sp>
        <p:nvSpPr>
          <p:cNvPr id="3" name="Footer Placeholder 2">
            <a:extLst>
              <a:ext uri="{FF2B5EF4-FFF2-40B4-BE49-F238E27FC236}">
                <a16:creationId xmlns:a16="http://schemas.microsoft.com/office/drawing/2014/main" id="{473F2650-C2B3-543C-355A-2F03F7F9810E}"/>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29978B67-9D6C-F35E-8E18-F1D20978E38E}"/>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31</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E5C48822-AA71-2C28-9A39-7800EBFF8431}"/>
              </a:ext>
            </a:extLst>
          </p:cNvPr>
          <p:cNvSpPr txBox="1">
            <a:spLocks noChangeArrowheads="1"/>
          </p:cNvSpPr>
          <p:nvPr/>
        </p:nvSpPr>
        <p:spPr bwMode="auto">
          <a:xfrm>
            <a:off x="395536" y="764704"/>
            <a:ext cx="846613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4488" indent="-344488" algn="just">
              <a:spcBef>
                <a:spcPts val="0"/>
              </a:spcBef>
              <a:spcAft>
                <a:spcPts val="0"/>
              </a:spcAft>
              <a:defRPr/>
            </a:pPr>
            <a:r>
              <a:rPr lang="en-US" altLang="en-US" sz="2800" dirty="0">
                <a:latin typeface="Cambria" panose="02040503050406030204" pitchFamily="18" charset="0"/>
                <a:ea typeface="Cambria" panose="02040503050406030204" pitchFamily="18" charset="0"/>
                <a:cs typeface="Calibri" panose="020F0502020204030204" pitchFamily="34" charset="0"/>
              </a:rPr>
              <a:t>It is an extension to HDM.</a:t>
            </a:r>
          </a:p>
          <a:p>
            <a:pPr marL="344488" indent="-344488" algn="just">
              <a:spcBef>
                <a:spcPts val="0"/>
              </a:spcBef>
              <a:spcAft>
                <a:spcPts val="0"/>
              </a:spcAft>
              <a:defRPr/>
            </a:pPr>
            <a:r>
              <a:rPr lang="en-US" altLang="en-US" sz="2800" dirty="0">
                <a:latin typeface="Cambria" panose="02040503050406030204" pitchFamily="18" charset="0"/>
                <a:ea typeface="Cambria" panose="02040503050406030204" pitchFamily="18" charset="0"/>
                <a:cs typeface="Calibri" panose="020F0502020204030204" pitchFamily="34" charset="0"/>
              </a:rPr>
              <a:t>It follows navigational approach (need to specify how the data is to be retrieved).</a:t>
            </a:r>
          </a:p>
          <a:p>
            <a:pPr marL="344488" indent="-344488" algn="just">
              <a:spcBef>
                <a:spcPts val="0"/>
              </a:spcBef>
              <a:spcAft>
                <a:spcPts val="0"/>
              </a:spcAft>
              <a:defRPr/>
            </a:pPr>
            <a:r>
              <a:rPr lang="en-US" altLang="en-US" sz="2800" dirty="0">
                <a:latin typeface="Cambria" panose="02040503050406030204" pitchFamily="18" charset="0"/>
                <a:ea typeface="Cambria" panose="02040503050406030204" pitchFamily="18" charset="0"/>
                <a:cs typeface="Calibri" panose="020F0502020204030204" pitchFamily="34" charset="0"/>
              </a:rPr>
              <a:t>It was introduced to overcome the limited scope of the HDM.</a:t>
            </a:r>
          </a:p>
          <a:p>
            <a:pPr marL="344488" indent="-344488" algn="just">
              <a:spcBef>
                <a:spcPts val="0"/>
              </a:spcBef>
              <a:spcAft>
                <a:spcPts val="0"/>
              </a:spcAft>
              <a:defRPr/>
            </a:pPr>
            <a:r>
              <a:rPr lang="en-US" altLang="en-US" sz="2800" dirty="0">
                <a:latin typeface="Cambria" panose="02040503050406030204" pitchFamily="18" charset="0"/>
                <a:ea typeface="Cambria" panose="02040503050406030204" pitchFamily="18" charset="0"/>
                <a:cs typeface="Calibri" panose="020F0502020204030204" pitchFamily="34" charset="0"/>
              </a:rPr>
              <a:t>In NDM, each node can be associated with an arbitrary number of nodes and there is no concept of root node. </a:t>
            </a:r>
          </a:p>
          <a:p>
            <a:pPr marL="0" indent="0" algn="just">
              <a:spcBef>
                <a:spcPts val="0"/>
              </a:spcBef>
              <a:spcAft>
                <a:spcPts val="0"/>
              </a:spcAft>
              <a:buNone/>
              <a:defRPr/>
            </a:pPr>
            <a:r>
              <a:rPr lang="en-US" alt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Terminologies:</a:t>
            </a:r>
          </a:p>
          <a:p>
            <a:pPr algn="just">
              <a:spcBef>
                <a:spcPts val="0"/>
              </a:spcBef>
              <a:spcAft>
                <a:spcPts val="0"/>
              </a:spcAft>
              <a:buClr>
                <a:schemeClr val="accent2">
                  <a:lumMod val="60000"/>
                  <a:lumOff val="40000"/>
                </a:schemeClr>
              </a:buClr>
              <a:defRPr/>
            </a:pPr>
            <a:r>
              <a:rPr lang="en-US" sz="2800" dirty="0">
                <a:latin typeface="Cambria" panose="02040503050406030204" pitchFamily="18" charset="0"/>
                <a:ea typeface="Cambria" panose="02040503050406030204" pitchFamily="18" charset="0"/>
              </a:rPr>
              <a:t>A relationship is called a </a:t>
            </a:r>
            <a:r>
              <a:rPr lang="en-US" sz="2800" dirty="0">
                <a:solidFill>
                  <a:srgbClr val="FF0000"/>
                </a:solidFill>
                <a:latin typeface="Cambria" panose="02040503050406030204" pitchFamily="18" charset="0"/>
                <a:ea typeface="Cambria" panose="02040503050406030204" pitchFamily="18" charset="0"/>
              </a:rPr>
              <a:t>Set.</a:t>
            </a:r>
          </a:p>
          <a:p>
            <a:pPr algn="just">
              <a:spcBef>
                <a:spcPts val="0"/>
              </a:spcBef>
              <a:spcAft>
                <a:spcPts val="0"/>
              </a:spcAft>
              <a:buClr>
                <a:schemeClr val="accent2">
                  <a:lumMod val="60000"/>
                  <a:lumOff val="40000"/>
                </a:schemeClr>
              </a:buClr>
              <a:defRPr/>
            </a:pPr>
            <a:r>
              <a:rPr lang="en-US" sz="2800" dirty="0">
                <a:solidFill>
                  <a:srgbClr val="FF0000"/>
                </a:solidFill>
                <a:latin typeface="Cambria" panose="02040503050406030204" pitchFamily="18" charset="0"/>
                <a:ea typeface="Cambria" panose="02040503050406030204" pitchFamily="18" charset="0"/>
              </a:rPr>
              <a:t>Schema:</a:t>
            </a:r>
            <a:r>
              <a:rPr lang="en-US" sz="2800" dirty="0">
                <a:latin typeface="Cambria" panose="02040503050406030204" pitchFamily="18" charset="0"/>
                <a:ea typeface="Cambria" panose="02040503050406030204" pitchFamily="18" charset="0"/>
              </a:rPr>
              <a:t> Conceptual organization of entire database.</a:t>
            </a:r>
          </a:p>
          <a:p>
            <a:pPr algn="just">
              <a:spcBef>
                <a:spcPts val="0"/>
              </a:spcBef>
              <a:spcAft>
                <a:spcPts val="0"/>
              </a:spcAft>
              <a:buClr>
                <a:schemeClr val="accent2">
                  <a:lumMod val="60000"/>
                  <a:lumOff val="40000"/>
                </a:schemeClr>
              </a:buClr>
              <a:defRPr/>
            </a:pPr>
            <a:r>
              <a:rPr lang="en-US" sz="2800" dirty="0">
                <a:solidFill>
                  <a:srgbClr val="FF0000"/>
                </a:solidFill>
                <a:latin typeface="Cambria" panose="02040503050406030204" pitchFamily="18" charset="0"/>
                <a:ea typeface="Cambria" panose="02040503050406030204" pitchFamily="18" charset="0"/>
              </a:rPr>
              <a:t>Subschema:</a:t>
            </a:r>
            <a:r>
              <a:rPr lang="en-US" sz="2800" dirty="0">
                <a:latin typeface="Cambria" panose="02040503050406030204" pitchFamily="18" charset="0"/>
                <a:ea typeface="Cambria" panose="02040503050406030204" pitchFamily="18" charset="0"/>
              </a:rPr>
              <a:t> View of an application</a:t>
            </a:r>
          </a:p>
          <a:p>
            <a:pPr marL="344488" indent="-344488" algn="just">
              <a:spcBef>
                <a:spcPts val="0"/>
              </a:spcBef>
              <a:spcAft>
                <a:spcPts val="0"/>
              </a:spcAf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algn="just" eaLnBrk="1" hangingPunct="1">
              <a:spcBef>
                <a:spcPts val="0"/>
              </a:spcBef>
              <a:spcAft>
                <a:spcPts val="0"/>
              </a:spcAft>
              <a:defRPr/>
            </a:pPr>
            <a:endParaRPr 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0"/>
              </a:spcAf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0"/>
              </a:spcAf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225196568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77857-0476-B86A-B3AF-CB55797B4012}"/>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AEE3CD8F-86B4-EB8C-ABFF-B78CB44C1887}"/>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Background of NDM</a:t>
            </a:r>
          </a:p>
        </p:txBody>
      </p:sp>
      <p:sp>
        <p:nvSpPr>
          <p:cNvPr id="3" name="Footer Placeholder 2">
            <a:extLst>
              <a:ext uri="{FF2B5EF4-FFF2-40B4-BE49-F238E27FC236}">
                <a16:creationId xmlns:a16="http://schemas.microsoft.com/office/drawing/2014/main" id="{5F396659-9E4D-539F-9E52-65E0AC52910A}"/>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9A9B1CF1-942D-72B6-1858-96C0AB0EC74C}"/>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32</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8AAE90A7-7995-B5DE-BD58-6CC0F3AB7FF2}"/>
              </a:ext>
            </a:extLst>
          </p:cNvPr>
          <p:cNvSpPr txBox="1">
            <a:spLocks noChangeArrowheads="1"/>
          </p:cNvSpPr>
          <p:nvPr/>
        </p:nvSpPr>
        <p:spPr bwMode="auto">
          <a:xfrm>
            <a:off x="395536" y="764704"/>
            <a:ext cx="846613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4488" indent="-344488" algn="just">
              <a:defRPr/>
            </a:pPr>
            <a:r>
              <a:rPr lang="en-US" altLang="en-US" sz="2800" dirty="0">
                <a:latin typeface="Cambria" panose="02040503050406030204" pitchFamily="18" charset="0"/>
                <a:ea typeface="Cambria" panose="02040503050406030204" pitchFamily="18" charset="0"/>
                <a:cs typeface="Calibri" panose="020F0502020204030204" pitchFamily="34" charset="0"/>
              </a:rPr>
              <a:t>The Conference on </a:t>
            </a:r>
            <a:r>
              <a:rPr lang="en-US" alt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Data System Language (CODASYL)</a:t>
            </a:r>
            <a:r>
              <a:rPr lang="en-US" altLang="en-US" sz="2800" dirty="0">
                <a:latin typeface="Cambria" panose="02040503050406030204" pitchFamily="18" charset="0"/>
                <a:ea typeface="Cambria" panose="02040503050406030204" pitchFamily="18" charset="0"/>
                <a:cs typeface="Calibri" panose="020F0502020204030204" pitchFamily="34" charset="0"/>
              </a:rPr>
              <a:t> formed </a:t>
            </a:r>
            <a:r>
              <a:rPr lang="en-US" alt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Database Task Group (DBTG)</a:t>
            </a:r>
            <a:r>
              <a:rPr lang="en-US" altLang="en-US" sz="2800" dirty="0">
                <a:latin typeface="Cambria" panose="02040503050406030204" pitchFamily="18" charset="0"/>
                <a:ea typeface="Cambria" panose="02040503050406030204" pitchFamily="18" charset="0"/>
                <a:cs typeface="Calibri" panose="020F0502020204030204" pitchFamily="34" charset="0"/>
              </a:rPr>
              <a:t> in 1960 for the standardization of DBMS.</a:t>
            </a:r>
          </a:p>
          <a:p>
            <a:pPr marL="344488" indent="-344488" algn="just">
              <a:defRPr/>
            </a:pPr>
            <a:r>
              <a:rPr lang="en-US" altLang="en-US" sz="2800" dirty="0">
                <a:latin typeface="Cambria" panose="02040503050406030204" pitchFamily="18" charset="0"/>
                <a:ea typeface="Cambria" panose="02040503050406030204" pitchFamily="18" charset="0"/>
                <a:cs typeface="Calibri" panose="020F0502020204030204" pitchFamily="34" charset="0"/>
              </a:rPr>
              <a:t>It released an initial report on NDM in 1971 </a:t>
            </a:r>
          </a:p>
          <a:p>
            <a:pPr marL="344488" indent="-344488" algn="just">
              <a:defRPr/>
            </a:pPr>
            <a:r>
              <a:rPr lang="en-US" altLang="en-US" sz="2800" dirty="0">
                <a:latin typeface="Cambria" panose="02040503050406030204" pitchFamily="18" charset="0"/>
                <a:ea typeface="Cambria" panose="02040503050406030204" pitchFamily="18" charset="0"/>
                <a:cs typeface="Calibri" panose="020F0502020204030204" pitchFamily="34" charset="0"/>
              </a:rPr>
              <a:t>The Integrated DBMS is the most popular example of NDM. </a:t>
            </a:r>
          </a:p>
          <a:p>
            <a:pPr marL="344488" indent="-344488" algn="just">
              <a:defRPr/>
            </a:pPr>
            <a:r>
              <a:rPr lang="en-US" altLang="en-US" sz="2800" dirty="0">
                <a:latin typeface="Cambria" panose="02040503050406030204" pitchFamily="18" charset="0"/>
                <a:ea typeface="Cambria" panose="02040503050406030204" pitchFamily="18" charset="0"/>
                <a:cs typeface="Calibri" panose="020F0502020204030204" pitchFamily="34" charset="0"/>
              </a:rPr>
              <a:t>It is also known as </a:t>
            </a:r>
            <a:r>
              <a:rPr lang="en-US" alt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CODASYL System or DBTG System. </a:t>
            </a:r>
          </a:p>
          <a:p>
            <a:pPr marL="344488" indent="-344488" algn="just">
              <a:defRPr/>
            </a:pPr>
            <a:r>
              <a:rPr lang="en-US" altLang="en-US" sz="2800" dirty="0">
                <a:latin typeface="Cambria" panose="02040503050406030204" pitchFamily="18" charset="0"/>
                <a:ea typeface="Cambria" panose="02040503050406030204" pitchFamily="18" charset="0"/>
                <a:cs typeface="Calibri" panose="020F0502020204030204" pitchFamily="34" charset="0"/>
              </a:rPr>
              <a:t>The ANSI </a:t>
            </a:r>
            <a:r>
              <a:rPr lang="en-US" alt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Standard Planning and Requirements Committee (SPARC)</a:t>
            </a:r>
            <a:r>
              <a:rPr lang="en-US" altLang="en-US" sz="2800" dirty="0">
                <a:latin typeface="Cambria" panose="02040503050406030204" pitchFamily="18" charset="0"/>
                <a:ea typeface="Cambria" panose="02040503050406030204" pitchFamily="18" charset="0"/>
                <a:cs typeface="Calibri" panose="020F0502020204030204" pitchFamily="34" charset="0"/>
              </a:rPr>
              <a:t> augmented the database standards in 1975.</a:t>
            </a:r>
          </a:p>
          <a:p>
            <a:pPr algn="just" eaLnBrk="1" hangingPunct="1">
              <a:spcBef>
                <a:spcPts val="0"/>
              </a:spcBef>
              <a:spcAft>
                <a:spcPts val="300"/>
              </a:spcAft>
              <a:defRPr/>
            </a:pPr>
            <a:endParaRPr 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1459048866"/>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ADD3E-D4BF-E5D6-9F76-F3953C81B445}"/>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75E36D0D-64F4-F857-0B16-FF91BA8953C3}"/>
              </a:ext>
            </a:extLst>
          </p:cNvPr>
          <p:cNvSpPr>
            <a:spLocks noGrp="1" noChangeArrowheads="1"/>
          </p:cNvSpPr>
          <p:nvPr>
            <p:ph type="title"/>
          </p:nvPr>
        </p:nvSpPr>
        <p:spPr>
          <a:xfrm>
            <a:off x="395536" y="261466"/>
            <a:ext cx="576064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Strengths of NDM</a:t>
            </a:r>
          </a:p>
        </p:txBody>
      </p:sp>
      <p:sp>
        <p:nvSpPr>
          <p:cNvPr id="3" name="Footer Placeholder 2">
            <a:extLst>
              <a:ext uri="{FF2B5EF4-FFF2-40B4-BE49-F238E27FC236}">
                <a16:creationId xmlns:a16="http://schemas.microsoft.com/office/drawing/2014/main" id="{1959F726-1CE7-2196-2F33-A349161CCB0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A5D4216C-A804-ABBC-6D26-EB0935E3A222}"/>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33</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5CFCDCD7-12E7-0D51-EAFE-959A2FB9979C}"/>
              </a:ext>
            </a:extLst>
          </p:cNvPr>
          <p:cNvSpPr txBox="1">
            <a:spLocks noChangeArrowheads="1"/>
          </p:cNvSpPr>
          <p:nvPr/>
        </p:nvSpPr>
        <p:spPr bwMode="auto">
          <a:xfrm>
            <a:off x="395536" y="764704"/>
            <a:ext cx="846613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4488" indent="-344488" algn="just">
              <a:defRPr/>
            </a:pPr>
            <a:r>
              <a:rPr lang="en-US" alt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Conceptual Simplicity:</a:t>
            </a:r>
            <a:r>
              <a:rPr lang="en-US" altLang="en-US" sz="2800" dirty="0">
                <a:latin typeface="Cambria" panose="02040503050406030204" pitchFamily="18" charset="0"/>
                <a:ea typeface="Cambria" panose="02040503050406030204" pitchFamily="18" charset="0"/>
                <a:cs typeface="Calibri" panose="020F0502020204030204" pitchFamily="34" charset="0"/>
              </a:rPr>
              <a:t> The relationship between the various layers of the model is logically simple. </a:t>
            </a:r>
          </a:p>
          <a:p>
            <a:pPr marL="344488" indent="-344488" algn="just">
              <a:defRPr/>
            </a:pPr>
            <a:r>
              <a:rPr lang="en-US" altLang="en-US" sz="2800" dirty="0">
                <a:latin typeface="Cambria" panose="02040503050406030204" pitchFamily="18" charset="0"/>
                <a:ea typeface="Cambria" panose="02040503050406030204" pitchFamily="18" charset="0"/>
                <a:cs typeface="Calibri" panose="020F0502020204030204" pitchFamily="34" charset="0"/>
              </a:rPr>
              <a:t>Database Integrity</a:t>
            </a:r>
          </a:p>
          <a:p>
            <a:pPr marL="344488" indent="-344488" algn="just">
              <a:defRPr/>
            </a:pPr>
            <a:r>
              <a:rPr lang="en-US" altLang="en-US" sz="2800" dirty="0">
                <a:latin typeface="Cambria" panose="02040503050406030204" pitchFamily="18" charset="0"/>
                <a:ea typeface="Cambria" panose="02040503050406030204" pitchFamily="18" charset="0"/>
                <a:cs typeface="Calibri" panose="020F0502020204030204" pitchFamily="34" charset="0"/>
              </a:rPr>
              <a:t>Handles more relationship types </a:t>
            </a:r>
          </a:p>
          <a:p>
            <a:pPr marL="344488" indent="-344488" algn="just">
              <a:defRPr/>
            </a:pPr>
            <a:r>
              <a:rPr lang="en-US" alt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Data Access Flexibility:</a:t>
            </a:r>
            <a:r>
              <a:rPr lang="en-US" altLang="en-US" sz="2800" dirty="0">
                <a:latin typeface="Cambria" panose="02040503050406030204" pitchFamily="18" charset="0"/>
                <a:ea typeface="Cambria" panose="02040503050406030204" pitchFamily="18" charset="0"/>
                <a:cs typeface="Calibri" panose="020F0502020204030204" pitchFamily="34" charset="0"/>
              </a:rPr>
              <a:t> An application can access an owner record and all member records in a set.</a:t>
            </a:r>
          </a:p>
          <a:p>
            <a:pPr marL="344488" indent="-344488" algn="jus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344488" indent="-344488" algn="jus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algn="just" eaLnBrk="1" hangingPunct="1">
              <a:spcBef>
                <a:spcPts val="0"/>
              </a:spcBef>
              <a:spcAft>
                <a:spcPts val="300"/>
              </a:spcAft>
              <a:defRPr/>
            </a:pPr>
            <a:endParaRPr 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1795998295"/>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694FB-0C6E-2D90-653E-4D52696131A5}"/>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42ADCA33-6287-E5C8-1F18-45615C0C5822}"/>
              </a:ext>
            </a:extLst>
          </p:cNvPr>
          <p:cNvSpPr>
            <a:spLocks noGrp="1" noChangeArrowheads="1"/>
          </p:cNvSpPr>
          <p:nvPr>
            <p:ph type="title"/>
          </p:nvPr>
        </p:nvSpPr>
        <p:spPr>
          <a:xfrm>
            <a:off x="395536" y="261466"/>
            <a:ext cx="576064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Weaknesses of NDM</a:t>
            </a:r>
          </a:p>
        </p:txBody>
      </p:sp>
      <p:sp>
        <p:nvSpPr>
          <p:cNvPr id="3" name="Footer Placeholder 2">
            <a:extLst>
              <a:ext uri="{FF2B5EF4-FFF2-40B4-BE49-F238E27FC236}">
                <a16:creationId xmlns:a16="http://schemas.microsoft.com/office/drawing/2014/main" id="{EEF04803-433E-45F0-3498-D8564408EA03}"/>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C8B4E9BE-FA34-BBFD-E5D3-70B2A8299514}"/>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34</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43B729C5-62E3-FC3E-6285-1AA616D70889}"/>
              </a:ext>
            </a:extLst>
          </p:cNvPr>
          <p:cNvSpPr txBox="1">
            <a:spLocks noChangeArrowheads="1"/>
          </p:cNvSpPr>
          <p:nvPr/>
        </p:nvSpPr>
        <p:spPr bwMode="auto">
          <a:xfrm>
            <a:off x="395536" y="764704"/>
            <a:ext cx="846613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4488" indent="-344488" algn="just">
              <a:defRPr/>
            </a:pPr>
            <a:r>
              <a:rPr lang="en-US" altLang="en-US" sz="2800" dirty="0">
                <a:latin typeface="Cambria" panose="02040503050406030204" pitchFamily="18" charset="0"/>
                <a:ea typeface="Cambria" panose="02040503050406030204" pitchFamily="18" charset="0"/>
                <a:cs typeface="Calibri" panose="020F0502020204030204" pitchFamily="34" charset="0"/>
              </a:rPr>
              <a:t>Complex</a:t>
            </a:r>
          </a:p>
          <a:p>
            <a:pPr marL="344488" indent="-344488" algn="just">
              <a:defRPr/>
            </a:pPr>
            <a:r>
              <a:rPr lang="en-US" altLang="en-US" sz="2800" dirty="0">
                <a:latin typeface="Cambria" panose="02040503050406030204" pitchFamily="18" charset="0"/>
                <a:ea typeface="Cambria" panose="02040503050406030204" pitchFamily="18" charset="0"/>
                <a:cs typeface="Calibri" panose="020F0502020204030204" pitchFamily="34" charset="0"/>
              </a:rPr>
              <a:t>Inflexible</a:t>
            </a:r>
          </a:p>
          <a:p>
            <a:pPr marL="344488" indent="-344488" algn="just">
              <a:defRPr/>
            </a:pPr>
            <a:r>
              <a:rPr lang="en-US" altLang="en-US" sz="2800" dirty="0">
                <a:latin typeface="Cambria" panose="02040503050406030204" pitchFamily="18" charset="0"/>
                <a:ea typeface="Cambria" panose="02040503050406030204" pitchFamily="18" charset="0"/>
                <a:cs typeface="Calibri" panose="020F0502020204030204" pitchFamily="34" charset="0"/>
              </a:rPr>
              <a:t>System complexity limits efficiency—still a navigational system. It remains difficult to answer all sorts of queries with the same efficiency.</a:t>
            </a:r>
          </a:p>
          <a:p>
            <a:pPr marL="344488" indent="-344488" algn="just">
              <a:defRPr/>
            </a:pPr>
            <a:r>
              <a:rPr lang="en-US" altLang="en-US" sz="2800" dirty="0">
                <a:latin typeface="Cambria" panose="02040503050406030204" pitchFamily="18" charset="0"/>
                <a:ea typeface="Cambria" panose="02040503050406030204" pitchFamily="18" charset="0"/>
                <a:cs typeface="Calibri" panose="020F0502020204030204" pitchFamily="34" charset="0"/>
              </a:rPr>
              <a:t>The </a:t>
            </a:r>
            <a:r>
              <a:rPr lang="en-US" alt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relationships are predefined</a:t>
            </a:r>
            <a:r>
              <a:rPr lang="en-US" altLang="en-US" sz="2800" dirty="0">
                <a:latin typeface="Cambria" panose="02040503050406030204" pitchFamily="18" charset="0"/>
                <a:ea typeface="Cambria" panose="02040503050406030204" pitchFamily="18" charset="0"/>
                <a:cs typeface="Calibri" panose="020F0502020204030204" pitchFamily="34" charset="0"/>
              </a:rPr>
              <a:t> (pointer based) and new relationships cant be accommodated unless we redraw the model.</a:t>
            </a:r>
          </a:p>
          <a:p>
            <a:pPr marL="344488" indent="-344488" algn="just">
              <a:defRPr/>
            </a:pPr>
            <a:r>
              <a:rPr lang="en-US" alt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Lack of structural independence: </a:t>
            </a:r>
            <a:r>
              <a:rPr lang="en-US" altLang="en-US" sz="2800" dirty="0">
                <a:latin typeface="Cambria" panose="02040503050406030204" pitchFamily="18" charset="0"/>
                <a:ea typeface="Cambria" panose="02040503050406030204" pitchFamily="18" charset="0"/>
                <a:cs typeface="Calibri" panose="020F0502020204030204" pitchFamily="34" charset="0"/>
              </a:rPr>
              <a:t>Structural changes require changes in all application programs.</a:t>
            </a:r>
          </a:p>
          <a:p>
            <a:pPr marL="344488" indent="-344488" algn="jus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344488" indent="-344488" algn="jus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algn="just" eaLnBrk="1" hangingPunct="1">
              <a:spcBef>
                <a:spcPts val="0"/>
              </a:spcBef>
              <a:spcAft>
                <a:spcPts val="300"/>
              </a:spcAft>
              <a:defRPr/>
            </a:pPr>
            <a:endParaRPr 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176692092"/>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89175838-8623-553A-3B86-80702E1E4DE2}"/>
              </a:ext>
            </a:extLst>
          </p:cNvPr>
          <p:cNvSpPr>
            <a:spLocks noGrp="1" noChangeArrowheads="1"/>
          </p:cNvSpPr>
          <p:nvPr>
            <p:ph type="title"/>
          </p:nvPr>
        </p:nvSpPr>
        <p:spPr>
          <a:xfrm>
            <a:off x="373063" y="92075"/>
            <a:ext cx="6886575" cy="457200"/>
          </a:xfrm>
        </p:spPr>
        <p:txBody>
          <a:bodyPr/>
          <a:lstStyle/>
          <a:p>
            <a:pPr eaLnBrk="1" hangingPunct="1"/>
            <a:r>
              <a:rPr lang="en-US" altLang="en-US" sz="2400" b="1" u="sng" dirty="0">
                <a:solidFill>
                  <a:srgbClr val="D34817"/>
                </a:solidFill>
                <a:latin typeface="Cambria" panose="02040503050406030204" pitchFamily="18" charset="0"/>
                <a:ea typeface="Cambria" panose="02040503050406030204" pitchFamily="18" charset="0"/>
              </a:rPr>
              <a:t>Reading Material</a:t>
            </a:r>
          </a:p>
        </p:txBody>
      </p:sp>
      <p:sp>
        <p:nvSpPr>
          <p:cNvPr id="67587" name="Rectangle 3">
            <a:extLst>
              <a:ext uri="{FF2B5EF4-FFF2-40B4-BE49-F238E27FC236}">
                <a16:creationId xmlns:a16="http://schemas.microsoft.com/office/drawing/2014/main" id="{7B3B3D00-38EE-6251-C253-EC3E3174A7CF}"/>
              </a:ext>
            </a:extLst>
          </p:cNvPr>
          <p:cNvSpPr txBox="1">
            <a:spLocks noChangeArrowheads="1"/>
          </p:cNvSpPr>
          <p:nvPr/>
        </p:nvSpPr>
        <p:spPr bwMode="auto">
          <a:xfrm>
            <a:off x="266700" y="404813"/>
            <a:ext cx="8610600" cy="306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914400" indent="-45720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822325"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096963"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1371600" indent="-228600">
              <a:spcBef>
                <a:spcPts val="375"/>
              </a:spcBef>
              <a:buClr>
                <a:srgbClr val="A28E6A"/>
              </a:buClr>
              <a:buChar char="o"/>
              <a:defRPr sz="2000">
                <a:solidFill>
                  <a:schemeClr val="tx1"/>
                </a:solidFill>
                <a:latin typeface="Perpetua" panose="02020502060401020303" pitchFamily="18" charset="0"/>
              </a:defRPr>
            </a:lvl5pPr>
            <a:lvl6pPr marL="1828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286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2743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2004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buClr>
                <a:srgbClr val="D34817"/>
              </a:buClr>
              <a:buFont typeface="Franklin Gothic Book" panose="020B0503020102020204" pitchFamily="34" charset="0"/>
              <a:buAutoNum type="alphaUcPeriod"/>
            </a:pPr>
            <a:r>
              <a:rPr lang="en-US" altLang="en-US" sz="2400" dirty="0">
                <a:solidFill>
                  <a:srgbClr val="000000"/>
                </a:solidFill>
              </a:rPr>
              <a:t>Database Systems – Design, Implementation and Management: </a:t>
            </a:r>
            <a:r>
              <a:rPr lang="en-US" altLang="en-US" sz="2400" dirty="0">
                <a:solidFill>
                  <a:srgbClr val="0000FF"/>
                </a:solidFill>
              </a:rPr>
              <a:t>Carlos Coronel, Steven Morris (13</a:t>
            </a:r>
            <a:r>
              <a:rPr lang="en-US" altLang="en-US" sz="2400" baseline="30000" dirty="0">
                <a:solidFill>
                  <a:srgbClr val="0000FF"/>
                </a:solidFill>
              </a:rPr>
              <a:t>th</a:t>
            </a:r>
            <a:r>
              <a:rPr lang="en-US" altLang="en-US" sz="2400" dirty="0">
                <a:solidFill>
                  <a:srgbClr val="0000FF"/>
                </a:solidFill>
              </a:rPr>
              <a:t> Ed.)</a:t>
            </a:r>
          </a:p>
          <a:p>
            <a:pPr eaLnBrk="1" hangingPunct="1">
              <a:buClr>
                <a:srgbClr val="D34817"/>
              </a:buClr>
              <a:buFont typeface="Franklin Gothic Book" panose="020B0503020102020204" pitchFamily="34" charset="0"/>
              <a:buAutoNum type="alphaUcPeriod"/>
            </a:pPr>
            <a:r>
              <a:rPr lang="en-US" altLang="en-US" sz="2400" dirty="0">
                <a:solidFill>
                  <a:srgbClr val="000000"/>
                </a:solidFill>
              </a:rPr>
              <a:t>Modern Database Management: </a:t>
            </a:r>
            <a:r>
              <a:rPr lang="en-US" altLang="en-US" sz="2400" dirty="0">
                <a:solidFill>
                  <a:srgbClr val="0000FF"/>
                </a:solidFill>
              </a:rPr>
              <a:t>Jeffery. A. Hoffer (12</a:t>
            </a:r>
            <a:r>
              <a:rPr lang="en-US" altLang="en-US" sz="2400" baseline="30000" dirty="0">
                <a:solidFill>
                  <a:srgbClr val="0000FF"/>
                </a:solidFill>
              </a:rPr>
              <a:t>th</a:t>
            </a:r>
            <a:r>
              <a:rPr lang="en-US" altLang="en-US" sz="2400" dirty="0">
                <a:solidFill>
                  <a:srgbClr val="0000FF"/>
                </a:solidFill>
              </a:rPr>
              <a:t> Ed.)</a:t>
            </a:r>
          </a:p>
          <a:p>
            <a:pPr eaLnBrk="1" hangingPunct="1">
              <a:buClr>
                <a:srgbClr val="D34817"/>
              </a:buClr>
              <a:buFont typeface="Franklin Gothic Book" panose="020B0503020102020204" pitchFamily="34" charset="0"/>
              <a:buAutoNum type="alphaUcPeriod"/>
            </a:pPr>
            <a:r>
              <a:rPr lang="en-US" altLang="en-US" sz="2400" dirty="0">
                <a:solidFill>
                  <a:srgbClr val="000000"/>
                </a:solidFill>
              </a:rPr>
              <a:t>Database Systems: </a:t>
            </a:r>
            <a:r>
              <a:rPr lang="en-US" altLang="en-US" sz="2400" dirty="0">
                <a:solidFill>
                  <a:srgbClr val="0000FF"/>
                </a:solidFill>
              </a:rPr>
              <a:t>Thomas M. Connolly (6</a:t>
            </a:r>
            <a:r>
              <a:rPr lang="en-US" altLang="en-US" sz="2400" baseline="30000" dirty="0">
                <a:solidFill>
                  <a:srgbClr val="0000FF"/>
                </a:solidFill>
              </a:rPr>
              <a:t>th</a:t>
            </a:r>
            <a:r>
              <a:rPr lang="en-US" altLang="en-US" sz="2400" dirty="0">
                <a:solidFill>
                  <a:srgbClr val="0000FF"/>
                </a:solidFill>
              </a:rPr>
              <a:t> Ed.)</a:t>
            </a:r>
          </a:p>
          <a:p>
            <a:pPr eaLnBrk="1" hangingPunct="1">
              <a:buClr>
                <a:srgbClr val="D34817"/>
              </a:buClr>
              <a:buFont typeface="Franklin Gothic Book" panose="020B0503020102020204" pitchFamily="34" charset="0"/>
              <a:buAutoNum type="alphaUcPeriod"/>
            </a:pPr>
            <a:r>
              <a:rPr lang="en-US" altLang="en-US" sz="2400" dirty="0">
                <a:solidFill>
                  <a:srgbClr val="000000"/>
                </a:solidFill>
              </a:rPr>
              <a:t>Fundamentals of Database Systems: </a:t>
            </a:r>
            <a:r>
              <a:rPr lang="en-US" altLang="en-US" sz="2400" dirty="0">
                <a:solidFill>
                  <a:srgbClr val="0000FF"/>
                </a:solidFill>
              </a:rPr>
              <a:t>Elmasri (7</a:t>
            </a:r>
            <a:r>
              <a:rPr lang="en-US" altLang="en-US" sz="2400" baseline="30000" dirty="0">
                <a:solidFill>
                  <a:srgbClr val="0000FF"/>
                </a:solidFill>
              </a:rPr>
              <a:t>th</a:t>
            </a:r>
            <a:r>
              <a:rPr lang="en-US" altLang="en-US" sz="2400" dirty="0">
                <a:solidFill>
                  <a:srgbClr val="0000FF"/>
                </a:solidFill>
              </a:rPr>
              <a:t> Ed.)</a:t>
            </a:r>
            <a:r>
              <a:rPr lang="en-US" altLang="en-US" sz="2400" dirty="0">
                <a:solidFill>
                  <a:srgbClr val="9B2D1F"/>
                </a:solidFill>
              </a:rPr>
              <a:t> </a:t>
            </a:r>
          </a:p>
          <a:p>
            <a:pPr eaLnBrk="1" hangingPunct="1">
              <a:buClr>
                <a:srgbClr val="D34817"/>
              </a:buClr>
              <a:buFont typeface="Franklin Gothic Book" panose="020B0503020102020204" pitchFamily="34" charset="0"/>
              <a:buAutoNum type="alphaUcPeriod"/>
            </a:pPr>
            <a:r>
              <a:rPr lang="en-US" altLang="en-US" sz="2400" dirty="0">
                <a:solidFill>
                  <a:srgbClr val="000000"/>
                </a:solidFill>
              </a:rPr>
              <a:t>Database System Concepts: </a:t>
            </a:r>
            <a:r>
              <a:rPr lang="en-US" altLang="en-US" sz="2400" dirty="0">
                <a:solidFill>
                  <a:srgbClr val="0000FF"/>
                </a:solidFill>
              </a:rPr>
              <a:t>Abraham Silberschatz (7</a:t>
            </a:r>
            <a:r>
              <a:rPr lang="en-US" altLang="en-US" sz="2400" baseline="30000" dirty="0">
                <a:solidFill>
                  <a:srgbClr val="0000FF"/>
                </a:solidFill>
              </a:rPr>
              <a:t>th</a:t>
            </a:r>
            <a:r>
              <a:rPr lang="en-US" altLang="en-US" sz="2400" dirty="0">
                <a:solidFill>
                  <a:srgbClr val="0000FF"/>
                </a:solidFill>
              </a:rPr>
              <a:t> Ed.)</a:t>
            </a:r>
          </a:p>
          <a:p>
            <a:pPr eaLnBrk="1" hangingPunct="1">
              <a:buClr>
                <a:srgbClr val="D34817"/>
              </a:buClr>
              <a:buFont typeface="Franklin Gothic Book" panose="020B0503020102020204" pitchFamily="34" charset="0"/>
              <a:buAutoNum type="alphaUcPeriod"/>
            </a:pPr>
            <a:r>
              <a:rPr lang="en-US" altLang="en-US" sz="2400" dirty="0">
                <a:solidFill>
                  <a:srgbClr val="000000"/>
                </a:solidFill>
              </a:rPr>
              <a:t>Databases Illuminated: </a:t>
            </a:r>
            <a:r>
              <a:rPr lang="en-US" altLang="en-US" sz="2400" dirty="0">
                <a:solidFill>
                  <a:srgbClr val="0000FF"/>
                </a:solidFill>
              </a:rPr>
              <a:t>Catherine M. Ricardo (3rd Ed.)</a:t>
            </a:r>
            <a:endParaRPr lang="en-US" altLang="en-US" sz="2400" dirty="0">
              <a:solidFill>
                <a:srgbClr val="9B2D1F"/>
              </a:solidFill>
            </a:endParaRPr>
          </a:p>
        </p:txBody>
      </p:sp>
      <p:graphicFrame>
        <p:nvGraphicFramePr>
          <p:cNvPr id="2" name="Table 1">
            <a:extLst>
              <a:ext uri="{FF2B5EF4-FFF2-40B4-BE49-F238E27FC236}">
                <a16:creationId xmlns:a16="http://schemas.microsoft.com/office/drawing/2014/main" id="{4CF1940B-D2B6-FF92-CAF0-36CBF47A3979}"/>
              </a:ext>
            </a:extLst>
          </p:cNvPr>
          <p:cNvGraphicFramePr>
            <a:graphicFrameLocks noGrp="1"/>
          </p:cNvGraphicFramePr>
          <p:nvPr/>
        </p:nvGraphicFramePr>
        <p:xfrm>
          <a:off x="1547813" y="3429000"/>
          <a:ext cx="6119812" cy="3200400"/>
        </p:xfrm>
        <a:graphic>
          <a:graphicData uri="http://schemas.openxmlformats.org/drawingml/2006/table">
            <a:tbl>
              <a:tblPr firstRow="1" bandRow="1">
                <a:tableStyleId>{5C22544A-7EE6-4342-B048-85BDC9FD1C3A}</a:tableStyleId>
              </a:tblPr>
              <a:tblGrid>
                <a:gridCol w="1057745">
                  <a:extLst>
                    <a:ext uri="{9D8B030D-6E8A-4147-A177-3AD203B41FA5}">
                      <a16:colId xmlns:a16="http://schemas.microsoft.com/office/drawing/2014/main" val="20000"/>
                    </a:ext>
                  </a:extLst>
                </a:gridCol>
                <a:gridCol w="5062067">
                  <a:extLst>
                    <a:ext uri="{9D8B030D-6E8A-4147-A177-3AD203B41FA5}">
                      <a16:colId xmlns:a16="http://schemas.microsoft.com/office/drawing/2014/main" val="20001"/>
                    </a:ext>
                  </a:extLst>
                </a:gridCol>
              </a:tblGrid>
              <a:tr h="431970">
                <a:tc>
                  <a:txBody>
                    <a:bodyPr/>
                    <a:lstStyle/>
                    <a:p>
                      <a:pPr algn="ctr"/>
                      <a:r>
                        <a:rPr lang="en-US" sz="2400" dirty="0">
                          <a:solidFill>
                            <a:srgbClr val="FFFF00"/>
                          </a:solidFill>
                        </a:rPr>
                        <a:t>Book</a:t>
                      </a:r>
                    </a:p>
                  </a:txBody>
                  <a:tcPr marL="91427" marR="91427"/>
                </a:tc>
                <a:tc>
                  <a:txBody>
                    <a:bodyPr/>
                    <a:lstStyle/>
                    <a:p>
                      <a:pPr algn="ctr"/>
                      <a:r>
                        <a:rPr lang="en-US" sz="2400" dirty="0">
                          <a:solidFill>
                            <a:srgbClr val="FFFF00"/>
                          </a:solidFill>
                        </a:rPr>
                        <a:t>Section(s) / Chapter</a:t>
                      </a:r>
                    </a:p>
                  </a:txBody>
                  <a:tcPr marL="91427" marR="91427"/>
                </a:tc>
                <a:extLst>
                  <a:ext uri="{0D108BD9-81ED-4DB2-BD59-A6C34878D82A}">
                    <a16:rowId xmlns:a16="http://schemas.microsoft.com/office/drawing/2014/main" val="10000"/>
                  </a:ext>
                </a:extLst>
              </a:tr>
              <a:tr h="431970">
                <a:tc>
                  <a:txBody>
                    <a:bodyPr/>
                    <a:lstStyle/>
                    <a:p>
                      <a:pPr algn="ctr"/>
                      <a:r>
                        <a:rPr lang="en-US" sz="2400" b="0" dirty="0">
                          <a:solidFill>
                            <a:schemeClr val="tx1"/>
                          </a:solidFill>
                        </a:rPr>
                        <a:t>A</a:t>
                      </a:r>
                    </a:p>
                  </a:txBody>
                  <a:tcPr marL="91427" marR="91427"/>
                </a:tc>
                <a:tc>
                  <a:txBody>
                    <a:bodyPr/>
                    <a:lstStyle/>
                    <a:p>
                      <a:pPr algn="l"/>
                      <a:r>
                        <a:rPr lang="en-US" sz="2400" b="0" dirty="0">
                          <a:solidFill>
                            <a:schemeClr val="tx1"/>
                          </a:solidFill>
                        </a:rPr>
                        <a:t>1.4, 2.1 to 2.6</a:t>
                      </a:r>
                    </a:p>
                  </a:txBody>
                  <a:tcPr marL="91427" marR="91427"/>
                </a:tc>
                <a:extLst>
                  <a:ext uri="{0D108BD9-81ED-4DB2-BD59-A6C34878D82A}">
                    <a16:rowId xmlns:a16="http://schemas.microsoft.com/office/drawing/2014/main" val="10001"/>
                  </a:ext>
                </a:extLst>
              </a:tr>
              <a:tr h="431970">
                <a:tc>
                  <a:txBody>
                    <a:bodyPr/>
                    <a:lstStyle/>
                    <a:p>
                      <a:pPr algn="ctr"/>
                      <a:r>
                        <a:rPr lang="en-US" sz="2400" dirty="0"/>
                        <a:t>B</a:t>
                      </a:r>
                    </a:p>
                  </a:txBody>
                  <a:tcPr marL="91427" marR="9142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Ch1 (page 17 to 22), Ch3 (page 53 to 56)</a:t>
                      </a:r>
                    </a:p>
                  </a:txBody>
                  <a:tcPr marL="91427" marR="91427"/>
                </a:tc>
                <a:extLst>
                  <a:ext uri="{0D108BD9-81ED-4DB2-BD59-A6C34878D82A}">
                    <a16:rowId xmlns:a16="http://schemas.microsoft.com/office/drawing/2014/main" val="10002"/>
                  </a:ext>
                </a:extLst>
              </a:tr>
              <a:tr h="431970">
                <a:tc>
                  <a:txBody>
                    <a:bodyPr/>
                    <a:lstStyle/>
                    <a:p>
                      <a:pPr algn="ctr"/>
                      <a:r>
                        <a:rPr lang="en-US" sz="2400" dirty="0"/>
                        <a:t>C</a:t>
                      </a:r>
                    </a:p>
                  </a:txBody>
                  <a:tcPr marL="91427" marR="91427"/>
                </a:tc>
                <a:tc>
                  <a:txBody>
                    <a:bodyPr/>
                    <a:lstStyle/>
                    <a:p>
                      <a:pPr algn="l"/>
                      <a:r>
                        <a:rPr lang="en-US" sz="2400" dirty="0"/>
                        <a:t>2.3</a:t>
                      </a:r>
                    </a:p>
                  </a:txBody>
                  <a:tcPr marL="91427" marR="91427"/>
                </a:tc>
                <a:extLst>
                  <a:ext uri="{0D108BD9-81ED-4DB2-BD59-A6C34878D82A}">
                    <a16:rowId xmlns:a16="http://schemas.microsoft.com/office/drawing/2014/main" val="10003"/>
                  </a:ext>
                </a:extLst>
              </a:tr>
              <a:tr h="431970">
                <a:tc>
                  <a:txBody>
                    <a:bodyPr/>
                    <a:lstStyle/>
                    <a:p>
                      <a:pPr algn="ctr"/>
                      <a:r>
                        <a:rPr lang="en-US" sz="2400" dirty="0"/>
                        <a:t>D</a:t>
                      </a:r>
                    </a:p>
                  </a:txBody>
                  <a:tcPr marL="91427" marR="91427"/>
                </a:tc>
                <a:tc>
                  <a:txBody>
                    <a:bodyPr/>
                    <a:lstStyle/>
                    <a:p>
                      <a:pPr algn="l"/>
                      <a:r>
                        <a:rPr lang="en-US" sz="2400" dirty="0"/>
                        <a:t>2.1</a:t>
                      </a:r>
                    </a:p>
                  </a:txBody>
                  <a:tcPr marL="91427" marR="91427"/>
                </a:tc>
                <a:extLst>
                  <a:ext uri="{0D108BD9-81ED-4DB2-BD59-A6C34878D82A}">
                    <a16:rowId xmlns:a16="http://schemas.microsoft.com/office/drawing/2014/main" val="10004"/>
                  </a:ext>
                </a:extLst>
              </a:tr>
              <a:tr h="431970">
                <a:tc>
                  <a:txBody>
                    <a:bodyPr/>
                    <a:lstStyle/>
                    <a:p>
                      <a:pPr algn="ctr"/>
                      <a:r>
                        <a:rPr lang="en-US" sz="2400" dirty="0"/>
                        <a:t>E</a:t>
                      </a:r>
                    </a:p>
                  </a:txBody>
                  <a:tcPr marL="91427" marR="91427"/>
                </a:tc>
                <a:tc>
                  <a:txBody>
                    <a:bodyPr/>
                    <a:lstStyle/>
                    <a:p>
                      <a:pPr algn="l"/>
                      <a:r>
                        <a:rPr lang="en-US" sz="2400" dirty="0"/>
                        <a:t>1.5</a:t>
                      </a:r>
                      <a:r>
                        <a:rPr lang="en-US" sz="2400"/>
                        <a:t>, 1.9, 6.3 </a:t>
                      </a:r>
                      <a:endParaRPr lang="en-US" sz="2400" dirty="0"/>
                    </a:p>
                  </a:txBody>
                  <a:tcPr marL="91427" marR="91427"/>
                </a:tc>
                <a:extLst>
                  <a:ext uri="{0D108BD9-81ED-4DB2-BD59-A6C34878D82A}">
                    <a16:rowId xmlns:a16="http://schemas.microsoft.com/office/drawing/2014/main" val="10005"/>
                  </a:ext>
                </a:extLst>
              </a:tr>
              <a:tr h="431970">
                <a:tc>
                  <a:txBody>
                    <a:bodyPr/>
                    <a:lstStyle/>
                    <a:p>
                      <a:pPr algn="ctr"/>
                      <a:r>
                        <a:rPr lang="en-US" sz="2400" dirty="0"/>
                        <a:t>F</a:t>
                      </a:r>
                    </a:p>
                  </a:txBody>
                  <a:tcPr marL="91427" marR="91427"/>
                </a:tc>
                <a:tc>
                  <a:txBody>
                    <a:bodyPr/>
                    <a:lstStyle/>
                    <a:p>
                      <a:pPr algn="l"/>
                      <a:r>
                        <a:rPr lang="en-US" sz="2400" dirty="0"/>
                        <a:t>1.6, 2.7, 3.3</a:t>
                      </a:r>
                    </a:p>
                  </a:txBody>
                  <a:tcPr marL="91427" marR="91427"/>
                </a:tc>
                <a:extLst>
                  <a:ext uri="{0D108BD9-81ED-4DB2-BD59-A6C34878D82A}">
                    <a16:rowId xmlns:a16="http://schemas.microsoft.com/office/drawing/2014/main" val="10006"/>
                  </a:ext>
                </a:extLst>
              </a:tr>
            </a:tbl>
          </a:graphicData>
        </a:graphic>
      </p:graphicFrame>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2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Overload Protection</Template>
  <TotalTime>9242</TotalTime>
  <Words>2921</Words>
  <Application>Microsoft Office PowerPoint</Application>
  <PresentationFormat>On-screen Show (4:3)</PresentationFormat>
  <Paragraphs>373</Paragraphs>
  <Slides>35</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35</vt:i4>
      </vt:variant>
    </vt:vector>
  </HeadingPairs>
  <TitlesOfParts>
    <vt:vector size="43" baseType="lpstr">
      <vt:lpstr>Arial</vt:lpstr>
      <vt:lpstr>Cambria</vt:lpstr>
      <vt:lpstr>Franklin Gothic Book</vt:lpstr>
      <vt:lpstr>Perpetua</vt:lpstr>
      <vt:lpstr>Tahoma</vt:lpstr>
      <vt:lpstr>Wingdings 2</vt:lpstr>
      <vt:lpstr>1_Equity</vt:lpstr>
      <vt:lpstr>2_Equity</vt:lpstr>
      <vt:lpstr>CC-215 Database Systems</vt:lpstr>
      <vt:lpstr>PowerPoint Presentation</vt:lpstr>
      <vt:lpstr>PowerPoint Presentation</vt:lpstr>
      <vt:lpstr>Types of Data Models</vt:lpstr>
      <vt:lpstr>Database Development Life Cycle</vt:lpstr>
      <vt:lpstr>System Models</vt:lpstr>
      <vt:lpstr>Data Models</vt:lpstr>
      <vt:lpstr>Components of Data Models</vt:lpstr>
      <vt:lpstr>Entity</vt:lpstr>
      <vt:lpstr>Attribute</vt:lpstr>
      <vt:lpstr>Attribute</vt:lpstr>
      <vt:lpstr>Attribute</vt:lpstr>
      <vt:lpstr>PowerPoint Presentation</vt:lpstr>
      <vt:lpstr>Types of Attributes</vt:lpstr>
      <vt:lpstr>Types of Attributes</vt:lpstr>
      <vt:lpstr>Types of Attributes</vt:lpstr>
      <vt:lpstr>Binary Classes of Attributes</vt:lpstr>
      <vt:lpstr>Binary Classes of Attributes</vt:lpstr>
      <vt:lpstr>Binary Classes of Attributes</vt:lpstr>
      <vt:lpstr>Binary Classes of Attributes</vt:lpstr>
      <vt:lpstr>Binary Classes of Attributes</vt:lpstr>
      <vt:lpstr>Logical Data Models</vt:lpstr>
      <vt:lpstr>Evolution of Data Models</vt:lpstr>
      <vt:lpstr>Evolution of Data Models</vt:lpstr>
      <vt:lpstr>Evolution of Data Models</vt:lpstr>
      <vt:lpstr>Evolution of Data Models</vt:lpstr>
      <vt:lpstr>Hierarchical Data Model (HDM)</vt:lpstr>
      <vt:lpstr>Background of HDM</vt:lpstr>
      <vt:lpstr>Strengths of HDM</vt:lpstr>
      <vt:lpstr>Weaknesses of HDM</vt:lpstr>
      <vt:lpstr>Network Data Model (NDM)</vt:lpstr>
      <vt:lpstr>Background of NDM</vt:lpstr>
      <vt:lpstr>Strengths of NDM</vt:lpstr>
      <vt:lpstr>Weaknesses of NDM</vt:lpstr>
      <vt:lpstr>Reading Material</vt:lpstr>
    </vt:vector>
  </TitlesOfParts>
  <Company>TU - Wien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Analytical Model for Performance Measurement of Queueing Systems</dc:title>
  <dc:creator>ssarwar</dc:creator>
  <cp:lastModifiedBy>Dr.Asif Sohail</cp:lastModifiedBy>
  <cp:revision>737</cp:revision>
  <dcterms:created xsi:type="dcterms:W3CDTF">2006-05-17T12:38:56Z</dcterms:created>
  <dcterms:modified xsi:type="dcterms:W3CDTF">2025-10-06T06:30:17Z</dcterms:modified>
</cp:coreProperties>
</file>