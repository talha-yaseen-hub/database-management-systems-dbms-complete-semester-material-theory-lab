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2" r:id="rId1"/>
    <p:sldMasterId id="2147483675" r:id="rId2"/>
  </p:sldMasterIdLst>
  <p:notesMasterIdLst>
    <p:notesMasterId r:id="rId38"/>
  </p:notesMasterIdLst>
  <p:handoutMasterIdLst>
    <p:handoutMasterId r:id="rId39"/>
  </p:handoutMasterIdLst>
  <p:sldIdLst>
    <p:sldId id="508" r:id="rId3"/>
    <p:sldId id="667" r:id="rId4"/>
    <p:sldId id="662" r:id="rId5"/>
    <p:sldId id="483" r:id="rId6"/>
    <p:sldId id="652" r:id="rId7"/>
    <p:sldId id="663" r:id="rId8"/>
    <p:sldId id="664" r:id="rId9"/>
    <p:sldId id="665" r:id="rId10"/>
    <p:sldId id="666" r:id="rId11"/>
    <p:sldId id="661" r:id="rId12"/>
    <p:sldId id="668" r:id="rId13"/>
    <p:sldId id="653" r:id="rId14"/>
    <p:sldId id="669" r:id="rId15"/>
    <p:sldId id="670" r:id="rId16"/>
    <p:sldId id="672" r:id="rId17"/>
    <p:sldId id="671" r:id="rId18"/>
    <p:sldId id="659" r:id="rId19"/>
    <p:sldId id="656" r:id="rId20"/>
    <p:sldId id="657" r:id="rId21"/>
    <p:sldId id="673" r:id="rId22"/>
    <p:sldId id="674" r:id="rId23"/>
    <p:sldId id="675" r:id="rId24"/>
    <p:sldId id="676" r:id="rId25"/>
    <p:sldId id="677" r:id="rId26"/>
    <p:sldId id="678" r:id="rId27"/>
    <p:sldId id="679" r:id="rId28"/>
    <p:sldId id="680" r:id="rId29"/>
    <p:sldId id="681" r:id="rId30"/>
    <p:sldId id="683" r:id="rId31"/>
    <p:sldId id="685" r:id="rId32"/>
    <p:sldId id="686" r:id="rId33"/>
    <p:sldId id="687" r:id="rId34"/>
    <p:sldId id="688" r:id="rId35"/>
    <p:sldId id="689" r:id="rId36"/>
    <p:sldId id="549" r:id="rId37"/>
  </p:sldIdLst>
  <p:sldSz cx="9144000" cy="6858000" type="screen4x3"/>
  <p:notesSz cx="6858000" cy="9296400"/>
  <p:defaultTex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FF0000"/>
    <a:srgbClr val="800000"/>
    <a:srgbClr val="006600"/>
    <a:srgbClr val="FFFF66"/>
    <a:srgbClr val="00FF00"/>
    <a:srgbClr val="FFFFCC"/>
    <a:srgbClr val="99CCFF"/>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593" autoAdjust="0"/>
    <p:restoredTop sz="76835" autoAdjust="0"/>
  </p:normalViewPr>
  <p:slideViewPr>
    <p:cSldViewPr>
      <p:cViewPr varScale="1">
        <p:scale>
          <a:sx n="83" d="100"/>
          <a:sy n="83" d="100"/>
        </p:scale>
        <p:origin x="1056"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2035C6B3-E8FB-C90D-C48A-ED7EFBE5E113}"/>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7" name="Rectangle 3">
            <a:extLst>
              <a:ext uri="{FF2B5EF4-FFF2-40B4-BE49-F238E27FC236}">
                <a16:creationId xmlns:a16="http://schemas.microsoft.com/office/drawing/2014/main" id="{21F92BD0-95A7-8600-3563-7545FE928490}"/>
              </a:ext>
            </a:extLst>
          </p:cNvPr>
          <p:cNvSpPr>
            <a:spLocks noGrp="1" noChangeArrowheads="1"/>
          </p:cNvSpPr>
          <p:nvPr>
            <p:ph type="dt" sz="quarter" idx="1"/>
          </p:nvPr>
        </p:nvSpPr>
        <p:spPr bwMode="auto">
          <a:xfrm>
            <a:off x="3884613" y="0"/>
            <a:ext cx="2973387"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en-GB"/>
          </a:p>
        </p:txBody>
      </p:sp>
      <p:sp>
        <p:nvSpPr>
          <p:cNvPr id="159748" name="Rectangle 4">
            <a:extLst>
              <a:ext uri="{FF2B5EF4-FFF2-40B4-BE49-F238E27FC236}">
                <a16:creationId xmlns:a16="http://schemas.microsoft.com/office/drawing/2014/main" id="{C221A035-D7FB-7FBB-B436-DC78CF4EB066}"/>
              </a:ext>
            </a:extLst>
          </p:cNvPr>
          <p:cNvSpPr>
            <a:spLocks noGrp="1" noChangeArrowheads="1"/>
          </p:cNvSpPr>
          <p:nvPr>
            <p:ph type="ftr" sz="quarter" idx="2"/>
          </p:nvPr>
        </p:nvSpPr>
        <p:spPr bwMode="auto">
          <a:xfrm>
            <a:off x="0" y="8831263"/>
            <a:ext cx="2973388"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9" name="Rectangle 5">
            <a:extLst>
              <a:ext uri="{FF2B5EF4-FFF2-40B4-BE49-F238E27FC236}">
                <a16:creationId xmlns:a16="http://schemas.microsoft.com/office/drawing/2014/main" id="{B1D6FAD4-306F-2C50-E0D4-DB68C93548A7}"/>
              </a:ext>
            </a:extLst>
          </p:cNvPr>
          <p:cNvSpPr>
            <a:spLocks noGrp="1" noChangeArrowheads="1"/>
          </p:cNvSpPr>
          <p:nvPr>
            <p:ph type="sldNum" sz="quarter" idx="3"/>
          </p:nvPr>
        </p:nvSpPr>
        <p:spPr bwMode="auto">
          <a:xfrm>
            <a:off x="3884613" y="8831263"/>
            <a:ext cx="2973387"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smtClean="0"/>
            </a:lvl1pPr>
          </a:lstStyle>
          <a:p>
            <a:pPr>
              <a:defRPr/>
            </a:pPr>
            <a:fld id="{90A103F3-2AFC-43E6-A9D3-605719632233}" type="slidenum">
              <a:rPr lang="en-GB" altLang="en-US"/>
              <a:pPr>
                <a:defRPr/>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F423E92-5364-BABA-8972-52B1BBCDBE8C}"/>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47" name="Rectangle 3">
            <a:extLst>
              <a:ext uri="{FF2B5EF4-FFF2-40B4-BE49-F238E27FC236}">
                <a16:creationId xmlns:a16="http://schemas.microsoft.com/office/drawing/2014/main" id="{F58210C1-79BB-2A2E-EB49-ED10E5DE8F4F}"/>
              </a:ext>
            </a:extLst>
          </p:cNvPr>
          <p:cNvSpPr>
            <a:spLocks noGrp="1" noChangeArrowheads="1"/>
          </p:cNvSpPr>
          <p:nvPr>
            <p:ph type="dt" idx="1"/>
          </p:nvPr>
        </p:nvSpPr>
        <p:spPr bwMode="auto">
          <a:xfrm>
            <a:off x="3883025"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de-AT"/>
          </a:p>
        </p:txBody>
      </p:sp>
      <p:sp>
        <p:nvSpPr>
          <p:cNvPr id="2052" name="Rectangle 4">
            <a:extLst>
              <a:ext uri="{FF2B5EF4-FFF2-40B4-BE49-F238E27FC236}">
                <a16:creationId xmlns:a16="http://schemas.microsoft.com/office/drawing/2014/main" id="{743D0285-CE2E-73FF-9C3B-24FBB011B2E4}"/>
              </a:ext>
            </a:extLst>
          </p:cNvPr>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4C5DE969-41D9-D396-D3AD-39F530B62A8E}"/>
              </a:ext>
            </a:extLst>
          </p:cNvPr>
          <p:cNvSpPr>
            <a:spLocks noGrp="1" noChangeArrowheads="1"/>
          </p:cNvSpPr>
          <p:nvPr>
            <p:ph type="body" sz="quarter" idx="3"/>
          </p:nvPr>
        </p:nvSpPr>
        <p:spPr bwMode="auto">
          <a:xfrm>
            <a:off x="685800" y="4416425"/>
            <a:ext cx="5486400" cy="41830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p>
            <a:pPr lvl="0"/>
            <a:r>
              <a:rPr lang="de-AT" noProof="0"/>
              <a:t>Click to edit Master text styles</a:t>
            </a:r>
          </a:p>
          <a:p>
            <a:pPr lvl="1"/>
            <a:r>
              <a:rPr lang="de-AT" noProof="0"/>
              <a:t>Second level</a:t>
            </a:r>
          </a:p>
          <a:p>
            <a:pPr lvl="2"/>
            <a:r>
              <a:rPr lang="de-AT" noProof="0"/>
              <a:t>Third level</a:t>
            </a:r>
          </a:p>
          <a:p>
            <a:pPr lvl="3"/>
            <a:r>
              <a:rPr lang="de-AT" noProof="0"/>
              <a:t>Fourth level</a:t>
            </a:r>
          </a:p>
          <a:p>
            <a:pPr lvl="4"/>
            <a:r>
              <a:rPr lang="de-AT" noProof="0"/>
              <a:t>Fifth level</a:t>
            </a:r>
          </a:p>
        </p:txBody>
      </p:sp>
      <p:sp>
        <p:nvSpPr>
          <p:cNvPr id="6150" name="Rectangle 6">
            <a:extLst>
              <a:ext uri="{FF2B5EF4-FFF2-40B4-BE49-F238E27FC236}">
                <a16:creationId xmlns:a16="http://schemas.microsoft.com/office/drawing/2014/main" id="{5359DBEA-412D-0956-3841-86BE1B4D041F}"/>
              </a:ext>
            </a:extLst>
          </p:cNvPr>
          <p:cNvSpPr>
            <a:spLocks noGrp="1" noChangeArrowheads="1"/>
          </p:cNvSpPr>
          <p:nvPr>
            <p:ph type="ftr" sz="quarter" idx="4"/>
          </p:nvPr>
        </p:nvSpPr>
        <p:spPr bwMode="auto">
          <a:xfrm>
            <a:off x="0"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51" name="Rectangle 7">
            <a:extLst>
              <a:ext uri="{FF2B5EF4-FFF2-40B4-BE49-F238E27FC236}">
                <a16:creationId xmlns:a16="http://schemas.microsoft.com/office/drawing/2014/main" id="{4B8D3844-7FC9-AC76-499D-C34A164467AC}"/>
              </a:ext>
            </a:extLst>
          </p:cNvPr>
          <p:cNvSpPr>
            <a:spLocks noGrp="1" noChangeArrowheads="1"/>
          </p:cNvSpPr>
          <p:nvPr>
            <p:ph type="sldNum" sz="quarter" idx="5"/>
          </p:nvPr>
        </p:nvSpPr>
        <p:spPr bwMode="auto">
          <a:xfrm>
            <a:off x="3883025"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smtClean="0"/>
            </a:lvl1pPr>
          </a:lstStyle>
          <a:p>
            <a:pPr>
              <a:defRPr/>
            </a:pPr>
            <a:fld id="{B293460A-A15E-48C7-81E7-5C51CD877C2B}" type="slidenum">
              <a:rPr lang="de-AT" altLang="en-US"/>
              <a:pPr>
                <a:defRPr/>
              </a:pPr>
              <a:t>‹#›</a:t>
            </a:fld>
            <a:endParaRPr lang="de-AT"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a:extLst>
              <a:ext uri="{FF2B5EF4-FFF2-40B4-BE49-F238E27FC236}">
                <a16:creationId xmlns:a16="http://schemas.microsoft.com/office/drawing/2014/main" id="{EAA43CF9-15AF-A521-A3CE-9049C1B5519B}"/>
              </a:ext>
            </a:extLst>
          </p:cNvPr>
          <p:cNvSpPr>
            <a:spLocks noGrp="1" noRot="1" noChangeAspect="1" noChangeArrowheads="1" noTextEdit="1"/>
          </p:cNvSpPr>
          <p:nvPr>
            <p:ph type="sldImg"/>
          </p:nvPr>
        </p:nvSpPr>
        <p:spPr>
          <a:ln/>
        </p:spPr>
      </p:sp>
      <p:sp>
        <p:nvSpPr>
          <p:cNvPr id="96259" name="Notes Placeholder 2">
            <a:extLst>
              <a:ext uri="{FF2B5EF4-FFF2-40B4-BE49-F238E27FC236}">
                <a16:creationId xmlns:a16="http://schemas.microsoft.com/office/drawing/2014/main" id="{D534ABF6-AEF7-70E1-B84C-D52E0F7BD7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96260" name="Slide Number Placeholder 3">
            <a:extLst>
              <a:ext uri="{FF2B5EF4-FFF2-40B4-BE49-F238E27FC236}">
                <a16:creationId xmlns:a16="http://schemas.microsoft.com/office/drawing/2014/main" id="{522DF649-CD8C-E2DC-63F8-2360EC4CD0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33BDED0-B2D7-4C86-BDE7-6478177757F0}"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39066C-DF9C-6154-623E-4D25B5B52A53}"/>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18D222C8-BBB8-DC40-CF3C-CD3AC346EA7C}"/>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71C78B3C-1801-37D9-1221-8203B8C03770}"/>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7E18224C-0FB0-6B6C-36DF-472BEAAFBA1D}"/>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0C55B2B4-247C-EA5F-5632-4932003653ED}"/>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7" name="Date Placeholder 27">
            <a:extLst>
              <a:ext uri="{FF2B5EF4-FFF2-40B4-BE49-F238E27FC236}">
                <a16:creationId xmlns:a16="http://schemas.microsoft.com/office/drawing/2014/main" id="{7F564B8B-4E0C-7CB4-9998-C3F6C2F8FB96}"/>
              </a:ext>
            </a:extLst>
          </p:cNvPr>
          <p:cNvSpPr>
            <a:spLocks noGrp="1"/>
          </p:cNvSpPr>
          <p:nvPr>
            <p:ph type="dt" sz="half" idx="10"/>
          </p:nvPr>
        </p:nvSpPr>
        <p:spPr/>
        <p:txBody>
          <a:bodyPr/>
          <a:lstStyle>
            <a:lvl1pPr>
              <a:defRPr/>
            </a:lvl1pPr>
          </a:lstStyle>
          <a:p>
            <a:pPr>
              <a:defRPr/>
            </a:pPr>
            <a:fld id="{79CF1446-C9F6-4443-9286-D689B1A0244F}" type="datetime1">
              <a:rPr lang="en-US"/>
              <a:pPr>
                <a:defRPr/>
              </a:pPr>
              <a:t>12/8/2025</a:t>
            </a:fld>
            <a:endParaRPr lang="en-US"/>
          </a:p>
        </p:txBody>
      </p:sp>
      <p:sp>
        <p:nvSpPr>
          <p:cNvPr id="10" name="Footer Placeholder 16">
            <a:extLst>
              <a:ext uri="{FF2B5EF4-FFF2-40B4-BE49-F238E27FC236}">
                <a16:creationId xmlns:a16="http://schemas.microsoft.com/office/drawing/2014/main" id="{5E0D5E70-3B0E-7AD2-9229-A7D9431E7D63}"/>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11" name="Slide Number Placeholder 28">
            <a:extLst>
              <a:ext uri="{FF2B5EF4-FFF2-40B4-BE49-F238E27FC236}">
                <a16:creationId xmlns:a16="http://schemas.microsoft.com/office/drawing/2014/main" id="{CA2A5AF8-A3EC-51E9-D4E2-AD060A79F00B}"/>
              </a:ext>
            </a:extLst>
          </p:cNvPr>
          <p:cNvSpPr>
            <a:spLocks noGrp="1"/>
          </p:cNvSpPr>
          <p:nvPr>
            <p:ph type="sldNum" sz="quarter" idx="12"/>
          </p:nvPr>
        </p:nvSpPr>
        <p:spPr/>
        <p:txBody>
          <a:bodyPr/>
          <a:lstStyle>
            <a:lvl1pPr>
              <a:defRPr sz="1400">
                <a:solidFill>
                  <a:srgbClr val="FFFFFF"/>
                </a:solidFill>
              </a:defRPr>
            </a:lvl1pPr>
          </a:lstStyle>
          <a:p>
            <a:pPr>
              <a:defRPr/>
            </a:pPr>
            <a:fld id="{CFD065E4-1B66-4917-94CF-DDC2DE6B16AA}" type="slidenum">
              <a:rPr lang="en-US"/>
              <a:pPr>
                <a:defRPr/>
              </a:pPr>
              <a:t>‹#›</a:t>
            </a:fld>
            <a:endParaRPr lang="en-US" dirty="0"/>
          </a:p>
        </p:txBody>
      </p:sp>
    </p:spTree>
    <p:extLst>
      <p:ext uri="{BB962C8B-B14F-4D97-AF65-F5344CB8AC3E}">
        <p14:creationId xmlns:p14="http://schemas.microsoft.com/office/powerpoint/2010/main" val="349472289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B396DFE6-B4E8-DD83-A0D8-5DC5CA58994F}"/>
              </a:ext>
            </a:extLst>
          </p:cNvPr>
          <p:cNvSpPr>
            <a:spLocks noGrp="1"/>
          </p:cNvSpPr>
          <p:nvPr>
            <p:ph type="dt" sz="half" idx="10"/>
          </p:nvPr>
        </p:nvSpPr>
        <p:spPr/>
        <p:txBody>
          <a:bodyPr/>
          <a:lstStyle>
            <a:lvl1pPr>
              <a:defRPr/>
            </a:lvl1pPr>
          </a:lstStyle>
          <a:p>
            <a:pPr>
              <a:defRPr/>
            </a:pPr>
            <a:fld id="{33892016-38A5-45A2-8FCF-B28DE5A26B0B}" type="datetime1">
              <a:rPr lang="en-US"/>
              <a:pPr>
                <a:defRPr/>
              </a:pPr>
              <a:t>12/8/2025</a:t>
            </a:fld>
            <a:endParaRPr lang="en-US" dirty="0"/>
          </a:p>
        </p:txBody>
      </p:sp>
      <p:sp>
        <p:nvSpPr>
          <p:cNvPr id="4" name="Footer Placeholder 2">
            <a:extLst>
              <a:ext uri="{FF2B5EF4-FFF2-40B4-BE49-F238E27FC236}">
                <a16:creationId xmlns:a16="http://schemas.microsoft.com/office/drawing/2014/main" id="{9E056B4E-95ED-4A33-07D3-06B5D61210D0}"/>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5" name="Slide Number Placeholder 22">
            <a:extLst>
              <a:ext uri="{FF2B5EF4-FFF2-40B4-BE49-F238E27FC236}">
                <a16:creationId xmlns:a16="http://schemas.microsoft.com/office/drawing/2014/main" id="{DDD96BDC-2AFF-94B5-A87D-2D535D5C1D33}"/>
              </a:ext>
            </a:extLst>
          </p:cNvPr>
          <p:cNvSpPr>
            <a:spLocks noGrp="1"/>
          </p:cNvSpPr>
          <p:nvPr>
            <p:ph type="sldNum" sz="quarter" idx="12"/>
          </p:nvPr>
        </p:nvSpPr>
        <p:spPr/>
        <p:txBody>
          <a:bodyPr/>
          <a:lstStyle>
            <a:lvl1pPr>
              <a:defRPr/>
            </a:lvl1pPr>
          </a:lstStyle>
          <a:p>
            <a:pPr>
              <a:defRPr/>
            </a:pPr>
            <a:fld id="{E80619C9-1708-4C3B-BCE0-77AC977914F4}" type="slidenum">
              <a:rPr lang="en-US"/>
              <a:pPr>
                <a:defRPr/>
              </a:pPr>
              <a:t>‹#›</a:t>
            </a:fld>
            <a:endParaRPr lang="en-US" dirty="0"/>
          </a:p>
        </p:txBody>
      </p:sp>
    </p:spTree>
    <p:extLst>
      <p:ext uri="{BB962C8B-B14F-4D97-AF65-F5344CB8AC3E}">
        <p14:creationId xmlns:p14="http://schemas.microsoft.com/office/powerpoint/2010/main" val="783898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6545B2F-9509-7C7F-2E6C-93BD0685E0BC}"/>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4">
            <a:extLst>
              <a:ext uri="{FF2B5EF4-FFF2-40B4-BE49-F238E27FC236}">
                <a16:creationId xmlns:a16="http://schemas.microsoft.com/office/drawing/2014/main" id="{37A60FA7-8EFB-B9C1-4374-08BA5C9E9FF7}"/>
              </a:ext>
            </a:extLst>
          </p:cNvPr>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C999A1CA-F453-0C0B-D422-61A9CA672A49}"/>
              </a:ext>
            </a:extLst>
          </p:cNvPr>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94D8863D-3C91-3A32-4D13-7542ADE59049}"/>
              </a:ext>
            </a:extLst>
          </p:cNvPr>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22BDF143-C8D8-529C-FA65-3154819F2E1E}"/>
              </a:ext>
            </a:extLst>
          </p:cNvPr>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a:extLst>
              <a:ext uri="{FF2B5EF4-FFF2-40B4-BE49-F238E27FC236}">
                <a16:creationId xmlns:a16="http://schemas.microsoft.com/office/drawing/2014/main" id="{F3FBCE05-B246-59A9-7BF9-745DCB197852}"/>
              </a:ext>
            </a:extLst>
          </p:cNvPr>
          <p:cNvSpPr>
            <a:spLocks noGrp="1"/>
          </p:cNvSpPr>
          <p:nvPr>
            <p:ph type="dt" sz="half" idx="10"/>
          </p:nvPr>
        </p:nvSpPr>
        <p:spPr/>
        <p:txBody>
          <a:bodyPr/>
          <a:lstStyle>
            <a:lvl1pPr>
              <a:defRPr/>
            </a:lvl1pPr>
          </a:lstStyle>
          <a:p>
            <a:pPr>
              <a:defRPr/>
            </a:pPr>
            <a:fld id="{85C89F16-0ED0-47D8-9BF6-DB8802875382}" type="datetime1">
              <a:rPr lang="en-US"/>
              <a:pPr>
                <a:defRPr/>
              </a:pPr>
              <a:t>12/8/2025</a:t>
            </a:fld>
            <a:endParaRPr lang="en-US"/>
          </a:p>
        </p:txBody>
      </p:sp>
      <p:sp>
        <p:nvSpPr>
          <p:cNvPr id="10" name="Footer Placeholder 4">
            <a:extLst>
              <a:ext uri="{FF2B5EF4-FFF2-40B4-BE49-F238E27FC236}">
                <a16:creationId xmlns:a16="http://schemas.microsoft.com/office/drawing/2014/main" id="{FDB8DC83-A110-3838-E66B-31388C5C25F7}"/>
              </a:ext>
            </a:extLst>
          </p:cNvPr>
          <p:cNvSpPr>
            <a:spLocks noGrp="1"/>
          </p:cNvSpPr>
          <p:nvPr>
            <p:ph type="ftr" sz="quarter" idx="11"/>
          </p:nvPr>
        </p:nvSpPr>
        <p:spPr>
          <a:xfrm>
            <a:off x="800100" y="6172200"/>
            <a:ext cx="4000500" cy="457200"/>
          </a:xfrm>
        </p:spPr>
        <p:txBody>
          <a:bodyPr/>
          <a:lstStyle>
            <a:lvl1pPr>
              <a:defRPr/>
            </a:lvl1pPr>
          </a:lstStyle>
          <a:p>
            <a:pPr>
              <a:defRPr/>
            </a:pPr>
            <a:r>
              <a:rPr lang="en-US"/>
              <a:t>Autonomous Robots -- Dr. Zawar Qayyum, 2010</a:t>
            </a:r>
          </a:p>
        </p:txBody>
      </p:sp>
      <p:sp>
        <p:nvSpPr>
          <p:cNvPr id="11" name="Slide Number Placeholder 5">
            <a:extLst>
              <a:ext uri="{FF2B5EF4-FFF2-40B4-BE49-F238E27FC236}">
                <a16:creationId xmlns:a16="http://schemas.microsoft.com/office/drawing/2014/main" id="{45B66283-2DCC-0003-4426-D31020707A56}"/>
              </a:ext>
            </a:extLst>
          </p:cNvPr>
          <p:cNvSpPr>
            <a:spLocks noGrp="1"/>
          </p:cNvSpPr>
          <p:nvPr>
            <p:ph type="sldNum" sz="quarter" idx="12"/>
          </p:nvPr>
        </p:nvSpPr>
        <p:spPr>
          <a:xfrm>
            <a:off x="146050" y="6208713"/>
            <a:ext cx="457200" cy="457200"/>
          </a:xfrm>
        </p:spPr>
        <p:txBody>
          <a:bodyPr/>
          <a:lstStyle>
            <a:lvl1pPr>
              <a:defRPr/>
            </a:lvl1pPr>
          </a:lstStyle>
          <a:p>
            <a:pPr>
              <a:defRPr/>
            </a:pPr>
            <a:fld id="{D18B2ED8-7408-4240-8676-622D3E75AC59}" type="slidenum">
              <a:rPr lang="en-US"/>
              <a:pPr>
                <a:defRPr/>
              </a:pPr>
              <a:t>‹#›</a:t>
            </a:fld>
            <a:endParaRPr lang="en-US" dirty="0"/>
          </a:p>
        </p:txBody>
      </p:sp>
    </p:spTree>
    <p:extLst>
      <p:ext uri="{BB962C8B-B14F-4D97-AF65-F5344CB8AC3E}">
        <p14:creationId xmlns:p14="http://schemas.microsoft.com/office/powerpoint/2010/main" val="324825704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80CDADDF-04BF-2D1D-9C98-ECAB4971517E}"/>
              </a:ext>
            </a:extLst>
          </p:cNvPr>
          <p:cNvSpPr>
            <a:spLocks noGrp="1"/>
          </p:cNvSpPr>
          <p:nvPr>
            <p:ph type="dt" sz="half" idx="10"/>
          </p:nvPr>
        </p:nvSpPr>
        <p:spPr/>
        <p:txBody>
          <a:bodyPr/>
          <a:lstStyle>
            <a:lvl1pPr>
              <a:defRPr/>
            </a:lvl1pPr>
          </a:lstStyle>
          <a:p>
            <a:pPr>
              <a:defRPr/>
            </a:pPr>
            <a:fld id="{7A89DDBE-D9C2-4699-8FC6-A81193FF0F87}" type="datetime1">
              <a:rPr lang="en-US"/>
              <a:pPr>
                <a:defRPr/>
              </a:pPr>
              <a:t>12/8/2025</a:t>
            </a:fld>
            <a:endParaRPr lang="en-US" dirty="0"/>
          </a:p>
        </p:txBody>
      </p:sp>
      <p:sp>
        <p:nvSpPr>
          <p:cNvPr id="4" name="Footer Placeholder 2">
            <a:extLst>
              <a:ext uri="{FF2B5EF4-FFF2-40B4-BE49-F238E27FC236}">
                <a16:creationId xmlns:a16="http://schemas.microsoft.com/office/drawing/2014/main" id="{EA7C873F-1BB3-5513-9803-0A21ECBDF8D2}"/>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5" name="Slide Number Placeholder 22">
            <a:extLst>
              <a:ext uri="{FF2B5EF4-FFF2-40B4-BE49-F238E27FC236}">
                <a16:creationId xmlns:a16="http://schemas.microsoft.com/office/drawing/2014/main" id="{561A1D7E-1AAD-8F49-E349-5153EC543E82}"/>
              </a:ext>
            </a:extLst>
          </p:cNvPr>
          <p:cNvSpPr>
            <a:spLocks noGrp="1"/>
          </p:cNvSpPr>
          <p:nvPr>
            <p:ph type="sldNum" sz="quarter" idx="12"/>
          </p:nvPr>
        </p:nvSpPr>
        <p:spPr/>
        <p:txBody>
          <a:bodyPr/>
          <a:lstStyle>
            <a:lvl1pPr>
              <a:defRPr/>
            </a:lvl1pPr>
          </a:lstStyle>
          <a:p>
            <a:pPr>
              <a:defRPr/>
            </a:pPr>
            <a:fld id="{90243F15-6DC5-4AA3-8CE8-BCF1B672ACEB}" type="slidenum">
              <a:rPr lang="en-US"/>
              <a:pPr>
                <a:defRPr/>
              </a:pPr>
              <a:t>‹#›</a:t>
            </a:fld>
            <a:endParaRPr lang="en-US" dirty="0"/>
          </a:p>
        </p:txBody>
      </p:sp>
    </p:spTree>
    <p:extLst>
      <p:ext uri="{BB962C8B-B14F-4D97-AF65-F5344CB8AC3E}">
        <p14:creationId xmlns:p14="http://schemas.microsoft.com/office/powerpoint/2010/main" val="54627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6EBF8CA8-3AC2-09F7-1BBB-0FA6AED36F1B}"/>
              </a:ext>
            </a:extLst>
          </p:cNvPr>
          <p:cNvSpPr>
            <a:spLocks noGrp="1"/>
          </p:cNvSpPr>
          <p:nvPr>
            <p:ph type="dt" sz="half" idx="10"/>
          </p:nvPr>
        </p:nvSpPr>
        <p:spPr/>
        <p:txBody>
          <a:bodyPr/>
          <a:lstStyle>
            <a:lvl1pPr>
              <a:defRPr/>
            </a:lvl1pPr>
          </a:lstStyle>
          <a:p>
            <a:pPr>
              <a:defRPr/>
            </a:pPr>
            <a:fld id="{E067741A-6475-428B-A8E4-F77833D97E78}" type="datetime1">
              <a:rPr lang="en-US"/>
              <a:pPr>
                <a:defRPr/>
              </a:pPr>
              <a:t>12/8/2025</a:t>
            </a:fld>
            <a:endParaRPr lang="en-US" dirty="0"/>
          </a:p>
        </p:txBody>
      </p:sp>
      <p:sp>
        <p:nvSpPr>
          <p:cNvPr id="6" name="Footer Placeholder 2">
            <a:extLst>
              <a:ext uri="{FF2B5EF4-FFF2-40B4-BE49-F238E27FC236}">
                <a16:creationId xmlns:a16="http://schemas.microsoft.com/office/drawing/2014/main" id="{221316CF-09DD-77DC-96BC-31FCEFF43613}"/>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7" name="Slide Number Placeholder 22">
            <a:extLst>
              <a:ext uri="{FF2B5EF4-FFF2-40B4-BE49-F238E27FC236}">
                <a16:creationId xmlns:a16="http://schemas.microsoft.com/office/drawing/2014/main" id="{BB2491B1-A99D-3D1D-6260-33F3900E911D}"/>
              </a:ext>
            </a:extLst>
          </p:cNvPr>
          <p:cNvSpPr>
            <a:spLocks noGrp="1"/>
          </p:cNvSpPr>
          <p:nvPr>
            <p:ph type="sldNum" sz="quarter" idx="12"/>
          </p:nvPr>
        </p:nvSpPr>
        <p:spPr/>
        <p:txBody>
          <a:bodyPr/>
          <a:lstStyle>
            <a:lvl1pPr>
              <a:defRPr/>
            </a:lvl1pPr>
          </a:lstStyle>
          <a:p>
            <a:pPr>
              <a:defRPr/>
            </a:pPr>
            <a:fld id="{95E3B942-8215-4833-AC83-10CEBF624210}" type="slidenum">
              <a:rPr lang="en-US"/>
              <a:pPr>
                <a:defRPr/>
              </a:pPr>
              <a:t>‹#›</a:t>
            </a:fld>
            <a:endParaRPr lang="en-US" dirty="0"/>
          </a:p>
        </p:txBody>
      </p:sp>
    </p:spTree>
    <p:extLst>
      <p:ext uri="{BB962C8B-B14F-4D97-AF65-F5344CB8AC3E}">
        <p14:creationId xmlns:p14="http://schemas.microsoft.com/office/powerpoint/2010/main" val="2082784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885919E0-21DC-087F-A752-3845402B905B}"/>
              </a:ext>
            </a:extLst>
          </p:cNvPr>
          <p:cNvSpPr>
            <a:spLocks noGrp="1"/>
          </p:cNvSpPr>
          <p:nvPr>
            <p:ph type="dt" sz="half" idx="10"/>
          </p:nvPr>
        </p:nvSpPr>
        <p:spPr/>
        <p:txBody>
          <a:bodyPr/>
          <a:lstStyle>
            <a:lvl1pPr>
              <a:defRPr/>
            </a:lvl1pPr>
          </a:lstStyle>
          <a:p>
            <a:pPr>
              <a:defRPr/>
            </a:pPr>
            <a:fld id="{2C0D66A2-F833-4D3E-BBFD-4BA89826E4C9}" type="datetime1">
              <a:rPr lang="en-US"/>
              <a:pPr>
                <a:defRPr/>
              </a:pPr>
              <a:t>12/8/2025</a:t>
            </a:fld>
            <a:endParaRPr lang="en-US" dirty="0"/>
          </a:p>
        </p:txBody>
      </p:sp>
      <p:sp>
        <p:nvSpPr>
          <p:cNvPr id="4" name="Footer Placeholder 2">
            <a:extLst>
              <a:ext uri="{FF2B5EF4-FFF2-40B4-BE49-F238E27FC236}">
                <a16:creationId xmlns:a16="http://schemas.microsoft.com/office/drawing/2014/main" id="{D5E24651-DD45-C67A-48C2-9D6BE9B3CC64}"/>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5" name="Slide Number Placeholder 22">
            <a:extLst>
              <a:ext uri="{FF2B5EF4-FFF2-40B4-BE49-F238E27FC236}">
                <a16:creationId xmlns:a16="http://schemas.microsoft.com/office/drawing/2014/main" id="{AB2859EE-C7FE-ED7F-ED32-260F9A2897CE}"/>
              </a:ext>
            </a:extLst>
          </p:cNvPr>
          <p:cNvSpPr>
            <a:spLocks noGrp="1"/>
          </p:cNvSpPr>
          <p:nvPr>
            <p:ph type="sldNum" sz="quarter" idx="12"/>
          </p:nvPr>
        </p:nvSpPr>
        <p:spPr/>
        <p:txBody>
          <a:bodyPr/>
          <a:lstStyle>
            <a:lvl1pPr>
              <a:defRPr/>
            </a:lvl1pPr>
          </a:lstStyle>
          <a:p>
            <a:pPr>
              <a:defRPr/>
            </a:pPr>
            <a:fld id="{D1EC5F62-2A84-4195-8B72-78726C500E3E}" type="slidenum">
              <a:rPr lang="en-US"/>
              <a:pPr>
                <a:defRPr/>
              </a:pPr>
              <a:t>‹#›</a:t>
            </a:fld>
            <a:endParaRPr lang="en-US" dirty="0"/>
          </a:p>
        </p:txBody>
      </p:sp>
    </p:spTree>
    <p:extLst>
      <p:ext uri="{BB962C8B-B14F-4D97-AF65-F5344CB8AC3E}">
        <p14:creationId xmlns:p14="http://schemas.microsoft.com/office/powerpoint/2010/main" val="3154741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4250D812-A68E-B72D-CCCE-F029E25007D0}"/>
              </a:ext>
            </a:extLst>
          </p:cNvPr>
          <p:cNvSpPr>
            <a:spLocks noGrp="1"/>
          </p:cNvSpPr>
          <p:nvPr>
            <p:ph type="dt" sz="half" idx="10"/>
          </p:nvPr>
        </p:nvSpPr>
        <p:spPr/>
        <p:txBody>
          <a:bodyPr/>
          <a:lstStyle>
            <a:lvl1pPr>
              <a:defRPr/>
            </a:lvl1pPr>
          </a:lstStyle>
          <a:p>
            <a:pPr>
              <a:defRPr/>
            </a:pPr>
            <a:fld id="{06DFCD9B-6A02-440D-883A-790572724131}" type="datetime1">
              <a:rPr lang="en-US"/>
              <a:pPr>
                <a:defRPr/>
              </a:pPr>
              <a:t>12/8/2025</a:t>
            </a:fld>
            <a:endParaRPr lang="en-US" dirty="0"/>
          </a:p>
        </p:txBody>
      </p:sp>
      <p:sp>
        <p:nvSpPr>
          <p:cNvPr id="3" name="Footer Placeholder 2">
            <a:extLst>
              <a:ext uri="{FF2B5EF4-FFF2-40B4-BE49-F238E27FC236}">
                <a16:creationId xmlns:a16="http://schemas.microsoft.com/office/drawing/2014/main" id="{BF8396E7-E023-25E3-AE0A-3B95D71607AB}"/>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4" name="Slide Number Placeholder 22">
            <a:extLst>
              <a:ext uri="{FF2B5EF4-FFF2-40B4-BE49-F238E27FC236}">
                <a16:creationId xmlns:a16="http://schemas.microsoft.com/office/drawing/2014/main" id="{EDE1120C-A435-5F9E-0A10-5116D774BAE8}"/>
              </a:ext>
            </a:extLst>
          </p:cNvPr>
          <p:cNvSpPr>
            <a:spLocks noGrp="1"/>
          </p:cNvSpPr>
          <p:nvPr>
            <p:ph type="sldNum" sz="quarter" idx="12"/>
          </p:nvPr>
        </p:nvSpPr>
        <p:spPr/>
        <p:txBody>
          <a:bodyPr/>
          <a:lstStyle>
            <a:lvl1pPr>
              <a:defRPr/>
            </a:lvl1pPr>
          </a:lstStyle>
          <a:p>
            <a:pPr>
              <a:defRPr/>
            </a:pPr>
            <a:fld id="{A5EAE7F8-F456-46EF-98C9-E75D54E6CEE0}" type="slidenum">
              <a:rPr lang="en-US"/>
              <a:pPr>
                <a:defRPr/>
              </a:pPr>
              <a:t>‹#›</a:t>
            </a:fld>
            <a:endParaRPr lang="en-US" dirty="0"/>
          </a:p>
        </p:txBody>
      </p:sp>
    </p:spTree>
    <p:extLst>
      <p:ext uri="{BB962C8B-B14F-4D97-AF65-F5344CB8AC3E}">
        <p14:creationId xmlns:p14="http://schemas.microsoft.com/office/powerpoint/2010/main" val="2320822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0A37AFF-B187-B8B9-49C4-692A9E414BB9}"/>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BEA249C2-7AA4-FBAC-CD84-B31208E12A8F}"/>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CA5B1817-A2A9-3036-5219-5CC18411ECC1}"/>
              </a:ext>
            </a:extLst>
          </p:cNvPr>
          <p:cNvSpPr>
            <a:spLocks noGrp="1"/>
          </p:cNvSpPr>
          <p:nvPr>
            <p:ph type="dt" sz="half" idx="10"/>
          </p:nvPr>
        </p:nvSpPr>
        <p:spPr/>
        <p:txBody>
          <a:bodyPr/>
          <a:lstStyle>
            <a:lvl1pPr>
              <a:defRPr/>
            </a:lvl1pPr>
          </a:lstStyle>
          <a:p>
            <a:pPr>
              <a:defRPr/>
            </a:pPr>
            <a:fld id="{627C16B8-22B0-479A-B212-C924D35CBC22}" type="datetime1">
              <a:rPr lang="en-US"/>
              <a:pPr>
                <a:defRPr/>
              </a:pPr>
              <a:t>12/8/2025</a:t>
            </a:fld>
            <a:endParaRPr lang="en-US"/>
          </a:p>
        </p:txBody>
      </p:sp>
      <p:sp>
        <p:nvSpPr>
          <p:cNvPr id="7" name="Footer Placeholder 5">
            <a:extLst>
              <a:ext uri="{FF2B5EF4-FFF2-40B4-BE49-F238E27FC236}">
                <a16:creationId xmlns:a16="http://schemas.microsoft.com/office/drawing/2014/main" id="{AB4908A0-C03A-042C-F5FA-AB2DB42AE792}"/>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8" name="Slide Number Placeholder 6">
            <a:extLst>
              <a:ext uri="{FF2B5EF4-FFF2-40B4-BE49-F238E27FC236}">
                <a16:creationId xmlns:a16="http://schemas.microsoft.com/office/drawing/2014/main" id="{50B415EB-A043-C051-8198-9C2C3C85A018}"/>
              </a:ext>
            </a:extLst>
          </p:cNvPr>
          <p:cNvSpPr>
            <a:spLocks noGrp="1"/>
          </p:cNvSpPr>
          <p:nvPr>
            <p:ph type="sldNum" sz="quarter" idx="12"/>
          </p:nvPr>
        </p:nvSpPr>
        <p:spPr/>
        <p:txBody>
          <a:bodyPr/>
          <a:lstStyle>
            <a:lvl1pPr>
              <a:defRPr/>
            </a:lvl1pPr>
          </a:lstStyle>
          <a:p>
            <a:pPr>
              <a:defRPr/>
            </a:pPr>
            <a:fld id="{18499E09-BCAF-4C79-9ED7-85587F328C31}" type="slidenum">
              <a:rPr lang="en-US"/>
              <a:pPr>
                <a:defRPr/>
              </a:pPr>
              <a:t>‹#›</a:t>
            </a:fld>
            <a:endParaRPr lang="en-US"/>
          </a:p>
        </p:txBody>
      </p:sp>
    </p:spTree>
    <p:extLst>
      <p:ext uri="{BB962C8B-B14F-4D97-AF65-F5344CB8AC3E}">
        <p14:creationId xmlns:p14="http://schemas.microsoft.com/office/powerpoint/2010/main" val="40671319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39AC405-2C75-A219-0834-108F13DAB45C}"/>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2BC3D419-2231-EEF1-CEB7-0EE523B48EB9}"/>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E064155D-D463-FCBF-1733-09AFB952B7F7}"/>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85591B9E-C084-D7AF-CC45-0BC62473DA65}"/>
              </a:ext>
            </a:extLst>
          </p:cNvPr>
          <p:cNvSpPr>
            <a:spLocks noGrp="1"/>
          </p:cNvSpPr>
          <p:nvPr>
            <p:ph type="dt" sz="half" idx="10"/>
          </p:nvPr>
        </p:nvSpPr>
        <p:spPr/>
        <p:txBody>
          <a:bodyPr/>
          <a:lstStyle>
            <a:lvl1pPr>
              <a:defRPr/>
            </a:lvl1pPr>
          </a:lstStyle>
          <a:p>
            <a:pPr>
              <a:defRPr/>
            </a:pPr>
            <a:fld id="{A9439A8E-E74E-4073-A72F-B411CA495669}" type="datetime1">
              <a:rPr lang="en-US"/>
              <a:pPr>
                <a:defRPr/>
              </a:pPr>
              <a:t>12/8/2025</a:t>
            </a:fld>
            <a:endParaRPr lang="en-US"/>
          </a:p>
        </p:txBody>
      </p:sp>
      <p:sp>
        <p:nvSpPr>
          <p:cNvPr id="9" name="Footer Placeholder 5">
            <a:extLst>
              <a:ext uri="{FF2B5EF4-FFF2-40B4-BE49-F238E27FC236}">
                <a16:creationId xmlns:a16="http://schemas.microsoft.com/office/drawing/2014/main" id="{0E8B5B52-C901-9CDC-908D-5320492CB6DD}"/>
              </a:ext>
            </a:extLst>
          </p:cNvPr>
          <p:cNvSpPr>
            <a:spLocks noGrp="1"/>
          </p:cNvSpPr>
          <p:nvPr>
            <p:ph type="ftr" sz="quarter" idx="11"/>
          </p:nvPr>
        </p:nvSpPr>
        <p:spPr>
          <a:xfrm>
            <a:off x="914400" y="6172200"/>
            <a:ext cx="3886200" cy="457200"/>
          </a:xfrm>
        </p:spPr>
        <p:txBody>
          <a:bodyPr/>
          <a:lstStyle>
            <a:lvl1pPr>
              <a:defRPr/>
            </a:lvl1pPr>
          </a:lstStyle>
          <a:p>
            <a:pPr>
              <a:defRPr/>
            </a:pPr>
            <a:r>
              <a:rPr lang="en-US"/>
              <a:t>Autonomous Robots -- Dr. Zawar Qayyum, 2010</a:t>
            </a:r>
          </a:p>
        </p:txBody>
      </p:sp>
      <p:sp>
        <p:nvSpPr>
          <p:cNvPr id="10" name="Slide Number Placeholder 6">
            <a:extLst>
              <a:ext uri="{FF2B5EF4-FFF2-40B4-BE49-F238E27FC236}">
                <a16:creationId xmlns:a16="http://schemas.microsoft.com/office/drawing/2014/main" id="{596CD343-8346-E066-8958-650AD84E89AB}"/>
              </a:ext>
            </a:extLst>
          </p:cNvPr>
          <p:cNvSpPr>
            <a:spLocks noGrp="1"/>
          </p:cNvSpPr>
          <p:nvPr>
            <p:ph type="sldNum" sz="quarter" idx="12"/>
          </p:nvPr>
        </p:nvSpPr>
        <p:spPr>
          <a:xfrm>
            <a:off x="146050" y="6208713"/>
            <a:ext cx="457200" cy="457200"/>
          </a:xfrm>
        </p:spPr>
        <p:txBody>
          <a:bodyPr/>
          <a:lstStyle>
            <a:lvl1pPr>
              <a:defRPr/>
            </a:lvl1pPr>
          </a:lstStyle>
          <a:p>
            <a:pPr>
              <a:defRPr/>
            </a:pPr>
            <a:fld id="{E0E47019-EA52-4855-A446-C270BFC7F95E}" type="slidenum">
              <a:rPr lang="en-US"/>
              <a:pPr>
                <a:defRPr/>
              </a:pPr>
              <a:t>‹#›</a:t>
            </a:fld>
            <a:endParaRPr lang="en-US" dirty="0"/>
          </a:p>
        </p:txBody>
      </p:sp>
    </p:spTree>
    <p:extLst>
      <p:ext uri="{BB962C8B-B14F-4D97-AF65-F5344CB8AC3E}">
        <p14:creationId xmlns:p14="http://schemas.microsoft.com/office/powerpoint/2010/main" val="3331189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4216D75B-E7B6-7280-37DB-BF4B47BB0C6D}"/>
              </a:ext>
            </a:extLst>
          </p:cNvPr>
          <p:cNvSpPr>
            <a:spLocks noGrp="1"/>
          </p:cNvSpPr>
          <p:nvPr>
            <p:ph type="dt" sz="half" idx="10"/>
          </p:nvPr>
        </p:nvSpPr>
        <p:spPr/>
        <p:txBody>
          <a:bodyPr/>
          <a:lstStyle>
            <a:lvl1pPr>
              <a:defRPr/>
            </a:lvl1pPr>
          </a:lstStyle>
          <a:p>
            <a:pPr>
              <a:defRPr/>
            </a:pPr>
            <a:fld id="{869FE76C-FF8F-43AF-BD8C-E192B2C2B4EE}" type="datetime1">
              <a:rPr lang="en-US"/>
              <a:pPr>
                <a:defRPr/>
              </a:pPr>
              <a:t>12/8/2025</a:t>
            </a:fld>
            <a:endParaRPr lang="en-US" dirty="0"/>
          </a:p>
        </p:txBody>
      </p:sp>
      <p:sp>
        <p:nvSpPr>
          <p:cNvPr id="5" name="Footer Placeholder 2">
            <a:extLst>
              <a:ext uri="{FF2B5EF4-FFF2-40B4-BE49-F238E27FC236}">
                <a16:creationId xmlns:a16="http://schemas.microsoft.com/office/drawing/2014/main" id="{4E144CE4-E7C5-0F00-67B8-690C439CE51A}"/>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6" name="Slide Number Placeholder 22">
            <a:extLst>
              <a:ext uri="{FF2B5EF4-FFF2-40B4-BE49-F238E27FC236}">
                <a16:creationId xmlns:a16="http://schemas.microsoft.com/office/drawing/2014/main" id="{73889489-04F5-935E-D643-BFB345CBAF54}"/>
              </a:ext>
            </a:extLst>
          </p:cNvPr>
          <p:cNvSpPr>
            <a:spLocks noGrp="1"/>
          </p:cNvSpPr>
          <p:nvPr>
            <p:ph type="sldNum" sz="quarter" idx="12"/>
          </p:nvPr>
        </p:nvSpPr>
        <p:spPr/>
        <p:txBody>
          <a:bodyPr/>
          <a:lstStyle>
            <a:lvl1pPr>
              <a:defRPr/>
            </a:lvl1pPr>
          </a:lstStyle>
          <a:p>
            <a:pPr>
              <a:defRPr/>
            </a:pPr>
            <a:fld id="{445BA751-F2BD-4C20-90CF-2539005ABB34}" type="slidenum">
              <a:rPr lang="en-US"/>
              <a:pPr>
                <a:defRPr/>
              </a:pPr>
              <a:t>‹#›</a:t>
            </a:fld>
            <a:endParaRPr lang="en-US" dirty="0"/>
          </a:p>
        </p:txBody>
      </p:sp>
    </p:spTree>
    <p:extLst>
      <p:ext uri="{BB962C8B-B14F-4D97-AF65-F5344CB8AC3E}">
        <p14:creationId xmlns:p14="http://schemas.microsoft.com/office/powerpoint/2010/main" val="71061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F01D196A-0A33-B379-3A18-9C00F90A647E}"/>
              </a:ext>
            </a:extLst>
          </p:cNvPr>
          <p:cNvSpPr>
            <a:spLocks noGrp="1"/>
          </p:cNvSpPr>
          <p:nvPr>
            <p:ph type="dt" sz="half" idx="10"/>
          </p:nvPr>
        </p:nvSpPr>
        <p:spPr/>
        <p:txBody>
          <a:bodyPr/>
          <a:lstStyle>
            <a:lvl1pPr>
              <a:defRPr/>
            </a:lvl1pPr>
          </a:lstStyle>
          <a:p>
            <a:pPr>
              <a:defRPr/>
            </a:pPr>
            <a:fld id="{E2AF3674-77A2-4FBC-A50E-EDF0D2B59C76}" type="datetime1">
              <a:rPr lang="en-US"/>
              <a:pPr>
                <a:defRPr/>
              </a:pPr>
              <a:t>12/8/2025</a:t>
            </a:fld>
            <a:endParaRPr lang="en-US" dirty="0"/>
          </a:p>
        </p:txBody>
      </p:sp>
      <p:sp>
        <p:nvSpPr>
          <p:cNvPr id="5" name="Footer Placeholder 2">
            <a:extLst>
              <a:ext uri="{FF2B5EF4-FFF2-40B4-BE49-F238E27FC236}">
                <a16:creationId xmlns:a16="http://schemas.microsoft.com/office/drawing/2014/main" id="{3D58D851-CE57-B65F-03BE-4563F617529B}"/>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6" name="Slide Number Placeholder 22">
            <a:extLst>
              <a:ext uri="{FF2B5EF4-FFF2-40B4-BE49-F238E27FC236}">
                <a16:creationId xmlns:a16="http://schemas.microsoft.com/office/drawing/2014/main" id="{D1F8DA9E-89F2-D90B-44D9-A9A06A7C0FC8}"/>
              </a:ext>
            </a:extLst>
          </p:cNvPr>
          <p:cNvSpPr>
            <a:spLocks noGrp="1"/>
          </p:cNvSpPr>
          <p:nvPr>
            <p:ph type="sldNum" sz="quarter" idx="12"/>
          </p:nvPr>
        </p:nvSpPr>
        <p:spPr/>
        <p:txBody>
          <a:bodyPr/>
          <a:lstStyle>
            <a:lvl1pPr>
              <a:defRPr/>
            </a:lvl1pPr>
          </a:lstStyle>
          <a:p>
            <a:pPr>
              <a:defRPr/>
            </a:pPr>
            <a:fld id="{D298D8AC-5990-4364-BE6A-AB6FF07654B6}" type="slidenum">
              <a:rPr lang="en-US"/>
              <a:pPr>
                <a:defRPr/>
              </a:pPr>
              <a:t>‹#›</a:t>
            </a:fld>
            <a:endParaRPr lang="en-US" dirty="0"/>
          </a:p>
        </p:txBody>
      </p:sp>
    </p:spTree>
    <p:extLst>
      <p:ext uri="{BB962C8B-B14F-4D97-AF65-F5344CB8AC3E}">
        <p14:creationId xmlns:p14="http://schemas.microsoft.com/office/powerpoint/2010/main" val="2829310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33388" y="228600"/>
            <a:ext cx="8277225" cy="1219200"/>
          </a:xfrm>
        </p:spPr>
        <p:txBody>
          <a:bodyPr/>
          <a:lstStyle/>
          <a:p>
            <a:r>
              <a:rPr lang="en-US"/>
              <a:t>Click to edit Master title style</a:t>
            </a:r>
          </a:p>
        </p:txBody>
      </p:sp>
      <p:sp>
        <p:nvSpPr>
          <p:cNvPr id="3" name="Table Placeholder 2"/>
          <p:cNvSpPr>
            <a:spLocks noGrp="1"/>
          </p:cNvSpPr>
          <p:nvPr>
            <p:ph type="tbl" idx="1"/>
          </p:nvPr>
        </p:nvSpPr>
        <p:spPr>
          <a:xfrm>
            <a:off x="433388" y="1524000"/>
            <a:ext cx="8277225" cy="4641850"/>
          </a:xfrm>
        </p:spPr>
        <p:txBody>
          <a:bodyPr/>
          <a:lstStyle/>
          <a:p>
            <a:pPr lvl="0"/>
            <a:endParaRPr lang="en-US" noProof="0"/>
          </a:p>
        </p:txBody>
      </p:sp>
      <p:sp>
        <p:nvSpPr>
          <p:cNvPr id="4" name="Rectangle 4">
            <a:extLst>
              <a:ext uri="{FF2B5EF4-FFF2-40B4-BE49-F238E27FC236}">
                <a16:creationId xmlns:a16="http://schemas.microsoft.com/office/drawing/2014/main" id="{C0916A30-B4DB-6572-32E5-123305D25E17}"/>
              </a:ext>
            </a:extLst>
          </p:cNvPr>
          <p:cNvSpPr>
            <a:spLocks noGrp="1" noChangeArrowheads="1"/>
          </p:cNvSpPr>
          <p:nvPr>
            <p:ph type="dt" sz="half" idx="10"/>
          </p:nvPr>
        </p:nvSpPr>
        <p:spPr/>
        <p:txBody>
          <a:bodyPr/>
          <a:lstStyle>
            <a:lvl1pPr>
              <a:defRPr/>
            </a:lvl1pPr>
          </a:lstStyle>
          <a:p>
            <a:pPr>
              <a:defRPr/>
            </a:pPr>
            <a:endParaRPr lang="de-DE"/>
          </a:p>
        </p:txBody>
      </p:sp>
    </p:spTree>
    <p:extLst>
      <p:ext uri="{BB962C8B-B14F-4D97-AF65-F5344CB8AC3E}">
        <p14:creationId xmlns:p14="http://schemas.microsoft.com/office/powerpoint/2010/main" val="21137051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5853C4-58D4-E12E-F9D3-6DFE43E741A7}"/>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A0D65C4C-8978-E965-904E-825D91967615}"/>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23136D3B-1E38-B128-44B3-6A013A7071FF}"/>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9D193835-2205-D195-3A01-FB691AD2829B}"/>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E83FC762-605F-3A7B-E754-8B8554C5378A}"/>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dirty="0"/>
              <a:t>Click to edit Master title style</a:t>
            </a:r>
          </a:p>
        </p:txBody>
      </p:sp>
      <p:sp>
        <p:nvSpPr>
          <p:cNvPr id="10" name="Footer Placeholder 16">
            <a:extLst>
              <a:ext uri="{FF2B5EF4-FFF2-40B4-BE49-F238E27FC236}">
                <a16:creationId xmlns:a16="http://schemas.microsoft.com/office/drawing/2014/main" id="{5A97B514-3D2A-02CC-4EBE-220DF49B070A}"/>
              </a:ext>
            </a:extLst>
          </p:cNvPr>
          <p:cNvSpPr>
            <a:spLocks noGrp="1"/>
          </p:cNvSpPr>
          <p:nvPr>
            <p:ph type="ftr" sz="quarter" idx="11"/>
          </p:nvPr>
        </p:nvSpPr>
        <p:spPr>
          <a:xfrm>
            <a:off x="2483768" y="6428184"/>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1" name="Slide Number Placeholder 28">
            <a:extLst>
              <a:ext uri="{FF2B5EF4-FFF2-40B4-BE49-F238E27FC236}">
                <a16:creationId xmlns:a16="http://schemas.microsoft.com/office/drawing/2014/main" id="{A7231800-4E93-AC45-26C7-F83BA69F8A74}"/>
              </a:ext>
            </a:extLst>
          </p:cNvPr>
          <p:cNvSpPr>
            <a:spLocks noGrp="1"/>
          </p:cNvSpPr>
          <p:nvPr>
            <p:ph type="sldNum" sz="quarter" idx="12"/>
          </p:nvPr>
        </p:nvSpPr>
        <p:spPr/>
        <p:txBody>
          <a:bodyPr/>
          <a:lstStyle>
            <a:lvl1pPr>
              <a:defRPr sz="1400">
                <a:solidFill>
                  <a:srgbClr val="FFFFFF"/>
                </a:solidFill>
              </a:defRPr>
            </a:lvl1pPr>
          </a:lstStyle>
          <a:p>
            <a:pPr>
              <a:defRPr/>
            </a:pPr>
            <a:fld id="{5E4C22A4-67DC-44A8-A4FC-CE49B2567C98}" type="slidenum">
              <a:rPr lang="en-US"/>
              <a:pPr>
                <a:defRPr/>
              </a:pPr>
              <a:t>‹#›</a:t>
            </a:fld>
            <a:endParaRPr lang="en-US" dirty="0"/>
          </a:p>
        </p:txBody>
      </p:sp>
    </p:spTree>
    <p:extLst>
      <p:ext uri="{BB962C8B-B14F-4D97-AF65-F5344CB8AC3E}">
        <p14:creationId xmlns:p14="http://schemas.microsoft.com/office/powerpoint/2010/main" val="310960838"/>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BD19D621-57AE-DF6C-3CB8-DA450630DD65}"/>
              </a:ext>
            </a:extLst>
          </p:cNvPr>
          <p:cNvSpPr>
            <a:spLocks noGrp="1"/>
          </p:cNvSpPr>
          <p:nvPr>
            <p:ph type="ftr" sz="quarter" idx="11"/>
          </p:nvPr>
        </p:nvSpPr>
        <p:spPr>
          <a:xfrm>
            <a:off x="2555776" y="6500192"/>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0AA46312-DD6F-C5AE-2F1E-907F31E829E1}"/>
              </a:ext>
            </a:extLst>
          </p:cNvPr>
          <p:cNvSpPr>
            <a:spLocks noGrp="1"/>
          </p:cNvSpPr>
          <p:nvPr>
            <p:ph type="sldNum" sz="quarter" idx="12"/>
          </p:nvPr>
        </p:nvSpPr>
        <p:spPr/>
        <p:txBody>
          <a:bodyPr/>
          <a:lstStyle>
            <a:lvl1pPr>
              <a:defRPr/>
            </a:lvl1pPr>
          </a:lstStyle>
          <a:p>
            <a:pPr>
              <a:defRPr/>
            </a:pPr>
            <a:fld id="{83AC8CC2-3150-4BDA-BDF0-6D695CA2D84D}" type="slidenum">
              <a:rPr lang="en-US"/>
              <a:pPr>
                <a:defRPr/>
              </a:pPr>
              <a:t>‹#›</a:t>
            </a:fld>
            <a:endParaRPr lang="en-US" dirty="0"/>
          </a:p>
        </p:txBody>
      </p:sp>
    </p:spTree>
    <p:extLst>
      <p:ext uri="{BB962C8B-B14F-4D97-AF65-F5344CB8AC3E}">
        <p14:creationId xmlns:p14="http://schemas.microsoft.com/office/powerpoint/2010/main" val="42123309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
            <a:extLst>
              <a:ext uri="{FF2B5EF4-FFF2-40B4-BE49-F238E27FC236}">
                <a16:creationId xmlns:a16="http://schemas.microsoft.com/office/drawing/2014/main" id="{0679A2C8-7DC8-AD37-9652-ABC5705D59FA}"/>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8D45CD1B-92F4-C034-40EE-43ED7BDDC965}"/>
              </a:ext>
            </a:extLst>
          </p:cNvPr>
          <p:cNvSpPr>
            <a:spLocks noGrp="1"/>
          </p:cNvSpPr>
          <p:nvPr>
            <p:ph type="sldNum" sz="quarter" idx="12"/>
          </p:nvPr>
        </p:nvSpPr>
        <p:spPr/>
        <p:txBody>
          <a:bodyPr/>
          <a:lstStyle>
            <a:lvl1pPr>
              <a:defRPr/>
            </a:lvl1pPr>
          </a:lstStyle>
          <a:p>
            <a:pPr>
              <a:defRPr/>
            </a:pPr>
            <a:fld id="{A6BCF859-27D9-4B15-909C-5A9275A8D5B1}" type="slidenum">
              <a:rPr lang="en-US"/>
              <a:pPr>
                <a:defRPr/>
              </a:pPr>
              <a:t>‹#›</a:t>
            </a:fld>
            <a:endParaRPr lang="en-US" dirty="0"/>
          </a:p>
        </p:txBody>
      </p:sp>
    </p:spTree>
    <p:extLst>
      <p:ext uri="{BB962C8B-B14F-4D97-AF65-F5344CB8AC3E}">
        <p14:creationId xmlns:p14="http://schemas.microsoft.com/office/powerpoint/2010/main" val="12759387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B13B5C1E-CA92-F658-DEB4-E6BCB21E8297}"/>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3" name="Footer Placeholder 2">
            <a:extLst>
              <a:ext uri="{FF2B5EF4-FFF2-40B4-BE49-F238E27FC236}">
                <a16:creationId xmlns:a16="http://schemas.microsoft.com/office/drawing/2014/main" id="{135B8D15-F384-5726-1DB0-82AA26D5A7C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4" name="Slide Number Placeholder 22">
            <a:extLst>
              <a:ext uri="{FF2B5EF4-FFF2-40B4-BE49-F238E27FC236}">
                <a16:creationId xmlns:a16="http://schemas.microsoft.com/office/drawing/2014/main" id="{7465CA12-935B-2EC7-0FD8-A29FFD9FDF20}"/>
              </a:ext>
            </a:extLst>
          </p:cNvPr>
          <p:cNvSpPr>
            <a:spLocks noGrp="1"/>
          </p:cNvSpPr>
          <p:nvPr>
            <p:ph type="sldNum" sz="quarter" idx="12"/>
          </p:nvPr>
        </p:nvSpPr>
        <p:spPr/>
        <p:txBody>
          <a:bodyPr/>
          <a:lstStyle>
            <a:lvl1pPr>
              <a:defRPr/>
            </a:lvl1pPr>
          </a:lstStyle>
          <a:p>
            <a:pPr>
              <a:defRPr/>
            </a:pPr>
            <a:fld id="{B60D0497-D7DF-42C1-83D6-B069BC9C71F9}" type="slidenum">
              <a:rPr lang="en-US"/>
              <a:pPr>
                <a:defRPr/>
              </a:pPr>
              <a:t>‹#›</a:t>
            </a:fld>
            <a:endParaRPr lang="en-US" dirty="0"/>
          </a:p>
        </p:txBody>
      </p:sp>
    </p:spTree>
    <p:extLst>
      <p:ext uri="{BB962C8B-B14F-4D97-AF65-F5344CB8AC3E}">
        <p14:creationId xmlns:p14="http://schemas.microsoft.com/office/powerpoint/2010/main" val="3733870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6C7B262-B703-0618-42D2-9A058F2E459A}"/>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2FF425DD-7DE3-3B8E-5719-78BCA9A8DE51}"/>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786D1F94-4295-F397-8F57-1D0E383BD25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7" name="Footer Placeholder 5">
            <a:extLst>
              <a:ext uri="{FF2B5EF4-FFF2-40B4-BE49-F238E27FC236}">
                <a16:creationId xmlns:a16="http://schemas.microsoft.com/office/drawing/2014/main" id="{6B009F90-231B-A3B6-5380-34C6E1C7CB21}"/>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8" name="Slide Number Placeholder 6">
            <a:extLst>
              <a:ext uri="{FF2B5EF4-FFF2-40B4-BE49-F238E27FC236}">
                <a16:creationId xmlns:a16="http://schemas.microsoft.com/office/drawing/2014/main" id="{7CCDB2AA-14FD-D925-D8FA-266FCFE64152}"/>
              </a:ext>
            </a:extLst>
          </p:cNvPr>
          <p:cNvSpPr>
            <a:spLocks noGrp="1"/>
          </p:cNvSpPr>
          <p:nvPr>
            <p:ph type="sldNum" sz="quarter" idx="12"/>
          </p:nvPr>
        </p:nvSpPr>
        <p:spPr/>
        <p:txBody>
          <a:bodyPr/>
          <a:lstStyle>
            <a:lvl1pPr>
              <a:defRPr/>
            </a:lvl1pPr>
          </a:lstStyle>
          <a:p>
            <a:pPr>
              <a:defRPr/>
            </a:pPr>
            <a:fld id="{2C82827D-15A4-4A3F-A005-421DE1CEC59D}" type="slidenum">
              <a:rPr lang="en-US"/>
              <a:pPr>
                <a:defRPr/>
              </a:pPr>
              <a:t>‹#›</a:t>
            </a:fld>
            <a:endParaRPr lang="en-US"/>
          </a:p>
        </p:txBody>
      </p:sp>
    </p:spTree>
    <p:extLst>
      <p:ext uri="{BB962C8B-B14F-4D97-AF65-F5344CB8AC3E}">
        <p14:creationId xmlns:p14="http://schemas.microsoft.com/office/powerpoint/2010/main" val="19473100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2E54CA-1402-D265-65C1-CAA477A5FCEF}"/>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5937FA26-21AA-4604-50B9-4AF1C1E5953D}"/>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B548A5EB-ECFF-0D60-907E-B4566654DEA1}"/>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dirty="0"/>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dirty="0"/>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03D557F4-1C10-84D5-70B1-B3F6002D602F}"/>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9" name="Footer Placeholder 5">
            <a:extLst>
              <a:ext uri="{FF2B5EF4-FFF2-40B4-BE49-F238E27FC236}">
                <a16:creationId xmlns:a16="http://schemas.microsoft.com/office/drawing/2014/main" id="{1D25602D-131F-6FC6-D193-E0E3803E1E51}"/>
              </a:ext>
            </a:extLst>
          </p:cNvPr>
          <p:cNvSpPr>
            <a:spLocks noGrp="1"/>
          </p:cNvSpPr>
          <p:nvPr>
            <p:ph type="ftr" sz="quarter" idx="11"/>
          </p:nvPr>
        </p:nvSpPr>
        <p:spPr>
          <a:xfrm>
            <a:off x="914400" y="6172200"/>
            <a:ext cx="38862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0" name="Slide Number Placeholder 6">
            <a:extLst>
              <a:ext uri="{FF2B5EF4-FFF2-40B4-BE49-F238E27FC236}">
                <a16:creationId xmlns:a16="http://schemas.microsoft.com/office/drawing/2014/main" id="{D0109AE1-27A9-8EB7-803F-D676F48820DA}"/>
              </a:ext>
            </a:extLst>
          </p:cNvPr>
          <p:cNvSpPr>
            <a:spLocks noGrp="1"/>
          </p:cNvSpPr>
          <p:nvPr>
            <p:ph type="sldNum" sz="quarter" idx="12"/>
          </p:nvPr>
        </p:nvSpPr>
        <p:spPr>
          <a:xfrm>
            <a:off x="146050" y="6208713"/>
            <a:ext cx="457200" cy="457200"/>
          </a:xfrm>
        </p:spPr>
        <p:txBody>
          <a:bodyPr/>
          <a:lstStyle>
            <a:lvl1pPr>
              <a:defRPr/>
            </a:lvl1pPr>
          </a:lstStyle>
          <a:p>
            <a:pPr>
              <a:defRPr/>
            </a:pPr>
            <a:fld id="{F7562DC6-6DC9-45E2-AAC4-454004E6E023}" type="slidenum">
              <a:rPr lang="en-US"/>
              <a:pPr>
                <a:defRPr/>
              </a:pPr>
              <a:t>‹#›</a:t>
            </a:fld>
            <a:endParaRPr lang="en-US" dirty="0"/>
          </a:p>
        </p:txBody>
      </p:sp>
    </p:spTree>
    <p:extLst>
      <p:ext uri="{BB962C8B-B14F-4D97-AF65-F5344CB8AC3E}">
        <p14:creationId xmlns:p14="http://schemas.microsoft.com/office/powerpoint/2010/main" val="18990565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DF2C48B0-ABFE-CE4D-6188-9A9EAD773F6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5" name="Footer Placeholder 2">
            <a:extLst>
              <a:ext uri="{FF2B5EF4-FFF2-40B4-BE49-F238E27FC236}">
                <a16:creationId xmlns:a16="http://schemas.microsoft.com/office/drawing/2014/main" id="{2618189D-098F-74CA-DD3F-C7F3B7D6831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6" name="Slide Number Placeholder 22">
            <a:extLst>
              <a:ext uri="{FF2B5EF4-FFF2-40B4-BE49-F238E27FC236}">
                <a16:creationId xmlns:a16="http://schemas.microsoft.com/office/drawing/2014/main" id="{06CD0044-3E35-3EB6-7892-259BA5B8A6D9}"/>
              </a:ext>
            </a:extLst>
          </p:cNvPr>
          <p:cNvSpPr>
            <a:spLocks noGrp="1"/>
          </p:cNvSpPr>
          <p:nvPr>
            <p:ph type="sldNum" sz="quarter" idx="12"/>
          </p:nvPr>
        </p:nvSpPr>
        <p:spPr/>
        <p:txBody>
          <a:bodyPr/>
          <a:lstStyle>
            <a:lvl1pPr>
              <a:defRPr/>
            </a:lvl1pPr>
          </a:lstStyle>
          <a:p>
            <a:pPr>
              <a:defRPr/>
            </a:pPr>
            <a:fld id="{C65D5C55-6BCA-4DBD-BE3B-26D0EAB7959A}" type="slidenum">
              <a:rPr lang="en-US"/>
              <a:pPr>
                <a:defRPr/>
              </a:pPr>
              <a:t>‹#›</a:t>
            </a:fld>
            <a:endParaRPr lang="en-US" dirty="0"/>
          </a:p>
        </p:txBody>
      </p:sp>
    </p:spTree>
    <p:extLst>
      <p:ext uri="{BB962C8B-B14F-4D97-AF65-F5344CB8AC3E}">
        <p14:creationId xmlns:p14="http://schemas.microsoft.com/office/powerpoint/2010/main" val="5787606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9B44A936-745D-EF49-60A0-CF1AF5E0193C}"/>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939828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B9325AD-63AC-7191-3EA4-502BB93C6616}"/>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134A59EF-318D-F794-085F-76DDB08FF809}"/>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6" name="Title Placeholder 21">
            <a:extLst>
              <a:ext uri="{FF2B5EF4-FFF2-40B4-BE49-F238E27FC236}">
                <a16:creationId xmlns:a16="http://schemas.microsoft.com/office/drawing/2014/main" id="{92180755-DED9-5C5E-3E74-58D9AB09F394}"/>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3077" name="Text Placeholder 12">
            <a:extLst>
              <a:ext uri="{FF2B5EF4-FFF2-40B4-BE49-F238E27FC236}">
                <a16:creationId xmlns:a16="http://schemas.microsoft.com/office/drawing/2014/main" id="{ACEEDB54-C0EC-E656-65BA-77A3B3137C70}"/>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C30A4B39-D45E-6E87-AB9B-C3D136C9182D}"/>
              </a:ext>
            </a:extLst>
          </p:cNvPr>
          <p:cNvSpPr>
            <a:spLocks noGrp="1"/>
          </p:cNvSpPr>
          <p:nvPr>
            <p:ph type="dt" sz="half" idx="2"/>
          </p:nvPr>
        </p:nvSpPr>
        <p:spPr>
          <a:xfrm>
            <a:off x="6172200" y="6191250"/>
            <a:ext cx="2476500" cy="476250"/>
          </a:xfrm>
          <a:prstGeom prst="rect">
            <a:avLst/>
          </a:prstGeom>
        </p:spPr>
        <p:txBody>
          <a:bodyPr anchor="ctr" anchorCtr="0"/>
          <a:lstStyle>
            <a:lvl1pPr algn="r" eaLnBrk="1" fontAlgn="auto" latinLnBrk="0" hangingPunct="1">
              <a:spcBef>
                <a:spcPts val="0"/>
              </a:spcBef>
              <a:spcAft>
                <a:spcPts val="0"/>
              </a:spcAft>
              <a:defRPr kumimoji="0" sz="1400">
                <a:solidFill>
                  <a:schemeClr val="tx2"/>
                </a:solidFill>
                <a:latin typeface="+mn-lt"/>
                <a:cs typeface="+mn-cs"/>
              </a:defRPr>
            </a:lvl1pPr>
          </a:lstStyle>
          <a:p>
            <a:pPr>
              <a:defRPr/>
            </a:pPr>
            <a:fld id="{99F46A9E-D93A-4070-8EC6-4ADC3D98B195}" type="datetime1">
              <a:rPr lang="en-US"/>
              <a:pPr>
                <a:defRPr/>
              </a:pPr>
              <a:t>12/8/2025</a:t>
            </a:fld>
            <a:endParaRPr lang="en-US" dirty="0"/>
          </a:p>
        </p:txBody>
      </p:sp>
      <p:sp>
        <p:nvSpPr>
          <p:cNvPr id="3" name="Footer Placeholder 2">
            <a:extLst>
              <a:ext uri="{FF2B5EF4-FFF2-40B4-BE49-F238E27FC236}">
                <a16:creationId xmlns:a16="http://schemas.microsoft.com/office/drawing/2014/main" id="{10E22853-FCCC-34E7-6A1B-4DBAEBA4AED0}"/>
              </a:ext>
            </a:extLst>
          </p:cNvPr>
          <p:cNvSpPr>
            <a:spLocks noGrp="1"/>
          </p:cNvSpPr>
          <p:nvPr>
            <p:ph type="ftr" sz="quarter" idx="3"/>
          </p:nvPr>
        </p:nvSpPr>
        <p:spPr>
          <a:xfrm>
            <a:off x="914400" y="6172200"/>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a:t>Autonomous Robots -- Dr. Zawar Qayyum, 2010</a:t>
            </a:r>
          </a:p>
        </p:txBody>
      </p:sp>
      <p:sp>
        <p:nvSpPr>
          <p:cNvPr id="23" name="Slide Number Placeholder 22">
            <a:extLst>
              <a:ext uri="{FF2B5EF4-FFF2-40B4-BE49-F238E27FC236}">
                <a16:creationId xmlns:a16="http://schemas.microsoft.com/office/drawing/2014/main" id="{401B6903-5E70-8998-5728-5AE139D7032B}"/>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EA6BAC30-25F7-4B4D-96C6-5B82F2D855D3}" type="slidenum">
              <a:rPr lang="en-US"/>
              <a:pPr>
                <a:defRPr/>
              </a:pPr>
              <a:t>‹#›</a:t>
            </a:fld>
            <a:endParaRPr lang="en-US" dirty="0"/>
          </a:p>
        </p:txBody>
      </p:sp>
    </p:spTree>
    <p:extLst>
      <p:ext uri="{BB962C8B-B14F-4D97-AF65-F5344CB8AC3E}">
        <p14:creationId xmlns:p14="http://schemas.microsoft.com/office/powerpoint/2010/main" val="166558873"/>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7CEB16-177C-11F3-6488-15217609B1F8}"/>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41EAD4DD-9D27-1FFD-AF29-68BC36D3A352}"/>
              </a:ext>
            </a:extLst>
          </p:cNvPr>
          <p:cNvSpPr/>
          <p:nvPr/>
        </p:nvSpPr>
        <p:spPr>
          <a:xfrm>
            <a:off x="112590" y="16510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6" name="Title Placeholder 21">
            <a:extLst>
              <a:ext uri="{FF2B5EF4-FFF2-40B4-BE49-F238E27FC236}">
                <a16:creationId xmlns:a16="http://schemas.microsoft.com/office/drawing/2014/main" id="{2B8B0024-D6D1-A70C-46F3-E369B45B67D1}"/>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dirty="0"/>
              <a:t>Click to edit Master title style</a:t>
            </a:r>
          </a:p>
        </p:txBody>
      </p:sp>
      <p:sp>
        <p:nvSpPr>
          <p:cNvPr id="3077" name="Text Placeholder 12">
            <a:extLst>
              <a:ext uri="{FF2B5EF4-FFF2-40B4-BE49-F238E27FC236}">
                <a16:creationId xmlns:a16="http://schemas.microsoft.com/office/drawing/2014/main" id="{3488A6D1-71AB-0EF0-882A-8AEDA58A8733}"/>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3" name="Footer Placeholder 2">
            <a:extLst>
              <a:ext uri="{FF2B5EF4-FFF2-40B4-BE49-F238E27FC236}">
                <a16:creationId xmlns:a16="http://schemas.microsoft.com/office/drawing/2014/main" id="{F37FCC0C-B39C-DCE5-066A-B9F6AFE491FC}"/>
              </a:ext>
            </a:extLst>
          </p:cNvPr>
          <p:cNvSpPr>
            <a:spLocks noGrp="1"/>
          </p:cNvSpPr>
          <p:nvPr>
            <p:ph type="ftr" sz="quarter" idx="3"/>
          </p:nvPr>
        </p:nvSpPr>
        <p:spPr>
          <a:xfrm>
            <a:off x="2555776" y="6500192"/>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23" name="Slide Number Placeholder 22">
            <a:extLst>
              <a:ext uri="{FF2B5EF4-FFF2-40B4-BE49-F238E27FC236}">
                <a16:creationId xmlns:a16="http://schemas.microsoft.com/office/drawing/2014/main" id="{7CCC2D68-25F4-B5E2-90AE-129685EECD21}"/>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688D1139-B686-4DC4-A8B1-655130D02E34}" type="slidenum">
              <a:rPr lang="en-US"/>
              <a:pPr>
                <a:defRPr/>
              </a:pPr>
              <a:t>‹#›</a:t>
            </a:fld>
            <a:endParaRPr lang="en-US" dirty="0"/>
          </a:p>
        </p:txBody>
      </p:sp>
    </p:spTree>
    <p:extLst>
      <p:ext uri="{BB962C8B-B14F-4D97-AF65-F5344CB8AC3E}">
        <p14:creationId xmlns:p14="http://schemas.microsoft.com/office/powerpoint/2010/main" val="2183595622"/>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2">
            <a:extLst>
              <a:ext uri="{FF2B5EF4-FFF2-40B4-BE49-F238E27FC236}">
                <a16:creationId xmlns:a16="http://schemas.microsoft.com/office/drawing/2014/main" id="{6E223CA5-28DF-4EB8-9015-D48A747CA2F9}"/>
              </a:ext>
            </a:extLst>
          </p:cNvPr>
          <p:cNvSpPr>
            <a:spLocks noGrp="1" noChangeArrowheads="1"/>
          </p:cNvSpPr>
          <p:nvPr>
            <p:ph type="ctrTitle"/>
          </p:nvPr>
        </p:nvSpPr>
        <p:spPr>
          <a:xfrm>
            <a:off x="457200" y="1506538"/>
            <a:ext cx="8229600" cy="1470025"/>
          </a:xfrm>
        </p:spPr>
        <p:txBody>
          <a:bodyPr/>
          <a:lstStyle/>
          <a:p>
            <a:pPr eaLnBrk="1" hangingPunct="1"/>
            <a:r>
              <a:rPr altLang="en-US" b="1" dirty="0">
                <a:solidFill>
                  <a:srgbClr val="000099"/>
                </a:solidFill>
                <a:latin typeface="Cambria" panose="02040503050406030204" pitchFamily="18" charset="0"/>
                <a:ea typeface="Cambria" panose="02040503050406030204" pitchFamily="18" charset="0"/>
              </a:rPr>
              <a:t>CC-215</a:t>
            </a:r>
            <a:br>
              <a:rPr altLang="en-US" dirty="0">
                <a:solidFill>
                  <a:srgbClr val="000099"/>
                </a:solidFill>
                <a:latin typeface="Cambria" panose="02040503050406030204" pitchFamily="18" charset="0"/>
                <a:ea typeface="Cambria" panose="02040503050406030204" pitchFamily="18" charset="0"/>
              </a:rPr>
            </a:br>
            <a:r>
              <a:rPr altLang="en-US" b="1" dirty="0">
                <a:solidFill>
                  <a:srgbClr val="FFFF00"/>
                </a:solidFill>
                <a:latin typeface="Cambria" panose="02040503050406030204" pitchFamily="18" charset="0"/>
                <a:ea typeface="Cambria" panose="02040503050406030204" pitchFamily="18" charset="0"/>
              </a:rPr>
              <a:t>Database Systems</a:t>
            </a:r>
          </a:p>
        </p:txBody>
      </p:sp>
      <p:sp>
        <p:nvSpPr>
          <p:cNvPr id="2" name="Rectangle 2">
            <a:extLst>
              <a:ext uri="{FF2B5EF4-FFF2-40B4-BE49-F238E27FC236}">
                <a16:creationId xmlns:a16="http://schemas.microsoft.com/office/drawing/2014/main" id="{BE4B3138-A767-7D60-38B3-56978D7D4200}"/>
              </a:ext>
            </a:extLst>
          </p:cNvPr>
          <p:cNvSpPr txBox="1">
            <a:spLocks noChangeArrowheads="1"/>
          </p:cNvSpPr>
          <p:nvPr/>
        </p:nvSpPr>
        <p:spPr bwMode="auto">
          <a:xfrm>
            <a:off x="1256191" y="3171999"/>
            <a:ext cx="6477000" cy="1279530"/>
          </a:xfrm>
          <a:prstGeom prst="rect">
            <a:avLst/>
          </a:prstGeom>
          <a:noFill/>
          <a:ln w="19050">
            <a:solidFill>
              <a:schemeClr val="tx1"/>
            </a:solidFill>
          </a:ln>
        </p:spPr>
        <p:txBody>
          <a:bodyPr tIns="274320" bIns="182880"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200"/>
              </a:spcBef>
              <a:spcAft>
                <a:spcPts val="0"/>
              </a:spcAft>
              <a:buClrTx/>
              <a:buSzTx/>
              <a:buFontTx/>
              <a:buNone/>
              <a:tabLst/>
              <a:defRPr/>
            </a:pPr>
            <a:r>
              <a:rPr kumimoji="0" lang="en-US" sz="3200" b="1" i="0" u="none" strike="noStrike" kern="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j-cs"/>
              </a:rPr>
              <a:t>— Unit 12 —</a:t>
            </a:r>
            <a:br>
              <a:rPr kumimoji="0" lang="en-US" sz="3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r>
              <a:rPr kumimoji="0" lang="en-US" sz="28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t>Transaction Processing</a:t>
            </a:r>
            <a:endParaRPr kumimoji="0" lang="en-US" sz="1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sp>
        <p:nvSpPr>
          <p:cNvPr id="7" name="Rectangle 2">
            <a:extLst>
              <a:ext uri="{FF2B5EF4-FFF2-40B4-BE49-F238E27FC236}">
                <a16:creationId xmlns:a16="http://schemas.microsoft.com/office/drawing/2014/main" id="{157297BE-EE28-F676-BE56-7D8A7B565F16}"/>
              </a:ext>
            </a:extLst>
          </p:cNvPr>
          <p:cNvSpPr txBox="1">
            <a:spLocks noChangeArrowheads="1"/>
          </p:cNvSpPr>
          <p:nvPr/>
        </p:nvSpPr>
        <p:spPr bwMode="auto">
          <a:xfrm>
            <a:off x="5652120" y="4637620"/>
            <a:ext cx="3233199" cy="2016224"/>
          </a:xfrm>
          <a:prstGeom prst="rect">
            <a:avLst/>
          </a:prstGeom>
          <a:noFill/>
          <a:ln w="19050">
            <a:solidFill>
              <a:srgbClr val="000000"/>
            </a:solidFill>
            <a:miter lim="800000"/>
            <a:headEnd/>
            <a:tailEnd/>
          </a:ln>
        </p:spPr>
        <p:txBody>
          <a:bodyPr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800"/>
              </a:spcBef>
              <a:spcAft>
                <a:spcPts val="600"/>
              </a:spcAft>
              <a:buClrTx/>
              <a:buSzTx/>
              <a:buFontTx/>
              <a:buNone/>
              <a:tabLst/>
              <a:defRPr/>
            </a:pPr>
            <a:br>
              <a:rPr kumimoji="0" lang="en-US" sz="32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br>
            <a: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t>Dr. Asif Sohail</a:t>
            </a:r>
            <a:b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br>
              <a:rPr kumimoji="0" lang="en-US" sz="1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r>
              <a:rPr kumimoji="0" lang="en-US" altLang="en-US" sz="2000" b="0" i="0" u="none" strike="noStrike" kern="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mj-cs"/>
              </a:rPr>
              <a:t>University of the Punjab</a:t>
            </a:r>
            <a:b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br>
            <a: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t>Department of Information Technology, FCIT</a:t>
            </a:r>
            <a:br>
              <a:rPr kumimoji="0" lang="de-AT" altLang="en-US" sz="18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br>
            <a:endParaRPr kumimoji="0" lang="en-US" sz="3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pic>
        <p:nvPicPr>
          <p:cNvPr id="4" name="Picture 10">
            <a:extLst>
              <a:ext uri="{FF2B5EF4-FFF2-40B4-BE49-F238E27FC236}">
                <a16:creationId xmlns:a16="http://schemas.microsoft.com/office/drawing/2014/main" id="{6B819144-AC91-20AF-4E39-1CC6743EA6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917" y="295275"/>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2">
            <a:extLst>
              <a:ext uri="{FF2B5EF4-FFF2-40B4-BE49-F238E27FC236}">
                <a16:creationId xmlns:a16="http://schemas.microsoft.com/office/drawing/2014/main" id="{7C24E2FC-DC72-6DE9-973D-DFAF2B2A75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95275"/>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a:extLst>
              <a:ext uri="{FF2B5EF4-FFF2-40B4-BE49-F238E27FC236}">
                <a16:creationId xmlns:a16="http://schemas.microsoft.com/office/drawing/2014/main" id="{CFC7106B-BDE5-751B-3CDA-7C878E45D349}"/>
              </a:ext>
            </a:extLst>
          </p:cNvPr>
          <p:cNvSpPr txBox="1">
            <a:spLocks noChangeArrowheads="1"/>
          </p:cNvSpPr>
          <p:nvPr/>
        </p:nvSpPr>
        <p:spPr bwMode="auto">
          <a:xfrm>
            <a:off x="323528" y="4653136"/>
            <a:ext cx="5069656" cy="2016224"/>
          </a:xfrm>
          <a:prstGeom prst="rect">
            <a:avLst/>
          </a:prstGeom>
          <a:noFill/>
          <a:ln w="19050">
            <a:solidFill>
              <a:srgbClr val="000000"/>
            </a:solidFill>
            <a:miter lim="800000"/>
            <a:headEnd/>
            <a:tailEnd/>
          </a:ln>
        </p:spPr>
        <p:txBody>
          <a:bodyPr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br>
              <a:rPr kumimoji="0" lang="en-US" sz="18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br>
            <a:endParaRPr kumimoji="0" lang="en-US" sz="18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Some slides and/or pictures are adapted from Lecture slides / Books of</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Peter Rob</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Jeffery. A. Hoffer</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Thomas M. Connolly</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Ramez Elmasri</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err="1">
                <a:ln>
                  <a:noFill/>
                </a:ln>
                <a:solidFill>
                  <a:srgbClr val="0000CC"/>
                </a:solidFill>
                <a:effectLst/>
                <a:uLnTx/>
                <a:uFillTx/>
                <a:latin typeface="Cambria" panose="02040503050406030204" pitchFamily="18" charset="0"/>
                <a:ea typeface="Cambria" panose="02040503050406030204" pitchFamily="18" charset="0"/>
                <a:cs typeface="+mn-cs"/>
              </a:rPr>
              <a:t>Silberschtaz</a:t>
            </a:r>
            <a:endPar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endParaRPr>
          </a:p>
          <a:p>
            <a:pPr marL="0" marR="0" lvl="0" indent="0" algn="l" defTabSz="914400" rtl="0" eaLnBrk="1" fontAlgn="base" latinLnBrk="0" hangingPunct="1">
              <a:lnSpc>
                <a:spcPct val="100000"/>
              </a:lnSpc>
              <a:spcBef>
                <a:spcPts val="1800"/>
              </a:spcBef>
              <a:spcAft>
                <a:spcPts val="60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6DA0E-BE5D-E18F-0500-F11CA3F223CC}"/>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B7441C0C-FC54-5B4F-2A62-78F26AA65218}"/>
              </a:ext>
            </a:extLst>
          </p:cNvPr>
          <p:cNvSpPr>
            <a:spLocks noGrp="1" noChangeArrowheads="1"/>
          </p:cNvSpPr>
          <p:nvPr>
            <p:ph type="title"/>
          </p:nvPr>
        </p:nvSpPr>
        <p:spPr>
          <a:xfrm>
            <a:off x="323850" y="159296"/>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Transaction Processing</a:t>
            </a:r>
          </a:p>
        </p:txBody>
      </p:sp>
      <p:sp>
        <p:nvSpPr>
          <p:cNvPr id="2" name="Content Placeholder 1">
            <a:extLst>
              <a:ext uri="{FF2B5EF4-FFF2-40B4-BE49-F238E27FC236}">
                <a16:creationId xmlns:a16="http://schemas.microsoft.com/office/drawing/2014/main" id="{D3D2A838-8D87-4104-EC2E-AF96DA991788}"/>
              </a:ext>
            </a:extLst>
          </p:cNvPr>
          <p:cNvSpPr>
            <a:spLocks noGrp="1"/>
          </p:cNvSpPr>
          <p:nvPr>
            <p:ph sz="quarter" idx="1"/>
          </p:nvPr>
        </p:nvSpPr>
        <p:spPr>
          <a:xfrm>
            <a:off x="251520" y="692696"/>
            <a:ext cx="8492430" cy="3600400"/>
          </a:xfrm>
        </p:spPr>
        <p:txBody>
          <a:bodyPr/>
          <a:lstStyle/>
          <a:p>
            <a:pPr marL="347663" indent="-347663" algn="just">
              <a:spcBef>
                <a:spcPts val="300"/>
              </a:spcBef>
              <a:buClr>
                <a:srgbClr val="723900"/>
              </a:buClr>
              <a:defRPr/>
            </a:pPr>
            <a:r>
              <a:rPr lang="en-US" sz="2400" dirty="0">
                <a:latin typeface="Cambria" panose="02040503050406030204" pitchFamily="18" charset="0"/>
                <a:ea typeface="Cambria" panose="02040503050406030204" pitchFamily="18" charset="0"/>
                <a:cs typeface="Calibri" panose="020F0502020204030204" pitchFamily="34" charset="0"/>
              </a:rPr>
              <a:t>A transaction is a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logical unit of work</a:t>
            </a:r>
            <a:r>
              <a:rPr lang="en-US" sz="2400" dirty="0">
                <a:latin typeface="Cambria" panose="02040503050406030204" pitchFamily="18" charset="0"/>
                <a:ea typeface="Cambria" panose="02040503050406030204" pitchFamily="18" charset="0"/>
                <a:cs typeface="Calibri" panose="020F0502020204030204" pitchFamily="34" charset="0"/>
              </a:rPr>
              <a:t> on the database.</a:t>
            </a:r>
          </a:p>
          <a:p>
            <a:pPr marL="347663" indent="-347663" algn="just">
              <a:spcBef>
                <a:spcPts val="300"/>
              </a:spcBef>
              <a:buClr>
                <a:srgbClr val="723900"/>
              </a:buClr>
              <a:defRPr/>
            </a:pPr>
            <a:r>
              <a:rPr lang="en-US" sz="2400" dirty="0">
                <a:latin typeface="Cambria" panose="02040503050406030204" pitchFamily="18" charset="0"/>
                <a:ea typeface="Cambria" panose="02040503050406030204" pitchFamily="18" charset="0"/>
                <a:cs typeface="Calibri" panose="020F0502020204030204" pitchFamily="34" charset="0"/>
              </a:rPr>
              <a:t>A transaction may be an entire program, a portion of a program or even a single statement.</a:t>
            </a:r>
          </a:p>
          <a:p>
            <a:pPr marL="347663" indent="-347663" algn="just">
              <a:spcBef>
                <a:spcPts val="300"/>
              </a:spcBef>
              <a:buClr>
                <a:srgbClr val="723900"/>
              </a:buClr>
              <a:defRPr/>
            </a:pPr>
            <a:r>
              <a:rPr lang="en-US" sz="2400" dirty="0">
                <a:latin typeface="Cambria" panose="02040503050406030204" pitchFamily="18" charset="0"/>
                <a:ea typeface="Cambria" panose="02040503050406030204" pitchFamily="18" charset="0"/>
                <a:cs typeface="Calibri" panose="020F0502020204030204" pitchFamily="34" charset="0"/>
              </a:rPr>
              <a:t>A transaction brings the database from one consistent (correct/acceptable) state to another consistent state.</a:t>
            </a:r>
          </a:p>
          <a:p>
            <a:pPr marL="347663" indent="-347663" algn="just">
              <a:spcBef>
                <a:spcPts val="300"/>
              </a:spcBef>
              <a:buClr>
                <a:srgbClr val="723900"/>
              </a:buClr>
              <a:defRPr/>
            </a:pPr>
            <a:r>
              <a:rPr lang="en-US" sz="2400" dirty="0">
                <a:latin typeface="Cambria" panose="02040503050406030204" pitchFamily="18" charset="0"/>
                <a:ea typeface="Cambria" panose="02040503050406030204" pitchFamily="18" charset="0"/>
                <a:cs typeface="Calibri" panose="020F0502020204030204" pitchFamily="34" charset="0"/>
              </a:rPr>
              <a:t>Consistent state is one in which all data integrity constraints are satisfied.</a:t>
            </a:r>
          </a:p>
          <a:p>
            <a:pPr marL="347663" indent="-347663" algn="just">
              <a:spcBef>
                <a:spcPts val="300"/>
              </a:spcBef>
              <a:buClr>
                <a:srgbClr val="723900"/>
              </a:buClr>
              <a:defRPr/>
            </a:pPr>
            <a:r>
              <a:rPr lang="en-US" sz="2400" dirty="0">
                <a:latin typeface="Cambria" panose="02040503050406030204" pitchFamily="18" charset="0"/>
                <a:ea typeface="Cambria" panose="02040503050406030204" pitchFamily="18" charset="0"/>
                <a:cs typeface="Calibri" panose="020F0502020204030204" pitchFamily="34" charset="0"/>
              </a:rPr>
              <a:t>All transactions are controlled and executed by the DBMS to guarantee database integrity.</a:t>
            </a:r>
          </a:p>
          <a:p>
            <a:pPr marL="347663" indent="-347663" algn="just">
              <a:spcBef>
                <a:spcPts val="300"/>
              </a:spcBef>
              <a:buClr>
                <a:srgbClr val="723900"/>
              </a:buClr>
              <a:defRPr/>
            </a:pPr>
            <a:r>
              <a:rPr lang="en-US" sz="2400" dirty="0">
                <a:latin typeface="Cambria" panose="02040503050406030204" pitchFamily="18" charset="0"/>
                <a:ea typeface="Cambria" panose="02040503050406030204" pitchFamily="18" charset="0"/>
                <a:cs typeface="Calibri" panose="020F0502020204030204" pitchFamily="34" charset="0"/>
              </a:rPr>
              <a:t>While a transaction is in progress, the database may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temporarily be in some inconsistent state.</a:t>
            </a:r>
            <a:r>
              <a:rPr lang="en-US" sz="2400" dirty="0">
                <a:latin typeface="Cambria" panose="02040503050406030204" pitchFamily="18" charset="0"/>
                <a:ea typeface="Cambria" panose="02040503050406030204" pitchFamily="18" charset="0"/>
                <a:cs typeface="Calibri" panose="020F0502020204030204" pitchFamily="34" charset="0"/>
              </a:rPr>
              <a:t> </a:t>
            </a:r>
          </a:p>
          <a:p>
            <a:pPr marL="347663" indent="-347663" algn="just">
              <a:spcBef>
                <a:spcPts val="300"/>
              </a:spcBef>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15155E20-E875-CD45-9FC4-80A83C1E1617}"/>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275677C5-8878-780C-D58A-012BE425E0B0}"/>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74259094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77BDE-7DFA-D838-45AD-92C8B0597161}"/>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C71FFED1-5C1D-6F25-F64D-7C7EB674D6E3}"/>
              </a:ext>
            </a:extLst>
          </p:cNvPr>
          <p:cNvSpPr>
            <a:spLocks noGrp="1" noChangeArrowheads="1"/>
          </p:cNvSpPr>
          <p:nvPr>
            <p:ph type="title"/>
          </p:nvPr>
        </p:nvSpPr>
        <p:spPr>
          <a:xfrm>
            <a:off x="323850" y="116632"/>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Transaction Examples</a:t>
            </a:r>
          </a:p>
        </p:txBody>
      </p:sp>
      <p:sp>
        <p:nvSpPr>
          <p:cNvPr id="2" name="Content Placeholder 1">
            <a:extLst>
              <a:ext uri="{FF2B5EF4-FFF2-40B4-BE49-F238E27FC236}">
                <a16:creationId xmlns:a16="http://schemas.microsoft.com/office/drawing/2014/main" id="{2178D1C3-608B-F741-38D5-A68C75F6917C}"/>
              </a:ext>
            </a:extLst>
          </p:cNvPr>
          <p:cNvSpPr>
            <a:spLocks noGrp="1"/>
          </p:cNvSpPr>
          <p:nvPr>
            <p:ph sz="quarter" idx="1"/>
          </p:nvPr>
        </p:nvSpPr>
        <p:spPr>
          <a:xfrm>
            <a:off x="251520" y="548680"/>
            <a:ext cx="8492430" cy="3600400"/>
          </a:xfrm>
        </p:spPr>
        <p:txBody>
          <a:bodyPr/>
          <a:lstStyle/>
          <a:p>
            <a:pPr marL="347663" indent="-347663" algn="just">
              <a:spcBef>
                <a:spcPts val="300"/>
              </a:spcBef>
              <a:buClr>
                <a:srgbClr val="723900"/>
              </a:buClr>
              <a:defRPr/>
            </a:pPr>
            <a:r>
              <a:rPr lang="en-US" sz="2400" b="1" dirty="0">
                <a:solidFill>
                  <a:srgbClr val="0033CC"/>
                </a:solidFill>
                <a:latin typeface="Cambria" panose="02040503050406030204" pitchFamily="18" charset="0"/>
                <a:ea typeface="Cambria" panose="02040503050406030204" pitchFamily="18" charset="0"/>
                <a:cs typeface="Calibri" panose="020F0502020204030204" pitchFamily="34" charset="0"/>
              </a:rPr>
              <a:t>Example1:</a:t>
            </a:r>
            <a:r>
              <a:rPr lang="en-US" sz="2400" dirty="0">
                <a:solidFill>
                  <a:schemeClr val="tx2"/>
                </a:solidFill>
                <a:latin typeface="Cambria" panose="02040503050406030204" pitchFamily="18" charset="0"/>
                <a:ea typeface="Cambria" panose="02040503050406030204" pitchFamily="18" charset="0"/>
                <a:cs typeface="Calibri" panose="020F0502020204030204" pitchFamily="34" charset="0"/>
              </a:rPr>
              <a:t> </a:t>
            </a:r>
            <a:r>
              <a:rPr lang="en-US" sz="2400" dirty="0">
                <a:latin typeface="Cambria" panose="02040503050406030204" pitchFamily="18" charset="0"/>
                <a:ea typeface="Cambria" panose="02040503050406030204" pitchFamily="18" charset="0"/>
                <a:cs typeface="Calibri" panose="020F0502020204030204" pitchFamily="34" charset="0"/>
              </a:rPr>
              <a:t>Banking transaction involving two relations:</a:t>
            </a:r>
          </a:p>
          <a:p>
            <a:pPr marL="530225" indent="-404813" algn="just">
              <a:spcBef>
                <a:spcPts val="300"/>
              </a:spcBef>
              <a:buClr>
                <a:schemeClr val="accent2"/>
              </a:buClr>
              <a:buFontTx/>
              <a:buAutoNum type="arabicPeriod"/>
              <a:defRPr/>
            </a:pP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ACC_TRANS(</a:t>
            </a:r>
            <a:r>
              <a:rPr lang="en-US" sz="2400" dirty="0" err="1">
                <a:solidFill>
                  <a:srgbClr val="FF0000"/>
                </a:solidFill>
                <a:latin typeface="Cambria" panose="02040503050406030204" pitchFamily="18" charset="0"/>
                <a:ea typeface="Cambria" panose="02040503050406030204" pitchFamily="18" charset="0"/>
                <a:cs typeface="Calibri" panose="020F0502020204030204" pitchFamily="34" charset="0"/>
              </a:rPr>
              <a:t>Acc_No</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 Amount, Date, Deposit/Withdraw, …)</a:t>
            </a:r>
          </a:p>
          <a:p>
            <a:pPr marL="530225" indent="-404813" algn="just">
              <a:spcBef>
                <a:spcPts val="300"/>
              </a:spcBef>
              <a:buClr>
                <a:schemeClr val="accent2"/>
              </a:buClr>
              <a:buFontTx/>
              <a:buAutoNum type="arabicPeriod"/>
              <a:defRPr/>
            </a:pP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ACC_BAL(Acc-No, Balance,…)</a:t>
            </a:r>
          </a:p>
          <a:p>
            <a:pPr marL="347663" indent="-347663" algn="just">
              <a:spcBef>
                <a:spcPts val="300"/>
              </a:spcBef>
              <a:buClr>
                <a:srgbClr val="723900"/>
              </a:buClr>
              <a:defRPr/>
            </a:pPr>
            <a:r>
              <a:rPr lang="en-US" sz="2400" dirty="0">
                <a:latin typeface="Cambria" panose="02040503050406030204" pitchFamily="18" charset="0"/>
                <a:ea typeface="Cambria" panose="02040503050406030204" pitchFamily="18" charset="0"/>
                <a:cs typeface="Calibri" panose="020F0502020204030204" pitchFamily="34" charset="0"/>
              </a:rPr>
              <a:t>Against every insertion in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ACC_TRANS,</a:t>
            </a:r>
            <a:r>
              <a:rPr lang="en-US" sz="2400" dirty="0">
                <a:latin typeface="Cambria" panose="02040503050406030204" pitchFamily="18" charset="0"/>
                <a:ea typeface="Cambria" panose="02040503050406030204" pitchFamily="18" charset="0"/>
                <a:cs typeface="Calibri" panose="020F0502020204030204" pitchFamily="34" charset="0"/>
              </a:rPr>
              <a:t> the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ACC_BAL</a:t>
            </a:r>
            <a:r>
              <a:rPr lang="en-US" sz="2400" dirty="0">
                <a:latin typeface="Cambria" panose="02040503050406030204" pitchFamily="18" charset="0"/>
                <a:ea typeface="Cambria" panose="02040503050406030204" pitchFamily="18" charset="0"/>
                <a:cs typeface="Calibri" panose="020F0502020204030204" pitchFamily="34" charset="0"/>
              </a:rPr>
              <a:t> must be updated appropriately, otherwise the database will be in some inconsistent or wrong state. </a:t>
            </a:r>
          </a:p>
          <a:p>
            <a:pPr eaLnBrk="1" hangingPunct="1">
              <a:spcBef>
                <a:spcPts val="300"/>
              </a:spcBef>
              <a:defRPr/>
            </a:pPr>
            <a:r>
              <a:rPr lang="en-US" sz="2400" b="1" dirty="0">
                <a:solidFill>
                  <a:srgbClr val="0033CC"/>
                </a:solidFill>
                <a:latin typeface="Cambria" panose="02040503050406030204" pitchFamily="18" charset="0"/>
                <a:ea typeface="Cambria" panose="02040503050406030204" pitchFamily="18" charset="0"/>
                <a:cs typeface="Calibri" panose="020F0502020204030204" pitchFamily="34" charset="0"/>
              </a:rPr>
              <a:t>Example2:</a:t>
            </a:r>
            <a:r>
              <a:rPr lang="en-US" sz="2400" dirty="0">
                <a:solidFill>
                  <a:schemeClr val="tx2"/>
                </a:solidFill>
                <a:latin typeface="Cambria" panose="02040503050406030204" pitchFamily="18" charset="0"/>
                <a:ea typeface="Cambria" panose="02040503050406030204" pitchFamily="18" charset="0"/>
                <a:cs typeface="Calibri" panose="020F0502020204030204" pitchFamily="34" charset="0"/>
              </a:rPr>
              <a:t> </a:t>
            </a:r>
            <a:r>
              <a:rPr lang="en-US" sz="2400" dirty="0">
                <a:effectLst>
                  <a:outerShdw blurRad="38100" dist="38100" dir="2700000" algn="tl">
                    <a:srgbClr val="FFFFFF"/>
                  </a:outerShdw>
                </a:effectLst>
                <a:latin typeface="Cambria" panose="02040503050406030204" pitchFamily="18" charset="0"/>
                <a:ea typeface="Cambria" panose="02040503050406030204" pitchFamily="18" charset="0"/>
                <a:cs typeface="Calibri" panose="020F0502020204030204" pitchFamily="34" charset="0"/>
              </a:rPr>
              <a:t>Register credit sale of 100 units of product X to customer Y for $500</a:t>
            </a:r>
            <a:endParaRPr lang="en-US" dirty="0">
              <a:effectLst>
                <a:outerShdw blurRad="38100" dist="38100" dir="2700000" algn="tl">
                  <a:srgbClr val="FFFFFF"/>
                </a:outerShdw>
              </a:effectLst>
              <a:latin typeface="Cambria" panose="02040503050406030204" pitchFamily="18" charset="0"/>
              <a:ea typeface="Cambria" panose="02040503050406030204" pitchFamily="18" charset="0"/>
              <a:cs typeface="Calibri" panose="020F0502020204030204" pitchFamily="34" charset="0"/>
            </a:endParaRPr>
          </a:p>
          <a:p>
            <a:pPr lvl="1" eaLnBrk="1" hangingPunct="1">
              <a:spcBef>
                <a:spcPts val="300"/>
              </a:spcBef>
              <a:defRPr/>
            </a:pPr>
            <a:r>
              <a:rPr lang="en-US" sz="2000" dirty="0">
                <a:effectLst>
                  <a:outerShdw blurRad="38100" dist="38100" dir="2700000" algn="tl">
                    <a:srgbClr val="FFFFFF"/>
                  </a:outerShdw>
                </a:effectLst>
                <a:latin typeface="Cambria" panose="02040503050406030204" pitchFamily="18" charset="0"/>
                <a:ea typeface="Cambria" panose="02040503050406030204" pitchFamily="18" charset="0"/>
                <a:cs typeface="Calibri" panose="020F0502020204030204" pitchFamily="34" charset="0"/>
              </a:rPr>
              <a:t>Reduce product X’s quantity by 100</a:t>
            </a:r>
          </a:p>
          <a:p>
            <a:pPr lvl="1" eaLnBrk="1" hangingPunct="1">
              <a:spcBef>
                <a:spcPts val="300"/>
              </a:spcBef>
              <a:defRPr/>
            </a:pPr>
            <a:r>
              <a:rPr lang="en-US" sz="2000" dirty="0">
                <a:effectLst>
                  <a:outerShdw blurRad="38100" dist="38100" dir="2700000" algn="tl">
                    <a:srgbClr val="FFFFFF"/>
                  </a:outerShdw>
                </a:effectLst>
                <a:latin typeface="Cambria" panose="02040503050406030204" pitchFamily="18" charset="0"/>
                <a:ea typeface="Cambria" panose="02040503050406030204" pitchFamily="18" charset="0"/>
                <a:cs typeface="Calibri" panose="020F0502020204030204" pitchFamily="34" charset="0"/>
              </a:rPr>
              <a:t>Adding $500 to customer Y’s account receivable</a:t>
            </a:r>
          </a:p>
          <a:p>
            <a:pPr marL="347663" indent="-347663" algn="just">
              <a:spcBef>
                <a:spcPts val="300"/>
              </a:spcBef>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Rectangle 2">
            <a:extLst>
              <a:ext uri="{FF2B5EF4-FFF2-40B4-BE49-F238E27FC236}">
                <a16:creationId xmlns:a16="http://schemas.microsoft.com/office/drawing/2014/main" id="{C3BB93C6-0753-2B9F-32DE-DA62C0A42DA4}"/>
              </a:ext>
            </a:extLst>
          </p:cNvPr>
          <p:cNvSpPr>
            <a:spLocks noChangeArrowheads="1"/>
          </p:cNvSpPr>
          <p:nvPr/>
        </p:nvSpPr>
        <p:spPr bwMode="blackWhite">
          <a:xfrm>
            <a:off x="899592" y="4437112"/>
            <a:ext cx="7848872" cy="218624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spcBef>
                <a:spcPts val="600"/>
              </a:spcBef>
              <a:buFontTx/>
              <a:buNone/>
              <a:defRPr/>
            </a:pPr>
            <a:r>
              <a:rPr lang="en-US" sz="2000" dirty="0">
                <a:solidFill>
                  <a:srgbClr val="0033CC"/>
                </a:solidFill>
                <a:latin typeface="Cambria" panose="02040503050406030204" pitchFamily="18" charset="0"/>
                <a:ea typeface="Cambria" panose="02040503050406030204" pitchFamily="18" charset="0"/>
                <a:cs typeface="Courier New" pitchFamily="49" charset="0"/>
              </a:rPr>
              <a:t>UPDATE PRODUCT</a:t>
            </a:r>
            <a:br>
              <a:rPr lang="en-US" sz="2000" dirty="0">
                <a:latin typeface="Cambria" panose="02040503050406030204" pitchFamily="18" charset="0"/>
                <a:ea typeface="Cambria" panose="02040503050406030204" pitchFamily="18" charset="0"/>
                <a:cs typeface="Courier New" pitchFamily="49" charset="0"/>
              </a:rPr>
            </a:br>
            <a:r>
              <a:rPr lang="en-US" sz="2000" dirty="0">
                <a:latin typeface="Cambria" panose="02040503050406030204" pitchFamily="18" charset="0"/>
                <a:ea typeface="Cambria" panose="02040503050406030204" pitchFamily="18" charset="0"/>
                <a:cs typeface="Courier New" pitchFamily="49" charset="0"/>
              </a:rPr>
              <a:t>SET PROD_QTY = PROD_QTY - 100</a:t>
            </a:r>
            <a:br>
              <a:rPr lang="en-US" sz="2000" dirty="0">
                <a:latin typeface="Cambria" panose="02040503050406030204" pitchFamily="18" charset="0"/>
                <a:ea typeface="Cambria" panose="02040503050406030204" pitchFamily="18" charset="0"/>
                <a:cs typeface="Courier New" pitchFamily="49" charset="0"/>
              </a:rPr>
            </a:br>
            <a:r>
              <a:rPr lang="en-US" sz="2000" dirty="0">
                <a:latin typeface="Cambria" panose="02040503050406030204" pitchFamily="18" charset="0"/>
                <a:ea typeface="Cambria" panose="02040503050406030204" pitchFamily="18" charset="0"/>
                <a:cs typeface="Courier New" pitchFamily="49" charset="0"/>
              </a:rPr>
              <a:t>WHERE PROD_CODE = ‘X’;</a:t>
            </a:r>
          </a:p>
          <a:p>
            <a:pPr>
              <a:spcBef>
                <a:spcPts val="600"/>
              </a:spcBef>
              <a:buFontTx/>
              <a:buNone/>
              <a:defRPr/>
            </a:pPr>
            <a:r>
              <a:rPr lang="en-US" sz="2000" dirty="0">
                <a:solidFill>
                  <a:srgbClr val="0033CC"/>
                </a:solidFill>
                <a:latin typeface="Cambria" panose="02040503050406030204" pitchFamily="18" charset="0"/>
                <a:ea typeface="Cambria" panose="02040503050406030204" pitchFamily="18" charset="0"/>
                <a:cs typeface="Courier New" pitchFamily="49" charset="0"/>
              </a:rPr>
              <a:t>UPDATE ACCT_RECEIVABLE</a:t>
            </a:r>
          </a:p>
          <a:p>
            <a:pPr>
              <a:spcBef>
                <a:spcPts val="600"/>
              </a:spcBef>
              <a:buFontTx/>
              <a:buNone/>
              <a:defRPr/>
            </a:pPr>
            <a:r>
              <a:rPr lang="en-US" sz="2000" dirty="0">
                <a:latin typeface="Cambria" panose="02040503050406030204" pitchFamily="18" charset="0"/>
                <a:ea typeface="Cambria" panose="02040503050406030204" pitchFamily="18" charset="0"/>
                <a:cs typeface="Courier New" pitchFamily="49" charset="0"/>
              </a:rPr>
              <a:t>SET ACCT_BALANCE = ACCT_BALANCE + 500</a:t>
            </a:r>
            <a:br>
              <a:rPr lang="en-US" sz="2000" dirty="0">
                <a:latin typeface="Cambria" panose="02040503050406030204" pitchFamily="18" charset="0"/>
                <a:ea typeface="Cambria" panose="02040503050406030204" pitchFamily="18" charset="0"/>
                <a:cs typeface="Courier New" pitchFamily="49" charset="0"/>
              </a:rPr>
            </a:br>
            <a:r>
              <a:rPr lang="en-US" sz="2000" dirty="0">
                <a:latin typeface="Cambria" panose="02040503050406030204" pitchFamily="18" charset="0"/>
                <a:ea typeface="Cambria" panose="02040503050406030204" pitchFamily="18" charset="0"/>
                <a:cs typeface="Courier New" pitchFamily="49" charset="0"/>
              </a:rPr>
              <a:t>WHERE ACCT_NUM = ‘Y’;</a:t>
            </a:r>
          </a:p>
        </p:txBody>
      </p:sp>
    </p:spTree>
    <p:extLst>
      <p:ext uri="{BB962C8B-B14F-4D97-AF65-F5344CB8AC3E}">
        <p14:creationId xmlns:p14="http://schemas.microsoft.com/office/powerpoint/2010/main" val="10244230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3DEAA-90EF-3613-E6EB-708BA2097D0C}"/>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23BB7219-F312-730F-BA41-37C22404216F}"/>
              </a:ext>
            </a:extLst>
          </p:cNvPr>
          <p:cNvSpPr>
            <a:spLocks noGrp="1" noChangeArrowheads="1"/>
          </p:cNvSpPr>
          <p:nvPr>
            <p:ph type="title"/>
          </p:nvPr>
        </p:nvSpPr>
        <p:spPr>
          <a:xfrm>
            <a:off x="323850" y="159296"/>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Transaction Steps</a:t>
            </a:r>
          </a:p>
        </p:txBody>
      </p:sp>
      <p:sp>
        <p:nvSpPr>
          <p:cNvPr id="2" name="Content Placeholder 1">
            <a:extLst>
              <a:ext uri="{FF2B5EF4-FFF2-40B4-BE49-F238E27FC236}">
                <a16:creationId xmlns:a16="http://schemas.microsoft.com/office/drawing/2014/main" id="{D34E0FE1-2119-AB17-147A-0999F50FD9F5}"/>
              </a:ext>
            </a:extLst>
          </p:cNvPr>
          <p:cNvSpPr>
            <a:spLocks noGrp="1"/>
          </p:cNvSpPr>
          <p:nvPr>
            <p:ph sz="quarter" idx="1"/>
          </p:nvPr>
        </p:nvSpPr>
        <p:spPr>
          <a:xfrm>
            <a:off x="400050" y="649734"/>
            <a:ext cx="8492430" cy="6091634"/>
          </a:xfrm>
        </p:spPr>
        <p:txBody>
          <a:bodyPr/>
          <a:lstStyle/>
          <a:p>
            <a:pPr algn="just">
              <a:spcBef>
                <a:spcPts val="300"/>
              </a:spcBef>
              <a:defRPr/>
            </a:pPr>
            <a:r>
              <a:rPr lang="en-US" sz="2200" dirty="0">
                <a:latin typeface="Cambria" panose="02040503050406030204" pitchFamily="18" charset="0"/>
                <a:ea typeface="Cambria" panose="02040503050406030204" pitchFamily="18" charset="0"/>
              </a:rPr>
              <a:t>A simple UPDATE on </a:t>
            </a:r>
          </a:p>
          <a:p>
            <a:pPr marL="0" indent="0" algn="just">
              <a:spcBef>
                <a:spcPts val="300"/>
              </a:spcBef>
              <a:buNone/>
              <a:defRPr/>
            </a:pPr>
            <a:r>
              <a:rPr lang="en-US" sz="2200" dirty="0">
                <a:solidFill>
                  <a:srgbClr val="0033CC"/>
                </a:solidFill>
                <a:latin typeface="Cambria" panose="02040503050406030204" pitchFamily="18" charset="0"/>
                <a:ea typeface="Cambria" panose="02040503050406030204" pitchFamily="18" charset="0"/>
              </a:rPr>
              <a:t>"credits" </a:t>
            </a:r>
            <a:r>
              <a:rPr lang="en-US" sz="2200" dirty="0">
                <a:latin typeface="Cambria" panose="02040503050406030204" pitchFamily="18" charset="0"/>
                <a:ea typeface="Cambria" panose="02040503050406030204" pitchFamily="18" charset="0"/>
              </a:rPr>
              <a:t>field of a record </a:t>
            </a:r>
          </a:p>
          <a:p>
            <a:pPr marL="0" indent="0" algn="just">
              <a:spcBef>
                <a:spcPts val="300"/>
              </a:spcBef>
              <a:buNone/>
              <a:defRPr/>
            </a:pPr>
            <a:r>
              <a:rPr lang="en-US" sz="2200" dirty="0">
                <a:latin typeface="Cambria" panose="02040503050406030204" pitchFamily="18" charset="0"/>
                <a:ea typeface="Cambria" panose="02040503050406030204" pitchFamily="18" charset="0"/>
              </a:rPr>
              <a:t>involves the following steps:</a:t>
            </a:r>
          </a:p>
          <a:p>
            <a:pPr algn="just">
              <a:spcBef>
                <a:spcPts val="300"/>
              </a:spcBef>
              <a:buFont typeface="Wingdings" panose="05000000000000000000" pitchFamily="2" charset="2"/>
              <a:buChar char="ü"/>
              <a:defRPr/>
            </a:pPr>
            <a:r>
              <a:rPr lang="en-US" sz="2000" dirty="0">
                <a:latin typeface="Cambria" panose="02040503050406030204" pitchFamily="18" charset="0"/>
                <a:ea typeface="Cambria" panose="02040503050406030204" pitchFamily="18" charset="0"/>
              </a:rPr>
              <a:t>Locate the page containing </a:t>
            </a:r>
          </a:p>
          <a:p>
            <a:pPr marL="0" indent="0" algn="just">
              <a:spcBef>
                <a:spcPts val="300"/>
              </a:spcBef>
              <a:buNone/>
              <a:defRPr/>
            </a:pPr>
            <a:r>
              <a:rPr lang="en-US" sz="2000" dirty="0">
                <a:latin typeface="Cambria" panose="02040503050406030204" pitchFamily="18" charset="0"/>
                <a:ea typeface="Cambria" panose="02040503050406030204" pitchFamily="18" charset="0"/>
              </a:rPr>
              <a:t>     the appropriate record on disk.</a:t>
            </a:r>
          </a:p>
          <a:p>
            <a:pPr algn="just">
              <a:spcBef>
                <a:spcPts val="300"/>
              </a:spcBef>
              <a:buFont typeface="Wingdings" panose="05000000000000000000" pitchFamily="2" charset="2"/>
              <a:buChar char="ü"/>
              <a:defRPr/>
            </a:pPr>
            <a:r>
              <a:rPr lang="en-US" sz="2000" dirty="0">
                <a:latin typeface="Cambria" panose="02040503050406030204" pitchFamily="18" charset="0"/>
                <a:ea typeface="Cambria" panose="02040503050406030204" pitchFamily="18" charset="0"/>
              </a:rPr>
              <a:t>Bringing the page into the </a:t>
            </a:r>
          </a:p>
          <a:p>
            <a:pPr marL="0" indent="0" algn="just">
              <a:spcBef>
                <a:spcPts val="300"/>
              </a:spcBef>
              <a:buNone/>
              <a:defRPr/>
            </a:pPr>
            <a:r>
              <a:rPr lang="en-US" sz="2000" dirty="0">
                <a:latin typeface="Cambria" panose="02040503050406030204" pitchFamily="18" charset="0"/>
                <a:ea typeface="Cambria" panose="02040503050406030204" pitchFamily="18" charset="0"/>
              </a:rPr>
              <a:t>     database buffer.</a:t>
            </a:r>
          </a:p>
          <a:p>
            <a:pPr algn="just">
              <a:spcBef>
                <a:spcPts val="300"/>
              </a:spcBef>
              <a:buFont typeface="Wingdings" panose="05000000000000000000" pitchFamily="2" charset="2"/>
              <a:buChar char="ü"/>
              <a:defRPr/>
            </a:pPr>
            <a:r>
              <a:rPr lang="en-US" sz="2000" dirty="0">
                <a:latin typeface="Cambria" panose="02040503050406030204" pitchFamily="18" charset="0"/>
                <a:ea typeface="Cambria" panose="02040503050406030204" pitchFamily="18" charset="0"/>
              </a:rPr>
              <a:t>Rewriting the value of the </a:t>
            </a:r>
          </a:p>
          <a:p>
            <a:pPr marL="0" indent="0" algn="just">
              <a:spcBef>
                <a:spcPts val="300"/>
              </a:spcBef>
              <a:buNone/>
              <a:defRPr/>
            </a:pPr>
            <a:r>
              <a:rPr lang="en-US" sz="2000" dirty="0">
                <a:solidFill>
                  <a:srgbClr val="0033CC"/>
                </a:solidFill>
                <a:latin typeface="Cambria" panose="02040503050406030204" pitchFamily="18" charset="0"/>
                <a:ea typeface="Cambria" panose="02040503050406030204" pitchFamily="18" charset="0"/>
              </a:rPr>
              <a:t>     "credits"</a:t>
            </a:r>
            <a:r>
              <a:rPr lang="en-US" sz="2000" dirty="0">
                <a:latin typeface="Cambria" panose="02040503050406030204" pitchFamily="18" charset="0"/>
                <a:ea typeface="Cambria" panose="02040503050406030204" pitchFamily="18" charset="0"/>
              </a:rPr>
              <a:t> field in the record </a:t>
            </a:r>
          </a:p>
          <a:p>
            <a:pPr marL="0" indent="0" algn="just">
              <a:spcBef>
                <a:spcPts val="300"/>
              </a:spcBef>
              <a:buNone/>
              <a:defRPr/>
            </a:pPr>
            <a:r>
              <a:rPr lang="en-US" sz="2000" dirty="0">
                <a:latin typeface="Cambria" panose="02040503050406030204" pitchFamily="18" charset="0"/>
                <a:ea typeface="Cambria" panose="02040503050406030204" pitchFamily="18" charset="0"/>
              </a:rPr>
              <a:t>      in the buffer.</a:t>
            </a:r>
          </a:p>
          <a:p>
            <a:pPr algn="just">
              <a:spcBef>
                <a:spcPts val="300"/>
              </a:spcBef>
              <a:buFont typeface="Wingdings" panose="05000000000000000000" pitchFamily="2" charset="2"/>
              <a:buChar char="ü"/>
              <a:defRPr/>
            </a:pPr>
            <a:r>
              <a:rPr lang="en-US" sz="2000" dirty="0">
                <a:latin typeface="Cambria" panose="02040503050406030204" pitchFamily="18" charset="0"/>
                <a:ea typeface="Cambria" panose="02040503050406030204" pitchFamily="18" charset="0"/>
              </a:rPr>
              <a:t>Finally writing the updated page </a:t>
            </a:r>
          </a:p>
          <a:p>
            <a:pPr marL="0" indent="0" algn="just">
              <a:spcBef>
                <a:spcPts val="300"/>
              </a:spcBef>
              <a:buNone/>
              <a:defRPr/>
            </a:pPr>
            <a:r>
              <a:rPr lang="en-US" sz="2000" dirty="0">
                <a:latin typeface="Cambria" panose="02040503050406030204" pitchFamily="18" charset="0"/>
                <a:ea typeface="Cambria" panose="02040503050406030204" pitchFamily="18" charset="0"/>
              </a:rPr>
              <a:t>     out to disk.</a:t>
            </a:r>
          </a:p>
          <a:p>
            <a:pPr algn="just">
              <a:spcBef>
                <a:spcPts val="300"/>
              </a:spcBef>
              <a:defRPr/>
            </a:pPr>
            <a:r>
              <a:rPr lang="en-US" sz="2200" dirty="0">
                <a:latin typeface="Cambria" panose="02040503050406030204" pitchFamily="18" charset="0"/>
                <a:ea typeface="Cambria" panose="02040503050406030204" pitchFamily="18" charset="0"/>
              </a:rPr>
              <a:t>A complex transaction</a:t>
            </a:r>
          </a:p>
          <a:p>
            <a:pPr marL="0" indent="0" algn="just">
              <a:spcBef>
                <a:spcPts val="300"/>
              </a:spcBef>
              <a:buNone/>
              <a:defRPr/>
            </a:pPr>
            <a:r>
              <a:rPr lang="en-US" sz="2200" dirty="0">
                <a:latin typeface="Cambria" panose="02040503050406030204" pitchFamily="18" charset="0"/>
                <a:ea typeface="Cambria" panose="02040503050406030204" pitchFamily="18" charset="0"/>
              </a:rPr>
              <a:t>involves multiple DML ops.</a:t>
            </a:r>
          </a:p>
          <a:p>
            <a:pPr marL="0" indent="0" algn="just">
              <a:spcBef>
                <a:spcPts val="300"/>
              </a:spcBef>
              <a:buNone/>
              <a:defRPr/>
            </a:pPr>
            <a:r>
              <a:rPr lang="en-US" sz="2200" dirty="0">
                <a:latin typeface="Cambria" panose="02040503050406030204" pitchFamily="18" charset="0"/>
                <a:ea typeface="Cambria" panose="02040503050406030204" pitchFamily="18" charset="0"/>
              </a:rPr>
              <a:t>on multiple table(s) resulting</a:t>
            </a:r>
          </a:p>
          <a:p>
            <a:pPr marL="0" indent="0" algn="just">
              <a:spcBef>
                <a:spcPts val="300"/>
              </a:spcBef>
              <a:buNone/>
              <a:defRPr/>
            </a:pPr>
            <a:r>
              <a:rPr lang="en-US" sz="2200" dirty="0">
                <a:latin typeface="Cambria" panose="02040503050406030204" pitchFamily="18" charset="0"/>
                <a:ea typeface="Cambria" panose="02040503050406030204" pitchFamily="18" charset="0"/>
              </a:rPr>
              <a:t>in  a temporary inconsistent state.</a:t>
            </a:r>
          </a:p>
        </p:txBody>
      </p:sp>
      <p:pic>
        <p:nvPicPr>
          <p:cNvPr id="4" name="Picture 3">
            <a:extLst>
              <a:ext uri="{FF2B5EF4-FFF2-40B4-BE49-F238E27FC236}">
                <a16:creationId xmlns:a16="http://schemas.microsoft.com/office/drawing/2014/main" id="{007CB6ED-AF3B-6074-1564-D5089E289EA2}"/>
              </a:ext>
            </a:extLst>
          </p:cNvPr>
          <p:cNvPicPr>
            <a:picLocks noChangeAspect="1"/>
          </p:cNvPicPr>
          <p:nvPr/>
        </p:nvPicPr>
        <p:blipFill>
          <a:blip r:embed="rId2"/>
          <a:stretch>
            <a:fillRect/>
          </a:stretch>
        </p:blipFill>
        <p:spPr>
          <a:xfrm>
            <a:off x="4499992" y="165909"/>
            <a:ext cx="4536504" cy="5927387"/>
          </a:xfrm>
          <a:prstGeom prst="rect">
            <a:avLst/>
          </a:prstGeom>
        </p:spPr>
      </p:pic>
      <p:sp>
        <p:nvSpPr>
          <p:cNvPr id="3" name="Footer Placeholder 2">
            <a:extLst>
              <a:ext uri="{FF2B5EF4-FFF2-40B4-BE49-F238E27FC236}">
                <a16:creationId xmlns:a16="http://schemas.microsoft.com/office/drawing/2014/main" id="{513FA9DC-0AFA-53B7-2D32-950619B17019}"/>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9D07C1CC-8896-1329-0874-19CC3CD66ACD}"/>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49537293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D3FA8-762B-BF09-F68B-647814A5482F}"/>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B727558A-A399-9FAA-89BB-69B4A55F0272}"/>
              </a:ext>
            </a:extLst>
          </p:cNvPr>
          <p:cNvSpPr>
            <a:spLocks noGrp="1" noChangeArrowheads="1"/>
          </p:cNvSpPr>
          <p:nvPr>
            <p:ph type="title"/>
          </p:nvPr>
        </p:nvSpPr>
        <p:spPr>
          <a:xfrm>
            <a:off x="323850" y="159296"/>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Transaction Processing</a:t>
            </a:r>
          </a:p>
        </p:txBody>
      </p:sp>
      <p:sp>
        <p:nvSpPr>
          <p:cNvPr id="2" name="Content Placeholder 1">
            <a:extLst>
              <a:ext uri="{FF2B5EF4-FFF2-40B4-BE49-F238E27FC236}">
                <a16:creationId xmlns:a16="http://schemas.microsoft.com/office/drawing/2014/main" id="{B90F84A3-5438-C54A-84A0-877956A24CFD}"/>
              </a:ext>
            </a:extLst>
          </p:cNvPr>
          <p:cNvSpPr>
            <a:spLocks noGrp="1"/>
          </p:cNvSpPr>
          <p:nvPr>
            <p:ph sz="quarter" idx="1"/>
          </p:nvPr>
        </p:nvSpPr>
        <p:spPr>
          <a:xfrm>
            <a:off x="400050" y="692696"/>
            <a:ext cx="8492430" cy="6091634"/>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There can be one of two possible outcomes of a transaction: </a:t>
            </a:r>
          </a:p>
          <a:p>
            <a:pPr marL="457200" indent="-457200" algn="just">
              <a:spcBef>
                <a:spcPts val="300"/>
              </a:spcBef>
              <a:buAutoNum type="arabicPeriod"/>
              <a:defRPr/>
            </a:pPr>
            <a:r>
              <a:rPr lang="en-US" sz="2400" b="1" dirty="0">
                <a:solidFill>
                  <a:srgbClr val="0033CC"/>
                </a:solidFill>
                <a:latin typeface="Cambria" panose="02040503050406030204" pitchFamily="18" charset="0"/>
                <a:ea typeface="Cambria" panose="02040503050406030204" pitchFamily="18" charset="0"/>
              </a:rPr>
              <a:t>Committed:</a:t>
            </a:r>
            <a:r>
              <a:rPr lang="en-US" sz="2400" dirty="0">
                <a:latin typeface="Cambria" panose="02040503050406030204" pitchFamily="18" charset="0"/>
                <a:ea typeface="Cambria" panose="02040503050406030204" pitchFamily="18" charset="0"/>
              </a:rPr>
              <a:t> A successful completion of a transaction will bring the database into a new consistent state.</a:t>
            </a:r>
          </a:p>
          <a:p>
            <a:pPr marL="457200" indent="-457200" algn="just">
              <a:spcBef>
                <a:spcPts val="300"/>
              </a:spcBef>
              <a:buAutoNum type="arabicPeriod"/>
              <a:defRPr/>
            </a:pPr>
            <a:r>
              <a:rPr lang="en-US" sz="2400" b="1" dirty="0">
                <a:solidFill>
                  <a:srgbClr val="0033CC"/>
                </a:solidFill>
                <a:latin typeface="Cambria" panose="02040503050406030204" pitchFamily="18" charset="0"/>
                <a:ea typeface="Cambria" panose="02040503050406030204" pitchFamily="18" charset="0"/>
              </a:rPr>
              <a:t>Aborted:</a:t>
            </a:r>
            <a:r>
              <a:rPr lang="en-US" sz="2400" dirty="0">
                <a:latin typeface="Cambria" panose="02040503050406030204" pitchFamily="18" charset="0"/>
                <a:ea typeface="Cambria" panose="02040503050406030204" pitchFamily="18" charset="0"/>
              </a:rPr>
              <a:t> An incomplete transaction will leave the database in some inconsistent state.</a:t>
            </a:r>
          </a:p>
          <a:p>
            <a:pPr algn="just">
              <a:spcBef>
                <a:spcPts val="300"/>
              </a:spcBef>
              <a:defRPr/>
            </a:pPr>
            <a:r>
              <a:rPr lang="en-US" sz="2400" dirty="0">
                <a:latin typeface="Cambria" panose="02040503050406030204" pitchFamily="18" charset="0"/>
                <a:ea typeface="Cambria" panose="02040503050406030204" pitchFamily="18" charset="0"/>
              </a:rPr>
              <a:t>From 1 &amp; 2, it can be concluded that a transaction must be entirely completed or entirely aborted.</a:t>
            </a:r>
          </a:p>
          <a:p>
            <a:pPr algn="just">
              <a:spcBef>
                <a:spcPts val="300"/>
              </a:spcBef>
              <a:defRPr/>
            </a:pPr>
            <a:r>
              <a:rPr lang="en-US" sz="2400" dirty="0">
                <a:latin typeface="Cambria" panose="02040503050406030204" pitchFamily="18" charset="0"/>
                <a:ea typeface="Cambria" panose="02040503050406030204" pitchFamily="18" charset="0"/>
              </a:rPr>
              <a:t>An </a:t>
            </a:r>
            <a:r>
              <a:rPr lang="en-US" sz="2400" dirty="0">
                <a:solidFill>
                  <a:srgbClr val="0033CC"/>
                </a:solidFill>
                <a:latin typeface="Cambria" panose="02040503050406030204" pitchFamily="18" charset="0"/>
                <a:ea typeface="Cambria" panose="02040503050406030204" pitchFamily="18" charset="0"/>
              </a:rPr>
              <a:t>aborted</a:t>
            </a:r>
            <a:r>
              <a:rPr lang="en-US" sz="2400" dirty="0">
                <a:latin typeface="Cambria" panose="02040503050406030204" pitchFamily="18" charset="0"/>
                <a:ea typeface="Cambria" panose="02040503050406030204" pitchFamily="18" charset="0"/>
              </a:rPr>
              <a:t> transaction must be </a:t>
            </a:r>
            <a:r>
              <a:rPr lang="en-US" sz="2400" dirty="0">
                <a:solidFill>
                  <a:srgbClr val="0033CC"/>
                </a:solidFill>
                <a:latin typeface="Cambria" panose="02040503050406030204" pitchFamily="18" charset="0"/>
                <a:ea typeface="Cambria" panose="02040503050406030204" pitchFamily="18" charset="0"/>
              </a:rPr>
              <a:t>undone or rolled backed</a:t>
            </a:r>
            <a:r>
              <a:rPr lang="en-US" sz="2400" dirty="0">
                <a:latin typeface="Cambria" panose="02040503050406030204" pitchFamily="18" charset="0"/>
                <a:ea typeface="Cambria" panose="02040503050406030204" pitchFamily="18" charset="0"/>
              </a:rPr>
              <a:t> to keep the database in some consistent state. </a:t>
            </a:r>
          </a:p>
          <a:p>
            <a:pPr algn="just">
              <a:spcBef>
                <a:spcPts val="300"/>
              </a:spcBef>
              <a:defRPr/>
            </a:pPr>
            <a:r>
              <a:rPr lang="en-US" sz="2400" dirty="0">
                <a:latin typeface="Cambria" panose="02040503050406030204" pitchFamily="18" charset="0"/>
                <a:ea typeface="Cambria" panose="02040503050406030204" pitchFamily="18" charset="0"/>
              </a:rPr>
              <a:t>A system component called </a:t>
            </a:r>
            <a:r>
              <a:rPr lang="en-US" sz="2400" dirty="0">
                <a:solidFill>
                  <a:srgbClr val="0033CC"/>
                </a:solidFill>
                <a:latin typeface="Cambria" panose="02040503050406030204" pitchFamily="18" charset="0"/>
                <a:ea typeface="Cambria" panose="02040503050406030204" pitchFamily="18" charset="0"/>
              </a:rPr>
              <a:t>Transaction Manager or Recovery Manager</a:t>
            </a:r>
            <a:r>
              <a:rPr lang="en-US" sz="2400" dirty="0">
                <a:latin typeface="Cambria" panose="02040503050406030204" pitchFamily="18" charset="0"/>
                <a:ea typeface="Cambria" panose="02040503050406030204" pitchFamily="18" charset="0"/>
              </a:rPr>
              <a:t> supports the above feature.</a:t>
            </a:r>
          </a:p>
          <a:p>
            <a:pPr algn="just">
              <a:spcBef>
                <a:spcPts val="300"/>
              </a:spcBef>
              <a:defRPr/>
            </a:pPr>
            <a:r>
              <a:rPr lang="en-US" sz="2400" dirty="0">
                <a:latin typeface="Cambria" panose="02040503050406030204" pitchFamily="18" charset="0"/>
                <a:ea typeface="Cambria" panose="02040503050406030204" pitchFamily="18" charset="0"/>
              </a:rPr>
              <a:t>Statements for transaction processing include </a:t>
            </a:r>
            <a:r>
              <a:rPr lang="en-US" sz="2400" dirty="0">
                <a:solidFill>
                  <a:srgbClr val="0033CC"/>
                </a:solidFill>
                <a:latin typeface="Cambria" panose="02040503050406030204" pitchFamily="18" charset="0"/>
                <a:ea typeface="Cambria" panose="02040503050406030204" pitchFamily="18" charset="0"/>
              </a:rPr>
              <a:t>COMMIT, ROLLBACK, </a:t>
            </a:r>
            <a:r>
              <a:rPr lang="en-US" sz="2400" dirty="0">
                <a:latin typeface="Cambria" panose="02040503050406030204" pitchFamily="18" charset="0"/>
                <a:ea typeface="Cambria" panose="02040503050406030204" pitchFamily="18" charset="0"/>
              </a:rPr>
              <a:t>and </a:t>
            </a:r>
            <a:r>
              <a:rPr lang="en-US" sz="2400" dirty="0">
                <a:solidFill>
                  <a:srgbClr val="0033CC"/>
                </a:solidFill>
                <a:latin typeface="Cambria" panose="02040503050406030204" pitchFamily="18" charset="0"/>
                <a:ea typeface="Cambria" panose="02040503050406030204" pitchFamily="18" charset="0"/>
              </a:rPr>
              <a:t>SVEPOINT.</a:t>
            </a:r>
          </a:p>
        </p:txBody>
      </p:sp>
      <p:sp>
        <p:nvSpPr>
          <p:cNvPr id="3" name="Footer Placeholder 2">
            <a:extLst>
              <a:ext uri="{FF2B5EF4-FFF2-40B4-BE49-F238E27FC236}">
                <a16:creationId xmlns:a16="http://schemas.microsoft.com/office/drawing/2014/main" id="{76AF9C49-C507-3EA1-DC62-920FDE90E639}"/>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5C494B1C-284A-6269-CC1E-79D813F14AF0}"/>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149559968"/>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9A23D-5ECE-1EB4-565F-01A7392161E6}"/>
            </a:ext>
          </a:extLst>
        </p:cNvPr>
        <p:cNvGrpSpPr/>
        <p:nvPr/>
      </p:nvGrpSpPr>
      <p:grpSpPr>
        <a:xfrm>
          <a:off x="0" y="0"/>
          <a:ext cx="0" cy="0"/>
          <a:chOff x="0" y="0"/>
          <a:chExt cx="0" cy="0"/>
        </a:xfrm>
      </p:grpSpPr>
      <p:pic>
        <p:nvPicPr>
          <p:cNvPr id="4" name="Picture 1026">
            <a:extLst>
              <a:ext uri="{FF2B5EF4-FFF2-40B4-BE49-F238E27FC236}">
                <a16:creationId xmlns:a16="http://schemas.microsoft.com/office/drawing/2014/main" id="{A2BD9E5D-477B-9BD9-D627-45EE5F6A68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39749"/>
            <a:ext cx="8229600" cy="589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2">
            <a:extLst>
              <a:ext uri="{FF2B5EF4-FFF2-40B4-BE49-F238E27FC236}">
                <a16:creationId xmlns:a16="http://schemas.microsoft.com/office/drawing/2014/main" id="{A19E1FAD-6A50-63DC-CC0A-04307B58112A}"/>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Slide Number Placeholder 23">
            <a:extLst>
              <a:ext uri="{FF2B5EF4-FFF2-40B4-BE49-F238E27FC236}">
                <a16:creationId xmlns:a16="http://schemas.microsoft.com/office/drawing/2014/main" id="{AA86EB7A-F66C-1B73-FC6A-3650FCD3DE4A}"/>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12818726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6BBB6-E390-6A41-4200-119E5BC73F70}"/>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7A19E099-FB56-AF74-AD82-E0B1F497A522}"/>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Transaction Properties</a:t>
            </a:r>
          </a:p>
        </p:txBody>
      </p:sp>
      <p:sp>
        <p:nvSpPr>
          <p:cNvPr id="4" name="Slide Number Placeholder 4">
            <a:extLst>
              <a:ext uri="{FF2B5EF4-FFF2-40B4-BE49-F238E27FC236}">
                <a16:creationId xmlns:a16="http://schemas.microsoft.com/office/drawing/2014/main" id="{3600E3B6-BF3D-4B73-368A-BDA330C0B547}"/>
              </a:ext>
            </a:extLst>
          </p:cNvPr>
          <p:cNvSpPr txBox="1">
            <a:spLocks noGrp="1"/>
          </p:cNvSpPr>
          <p:nvPr/>
        </p:nvSpPr>
        <p:spPr bwMode="auto">
          <a:xfrm>
            <a:off x="6337176" y="6049094"/>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D514766C-DD3D-4242-9919-FA5B13102B3E}" type="slidenum">
              <a:rPr lang="en-US" altLang="en-US" sz="1200"/>
              <a:pPr algn="r" eaLnBrk="1" hangingPunct="1">
                <a:spcBef>
                  <a:spcPct val="0"/>
                </a:spcBef>
                <a:buFontTx/>
                <a:buNone/>
              </a:pPr>
              <a:t>7</a:t>
            </a:fld>
            <a:endParaRPr lang="en-US" altLang="en-US" sz="1200"/>
          </a:p>
        </p:txBody>
      </p:sp>
      <p:sp>
        <p:nvSpPr>
          <p:cNvPr id="5" name="Rectangle 2">
            <a:extLst>
              <a:ext uri="{FF2B5EF4-FFF2-40B4-BE49-F238E27FC236}">
                <a16:creationId xmlns:a16="http://schemas.microsoft.com/office/drawing/2014/main" id="{D0A12E15-1E7E-A6F5-8A00-3A4339572024}"/>
              </a:ext>
            </a:extLst>
          </p:cNvPr>
          <p:cNvSpPr txBox="1">
            <a:spLocks noChangeArrowheads="1"/>
          </p:cNvSpPr>
          <p:nvPr/>
        </p:nvSpPr>
        <p:spPr bwMode="auto">
          <a:xfrm>
            <a:off x="469776" y="1248494"/>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lvl="2" eaLnBrk="1" hangingPunct="1">
              <a:buFontTx/>
              <a:buNone/>
              <a:defRPr/>
            </a:pPr>
            <a:endParaRPr lang="en-US" sz="2400">
              <a:effectLst>
                <a:outerShdw blurRad="38100" dist="38100" dir="2700000" algn="tl">
                  <a:srgbClr val="FFFFFF"/>
                </a:outerShdw>
              </a:effectLst>
            </a:endParaRPr>
          </a:p>
          <a:p>
            <a:pPr lvl="2" eaLnBrk="1" hangingPunct="1">
              <a:buFontTx/>
              <a:buNone/>
              <a:defRPr/>
            </a:pPr>
            <a:endParaRPr lang="en-US" sz="2400">
              <a:effectLst>
                <a:outerShdw blurRad="38100" dist="38100" dir="2700000" algn="tl">
                  <a:srgbClr val="FFFFFF"/>
                </a:outerShdw>
              </a:effectLst>
            </a:endParaRPr>
          </a:p>
          <a:p>
            <a:pPr lvl="2" eaLnBrk="1" hangingPunct="1">
              <a:buFontTx/>
              <a:buNone/>
              <a:defRPr/>
            </a:pPr>
            <a:endParaRPr lang="en-US" sz="2400">
              <a:effectLst>
                <a:outerShdw blurRad="38100" dist="38100" dir="2700000" algn="tl">
                  <a:srgbClr val="FFFFFF"/>
                </a:outerShdw>
              </a:effectLst>
            </a:endParaRPr>
          </a:p>
          <a:p>
            <a:pPr lvl="2" eaLnBrk="1" hangingPunct="1">
              <a:buFontTx/>
              <a:buNone/>
              <a:defRPr/>
            </a:pPr>
            <a:endParaRPr lang="en-US" sz="2400">
              <a:effectLst>
                <a:outerShdw blurRad="38100" dist="38100" dir="2700000" algn="tl">
                  <a:srgbClr val="FFFFFF"/>
                </a:outerShdw>
              </a:effectLst>
            </a:endParaRPr>
          </a:p>
        </p:txBody>
      </p:sp>
      <p:pic>
        <p:nvPicPr>
          <p:cNvPr id="6" name="Picture 5">
            <a:extLst>
              <a:ext uri="{FF2B5EF4-FFF2-40B4-BE49-F238E27FC236}">
                <a16:creationId xmlns:a16="http://schemas.microsoft.com/office/drawing/2014/main" id="{F68C5455-E37B-DC44-F4F4-9106BA79B9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776" y="715094"/>
            <a:ext cx="77724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7" name="Picture 7">
            <a:extLst>
              <a:ext uri="{FF2B5EF4-FFF2-40B4-BE49-F238E27FC236}">
                <a16:creationId xmlns:a16="http://schemas.microsoft.com/office/drawing/2014/main" id="{1018B87D-6D6C-824A-5303-EFDEB3A281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776" y="3229694"/>
            <a:ext cx="77724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8" name="Picture 8">
            <a:extLst>
              <a:ext uri="{FF2B5EF4-FFF2-40B4-BE49-F238E27FC236}">
                <a16:creationId xmlns:a16="http://schemas.microsoft.com/office/drawing/2014/main" id="{66AD47D4-B634-3FB2-D2EB-D6AE39E6F4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776" y="3991694"/>
            <a:ext cx="77724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9" name="Picture 9">
            <a:extLst>
              <a:ext uri="{FF2B5EF4-FFF2-40B4-BE49-F238E27FC236}">
                <a16:creationId xmlns:a16="http://schemas.microsoft.com/office/drawing/2014/main" id="{F2BA1382-6BF8-F19A-DE32-205280881AD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544" y="1318220"/>
            <a:ext cx="7772400"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 name="Footer Placeholder 2">
            <a:extLst>
              <a:ext uri="{FF2B5EF4-FFF2-40B4-BE49-F238E27FC236}">
                <a16:creationId xmlns:a16="http://schemas.microsoft.com/office/drawing/2014/main" id="{6B057AF9-5C78-74C0-3A0F-9DDC67198B22}"/>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Slide Number Placeholder 23">
            <a:extLst>
              <a:ext uri="{FF2B5EF4-FFF2-40B4-BE49-F238E27FC236}">
                <a16:creationId xmlns:a16="http://schemas.microsoft.com/office/drawing/2014/main" id="{9374744F-1A47-9860-13C3-3B6EFAEB48E7}"/>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27293037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836BB-D263-0A4B-6E40-9C923BEC9606}"/>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C52BBFE1-8700-9823-A39D-754C8BA3123D}"/>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Transaction Properties</a:t>
            </a:r>
          </a:p>
        </p:txBody>
      </p:sp>
      <p:pic>
        <p:nvPicPr>
          <p:cNvPr id="2" name="Picture 4">
            <a:extLst>
              <a:ext uri="{FF2B5EF4-FFF2-40B4-BE49-F238E27FC236}">
                <a16:creationId xmlns:a16="http://schemas.microsoft.com/office/drawing/2014/main" id="{DAA3685C-3394-8DD7-531C-BDE13118B3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692696"/>
            <a:ext cx="8153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 name="Picture 5">
            <a:extLst>
              <a:ext uri="{FF2B5EF4-FFF2-40B4-BE49-F238E27FC236}">
                <a16:creationId xmlns:a16="http://schemas.microsoft.com/office/drawing/2014/main" id="{616F37D6-2D39-D252-A557-78391AD719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470248"/>
            <a:ext cx="81534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 name="Footer Placeholder 2">
            <a:extLst>
              <a:ext uri="{FF2B5EF4-FFF2-40B4-BE49-F238E27FC236}">
                <a16:creationId xmlns:a16="http://schemas.microsoft.com/office/drawing/2014/main" id="{80567B6F-6381-287B-15D2-9BCF09FE3AA8}"/>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4B85C447-08C5-338C-A237-101105C10F4B}"/>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06274594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6E8CD-72AD-CF14-FBA4-6506BE637A34}"/>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E9491176-FDE5-F90A-839B-5B993343344B}"/>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Transaction Properties</a:t>
            </a:r>
          </a:p>
        </p:txBody>
      </p:sp>
      <p:pic>
        <p:nvPicPr>
          <p:cNvPr id="4" name="Picture 5">
            <a:extLst>
              <a:ext uri="{FF2B5EF4-FFF2-40B4-BE49-F238E27FC236}">
                <a16:creationId xmlns:a16="http://schemas.microsoft.com/office/drawing/2014/main" id="{D5D4F8BB-6D02-0D80-91BB-7166D5CB21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760005"/>
            <a:ext cx="762000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5" name="Picture 7">
            <a:extLst>
              <a:ext uri="{FF2B5EF4-FFF2-40B4-BE49-F238E27FC236}">
                <a16:creationId xmlns:a16="http://schemas.microsoft.com/office/drawing/2014/main" id="{87743F91-0CDB-BBE0-2D88-965BD09204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426755"/>
            <a:ext cx="76200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 name="Footer Placeholder 2">
            <a:extLst>
              <a:ext uri="{FF2B5EF4-FFF2-40B4-BE49-F238E27FC236}">
                <a16:creationId xmlns:a16="http://schemas.microsoft.com/office/drawing/2014/main" id="{A2AA4D29-06E3-5DC1-CCE8-206855CE0B98}"/>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Slide Number Placeholder 23">
            <a:extLst>
              <a:ext uri="{FF2B5EF4-FFF2-40B4-BE49-F238E27FC236}">
                <a16:creationId xmlns:a16="http://schemas.microsoft.com/office/drawing/2014/main" id="{F1B6DBF1-2E4B-8E1D-819B-7C90D7C71C83}"/>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69330324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ABA52-D2B1-D731-E524-7BE0E3D52217}"/>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2A9A4CE5-DBE3-9B2C-64D2-69B7C2D283F3}"/>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3200" b="1" u="sng" dirty="0">
                <a:solidFill>
                  <a:srgbClr val="D34817"/>
                </a:solidFill>
                <a:latin typeface="Calibri" panose="020F0502020204030204" pitchFamily="34" charset="0"/>
              </a:rPr>
              <a:t>Transaction Properties</a:t>
            </a:r>
          </a:p>
        </p:txBody>
      </p:sp>
      <p:sp>
        <p:nvSpPr>
          <p:cNvPr id="2" name="Content Placeholder 1">
            <a:extLst>
              <a:ext uri="{FF2B5EF4-FFF2-40B4-BE49-F238E27FC236}">
                <a16:creationId xmlns:a16="http://schemas.microsoft.com/office/drawing/2014/main" id="{C9D15CCB-3F11-3B16-5892-3FE4FB4AF04E}"/>
              </a:ext>
            </a:extLst>
          </p:cNvPr>
          <p:cNvSpPr>
            <a:spLocks noGrp="1"/>
          </p:cNvSpPr>
          <p:nvPr>
            <p:ph sz="quarter" idx="1"/>
          </p:nvPr>
        </p:nvSpPr>
        <p:spPr>
          <a:xfrm>
            <a:off x="251520" y="692696"/>
            <a:ext cx="8492430" cy="864096"/>
          </a:xfrm>
        </p:spPr>
        <p:txBody>
          <a:bodyPr/>
          <a:lstStyle/>
          <a:p>
            <a:pPr marL="347663" indent="-347663" algn="just">
              <a:buClr>
                <a:srgbClr val="723900"/>
              </a:buClr>
              <a:defRPr/>
            </a:pPr>
            <a:r>
              <a:rPr lang="en-US" sz="2400" dirty="0">
                <a:latin typeface="Cambria" panose="02040503050406030204" pitchFamily="18" charset="0"/>
                <a:ea typeface="Cambria" panose="02040503050406030204" pitchFamily="18" charset="0"/>
                <a:cs typeface="Calibri" panose="020F0502020204030204" pitchFamily="34" charset="0"/>
              </a:rPr>
              <a:t>The following transaction transfers funds from account A to account B. Let the values of account A and B are 1000$ and 2000$ respectively.</a:t>
            </a: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1200"/>
              </a:spcBef>
              <a:buClr>
                <a:srgbClr val="7239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Content Placeholder 1">
            <a:extLst>
              <a:ext uri="{FF2B5EF4-FFF2-40B4-BE49-F238E27FC236}">
                <a16:creationId xmlns:a16="http://schemas.microsoft.com/office/drawing/2014/main" id="{2519037D-41CD-BAF4-DE48-801C67BB7B5A}"/>
              </a:ext>
            </a:extLst>
          </p:cNvPr>
          <p:cNvSpPr txBox="1">
            <a:spLocks/>
          </p:cNvSpPr>
          <p:nvPr/>
        </p:nvSpPr>
        <p:spPr bwMode="auto">
          <a:xfrm>
            <a:off x="7087766" y="1566601"/>
            <a:ext cx="1656184" cy="2232248"/>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176213" marR="0" lvl="1" indent="0" algn="l" defTabSz="914400" rtl="0" eaLnBrk="0" fontAlgn="base" latinLnBrk="0" hangingPunct="0">
              <a:lnSpc>
                <a:spcPct val="100000"/>
              </a:lnSpc>
              <a:spcBef>
                <a:spcPts val="200"/>
              </a:spcBef>
              <a:spcAft>
                <a:spcPct val="0"/>
              </a:spcAft>
              <a:buClr>
                <a:srgbClr val="9B2D1F"/>
              </a:buClr>
              <a:buSzPct val="85000"/>
              <a:buFont typeface="Wingdings 2" panose="05020102010507070707" pitchFamily="18" charset="2"/>
              <a:buNone/>
              <a:tabLst/>
              <a:defRPr/>
            </a:pPr>
            <a:r>
              <a:rPr kumimoji="0" lang="en-US" sz="20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rPr>
              <a:t>read(</a:t>
            </a:r>
            <a:r>
              <a:rPr kumimoji="0" lang="en-US" sz="2000" b="0" i="1"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rPr>
              <a:t>A</a:t>
            </a:r>
            <a:r>
              <a:rPr kumimoji="0" lang="en-US" sz="20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rPr>
              <a:t>);</a:t>
            </a:r>
          </a:p>
          <a:p>
            <a:pPr marL="176213" marR="0" lvl="1" indent="0" algn="l" defTabSz="914400" rtl="0" eaLnBrk="0" fontAlgn="base" latinLnBrk="0" hangingPunct="0">
              <a:lnSpc>
                <a:spcPct val="100000"/>
              </a:lnSpc>
              <a:spcBef>
                <a:spcPts val="200"/>
              </a:spcBef>
              <a:spcAft>
                <a:spcPct val="0"/>
              </a:spcAft>
              <a:buClr>
                <a:srgbClr val="9B2D1F"/>
              </a:buClr>
              <a:buSzPct val="85000"/>
              <a:buFont typeface="Wingdings 2" panose="05020102010507070707" pitchFamily="18" charset="2"/>
              <a:buNone/>
              <a:tabLst/>
              <a:defRPr/>
            </a:pPr>
            <a:r>
              <a:rPr kumimoji="0" lang="en-US" sz="2000" b="0" i="1"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rPr>
              <a:t>A </a:t>
            </a:r>
            <a:r>
              <a:rPr kumimoji="0" lang="en-US" sz="20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rPr>
              <a:t>:= </a:t>
            </a:r>
            <a:r>
              <a:rPr kumimoji="0" lang="en-US" sz="2000" b="0" i="1"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rPr>
              <a:t>A </a:t>
            </a:r>
            <a:r>
              <a:rPr kumimoji="0" lang="en-US" sz="20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rPr>
              <a:t>− 50;</a:t>
            </a:r>
          </a:p>
          <a:p>
            <a:pPr marL="176213" marR="0" lvl="1" indent="0" algn="l" defTabSz="914400" rtl="0" eaLnBrk="0" fontAlgn="base" latinLnBrk="0" hangingPunct="0">
              <a:lnSpc>
                <a:spcPct val="100000"/>
              </a:lnSpc>
              <a:spcBef>
                <a:spcPts val="200"/>
              </a:spcBef>
              <a:spcAft>
                <a:spcPct val="0"/>
              </a:spcAft>
              <a:buClr>
                <a:srgbClr val="9B2D1F"/>
              </a:buClr>
              <a:buSzPct val="85000"/>
              <a:buFont typeface="Wingdings 2" panose="05020102010507070707" pitchFamily="18" charset="2"/>
              <a:buNone/>
              <a:tabLst/>
              <a:defRPr/>
            </a:pPr>
            <a:r>
              <a:rPr kumimoji="0" lang="en-US" sz="20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rPr>
              <a:t>write(</a:t>
            </a:r>
            <a:r>
              <a:rPr kumimoji="0" lang="en-US" sz="2000" b="0" i="1"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rPr>
              <a:t>A</a:t>
            </a:r>
            <a:r>
              <a:rPr kumimoji="0" lang="en-US" sz="20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rPr>
              <a:t>);</a:t>
            </a:r>
          </a:p>
          <a:p>
            <a:pPr marL="176213" marR="0" lvl="1" indent="0" algn="l" defTabSz="914400" rtl="0" eaLnBrk="0" fontAlgn="base" latinLnBrk="0" hangingPunct="0">
              <a:lnSpc>
                <a:spcPct val="100000"/>
              </a:lnSpc>
              <a:spcBef>
                <a:spcPts val="200"/>
              </a:spcBef>
              <a:spcAft>
                <a:spcPct val="0"/>
              </a:spcAft>
              <a:buClr>
                <a:srgbClr val="9B2D1F"/>
              </a:buClr>
              <a:buSzPct val="85000"/>
              <a:buFont typeface="Wingdings 2" panose="05020102010507070707" pitchFamily="18" charset="2"/>
              <a:buNone/>
              <a:tabLst/>
              <a:defRPr/>
            </a:pPr>
            <a:r>
              <a:rPr kumimoji="0" lang="en-US" sz="20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rPr>
              <a:t>read(</a:t>
            </a:r>
            <a:r>
              <a:rPr kumimoji="0" lang="en-US" sz="2000" b="0" i="1"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rPr>
              <a:t>B</a:t>
            </a:r>
            <a:r>
              <a:rPr kumimoji="0" lang="en-US" sz="20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rPr>
              <a:t>);</a:t>
            </a:r>
          </a:p>
          <a:p>
            <a:pPr marL="176213" marR="0" lvl="1" indent="0" algn="l" defTabSz="914400" rtl="0" eaLnBrk="0" fontAlgn="base" latinLnBrk="0" hangingPunct="0">
              <a:lnSpc>
                <a:spcPct val="100000"/>
              </a:lnSpc>
              <a:spcBef>
                <a:spcPts val="200"/>
              </a:spcBef>
              <a:spcAft>
                <a:spcPct val="0"/>
              </a:spcAft>
              <a:buClr>
                <a:srgbClr val="9B2D1F"/>
              </a:buClr>
              <a:buSzPct val="85000"/>
              <a:buFont typeface="Wingdings 2" panose="05020102010507070707" pitchFamily="18" charset="2"/>
              <a:buNone/>
              <a:tabLst/>
              <a:defRPr/>
            </a:pPr>
            <a:r>
              <a:rPr kumimoji="0" lang="en-US" sz="2000" b="0" i="1"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rPr>
              <a:t>B </a:t>
            </a:r>
            <a:r>
              <a:rPr kumimoji="0" lang="en-US" sz="20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rPr>
              <a:t>:= </a:t>
            </a:r>
            <a:r>
              <a:rPr kumimoji="0" lang="en-US" sz="2000" b="0" i="1"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rPr>
              <a:t>B </a:t>
            </a:r>
            <a:r>
              <a:rPr kumimoji="0" lang="en-US" sz="20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rPr>
              <a:t>+ 50;</a:t>
            </a:r>
          </a:p>
          <a:p>
            <a:pPr marL="176213" marR="0" lvl="1" indent="0" algn="l" defTabSz="914400" rtl="0" eaLnBrk="0" fontAlgn="base" latinLnBrk="0" hangingPunct="0">
              <a:lnSpc>
                <a:spcPct val="100000"/>
              </a:lnSpc>
              <a:spcBef>
                <a:spcPts val="200"/>
              </a:spcBef>
              <a:spcAft>
                <a:spcPct val="0"/>
              </a:spcAft>
              <a:buClr>
                <a:srgbClr val="9B2D1F"/>
              </a:buClr>
              <a:buSzPct val="85000"/>
              <a:buFont typeface="Wingdings 2" panose="05020102010507070707" pitchFamily="18" charset="2"/>
              <a:buNone/>
              <a:tabLst/>
              <a:defRPr/>
            </a:pPr>
            <a:r>
              <a:rPr kumimoji="0" lang="en-US" sz="20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rPr>
              <a:t>write(</a:t>
            </a:r>
            <a:r>
              <a:rPr kumimoji="0" lang="en-US" sz="2000" b="0" i="1"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rPr>
              <a:t>B</a:t>
            </a:r>
            <a:r>
              <a:rPr kumimoji="0" lang="en-US" sz="20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rPr>
              <a:t>).</a:t>
            </a:r>
            <a:endParaRPr kumimoji="0" lang="en-US" sz="20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5" name="Content Placeholder 1">
            <a:extLst>
              <a:ext uri="{FF2B5EF4-FFF2-40B4-BE49-F238E27FC236}">
                <a16:creationId xmlns:a16="http://schemas.microsoft.com/office/drawing/2014/main" id="{95CA9B5F-F347-92D9-D35F-D805B254E818}"/>
              </a:ext>
            </a:extLst>
          </p:cNvPr>
          <p:cNvSpPr txBox="1">
            <a:spLocks/>
          </p:cNvSpPr>
          <p:nvPr/>
        </p:nvSpPr>
        <p:spPr bwMode="auto">
          <a:xfrm>
            <a:off x="226940" y="1844824"/>
            <a:ext cx="6649315" cy="2232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1313" lvl="1" indent="-285750" algn="just">
              <a:spcBef>
                <a:spcPts val="300"/>
              </a:spcBef>
              <a:buClr>
                <a:srgbClr val="9B2D1F"/>
              </a:buClr>
            </a:pPr>
            <a:r>
              <a:rPr lang="en-US" sz="2000" dirty="0">
                <a:solidFill>
                  <a:prstClr val="black"/>
                </a:solidFill>
                <a:latin typeface="Cambria" panose="02040503050406030204" pitchFamily="18" charset="0"/>
                <a:ea typeface="Cambria" panose="02040503050406030204" pitchFamily="18" charset="0"/>
                <a:cs typeface="Calibri" panose="020F0502020204030204" pitchFamily="34" charset="0"/>
              </a:rPr>
              <a:t>While a transaction is in progress, the database may </a:t>
            </a:r>
            <a:r>
              <a:rPr lang="en-US" sz="2000" u="sng" dirty="0">
                <a:solidFill>
                  <a:srgbClr val="FF0000"/>
                </a:solidFill>
                <a:latin typeface="Cambria" panose="02040503050406030204" pitchFamily="18" charset="0"/>
                <a:ea typeface="Cambria" panose="02040503050406030204" pitchFamily="18" charset="0"/>
                <a:cs typeface="Calibri" panose="020F0502020204030204" pitchFamily="34" charset="0"/>
              </a:rPr>
              <a:t>temporarily be in some inconsistent state.</a:t>
            </a:r>
            <a:r>
              <a:rPr lang="en-US" sz="2000" dirty="0">
                <a:solidFill>
                  <a:prstClr val="black"/>
                </a:solidFill>
                <a:latin typeface="Cambria" panose="02040503050406030204" pitchFamily="18" charset="0"/>
                <a:ea typeface="Cambria" panose="02040503050406030204" pitchFamily="18" charset="0"/>
                <a:cs typeface="Calibri" panose="020F0502020204030204" pitchFamily="34" charset="0"/>
              </a:rPr>
              <a:t> </a:t>
            </a:r>
          </a:p>
          <a:p>
            <a:pPr marL="341313" lvl="1" indent="-285750" algn="just">
              <a:spcBef>
                <a:spcPts val="300"/>
              </a:spcBef>
              <a:buClr>
                <a:srgbClr val="9B2D1F"/>
              </a:buClr>
            </a:pPr>
            <a:r>
              <a:rPr lang="en-US" sz="2000" dirty="0">
                <a:solidFill>
                  <a:prstClr val="black"/>
                </a:solidFill>
                <a:latin typeface="Cambria" panose="02040503050406030204" pitchFamily="18" charset="0"/>
                <a:ea typeface="Cambria" panose="02040503050406030204" pitchFamily="18" charset="0"/>
                <a:cs typeface="Calibri" panose="020F0502020204030204" pitchFamily="34" charset="0"/>
              </a:rPr>
              <a:t>Suppose that failure occurred after </a:t>
            </a:r>
            <a:r>
              <a:rPr kumimoji="0" 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write(</a:t>
            </a:r>
            <a:r>
              <a:rPr kumimoji="0" lang="en-US" sz="2000" b="0" i="1"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a:t>
            </a:r>
            <a:r>
              <a:rPr kumimoji="0" 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It will leave the system in inconsistent state permanently unless some corrective measures are taken. </a:t>
            </a:r>
          </a:p>
          <a:p>
            <a:pPr marL="341313" lvl="1" indent="-285750" algn="just">
              <a:spcBef>
                <a:spcPts val="300"/>
              </a:spcBef>
              <a:buClr>
                <a:srgbClr val="9B2D1F"/>
              </a:buClr>
            </a:pPr>
            <a:r>
              <a:rPr kumimoji="0" lang="en-US" sz="2000" b="1"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Atomicity</a:t>
            </a:r>
            <a:r>
              <a:rPr kumimoji="0" 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disallows the aforementioned scenario. </a:t>
            </a:r>
          </a:p>
          <a:p>
            <a:pPr marL="341313" lvl="1" indent="-285750" algn="just">
              <a:spcBef>
                <a:spcPts val="300"/>
              </a:spcBef>
              <a:buClr>
                <a:srgbClr val="9B2D1F"/>
              </a:buClr>
            </a:pPr>
            <a:r>
              <a:rPr kumimoji="0" lang="en-US" sz="2000" b="1"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Consistency: </a:t>
            </a:r>
            <a:r>
              <a:rPr kumimoji="0" 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Sum of A and B remains unchanged. </a:t>
            </a:r>
          </a:p>
          <a:p>
            <a:pPr marL="400050" lvl="1" indent="0">
              <a:spcBef>
                <a:spcPts val="300"/>
              </a:spcBef>
              <a:buClr>
                <a:srgbClr val="9B2D1F"/>
              </a:buClr>
              <a:buNone/>
            </a:pPr>
            <a:endParaRPr lang="en-US" sz="2000" dirty="0">
              <a:solidFill>
                <a:prstClr val="black"/>
              </a:solidFill>
              <a:latin typeface="Cambria" panose="02040503050406030204" pitchFamily="18" charset="0"/>
              <a:ea typeface="Cambria" panose="02040503050406030204" pitchFamily="18" charset="0"/>
              <a:cs typeface="Calibri" panose="020F0502020204030204" pitchFamily="34" charset="0"/>
            </a:endParaRPr>
          </a:p>
        </p:txBody>
      </p:sp>
      <p:sp>
        <p:nvSpPr>
          <p:cNvPr id="4" name="Content Placeholder 1">
            <a:extLst>
              <a:ext uri="{FF2B5EF4-FFF2-40B4-BE49-F238E27FC236}">
                <a16:creationId xmlns:a16="http://schemas.microsoft.com/office/drawing/2014/main" id="{151A3D48-2ACF-67A8-9DA8-81FAF27F50AE}"/>
              </a:ext>
            </a:extLst>
          </p:cNvPr>
          <p:cNvSpPr txBox="1">
            <a:spLocks/>
          </p:cNvSpPr>
          <p:nvPr/>
        </p:nvSpPr>
        <p:spPr bwMode="auto">
          <a:xfrm>
            <a:off x="217781" y="4149080"/>
            <a:ext cx="8492430" cy="2232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1313" lvl="1" indent="-285750" algn="just">
              <a:spcBef>
                <a:spcPts val="300"/>
              </a:spcBef>
              <a:buClr>
                <a:srgbClr val="9B2D1F"/>
              </a:buClr>
            </a:pPr>
            <a:r>
              <a:rPr kumimoji="0" lang="en-US" sz="2000" b="1"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Isolation: </a:t>
            </a:r>
            <a:r>
              <a:rPr kumimoji="0" 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Even if the consistency and atomicity properties are ensured for each transaction, if several transactions are executed </a:t>
            </a:r>
            <a:r>
              <a:rPr kumimoji="0" lang="en-US" sz="20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concurrently,</a:t>
            </a:r>
            <a:r>
              <a:rPr kumimoji="0" 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their operations may interleave in some undesirable way, resulting in an inconsistent state.</a:t>
            </a:r>
          </a:p>
          <a:p>
            <a:pPr marL="341313" lvl="1" indent="-285750" algn="just">
              <a:spcBef>
                <a:spcPts val="300"/>
              </a:spcBef>
              <a:buClr>
                <a:srgbClr val="9B2D1F"/>
              </a:buClr>
            </a:pPr>
            <a:r>
              <a:rPr kumimoji="0" lang="en-US" sz="2000" b="1"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Durability: </a:t>
            </a:r>
            <a:r>
              <a:rPr kumimoji="0" 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Once, COMMIT is issued in the transaction, the updates in the accounts will sustain, in spite of subsequent failures. </a:t>
            </a:r>
            <a:endParaRPr lang="en-US" sz="2000" dirty="0">
              <a:solidFill>
                <a:prstClr val="black"/>
              </a:solidFill>
              <a:latin typeface="Cambria" panose="02040503050406030204" pitchFamily="18" charset="0"/>
              <a:ea typeface="Cambria" panose="02040503050406030204" pitchFamily="18" charset="0"/>
              <a:cs typeface="Calibri" panose="020F0502020204030204" pitchFamily="34" charset="0"/>
            </a:endParaRPr>
          </a:p>
        </p:txBody>
      </p:sp>
      <p:sp>
        <p:nvSpPr>
          <p:cNvPr id="6" name="Footer Placeholder 2">
            <a:extLst>
              <a:ext uri="{FF2B5EF4-FFF2-40B4-BE49-F238E27FC236}">
                <a16:creationId xmlns:a16="http://schemas.microsoft.com/office/drawing/2014/main" id="{EF360A86-DE31-72B9-4BB7-B0176C7B72A6}"/>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7" name="Slide Number Placeholder 23">
            <a:extLst>
              <a:ext uri="{FF2B5EF4-FFF2-40B4-BE49-F238E27FC236}">
                <a16:creationId xmlns:a16="http://schemas.microsoft.com/office/drawing/2014/main" id="{6794CFE0-7A44-EFDC-6450-D495F1BD890D}"/>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467158562"/>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F5F41-B801-E478-F74E-8A935CE8BF86}"/>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205BA462-7A81-A534-FE4B-16863EB44161}"/>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Transaction Management</a:t>
            </a:r>
          </a:p>
        </p:txBody>
      </p:sp>
      <p:sp>
        <p:nvSpPr>
          <p:cNvPr id="2" name="Footer Placeholder 2">
            <a:extLst>
              <a:ext uri="{FF2B5EF4-FFF2-40B4-BE49-F238E27FC236}">
                <a16:creationId xmlns:a16="http://schemas.microsoft.com/office/drawing/2014/main" id="{BFC714A7-4EB0-AE6F-8777-44476323EA91}"/>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Slide Number Placeholder 23">
            <a:extLst>
              <a:ext uri="{FF2B5EF4-FFF2-40B4-BE49-F238E27FC236}">
                <a16:creationId xmlns:a16="http://schemas.microsoft.com/office/drawing/2014/main" id="{0353B9FC-6A26-3121-39A9-43C681DAE81C}"/>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6" name="Picture 2">
            <a:extLst>
              <a:ext uri="{FF2B5EF4-FFF2-40B4-BE49-F238E27FC236}">
                <a16:creationId xmlns:a16="http://schemas.microsoft.com/office/drawing/2014/main" id="{0A20B4B6-742D-433C-1568-A0AA03FF63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1124744"/>
            <a:ext cx="4983162" cy="398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AutoShape 4">
            <a:extLst>
              <a:ext uri="{FF2B5EF4-FFF2-40B4-BE49-F238E27FC236}">
                <a16:creationId xmlns:a16="http://schemas.microsoft.com/office/drawing/2014/main" id="{2EC6B74D-C833-4E56-9392-ABE124368D76}"/>
              </a:ext>
            </a:extLst>
          </p:cNvPr>
          <p:cNvSpPr txBox="1">
            <a:spLocks noChangeArrowheads="1"/>
          </p:cNvSpPr>
          <p:nvPr/>
        </p:nvSpPr>
        <p:spPr bwMode="auto">
          <a:xfrm>
            <a:off x="2268538" y="5109369"/>
            <a:ext cx="1511300" cy="860425"/>
          </a:xfrm>
          <a:prstGeom prst="flowChartMagneticDisk">
            <a:avLst/>
          </a:prstGeom>
          <a:solidFill>
            <a:schemeClr val="accent1"/>
          </a:solidFill>
          <a:ln>
            <a:solidFill>
              <a:schemeClr val="tx1"/>
            </a:solidFill>
            <a:miter lim="800000"/>
            <a:headEnd/>
            <a:tailEnd/>
          </a:ln>
        </p:spPr>
        <p:txBody>
          <a:bodyPr vert="horz" wrap="none" lIns="91440" tIns="45720" rIns="91440" bIns="45720" numCol="1" anchor="ctr"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algn="ctr">
              <a:buFontTx/>
              <a:buNone/>
            </a:pPr>
            <a:r>
              <a:rPr lang="en-US" altLang="en-US" sz="2000">
                <a:latin typeface="Times New Roman" panose="02020603050405020304" pitchFamily="18" charset="0"/>
              </a:rPr>
              <a:t>Database</a:t>
            </a:r>
          </a:p>
        </p:txBody>
      </p:sp>
    </p:spTree>
    <p:extLst>
      <p:ext uri="{BB962C8B-B14F-4D97-AF65-F5344CB8AC3E}">
        <p14:creationId xmlns:p14="http://schemas.microsoft.com/office/powerpoint/2010/main" val="170883715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7D1E4-4D4B-5FDF-CFF1-52243DD1A981}"/>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CEBB8229-89EA-6407-EAE5-384B00D848E2}"/>
              </a:ext>
            </a:extLst>
          </p:cNvPr>
          <p:cNvSpPr>
            <a:spLocks noGrp="1" noChangeArrowheads="1"/>
          </p:cNvSpPr>
          <p:nvPr>
            <p:ph type="title"/>
          </p:nvPr>
        </p:nvSpPr>
        <p:spPr>
          <a:xfrm>
            <a:off x="323850" y="159296"/>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Buffer Management</a:t>
            </a:r>
          </a:p>
        </p:txBody>
      </p:sp>
      <p:sp>
        <p:nvSpPr>
          <p:cNvPr id="2" name="Content Placeholder 1">
            <a:extLst>
              <a:ext uri="{FF2B5EF4-FFF2-40B4-BE49-F238E27FC236}">
                <a16:creationId xmlns:a16="http://schemas.microsoft.com/office/drawing/2014/main" id="{70E01800-8038-F4F3-E804-84331CEF57F2}"/>
              </a:ext>
            </a:extLst>
          </p:cNvPr>
          <p:cNvSpPr>
            <a:spLocks noGrp="1"/>
          </p:cNvSpPr>
          <p:nvPr>
            <p:ph sz="quarter" idx="1"/>
          </p:nvPr>
        </p:nvSpPr>
        <p:spPr>
          <a:xfrm>
            <a:off x="400050" y="620688"/>
            <a:ext cx="8492430" cy="6091634"/>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An DML operation can be regarded as permanent only after the contents of </a:t>
            </a:r>
            <a:r>
              <a:rPr lang="en-US" sz="2400" dirty="0">
                <a:solidFill>
                  <a:srgbClr val="0033CC"/>
                </a:solidFill>
                <a:latin typeface="Cambria" panose="02040503050406030204" pitchFamily="18" charset="0"/>
                <a:ea typeface="Cambria" panose="02040503050406030204" pitchFamily="18" charset="0"/>
              </a:rPr>
              <a:t>memory buffer</a:t>
            </a:r>
            <a:r>
              <a:rPr lang="en-US" sz="2400" dirty="0">
                <a:latin typeface="Cambria" panose="02040503050406030204" pitchFamily="18" charset="0"/>
                <a:ea typeface="Cambria" panose="02040503050406030204" pitchFamily="18" charset="0"/>
              </a:rPr>
              <a:t> are flushed to secondary storage. </a:t>
            </a:r>
          </a:p>
          <a:p>
            <a:pPr algn="just">
              <a:spcBef>
                <a:spcPts val="300"/>
              </a:spcBef>
              <a:defRPr/>
            </a:pPr>
            <a:r>
              <a:rPr lang="en-US" sz="2400" dirty="0">
                <a:latin typeface="Cambria" panose="02040503050406030204" pitchFamily="18" charset="0"/>
                <a:ea typeface="Cambria" panose="02040503050406030204" pitchFamily="18" charset="0"/>
              </a:rPr>
              <a:t>There might be a delay between the commit and the actual disk writing. Because updates made to buffer pages are not immediately written to disk. If there is a system failure during this delay, the system must be able to ensure that these updates reach the disk copy of the database.  </a:t>
            </a:r>
          </a:p>
          <a:p>
            <a:pPr algn="just">
              <a:spcBef>
                <a:spcPts val="300"/>
              </a:spcBef>
              <a:defRPr/>
            </a:pPr>
            <a:r>
              <a:rPr lang="en-US" sz="2400" dirty="0">
                <a:latin typeface="Cambria" panose="02040503050406030204" pitchFamily="18" charset="0"/>
                <a:ea typeface="Cambria" panose="02040503050406030204" pitchFamily="18" charset="0"/>
              </a:rPr>
              <a:t>The flushing of the buffers to the database can be triggered by a specific command </a:t>
            </a:r>
            <a:r>
              <a:rPr lang="en-US" sz="2400" dirty="0">
                <a:solidFill>
                  <a:srgbClr val="0033CC"/>
                </a:solidFill>
                <a:latin typeface="Cambria" panose="02040503050406030204" pitchFamily="18" charset="0"/>
                <a:ea typeface="Cambria" panose="02040503050406030204" pitchFamily="18" charset="0"/>
              </a:rPr>
              <a:t>(COMMIT)</a:t>
            </a:r>
            <a:r>
              <a:rPr lang="en-US" sz="2400" dirty="0">
                <a:latin typeface="Cambria" panose="02040503050406030204" pitchFamily="18" charset="0"/>
                <a:ea typeface="Cambria" panose="02040503050406030204" pitchFamily="18" charset="0"/>
              </a:rPr>
              <a:t> or automatically when the buffers become full. The explicit writing of the buffers to secondary storage is known as </a:t>
            </a:r>
            <a:r>
              <a:rPr lang="en-US" sz="2400" dirty="0">
                <a:solidFill>
                  <a:srgbClr val="0033CC"/>
                </a:solidFill>
                <a:latin typeface="Cambria" panose="02040503050406030204" pitchFamily="18" charset="0"/>
                <a:ea typeface="Cambria" panose="02040503050406030204" pitchFamily="18" charset="0"/>
              </a:rPr>
              <a:t>force-writing.</a:t>
            </a:r>
          </a:p>
          <a:p>
            <a:pPr algn="just">
              <a:spcBef>
                <a:spcPts val="300"/>
              </a:spcBef>
              <a:defRPr/>
            </a:pPr>
            <a:r>
              <a:rPr lang="en-US" sz="2400" dirty="0">
                <a:latin typeface="Cambria" panose="02040503050406030204" pitchFamily="18" charset="0"/>
                <a:ea typeface="Cambria" panose="02040503050406030204" pitchFamily="18" charset="0"/>
              </a:rPr>
              <a:t>For efficient buffer management, </a:t>
            </a:r>
            <a:r>
              <a:rPr lang="en-US" sz="2400" dirty="0">
                <a:solidFill>
                  <a:srgbClr val="FF0000"/>
                </a:solidFill>
                <a:latin typeface="Cambria" panose="02040503050406030204" pitchFamily="18" charset="0"/>
                <a:ea typeface="Cambria" panose="02040503050406030204" pitchFamily="18" charset="0"/>
              </a:rPr>
              <a:t>Present / absent bit, Dirty bit, </a:t>
            </a:r>
            <a:r>
              <a:rPr lang="en-US" sz="2400" dirty="0">
                <a:latin typeface="Cambria" panose="02040503050406030204" pitchFamily="18" charset="0"/>
                <a:ea typeface="Cambria" panose="02040503050406030204" pitchFamily="18" charset="0"/>
              </a:rPr>
              <a:t>and</a:t>
            </a:r>
            <a:r>
              <a:rPr lang="en-US" sz="2400" dirty="0">
                <a:solidFill>
                  <a:srgbClr val="FF0000"/>
                </a:solidFill>
                <a:latin typeface="Cambria" panose="02040503050406030204" pitchFamily="18" charset="0"/>
                <a:ea typeface="Cambria" panose="02040503050406030204" pitchFamily="18" charset="0"/>
              </a:rPr>
              <a:t> Page replacement algorithms are employed.</a:t>
            </a:r>
          </a:p>
        </p:txBody>
      </p:sp>
      <p:sp>
        <p:nvSpPr>
          <p:cNvPr id="3" name="Footer Placeholder 2">
            <a:extLst>
              <a:ext uri="{FF2B5EF4-FFF2-40B4-BE49-F238E27FC236}">
                <a16:creationId xmlns:a16="http://schemas.microsoft.com/office/drawing/2014/main" id="{F1C67AED-03DA-7C67-4A27-6A8E42ED9EF4}"/>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F6E1D59D-9BC7-BCAC-FD8D-29FE9DEC3136}"/>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64535745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28C75-B564-6E5B-80D6-84225ECFB4B6}"/>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3F982369-E1A5-6B74-CA94-3CA81F5FB614}"/>
              </a:ext>
            </a:extLst>
          </p:cNvPr>
          <p:cNvSpPr>
            <a:spLocks noGrp="1" noChangeArrowheads="1"/>
          </p:cNvSpPr>
          <p:nvPr>
            <p:ph type="title"/>
          </p:nvPr>
        </p:nvSpPr>
        <p:spPr>
          <a:xfrm>
            <a:off x="323850" y="188640"/>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Database Recovery</a:t>
            </a:r>
          </a:p>
        </p:txBody>
      </p:sp>
      <p:sp>
        <p:nvSpPr>
          <p:cNvPr id="2" name="Content Placeholder 1">
            <a:extLst>
              <a:ext uri="{FF2B5EF4-FFF2-40B4-BE49-F238E27FC236}">
                <a16:creationId xmlns:a16="http://schemas.microsoft.com/office/drawing/2014/main" id="{61378347-7551-F041-D9AF-35ECE23EF3CE}"/>
              </a:ext>
            </a:extLst>
          </p:cNvPr>
          <p:cNvSpPr>
            <a:spLocks noGrp="1"/>
          </p:cNvSpPr>
          <p:nvPr>
            <p:ph sz="quarter" idx="1"/>
          </p:nvPr>
        </p:nvSpPr>
        <p:spPr>
          <a:xfrm>
            <a:off x="400050" y="620688"/>
            <a:ext cx="8492430" cy="6091634"/>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Database recovery is a process of restoring a database from a given state, usually inconsistent, to some consistent (correct) state in the event of a failure.</a:t>
            </a:r>
          </a:p>
          <a:p>
            <a:pPr algn="just">
              <a:spcBef>
                <a:spcPts val="300"/>
              </a:spcBef>
              <a:defRPr/>
            </a:pPr>
            <a:r>
              <a:rPr lang="en-US" sz="2400" dirty="0">
                <a:latin typeface="Cambria" panose="02040503050406030204" pitchFamily="18" charset="0"/>
                <a:ea typeface="Cambria" panose="02040503050406030204" pitchFamily="18" charset="0"/>
              </a:rPr>
              <a:t>The </a:t>
            </a:r>
            <a:r>
              <a:rPr lang="en-US" sz="2400" dirty="0">
                <a:solidFill>
                  <a:srgbClr val="0033CC"/>
                </a:solidFill>
                <a:latin typeface="Cambria" panose="02040503050406030204" pitchFamily="18" charset="0"/>
                <a:ea typeface="Cambria" panose="02040503050406030204" pitchFamily="18" charset="0"/>
              </a:rPr>
              <a:t>recovery manager</a:t>
            </a:r>
            <a:r>
              <a:rPr lang="en-US" sz="2400" dirty="0">
                <a:latin typeface="Cambria" panose="02040503050406030204" pitchFamily="18" charset="0"/>
                <a:ea typeface="Cambria" panose="02040503050406030204" pitchFamily="18" charset="0"/>
              </a:rPr>
              <a:t> of a DBMS is responsible for ensuring two important properties of a transaction: </a:t>
            </a:r>
            <a:r>
              <a:rPr lang="en-US" sz="2400" dirty="0">
                <a:solidFill>
                  <a:srgbClr val="0033CC"/>
                </a:solidFill>
                <a:latin typeface="Cambria" panose="02040503050406030204" pitchFamily="18" charset="0"/>
                <a:ea typeface="Cambria" panose="02040503050406030204" pitchFamily="18" charset="0"/>
              </a:rPr>
              <a:t>Atomicity and Durability. </a:t>
            </a:r>
          </a:p>
          <a:p>
            <a:pPr algn="just">
              <a:spcBef>
                <a:spcPts val="300"/>
              </a:spcBef>
              <a:defRPr/>
            </a:pPr>
            <a:r>
              <a:rPr lang="en-US" sz="2400" dirty="0">
                <a:latin typeface="Cambria" panose="02040503050406030204" pitchFamily="18" charset="0"/>
                <a:ea typeface="Cambria" panose="02040503050406030204" pitchFamily="18" charset="0"/>
              </a:rPr>
              <a:t>It ensures </a:t>
            </a:r>
            <a:r>
              <a:rPr lang="en-US" sz="2400" dirty="0">
                <a:solidFill>
                  <a:srgbClr val="0033CC"/>
                </a:solidFill>
                <a:latin typeface="Cambria" panose="02040503050406030204" pitchFamily="18" charset="0"/>
                <a:ea typeface="Cambria" panose="02040503050406030204" pitchFamily="18" charset="0"/>
              </a:rPr>
              <a:t>atomicity</a:t>
            </a:r>
            <a:r>
              <a:rPr lang="en-US" sz="2400" dirty="0">
                <a:latin typeface="Cambria" panose="02040503050406030204" pitchFamily="18" charset="0"/>
                <a:ea typeface="Cambria" panose="02040503050406030204" pitchFamily="18" charset="0"/>
              </a:rPr>
              <a:t> by undoing the actions of transactions that do not commit </a:t>
            </a:r>
            <a:r>
              <a:rPr lang="en-US" sz="2400" dirty="0">
                <a:solidFill>
                  <a:srgbClr val="0033CC"/>
                </a:solidFill>
                <a:latin typeface="Cambria" panose="02040503050406030204" pitchFamily="18" charset="0"/>
                <a:ea typeface="Cambria" panose="02040503050406030204" pitchFamily="18" charset="0"/>
              </a:rPr>
              <a:t>(Roll Backward or Undo)</a:t>
            </a:r>
          </a:p>
          <a:p>
            <a:pPr algn="just">
              <a:spcBef>
                <a:spcPts val="300"/>
              </a:spcBef>
              <a:defRPr/>
            </a:pPr>
            <a:r>
              <a:rPr lang="en-US" sz="2400" dirty="0">
                <a:latin typeface="Cambria" panose="02040503050406030204" pitchFamily="18" charset="0"/>
                <a:ea typeface="Cambria" panose="02040503050406030204" pitchFamily="18" charset="0"/>
              </a:rPr>
              <a:t>It ensure </a:t>
            </a:r>
            <a:r>
              <a:rPr lang="en-US" sz="2400" dirty="0">
                <a:solidFill>
                  <a:srgbClr val="0033CC"/>
                </a:solidFill>
                <a:latin typeface="Cambria" panose="02040503050406030204" pitchFamily="18" charset="0"/>
                <a:ea typeface="Cambria" panose="02040503050406030204" pitchFamily="18" charset="0"/>
              </a:rPr>
              <a:t>durability</a:t>
            </a:r>
            <a:r>
              <a:rPr lang="en-US" sz="2400" dirty="0">
                <a:latin typeface="Cambria" panose="02040503050406030204" pitchFamily="18" charset="0"/>
                <a:ea typeface="Cambria" panose="02040503050406030204" pitchFamily="18" charset="0"/>
              </a:rPr>
              <a:t> by making sure that all actions of committed transactions survive even if the system crashes </a:t>
            </a:r>
            <a:r>
              <a:rPr lang="en-US" sz="2400" dirty="0">
                <a:solidFill>
                  <a:srgbClr val="0033CC"/>
                </a:solidFill>
                <a:latin typeface="Cambria" panose="02040503050406030204" pitchFamily="18" charset="0"/>
                <a:ea typeface="Cambria" panose="02040503050406030204" pitchFamily="18" charset="0"/>
              </a:rPr>
              <a:t>(Roll Forward or Redo).</a:t>
            </a:r>
          </a:p>
          <a:p>
            <a:pPr algn="just">
              <a:spcBef>
                <a:spcPts val="300"/>
              </a:spcBef>
              <a:defRPr/>
            </a:pPr>
            <a:r>
              <a:rPr lang="en-US" sz="2400" dirty="0">
                <a:latin typeface="Cambria" panose="02040503050406030204" pitchFamily="18" charset="0"/>
                <a:ea typeface="Cambria" panose="02040503050406030204" pitchFamily="18" charset="0"/>
              </a:rPr>
              <a:t>There are the following database recovery techniques:</a:t>
            </a:r>
          </a:p>
          <a:p>
            <a:pPr marL="731838" lvl="1" indent="-457200" algn="just">
              <a:spcBef>
                <a:spcPts val="300"/>
              </a:spcBef>
              <a:buFont typeface="+mj-lt"/>
              <a:buAutoNum type="arabicPeriod"/>
              <a:defRPr/>
            </a:pPr>
            <a:r>
              <a:rPr lang="en-US" dirty="0">
                <a:solidFill>
                  <a:srgbClr val="FF0000"/>
                </a:solidFill>
                <a:latin typeface="Cambria" panose="02040503050406030204" pitchFamily="18" charset="0"/>
                <a:ea typeface="Cambria" panose="02040503050406030204" pitchFamily="18" charset="0"/>
              </a:rPr>
              <a:t>Backup mechanism</a:t>
            </a:r>
          </a:p>
          <a:p>
            <a:pPr marL="731838" lvl="1" indent="-457200" algn="just">
              <a:spcBef>
                <a:spcPts val="300"/>
              </a:spcBef>
              <a:buFont typeface="+mj-lt"/>
              <a:buAutoNum type="arabicPeriod"/>
              <a:defRPr/>
            </a:pPr>
            <a:r>
              <a:rPr lang="en-US" dirty="0">
                <a:solidFill>
                  <a:srgbClr val="FF0000"/>
                </a:solidFill>
                <a:latin typeface="Cambria" panose="02040503050406030204" pitchFamily="18" charset="0"/>
                <a:ea typeface="Cambria" panose="02040503050406030204" pitchFamily="18" charset="0"/>
              </a:rPr>
              <a:t>Logging facility</a:t>
            </a:r>
          </a:p>
          <a:p>
            <a:pPr marL="731838" lvl="1" indent="-457200" algn="just">
              <a:spcBef>
                <a:spcPts val="300"/>
              </a:spcBef>
              <a:buFont typeface="+mj-lt"/>
              <a:buAutoNum type="arabicPeriod"/>
              <a:defRPr/>
            </a:pPr>
            <a:r>
              <a:rPr lang="en-US" dirty="0">
                <a:solidFill>
                  <a:srgbClr val="FF0000"/>
                </a:solidFill>
                <a:latin typeface="Cambria" panose="02040503050406030204" pitchFamily="18" charset="0"/>
                <a:ea typeface="Cambria" panose="02040503050406030204" pitchFamily="18" charset="0"/>
              </a:rPr>
              <a:t>Checkpoint facility</a:t>
            </a:r>
          </a:p>
          <a:p>
            <a:pPr algn="just">
              <a:spcBef>
                <a:spcPts val="300"/>
              </a:spcBef>
              <a:defRPr/>
            </a:pPr>
            <a:endParaRPr lang="en-US" sz="2400" dirty="0">
              <a:solidFill>
                <a:srgbClr val="0033CC"/>
              </a:solidFill>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3A81490E-8DB6-B75A-039D-3F08BA86F795}"/>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4C24AB29-5F65-5845-631D-285E0EE44166}"/>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65943380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42BF9-E157-560F-BAD2-6BB646C44D9F}"/>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E54AD144-B371-79C1-7AB8-73128C78FF74}"/>
              </a:ext>
            </a:extLst>
          </p:cNvPr>
          <p:cNvSpPr>
            <a:spLocks noGrp="1" noChangeArrowheads="1"/>
          </p:cNvSpPr>
          <p:nvPr>
            <p:ph type="title"/>
          </p:nvPr>
        </p:nvSpPr>
        <p:spPr>
          <a:xfrm>
            <a:off x="323850" y="188640"/>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Database Recovery Techniques</a:t>
            </a:r>
          </a:p>
        </p:txBody>
      </p:sp>
      <p:sp>
        <p:nvSpPr>
          <p:cNvPr id="2" name="Content Placeholder 1">
            <a:extLst>
              <a:ext uri="{FF2B5EF4-FFF2-40B4-BE49-F238E27FC236}">
                <a16:creationId xmlns:a16="http://schemas.microsoft.com/office/drawing/2014/main" id="{8F32C389-8B8C-195E-DD83-6CED801C5CAB}"/>
              </a:ext>
            </a:extLst>
          </p:cNvPr>
          <p:cNvSpPr>
            <a:spLocks noGrp="1"/>
          </p:cNvSpPr>
          <p:nvPr>
            <p:ph sz="quarter" idx="1"/>
          </p:nvPr>
        </p:nvSpPr>
        <p:spPr>
          <a:xfrm>
            <a:off x="400050" y="620688"/>
            <a:ext cx="8492430" cy="6091634"/>
          </a:xfrm>
        </p:spPr>
        <p:txBody>
          <a:bodyPr/>
          <a:lstStyle/>
          <a:p>
            <a:pPr marL="0" indent="0" algn="just">
              <a:spcBef>
                <a:spcPts val="300"/>
              </a:spcBef>
              <a:buNone/>
              <a:defRPr/>
            </a:pPr>
            <a:r>
              <a:rPr lang="en-US" sz="2400" b="1" dirty="0">
                <a:solidFill>
                  <a:srgbClr val="0033CC"/>
                </a:solidFill>
                <a:latin typeface="Cambria" panose="02040503050406030204" pitchFamily="18" charset="0"/>
                <a:ea typeface="Cambria" panose="02040503050406030204" pitchFamily="18" charset="0"/>
              </a:rPr>
              <a:t>1. Backup Mechanism:</a:t>
            </a:r>
          </a:p>
          <a:p>
            <a:pPr algn="just">
              <a:spcBef>
                <a:spcPts val="300"/>
              </a:spcBef>
              <a:defRPr/>
            </a:pPr>
            <a:r>
              <a:rPr lang="en-US" sz="2400" dirty="0">
                <a:latin typeface="Cambria" panose="02040503050406030204" pitchFamily="18" charset="0"/>
                <a:ea typeface="Cambria" panose="02040503050406030204" pitchFamily="18" charset="0"/>
              </a:rPr>
              <a:t>An Automatic dump facility that produces a backup copy of the entire database.</a:t>
            </a:r>
          </a:p>
          <a:p>
            <a:pPr algn="just">
              <a:spcBef>
                <a:spcPts val="300"/>
              </a:spcBef>
              <a:defRPr/>
            </a:pPr>
            <a:r>
              <a:rPr lang="en-US" sz="2400" dirty="0">
                <a:latin typeface="Cambria" panose="02040503050406030204" pitchFamily="18" charset="0"/>
                <a:ea typeface="Cambria" panose="02040503050406030204" pitchFamily="18" charset="0"/>
              </a:rPr>
              <a:t>The backup copy is used to restore the database in the event of data loss or damage.</a:t>
            </a:r>
          </a:p>
          <a:p>
            <a:pPr marL="731838" lvl="1" indent="-457200" algn="just">
              <a:spcBef>
                <a:spcPts val="300"/>
              </a:spcBef>
              <a:buFont typeface="+mj-lt"/>
              <a:buAutoNum type="alphaLcParenR"/>
              <a:defRPr/>
            </a:pPr>
            <a:r>
              <a:rPr lang="en-US" dirty="0">
                <a:solidFill>
                  <a:srgbClr val="0033CC"/>
                </a:solidFill>
                <a:latin typeface="Cambria" panose="02040503050406030204" pitchFamily="18" charset="0"/>
                <a:ea typeface="Cambria" panose="02040503050406030204" pitchFamily="18" charset="0"/>
              </a:rPr>
              <a:t>Full Backup</a:t>
            </a:r>
          </a:p>
          <a:p>
            <a:pPr marL="731838" lvl="1" indent="-457200" algn="just">
              <a:spcBef>
                <a:spcPts val="300"/>
              </a:spcBef>
              <a:buFont typeface="+mj-lt"/>
              <a:buAutoNum type="alphaLcParenR"/>
              <a:defRPr/>
            </a:pPr>
            <a:r>
              <a:rPr lang="en-US" dirty="0">
                <a:solidFill>
                  <a:srgbClr val="0033CC"/>
                </a:solidFill>
                <a:latin typeface="Cambria" panose="02040503050406030204" pitchFamily="18" charset="0"/>
                <a:ea typeface="Cambria" panose="02040503050406030204" pitchFamily="18" charset="0"/>
              </a:rPr>
              <a:t>Differential Backup:</a:t>
            </a:r>
            <a:r>
              <a:rPr lang="en-US" dirty="0">
                <a:latin typeface="Cambria" panose="02040503050406030204" pitchFamily="18" charset="0"/>
                <a:ea typeface="Cambria" panose="02040503050406030204" pitchFamily="18" charset="0"/>
              </a:rPr>
              <a:t> Only the last modifications to the database (when compared with a previous backup copy). </a:t>
            </a:r>
          </a:p>
          <a:p>
            <a:pPr algn="just">
              <a:spcBef>
                <a:spcPts val="300"/>
              </a:spcBef>
              <a:defRPr/>
            </a:pPr>
            <a:r>
              <a:rPr lang="en-US" sz="2400" dirty="0">
                <a:latin typeface="Cambria" panose="02040503050406030204" pitchFamily="18" charset="0"/>
                <a:ea typeface="Cambria" panose="02040503050406030204" pitchFamily="18" charset="0"/>
              </a:rPr>
              <a:t>After recovering the database up to the backup  copy, further recovery is made using transaction logs. </a:t>
            </a:r>
          </a:p>
          <a:p>
            <a:pPr algn="just">
              <a:spcBef>
                <a:spcPts val="300"/>
              </a:spcBef>
              <a:defRPr/>
            </a:pPr>
            <a:endParaRPr lang="en-US" sz="2400" dirty="0">
              <a:solidFill>
                <a:srgbClr val="0033CC"/>
              </a:solidFill>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5C741B1D-5231-A4A3-2655-6B4B93694817}"/>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5ADB017C-CDFB-91A1-5424-8AB5DA912023}"/>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41077689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2D637-2851-B758-B908-4DD42D8AE00D}"/>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8699DBBE-CF62-7A96-BBBD-0ABC3A2F58A3}"/>
              </a:ext>
            </a:extLst>
          </p:cNvPr>
          <p:cNvSpPr>
            <a:spLocks noGrp="1" noChangeArrowheads="1"/>
          </p:cNvSpPr>
          <p:nvPr>
            <p:ph type="title"/>
          </p:nvPr>
        </p:nvSpPr>
        <p:spPr>
          <a:xfrm>
            <a:off x="323850" y="188640"/>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Database Recovery Techniques</a:t>
            </a:r>
          </a:p>
        </p:txBody>
      </p:sp>
      <p:sp>
        <p:nvSpPr>
          <p:cNvPr id="2" name="Content Placeholder 1">
            <a:extLst>
              <a:ext uri="{FF2B5EF4-FFF2-40B4-BE49-F238E27FC236}">
                <a16:creationId xmlns:a16="http://schemas.microsoft.com/office/drawing/2014/main" id="{07274E94-5B03-27B8-314F-B7AA199C1869}"/>
              </a:ext>
            </a:extLst>
          </p:cNvPr>
          <p:cNvSpPr>
            <a:spLocks noGrp="1"/>
          </p:cNvSpPr>
          <p:nvPr>
            <p:ph sz="quarter" idx="1"/>
          </p:nvPr>
        </p:nvSpPr>
        <p:spPr>
          <a:xfrm>
            <a:off x="400050" y="620688"/>
            <a:ext cx="8492430" cy="6091634"/>
          </a:xfrm>
        </p:spPr>
        <p:txBody>
          <a:bodyPr/>
          <a:lstStyle/>
          <a:p>
            <a:pPr marL="0" indent="0" algn="just">
              <a:spcBef>
                <a:spcPts val="300"/>
              </a:spcBef>
              <a:buNone/>
              <a:defRPr/>
            </a:pPr>
            <a:r>
              <a:rPr lang="en-US" sz="2400" b="1" dirty="0">
                <a:solidFill>
                  <a:srgbClr val="0033CC"/>
                </a:solidFill>
                <a:latin typeface="Cambria" panose="02040503050406030204" pitchFamily="18" charset="0"/>
                <a:ea typeface="Cambria" panose="02040503050406030204" pitchFamily="18" charset="0"/>
              </a:rPr>
              <a:t>2. Logging facility:</a:t>
            </a:r>
          </a:p>
          <a:p>
            <a:pPr algn="just">
              <a:spcBef>
                <a:spcPts val="300"/>
              </a:spcBef>
              <a:defRPr/>
            </a:pPr>
            <a:r>
              <a:rPr lang="en-US" sz="2400" dirty="0">
                <a:latin typeface="Cambria" panose="02040503050406030204" pitchFamily="18" charset="0"/>
                <a:ea typeface="Cambria" panose="02040503050406030204" pitchFamily="18" charset="0"/>
              </a:rPr>
              <a:t>It is also called </a:t>
            </a:r>
            <a:r>
              <a:rPr lang="en-US" sz="2400" dirty="0">
                <a:solidFill>
                  <a:srgbClr val="FF0000"/>
                </a:solidFill>
                <a:latin typeface="Cambria" panose="02040503050406030204" pitchFamily="18" charset="0"/>
                <a:ea typeface="Cambria" panose="02040503050406030204" pitchFamily="18" charset="0"/>
              </a:rPr>
              <a:t>trail or journal.</a:t>
            </a:r>
          </a:p>
          <a:p>
            <a:pPr algn="just">
              <a:spcBef>
                <a:spcPts val="300"/>
              </a:spcBef>
              <a:defRPr/>
            </a:pPr>
            <a:r>
              <a:rPr lang="en-US" sz="2400" dirty="0">
                <a:latin typeface="Cambria" panose="02040503050406030204" pitchFamily="18" charset="0"/>
                <a:ea typeface="Cambria" panose="02040503050406030204" pitchFamily="18" charset="0"/>
              </a:rPr>
              <a:t>It maintains history of actions executed by the DBMS.</a:t>
            </a:r>
          </a:p>
          <a:p>
            <a:pPr algn="just">
              <a:spcBef>
                <a:spcPts val="300"/>
              </a:spcBef>
              <a:defRPr/>
            </a:pPr>
            <a:r>
              <a:rPr lang="en-US" sz="2400" dirty="0">
                <a:latin typeface="Cambria" panose="02040503050406030204" pitchFamily="18" charset="0"/>
                <a:ea typeface="Cambria" panose="02040503050406030204" pitchFamily="18" charset="0"/>
              </a:rPr>
              <a:t>Logs are used to protect against system failures.</a:t>
            </a:r>
          </a:p>
          <a:p>
            <a:pPr algn="just">
              <a:spcBef>
                <a:spcPts val="300"/>
              </a:spcBef>
              <a:defRPr/>
            </a:pPr>
            <a:r>
              <a:rPr lang="en-US" sz="2400" dirty="0">
                <a:latin typeface="Cambria" panose="02040503050406030204" pitchFamily="18" charset="0"/>
                <a:ea typeface="Cambria" panose="02040503050406030204" pitchFamily="18" charset="0"/>
              </a:rPr>
              <a:t>Two types of logs are used for database recovery.</a:t>
            </a:r>
          </a:p>
          <a:p>
            <a:pPr marL="274638" lvl="1" indent="0" algn="just">
              <a:spcBef>
                <a:spcPts val="300"/>
              </a:spcBef>
              <a:buNone/>
              <a:defRPr/>
            </a:pPr>
            <a:r>
              <a:rPr lang="en-US" dirty="0">
                <a:solidFill>
                  <a:srgbClr val="FF0000"/>
                </a:solidFill>
                <a:latin typeface="Cambria" panose="02040503050406030204" pitchFamily="18" charset="0"/>
                <a:ea typeface="Cambria" panose="02040503050406030204" pitchFamily="18" charset="0"/>
              </a:rPr>
              <a:t>a) Transaction Log</a:t>
            </a:r>
          </a:p>
          <a:p>
            <a:pPr marL="274638" lvl="1" indent="0" algn="just">
              <a:spcBef>
                <a:spcPts val="300"/>
              </a:spcBef>
              <a:buNone/>
              <a:defRPr/>
            </a:pPr>
            <a:r>
              <a:rPr lang="en-US" dirty="0">
                <a:solidFill>
                  <a:srgbClr val="FF0000"/>
                </a:solidFill>
                <a:latin typeface="Cambria" panose="02040503050406030204" pitchFamily="18" charset="0"/>
                <a:ea typeface="Cambria" panose="02040503050406030204" pitchFamily="18" charset="0"/>
              </a:rPr>
              <a:t>b) Database Change Log</a:t>
            </a:r>
          </a:p>
          <a:p>
            <a:pPr algn="just">
              <a:spcBef>
                <a:spcPts val="300"/>
              </a:spcBef>
              <a:defRPr/>
            </a:pPr>
            <a:r>
              <a:rPr lang="en-US" sz="2400" dirty="0">
                <a:solidFill>
                  <a:srgbClr val="0033CC"/>
                </a:solidFill>
                <a:latin typeface="Cambria" panose="02040503050406030204" pitchFamily="18" charset="0"/>
                <a:ea typeface="Cambria" panose="02040503050406030204" pitchFamily="18" charset="0"/>
              </a:rPr>
              <a:t>Transaction Log</a:t>
            </a:r>
            <a:r>
              <a:rPr lang="en-US" sz="2400" dirty="0">
                <a:latin typeface="Cambria" panose="02040503050406030204" pitchFamily="18" charset="0"/>
                <a:ea typeface="Cambria" panose="02040503050406030204" pitchFamily="18" charset="0"/>
              </a:rPr>
              <a:t> stores the information like Transaction Code, Time, Terminal, User, input data values, records accessed and modified.</a:t>
            </a:r>
          </a:p>
          <a:p>
            <a:pPr algn="just">
              <a:spcBef>
                <a:spcPts val="300"/>
              </a:spcBef>
              <a:defRPr/>
            </a:pPr>
            <a:r>
              <a:rPr lang="en-US" sz="2400" dirty="0">
                <a:solidFill>
                  <a:srgbClr val="0033CC"/>
                </a:solidFill>
                <a:latin typeface="Cambria" panose="02040503050406030204" pitchFamily="18" charset="0"/>
                <a:ea typeface="Cambria" panose="02040503050406030204" pitchFamily="18" charset="0"/>
              </a:rPr>
              <a:t>Database Change Log</a:t>
            </a:r>
            <a:r>
              <a:rPr lang="en-US" sz="2400" dirty="0">
                <a:latin typeface="Cambria" panose="02040503050406030204" pitchFamily="18" charset="0"/>
                <a:ea typeface="Cambria" panose="02040503050406030204" pitchFamily="18" charset="0"/>
              </a:rPr>
              <a:t> contains </a:t>
            </a:r>
            <a:r>
              <a:rPr lang="en-US" sz="2400" dirty="0">
                <a:solidFill>
                  <a:srgbClr val="FF0000"/>
                </a:solidFill>
                <a:latin typeface="Cambria" panose="02040503050406030204" pitchFamily="18" charset="0"/>
                <a:ea typeface="Cambria" panose="02040503050406030204" pitchFamily="18" charset="0"/>
              </a:rPr>
              <a:t>before images</a:t>
            </a:r>
            <a:r>
              <a:rPr lang="en-US" sz="2400" dirty="0">
                <a:latin typeface="Cambria" panose="02040503050406030204" pitchFamily="18" charset="0"/>
                <a:ea typeface="Cambria" panose="02040503050406030204" pitchFamily="18" charset="0"/>
              </a:rPr>
              <a:t> and </a:t>
            </a:r>
            <a:r>
              <a:rPr lang="en-US" sz="2400" dirty="0">
                <a:solidFill>
                  <a:srgbClr val="FF0000"/>
                </a:solidFill>
                <a:latin typeface="Cambria" panose="02040503050406030204" pitchFamily="18" charset="0"/>
                <a:ea typeface="Cambria" panose="02040503050406030204" pitchFamily="18" charset="0"/>
              </a:rPr>
              <a:t>after images</a:t>
            </a:r>
            <a:r>
              <a:rPr lang="en-US" sz="2400" dirty="0">
                <a:latin typeface="Cambria" panose="02040503050406030204" pitchFamily="18" charset="0"/>
                <a:ea typeface="Cambria" panose="02040503050406030204" pitchFamily="18" charset="0"/>
              </a:rPr>
              <a:t> of records that have been modified by transactions. </a:t>
            </a:r>
          </a:p>
          <a:p>
            <a:pPr algn="just">
              <a:spcBef>
                <a:spcPts val="300"/>
              </a:spcBef>
              <a:defRPr/>
            </a:pPr>
            <a:r>
              <a:rPr lang="en-US" sz="2400" dirty="0">
                <a:latin typeface="Cambria" panose="02040503050406030204" pitchFamily="18" charset="0"/>
                <a:ea typeface="Cambria" panose="02040503050406030204" pitchFamily="18" charset="0"/>
              </a:rPr>
              <a:t>Protocols used for maintaining Database Change Log are:</a:t>
            </a:r>
          </a:p>
          <a:p>
            <a:pPr marL="274638" lvl="1" indent="0" algn="just">
              <a:spcBef>
                <a:spcPts val="300"/>
              </a:spcBef>
              <a:buNone/>
              <a:defRPr/>
            </a:pPr>
            <a:r>
              <a:rPr lang="en-US" dirty="0">
                <a:solidFill>
                  <a:srgbClr val="0033CC"/>
                </a:solidFill>
                <a:latin typeface="Cambria" panose="02040503050406030204" pitchFamily="18" charset="0"/>
                <a:ea typeface="Cambria" panose="02040503050406030204" pitchFamily="18" charset="0"/>
              </a:rPr>
              <a:t>a) Deferred Update Protocol</a:t>
            </a:r>
          </a:p>
          <a:p>
            <a:pPr marL="274638" lvl="1" indent="0" algn="just">
              <a:spcBef>
                <a:spcPts val="300"/>
              </a:spcBef>
              <a:buNone/>
              <a:defRPr/>
            </a:pPr>
            <a:r>
              <a:rPr lang="en-US" dirty="0">
                <a:solidFill>
                  <a:srgbClr val="0033CC"/>
                </a:solidFill>
                <a:latin typeface="Cambria" panose="02040503050406030204" pitchFamily="18" charset="0"/>
                <a:ea typeface="Cambria" panose="02040503050406030204" pitchFamily="18" charset="0"/>
              </a:rPr>
              <a:t>b) Immediate Update Protocol</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solidFill>
                <a:srgbClr val="0033CC"/>
              </a:solidFill>
              <a:latin typeface="Cambria" panose="02040503050406030204" pitchFamily="18" charset="0"/>
              <a:ea typeface="Cambria" panose="02040503050406030204" pitchFamily="18" charset="0"/>
            </a:endParaRPr>
          </a:p>
        </p:txBody>
      </p:sp>
      <p:sp>
        <p:nvSpPr>
          <p:cNvPr id="4" name="Slide Number Placeholder 23">
            <a:extLst>
              <a:ext uri="{FF2B5EF4-FFF2-40B4-BE49-F238E27FC236}">
                <a16:creationId xmlns:a16="http://schemas.microsoft.com/office/drawing/2014/main" id="{9052BFF8-7ED0-2DB9-AFFB-E25F790D5732}"/>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16113374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949D7-0685-C0AA-D7C1-8EA9DCF299D3}"/>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EB50F2B7-0E60-D72D-94C9-C6B1724AF95C}"/>
              </a:ext>
            </a:extLst>
          </p:cNvPr>
          <p:cNvSpPr>
            <a:spLocks noGrp="1" noChangeArrowheads="1"/>
          </p:cNvSpPr>
          <p:nvPr>
            <p:ph type="title"/>
          </p:nvPr>
        </p:nvSpPr>
        <p:spPr>
          <a:xfrm>
            <a:off x="323850" y="188640"/>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Database Recovery Techniques</a:t>
            </a:r>
          </a:p>
        </p:txBody>
      </p:sp>
      <p:sp>
        <p:nvSpPr>
          <p:cNvPr id="2" name="Content Placeholder 1">
            <a:extLst>
              <a:ext uri="{FF2B5EF4-FFF2-40B4-BE49-F238E27FC236}">
                <a16:creationId xmlns:a16="http://schemas.microsoft.com/office/drawing/2014/main" id="{5DC074D4-E4D4-A16C-EDF7-F1FC4A95A2C2}"/>
              </a:ext>
            </a:extLst>
          </p:cNvPr>
          <p:cNvSpPr>
            <a:spLocks noGrp="1"/>
          </p:cNvSpPr>
          <p:nvPr>
            <p:ph sz="quarter" idx="1"/>
          </p:nvPr>
        </p:nvSpPr>
        <p:spPr>
          <a:xfrm>
            <a:off x="400050" y="620688"/>
            <a:ext cx="8492430" cy="6091634"/>
          </a:xfrm>
        </p:spPr>
        <p:txBody>
          <a:bodyPr/>
          <a:lstStyle/>
          <a:p>
            <a:pPr marL="0" indent="0" algn="just">
              <a:spcBef>
                <a:spcPts val="300"/>
              </a:spcBef>
              <a:buNone/>
              <a:defRPr/>
            </a:pPr>
            <a:r>
              <a:rPr lang="en-US" sz="2400" b="1" dirty="0">
                <a:solidFill>
                  <a:srgbClr val="0033CC"/>
                </a:solidFill>
                <a:latin typeface="Cambria" panose="02040503050406030204" pitchFamily="18" charset="0"/>
                <a:ea typeface="Cambria" panose="02040503050406030204" pitchFamily="18" charset="0"/>
              </a:rPr>
              <a:t>2. Logging facility:</a:t>
            </a:r>
          </a:p>
          <a:p>
            <a:pPr algn="just">
              <a:spcBef>
                <a:spcPts val="300"/>
              </a:spcBef>
              <a:defRPr/>
            </a:pPr>
            <a:r>
              <a:rPr lang="en-US" sz="2400" dirty="0">
                <a:latin typeface="Cambria" panose="02040503050406030204" pitchFamily="18" charset="0"/>
                <a:ea typeface="Cambria" panose="02040503050406030204" pitchFamily="18" charset="0"/>
              </a:rPr>
              <a:t>Owing to the importance of log, two or more copies of the log on different disks or different locations of the same disk are maintained.</a:t>
            </a:r>
          </a:p>
          <a:p>
            <a:pPr algn="just">
              <a:spcBef>
                <a:spcPts val="300"/>
              </a:spcBef>
              <a:defRPr/>
            </a:pPr>
            <a:r>
              <a:rPr lang="en-US" sz="2400" dirty="0">
                <a:latin typeface="Cambria" panose="02040503050406030204" pitchFamily="18" charset="0"/>
                <a:ea typeface="Cambria" panose="02040503050406030204" pitchFamily="18" charset="0"/>
              </a:rPr>
              <a:t>The most recent portion of the log, called </a:t>
            </a:r>
            <a:r>
              <a:rPr lang="en-US" sz="2400" dirty="0">
                <a:solidFill>
                  <a:srgbClr val="FF0000"/>
                </a:solidFill>
                <a:latin typeface="Cambria" panose="02040503050406030204" pitchFamily="18" charset="0"/>
                <a:ea typeface="Cambria" panose="02040503050406030204" pitchFamily="18" charset="0"/>
              </a:rPr>
              <a:t>log tail</a:t>
            </a:r>
            <a:r>
              <a:rPr lang="en-US" sz="2400" dirty="0">
                <a:latin typeface="Cambria" panose="02040503050406030204" pitchFamily="18" charset="0"/>
                <a:ea typeface="Cambria" panose="02040503050406030204" pitchFamily="18" charset="0"/>
              </a:rPr>
              <a:t> is kept in main memory and periodically flushed to stable storage.</a:t>
            </a:r>
          </a:p>
          <a:p>
            <a:pPr algn="just">
              <a:spcBef>
                <a:spcPts val="300"/>
              </a:spcBef>
              <a:defRPr/>
            </a:pPr>
            <a:r>
              <a:rPr lang="en-US" sz="2400" dirty="0">
                <a:latin typeface="Cambria" panose="02040503050406030204" pitchFamily="18" charset="0"/>
                <a:ea typeface="Cambria" panose="02040503050406030204" pitchFamily="18" charset="0"/>
              </a:rPr>
              <a:t>Every log record is assigned a unique id called </a:t>
            </a:r>
            <a:r>
              <a:rPr lang="en-US" sz="2400" dirty="0">
                <a:solidFill>
                  <a:srgbClr val="FF0000"/>
                </a:solidFill>
                <a:latin typeface="Cambria" panose="02040503050406030204" pitchFamily="18" charset="0"/>
                <a:ea typeface="Cambria" panose="02040503050406030204" pitchFamily="18" charset="0"/>
              </a:rPr>
              <a:t>Log Sequence Number (LSN).</a:t>
            </a:r>
          </a:p>
          <a:p>
            <a:pPr algn="just">
              <a:spcBef>
                <a:spcPts val="300"/>
              </a:spcBef>
              <a:defRPr/>
            </a:pPr>
            <a:r>
              <a:rPr lang="en-US" sz="2400" dirty="0">
                <a:latin typeface="Cambria" panose="02040503050406030204" pitchFamily="18" charset="0"/>
                <a:ea typeface="Cambria" panose="02040503050406030204" pitchFamily="18" charset="0"/>
              </a:rPr>
              <a:t>A log record is written for each command such as insert, update, delete, undo, commit, </a:t>
            </a:r>
            <a:r>
              <a:rPr lang="en-US" sz="2400" dirty="0" err="1">
                <a:latin typeface="Cambria" panose="02040503050406030204" pitchFamily="18" charset="0"/>
                <a:ea typeface="Cambria" panose="02040503050406030204" pitchFamily="18" charset="0"/>
              </a:rPr>
              <a:t>savepoint</a:t>
            </a:r>
            <a:r>
              <a:rPr lang="en-US" sz="2400" dirty="0">
                <a:latin typeface="Cambria" panose="02040503050406030204" pitchFamily="18" charset="0"/>
                <a:ea typeface="Cambria" panose="02040503050406030204" pitchFamily="18" charset="0"/>
              </a:rPr>
              <a:t> etc. </a:t>
            </a:r>
          </a:p>
          <a:p>
            <a:pPr algn="just">
              <a:spcBef>
                <a:spcPts val="300"/>
              </a:spcBef>
              <a:defRPr/>
            </a:pPr>
            <a:endParaRPr lang="en-US" sz="2400" dirty="0">
              <a:solidFill>
                <a:srgbClr val="0033CC"/>
              </a:solidFill>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6F59FF03-73B6-0630-E65B-3DC49D3B89EE}"/>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2EE751BF-4F70-0885-9116-9FBC2C075800}"/>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99666538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CA613-35C6-4CBE-1FF6-C162264A3FB0}"/>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C6731E04-9387-3D67-75A8-DFCBAD7C3C17}"/>
              </a:ext>
            </a:extLst>
          </p:cNvPr>
          <p:cNvSpPr>
            <a:spLocks noGrp="1" noChangeArrowheads="1"/>
          </p:cNvSpPr>
          <p:nvPr>
            <p:ph type="title"/>
          </p:nvPr>
        </p:nvSpPr>
        <p:spPr>
          <a:xfrm>
            <a:off x="323850" y="116632"/>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Recovery Techniques</a:t>
            </a:r>
          </a:p>
        </p:txBody>
      </p:sp>
      <p:sp>
        <p:nvSpPr>
          <p:cNvPr id="2" name="Content Placeholder 1">
            <a:extLst>
              <a:ext uri="{FF2B5EF4-FFF2-40B4-BE49-F238E27FC236}">
                <a16:creationId xmlns:a16="http://schemas.microsoft.com/office/drawing/2014/main" id="{A9E57D0E-D549-460C-779C-A87A01BABAF3}"/>
              </a:ext>
            </a:extLst>
          </p:cNvPr>
          <p:cNvSpPr>
            <a:spLocks noGrp="1"/>
          </p:cNvSpPr>
          <p:nvPr>
            <p:ph sz="quarter" idx="1"/>
          </p:nvPr>
        </p:nvSpPr>
        <p:spPr>
          <a:xfrm>
            <a:off x="400050" y="577726"/>
            <a:ext cx="8492430" cy="6091634"/>
          </a:xfrm>
        </p:spPr>
        <p:txBody>
          <a:bodyPr/>
          <a:lstStyle/>
          <a:p>
            <a:pPr marL="0" indent="0" algn="just">
              <a:spcBef>
                <a:spcPts val="300"/>
              </a:spcBef>
              <a:buNone/>
              <a:defRPr/>
            </a:pPr>
            <a:r>
              <a:rPr lang="en-US" sz="2400" b="1" dirty="0">
                <a:solidFill>
                  <a:srgbClr val="0033CC"/>
                </a:solidFill>
                <a:latin typeface="Cambria" panose="02040503050406030204" pitchFamily="18" charset="0"/>
                <a:ea typeface="Cambria" panose="02040503050406030204" pitchFamily="18" charset="0"/>
                <a:cs typeface="Calibri" panose="020F0502020204030204" pitchFamily="34" charset="0"/>
              </a:rPr>
              <a:t>a) Deferred Update Protocol</a:t>
            </a:r>
          </a:p>
          <a:p>
            <a:pPr algn="just">
              <a:spcBef>
                <a:spcPts val="300"/>
              </a:spcBef>
              <a:defRPr/>
            </a:pPr>
            <a:r>
              <a:rPr lang="en-US" sz="2400" dirty="0">
                <a:latin typeface="Cambria" panose="02040503050406030204" pitchFamily="18" charset="0"/>
                <a:ea typeface="Cambria" panose="02040503050406030204" pitchFamily="18" charset="0"/>
              </a:rPr>
              <a:t>The DBMS records all database writes in the log, and does not write to the database until the transaction is ready to commit.</a:t>
            </a:r>
          </a:p>
          <a:p>
            <a:pPr algn="just">
              <a:spcBef>
                <a:spcPts val="300"/>
              </a:spcBef>
              <a:defRPr/>
            </a:pPr>
            <a:r>
              <a:rPr lang="en-US" sz="2400" dirty="0">
                <a:latin typeface="Cambria" panose="02040503050406030204" pitchFamily="18" charset="0"/>
                <a:ea typeface="Cambria" panose="02040503050406030204" pitchFamily="18" charset="0"/>
              </a:rPr>
              <a:t>Any transaction with log records &lt;T starts&gt; and &lt;T commits&gt; should be redone in the order in which they appear in the log.</a:t>
            </a:r>
          </a:p>
          <a:p>
            <a:pPr algn="just">
              <a:spcBef>
                <a:spcPts val="300"/>
              </a:spcBef>
              <a:defRPr/>
            </a:pPr>
            <a:r>
              <a:rPr lang="en-US" sz="2400" dirty="0">
                <a:latin typeface="Cambria" panose="02040503050406030204" pitchFamily="18" charset="0"/>
                <a:ea typeface="Cambria" panose="02040503050406030204" pitchFamily="18" charset="0"/>
              </a:rPr>
              <a:t>The transaction itself does not have to be executed again. </a:t>
            </a:r>
          </a:p>
          <a:p>
            <a:pPr algn="just">
              <a:spcBef>
                <a:spcPts val="300"/>
              </a:spcBef>
              <a:defRPr/>
            </a:pPr>
            <a:r>
              <a:rPr lang="en-US" sz="2400" dirty="0">
                <a:solidFill>
                  <a:srgbClr val="FF0000"/>
                </a:solidFill>
                <a:latin typeface="Cambria" panose="02040503050406030204" pitchFamily="18" charset="0"/>
                <a:ea typeface="Cambria" panose="02040503050406030204" pitchFamily="18" charset="0"/>
              </a:rPr>
              <a:t>Transaction T		Transaction Log &amp; Data items</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200" dirty="0">
              <a:solidFill>
                <a:srgbClr val="FF0000"/>
              </a:solidFill>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2CF69ADF-31C7-89F7-3570-5D8E2D261C3C}"/>
              </a:ext>
            </a:extLst>
          </p:cNvPr>
          <p:cNvPicPr>
            <a:picLocks noChangeAspect="1"/>
          </p:cNvPicPr>
          <p:nvPr/>
        </p:nvPicPr>
        <p:blipFill>
          <a:blip r:embed="rId2"/>
          <a:stretch>
            <a:fillRect/>
          </a:stretch>
        </p:blipFill>
        <p:spPr>
          <a:xfrm>
            <a:off x="488704" y="3356992"/>
            <a:ext cx="8315122" cy="3227833"/>
          </a:xfrm>
          <a:prstGeom prst="rect">
            <a:avLst/>
          </a:prstGeom>
        </p:spPr>
      </p:pic>
    </p:spTree>
    <p:extLst>
      <p:ext uri="{BB962C8B-B14F-4D97-AF65-F5344CB8AC3E}">
        <p14:creationId xmlns:p14="http://schemas.microsoft.com/office/powerpoint/2010/main" val="218259689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839B6-DBF7-5261-831D-BCDA50B4AC10}"/>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5BB35F78-E055-1217-D0C3-F3DA10967930}"/>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Recovery Techniques</a:t>
            </a:r>
          </a:p>
        </p:txBody>
      </p:sp>
      <p:sp>
        <p:nvSpPr>
          <p:cNvPr id="2" name="Content Placeholder 1">
            <a:extLst>
              <a:ext uri="{FF2B5EF4-FFF2-40B4-BE49-F238E27FC236}">
                <a16:creationId xmlns:a16="http://schemas.microsoft.com/office/drawing/2014/main" id="{62C57F9F-03EB-CDBD-164B-1116F8471016}"/>
              </a:ext>
            </a:extLst>
          </p:cNvPr>
          <p:cNvSpPr>
            <a:spLocks noGrp="1"/>
          </p:cNvSpPr>
          <p:nvPr>
            <p:ph sz="quarter" idx="1"/>
          </p:nvPr>
        </p:nvSpPr>
        <p:spPr>
          <a:xfrm>
            <a:off x="400050" y="721742"/>
            <a:ext cx="8492430" cy="3139306"/>
          </a:xfrm>
        </p:spPr>
        <p:txBody>
          <a:bodyPr/>
          <a:lstStyle/>
          <a:p>
            <a:pPr marL="0" indent="0" algn="just">
              <a:spcBef>
                <a:spcPts val="300"/>
              </a:spcBef>
              <a:buNone/>
              <a:defRPr/>
            </a:pPr>
            <a:r>
              <a:rPr lang="en-US" sz="2400" b="1" dirty="0">
                <a:solidFill>
                  <a:srgbClr val="0033CC"/>
                </a:solidFill>
                <a:latin typeface="Cambria" panose="02040503050406030204" pitchFamily="18" charset="0"/>
                <a:ea typeface="Cambria" panose="02040503050406030204" pitchFamily="18" charset="0"/>
                <a:cs typeface="Calibri" panose="020F0502020204030204" pitchFamily="34" charset="0"/>
              </a:rPr>
              <a:t>b) Immediate Update Protocol</a:t>
            </a:r>
          </a:p>
          <a:p>
            <a:pPr algn="just">
              <a:spcBef>
                <a:spcPts val="300"/>
              </a:spcBef>
              <a:defRPr/>
            </a:pPr>
            <a:r>
              <a:rPr lang="en-US" sz="2400" dirty="0">
                <a:latin typeface="Cambria" panose="02040503050406030204" pitchFamily="18" charset="0"/>
                <a:ea typeface="Cambria" panose="02040503050406030204" pitchFamily="18" charset="0"/>
              </a:rPr>
              <a:t>In this scheme, updates are applied to the database buffers as they occur and are written to the database itself.</a:t>
            </a:r>
          </a:p>
          <a:p>
            <a:pPr algn="just">
              <a:spcBef>
                <a:spcPts val="300"/>
              </a:spcBef>
              <a:defRPr/>
            </a:pPr>
            <a:r>
              <a:rPr lang="en-US" sz="2400" dirty="0">
                <a:latin typeface="Cambria" panose="02040503050406030204" pitchFamily="18" charset="0"/>
                <a:ea typeface="Cambria" panose="02040503050406030204" pitchFamily="18" charset="0"/>
              </a:rPr>
              <a:t>Log Records are written before the transaction is actually committed and it contains both old and updated values. </a:t>
            </a:r>
          </a:p>
          <a:p>
            <a:pPr algn="just">
              <a:spcBef>
                <a:spcPts val="300"/>
              </a:spcBef>
              <a:defRPr/>
            </a:pPr>
            <a:r>
              <a:rPr lang="en-US" sz="2400" dirty="0">
                <a:latin typeface="Cambria" panose="02040503050406030204" pitchFamily="18" charset="0"/>
                <a:ea typeface="Cambria" panose="02040503050406030204" pitchFamily="18" charset="0"/>
              </a:rPr>
              <a:t>This is also known as </a:t>
            </a:r>
            <a:r>
              <a:rPr lang="en-US" sz="2400" dirty="0">
                <a:solidFill>
                  <a:srgbClr val="FF0000"/>
                </a:solidFill>
                <a:latin typeface="Cambria" panose="02040503050406030204" pitchFamily="18" charset="0"/>
                <a:ea typeface="Cambria" panose="02040503050406030204" pitchFamily="18" charset="0"/>
              </a:rPr>
              <a:t>Write Ahead Log Protocol.</a:t>
            </a:r>
          </a:p>
          <a:p>
            <a:pPr algn="just">
              <a:spcBef>
                <a:spcPts val="300"/>
              </a:spcBef>
              <a:defRPr/>
            </a:pPr>
            <a:endParaRPr lang="en-US" sz="2000" dirty="0">
              <a:solidFill>
                <a:srgbClr val="FF0000"/>
              </a:solidFill>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3AC473A6-84A2-A7ED-E807-A3E535E54CB5}"/>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06A1A947-562A-2BC9-7EDD-9FE1575CD026}"/>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06019819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E0126-A013-2538-D18C-157C93E3BEF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DE7556-4512-9DB1-EA14-EB7BB286AF25}"/>
              </a:ext>
            </a:extLst>
          </p:cNvPr>
          <p:cNvSpPr>
            <a:spLocks noGrp="1"/>
          </p:cNvSpPr>
          <p:nvPr>
            <p:ph sz="quarter" idx="1"/>
          </p:nvPr>
        </p:nvSpPr>
        <p:spPr>
          <a:xfrm>
            <a:off x="400050" y="721742"/>
            <a:ext cx="8492430" cy="6091634"/>
          </a:xfrm>
        </p:spPr>
        <p:txBody>
          <a:bodyPr/>
          <a:lstStyle/>
          <a:p>
            <a:pPr marL="0" indent="0" algn="just">
              <a:spcBef>
                <a:spcPts val="300"/>
              </a:spcBef>
              <a:buNone/>
              <a:defRPr/>
            </a:pPr>
            <a:endParaRPr lang="en-US" sz="2400" b="1" dirty="0">
              <a:solidFill>
                <a:srgbClr val="0033CC"/>
              </a:solidFill>
              <a:latin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07968955-EC6E-2BF2-AF9A-BB76E977525A}"/>
              </a:ext>
            </a:extLst>
          </p:cNvPr>
          <p:cNvGraphicFramePr>
            <a:graphicFrameLocks noGrp="1"/>
          </p:cNvGraphicFramePr>
          <p:nvPr>
            <p:extLst>
              <p:ext uri="{D42A27DB-BD31-4B8C-83A1-F6EECF244321}">
                <p14:modId xmlns:p14="http://schemas.microsoft.com/office/powerpoint/2010/main" val="1206228857"/>
              </p:ext>
            </p:extLst>
          </p:nvPr>
        </p:nvGraphicFramePr>
        <p:xfrm>
          <a:off x="285769" y="116632"/>
          <a:ext cx="8717160" cy="6644640"/>
        </p:xfrm>
        <a:graphic>
          <a:graphicData uri="http://schemas.openxmlformats.org/drawingml/2006/table">
            <a:tbl>
              <a:tblPr firstRow="1" bandRow="1">
                <a:tableStyleId>{5C22544A-7EE6-4342-B048-85BDC9FD1C3A}</a:tableStyleId>
              </a:tblPr>
              <a:tblGrid>
                <a:gridCol w="4358580">
                  <a:extLst>
                    <a:ext uri="{9D8B030D-6E8A-4147-A177-3AD203B41FA5}">
                      <a16:colId xmlns:a16="http://schemas.microsoft.com/office/drawing/2014/main" val="2532196533"/>
                    </a:ext>
                  </a:extLst>
                </a:gridCol>
                <a:gridCol w="4358580">
                  <a:extLst>
                    <a:ext uri="{9D8B030D-6E8A-4147-A177-3AD203B41FA5}">
                      <a16:colId xmlns:a16="http://schemas.microsoft.com/office/drawing/2014/main" val="375093721"/>
                    </a:ext>
                  </a:extLst>
                </a:gridCol>
              </a:tblGrid>
              <a:tr h="370840">
                <a:tc>
                  <a:txBody>
                    <a:bodyPr/>
                    <a:lstStyle/>
                    <a:p>
                      <a:pPr algn="ctr"/>
                      <a:r>
                        <a:rPr lang="en-US" sz="2000" b="1" dirty="0">
                          <a:solidFill>
                            <a:srgbClr val="FFFF00"/>
                          </a:solidFill>
                          <a:latin typeface="Cambria" panose="02040503050406030204" pitchFamily="18" charset="0"/>
                          <a:ea typeface="Cambria" panose="02040503050406030204" pitchFamily="18" charset="0"/>
                          <a:cs typeface="Calibri" panose="020F0502020204030204" pitchFamily="34" charset="0"/>
                        </a:rPr>
                        <a:t>Deferred Update Protocol</a:t>
                      </a:r>
                      <a:endParaRPr lang="en-US" sz="2000" dirty="0">
                        <a:solidFill>
                          <a:srgbClr val="FFFF00"/>
                        </a:solidFill>
                        <a:latin typeface="Cambria" panose="02040503050406030204" pitchFamily="18" charset="0"/>
                        <a:ea typeface="Cambria" panose="02040503050406030204" pitchFamily="18" charset="0"/>
                      </a:endParaRPr>
                    </a:p>
                  </a:txBody>
                  <a:tcPr/>
                </a:tc>
                <a:tc>
                  <a:txBody>
                    <a:bodyPr/>
                    <a:lstStyle/>
                    <a:p>
                      <a:pPr algn="ctr"/>
                      <a:r>
                        <a:rPr lang="en-US" sz="2000" b="1" dirty="0">
                          <a:solidFill>
                            <a:srgbClr val="FFFF00"/>
                          </a:solidFill>
                          <a:latin typeface="Cambria" panose="02040503050406030204" pitchFamily="18" charset="0"/>
                          <a:ea typeface="Cambria" panose="02040503050406030204" pitchFamily="18" charset="0"/>
                          <a:cs typeface="Calibri" panose="020F0502020204030204" pitchFamily="34" charset="0"/>
                        </a:rPr>
                        <a:t>Immediate Update Protocol</a:t>
                      </a:r>
                      <a:endParaRPr lang="en-US" sz="2000" dirty="0">
                        <a:solidFill>
                          <a:srgbClr val="FFFF00"/>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577628639"/>
                  </a:ext>
                </a:extLst>
              </a:tr>
              <a:tr h="370840">
                <a:tc>
                  <a:txBody>
                    <a:bodyPr/>
                    <a:lstStyle/>
                    <a:p>
                      <a:pPr algn="just"/>
                      <a:r>
                        <a:rPr lang="en-US" sz="2000" b="1" dirty="0">
                          <a:solidFill>
                            <a:srgbClr val="0033CC"/>
                          </a:solidFill>
                          <a:latin typeface="Cambria" panose="02040503050406030204" pitchFamily="18" charset="0"/>
                          <a:ea typeface="Cambria" panose="02040503050406030204" pitchFamily="18" charset="0"/>
                        </a:rPr>
                        <a:t>&lt;T starts&gt;</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dirty="0">
                          <a:solidFill>
                            <a:srgbClr val="0033CC"/>
                          </a:solidFill>
                          <a:latin typeface="Cambria" panose="02040503050406030204" pitchFamily="18" charset="0"/>
                          <a:ea typeface="Cambria" panose="02040503050406030204" pitchFamily="18" charset="0"/>
                        </a:rPr>
                        <a:t>&lt;T starts&gt;</a:t>
                      </a:r>
                    </a:p>
                  </a:txBody>
                  <a:tcPr/>
                </a:tc>
                <a:extLst>
                  <a:ext uri="{0D108BD9-81ED-4DB2-BD59-A6C34878D82A}">
                    <a16:rowId xmlns:a16="http://schemas.microsoft.com/office/drawing/2014/main" val="3144021861"/>
                  </a:ext>
                </a:extLst>
              </a:tr>
              <a:tr h="370840">
                <a:tc>
                  <a:txBody>
                    <a:bodyPr/>
                    <a:lstStyle/>
                    <a:p>
                      <a:pPr algn="just"/>
                      <a:r>
                        <a:rPr lang="en-US" sz="2000" dirty="0">
                          <a:latin typeface="Cambria" panose="02040503050406030204" pitchFamily="18" charset="0"/>
                          <a:ea typeface="Cambria" panose="02040503050406030204" pitchFamily="18" charset="0"/>
                        </a:rPr>
                        <a:t>When any write operation is performed, do not actually write the update to the database buffers or the database itself. Instead, write a log record of the form </a:t>
                      </a:r>
                      <a:r>
                        <a:rPr lang="en-US" sz="2000" dirty="0">
                          <a:solidFill>
                            <a:srgbClr val="0033CC"/>
                          </a:solidFill>
                          <a:latin typeface="Cambria" panose="02040503050406030204" pitchFamily="18" charset="0"/>
                          <a:ea typeface="Cambria" panose="02040503050406030204" pitchFamily="18" charset="0"/>
                        </a:rPr>
                        <a:t>&lt;</a:t>
                      </a:r>
                      <a:r>
                        <a:rPr lang="en-US" sz="2000" dirty="0" err="1">
                          <a:solidFill>
                            <a:srgbClr val="0033CC"/>
                          </a:solidFill>
                          <a:latin typeface="Cambria" panose="02040503050406030204" pitchFamily="18" charset="0"/>
                          <a:ea typeface="Cambria" panose="02040503050406030204" pitchFamily="18" charset="0"/>
                        </a:rPr>
                        <a:t>T,x,n</a:t>
                      </a:r>
                      <a:r>
                        <a:rPr lang="en-US" sz="2000" dirty="0">
                          <a:solidFill>
                            <a:srgbClr val="0033CC"/>
                          </a:solidFill>
                          <a:latin typeface="Cambria" panose="02040503050406030204" pitchFamily="18" charset="0"/>
                          <a:ea typeface="Cambria" panose="02040503050406030204" pitchFamily="18" charset="0"/>
                        </a:rPr>
                        <a:t>&gt;, </a:t>
                      </a:r>
                      <a:r>
                        <a:rPr lang="en-US" sz="2000" dirty="0">
                          <a:latin typeface="Cambria" panose="02040503050406030204" pitchFamily="18" charset="0"/>
                          <a:ea typeface="Cambria" panose="02040503050406030204" pitchFamily="18" charset="0"/>
                        </a:rPr>
                        <a:t>showing the new value for X.</a:t>
                      </a:r>
                    </a:p>
                  </a:txBody>
                  <a:tcPr/>
                </a:tc>
                <a:tc>
                  <a:txBody>
                    <a:bodyPr/>
                    <a:lstStyle/>
                    <a:p>
                      <a:pPr algn="just"/>
                      <a:r>
                        <a:rPr kumimoji="0" lang="en-US" sz="2000" b="0" i="0" u="none" strike="noStrike" kern="1200" baseline="0" dirty="0">
                          <a:solidFill>
                            <a:schemeClr val="dk1"/>
                          </a:solidFill>
                          <a:latin typeface="Cambria" panose="02040503050406030204" pitchFamily="18" charset="0"/>
                          <a:ea typeface="Cambria" panose="02040503050406030204" pitchFamily="18" charset="0"/>
                          <a:cs typeface="+mn-cs"/>
                        </a:rPr>
                        <a:t>When a write operation is performed, write a log record containing of the form </a:t>
                      </a:r>
                      <a:r>
                        <a:rPr kumimoji="0" lang="en-US" sz="2000" b="0" i="0" u="none" strike="noStrike" kern="1200" baseline="0" dirty="0">
                          <a:solidFill>
                            <a:srgbClr val="0033CC"/>
                          </a:solidFill>
                          <a:latin typeface="Cambria" panose="02040503050406030204" pitchFamily="18" charset="0"/>
                          <a:ea typeface="Cambria" panose="02040503050406030204" pitchFamily="18" charset="0"/>
                          <a:cs typeface="+mn-cs"/>
                        </a:rPr>
                        <a:t>&lt;</a:t>
                      </a:r>
                      <a:r>
                        <a:rPr kumimoji="0" lang="en-US" sz="2000" b="0" i="0" u="none" strike="noStrike" kern="1200" baseline="0" dirty="0" err="1">
                          <a:solidFill>
                            <a:srgbClr val="0033CC"/>
                          </a:solidFill>
                          <a:latin typeface="Cambria" panose="02040503050406030204" pitchFamily="18" charset="0"/>
                          <a:ea typeface="Cambria" panose="02040503050406030204" pitchFamily="18" charset="0"/>
                          <a:cs typeface="+mn-cs"/>
                        </a:rPr>
                        <a:t>T,x,o,n</a:t>
                      </a:r>
                      <a:r>
                        <a:rPr kumimoji="0" lang="en-US" sz="2000" b="0" i="0" u="none" strike="noStrike" kern="1200" baseline="0" dirty="0">
                          <a:solidFill>
                            <a:srgbClr val="0033CC"/>
                          </a:solidFill>
                          <a:latin typeface="Cambria" panose="02040503050406030204" pitchFamily="18" charset="0"/>
                          <a:ea typeface="Cambria" panose="02040503050406030204" pitchFamily="18" charset="0"/>
                          <a:cs typeface="+mn-cs"/>
                        </a:rPr>
                        <a:t>&gt;,</a:t>
                      </a:r>
                      <a:r>
                        <a:rPr kumimoji="0" lang="en-US" sz="2000" b="0" i="0" u="none" strike="noStrike" kern="1200" baseline="0" dirty="0">
                          <a:solidFill>
                            <a:schemeClr val="dk1"/>
                          </a:solidFill>
                          <a:latin typeface="Cambria" panose="02040503050406030204" pitchFamily="18" charset="0"/>
                          <a:ea typeface="Cambria" panose="02040503050406030204" pitchFamily="18" charset="0"/>
                          <a:cs typeface="+mn-cs"/>
                        </a:rPr>
                        <a:t> </a:t>
                      </a:r>
                      <a:r>
                        <a:rPr lang="en-US" sz="2000" dirty="0">
                          <a:latin typeface="Cambria" panose="02040503050406030204" pitchFamily="18" charset="0"/>
                          <a:ea typeface="Cambria" panose="02040503050406030204" pitchFamily="18" charset="0"/>
                        </a:rPr>
                        <a:t> showing the old and new value for X.</a:t>
                      </a:r>
                    </a:p>
                  </a:txBody>
                  <a:tcPr/>
                </a:tc>
                <a:extLst>
                  <a:ext uri="{0D108BD9-81ED-4DB2-BD59-A6C34878D82A}">
                    <a16:rowId xmlns:a16="http://schemas.microsoft.com/office/drawing/2014/main" val="360096057"/>
                  </a:ext>
                </a:extLst>
              </a:tr>
              <a:tr h="370840">
                <a:tc>
                  <a:txBody>
                    <a:bodyPr/>
                    <a:lstStyle/>
                    <a:p>
                      <a:pPr algn="just"/>
                      <a:r>
                        <a:rPr kumimoji="0" lang="en-US" sz="2000" b="0" i="0" u="none" strike="noStrike" kern="1200" baseline="0" dirty="0">
                          <a:solidFill>
                            <a:srgbClr val="FF0000"/>
                          </a:solidFill>
                          <a:latin typeface="Cambria" panose="02040503050406030204" pitchFamily="18" charset="0"/>
                          <a:ea typeface="Cambria" panose="02040503050406030204" pitchFamily="18" charset="0"/>
                          <a:cs typeface="+mn-cs"/>
                        </a:rPr>
                        <a:t>&lt;T commits&gt;,</a:t>
                      </a:r>
                      <a:r>
                        <a:rPr kumimoji="0" lang="en-US" sz="2000" b="0" i="0" u="none" strike="noStrike" kern="1200" baseline="0" dirty="0">
                          <a:solidFill>
                            <a:schemeClr val="dk1"/>
                          </a:solidFill>
                          <a:latin typeface="Cambria" panose="02040503050406030204" pitchFamily="18" charset="0"/>
                          <a:ea typeface="Cambria" panose="02040503050406030204" pitchFamily="18" charset="0"/>
                          <a:cs typeface="+mn-cs"/>
                        </a:rPr>
                        <a:t> write all the log records for the transaction to disk, and then commit the transaction. Use the log records to perform the actual updates to the database.</a:t>
                      </a:r>
                      <a:endParaRPr lang="en-US" sz="2000" dirty="0">
                        <a:latin typeface="Cambria" panose="02040503050406030204" pitchFamily="18" charset="0"/>
                        <a:ea typeface="Cambria" panose="02040503050406030204" pitchFamily="18" charset="0"/>
                      </a:endParaRPr>
                    </a:p>
                  </a:txBody>
                  <a:tcPr/>
                </a:tc>
                <a:tc>
                  <a:txBody>
                    <a:bodyPr/>
                    <a:lstStyle/>
                    <a:p>
                      <a:pPr algn="just"/>
                      <a:r>
                        <a:rPr lang="en-US" sz="2000" dirty="0">
                          <a:latin typeface="Cambria" panose="02040503050406030204" pitchFamily="18" charset="0"/>
                          <a:ea typeface="Cambria" panose="02040503050406030204" pitchFamily="18" charset="0"/>
                        </a:rPr>
                        <a:t>After the log record is written, write the update to the database buffers.</a:t>
                      </a:r>
                    </a:p>
                    <a:p>
                      <a:pPr algn="just"/>
                      <a:r>
                        <a:rPr lang="en-US" sz="2000" dirty="0">
                          <a:latin typeface="Cambria" panose="02040503050406030204" pitchFamily="18" charset="0"/>
                          <a:ea typeface="Cambria" panose="02040503050406030204" pitchFamily="18" charset="0"/>
                        </a:rPr>
                        <a:t>Write the log records to disk and then write updates to the database itself.</a:t>
                      </a:r>
                    </a:p>
                    <a:p>
                      <a:pPr algn="just"/>
                      <a:r>
                        <a:rPr kumimoji="0" lang="en-US" sz="2000" b="0" i="0" u="none" strike="noStrike" kern="1200" baseline="0" dirty="0">
                          <a:solidFill>
                            <a:srgbClr val="FF0000"/>
                          </a:solidFill>
                          <a:latin typeface="Cambria" panose="02040503050406030204" pitchFamily="18" charset="0"/>
                          <a:ea typeface="Cambria" panose="02040503050406030204" pitchFamily="18" charset="0"/>
                          <a:cs typeface="+mn-cs"/>
                        </a:rPr>
                        <a:t>&lt;T commits&gt;</a:t>
                      </a:r>
                      <a:endParaRPr lang="en-US" sz="2000" dirty="0">
                        <a:solidFill>
                          <a:srgbClr val="FF0000"/>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522701374"/>
                  </a:ext>
                </a:extLst>
              </a:tr>
              <a:tr h="370840">
                <a:tc>
                  <a:txBody>
                    <a:bodyPr/>
                    <a:lstStyle/>
                    <a:p>
                      <a:pPr algn="just"/>
                      <a:r>
                        <a:rPr kumimoji="0" lang="en-US" sz="2000" b="0" i="0" u="none" strike="noStrike" kern="1200" baseline="0" dirty="0">
                          <a:solidFill>
                            <a:schemeClr val="dk1"/>
                          </a:solidFill>
                          <a:latin typeface="Cambria" panose="02040503050406030204" pitchFamily="18" charset="0"/>
                          <a:ea typeface="Cambria" panose="02040503050406030204" pitchFamily="18" charset="0"/>
                          <a:cs typeface="+mn-cs"/>
                        </a:rPr>
                        <a:t>If the transaction aborts, simply ignore the log records for the transaction and do not perform the writes.</a:t>
                      </a:r>
                      <a:endParaRPr lang="en-US" sz="2000" dirty="0">
                        <a:latin typeface="Cambria" panose="02040503050406030204" pitchFamily="18" charset="0"/>
                        <a:ea typeface="Cambria" panose="02040503050406030204" pitchFamily="18" charset="0"/>
                      </a:endParaRPr>
                    </a:p>
                  </a:txBody>
                  <a:tcPr/>
                </a:tc>
                <a:tc>
                  <a:txBody>
                    <a:bodyPr/>
                    <a:lstStyle/>
                    <a:p>
                      <a:r>
                        <a:rPr kumimoji="0" lang="en-US" sz="2000" b="0" i="0" u="none" strike="noStrike" kern="1200" baseline="0" dirty="0">
                          <a:solidFill>
                            <a:schemeClr val="dk1"/>
                          </a:solidFill>
                          <a:latin typeface="Cambria" panose="02040503050406030204" pitchFamily="18" charset="0"/>
                          <a:ea typeface="Cambria" panose="02040503050406030204" pitchFamily="18" charset="0"/>
                          <a:cs typeface="+mn-cs"/>
                        </a:rPr>
                        <a:t>If a transaction aborts, the log can be used to undo it. </a:t>
                      </a:r>
                      <a:endParaRPr lang="en-US" sz="20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508620132"/>
                  </a:ext>
                </a:extLst>
              </a:tr>
              <a:tr h="370840">
                <a:tc>
                  <a:txBody>
                    <a:bodyPr/>
                    <a:lstStyle/>
                    <a:p>
                      <a:pPr algn="just"/>
                      <a:r>
                        <a:rPr lang="en-US" sz="2000" b="1" dirty="0">
                          <a:solidFill>
                            <a:srgbClr val="0033CC"/>
                          </a:solidFill>
                          <a:latin typeface="Cambria" panose="02040503050406030204" pitchFamily="18" charset="0"/>
                          <a:ea typeface="Cambria" panose="02040503050406030204" pitchFamily="18" charset="0"/>
                        </a:rPr>
                        <a:t>redo/no undo method,</a:t>
                      </a:r>
                      <a:r>
                        <a:rPr lang="en-US" sz="2000" dirty="0">
                          <a:latin typeface="Cambria" panose="02040503050406030204" pitchFamily="18" charset="0"/>
                          <a:ea typeface="Cambria" panose="02040503050406030204" pitchFamily="18" charset="0"/>
                        </a:rPr>
                        <a:t> since we redo committed transactions and we do not undo any transactions.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srgbClr val="0033CC"/>
                          </a:solidFill>
                          <a:latin typeface="Cambria" panose="02040503050406030204" pitchFamily="18" charset="0"/>
                          <a:ea typeface="Cambria" panose="02040503050406030204" pitchFamily="18" charset="0"/>
                        </a:rPr>
                        <a:t>redo/undo method,</a:t>
                      </a:r>
                      <a:r>
                        <a:rPr lang="en-US" sz="2000" dirty="0">
                          <a:latin typeface="Cambria" panose="02040503050406030204" pitchFamily="18" charset="0"/>
                          <a:ea typeface="Cambria" panose="02040503050406030204" pitchFamily="18" charset="0"/>
                        </a:rPr>
                        <a:t> since we redo committed transactions and undo other transactions.</a:t>
                      </a:r>
                    </a:p>
                  </a:txBody>
                  <a:tcPr/>
                </a:tc>
                <a:extLst>
                  <a:ext uri="{0D108BD9-81ED-4DB2-BD59-A6C34878D82A}">
                    <a16:rowId xmlns:a16="http://schemas.microsoft.com/office/drawing/2014/main" val="1338337291"/>
                  </a:ext>
                </a:extLst>
              </a:tr>
            </a:tbl>
          </a:graphicData>
        </a:graphic>
      </p:graphicFrame>
    </p:spTree>
    <p:extLst>
      <p:ext uri="{BB962C8B-B14F-4D97-AF65-F5344CB8AC3E}">
        <p14:creationId xmlns:p14="http://schemas.microsoft.com/office/powerpoint/2010/main" val="313093191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DA73F-33BF-DB75-993F-CBEEA5AA34A0}"/>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16B5AF30-48DA-E2D9-231B-25AD06C7BD6C}"/>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Database Recovery Facilities</a:t>
            </a:r>
          </a:p>
        </p:txBody>
      </p:sp>
      <p:sp>
        <p:nvSpPr>
          <p:cNvPr id="2" name="Footer Placeholder 2">
            <a:extLst>
              <a:ext uri="{FF2B5EF4-FFF2-40B4-BE49-F238E27FC236}">
                <a16:creationId xmlns:a16="http://schemas.microsoft.com/office/drawing/2014/main" id="{4CD53820-1CA7-34A8-6012-6A027D3736EA}"/>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Slide Number Placeholder 23">
            <a:extLst>
              <a:ext uri="{FF2B5EF4-FFF2-40B4-BE49-F238E27FC236}">
                <a16:creationId xmlns:a16="http://schemas.microsoft.com/office/drawing/2014/main" id="{AC4510D4-2AAA-D5B4-8BAA-BB54301E9C3E}"/>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AutoShape 4">
            <a:extLst>
              <a:ext uri="{FF2B5EF4-FFF2-40B4-BE49-F238E27FC236}">
                <a16:creationId xmlns:a16="http://schemas.microsoft.com/office/drawing/2014/main" id="{13C80651-2D25-FAC6-B1CC-093FB709FAF6}"/>
              </a:ext>
            </a:extLst>
          </p:cNvPr>
          <p:cNvSpPr>
            <a:spLocks noChangeArrowheads="1"/>
          </p:cNvSpPr>
          <p:nvPr/>
        </p:nvSpPr>
        <p:spPr bwMode="auto">
          <a:xfrm>
            <a:off x="457200" y="2051720"/>
            <a:ext cx="2133600" cy="1676400"/>
          </a:xfrm>
          <a:prstGeom prst="flowChartMagneticDisk">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400">
                <a:latin typeface="Cambria" panose="02040503050406030204" pitchFamily="18" charset="0"/>
                <a:ea typeface="Cambria" panose="02040503050406030204" pitchFamily="18" charset="0"/>
              </a:rPr>
              <a:t>Database</a:t>
            </a:r>
          </a:p>
          <a:p>
            <a:pPr algn="ctr" eaLnBrk="1" hangingPunct="1">
              <a:spcBef>
                <a:spcPct val="0"/>
              </a:spcBef>
              <a:buFontTx/>
              <a:buNone/>
            </a:pPr>
            <a:r>
              <a:rPr lang="en-US" altLang="en-US" sz="2400">
                <a:latin typeface="Cambria" panose="02040503050406030204" pitchFamily="18" charset="0"/>
                <a:ea typeface="Cambria" panose="02040503050406030204" pitchFamily="18" charset="0"/>
              </a:rPr>
              <a:t>(Current)</a:t>
            </a:r>
          </a:p>
        </p:txBody>
      </p:sp>
      <p:sp>
        <p:nvSpPr>
          <p:cNvPr id="5" name="AutoShape 5">
            <a:extLst>
              <a:ext uri="{FF2B5EF4-FFF2-40B4-BE49-F238E27FC236}">
                <a16:creationId xmlns:a16="http://schemas.microsoft.com/office/drawing/2014/main" id="{FAE13735-8C09-F8FD-A32A-508C47AA4D30}"/>
              </a:ext>
            </a:extLst>
          </p:cNvPr>
          <p:cNvSpPr>
            <a:spLocks noChangeArrowheads="1"/>
          </p:cNvSpPr>
          <p:nvPr/>
        </p:nvSpPr>
        <p:spPr bwMode="auto">
          <a:xfrm>
            <a:off x="3429000" y="2127920"/>
            <a:ext cx="2209800" cy="1600200"/>
          </a:xfrm>
          <a:prstGeom prst="flowChartMagneticDisk">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400">
                <a:latin typeface="Cambria" panose="02040503050406030204" pitchFamily="18" charset="0"/>
                <a:ea typeface="Cambria" panose="02040503050406030204" pitchFamily="18" charset="0"/>
              </a:rPr>
              <a:t>Transaction </a:t>
            </a:r>
          </a:p>
          <a:p>
            <a:pPr algn="ctr" eaLnBrk="1" hangingPunct="1">
              <a:spcBef>
                <a:spcPct val="0"/>
              </a:spcBef>
              <a:buFontTx/>
              <a:buNone/>
            </a:pPr>
            <a:r>
              <a:rPr lang="en-US" altLang="en-US" sz="2400">
                <a:latin typeface="Cambria" panose="02040503050406030204" pitchFamily="18" charset="0"/>
                <a:ea typeface="Cambria" panose="02040503050406030204" pitchFamily="18" charset="0"/>
              </a:rPr>
              <a:t>Log</a:t>
            </a:r>
          </a:p>
        </p:txBody>
      </p:sp>
      <p:sp>
        <p:nvSpPr>
          <p:cNvPr id="8" name="AutoShape 6">
            <a:extLst>
              <a:ext uri="{FF2B5EF4-FFF2-40B4-BE49-F238E27FC236}">
                <a16:creationId xmlns:a16="http://schemas.microsoft.com/office/drawing/2014/main" id="{798BC2F1-8F67-7258-3FB3-5AA2E6D41672}"/>
              </a:ext>
            </a:extLst>
          </p:cNvPr>
          <p:cNvSpPr>
            <a:spLocks noChangeArrowheads="1"/>
          </p:cNvSpPr>
          <p:nvPr/>
        </p:nvSpPr>
        <p:spPr bwMode="auto">
          <a:xfrm>
            <a:off x="6324600" y="2051720"/>
            <a:ext cx="2133600" cy="1676400"/>
          </a:xfrm>
          <a:prstGeom prst="flowChartMagneticDisk">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400">
                <a:latin typeface="Cambria" panose="02040503050406030204" pitchFamily="18" charset="0"/>
                <a:ea typeface="Cambria" panose="02040503050406030204" pitchFamily="18" charset="0"/>
              </a:rPr>
              <a:t>Database</a:t>
            </a:r>
          </a:p>
          <a:p>
            <a:pPr algn="ctr" eaLnBrk="1" hangingPunct="1">
              <a:spcBef>
                <a:spcPct val="0"/>
              </a:spcBef>
              <a:buFontTx/>
              <a:buNone/>
            </a:pPr>
            <a:r>
              <a:rPr lang="en-US" altLang="en-US" sz="2400">
                <a:latin typeface="Cambria" panose="02040503050406030204" pitchFamily="18" charset="0"/>
                <a:ea typeface="Cambria" panose="02040503050406030204" pitchFamily="18" charset="0"/>
              </a:rPr>
              <a:t>Change Log</a:t>
            </a:r>
          </a:p>
        </p:txBody>
      </p:sp>
      <p:sp>
        <p:nvSpPr>
          <p:cNvPr id="9" name="AutoShape 7">
            <a:extLst>
              <a:ext uri="{FF2B5EF4-FFF2-40B4-BE49-F238E27FC236}">
                <a16:creationId xmlns:a16="http://schemas.microsoft.com/office/drawing/2014/main" id="{A1F18074-B329-0D66-0A55-6BAB55CE0306}"/>
              </a:ext>
            </a:extLst>
          </p:cNvPr>
          <p:cNvSpPr>
            <a:spLocks noChangeArrowheads="1"/>
          </p:cNvSpPr>
          <p:nvPr/>
        </p:nvSpPr>
        <p:spPr bwMode="auto">
          <a:xfrm>
            <a:off x="533400" y="4566320"/>
            <a:ext cx="2286000" cy="1600200"/>
          </a:xfrm>
          <a:prstGeom prst="flowChartMagneticDisk">
            <a:avLst/>
          </a:prstGeom>
          <a:solidFill>
            <a:schemeClr val="accent2">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400">
                <a:solidFill>
                  <a:schemeClr val="bg1"/>
                </a:solidFill>
                <a:latin typeface="Cambria" panose="02040503050406030204" pitchFamily="18" charset="0"/>
                <a:ea typeface="Cambria" panose="02040503050406030204" pitchFamily="18" charset="0"/>
              </a:rPr>
              <a:t>Database</a:t>
            </a:r>
          </a:p>
          <a:p>
            <a:pPr algn="ctr" eaLnBrk="1" hangingPunct="1">
              <a:spcBef>
                <a:spcPct val="0"/>
              </a:spcBef>
              <a:buFontTx/>
              <a:buNone/>
            </a:pPr>
            <a:r>
              <a:rPr lang="en-US" altLang="en-US" sz="2400">
                <a:solidFill>
                  <a:schemeClr val="bg1"/>
                </a:solidFill>
                <a:latin typeface="Cambria" panose="02040503050406030204" pitchFamily="18" charset="0"/>
                <a:ea typeface="Cambria" panose="02040503050406030204" pitchFamily="18" charset="0"/>
              </a:rPr>
              <a:t>(Backup)</a:t>
            </a:r>
          </a:p>
        </p:txBody>
      </p:sp>
      <p:sp>
        <p:nvSpPr>
          <p:cNvPr id="10" name="Text Box 8">
            <a:extLst>
              <a:ext uri="{FF2B5EF4-FFF2-40B4-BE49-F238E27FC236}">
                <a16:creationId xmlns:a16="http://schemas.microsoft.com/office/drawing/2014/main" id="{CF50496B-D7F2-3D30-F790-8870EF3952F7}"/>
              </a:ext>
            </a:extLst>
          </p:cNvPr>
          <p:cNvSpPr txBox="1">
            <a:spLocks noChangeArrowheads="1"/>
          </p:cNvSpPr>
          <p:nvPr/>
        </p:nvSpPr>
        <p:spPr bwMode="auto">
          <a:xfrm>
            <a:off x="2667000" y="908720"/>
            <a:ext cx="4038600" cy="650875"/>
          </a:xfrm>
          <a:prstGeom prst="rect">
            <a:avLst/>
          </a:prstGeom>
          <a:solidFill>
            <a:srgbClr val="00B0F0"/>
          </a:solidFill>
          <a:ln w="9525">
            <a:solidFill>
              <a:srgbClr val="FFFFFF"/>
            </a:solidFill>
            <a:miter lim="800000"/>
            <a:headEnd/>
            <a:tailEnd/>
          </a:ln>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3600">
                <a:latin typeface="Cambria" panose="02040503050406030204" pitchFamily="18" charset="0"/>
                <a:ea typeface="Cambria" panose="02040503050406030204" pitchFamily="18" charset="0"/>
              </a:rPr>
              <a:t>DBMS</a:t>
            </a:r>
          </a:p>
        </p:txBody>
      </p:sp>
      <p:sp>
        <p:nvSpPr>
          <p:cNvPr id="11" name="Line 9">
            <a:extLst>
              <a:ext uri="{FF2B5EF4-FFF2-40B4-BE49-F238E27FC236}">
                <a16:creationId xmlns:a16="http://schemas.microsoft.com/office/drawing/2014/main" id="{3F942F19-E0E9-1BB7-EE41-A3A012F5AABE}"/>
              </a:ext>
            </a:extLst>
          </p:cNvPr>
          <p:cNvSpPr>
            <a:spLocks noChangeShapeType="1"/>
          </p:cNvSpPr>
          <p:nvPr/>
        </p:nvSpPr>
        <p:spPr bwMode="auto">
          <a:xfrm>
            <a:off x="4572000" y="1594520"/>
            <a:ext cx="0" cy="533400"/>
          </a:xfrm>
          <a:prstGeom prst="line">
            <a:avLst/>
          </a:prstGeom>
          <a:noFill/>
          <a:ln w="38100">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latin typeface="Cambria" panose="02040503050406030204" pitchFamily="18" charset="0"/>
              <a:ea typeface="Cambria" panose="02040503050406030204" pitchFamily="18" charset="0"/>
            </a:endParaRPr>
          </a:p>
        </p:txBody>
      </p:sp>
      <p:sp>
        <p:nvSpPr>
          <p:cNvPr id="12" name="Line 10">
            <a:extLst>
              <a:ext uri="{FF2B5EF4-FFF2-40B4-BE49-F238E27FC236}">
                <a16:creationId xmlns:a16="http://schemas.microsoft.com/office/drawing/2014/main" id="{FFC5A70F-B5A0-A02C-6A20-F28BD0DD7E6D}"/>
              </a:ext>
            </a:extLst>
          </p:cNvPr>
          <p:cNvSpPr>
            <a:spLocks noChangeShapeType="1"/>
          </p:cNvSpPr>
          <p:nvPr/>
        </p:nvSpPr>
        <p:spPr bwMode="auto">
          <a:xfrm flipH="1">
            <a:off x="1600200" y="1594520"/>
            <a:ext cx="1981200" cy="381000"/>
          </a:xfrm>
          <a:prstGeom prst="line">
            <a:avLst/>
          </a:prstGeom>
          <a:noFill/>
          <a:ln w="38100">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latin typeface="Cambria" panose="02040503050406030204" pitchFamily="18" charset="0"/>
              <a:ea typeface="Cambria" panose="02040503050406030204" pitchFamily="18" charset="0"/>
            </a:endParaRPr>
          </a:p>
        </p:txBody>
      </p:sp>
      <p:sp>
        <p:nvSpPr>
          <p:cNvPr id="13" name="Line 11">
            <a:extLst>
              <a:ext uri="{FF2B5EF4-FFF2-40B4-BE49-F238E27FC236}">
                <a16:creationId xmlns:a16="http://schemas.microsoft.com/office/drawing/2014/main" id="{2A4440A8-0664-7DDF-8860-0CC726CA09D2}"/>
              </a:ext>
            </a:extLst>
          </p:cNvPr>
          <p:cNvSpPr>
            <a:spLocks noChangeShapeType="1"/>
          </p:cNvSpPr>
          <p:nvPr/>
        </p:nvSpPr>
        <p:spPr bwMode="auto">
          <a:xfrm>
            <a:off x="6324600" y="1594520"/>
            <a:ext cx="1143000" cy="381000"/>
          </a:xfrm>
          <a:prstGeom prst="line">
            <a:avLst/>
          </a:prstGeom>
          <a:noFill/>
          <a:ln w="38100">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latin typeface="Cambria" panose="02040503050406030204" pitchFamily="18" charset="0"/>
              <a:ea typeface="Cambria" panose="02040503050406030204" pitchFamily="18" charset="0"/>
            </a:endParaRPr>
          </a:p>
        </p:txBody>
      </p:sp>
      <p:sp>
        <p:nvSpPr>
          <p:cNvPr id="14" name="Line 12">
            <a:extLst>
              <a:ext uri="{FF2B5EF4-FFF2-40B4-BE49-F238E27FC236}">
                <a16:creationId xmlns:a16="http://schemas.microsoft.com/office/drawing/2014/main" id="{EF7B372B-0BF7-4468-E6BD-2BB4CC464218}"/>
              </a:ext>
            </a:extLst>
          </p:cNvPr>
          <p:cNvSpPr>
            <a:spLocks noChangeShapeType="1"/>
          </p:cNvSpPr>
          <p:nvPr/>
        </p:nvSpPr>
        <p:spPr bwMode="auto">
          <a:xfrm>
            <a:off x="1600200" y="3728120"/>
            <a:ext cx="0" cy="762000"/>
          </a:xfrm>
          <a:prstGeom prst="line">
            <a:avLst/>
          </a:prstGeom>
          <a:noFill/>
          <a:ln w="38100">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5710348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504C9-5A0A-F028-AE10-E934FF43ABF8}"/>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BB2A3A9D-0B8B-91FB-A873-1D30D80DD79B}"/>
              </a:ext>
            </a:extLst>
          </p:cNvPr>
          <p:cNvSpPr>
            <a:spLocks noGrp="1" noChangeArrowheads="1"/>
          </p:cNvSpPr>
          <p:nvPr>
            <p:ph type="title"/>
          </p:nvPr>
        </p:nvSpPr>
        <p:spPr>
          <a:xfrm>
            <a:off x="323850" y="188640"/>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Database Recovery Methods</a:t>
            </a:r>
          </a:p>
        </p:txBody>
      </p:sp>
      <p:sp>
        <p:nvSpPr>
          <p:cNvPr id="2" name="Content Placeholder 1">
            <a:extLst>
              <a:ext uri="{FF2B5EF4-FFF2-40B4-BE49-F238E27FC236}">
                <a16:creationId xmlns:a16="http://schemas.microsoft.com/office/drawing/2014/main" id="{77B9386F-71FC-3969-9B4C-6338EC7BAB45}"/>
              </a:ext>
            </a:extLst>
          </p:cNvPr>
          <p:cNvSpPr>
            <a:spLocks noGrp="1"/>
          </p:cNvSpPr>
          <p:nvPr>
            <p:ph sz="quarter" idx="1"/>
          </p:nvPr>
        </p:nvSpPr>
        <p:spPr>
          <a:xfrm>
            <a:off x="400050" y="620688"/>
            <a:ext cx="8492430" cy="6091634"/>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There are the following database recovery techniques:</a:t>
            </a:r>
          </a:p>
          <a:p>
            <a:pPr marL="731838" lvl="1" indent="-457200" algn="just">
              <a:spcBef>
                <a:spcPts val="300"/>
              </a:spcBef>
              <a:buFont typeface="+mj-lt"/>
              <a:buAutoNum type="arabicPeriod"/>
              <a:defRPr/>
            </a:pPr>
            <a:r>
              <a:rPr lang="en-US" dirty="0">
                <a:solidFill>
                  <a:srgbClr val="0033CC"/>
                </a:solidFill>
                <a:latin typeface="Cambria" panose="02040503050406030204" pitchFamily="18" charset="0"/>
                <a:ea typeface="Cambria" panose="02040503050406030204" pitchFamily="18" charset="0"/>
              </a:rPr>
              <a:t>Restore / Rerun</a:t>
            </a:r>
          </a:p>
          <a:p>
            <a:pPr marL="731838" lvl="1" indent="-457200" algn="just">
              <a:spcBef>
                <a:spcPts val="300"/>
              </a:spcBef>
              <a:buFont typeface="+mj-lt"/>
              <a:buAutoNum type="arabicPeriod"/>
              <a:defRPr/>
            </a:pPr>
            <a:r>
              <a:rPr lang="en-US" dirty="0">
                <a:solidFill>
                  <a:srgbClr val="0033CC"/>
                </a:solidFill>
                <a:latin typeface="Cambria" panose="02040503050406030204" pitchFamily="18" charset="0"/>
                <a:ea typeface="Cambria" panose="02040503050406030204" pitchFamily="18" charset="0"/>
              </a:rPr>
              <a:t>Forward Recovery </a:t>
            </a:r>
          </a:p>
          <a:p>
            <a:pPr marL="731838" lvl="1" indent="-457200" algn="just">
              <a:spcBef>
                <a:spcPts val="300"/>
              </a:spcBef>
              <a:buFont typeface="+mj-lt"/>
              <a:buAutoNum type="arabicPeriod"/>
              <a:defRPr/>
            </a:pPr>
            <a:r>
              <a:rPr lang="en-US" dirty="0">
                <a:solidFill>
                  <a:srgbClr val="0033CC"/>
                </a:solidFill>
                <a:latin typeface="Cambria" panose="02040503050406030204" pitchFamily="18" charset="0"/>
                <a:ea typeface="Cambria" panose="02040503050406030204" pitchFamily="18" charset="0"/>
              </a:rPr>
              <a:t>Backward Recovery</a:t>
            </a:r>
            <a:endParaRPr lang="en-US" dirty="0">
              <a:solidFill>
                <a:srgbClr val="FF0000"/>
              </a:solidFill>
              <a:latin typeface="Cambria" panose="02040503050406030204" pitchFamily="18" charset="0"/>
              <a:ea typeface="Cambria" panose="02040503050406030204" pitchFamily="18" charset="0"/>
            </a:endParaRPr>
          </a:p>
          <a:p>
            <a:pPr algn="just">
              <a:spcBef>
                <a:spcPts val="300"/>
              </a:spcBef>
              <a:defRPr/>
            </a:pPr>
            <a:r>
              <a:rPr lang="en-US" sz="2400" dirty="0">
                <a:latin typeface="Cambria" panose="02040503050406030204" pitchFamily="18" charset="0"/>
                <a:ea typeface="Cambria" panose="02040503050406030204" pitchFamily="18" charset="0"/>
              </a:rPr>
              <a:t>A particular recovery method to be used depends on the extent of the damage that has occurred to the database. </a:t>
            </a:r>
          </a:p>
          <a:p>
            <a:pPr algn="just">
              <a:spcBef>
                <a:spcPts val="300"/>
              </a:spcBef>
              <a:defRPr/>
            </a:pPr>
            <a:r>
              <a:rPr lang="en-US" sz="2400" dirty="0">
                <a:latin typeface="Cambria" panose="02040503050406030204" pitchFamily="18" charset="0"/>
                <a:ea typeface="Cambria" panose="02040503050406030204" pitchFamily="18" charset="0"/>
              </a:rPr>
              <a:t>If the database has been extensively damaged, for example a disk head crash has occurred and destroyed the database, then </a:t>
            </a:r>
            <a:r>
              <a:rPr lang="en-US" sz="2400" dirty="0">
                <a:solidFill>
                  <a:srgbClr val="0033CC"/>
                </a:solidFill>
                <a:latin typeface="Cambria" panose="02040503050406030204" pitchFamily="18" charset="0"/>
                <a:ea typeface="Cambria" panose="02040503050406030204" pitchFamily="18" charset="0"/>
              </a:rPr>
              <a:t>Restore/Rerun</a:t>
            </a:r>
            <a:r>
              <a:rPr lang="en-US" sz="2400" dirty="0">
                <a:latin typeface="Cambria" panose="02040503050406030204" pitchFamily="18" charset="0"/>
                <a:ea typeface="Cambria" panose="02040503050406030204" pitchFamily="18" charset="0"/>
              </a:rPr>
              <a:t> technique is used. </a:t>
            </a:r>
          </a:p>
          <a:p>
            <a:pPr algn="just">
              <a:spcBef>
                <a:spcPts val="300"/>
              </a:spcBef>
              <a:defRPr/>
            </a:pPr>
            <a:r>
              <a:rPr lang="en-US" sz="2400" dirty="0">
                <a:latin typeface="Cambria" panose="02040503050406030204" pitchFamily="18" charset="0"/>
                <a:ea typeface="Cambria" panose="02040503050406030204" pitchFamily="18" charset="0"/>
              </a:rPr>
              <a:t>If the database has not been physically damaged but has become inconsistent, then either </a:t>
            </a:r>
            <a:r>
              <a:rPr lang="en-US" sz="2400" dirty="0">
                <a:solidFill>
                  <a:srgbClr val="0033CC"/>
                </a:solidFill>
                <a:latin typeface="Cambria" panose="02040503050406030204" pitchFamily="18" charset="0"/>
                <a:ea typeface="Cambria" panose="02040503050406030204" pitchFamily="18" charset="0"/>
              </a:rPr>
              <a:t>forward recovery</a:t>
            </a:r>
            <a:r>
              <a:rPr lang="en-US" sz="2400" dirty="0">
                <a:latin typeface="Cambria" panose="02040503050406030204" pitchFamily="18" charset="0"/>
                <a:ea typeface="Cambria" panose="02040503050406030204" pitchFamily="18" charset="0"/>
              </a:rPr>
              <a:t> or </a:t>
            </a:r>
            <a:r>
              <a:rPr lang="en-US" sz="2400" dirty="0">
                <a:solidFill>
                  <a:srgbClr val="0033CC"/>
                </a:solidFill>
                <a:latin typeface="Cambria" panose="02040503050406030204" pitchFamily="18" charset="0"/>
                <a:ea typeface="Cambria" panose="02040503050406030204" pitchFamily="18" charset="0"/>
              </a:rPr>
              <a:t>backward recovery</a:t>
            </a:r>
            <a:r>
              <a:rPr lang="en-US" sz="2400" dirty="0">
                <a:latin typeface="Cambria" panose="02040503050406030204" pitchFamily="18" charset="0"/>
                <a:ea typeface="Cambria" panose="02040503050406030204" pitchFamily="18" charset="0"/>
              </a:rPr>
              <a:t> is used. </a:t>
            </a:r>
          </a:p>
          <a:p>
            <a:pPr algn="just">
              <a:spcBef>
                <a:spcPts val="300"/>
              </a:spcBef>
              <a:defRPr/>
            </a:pPr>
            <a:endParaRPr lang="en-US" sz="2400" dirty="0">
              <a:solidFill>
                <a:srgbClr val="0033CC"/>
              </a:solidFill>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55B2729A-7323-D97D-D094-A0D26A4A2C04}"/>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5831061B-12EA-7DBD-E90F-1C5757EA69DB}"/>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81915486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89A7C-04C3-4D1F-7449-74A40B9B7FC2}"/>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53CACD7E-5D7A-67B5-5AC8-3BF20E7638DC}"/>
              </a:ext>
            </a:extLst>
          </p:cNvPr>
          <p:cNvSpPr>
            <a:spLocks noGrp="1" noChangeArrowheads="1"/>
          </p:cNvSpPr>
          <p:nvPr>
            <p:ph type="title"/>
          </p:nvPr>
        </p:nvSpPr>
        <p:spPr>
          <a:xfrm>
            <a:off x="323850" y="188640"/>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Database Recovery Methods</a:t>
            </a:r>
          </a:p>
        </p:txBody>
      </p:sp>
      <p:sp>
        <p:nvSpPr>
          <p:cNvPr id="2" name="Content Placeholder 1">
            <a:extLst>
              <a:ext uri="{FF2B5EF4-FFF2-40B4-BE49-F238E27FC236}">
                <a16:creationId xmlns:a16="http://schemas.microsoft.com/office/drawing/2014/main" id="{AEEEECF3-0463-EFA5-9D4E-EB97C49495FE}"/>
              </a:ext>
            </a:extLst>
          </p:cNvPr>
          <p:cNvSpPr>
            <a:spLocks noGrp="1"/>
          </p:cNvSpPr>
          <p:nvPr>
            <p:ph sz="quarter" idx="1"/>
          </p:nvPr>
        </p:nvSpPr>
        <p:spPr>
          <a:xfrm>
            <a:off x="400050" y="620688"/>
            <a:ext cx="8492430" cy="6091634"/>
          </a:xfrm>
        </p:spPr>
        <p:txBody>
          <a:bodyPr/>
          <a:lstStyle/>
          <a:p>
            <a:pPr marL="0" lvl="1" indent="0" algn="just">
              <a:spcBef>
                <a:spcPts val="300"/>
              </a:spcBef>
              <a:buNone/>
              <a:defRPr/>
            </a:pPr>
            <a:r>
              <a:rPr lang="en-US" b="1" dirty="0">
                <a:solidFill>
                  <a:srgbClr val="0033CC"/>
                </a:solidFill>
                <a:latin typeface="Cambria" panose="02040503050406030204" pitchFamily="18" charset="0"/>
                <a:ea typeface="Cambria" panose="02040503050406030204" pitchFamily="18" charset="0"/>
              </a:rPr>
              <a:t>1. Restore / Rerun</a:t>
            </a:r>
          </a:p>
          <a:p>
            <a:pPr algn="just">
              <a:spcBef>
                <a:spcPts val="300"/>
              </a:spcBef>
              <a:defRPr/>
            </a:pPr>
            <a:r>
              <a:rPr lang="en-US" sz="2400" dirty="0">
                <a:latin typeface="Cambria" panose="02040503050406030204" pitchFamily="18" charset="0"/>
                <a:ea typeface="Cambria" panose="02040503050406030204" pitchFamily="18" charset="0"/>
              </a:rPr>
              <a:t>It involves reprocessing the transaction up to the point of failure against the backup copy of to the database. </a:t>
            </a:r>
          </a:p>
          <a:p>
            <a:pPr algn="just">
              <a:spcBef>
                <a:spcPts val="300"/>
              </a:spcBef>
              <a:defRPr/>
            </a:pPr>
            <a:r>
              <a:rPr lang="en-US" sz="2400" dirty="0">
                <a:latin typeface="Cambria" panose="02040503050406030204" pitchFamily="18" charset="0"/>
                <a:ea typeface="Cambria" panose="02040503050406030204" pitchFamily="18" charset="0"/>
              </a:rPr>
              <a:t>The most recent backup copy of the database is mounted and all transactions(stored on transaction log)  that have occurred since the copy are rerun.</a:t>
            </a:r>
          </a:p>
          <a:p>
            <a:pPr algn="just">
              <a:spcBef>
                <a:spcPts val="300"/>
              </a:spcBef>
              <a:defRPr/>
            </a:pPr>
            <a:endParaRPr lang="en-US" sz="2400" dirty="0">
              <a:solidFill>
                <a:srgbClr val="0033CC"/>
              </a:solidFill>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EAAE15BF-A629-D090-FBB4-923E2C697865}"/>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3F03F944-D610-A652-276F-80DD2BD275D1}"/>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52440229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B319A-67B3-A11E-55F5-BF15AAF6A43F}"/>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DD70C55F-FA90-1F6B-9737-7E8BDC5BFA46}"/>
              </a:ext>
            </a:extLst>
          </p:cNvPr>
          <p:cNvSpPr>
            <a:spLocks noGrp="1" noChangeArrowheads="1"/>
          </p:cNvSpPr>
          <p:nvPr>
            <p:ph type="title"/>
          </p:nvPr>
        </p:nvSpPr>
        <p:spPr>
          <a:xfrm>
            <a:off x="323850" y="188640"/>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Database Recovery Methods</a:t>
            </a:r>
          </a:p>
        </p:txBody>
      </p:sp>
      <p:sp>
        <p:nvSpPr>
          <p:cNvPr id="2" name="Content Placeholder 1">
            <a:extLst>
              <a:ext uri="{FF2B5EF4-FFF2-40B4-BE49-F238E27FC236}">
                <a16:creationId xmlns:a16="http://schemas.microsoft.com/office/drawing/2014/main" id="{1013BB81-1F86-0E01-B358-A500A4E27AB4}"/>
              </a:ext>
            </a:extLst>
          </p:cNvPr>
          <p:cNvSpPr>
            <a:spLocks noGrp="1"/>
          </p:cNvSpPr>
          <p:nvPr>
            <p:ph sz="quarter" idx="1"/>
          </p:nvPr>
        </p:nvSpPr>
        <p:spPr>
          <a:xfrm>
            <a:off x="400050" y="620688"/>
            <a:ext cx="8492430" cy="6091634"/>
          </a:xfrm>
        </p:spPr>
        <p:txBody>
          <a:bodyPr/>
          <a:lstStyle/>
          <a:p>
            <a:pPr marL="0" lvl="1" indent="0" algn="just">
              <a:spcBef>
                <a:spcPts val="300"/>
              </a:spcBef>
              <a:buNone/>
              <a:defRPr/>
            </a:pPr>
            <a:r>
              <a:rPr lang="en-US" b="1" dirty="0">
                <a:solidFill>
                  <a:srgbClr val="0033CC"/>
                </a:solidFill>
                <a:latin typeface="Cambria" panose="02040503050406030204" pitchFamily="18" charset="0"/>
                <a:ea typeface="Cambria" panose="02040503050406030204" pitchFamily="18" charset="0"/>
              </a:rPr>
              <a:t>2. Backward Recovery (Roll Backward)</a:t>
            </a:r>
          </a:p>
          <a:p>
            <a:pPr algn="just">
              <a:spcBef>
                <a:spcPts val="300"/>
              </a:spcBef>
              <a:defRPr/>
            </a:pPr>
            <a:r>
              <a:rPr lang="en-US" sz="2400" dirty="0">
                <a:latin typeface="Cambria" panose="02040503050406030204" pitchFamily="18" charset="0"/>
                <a:ea typeface="Cambria" panose="02040503050406030204" pitchFamily="18" charset="0"/>
              </a:rPr>
              <a:t>It is also called </a:t>
            </a:r>
            <a:r>
              <a:rPr lang="en-US" sz="2400" dirty="0">
                <a:solidFill>
                  <a:srgbClr val="FF0000"/>
                </a:solidFill>
                <a:latin typeface="Cambria" panose="02040503050406030204" pitchFamily="18" charset="0"/>
                <a:ea typeface="Cambria" panose="02040503050406030204" pitchFamily="18" charset="0"/>
              </a:rPr>
              <a:t>immediate update recovery protocol.</a:t>
            </a:r>
          </a:p>
          <a:p>
            <a:pPr algn="just">
              <a:spcBef>
                <a:spcPts val="300"/>
              </a:spcBef>
              <a:defRPr/>
            </a:pPr>
            <a:r>
              <a:rPr lang="en-US" sz="2400" dirty="0">
                <a:latin typeface="Cambria" panose="02040503050406030204" pitchFamily="18" charset="0"/>
                <a:ea typeface="Cambria" panose="02040503050406030204" pitchFamily="18" charset="0"/>
              </a:rPr>
              <a:t>Updates are applied to the database as they occur without waiting to reach a COMMIT point.</a:t>
            </a:r>
          </a:p>
          <a:p>
            <a:pPr algn="just">
              <a:spcBef>
                <a:spcPts val="300"/>
              </a:spcBef>
              <a:defRPr/>
            </a:pPr>
            <a:r>
              <a:rPr lang="en-US" sz="2400" dirty="0">
                <a:latin typeface="Cambria" panose="02040503050406030204" pitchFamily="18" charset="0"/>
                <a:ea typeface="Cambria" panose="02040503050406030204" pitchFamily="18" charset="0"/>
              </a:rPr>
              <a:t>If a transaction fails before it reaches this point, we need to undo the changes. </a:t>
            </a:r>
          </a:p>
          <a:p>
            <a:pPr algn="just">
              <a:spcBef>
                <a:spcPts val="300"/>
              </a:spcBef>
              <a:defRPr/>
            </a:pPr>
            <a:r>
              <a:rPr lang="en-US" sz="2400" dirty="0">
                <a:latin typeface="Cambria" panose="02040503050406030204" pitchFamily="18" charset="0"/>
                <a:ea typeface="Cambria" panose="02040503050406030204" pitchFamily="18" charset="0"/>
              </a:rPr>
              <a:t>It is used to </a:t>
            </a:r>
            <a:r>
              <a:rPr lang="en-US" sz="2400" dirty="0">
                <a:solidFill>
                  <a:srgbClr val="FF0000"/>
                </a:solidFill>
                <a:latin typeface="Cambria" panose="02040503050406030204" pitchFamily="18" charset="0"/>
                <a:ea typeface="Cambria" panose="02040503050406030204" pitchFamily="18" charset="0"/>
              </a:rPr>
              <a:t>undo unwanted changes</a:t>
            </a:r>
            <a:r>
              <a:rPr lang="en-US" sz="2400" dirty="0">
                <a:latin typeface="Cambria" panose="02040503050406030204" pitchFamily="18" charset="0"/>
                <a:ea typeface="Cambria" panose="02040503050406030204" pitchFamily="18" charset="0"/>
              </a:rPr>
              <a:t> to the database.</a:t>
            </a:r>
          </a:p>
          <a:p>
            <a:pPr algn="just">
              <a:spcBef>
                <a:spcPts val="300"/>
              </a:spcBef>
              <a:defRPr/>
            </a:pPr>
            <a:r>
              <a:rPr lang="en-US" sz="2400" dirty="0">
                <a:latin typeface="Cambria" panose="02040503050406030204" pitchFamily="18" charset="0"/>
                <a:ea typeface="Cambria" panose="02040503050406030204" pitchFamily="18" charset="0"/>
              </a:rPr>
              <a:t>Before images of the records that have been changed are applied to the database.</a:t>
            </a:r>
          </a:p>
          <a:p>
            <a:pPr algn="just">
              <a:spcBef>
                <a:spcPts val="300"/>
              </a:spcBef>
              <a:defRPr/>
            </a:pPr>
            <a:r>
              <a:rPr lang="en-US" sz="2400" dirty="0">
                <a:latin typeface="Cambria" panose="02040503050406030204" pitchFamily="18" charset="0"/>
                <a:ea typeface="Cambria" panose="02040503050406030204" pitchFamily="18" charset="0"/>
              </a:rPr>
              <a:t>As a result, the database is returned to an earlier state and the unwanted changes are eliminated.</a:t>
            </a:r>
          </a:p>
          <a:p>
            <a:pPr algn="just">
              <a:spcBef>
                <a:spcPts val="300"/>
              </a:spcBef>
              <a:defRPr/>
            </a:pPr>
            <a:r>
              <a:rPr lang="en-US" sz="2400" dirty="0">
                <a:latin typeface="Cambria" panose="02040503050406030204" pitchFamily="18" charset="0"/>
                <a:ea typeface="Cambria" panose="02040503050406030204" pitchFamily="18" charset="0"/>
              </a:rPr>
              <a:t>This is shown in the Fig:</a:t>
            </a:r>
          </a:p>
          <a:p>
            <a:pPr algn="just">
              <a:spcBef>
                <a:spcPts val="300"/>
              </a:spcBef>
              <a:defRPr/>
            </a:pPr>
            <a:endParaRPr lang="en-US" sz="2400" dirty="0">
              <a:solidFill>
                <a:srgbClr val="0033CC"/>
              </a:solidFill>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770A7D84-CE42-C747-51A6-0E320D358DB3}"/>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445EF76B-D831-307C-8665-7129A0E8821E}"/>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71058606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B7BBD-7511-9527-5BFD-792B2C30B901}"/>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5DEBED0A-5A15-7BD7-65E8-F259B52A137A}"/>
              </a:ext>
            </a:extLst>
          </p:cNvPr>
          <p:cNvSpPr>
            <a:spLocks noGrp="1" noChangeArrowheads="1"/>
          </p:cNvSpPr>
          <p:nvPr>
            <p:ph type="title"/>
          </p:nvPr>
        </p:nvSpPr>
        <p:spPr>
          <a:xfrm>
            <a:off x="323850" y="188640"/>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Database Recovery Methods</a:t>
            </a:r>
          </a:p>
        </p:txBody>
      </p:sp>
      <p:sp>
        <p:nvSpPr>
          <p:cNvPr id="2" name="Content Placeholder 1">
            <a:extLst>
              <a:ext uri="{FF2B5EF4-FFF2-40B4-BE49-F238E27FC236}">
                <a16:creationId xmlns:a16="http://schemas.microsoft.com/office/drawing/2014/main" id="{52293EE8-C723-900E-2343-25A4A285B84E}"/>
              </a:ext>
            </a:extLst>
          </p:cNvPr>
          <p:cNvSpPr>
            <a:spLocks noGrp="1"/>
          </p:cNvSpPr>
          <p:nvPr>
            <p:ph sz="quarter" idx="1"/>
          </p:nvPr>
        </p:nvSpPr>
        <p:spPr>
          <a:xfrm>
            <a:off x="400050" y="620688"/>
            <a:ext cx="8492430" cy="6091634"/>
          </a:xfrm>
        </p:spPr>
        <p:txBody>
          <a:bodyPr/>
          <a:lstStyle/>
          <a:p>
            <a:pPr marL="0" lvl="1" indent="0" algn="just">
              <a:spcBef>
                <a:spcPts val="300"/>
              </a:spcBef>
              <a:buNone/>
              <a:defRPr/>
            </a:pPr>
            <a:r>
              <a:rPr lang="en-US" b="1" dirty="0">
                <a:solidFill>
                  <a:srgbClr val="0033CC"/>
                </a:solidFill>
                <a:latin typeface="Cambria" panose="02040503050406030204" pitchFamily="18" charset="0"/>
                <a:ea typeface="Cambria" panose="02040503050406030204" pitchFamily="18" charset="0"/>
              </a:rPr>
              <a:t>2. Backward Recovery (Roll Backward)</a:t>
            </a:r>
          </a:p>
          <a:p>
            <a:pPr algn="just">
              <a:spcBef>
                <a:spcPts val="300"/>
              </a:spcBef>
              <a:defRPr/>
            </a:pPr>
            <a:endParaRPr lang="en-US" sz="2400" dirty="0">
              <a:solidFill>
                <a:srgbClr val="0033CC"/>
              </a:solidFill>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3DAEB2C4-8EEE-239A-6E89-8A50E579D4B4}"/>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4C6504D3-DB9E-F663-AF7A-3B59C4107955}"/>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5" name="AutoShape 4">
            <a:extLst>
              <a:ext uri="{FF2B5EF4-FFF2-40B4-BE49-F238E27FC236}">
                <a16:creationId xmlns:a16="http://schemas.microsoft.com/office/drawing/2014/main" id="{E0C76982-9DCF-C217-DB69-A307180DFCD1}"/>
              </a:ext>
            </a:extLst>
          </p:cNvPr>
          <p:cNvSpPr>
            <a:spLocks noChangeArrowheads="1"/>
          </p:cNvSpPr>
          <p:nvPr/>
        </p:nvSpPr>
        <p:spPr bwMode="auto">
          <a:xfrm>
            <a:off x="457200" y="1219200"/>
            <a:ext cx="2133600" cy="2514600"/>
          </a:xfrm>
          <a:prstGeom prst="flowChartMagneticDisk">
            <a:avLst/>
          </a:prstGeom>
          <a:solidFill>
            <a:srgbClr val="3366FF"/>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dirty="0">
                <a:latin typeface="Cambria" panose="02040503050406030204" pitchFamily="18" charset="0"/>
                <a:ea typeface="Cambria" panose="02040503050406030204" pitchFamily="18" charset="0"/>
              </a:rPr>
              <a:t>Database</a:t>
            </a:r>
          </a:p>
          <a:p>
            <a:pPr algn="ctr" eaLnBrk="1" hangingPunct="1">
              <a:spcBef>
                <a:spcPct val="0"/>
              </a:spcBef>
              <a:buFontTx/>
              <a:buNone/>
            </a:pPr>
            <a:r>
              <a:rPr lang="en-US" altLang="en-US" dirty="0">
                <a:solidFill>
                  <a:srgbClr val="FFFF00"/>
                </a:solidFill>
                <a:latin typeface="Cambria" panose="02040503050406030204" pitchFamily="18" charset="0"/>
                <a:ea typeface="Cambria" panose="02040503050406030204" pitchFamily="18" charset="0"/>
              </a:rPr>
              <a:t>(With </a:t>
            </a:r>
          </a:p>
          <a:p>
            <a:pPr algn="ctr" eaLnBrk="1" hangingPunct="1">
              <a:spcBef>
                <a:spcPct val="0"/>
              </a:spcBef>
              <a:buFontTx/>
              <a:buNone/>
            </a:pPr>
            <a:r>
              <a:rPr lang="en-US" altLang="en-US" dirty="0">
                <a:solidFill>
                  <a:srgbClr val="FFFF00"/>
                </a:solidFill>
                <a:latin typeface="Cambria" panose="02040503050406030204" pitchFamily="18" charset="0"/>
                <a:ea typeface="Cambria" panose="02040503050406030204" pitchFamily="18" charset="0"/>
              </a:rPr>
              <a:t>Changes)</a:t>
            </a:r>
          </a:p>
        </p:txBody>
      </p:sp>
      <p:sp>
        <p:nvSpPr>
          <p:cNvPr id="6" name="AutoShape 5">
            <a:extLst>
              <a:ext uri="{FF2B5EF4-FFF2-40B4-BE49-F238E27FC236}">
                <a16:creationId xmlns:a16="http://schemas.microsoft.com/office/drawing/2014/main" id="{78415FBF-6593-99B8-E279-E17FAD9D0A8D}"/>
              </a:ext>
            </a:extLst>
          </p:cNvPr>
          <p:cNvSpPr>
            <a:spLocks noChangeArrowheads="1"/>
          </p:cNvSpPr>
          <p:nvPr/>
        </p:nvSpPr>
        <p:spPr bwMode="auto">
          <a:xfrm>
            <a:off x="6324600" y="2209800"/>
            <a:ext cx="2133600" cy="2819400"/>
          </a:xfrm>
          <a:prstGeom prst="flowChartMagneticDisk">
            <a:avLst/>
          </a:prstGeom>
          <a:solidFill>
            <a:srgbClr val="33CCCC"/>
          </a:solidFill>
          <a:ln w="9525">
            <a:solidFill>
              <a:srgbClr val="FFFFFF"/>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dirty="0">
                <a:latin typeface="Cambria" panose="02040503050406030204" pitchFamily="18" charset="0"/>
                <a:ea typeface="Cambria" panose="02040503050406030204" pitchFamily="18" charset="0"/>
              </a:rPr>
              <a:t>Database</a:t>
            </a:r>
          </a:p>
          <a:p>
            <a:pPr algn="ctr" eaLnBrk="1" hangingPunct="1">
              <a:spcBef>
                <a:spcPct val="0"/>
              </a:spcBef>
              <a:buFontTx/>
              <a:buNone/>
            </a:pPr>
            <a:r>
              <a:rPr lang="en-US" altLang="en-US" dirty="0">
                <a:solidFill>
                  <a:srgbClr val="FF0000"/>
                </a:solidFill>
                <a:latin typeface="Cambria" panose="02040503050406030204" pitchFamily="18" charset="0"/>
                <a:ea typeface="Cambria" panose="02040503050406030204" pitchFamily="18" charset="0"/>
              </a:rPr>
              <a:t>(Without </a:t>
            </a:r>
          </a:p>
          <a:p>
            <a:pPr algn="ctr" eaLnBrk="1" hangingPunct="1">
              <a:spcBef>
                <a:spcPct val="0"/>
              </a:spcBef>
              <a:buFontTx/>
              <a:buNone/>
            </a:pPr>
            <a:r>
              <a:rPr lang="en-US" altLang="en-US" dirty="0">
                <a:solidFill>
                  <a:srgbClr val="FF0000"/>
                </a:solidFill>
                <a:latin typeface="Cambria" panose="02040503050406030204" pitchFamily="18" charset="0"/>
                <a:ea typeface="Cambria" panose="02040503050406030204" pitchFamily="18" charset="0"/>
              </a:rPr>
              <a:t>Changes)</a:t>
            </a:r>
          </a:p>
        </p:txBody>
      </p:sp>
      <p:sp>
        <p:nvSpPr>
          <p:cNvPr id="7" name="AutoShape 6">
            <a:extLst>
              <a:ext uri="{FF2B5EF4-FFF2-40B4-BE49-F238E27FC236}">
                <a16:creationId xmlns:a16="http://schemas.microsoft.com/office/drawing/2014/main" id="{74974040-BA40-2321-926C-37D0636A0B93}"/>
              </a:ext>
            </a:extLst>
          </p:cNvPr>
          <p:cNvSpPr>
            <a:spLocks noChangeArrowheads="1"/>
          </p:cNvSpPr>
          <p:nvPr/>
        </p:nvSpPr>
        <p:spPr bwMode="auto">
          <a:xfrm>
            <a:off x="533400" y="4419600"/>
            <a:ext cx="2286000" cy="1676400"/>
          </a:xfrm>
          <a:prstGeom prst="flowChartMagneticDisk">
            <a:avLst/>
          </a:prstGeom>
          <a:solidFill>
            <a:schemeClr val="accent1"/>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dirty="0">
                <a:latin typeface="Cambria" panose="02040503050406030204" pitchFamily="18" charset="0"/>
                <a:ea typeface="Cambria" panose="02040503050406030204" pitchFamily="18" charset="0"/>
              </a:rPr>
              <a:t>Before </a:t>
            </a:r>
          </a:p>
          <a:p>
            <a:pPr algn="ctr" eaLnBrk="1" hangingPunct="1">
              <a:spcBef>
                <a:spcPct val="0"/>
              </a:spcBef>
              <a:buFontTx/>
              <a:buNone/>
            </a:pPr>
            <a:r>
              <a:rPr lang="en-US" altLang="en-US" dirty="0">
                <a:latin typeface="Cambria" panose="02040503050406030204" pitchFamily="18" charset="0"/>
                <a:ea typeface="Cambria" panose="02040503050406030204" pitchFamily="18" charset="0"/>
              </a:rPr>
              <a:t>Images</a:t>
            </a:r>
          </a:p>
        </p:txBody>
      </p:sp>
      <p:sp>
        <p:nvSpPr>
          <p:cNvPr id="8" name="Text Box 7">
            <a:extLst>
              <a:ext uri="{FF2B5EF4-FFF2-40B4-BE49-F238E27FC236}">
                <a16:creationId xmlns:a16="http://schemas.microsoft.com/office/drawing/2014/main" id="{15BB9103-8DF8-9A40-CF72-99F3D55C4560}"/>
              </a:ext>
            </a:extLst>
          </p:cNvPr>
          <p:cNvSpPr txBox="1">
            <a:spLocks noChangeArrowheads="1"/>
          </p:cNvSpPr>
          <p:nvPr/>
        </p:nvSpPr>
        <p:spPr bwMode="auto">
          <a:xfrm>
            <a:off x="3581400" y="3505200"/>
            <a:ext cx="2057400" cy="650875"/>
          </a:xfrm>
          <a:prstGeom prst="rect">
            <a:avLst/>
          </a:prstGeom>
          <a:solidFill>
            <a:srgbClr val="002DBC"/>
          </a:solidFill>
          <a:ln w="9525">
            <a:solidFill>
              <a:srgbClr val="FFFFFF"/>
            </a:solidFill>
            <a:miter lim="800000"/>
            <a:headEnd/>
            <a:tailEnd/>
          </a:ln>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3600">
                <a:solidFill>
                  <a:srgbClr val="FFFFFF"/>
                </a:solidFill>
                <a:latin typeface="Cambria" panose="02040503050406030204" pitchFamily="18" charset="0"/>
                <a:ea typeface="Cambria" panose="02040503050406030204" pitchFamily="18" charset="0"/>
              </a:rPr>
              <a:t>DBMS</a:t>
            </a:r>
          </a:p>
        </p:txBody>
      </p:sp>
      <p:sp>
        <p:nvSpPr>
          <p:cNvPr id="9" name="Line 8">
            <a:extLst>
              <a:ext uri="{FF2B5EF4-FFF2-40B4-BE49-F238E27FC236}">
                <a16:creationId xmlns:a16="http://schemas.microsoft.com/office/drawing/2014/main" id="{D4843AB4-3F7A-E196-A89C-07F159709708}"/>
              </a:ext>
            </a:extLst>
          </p:cNvPr>
          <p:cNvSpPr>
            <a:spLocks noChangeShapeType="1"/>
          </p:cNvSpPr>
          <p:nvPr/>
        </p:nvSpPr>
        <p:spPr bwMode="auto">
          <a:xfrm flipH="1">
            <a:off x="2895600" y="4038600"/>
            <a:ext cx="685800" cy="1219200"/>
          </a:xfrm>
          <a:prstGeom prst="line">
            <a:avLst/>
          </a:prstGeom>
          <a:noFill/>
          <a:ln w="38100">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 name="Line 9">
            <a:extLst>
              <a:ext uri="{FF2B5EF4-FFF2-40B4-BE49-F238E27FC236}">
                <a16:creationId xmlns:a16="http://schemas.microsoft.com/office/drawing/2014/main" id="{47724F30-AE2F-A285-08EB-410D0BAE05E1}"/>
              </a:ext>
            </a:extLst>
          </p:cNvPr>
          <p:cNvSpPr>
            <a:spLocks noChangeShapeType="1"/>
          </p:cNvSpPr>
          <p:nvPr/>
        </p:nvSpPr>
        <p:spPr bwMode="auto">
          <a:xfrm>
            <a:off x="2590800" y="2438400"/>
            <a:ext cx="914400" cy="1295400"/>
          </a:xfrm>
          <a:prstGeom prst="line">
            <a:avLst/>
          </a:prstGeom>
          <a:noFill/>
          <a:ln w="38100">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 name="Line 10">
            <a:extLst>
              <a:ext uri="{FF2B5EF4-FFF2-40B4-BE49-F238E27FC236}">
                <a16:creationId xmlns:a16="http://schemas.microsoft.com/office/drawing/2014/main" id="{892E598C-931B-19B4-62AD-1E9B9B1FD8D4}"/>
              </a:ext>
            </a:extLst>
          </p:cNvPr>
          <p:cNvSpPr>
            <a:spLocks noChangeShapeType="1"/>
          </p:cNvSpPr>
          <p:nvPr/>
        </p:nvSpPr>
        <p:spPr bwMode="auto">
          <a:xfrm>
            <a:off x="5715000" y="3733800"/>
            <a:ext cx="609600" cy="0"/>
          </a:xfrm>
          <a:prstGeom prst="line">
            <a:avLst/>
          </a:prstGeom>
          <a:noFill/>
          <a:ln w="38100">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128690678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D4878-AABF-D39F-61AB-A1B433508A54}"/>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DC03ED7A-6807-42EC-CCBA-D169B0317785}"/>
              </a:ext>
            </a:extLst>
          </p:cNvPr>
          <p:cNvSpPr>
            <a:spLocks noGrp="1" noChangeArrowheads="1"/>
          </p:cNvSpPr>
          <p:nvPr>
            <p:ph type="title"/>
          </p:nvPr>
        </p:nvSpPr>
        <p:spPr>
          <a:xfrm>
            <a:off x="323850" y="188640"/>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Database Recovery Methods</a:t>
            </a:r>
          </a:p>
        </p:txBody>
      </p:sp>
      <p:sp>
        <p:nvSpPr>
          <p:cNvPr id="2" name="Content Placeholder 1">
            <a:extLst>
              <a:ext uri="{FF2B5EF4-FFF2-40B4-BE49-F238E27FC236}">
                <a16:creationId xmlns:a16="http://schemas.microsoft.com/office/drawing/2014/main" id="{89AEAA1A-EA25-269D-2791-22A9F9D64152}"/>
              </a:ext>
            </a:extLst>
          </p:cNvPr>
          <p:cNvSpPr>
            <a:spLocks noGrp="1"/>
          </p:cNvSpPr>
          <p:nvPr>
            <p:ph sz="quarter" idx="1"/>
          </p:nvPr>
        </p:nvSpPr>
        <p:spPr>
          <a:xfrm>
            <a:off x="400050" y="620688"/>
            <a:ext cx="8492430" cy="6091634"/>
          </a:xfrm>
        </p:spPr>
        <p:txBody>
          <a:bodyPr/>
          <a:lstStyle/>
          <a:p>
            <a:pPr marL="0" lvl="1" indent="0" algn="just">
              <a:spcBef>
                <a:spcPts val="300"/>
              </a:spcBef>
              <a:buNone/>
              <a:defRPr/>
            </a:pPr>
            <a:r>
              <a:rPr lang="en-US" b="1" dirty="0">
                <a:solidFill>
                  <a:srgbClr val="0033CC"/>
                </a:solidFill>
                <a:latin typeface="Cambria" panose="02040503050406030204" pitchFamily="18" charset="0"/>
                <a:ea typeface="Cambria" panose="02040503050406030204" pitchFamily="18" charset="0"/>
              </a:rPr>
              <a:t>3. Forward Recovery (Roll Forward)</a:t>
            </a:r>
          </a:p>
          <a:p>
            <a:pPr algn="just">
              <a:spcBef>
                <a:spcPts val="300"/>
              </a:spcBef>
              <a:defRPr/>
            </a:pPr>
            <a:r>
              <a:rPr lang="en-US" sz="2400" dirty="0">
                <a:latin typeface="Cambria" panose="02040503050406030204" pitchFamily="18" charset="0"/>
                <a:ea typeface="Cambria" panose="02040503050406030204" pitchFamily="18" charset="0"/>
              </a:rPr>
              <a:t>It is also called </a:t>
            </a:r>
            <a:r>
              <a:rPr lang="en-US" sz="2400" dirty="0">
                <a:solidFill>
                  <a:srgbClr val="FF0000"/>
                </a:solidFill>
                <a:latin typeface="Cambria" panose="02040503050406030204" pitchFamily="18" charset="0"/>
                <a:ea typeface="Cambria" panose="02040503050406030204" pitchFamily="18" charset="0"/>
              </a:rPr>
              <a:t>deferred update recovery protocol.</a:t>
            </a:r>
          </a:p>
          <a:p>
            <a:pPr algn="just">
              <a:spcBef>
                <a:spcPts val="300"/>
              </a:spcBef>
              <a:defRPr/>
            </a:pPr>
            <a:r>
              <a:rPr lang="en-US" sz="2400" dirty="0">
                <a:latin typeface="Cambria" panose="02040503050406030204" pitchFamily="18" charset="0"/>
                <a:ea typeface="Cambria" panose="02040503050406030204" pitchFamily="18" charset="0"/>
              </a:rPr>
              <a:t>Updates are deferred and not written to the database immediately until after a transaction has reached its COMMIT point.</a:t>
            </a:r>
          </a:p>
          <a:p>
            <a:pPr algn="just">
              <a:spcBef>
                <a:spcPts val="300"/>
              </a:spcBef>
              <a:defRPr/>
            </a:pPr>
            <a:r>
              <a:rPr lang="en-US" sz="2400" dirty="0">
                <a:latin typeface="Cambria" panose="02040503050406030204" pitchFamily="18" charset="0"/>
                <a:ea typeface="Cambria" panose="02040503050406030204" pitchFamily="18" charset="0"/>
              </a:rPr>
              <a:t>If a transaction fails before it reaches this point, it would not have modified the database and so no undoing of changes will be necessary. However, it may be necessary to redo the updates of committed transactions.</a:t>
            </a:r>
          </a:p>
          <a:p>
            <a:pPr algn="just">
              <a:spcBef>
                <a:spcPts val="300"/>
              </a:spcBef>
              <a:defRPr/>
            </a:pPr>
            <a:r>
              <a:rPr lang="en-US" sz="2400" dirty="0">
                <a:latin typeface="Cambria" panose="02040503050406030204" pitchFamily="18" charset="0"/>
                <a:ea typeface="Cambria" panose="02040503050406030204" pitchFamily="18" charset="0"/>
              </a:rPr>
              <a:t>It is used to </a:t>
            </a:r>
            <a:r>
              <a:rPr lang="en-US" sz="2400" dirty="0">
                <a:solidFill>
                  <a:srgbClr val="FF0000"/>
                </a:solidFill>
                <a:latin typeface="Cambria" panose="02040503050406030204" pitchFamily="18" charset="0"/>
                <a:ea typeface="Cambria" panose="02040503050406030204" pitchFamily="18" charset="0"/>
              </a:rPr>
              <a:t>redo the changes</a:t>
            </a:r>
            <a:r>
              <a:rPr lang="en-US" sz="2400" dirty="0">
                <a:latin typeface="Cambria" panose="02040503050406030204" pitchFamily="18" charset="0"/>
                <a:ea typeface="Cambria" panose="02040503050406030204" pitchFamily="18" charset="0"/>
              </a:rPr>
              <a:t> that could not be stored to the database because of some failure during a transaction.</a:t>
            </a:r>
          </a:p>
          <a:p>
            <a:pPr algn="just">
              <a:spcBef>
                <a:spcPts val="300"/>
              </a:spcBef>
              <a:defRPr/>
            </a:pPr>
            <a:r>
              <a:rPr lang="en-US" sz="2400" dirty="0">
                <a:latin typeface="Cambria" panose="02040503050406030204" pitchFamily="18" charset="0"/>
                <a:ea typeface="Cambria" panose="02040503050406030204" pitchFamily="18" charset="0"/>
              </a:rPr>
              <a:t>After images of the records that could not be  changed are applied to the database.</a:t>
            </a:r>
          </a:p>
          <a:p>
            <a:pPr algn="just">
              <a:spcBef>
                <a:spcPts val="300"/>
              </a:spcBef>
              <a:defRPr/>
            </a:pPr>
            <a:r>
              <a:rPr lang="en-US" sz="2400" dirty="0">
                <a:latin typeface="Cambria" panose="02040503050406030204" pitchFamily="18" charset="0"/>
                <a:ea typeface="Cambria" panose="02040503050406030204" pitchFamily="18" charset="0"/>
              </a:rPr>
              <a:t>As a result, the database is forwarded to a later  state.</a:t>
            </a:r>
          </a:p>
          <a:p>
            <a:pPr algn="just">
              <a:spcBef>
                <a:spcPts val="300"/>
              </a:spcBef>
              <a:defRPr/>
            </a:pPr>
            <a:r>
              <a:rPr lang="en-US" sz="2400" dirty="0">
                <a:latin typeface="Cambria" panose="02040503050406030204" pitchFamily="18" charset="0"/>
                <a:ea typeface="Cambria" panose="02040503050406030204" pitchFamily="18" charset="0"/>
              </a:rPr>
              <a:t>This is shown in the Fig:</a:t>
            </a:r>
          </a:p>
          <a:p>
            <a:pPr algn="just">
              <a:spcBef>
                <a:spcPts val="300"/>
              </a:spcBef>
              <a:defRPr/>
            </a:pPr>
            <a:endParaRPr lang="en-US" sz="2400" dirty="0">
              <a:solidFill>
                <a:srgbClr val="0033CC"/>
              </a:solidFill>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599337E0-405B-F877-0CE9-46E27ED490C2}"/>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090CDF2D-4431-2257-636D-97F309A4E521}"/>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424107292"/>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075A5-9FAB-7D82-BC7D-8DD17726AE40}"/>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DAEE8E95-A54D-BF03-ADAD-06E1EFDF5E72}"/>
              </a:ext>
            </a:extLst>
          </p:cNvPr>
          <p:cNvSpPr>
            <a:spLocks noGrp="1" noChangeArrowheads="1"/>
          </p:cNvSpPr>
          <p:nvPr>
            <p:ph type="title"/>
          </p:nvPr>
        </p:nvSpPr>
        <p:spPr>
          <a:xfrm>
            <a:off x="323850" y="188640"/>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Database Recovery Methods</a:t>
            </a:r>
          </a:p>
        </p:txBody>
      </p:sp>
      <p:sp>
        <p:nvSpPr>
          <p:cNvPr id="2" name="Content Placeholder 1">
            <a:extLst>
              <a:ext uri="{FF2B5EF4-FFF2-40B4-BE49-F238E27FC236}">
                <a16:creationId xmlns:a16="http://schemas.microsoft.com/office/drawing/2014/main" id="{01EBF0C9-BBD6-8204-ECEE-F6BE911C51BD}"/>
              </a:ext>
            </a:extLst>
          </p:cNvPr>
          <p:cNvSpPr>
            <a:spLocks noGrp="1"/>
          </p:cNvSpPr>
          <p:nvPr>
            <p:ph sz="quarter" idx="1"/>
          </p:nvPr>
        </p:nvSpPr>
        <p:spPr>
          <a:xfrm>
            <a:off x="400050" y="620688"/>
            <a:ext cx="8492430" cy="6091634"/>
          </a:xfrm>
        </p:spPr>
        <p:txBody>
          <a:bodyPr/>
          <a:lstStyle/>
          <a:p>
            <a:pPr marL="0" lvl="1" indent="0" algn="just">
              <a:spcBef>
                <a:spcPts val="300"/>
              </a:spcBef>
              <a:buNone/>
              <a:defRPr/>
            </a:pPr>
            <a:r>
              <a:rPr lang="en-US" b="1" dirty="0">
                <a:solidFill>
                  <a:srgbClr val="0033CC"/>
                </a:solidFill>
                <a:latin typeface="Cambria" panose="02040503050406030204" pitchFamily="18" charset="0"/>
                <a:ea typeface="Cambria" panose="02040503050406030204" pitchFamily="18" charset="0"/>
              </a:rPr>
              <a:t>3. Forward Recovery (Roll Forward)</a:t>
            </a:r>
          </a:p>
          <a:p>
            <a:pPr algn="just">
              <a:spcBef>
                <a:spcPts val="300"/>
              </a:spcBef>
              <a:defRPr/>
            </a:pPr>
            <a:endParaRPr lang="en-US" sz="2400" dirty="0">
              <a:solidFill>
                <a:srgbClr val="0033CC"/>
              </a:solidFill>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C0482CF7-3E54-BB0C-7D78-C34E3C8AECF5}"/>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194ABCC2-C488-9764-E608-7ED57748F6AC}"/>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12" name="AutoShape 4">
            <a:extLst>
              <a:ext uri="{FF2B5EF4-FFF2-40B4-BE49-F238E27FC236}">
                <a16:creationId xmlns:a16="http://schemas.microsoft.com/office/drawing/2014/main" id="{4F7B19C8-ABE0-619E-F57D-5C4471145ABC}"/>
              </a:ext>
            </a:extLst>
          </p:cNvPr>
          <p:cNvSpPr>
            <a:spLocks noChangeArrowheads="1"/>
          </p:cNvSpPr>
          <p:nvPr/>
        </p:nvSpPr>
        <p:spPr bwMode="auto">
          <a:xfrm>
            <a:off x="457200" y="1219200"/>
            <a:ext cx="2133600" cy="2514600"/>
          </a:xfrm>
          <a:prstGeom prst="flowChartMagneticDisk">
            <a:avLst/>
          </a:prstGeom>
          <a:solidFill>
            <a:srgbClr val="3366FF"/>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dirty="0">
                <a:latin typeface="Cambria" panose="02040503050406030204" pitchFamily="18" charset="0"/>
                <a:ea typeface="Cambria" panose="02040503050406030204" pitchFamily="18" charset="0"/>
              </a:rPr>
              <a:t>Database</a:t>
            </a:r>
          </a:p>
          <a:p>
            <a:pPr algn="ctr" eaLnBrk="1" hangingPunct="1">
              <a:spcBef>
                <a:spcPct val="0"/>
              </a:spcBef>
              <a:buFontTx/>
              <a:buNone/>
            </a:pPr>
            <a:r>
              <a:rPr lang="en-US" altLang="en-US" dirty="0">
                <a:solidFill>
                  <a:srgbClr val="FFFF00"/>
                </a:solidFill>
                <a:latin typeface="Cambria" panose="02040503050406030204" pitchFamily="18" charset="0"/>
                <a:ea typeface="Cambria" panose="02040503050406030204" pitchFamily="18" charset="0"/>
              </a:rPr>
              <a:t>(Without </a:t>
            </a:r>
          </a:p>
          <a:p>
            <a:pPr algn="ctr" eaLnBrk="1" hangingPunct="1">
              <a:spcBef>
                <a:spcPct val="0"/>
              </a:spcBef>
              <a:buFontTx/>
              <a:buNone/>
            </a:pPr>
            <a:r>
              <a:rPr lang="en-US" altLang="en-US" dirty="0">
                <a:solidFill>
                  <a:srgbClr val="FFFF00"/>
                </a:solidFill>
                <a:latin typeface="Cambria" panose="02040503050406030204" pitchFamily="18" charset="0"/>
                <a:ea typeface="Cambria" panose="02040503050406030204" pitchFamily="18" charset="0"/>
              </a:rPr>
              <a:t>Changes)</a:t>
            </a:r>
          </a:p>
        </p:txBody>
      </p:sp>
      <p:sp>
        <p:nvSpPr>
          <p:cNvPr id="13" name="AutoShape 5">
            <a:extLst>
              <a:ext uri="{FF2B5EF4-FFF2-40B4-BE49-F238E27FC236}">
                <a16:creationId xmlns:a16="http://schemas.microsoft.com/office/drawing/2014/main" id="{AEA5B8F1-B95B-4828-FB1C-BA74E4F71A5C}"/>
              </a:ext>
            </a:extLst>
          </p:cNvPr>
          <p:cNvSpPr>
            <a:spLocks noChangeArrowheads="1"/>
          </p:cNvSpPr>
          <p:nvPr/>
        </p:nvSpPr>
        <p:spPr bwMode="auto">
          <a:xfrm>
            <a:off x="6324600" y="2209800"/>
            <a:ext cx="2133600" cy="2819400"/>
          </a:xfrm>
          <a:prstGeom prst="flowChartMagneticDisk">
            <a:avLst/>
          </a:prstGeom>
          <a:solidFill>
            <a:srgbClr val="33CCCC"/>
          </a:solidFill>
          <a:ln w="9525">
            <a:solidFill>
              <a:srgbClr val="FFFFFF"/>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dirty="0">
                <a:latin typeface="Cambria" panose="02040503050406030204" pitchFamily="18" charset="0"/>
                <a:ea typeface="Cambria" panose="02040503050406030204" pitchFamily="18" charset="0"/>
              </a:rPr>
              <a:t>Database</a:t>
            </a:r>
          </a:p>
          <a:p>
            <a:pPr algn="ctr" eaLnBrk="1" hangingPunct="1">
              <a:spcBef>
                <a:spcPct val="0"/>
              </a:spcBef>
              <a:buFontTx/>
              <a:buNone/>
            </a:pPr>
            <a:r>
              <a:rPr lang="en-US" altLang="en-US" dirty="0">
                <a:solidFill>
                  <a:srgbClr val="FF0000"/>
                </a:solidFill>
                <a:latin typeface="Cambria" panose="02040503050406030204" pitchFamily="18" charset="0"/>
                <a:ea typeface="Cambria" panose="02040503050406030204" pitchFamily="18" charset="0"/>
              </a:rPr>
              <a:t>(With </a:t>
            </a:r>
          </a:p>
          <a:p>
            <a:pPr algn="ctr" eaLnBrk="1" hangingPunct="1">
              <a:spcBef>
                <a:spcPct val="0"/>
              </a:spcBef>
              <a:buFontTx/>
              <a:buNone/>
            </a:pPr>
            <a:r>
              <a:rPr lang="en-US" altLang="en-US" dirty="0">
                <a:solidFill>
                  <a:srgbClr val="FF0000"/>
                </a:solidFill>
                <a:latin typeface="Cambria" panose="02040503050406030204" pitchFamily="18" charset="0"/>
                <a:ea typeface="Cambria" panose="02040503050406030204" pitchFamily="18" charset="0"/>
              </a:rPr>
              <a:t>Changes)</a:t>
            </a:r>
          </a:p>
        </p:txBody>
      </p:sp>
      <p:sp>
        <p:nvSpPr>
          <p:cNvPr id="14" name="AutoShape 6">
            <a:extLst>
              <a:ext uri="{FF2B5EF4-FFF2-40B4-BE49-F238E27FC236}">
                <a16:creationId xmlns:a16="http://schemas.microsoft.com/office/drawing/2014/main" id="{1650A4BB-88B8-8A05-9622-56F0AE7F0AE5}"/>
              </a:ext>
            </a:extLst>
          </p:cNvPr>
          <p:cNvSpPr>
            <a:spLocks noChangeArrowheads="1"/>
          </p:cNvSpPr>
          <p:nvPr/>
        </p:nvSpPr>
        <p:spPr bwMode="auto">
          <a:xfrm>
            <a:off x="533400" y="4419600"/>
            <a:ext cx="2286000" cy="1676400"/>
          </a:xfrm>
          <a:prstGeom prst="flowChartMagneticDisk">
            <a:avLst/>
          </a:prstGeom>
          <a:solidFill>
            <a:schemeClr val="accent1"/>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dirty="0">
                <a:latin typeface="Cambria" panose="02040503050406030204" pitchFamily="18" charset="0"/>
                <a:ea typeface="Cambria" panose="02040503050406030204" pitchFamily="18" charset="0"/>
              </a:rPr>
              <a:t>After  </a:t>
            </a:r>
          </a:p>
          <a:p>
            <a:pPr algn="ctr" eaLnBrk="1" hangingPunct="1">
              <a:spcBef>
                <a:spcPct val="0"/>
              </a:spcBef>
              <a:buFontTx/>
              <a:buNone/>
            </a:pPr>
            <a:r>
              <a:rPr lang="en-US" altLang="en-US" dirty="0">
                <a:latin typeface="Cambria" panose="02040503050406030204" pitchFamily="18" charset="0"/>
                <a:ea typeface="Cambria" panose="02040503050406030204" pitchFamily="18" charset="0"/>
              </a:rPr>
              <a:t>Images</a:t>
            </a:r>
          </a:p>
        </p:txBody>
      </p:sp>
      <p:sp>
        <p:nvSpPr>
          <p:cNvPr id="15" name="Text Box 7">
            <a:extLst>
              <a:ext uri="{FF2B5EF4-FFF2-40B4-BE49-F238E27FC236}">
                <a16:creationId xmlns:a16="http://schemas.microsoft.com/office/drawing/2014/main" id="{1546DE44-0C09-727C-FAD3-84C31391E441}"/>
              </a:ext>
            </a:extLst>
          </p:cNvPr>
          <p:cNvSpPr txBox="1">
            <a:spLocks noChangeArrowheads="1"/>
          </p:cNvSpPr>
          <p:nvPr/>
        </p:nvSpPr>
        <p:spPr bwMode="auto">
          <a:xfrm>
            <a:off x="3581400" y="3505200"/>
            <a:ext cx="2057400" cy="650875"/>
          </a:xfrm>
          <a:prstGeom prst="rect">
            <a:avLst/>
          </a:prstGeom>
          <a:solidFill>
            <a:srgbClr val="002DBC"/>
          </a:solidFill>
          <a:ln w="9525">
            <a:solidFill>
              <a:srgbClr val="FFFFFF"/>
            </a:solidFill>
            <a:miter lim="800000"/>
            <a:headEnd/>
            <a:tailEnd/>
          </a:ln>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3600" dirty="0">
                <a:solidFill>
                  <a:srgbClr val="FFFFFF"/>
                </a:solidFill>
                <a:latin typeface="Cambria" panose="02040503050406030204" pitchFamily="18" charset="0"/>
                <a:ea typeface="Cambria" panose="02040503050406030204" pitchFamily="18" charset="0"/>
              </a:rPr>
              <a:t>DBMS</a:t>
            </a:r>
          </a:p>
        </p:txBody>
      </p:sp>
      <p:sp>
        <p:nvSpPr>
          <p:cNvPr id="16" name="Line 8">
            <a:extLst>
              <a:ext uri="{FF2B5EF4-FFF2-40B4-BE49-F238E27FC236}">
                <a16:creationId xmlns:a16="http://schemas.microsoft.com/office/drawing/2014/main" id="{007F2D2A-CDE9-FF34-E25A-E59350D6A5C4}"/>
              </a:ext>
            </a:extLst>
          </p:cNvPr>
          <p:cNvSpPr>
            <a:spLocks noChangeShapeType="1"/>
          </p:cNvSpPr>
          <p:nvPr/>
        </p:nvSpPr>
        <p:spPr bwMode="auto">
          <a:xfrm flipH="1">
            <a:off x="2895600" y="4038600"/>
            <a:ext cx="685800" cy="1219200"/>
          </a:xfrm>
          <a:prstGeom prst="line">
            <a:avLst/>
          </a:prstGeom>
          <a:noFill/>
          <a:ln w="38100">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7" name="Line 9">
            <a:extLst>
              <a:ext uri="{FF2B5EF4-FFF2-40B4-BE49-F238E27FC236}">
                <a16:creationId xmlns:a16="http://schemas.microsoft.com/office/drawing/2014/main" id="{5300CEA1-0CF1-F85C-CC2A-91E85CD8752F}"/>
              </a:ext>
            </a:extLst>
          </p:cNvPr>
          <p:cNvSpPr>
            <a:spLocks noChangeShapeType="1"/>
          </p:cNvSpPr>
          <p:nvPr/>
        </p:nvSpPr>
        <p:spPr bwMode="auto">
          <a:xfrm>
            <a:off x="2590800" y="2438400"/>
            <a:ext cx="914400" cy="1295400"/>
          </a:xfrm>
          <a:prstGeom prst="line">
            <a:avLst/>
          </a:prstGeom>
          <a:noFill/>
          <a:ln w="38100">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8" name="Line 10">
            <a:extLst>
              <a:ext uri="{FF2B5EF4-FFF2-40B4-BE49-F238E27FC236}">
                <a16:creationId xmlns:a16="http://schemas.microsoft.com/office/drawing/2014/main" id="{8B007232-D337-0B98-FAF2-BBC484BE7E17}"/>
              </a:ext>
            </a:extLst>
          </p:cNvPr>
          <p:cNvSpPr>
            <a:spLocks noChangeShapeType="1"/>
          </p:cNvSpPr>
          <p:nvPr/>
        </p:nvSpPr>
        <p:spPr bwMode="auto">
          <a:xfrm>
            <a:off x="5715000" y="3733800"/>
            <a:ext cx="609600" cy="0"/>
          </a:xfrm>
          <a:prstGeom prst="line">
            <a:avLst/>
          </a:prstGeom>
          <a:noFill/>
          <a:ln w="38100">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366708952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F9139-453E-80C1-E81E-9B012935732E}"/>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DB726F10-CA78-5B1E-FDDB-638F9BB107E8}"/>
              </a:ext>
            </a:extLst>
          </p:cNvPr>
          <p:cNvSpPr>
            <a:spLocks noGrp="1" noChangeArrowheads="1"/>
          </p:cNvSpPr>
          <p:nvPr>
            <p:ph type="title"/>
          </p:nvPr>
        </p:nvSpPr>
        <p:spPr>
          <a:xfrm>
            <a:off x="323850" y="188640"/>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Database Recovery Methods</a:t>
            </a:r>
          </a:p>
        </p:txBody>
      </p:sp>
      <p:sp>
        <p:nvSpPr>
          <p:cNvPr id="2" name="Content Placeholder 1">
            <a:extLst>
              <a:ext uri="{FF2B5EF4-FFF2-40B4-BE49-F238E27FC236}">
                <a16:creationId xmlns:a16="http://schemas.microsoft.com/office/drawing/2014/main" id="{060C8B77-2D57-0DFD-85A0-466C1F8E185B}"/>
              </a:ext>
            </a:extLst>
          </p:cNvPr>
          <p:cNvSpPr>
            <a:spLocks noGrp="1"/>
          </p:cNvSpPr>
          <p:nvPr>
            <p:ph sz="quarter" idx="1"/>
          </p:nvPr>
        </p:nvSpPr>
        <p:spPr>
          <a:xfrm>
            <a:off x="400050" y="620688"/>
            <a:ext cx="8492430" cy="6091634"/>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When to use Roll Backward and When to use Roll Forward?</a:t>
            </a:r>
          </a:p>
          <a:p>
            <a:pPr algn="just">
              <a:spcBef>
                <a:spcPts val="300"/>
              </a:spcBef>
              <a:defRPr/>
            </a:pPr>
            <a:r>
              <a:rPr lang="en-US" sz="2400" dirty="0">
                <a:latin typeface="Cambria" panose="02040503050406030204" pitchFamily="18" charset="0"/>
                <a:ea typeface="Cambria" panose="02040503050406030204" pitchFamily="18" charset="0"/>
              </a:rPr>
              <a:t>Which Transaction to undo and which to redo?</a:t>
            </a:r>
          </a:p>
          <a:p>
            <a:pPr algn="just">
              <a:spcBef>
                <a:spcPts val="300"/>
              </a:spcBef>
              <a:defRPr/>
            </a:pPr>
            <a:endParaRPr lang="en-US" sz="2400" dirty="0">
              <a:solidFill>
                <a:srgbClr val="0033CC"/>
              </a:solidFill>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8B255597-2747-2774-D62E-26C02066DFCC}"/>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C7EF4A00-DCEB-5E69-5CA2-25D1540DFDC2}"/>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5" name="Picture 2" descr="bd00028_">
            <a:extLst>
              <a:ext uri="{FF2B5EF4-FFF2-40B4-BE49-F238E27FC236}">
                <a16:creationId xmlns:a16="http://schemas.microsoft.com/office/drawing/2014/main" id="{A0EC18B3-0393-5BB0-3F70-366F3CCAC3CB}"/>
              </a:ext>
            </a:extLst>
          </p:cNvPr>
          <p:cNvPicPr>
            <a:picLocks noChangeAspect="1" noChangeArrowheads="1"/>
          </p:cNvPicPr>
          <p:nvPr/>
        </p:nvPicPr>
        <p:blipFill>
          <a:blip r:embed="rId2">
            <a:lum bright="-40000" contrast="-40000"/>
            <a:extLst>
              <a:ext uri="{28A0092B-C50C-407E-A947-70E740481C1C}">
                <a14:useLocalDpi xmlns:a14="http://schemas.microsoft.com/office/drawing/2010/main" val="0"/>
              </a:ext>
            </a:extLst>
          </a:blip>
          <a:srcRect/>
          <a:stretch>
            <a:fillRect/>
          </a:stretch>
        </p:blipFill>
        <p:spPr bwMode="auto">
          <a:xfrm>
            <a:off x="2771800" y="1556792"/>
            <a:ext cx="3456632" cy="460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646248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6A982-1457-5412-ADE3-19BC17A76DD5}"/>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8384461F-5598-793A-D422-B954557F09F9}"/>
              </a:ext>
            </a:extLst>
          </p:cNvPr>
          <p:cNvSpPr>
            <a:spLocks noGrp="1" noChangeArrowheads="1"/>
          </p:cNvSpPr>
          <p:nvPr>
            <p:ph type="title"/>
          </p:nvPr>
        </p:nvSpPr>
        <p:spPr>
          <a:xfrm>
            <a:off x="323850" y="188640"/>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Checkpointing</a:t>
            </a:r>
          </a:p>
        </p:txBody>
      </p:sp>
      <p:sp>
        <p:nvSpPr>
          <p:cNvPr id="2" name="Content Placeholder 1">
            <a:extLst>
              <a:ext uri="{FF2B5EF4-FFF2-40B4-BE49-F238E27FC236}">
                <a16:creationId xmlns:a16="http://schemas.microsoft.com/office/drawing/2014/main" id="{FE9CF2B0-A81A-C90C-9A8B-8DCB5DA99790}"/>
              </a:ext>
            </a:extLst>
          </p:cNvPr>
          <p:cNvSpPr>
            <a:spLocks noGrp="1"/>
          </p:cNvSpPr>
          <p:nvPr>
            <p:ph sz="quarter" idx="1"/>
          </p:nvPr>
        </p:nvSpPr>
        <p:spPr>
          <a:xfrm>
            <a:off x="400050" y="620688"/>
            <a:ext cx="8492430" cy="6091634"/>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A difficulty in recovering from log file is that when a failure occurs, we may not know how far back in the log to search.</a:t>
            </a:r>
          </a:p>
          <a:p>
            <a:pPr algn="just">
              <a:spcBef>
                <a:spcPts val="300"/>
              </a:spcBef>
              <a:defRPr/>
            </a:pPr>
            <a:r>
              <a:rPr lang="en-US" sz="2400" dirty="0">
                <a:latin typeface="Cambria" panose="02040503050406030204" pitchFamily="18" charset="0"/>
                <a:ea typeface="Cambria" panose="02040503050406030204" pitchFamily="18" charset="0"/>
              </a:rPr>
              <a:t>The DBMS records </a:t>
            </a:r>
            <a:r>
              <a:rPr lang="en-US" sz="2400" dirty="0">
                <a:solidFill>
                  <a:srgbClr val="0033CC"/>
                </a:solidFill>
                <a:latin typeface="Cambria" panose="02040503050406030204" pitchFamily="18" charset="0"/>
                <a:ea typeface="Cambria" panose="02040503050406030204" pitchFamily="18" charset="0"/>
              </a:rPr>
              <a:t>checkpoints</a:t>
            </a:r>
            <a:r>
              <a:rPr lang="en-US" sz="2400" dirty="0">
                <a:latin typeface="Cambria" panose="02040503050406030204" pitchFamily="18" charset="0"/>
                <a:ea typeface="Cambria" panose="02040503050406030204" pitchFamily="18" charset="0"/>
              </a:rPr>
              <a:t> (at certain prescribed intervals) to the log file whenever it writes all of its updated buffers to the disk. Checkpoints are used to synchronize the log file.</a:t>
            </a:r>
          </a:p>
          <a:p>
            <a:pPr algn="just">
              <a:spcBef>
                <a:spcPts val="300"/>
              </a:spcBef>
              <a:defRPr/>
            </a:pPr>
            <a:r>
              <a:rPr lang="en-US" sz="2400" dirty="0">
                <a:latin typeface="Cambria" panose="02040503050406030204" pitchFamily="18" charset="0"/>
                <a:ea typeface="Cambria" panose="02040503050406030204" pitchFamily="18" charset="0"/>
              </a:rPr>
              <a:t>A DBMS may perform checkpoints </a:t>
            </a:r>
            <a:r>
              <a:rPr lang="en-US" sz="2400" dirty="0">
                <a:solidFill>
                  <a:srgbClr val="0033CC"/>
                </a:solidFill>
                <a:latin typeface="Cambria" panose="02040503050406030204" pitchFamily="18" charset="0"/>
                <a:ea typeface="Cambria" panose="02040503050406030204" pitchFamily="18" charset="0"/>
              </a:rPr>
              <a:t>automatically</a:t>
            </a:r>
            <a:r>
              <a:rPr lang="en-US" sz="2400" dirty="0">
                <a:latin typeface="Cambria" panose="02040503050406030204" pitchFamily="18" charset="0"/>
                <a:ea typeface="Cambria" panose="02040503050406030204" pitchFamily="18" charset="0"/>
              </a:rPr>
              <a:t> or in </a:t>
            </a:r>
            <a:r>
              <a:rPr lang="en-US" sz="2400" dirty="0">
                <a:solidFill>
                  <a:srgbClr val="0033CC"/>
                </a:solidFill>
                <a:latin typeface="Cambria" panose="02040503050406030204" pitchFamily="18" charset="0"/>
                <a:ea typeface="Cambria" panose="02040503050406030204" pitchFamily="18" charset="0"/>
              </a:rPr>
              <a:t>response to commands in user application programs. </a:t>
            </a:r>
          </a:p>
          <a:p>
            <a:pPr algn="just">
              <a:spcBef>
                <a:spcPts val="300"/>
              </a:spcBef>
              <a:defRPr/>
            </a:pPr>
            <a:r>
              <a:rPr lang="en-US" sz="2400" dirty="0">
                <a:latin typeface="Cambria" panose="02040503050406030204" pitchFamily="18" charset="0"/>
                <a:ea typeface="Cambria" panose="02040503050406030204" pitchFamily="18" charset="0"/>
              </a:rPr>
              <a:t>When failures do occur, the recovery is resumed from the most recent checkpoint.</a:t>
            </a:r>
          </a:p>
          <a:p>
            <a:pPr algn="just">
              <a:spcBef>
                <a:spcPts val="300"/>
              </a:spcBef>
              <a:defRPr/>
            </a:pPr>
            <a:endParaRPr lang="en-US" sz="2400" dirty="0">
              <a:solidFill>
                <a:srgbClr val="0033CC"/>
              </a:solidFill>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F4D85753-9E30-229C-7C73-8A243605F18B}"/>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C5ADBE88-A9CC-A7AB-1FC4-F45766DE3BC0}"/>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8059859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E1C60-829E-40CC-A93F-30A8E236F585}"/>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52451644-11B0-17BF-A5B9-679F9D9D3363}"/>
              </a:ext>
            </a:extLst>
          </p:cNvPr>
          <p:cNvSpPr>
            <a:spLocks noGrp="1" noChangeArrowheads="1"/>
          </p:cNvSpPr>
          <p:nvPr>
            <p:ph type="title"/>
          </p:nvPr>
        </p:nvSpPr>
        <p:spPr>
          <a:xfrm>
            <a:off x="323850" y="188640"/>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Checkpointing</a:t>
            </a:r>
          </a:p>
        </p:txBody>
      </p:sp>
      <p:sp>
        <p:nvSpPr>
          <p:cNvPr id="2" name="Content Placeholder 1">
            <a:extLst>
              <a:ext uri="{FF2B5EF4-FFF2-40B4-BE49-F238E27FC236}">
                <a16:creationId xmlns:a16="http://schemas.microsoft.com/office/drawing/2014/main" id="{4035428D-0D1C-0409-79C3-1A7BD0B326F6}"/>
              </a:ext>
            </a:extLst>
          </p:cNvPr>
          <p:cNvSpPr>
            <a:spLocks noGrp="1"/>
          </p:cNvSpPr>
          <p:nvPr>
            <p:ph sz="quarter" idx="1"/>
          </p:nvPr>
        </p:nvSpPr>
        <p:spPr>
          <a:xfrm>
            <a:off x="4248150" y="548680"/>
            <a:ext cx="4741490" cy="3600400"/>
          </a:xfrm>
          <a:ln>
            <a:solidFill>
              <a:schemeClr val="tx1"/>
            </a:solidFill>
          </a:ln>
        </p:spPr>
        <p:txBody>
          <a:bodyPr/>
          <a:lstStyle/>
          <a:p>
            <a:pPr marL="0" indent="0" algn="just">
              <a:spcBef>
                <a:spcPts val="300"/>
              </a:spcBef>
              <a:buNone/>
              <a:defRPr/>
            </a:pPr>
            <a:r>
              <a:rPr lang="en-US" sz="2400" dirty="0">
                <a:latin typeface="Cambria" panose="02040503050406030204" pitchFamily="18" charset="0"/>
                <a:ea typeface="Cambria" panose="02040503050406030204" pitchFamily="18" charset="0"/>
              </a:rPr>
              <a:t>		 </a:t>
            </a:r>
            <a:r>
              <a:rPr lang="en-US" sz="2400" dirty="0">
                <a:solidFill>
                  <a:srgbClr val="0033CC"/>
                </a:solidFill>
                <a:latin typeface="Cambria" panose="02040503050406030204" pitchFamily="18" charset="0"/>
                <a:ea typeface="Cambria" panose="02040503050406030204" pitchFamily="18" charset="0"/>
              </a:rPr>
              <a:t>T</a:t>
            </a:r>
            <a:r>
              <a:rPr lang="en-US" sz="2400" baseline="-25000" dirty="0">
                <a:solidFill>
                  <a:srgbClr val="0033CC"/>
                </a:solidFill>
                <a:latin typeface="Cambria" panose="02040503050406030204" pitchFamily="18" charset="0"/>
                <a:ea typeface="Cambria" panose="02040503050406030204" pitchFamily="18" charset="0"/>
              </a:rPr>
              <a:t>c</a:t>
            </a:r>
            <a:r>
              <a:rPr lang="en-US" sz="2400" dirty="0">
                <a:latin typeface="Cambria" panose="02040503050406030204" pitchFamily="18" charset="0"/>
                <a:ea typeface="Cambria" panose="02040503050406030204" pitchFamily="18" charset="0"/>
              </a:rPr>
              <a:t>		   </a:t>
            </a:r>
            <a:r>
              <a:rPr lang="en-US" sz="2400" dirty="0" err="1">
                <a:solidFill>
                  <a:srgbClr val="FF0000"/>
                </a:solidFill>
                <a:latin typeface="Cambria" panose="02040503050406030204" pitchFamily="18" charset="0"/>
                <a:ea typeface="Cambria" panose="02040503050406030204" pitchFamily="18" charset="0"/>
              </a:rPr>
              <a:t>T</a:t>
            </a:r>
            <a:r>
              <a:rPr lang="en-US" sz="2400" baseline="-25000" dirty="0" err="1">
                <a:solidFill>
                  <a:srgbClr val="FF0000"/>
                </a:solidFill>
                <a:latin typeface="Cambria" panose="02040503050406030204" pitchFamily="18" charset="0"/>
                <a:ea typeface="Cambria" panose="02040503050406030204" pitchFamily="18" charset="0"/>
              </a:rPr>
              <a:t>f</a:t>
            </a:r>
            <a:endParaRPr lang="en-US" sz="2400" baseline="-25000" dirty="0">
              <a:solidFill>
                <a:srgbClr val="FF0000"/>
              </a:solidFill>
              <a:latin typeface="Cambria" panose="02040503050406030204" pitchFamily="18" charset="0"/>
              <a:ea typeface="Cambria" panose="02040503050406030204" pitchFamily="18" charset="0"/>
            </a:endParaRPr>
          </a:p>
          <a:p>
            <a:pPr marL="0" indent="0" algn="just">
              <a:spcBef>
                <a:spcPts val="300"/>
              </a:spcBef>
              <a:buNone/>
              <a:defRPr/>
            </a:pPr>
            <a:r>
              <a:rPr lang="en-US" sz="2400" dirty="0">
                <a:latin typeface="Cambria" panose="02040503050406030204" pitchFamily="18" charset="0"/>
                <a:ea typeface="Cambria" panose="02040503050406030204" pitchFamily="18" charset="0"/>
              </a:rPr>
              <a:t>Time</a:t>
            </a:r>
          </a:p>
          <a:p>
            <a:pPr marL="0" indent="0" algn="just">
              <a:spcBef>
                <a:spcPts val="300"/>
              </a:spcBef>
              <a:buNone/>
              <a:defRPr/>
            </a:pPr>
            <a:endParaRPr lang="en-US" sz="2400" dirty="0">
              <a:latin typeface="Cambria" panose="02040503050406030204" pitchFamily="18" charset="0"/>
              <a:ea typeface="Cambria" panose="02040503050406030204" pitchFamily="18" charset="0"/>
            </a:endParaRPr>
          </a:p>
          <a:p>
            <a:pPr marL="0" indent="0" algn="just">
              <a:spcBef>
                <a:spcPts val="300"/>
              </a:spcBef>
              <a:buNone/>
              <a:defRPr/>
            </a:pPr>
            <a:r>
              <a:rPr lang="en-US" sz="2400" dirty="0">
                <a:latin typeface="Cambria" panose="02040503050406030204" pitchFamily="18" charset="0"/>
                <a:ea typeface="Cambria" panose="02040503050406030204" pitchFamily="18" charset="0"/>
              </a:rPr>
              <a:t>T1</a:t>
            </a:r>
          </a:p>
          <a:p>
            <a:pPr marL="0" indent="0" algn="just">
              <a:spcBef>
                <a:spcPts val="300"/>
              </a:spcBef>
              <a:buNone/>
              <a:defRPr/>
            </a:pPr>
            <a:r>
              <a:rPr lang="en-US" sz="2400" dirty="0">
                <a:latin typeface="Cambria" panose="02040503050406030204" pitchFamily="18" charset="0"/>
                <a:ea typeface="Cambria" panose="02040503050406030204" pitchFamily="18" charset="0"/>
              </a:rPr>
              <a:t>T2</a:t>
            </a:r>
          </a:p>
          <a:p>
            <a:pPr marL="0" indent="0" algn="just">
              <a:spcBef>
                <a:spcPts val="300"/>
              </a:spcBef>
              <a:buNone/>
              <a:defRPr/>
            </a:pPr>
            <a:r>
              <a:rPr lang="en-US" sz="2400" dirty="0">
                <a:latin typeface="Cambria" panose="02040503050406030204" pitchFamily="18" charset="0"/>
                <a:ea typeface="Cambria" panose="02040503050406030204" pitchFamily="18" charset="0"/>
              </a:rPr>
              <a:t>T3</a:t>
            </a:r>
          </a:p>
          <a:p>
            <a:pPr marL="0" indent="0" algn="just">
              <a:spcBef>
                <a:spcPts val="300"/>
              </a:spcBef>
              <a:buNone/>
              <a:defRPr/>
            </a:pPr>
            <a:r>
              <a:rPr lang="en-US" sz="2400" dirty="0">
                <a:latin typeface="Cambria" panose="02040503050406030204" pitchFamily="18" charset="0"/>
                <a:ea typeface="Cambria" panose="02040503050406030204" pitchFamily="18" charset="0"/>
              </a:rPr>
              <a:t>T4</a:t>
            </a:r>
          </a:p>
          <a:p>
            <a:pPr marL="0" indent="0" algn="just">
              <a:spcBef>
                <a:spcPts val="300"/>
              </a:spcBef>
              <a:buNone/>
              <a:defRPr/>
            </a:pPr>
            <a:r>
              <a:rPr lang="en-US" sz="2400" dirty="0">
                <a:latin typeface="Cambria" panose="02040503050406030204" pitchFamily="18" charset="0"/>
                <a:ea typeface="Cambria" panose="02040503050406030204" pitchFamily="18" charset="0"/>
              </a:rPr>
              <a:t>T5</a:t>
            </a:r>
          </a:p>
          <a:p>
            <a:pPr algn="just">
              <a:spcBef>
                <a:spcPts val="300"/>
              </a:spcBef>
              <a:defRPr/>
            </a:pPr>
            <a:endParaRPr lang="en-US" sz="2400" dirty="0">
              <a:solidFill>
                <a:srgbClr val="0033CC"/>
              </a:solidFill>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97C4ED16-9042-82FB-EBAD-100850B14C89}"/>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A868E18E-0719-693D-483E-36878AA86BA0}"/>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5" name="Line 5">
            <a:extLst>
              <a:ext uri="{FF2B5EF4-FFF2-40B4-BE49-F238E27FC236}">
                <a16:creationId xmlns:a16="http://schemas.microsoft.com/office/drawing/2014/main" id="{B7D3BEC3-561A-E3D9-533B-7C08B770686E}"/>
              </a:ext>
            </a:extLst>
          </p:cNvPr>
          <p:cNvSpPr>
            <a:spLocks noChangeShapeType="1"/>
          </p:cNvSpPr>
          <p:nvPr/>
        </p:nvSpPr>
        <p:spPr bwMode="auto">
          <a:xfrm>
            <a:off x="5148064" y="1268759"/>
            <a:ext cx="3816151" cy="1"/>
          </a:xfrm>
          <a:prstGeom prst="line">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 name="Line 6">
            <a:extLst>
              <a:ext uri="{FF2B5EF4-FFF2-40B4-BE49-F238E27FC236}">
                <a16:creationId xmlns:a16="http://schemas.microsoft.com/office/drawing/2014/main" id="{B88DC8E0-3521-BDA7-2643-FBF0EE942052}"/>
              </a:ext>
            </a:extLst>
          </p:cNvPr>
          <p:cNvSpPr>
            <a:spLocks noChangeShapeType="1"/>
          </p:cNvSpPr>
          <p:nvPr/>
        </p:nvSpPr>
        <p:spPr bwMode="auto">
          <a:xfrm>
            <a:off x="6400799" y="1268760"/>
            <a:ext cx="28129" cy="2727918"/>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7" name="Line 7">
            <a:extLst>
              <a:ext uri="{FF2B5EF4-FFF2-40B4-BE49-F238E27FC236}">
                <a16:creationId xmlns:a16="http://schemas.microsoft.com/office/drawing/2014/main" id="{A1C204F7-7CC0-EC99-25EE-16B5BF7EA524}"/>
              </a:ext>
            </a:extLst>
          </p:cNvPr>
          <p:cNvSpPr>
            <a:spLocks noChangeShapeType="1"/>
          </p:cNvSpPr>
          <p:nvPr/>
        </p:nvSpPr>
        <p:spPr bwMode="auto">
          <a:xfrm flipH="1">
            <a:off x="8310264" y="1277049"/>
            <a:ext cx="6152" cy="2728016"/>
          </a:xfrm>
          <a:prstGeom prst="line">
            <a:avLst/>
          </a:prstGeom>
          <a:noFill/>
          <a:ln w="38100">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8" name="Line 8">
            <a:extLst>
              <a:ext uri="{FF2B5EF4-FFF2-40B4-BE49-F238E27FC236}">
                <a16:creationId xmlns:a16="http://schemas.microsoft.com/office/drawing/2014/main" id="{FCB0A5BF-ABE9-30F1-D8E6-01AE6788F1F4}"/>
              </a:ext>
            </a:extLst>
          </p:cNvPr>
          <p:cNvSpPr>
            <a:spLocks noChangeShapeType="1"/>
          </p:cNvSpPr>
          <p:nvPr/>
        </p:nvSpPr>
        <p:spPr bwMode="auto">
          <a:xfrm>
            <a:off x="5004048" y="1988840"/>
            <a:ext cx="990600" cy="0"/>
          </a:xfrm>
          <a:prstGeom prst="line">
            <a:avLst/>
          </a:prstGeom>
          <a:noFill/>
          <a:ln w="57150">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en-US"/>
          </a:p>
        </p:txBody>
      </p:sp>
      <p:sp>
        <p:nvSpPr>
          <p:cNvPr id="9" name="Line 9">
            <a:extLst>
              <a:ext uri="{FF2B5EF4-FFF2-40B4-BE49-F238E27FC236}">
                <a16:creationId xmlns:a16="http://schemas.microsoft.com/office/drawing/2014/main" id="{D595D898-B9BB-4B86-10A2-22800DB9B71F}"/>
              </a:ext>
            </a:extLst>
          </p:cNvPr>
          <p:cNvSpPr>
            <a:spLocks noChangeShapeType="1"/>
          </p:cNvSpPr>
          <p:nvPr/>
        </p:nvSpPr>
        <p:spPr bwMode="auto">
          <a:xfrm>
            <a:off x="5580112" y="2348880"/>
            <a:ext cx="2133600" cy="0"/>
          </a:xfrm>
          <a:prstGeom prst="line">
            <a:avLst/>
          </a:prstGeom>
          <a:noFill/>
          <a:ln w="57150">
            <a:solidFill>
              <a:srgbClr val="00B050"/>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en-US"/>
          </a:p>
        </p:txBody>
      </p:sp>
      <p:sp>
        <p:nvSpPr>
          <p:cNvPr id="10" name="Line 10">
            <a:extLst>
              <a:ext uri="{FF2B5EF4-FFF2-40B4-BE49-F238E27FC236}">
                <a16:creationId xmlns:a16="http://schemas.microsoft.com/office/drawing/2014/main" id="{1D03463F-E4C1-6B66-2240-25CE3F22A1EA}"/>
              </a:ext>
            </a:extLst>
          </p:cNvPr>
          <p:cNvSpPr>
            <a:spLocks noChangeShapeType="1"/>
          </p:cNvSpPr>
          <p:nvPr/>
        </p:nvSpPr>
        <p:spPr bwMode="auto">
          <a:xfrm>
            <a:off x="7102153" y="3212976"/>
            <a:ext cx="926231" cy="99"/>
          </a:xfrm>
          <a:prstGeom prst="line">
            <a:avLst/>
          </a:prstGeom>
          <a:noFill/>
          <a:ln w="57150">
            <a:solidFill>
              <a:srgbClr val="00B050"/>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en-US"/>
          </a:p>
        </p:txBody>
      </p:sp>
      <p:sp>
        <p:nvSpPr>
          <p:cNvPr id="11" name="Line 11">
            <a:extLst>
              <a:ext uri="{FF2B5EF4-FFF2-40B4-BE49-F238E27FC236}">
                <a16:creationId xmlns:a16="http://schemas.microsoft.com/office/drawing/2014/main" id="{D2A66A6B-92AA-E267-5011-9C6FC06A362B}"/>
              </a:ext>
            </a:extLst>
          </p:cNvPr>
          <p:cNvSpPr>
            <a:spLocks noChangeShapeType="1"/>
          </p:cNvSpPr>
          <p:nvPr/>
        </p:nvSpPr>
        <p:spPr bwMode="auto">
          <a:xfrm flipH="1">
            <a:off x="5979740" y="2780927"/>
            <a:ext cx="2336675" cy="1"/>
          </a:xfrm>
          <a:prstGeom prst="line">
            <a:avLst/>
          </a:prstGeom>
          <a:noFill/>
          <a:ln w="57150">
            <a:solidFill>
              <a:srgbClr val="0033CC"/>
            </a:solidFill>
            <a:miter lim="800000"/>
            <a:headEnd type="none" w="med" len="med"/>
            <a:tailEnd type="oval" w="med" len="med"/>
          </a:ln>
          <a:extLst>
            <a:ext uri="{909E8E84-426E-40DD-AFC4-6F175D3DCCD1}">
              <a14:hiddenFill xmlns:a14="http://schemas.microsoft.com/office/drawing/2010/main">
                <a:noFill/>
              </a14:hiddenFill>
            </a:ext>
          </a:extLst>
        </p:spPr>
        <p:txBody>
          <a:bodyPr wrap="none"/>
          <a:lstStyle/>
          <a:p>
            <a:endParaRPr lang="en-US" dirty="0"/>
          </a:p>
        </p:txBody>
      </p:sp>
      <p:sp>
        <p:nvSpPr>
          <p:cNvPr id="12" name="Line 12">
            <a:extLst>
              <a:ext uri="{FF2B5EF4-FFF2-40B4-BE49-F238E27FC236}">
                <a16:creationId xmlns:a16="http://schemas.microsoft.com/office/drawing/2014/main" id="{4873417A-6C68-1837-B7C2-8BEE7F71E363}"/>
              </a:ext>
            </a:extLst>
          </p:cNvPr>
          <p:cNvSpPr>
            <a:spLocks noChangeShapeType="1"/>
          </p:cNvSpPr>
          <p:nvPr/>
        </p:nvSpPr>
        <p:spPr bwMode="auto">
          <a:xfrm flipH="1">
            <a:off x="6682680" y="3645024"/>
            <a:ext cx="1633736" cy="0"/>
          </a:xfrm>
          <a:prstGeom prst="line">
            <a:avLst/>
          </a:prstGeom>
          <a:noFill/>
          <a:ln w="57150">
            <a:solidFill>
              <a:srgbClr val="0033CC"/>
            </a:solidFill>
            <a:miter lim="800000"/>
            <a:headEnd type="none" w="med" len="med"/>
            <a:tailEnd type="oval" w="med" len="med"/>
          </a:ln>
          <a:extLst>
            <a:ext uri="{909E8E84-426E-40DD-AFC4-6F175D3DCCD1}">
              <a14:hiddenFill xmlns:a14="http://schemas.microsoft.com/office/drawing/2010/main">
                <a:noFill/>
              </a14:hiddenFill>
            </a:ext>
          </a:extLst>
        </p:spPr>
        <p:txBody>
          <a:bodyPr wrap="none"/>
          <a:lstStyle/>
          <a:p>
            <a:endParaRPr lang="en-US"/>
          </a:p>
        </p:txBody>
      </p:sp>
      <p:sp>
        <p:nvSpPr>
          <p:cNvPr id="14" name="Content Placeholder 1">
            <a:extLst>
              <a:ext uri="{FF2B5EF4-FFF2-40B4-BE49-F238E27FC236}">
                <a16:creationId xmlns:a16="http://schemas.microsoft.com/office/drawing/2014/main" id="{D2396814-8310-57BF-4BA2-64D7729016EA}"/>
              </a:ext>
            </a:extLst>
          </p:cNvPr>
          <p:cNvSpPr txBox="1">
            <a:spLocks/>
          </p:cNvSpPr>
          <p:nvPr/>
        </p:nvSpPr>
        <p:spPr bwMode="auto">
          <a:xfrm>
            <a:off x="400050" y="620688"/>
            <a:ext cx="3504134" cy="3816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lgn="just">
              <a:spcBef>
                <a:spcPts val="300"/>
              </a:spcBef>
              <a:defRPr/>
            </a:pPr>
            <a:r>
              <a:rPr lang="en-US" sz="2400" dirty="0">
                <a:latin typeface="Cambria" panose="02040503050406030204" pitchFamily="18" charset="0"/>
                <a:ea typeface="Cambria" panose="02040503050406030204" pitchFamily="18" charset="0"/>
              </a:rPr>
              <a:t>All transactions T, for which both &lt;T Starts&gt; and &lt;T Commit&gt; appear in the log are </a:t>
            </a:r>
            <a:r>
              <a:rPr lang="en-US" sz="2400" dirty="0">
                <a:solidFill>
                  <a:srgbClr val="0033CC"/>
                </a:solidFill>
                <a:latin typeface="Cambria" panose="02040503050406030204" pitchFamily="18" charset="0"/>
                <a:ea typeface="Cambria" panose="02040503050406030204" pitchFamily="18" charset="0"/>
              </a:rPr>
              <a:t>redone.</a:t>
            </a:r>
          </a:p>
          <a:p>
            <a:pPr algn="just">
              <a:spcBef>
                <a:spcPts val="300"/>
              </a:spcBef>
              <a:defRPr/>
            </a:pPr>
            <a:r>
              <a:rPr lang="en-US" sz="2400" dirty="0">
                <a:latin typeface="Cambria" panose="02040503050406030204" pitchFamily="18" charset="0"/>
                <a:ea typeface="Cambria" panose="02040503050406030204" pitchFamily="18" charset="0"/>
              </a:rPr>
              <a:t>For transactions S, for which the log contains &lt;S Starts&gt; but not &lt;S Commit&gt; will be </a:t>
            </a:r>
            <a:r>
              <a:rPr lang="en-US" sz="2400" dirty="0">
                <a:solidFill>
                  <a:srgbClr val="0033CC"/>
                </a:solidFill>
                <a:latin typeface="Cambria" panose="02040503050406030204" pitchFamily="18" charset="0"/>
                <a:ea typeface="Cambria" panose="02040503050406030204" pitchFamily="18" charset="0"/>
              </a:rPr>
              <a:t>undone.</a:t>
            </a:r>
          </a:p>
          <a:p>
            <a:pPr algn="just">
              <a:spcBef>
                <a:spcPts val="300"/>
              </a:spcBef>
              <a:defRPr/>
            </a:pPr>
            <a:endParaRPr lang="en-US" sz="2400" dirty="0">
              <a:solidFill>
                <a:srgbClr val="0033CC"/>
              </a:solidFill>
              <a:latin typeface="Cambria" panose="02040503050406030204" pitchFamily="18" charset="0"/>
              <a:ea typeface="Cambria" panose="02040503050406030204" pitchFamily="18" charset="0"/>
            </a:endParaRPr>
          </a:p>
        </p:txBody>
      </p:sp>
      <p:sp>
        <p:nvSpPr>
          <p:cNvPr id="15" name="Content Placeholder 1">
            <a:extLst>
              <a:ext uri="{FF2B5EF4-FFF2-40B4-BE49-F238E27FC236}">
                <a16:creationId xmlns:a16="http://schemas.microsoft.com/office/drawing/2014/main" id="{3051C8C5-2577-D408-3FE3-D65BE960B875}"/>
              </a:ext>
            </a:extLst>
          </p:cNvPr>
          <p:cNvSpPr txBox="1">
            <a:spLocks/>
          </p:cNvSpPr>
          <p:nvPr/>
        </p:nvSpPr>
        <p:spPr bwMode="auto">
          <a:xfrm>
            <a:off x="419793" y="4365104"/>
            <a:ext cx="8544421" cy="1338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lgn="just">
              <a:spcBef>
                <a:spcPts val="300"/>
              </a:spcBef>
              <a:defRPr/>
            </a:pPr>
            <a:r>
              <a:rPr lang="en-US" sz="2400" dirty="0">
                <a:latin typeface="Cambria" panose="02040503050406030204" pitchFamily="18" charset="0"/>
                <a:ea typeface="Cambria" panose="02040503050406030204" pitchFamily="18" charset="0"/>
              </a:rPr>
              <a:t>In the given Fig., transactions </a:t>
            </a:r>
            <a:r>
              <a:rPr lang="en-US" sz="2400" dirty="0">
                <a:solidFill>
                  <a:srgbClr val="0033CC"/>
                </a:solidFill>
                <a:latin typeface="Cambria" panose="02040503050406030204" pitchFamily="18" charset="0"/>
                <a:ea typeface="Cambria" panose="02040503050406030204" pitchFamily="18" charset="0"/>
              </a:rPr>
              <a:t>T3</a:t>
            </a:r>
            <a:r>
              <a:rPr lang="en-US" sz="2400" dirty="0">
                <a:latin typeface="Cambria" panose="02040503050406030204" pitchFamily="18" charset="0"/>
                <a:ea typeface="Cambria" panose="02040503050406030204" pitchFamily="18" charset="0"/>
              </a:rPr>
              <a:t> and </a:t>
            </a:r>
            <a:r>
              <a:rPr lang="en-US" sz="2400" dirty="0">
                <a:solidFill>
                  <a:srgbClr val="0033CC"/>
                </a:solidFill>
                <a:latin typeface="Cambria" panose="02040503050406030204" pitchFamily="18" charset="0"/>
                <a:ea typeface="Cambria" panose="02040503050406030204" pitchFamily="18" charset="0"/>
              </a:rPr>
              <a:t>T5</a:t>
            </a:r>
            <a:r>
              <a:rPr lang="en-US" sz="2400" dirty="0">
                <a:latin typeface="Cambria" panose="02040503050406030204" pitchFamily="18" charset="0"/>
                <a:ea typeface="Cambria" panose="02040503050406030204" pitchFamily="18" charset="0"/>
              </a:rPr>
              <a:t> must be </a:t>
            </a:r>
            <a:r>
              <a:rPr lang="en-US" sz="2400" dirty="0">
                <a:solidFill>
                  <a:srgbClr val="0033CC"/>
                </a:solidFill>
                <a:latin typeface="Cambria" panose="02040503050406030204" pitchFamily="18" charset="0"/>
                <a:ea typeface="Cambria" panose="02040503050406030204" pitchFamily="18" charset="0"/>
              </a:rPr>
              <a:t>undone</a:t>
            </a:r>
            <a:r>
              <a:rPr lang="en-US" sz="2400" dirty="0">
                <a:latin typeface="Cambria" panose="02040503050406030204" pitchFamily="18" charset="0"/>
                <a:ea typeface="Cambria" panose="02040503050406030204" pitchFamily="18" charset="0"/>
              </a:rPr>
              <a:t> and transactions </a:t>
            </a:r>
            <a:r>
              <a:rPr lang="en-US" sz="2400" dirty="0">
                <a:solidFill>
                  <a:srgbClr val="0033CC"/>
                </a:solidFill>
                <a:latin typeface="Cambria" panose="02040503050406030204" pitchFamily="18" charset="0"/>
                <a:ea typeface="Cambria" panose="02040503050406030204" pitchFamily="18" charset="0"/>
              </a:rPr>
              <a:t>T2</a:t>
            </a:r>
            <a:r>
              <a:rPr lang="en-US" sz="2400" dirty="0">
                <a:latin typeface="Cambria" panose="02040503050406030204" pitchFamily="18" charset="0"/>
                <a:ea typeface="Cambria" panose="02040503050406030204" pitchFamily="18" charset="0"/>
              </a:rPr>
              <a:t> and </a:t>
            </a:r>
            <a:r>
              <a:rPr lang="en-US" sz="2400" dirty="0">
                <a:solidFill>
                  <a:srgbClr val="0033CC"/>
                </a:solidFill>
                <a:latin typeface="Cambria" panose="02040503050406030204" pitchFamily="18" charset="0"/>
                <a:ea typeface="Cambria" panose="02040503050406030204" pitchFamily="18" charset="0"/>
              </a:rPr>
              <a:t>T4</a:t>
            </a:r>
            <a:r>
              <a:rPr lang="en-US" sz="2400" dirty="0">
                <a:latin typeface="Cambria" panose="02040503050406030204" pitchFamily="18" charset="0"/>
                <a:ea typeface="Cambria" panose="02040503050406030204" pitchFamily="18" charset="0"/>
              </a:rPr>
              <a:t> must be </a:t>
            </a:r>
            <a:r>
              <a:rPr lang="en-US" sz="2400" dirty="0">
                <a:solidFill>
                  <a:srgbClr val="0033CC"/>
                </a:solidFill>
                <a:latin typeface="Cambria" panose="02040503050406030204" pitchFamily="18" charset="0"/>
                <a:ea typeface="Cambria" panose="02040503050406030204" pitchFamily="18" charset="0"/>
              </a:rPr>
              <a:t>redone.</a:t>
            </a:r>
          </a:p>
          <a:p>
            <a:pPr algn="just">
              <a:spcBef>
                <a:spcPts val="300"/>
              </a:spcBef>
              <a:defRPr/>
            </a:pPr>
            <a:r>
              <a:rPr lang="en-US" sz="2400" dirty="0">
                <a:latin typeface="Cambria" panose="02040503050406030204" pitchFamily="18" charset="0"/>
                <a:ea typeface="Cambria" panose="02040503050406030204" pitchFamily="18" charset="0"/>
              </a:rPr>
              <a:t>At restart, the system goes through the following procedure:</a:t>
            </a:r>
            <a:endParaRPr lang="en-US" sz="2400" dirty="0">
              <a:solidFill>
                <a:srgbClr val="0033CC"/>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956861416"/>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9EA37-8BC5-9B7C-A248-66951BADF05C}"/>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F4B6FD91-49B4-CFB8-C4EB-6D33BF54CADA}"/>
              </a:ext>
            </a:extLst>
          </p:cNvPr>
          <p:cNvSpPr>
            <a:spLocks noGrp="1" noChangeArrowheads="1"/>
          </p:cNvSpPr>
          <p:nvPr>
            <p:ph type="title"/>
          </p:nvPr>
        </p:nvSpPr>
        <p:spPr>
          <a:xfrm>
            <a:off x="323850" y="188640"/>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Checkpointing</a:t>
            </a:r>
          </a:p>
        </p:txBody>
      </p:sp>
      <p:sp>
        <p:nvSpPr>
          <p:cNvPr id="2" name="Content Placeholder 1">
            <a:extLst>
              <a:ext uri="{FF2B5EF4-FFF2-40B4-BE49-F238E27FC236}">
                <a16:creationId xmlns:a16="http://schemas.microsoft.com/office/drawing/2014/main" id="{CDE6EA39-E514-00E7-20D4-149DE4F10049}"/>
              </a:ext>
            </a:extLst>
          </p:cNvPr>
          <p:cNvSpPr>
            <a:spLocks noGrp="1"/>
          </p:cNvSpPr>
          <p:nvPr>
            <p:ph sz="quarter" idx="1"/>
          </p:nvPr>
        </p:nvSpPr>
        <p:spPr>
          <a:xfrm>
            <a:off x="4248150" y="188640"/>
            <a:ext cx="4741490" cy="3600400"/>
          </a:xfrm>
          <a:ln>
            <a:solidFill>
              <a:schemeClr val="tx1"/>
            </a:solidFill>
          </a:ln>
        </p:spPr>
        <p:txBody>
          <a:bodyPr/>
          <a:lstStyle/>
          <a:p>
            <a:pPr marL="0" indent="0" algn="just">
              <a:spcBef>
                <a:spcPts val="300"/>
              </a:spcBef>
              <a:buNone/>
              <a:defRPr/>
            </a:pPr>
            <a:r>
              <a:rPr lang="en-US" sz="2400" dirty="0">
                <a:latin typeface="Cambria" panose="02040503050406030204" pitchFamily="18" charset="0"/>
                <a:ea typeface="Cambria" panose="02040503050406030204" pitchFamily="18" charset="0"/>
              </a:rPr>
              <a:t>		 </a:t>
            </a:r>
            <a:r>
              <a:rPr lang="en-US" sz="2400" dirty="0">
                <a:solidFill>
                  <a:srgbClr val="0033CC"/>
                </a:solidFill>
                <a:latin typeface="Cambria" panose="02040503050406030204" pitchFamily="18" charset="0"/>
                <a:ea typeface="Cambria" panose="02040503050406030204" pitchFamily="18" charset="0"/>
              </a:rPr>
              <a:t>T</a:t>
            </a:r>
            <a:r>
              <a:rPr lang="en-US" sz="2400" baseline="-25000" dirty="0">
                <a:solidFill>
                  <a:srgbClr val="0033CC"/>
                </a:solidFill>
                <a:latin typeface="Cambria" panose="02040503050406030204" pitchFamily="18" charset="0"/>
                <a:ea typeface="Cambria" panose="02040503050406030204" pitchFamily="18" charset="0"/>
              </a:rPr>
              <a:t>c</a:t>
            </a:r>
            <a:r>
              <a:rPr lang="en-US" sz="2400" dirty="0">
                <a:latin typeface="Cambria" panose="02040503050406030204" pitchFamily="18" charset="0"/>
                <a:ea typeface="Cambria" panose="02040503050406030204" pitchFamily="18" charset="0"/>
              </a:rPr>
              <a:t>		   </a:t>
            </a:r>
            <a:r>
              <a:rPr lang="en-US" sz="2400" dirty="0" err="1">
                <a:solidFill>
                  <a:srgbClr val="FF0000"/>
                </a:solidFill>
                <a:latin typeface="Cambria" panose="02040503050406030204" pitchFamily="18" charset="0"/>
                <a:ea typeface="Cambria" panose="02040503050406030204" pitchFamily="18" charset="0"/>
              </a:rPr>
              <a:t>T</a:t>
            </a:r>
            <a:r>
              <a:rPr lang="en-US" sz="2400" baseline="-25000" dirty="0" err="1">
                <a:solidFill>
                  <a:srgbClr val="FF0000"/>
                </a:solidFill>
                <a:latin typeface="Cambria" panose="02040503050406030204" pitchFamily="18" charset="0"/>
                <a:ea typeface="Cambria" panose="02040503050406030204" pitchFamily="18" charset="0"/>
              </a:rPr>
              <a:t>f</a:t>
            </a:r>
            <a:endParaRPr lang="en-US" sz="2400" baseline="-25000" dirty="0">
              <a:solidFill>
                <a:srgbClr val="FF0000"/>
              </a:solidFill>
              <a:latin typeface="Cambria" panose="02040503050406030204" pitchFamily="18" charset="0"/>
              <a:ea typeface="Cambria" panose="02040503050406030204" pitchFamily="18" charset="0"/>
            </a:endParaRPr>
          </a:p>
          <a:p>
            <a:pPr marL="0" indent="0" algn="just">
              <a:spcBef>
                <a:spcPts val="300"/>
              </a:spcBef>
              <a:buNone/>
              <a:defRPr/>
            </a:pPr>
            <a:r>
              <a:rPr lang="en-US" sz="2400" dirty="0">
                <a:latin typeface="Cambria" panose="02040503050406030204" pitchFamily="18" charset="0"/>
                <a:ea typeface="Cambria" panose="02040503050406030204" pitchFamily="18" charset="0"/>
              </a:rPr>
              <a:t>Time</a:t>
            </a:r>
          </a:p>
          <a:p>
            <a:pPr marL="0" indent="0" algn="just">
              <a:spcBef>
                <a:spcPts val="300"/>
              </a:spcBef>
              <a:buNone/>
              <a:defRPr/>
            </a:pPr>
            <a:endParaRPr lang="en-US" sz="2400" dirty="0">
              <a:latin typeface="Cambria" panose="02040503050406030204" pitchFamily="18" charset="0"/>
              <a:ea typeface="Cambria" panose="02040503050406030204" pitchFamily="18" charset="0"/>
            </a:endParaRPr>
          </a:p>
          <a:p>
            <a:pPr marL="0" indent="0" algn="just">
              <a:spcBef>
                <a:spcPts val="300"/>
              </a:spcBef>
              <a:buNone/>
              <a:defRPr/>
            </a:pPr>
            <a:r>
              <a:rPr lang="en-US" sz="2400" dirty="0">
                <a:latin typeface="Cambria" panose="02040503050406030204" pitchFamily="18" charset="0"/>
                <a:ea typeface="Cambria" panose="02040503050406030204" pitchFamily="18" charset="0"/>
              </a:rPr>
              <a:t>T1</a:t>
            </a:r>
          </a:p>
          <a:p>
            <a:pPr marL="0" indent="0" algn="just">
              <a:spcBef>
                <a:spcPts val="300"/>
              </a:spcBef>
              <a:buNone/>
              <a:defRPr/>
            </a:pPr>
            <a:r>
              <a:rPr lang="en-US" sz="2400" dirty="0">
                <a:latin typeface="Cambria" panose="02040503050406030204" pitchFamily="18" charset="0"/>
                <a:ea typeface="Cambria" panose="02040503050406030204" pitchFamily="18" charset="0"/>
              </a:rPr>
              <a:t>T2</a:t>
            </a:r>
          </a:p>
          <a:p>
            <a:pPr marL="0" indent="0" algn="just">
              <a:spcBef>
                <a:spcPts val="300"/>
              </a:spcBef>
              <a:buNone/>
              <a:defRPr/>
            </a:pPr>
            <a:r>
              <a:rPr lang="en-US" sz="2400" dirty="0">
                <a:latin typeface="Cambria" panose="02040503050406030204" pitchFamily="18" charset="0"/>
                <a:ea typeface="Cambria" panose="02040503050406030204" pitchFamily="18" charset="0"/>
              </a:rPr>
              <a:t>T3</a:t>
            </a:r>
          </a:p>
          <a:p>
            <a:pPr marL="0" indent="0" algn="just">
              <a:spcBef>
                <a:spcPts val="300"/>
              </a:spcBef>
              <a:buNone/>
              <a:defRPr/>
            </a:pPr>
            <a:r>
              <a:rPr lang="en-US" sz="2400" dirty="0">
                <a:latin typeface="Cambria" panose="02040503050406030204" pitchFamily="18" charset="0"/>
                <a:ea typeface="Cambria" panose="02040503050406030204" pitchFamily="18" charset="0"/>
              </a:rPr>
              <a:t>T4</a:t>
            </a:r>
          </a:p>
          <a:p>
            <a:pPr marL="0" indent="0" algn="just">
              <a:spcBef>
                <a:spcPts val="300"/>
              </a:spcBef>
              <a:buNone/>
              <a:defRPr/>
            </a:pPr>
            <a:r>
              <a:rPr lang="en-US" sz="2400" dirty="0">
                <a:latin typeface="Cambria" panose="02040503050406030204" pitchFamily="18" charset="0"/>
                <a:ea typeface="Cambria" panose="02040503050406030204" pitchFamily="18" charset="0"/>
              </a:rPr>
              <a:t>T5</a:t>
            </a:r>
          </a:p>
          <a:p>
            <a:pPr algn="just">
              <a:spcBef>
                <a:spcPts val="300"/>
              </a:spcBef>
              <a:defRPr/>
            </a:pPr>
            <a:endParaRPr lang="en-US" sz="2400" dirty="0">
              <a:solidFill>
                <a:srgbClr val="0033CC"/>
              </a:solidFill>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E619C34D-BF9E-DD0C-EC51-9B570CC446A5}"/>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BEBF6037-6452-4B9F-7D07-9AEB48570BCC}"/>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5" name="Line 5">
            <a:extLst>
              <a:ext uri="{FF2B5EF4-FFF2-40B4-BE49-F238E27FC236}">
                <a16:creationId xmlns:a16="http://schemas.microsoft.com/office/drawing/2014/main" id="{41FB841E-30AD-59ED-7313-EC784AECD0FE}"/>
              </a:ext>
            </a:extLst>
          </p:cNvPr>
          <p:cNvSpPr>
            <a:spLocks noChangeShapeType="1"/>
          </p:cNvSpPr>
          <p:nvPr/>
        </p:nvSpPr>
        <p:spPr bwMode="auto">
          <a:xfrm>
            <a:off x="5148064" y="908719"/>
            <a:ext cx="3816151" cy="1"/>
          </a:xfrm>
          <a:prstGeom prst="line">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 name="Line 6">
            <a:extLst>
              <a:ext uri="{FF2B5EF4-FFF2-40B4-BE49-F238E27FC236}">
                <a16:creationId xmlns:a16="http://schemas.microsoft.com/office/drawing/2014/main" id="{D2F05B5B-A1A0-5701-0A65-FE4FFCE9F9EF}"/>
              </a:ext>
            </a:extLst>
          </p:cNvPr>
          <p:cNvSpPr>
            <a:spLocks noChangeShapeType="1"/>
          </p:cNvSpPr>
          <p:nvPr/>
        </p:nvSpPr>
        <p:spPr bwMode="auto">
          <a:xfrm>
            <a:off x="6400799" y="908720"/>
            <a:ext cx="28129" cy="2727918"/>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7" name="Line 7">
            <a:extLst>
              <a:ext uri="{FF2B5EF4-FFF2-40B4-BE49-F238E27FC236}">
                <a16:creationId xmlns:a16="http://schemas.microsoft.com/office/drawing/2014/main" id="{8902BF0F-E32D-7BBA-F9CB-D05EDBD4CE82}"/>
              </a:ext>
            </a:extLst>
          </p:cNvPr>
          <p:cNvSpPr>
            <a:spLocks noChangeShapeType="1"/>
          </p:cNvSpPr>
          <p:nvPr/>
        </p:nvSpPr>
        <p:spPr bwMode="auto">
          <a:xfrm flipH="1">
            <a:off x="8310264" y="917009"/>
            <a:ext cx="6152" cy="2728016"/>
          </a:xfrm>
          <a:prstGeom prst="line">
            <a:avLst/>
          </a:prstGeom>
          <a:noFill/>
          <a:ln w="38100">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8" name="Line 8">
            <a:extLst>
              <a:ext uri="{FF2B5EF4-FFF2-40B4-BE49-F238E27FC236}">
                <a16:creationId xmlns:a16="http://schemas.microsoft.com/office/drawing/2014/main" id="{BC8EAC89-DFF8-48B7-0024-BAB496240129}"/>
              </a:ext>
            </a:extLst>
          </p:cNvPr>
          <p:cNvSpPr>
            <a:spLocks noChangeShapeType="1"/>
          </p:cNvSpPr>
          <p:nvPr/>
        </p:nvSpPr>
        <p:spPr bwMode="auto">
          <a:xfrm>
            <a:off x="5004048" y="1628800"/>
            <a:ext cx="990600" cy="0"/>
          </a:xfrm>
          <a:prstGeom prst="line">
            <a:avLst/>
          </a:prstGeom>
          <a:noFill/>
          <a:ln w="57150">
            <a:solidFill>
              <a:schemeClr val="tx1"/>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en-US"/>
          </a:p>
        </p:txBody>
      </p:sp>
      <p:sp>
        <p:nvSpPr>
          <p:cNvPr id="9" name="Line 9">
            <a:extLst>
              <a:ext uri="{FF2B5EF4-FFF2-40B4-BE49-F238E27FC236}">
                <a16:creationId xmlns:a16="http://schemas.microsoft.com/office/drawing/2014/main" id="{3E7FFB61-7297-E7FA-52E5-6078AC1B14F9}"/>
              </a:ext>
            </a:extLst>
          </p:cNvPr>
          <p:cNvSpPr>
            <a:spLocks noChangeShapeType="1"/>
          </p:cNvSpPr>
          <p:nvPr/>
        </p:nvSpPr>
        <p:spPr bwMode="auto">
          <a:xfrm>
            <a:off x="5580112" y="1988840"/>
            <a:ext cx="2133600" cy="0"/>
          </a:xfrm>
          <a:prstGeom prst="line">
            <a:avLst/>
          </a:prstGeom>
          <a:noFill/>
          <a:ln w="57150">
            <a:solidFill>
              <a:srgbClr val="00B050"/>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en-US"/>
          </a:p>
        </p:txBody>
      </p:sp>
      <p:sp>
        <p:nvSpPr>
          <p:cNvPr id="10" name="Line 10">
            <a:extLst>
              <a:ext uri="{FF2B5EF4-FFF2-40B4-BE49-F238E27FC236}">
                <a16:creationId xmlns:a16="http://schemas.microsoft.com/office/drawing/2014/main" id="{E220039C-B7A6-CBEB-2003-65B3E03FC2A3}"/>
              </a:ext>
            </a:extLst>
          </p:cNvPr>
          <p:cNvSpPr>
            <a:spLocks noChangeShapeType="1"/>
          </p:cNvSpPr>
          <p:nvPr/>
        </p:nvSpPr>
        <p:spPr bwMode="auto">
          <a:xfrm>
            <a:off x="7102153" y="2852936"/>
            <a:ext cx="926231" cy="99"/>
          </a:xfrm>
          <a:prstGeom prst="line">
            <a:avLst/>
          </a:prstGeom>
          <a:noFill/>
          <a:ln w="57150">
            <a:solidFill>
              <a:srgbClr val="00B050"/>
            </a:solidFill>
            <a:miter lim="800000"/>
            <a:headEnd type="oval" w="med" len="med"/>
            <a:tailEnd type="oval" w="med" len="med"/>
          </a:ln>
          <a:extLst>
            <a:ext uri="{909E8E84-426E-40DD-AFC4-6F175D3DCCD1}">
              <a14:hiddenFill xmlns:a14="http://schemas.microsoft.com/office/drawing/2010/main">
                <a:noFill/>
              </a14:hiddenFill>
            </a:ext>
          </a:extLst>
        </p:spPr>
        <p:txBody>
          <a:bodyPr wrap="none"/>
          <a:lstStyle/>
          <a:p>
            <a:endParaRPr lang="en-US"/>
          </a:p>
        </p:txBody>
      </p:sp>
      <p:sp>
        <p:nvSpPr>
          <p:cNvPr id="11" name="Line 11">
            <a:extLst>
              <a:ext uri="{FF2B5EF4-FFF2-40B4-BE49-F238E27FC236}">
                <a16:creationId xmlns:a16="http://schemas.microsoft.com/office/drawing/2014/main" id="{C4DA1492-887F-55DE-A1A0-22D2B1C314FE}"/>
              </a:ext>
            </a:extLst>
          </p:cNvPr>
          <p:cNvSpPr>
            <a:spLocks noChangeShapeType="1"/>
          </p:cNvSpPr>
          <p:nvPr/>
        </p:nvSpPr>
        <p:spPr bwMode="auto">
          <a:xfrm flipH="1">
            <a:off x="5979740" y="2420887"/>
            <a:ext cx="2336675" cy="1"/>
          </a:xfrm>
          <a:prstGeom prst="line">
            <a:avLst/>
          </a:prstGeom>
          <a:noFill/>
          <a:ln w="57150">
            <a:solidFill>
              <a:srgbClr val="0033CC"/>
            </a:solidFill>
            <a:miter lim="800000"/>
            <a:headEnd type="none" w="med" len="med"/>
            <a:tailEnd type="oval" w="med" len="med"/>
          </a:ln>
          <a:extLst>
            <a:ext uri="{909E8E84-426E-40DD-AFC4-6F175D3DCCD1}">
              <a14:hiddenFill xmlns:a14="http://schemas.microsoft.com/office/drawing/2010/main">
                <a:noFill/>
              </a14:hiddenFill>
            </a:ext>
          </a:extLst>
        </p:spPr>
        <p:txBody>
          <a:bodyPr wrap="none"/>
          <a:lstStyle/>
          <a:p>
            <a:endParaRPr lang="en-US" dirty="0"/>
          </a:p>
        </p:txBody>
      </p:sp>
      <p:sp>
        <p:nvSpPr>
          <p:cNvPr id="12" name="Line 12">
            <a:extLst>
              <a:ext uri="{FF2B5EF4-FFF2-40B4-BE49-F238E27FC236}">
                <a16:creationId xmlns:a16="http://schemas.microsoft.com/office/drawing/2014/main" id="{0EBE51ED-7251-CFB5-399C-2461CD183DA5}"/>
              </a:ext>
            </a:extLst>
          </p:cNvPr>
          <p:cNvSpPr>
            <a:spLocks noChangeShapeType="1"/>
          </p:cNvSpPr>
          <p:nvPr/>
        </p:nvSpPr>
        <p:spPr bwMode="auto">
          <a:xfrm flipH="1">
            <a:off x="6682680" y="3284984"/>
            <a:ext cx="1633736" cy="0"/>
          </a:xfrm>
          <a:prstGeom prst="line">
            <a:avLst/>
          </a:prstGeom>
          <a:noFill/>
          <a:ln w="57150">
            <a:solidFill>
              <a:srgbClr val="0033CC"/>
            </a:solidFill>
            <a:miter lim="800000"/>
            <a:headEnd type="none" w="med" len="med"/>
            <a:tailEnd type="oval" w="med" len="med"/>
          </a:ln>
          <a:extLst>
            <a:ext uri="{909E8E84-426E-40DD-AFC4-6F175D3DCCD1}">
              <a14:hiddenFill xmlns:a14="http://schemas.microsoft.com/office/drawing/2010/main">
                <a:noFill/>
              </a14:hiddenFill>
            </a:ext>
          </a:extLst>
        </p:spPr>
        <p:txBody>
          <a:bodyPr wrap="none"/>
          <a:lstStyle/>
          <a:p>
            <a:endParaRPr lang="en-US"/>
          </a:p>
        </p:txBody>
      </p:sp>
      <p:sp>
        <p:nvSpPr>
          <p:cNvPr id="14" name="Content Placeholder 1">
            <a:extLst>
              <a:ext uri="{FF2B5EF4-FFF2-40B4-BE49-F238E27FC236}">
                <a16:creationId xmlns:a16="http://schemas.microsoft.com/office/drawing/2014/main" id="{66ACDDC2-F1D4-5DF1-1E2C-43C73F120425}"/>
              </a:ext>
            </a:extLst>
          </p:cNvPr>
          <p:cNvSpPr txBox="1">
            <a:spLocks/>
          </p:cNvSpPr>
          <p:nvPr/>
        </p:nvSpPr>
        <p:spPr bwMode="auto">
          <a:xfrm>
            <a:off x="400050" y="548680"/>
            <a:ext cx="3504134" cy="3816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lgn="just">
              <a:spcBef>
                <a:spcPts val="300"/>
              </a:spcBef>
              <a:defRPr/>
            </a:pPr>
            <a:r>
              <a:rPr lang="en-US" sz="2400" dirty="0">
                <a:latin typeface="Cambria" panose="02040503050406030204" pitchFamily="18" charset="0"/>
                <a:ea typeface="Cambria" panose="02040503050406030204" pitchFamily="18" charset="0"/>
              </a:rPr>
              <a:t>It starts with two lists of transactions, </a:t>
            </a:r>
            <a:r>
              <a:rPr lang="en-US" sz="2400" dirty="0">
                <a:solidFill>
                  <a:srgbClr val="0033CC"/>
                </a:solidFill>
                <a:latin typeface="Cambria" panose="02040503050406030204" pitchFamily="18" charset="0"/>
                <a:ea typeface="Cambria" panose="02040503050406030204" pitchFamily="18" charset="0"/>
              </a:rPr>
              <a:t>UNDO</a:t>
            </a:r>
            <a:r>
              <a:rPr lang="en-US" sz="2400" dirty="0">
                <a:latin typeface="Cambria" panose="02040503050406030204" pitchFamily="18" charset="0"/>
                <a:ea typeface="Cambria" panose="02040503050406030204" pitchFamily="18" charset="0"/>
              </a:rPr>
              <a:t> list and </a:t>
            </a:r>
            <a:r>
              <a:rPr lang="en-US" sz="2400" dirty="0">
                <a:solidFill>
                  <a:srgbClr val="0033CC"/>
                </a:solidFill>
                <a:latin typeface="Cambria" panose="02040503050406030204" pitchFamily="18" charset="0"/>
                <a:ea typeface="Cambria" panose="02040503050406030204" pitchFamily="18" charset="0"/>
              </a:rPr>
              <a:t>REDO</a:t>
            </a:r>
            <a:r>
              <a:rPr lang="en-US" sz="2400" dirty="0">
                <a:latin typeface="Cambria" panose="02040503050406030204" pitchFamily="18" charset="0"/>
                <a:ea typeface="Cambria" panose="02040503050406030204" pitchFamily="18" charset="0"/>
              </a:rPr>
              <a:t> list.</a:t>
            </a:r>
          </a:p>
          <a:p>
            <a:pPr algn="just">
              <a:spcBef>
                <a:spcPts val="300"/>
              </a:spcBef>
              <a:defRPr/>
            </a:pPr>
            <a:r>
              <a:rPr lang="en-US" sz="2400" dirty="0">
                <a:solidFill>
                  <a:srgbClr val="0033CC"/>
                </a:solidFill>
                <a:latin typeface="Cambria" panose="02040503050406030204" pitchFamily="18" charset="0"/>
                <a:ea typeface="Cambria" panose="02040503050406030204" pitchFamily="18" charset="0"/>
              </a:rPr>
              <a:t>UNDO</a:t>
            </a:r>
            <a:r>
              <a:rPr lang="en-US" sz="2400" dirty="0">
                <a:latin typeface="Cambria" panose="02040503050406030204" pitchFamily="18" charset="0"/>
                <a:ea typeface="Cambria" panose="02040503050406030204" pitchFamily="18" charset="0"/>
              </a:rPr>
              <a:t> list is set to all transactions recorded at the time of checkpoint </a:t>
            </a:r>
            <a:r>
              <a:rPr lang="en-US" sz="2400" dirty="0">
                <a:solidFill>
                  <a:srgbClr val="0033CC"/>
                </a:solidFill>
                <a:latin typeface="Cambria" panose="02040503050406030204" pitchFamily="18" charset="0"/>
                <a:ea typeface="Cambria" panose="02040503050406030204" pitchFamily="18" charset="0"/>
              </a:rPr>
              <a:t>T</a:t>
            </a:r>
            <a:r>
              <a:rPr lang="en-US" sz="2400" baseline="-25000" dirty="0">
                <a:solidFill>
                  <a:srgbClr val="0033CC"/>
                </a:solidFill>
                <a:latin typeface="Cambria" panose="02040503050406030204" pitchFamily="18" charset="0"/>
                <a:ea typeface="Cambria" panose="02040503050406030204" pitchFamily="18" charset="0"/>
              </a:rPr>
              <a:t>c</a:t>
            </a:r>
            <a:r>
              <a:rPr lang="en-US" sz="2400" dirty="0">
                <a:latin typeface="Cambria" panose="02040503050406030204" pitchFamily="18" charset="0"/>
                <a:ea typeface="Cambria" panose="02040503050406030204" pitchFamily="18" charset="0"/>
              </a:rPr>
              <a:t>, whereas REDO list is set to empty.</a:t>
            </a:r>
          </a:p>
          <a:p>
            <a:pPr algn="just">
              <a:spcBef>
                <a:spcPts val="300"/>
              </a:spcBef>
              <a:defRPr/>
            </a:pPr>
            <a:endParaRPr lang="en-US" sz="2400" dirty="0">
              <a:solidFill>
                <a:srgbClr val="0033CC"/>
              </a:solidFill>
              <a:latin typeface="Cambria" panose="02040503050406030204" pitchFamily="18" charset="0"/>
              <a:ea typeface="Cambria" panose="02040503050406030204" pitchFamily="18" charset="0"/>
            </a:endParaRPr>
          </a:p>
        </p:txBody>
      </p:sp>
      <p:sp>
        <p:nvSpPr>
          <p:cNvPr id="15" name="Content Placeholder 1">
            <a:extLst>
              <a:ext uri="{FF2B5EF4-FFF2-40B4-BE49-F238E27FC236}">
                <a16:creationId xmlns:a16="http://schemas.microsoft.com/office/drawing/2014/main" id="{FBB2419C-2282-5C98-876C-A062DC9D8C7B}"/>
              </a:ext>
            </a:extLst>
          </p:cNvPr>
          <p:cNvSpPr txBox="1">
            <a:spLocks/>
          </p:cNvSpPr>
          <p:nvPr/>
        </p:nvSpPr>
        <p:spPr bwMode="auto">
          <a:xfrm>
            <a:off x="397811" y="3861048"/>
            <a:ext cx="8544421" cy="1338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lgn="just">
              <a:spcBef>
                <a:spcPts val="300"/>
              </a:spcBef>
              <a:defRPr/>
            </a:pPr>
            <a:r>
              <a:rPr lang="en-US" sz="2400" dirty="0">
                <a:latin typeface="Cambria" panose="02040503050406030204" pitchFamily="18" charset="0"/>
                <a:ea typeface="Cambria" panose="02040503050406030204" pitchFamily="18" charset="0"/>
              </a:rPr>
              <a:t>Log is searched starting from the checkpoint </a:t>
            </a:r>
            <a:r>
              <a:rPr lang="en-US" sz="2400" dirty="0">
                <a:solidFill>
                  <a:srgbClr val="0033CC"/>
                </a:solidFill>
                <a:latin typeface="Cambria" panose="02040503050406030204" pitchFamily="18" charset="0"/>
                <a:ea typeface="Cambria" panose="02040503050406030204" pitchFamily="18" charset="0"/>
              </a:rPr>
              <a:t>T</a:t>
            </a:r>
            <a:r>
              <a:rPr lang="en-US" sz="2400" baseline="-25000" dirty="0">
                <a:solidFill>
                  <a:srgbClr val="0033CC"/>
                </a:solidFill>
                <a:latin typeface="Cambria" panose="02040503050406030204" pitchFamily="18" charset="0"/>
                <a:ea typeface="Cambria" panose="02040503050406030204" pitchFamily="18" charset="0"/>
              </a:rPr>
              <a:t>c</a:t>
            </a:r>
            <a:r>
              <a:rPr lang="en-US" sz="2400" dirty="0">
                <a:latin typeface="Cambria" panose="02040503050406030204" pitchFamily="18" charset="0"/>
                <a:ea typeface="Cambria" panose="02040503050406030204" pitchFamily="18" charset="0"/>
              </a:rPr>
              <a:t>.</a:t>
            </a:r>
          </a:p>
          <a:p>
            <a:pPr algn="just">
              <a:spcBef>
                <a:spcPts val="300"/>
              </a:spcBef>
              <a:defRPr/>
            </a:pPr>
            <a:r>
              <a:rPr lang="en-US" sz="2400" dirty="0">
                <a:latin typeface="Cambria" panose="02040503050406030204" pitchFamily="18" charset="0"/>
                <a:ea typeface="Cambria" panose="02040503050406030204" pitchFamily="18" charset="0"/>
              </a:rPr>
              <a:t>If </a:t>
            </a:r>
            <a:r>
              <a:rPr lang="en-US" sz="2400" dirty="0">
                <a:solidFill>
                  <a:srgbClr val="FF0000"/>
                </a:solidFill>
                <a:latin typeface="Cambria" panose="02040503050406030204" pitchFamily="18" charset="0"/>
                <a:ea typeface="Cambria" panose="02040503050406030204" pitchFamily="18" charset="0"/>
              </a:rPr>
              <a:t>&lt;T Starts&gt;</a:t>
            </a:r>
            <a:r>
              <a:rPr lang="en-US" sz="2400" dirty="0">
                <a:latin typeface="Cambria" panose="02040503050406030204" pitchFamily="18" charset="0"/>
                <a:ea typeface="Cambria" panose="02040503050406030204" pitchFamily="18" charset="0"/>
              </a:rPr>
              <a:t> for a transaction T is found in the log, add it to </a:t>
            </a:r>
            <a:r>
              <a:rPr lang="en-US" sz="2400" dirty="0">
                <a:solidFill>
                  <a:srgbClr val="0033CC"/>
                </a:solidFill>
                <a:latin typeface="Cambria" panose="02040503050406030204" pitchFamily="18" charset="0"/>
                <a:ea typeface="Cambria" panose="02040503050406030204" pitchFamily="18" charset="0"/>
              </a:rPr>
              <a:t>UNDO</a:t>
            </a:r>
            <a:r>
              <a:rPr lang="en-US" sz="2400" dirty="0">
                <a:latin typeface="Cambria" panose="02040503050406030204" pitchFamily="18" charset="0"/>
                <a:ea typeface="Cambria" panose="02040503050406030204" pitchFamily="18" charset="0"/>
              </a:rPr>
              <a:t> list. </a:t>
            </a:r>
          </a:p>
          <a:p>
            <a:pPr algn="just">
              <a:spcBef>
                <a:spcPts val="300"/>
              </a:spcBef>
              <a:defRPr/>
            </a:pPr>
            <a:r>
              <a:rPr lang="en-US" sz="2400" dirty="0">
                <a:latin typeface="Cambria" panose="02040503050406030204" pitchFamily="18" charset="0"/>
                <a:ea typeface="Cambria" panose="02040503050406030204" pitchFamily="18" charset="0"/>
              </a:rPr>
              <a:t>It </a:t>
            </a:r>
            <a:r>
              <a:rPr lang="en-US" sz="2400" dirty="0">
                <a:solidFill>
                  <a:srgbClr val="FF0000"/>
                </a:solidFill>
                <a:latin typeface="Cambria" panose="02040503050406030204" pitchFamily="18" charset="0"/>
                <a:ea typeface="Cambria" panose="02040503050406030204" pitchFamily="18" charset="0"/>
              </a:rPr>
              <a:t>&lt;T Commit&gt;</a:t>
            </a:r>
            <a:r>
              <a:rPr lang="en-US" sz="2400" dirty="0">
                <a:latin typeface="Cambria" panose="02040503050406030204" pitchFamily="18" charset="0"/>
                <a:ea typeface="Cambria" panose="02040503050406030204" pitchFamily="18" charset="0"/>
              </a:rPr>
              <a:t> for a transaction T is found, move T from </a:t>
            </a:r>
            <a:r>
              <a:rPr lang="en-US" sz="2400" dirty="0">
                <a:solidFill>
                  <a:srgbClr val="0033CC"/>
                </a:solidFill>
                <a:latin typeface="Cambria" panose="02040503050406030204" pitchFamily="18" charset="0"/>
                <a:ea typeface="Cambria" panose="02040503050406030204" pitchFamily="18" charset="0"/>
              </a:rPr>
              <a:t>UNDO</a:t>
            </a:r>
            <a:r>
              <a:rPr lang="en-US" sz="2400" dirty="0">
                <a:latin typeface="Cambria" panose="02040503050406030204" pitchFamily="18" charset="0"/>
                <a:ea typeface="Cambria" panose="02040503050406030204" pitchFamily="18" charset="0"/>
              </a:rPr>
              <a:t> list to </a:t>
            </a:r>
            <a:r>
              <a:rPr lang="en-US" sz="2400" dirty="0">
                <a:solidFill>
                  <a:srgbClr val="0033CC"/>
                </a:solidFill>
                <a:latin typeface="Cambria" panose="02040503050406030204" pitchFamily="18" charset="0"/>
                <a:ea typeface="Cambria" panose="02040503050406030204" pitchFamily="18" charset="0"/>
              </a:rPr>
              <a:t>REDO</a:t>
            </a:r>
            <a:r>
              <a:rPr lang="en-US" sz="2400" dirty="0">
                <a:latin typeface="Cambria" panose="02040503050406030204" pitchFamily="18" charset="0"/>
                <a:ea typeface="Cambria" panose="02040503050406030204" pitchFamily="18" charset="0"/>
              </a:rPr>
              <a:t> list.</a:t>
            </a:r>
          </a:p>
          <a:p>
            <a:pPr algn="just">
              <a:spcBef>
                <a:spcPts val="300"/>
              </a:spcBef>
              <a:defRPr/>
            </a:pPr>
            <a:r>
              <a:rPr lang="en-US" sz="2400" dirty="0">
                <a:latin typeface="Cambria" panose="02040503050406030204" pitchFamily="18" charset="0"/>
                <a:ea typeface="Cambria" panose="02040503050406030204" pitchFamily="18" charset="0"/>
              </a:rPr>
              <a:t>Upon the end of log, the UNDO and REDO lists are identified.</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64785836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BF83C-8193-2B00-F299-EEE02BCF4619}"/>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2BD14DAF-93D3-8D51-8528-79A53AC116C0}"/>
              </a:ext>
            </a:extLst>
          </p:cNvPr>
          <p:cNvSpPr>
            <a:spLocks noGrp="1" noChangeArrowheads="1"/>
          </p:cNvSpPr>
          <p:nvPr>
            <p:ph type="title"/>
          </p:nvPr>
        </p:nvSpPr>
        <p:spPr>
          <a:xfrm>
            <a:off x="323850" y="188640"/>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Shadow Paging</a:t>
            </a:r>
          </a:p>
        </p:txBody>
      </p:sp>
      <p:sp>
        <p:nvSpPr>
          <p:cNvPr id="2" name="Content Placeholder 1">
            <a:extLst>
              <a:ext uri="{FF2B5EF4-FFF2-40B4-BE49-F238E27FC236}">
                <a16:creationId xmlns:a16="http://schemas.microsoft.com/office/drawing/2014/main" id="{C8C269E4-293E-6A61-2231-760E63E3C902}"/>
              </a:ext>
            </a:extLst>
          </p:cNvPr>
          <p:cNvSpPr>
            <a:spLocks noGrp="1"/>
          </p:cNvSpPr>
          <p:nvPr>
            <p:ph sz="quarter" idx="1"/>
          </p:nvPr>
        </p:nvSpPr>
        <p:spPr>
          <a:xfrm>
            <a:off x="400050" y="620688"/>
            <a:ext cx="8492430" cy="6091634"/>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Shadow paging is an alternative to log-based recovery techniques. It employs two page tables; </a:t>
            </a:r>
            <a:r>
              <a:rPr lang="en-US" sz="2400" dirty="0">
                <a:solidFill>
                  <a:srgbClr val="0033CC"/>
                </a:solidFill>
                <a:latin typeface="Cambria" panose="02040503050406030204" pitchFamily="18" charset="0"/>
                <a:ea typeface="Cambria" panose="02040503050406030204" pitchFamily="18" charset="0"/>
              </a:rPr>
              <a:t>a current page table</a:t>
            </a:r>
            <a:r>
              <a:rPr lang="en-US" sz="2400" dirty="0">
                <a:latin typeface="Cambria" panose="02040503050406030204" pitchFamily="18" charset="0"/>
                <a:ea typeface="Cambria" panose="02040503050406030204" pitchFamily="18" charset="0"/>
              </a:rPr>
              <a:t> and </a:t>
            </a:r>
            <a:r>
              <a:rPr lang="en-US" sz="2400" dirty="0">
                <a:solidFill>
                  <a:srgbClr val="0033CC"/>
                </a:solidFill>
                <a:latin typeface="Cambria" panose="02040503050406030204" pitchFamily="18" charset="0"/>
                <a:ea typeface="Cambria" panose="02040503050406030204" pitchFamily="18" charset="0"/>
              </a:rPr>
              <a:t>a shadow page table.</a:t>
            </a:r>
          </a:p>
          <a:p>
            <a:pPr algn="just">
              <a:spcBef>
                <a:spcPts val="300"/>
              </a:spcBef>
              <a:defRPr/>
            </a:pPr>
            <a:r>
              <a:rPr lang="en-US" sz="2400" dirty="0">
                <a:latin typeface="Cambria" panose="02040503050406030204" pitchFamily="18" charset="0"/>
                <a:ea typeface="Cambria" panose="02040503050406030204" pitchFamily="18" charset="0"/>
              </a:rPr>
              <a:t>All modifications are made to the current page table, and the shadow table is left unchanged. </a:t>
            </a:r>
          </a:p>
          <a:p>
            <a:pPr algn="just">
              <a:spcBef>
                <a:spcPts val="300"/>
              </a:spcBef>
              <a:defRPr/>
            </a:pPr>
            <a:r>
              <a:rPr lang="en-US" sz="2400" dirty="0">
                <a:latin typeface="Cambria" panose="02040503050406030204" pitchFamily="18" charset="0"/>
                <a:ea typeface="Cambria" panose="02040503050406030204" pitchFamily="18" charset="0"/>
              </a:rPr>
              <a:t>When a transaction needs to make a change to a database page, the system finds an unused page on disk, copies the old database page to the new one, and makes changes to the new page. It also updates the current page table to point to the new page. </a:t>
            </a:r>
          </a:p>
          <a:p>
            <a:pPr algn="just">
              <a:spcBef>
                <a:spcPts val="300"/>
              </a:spcBef>
              <a:defRPr/>
            </a:pPr>
            <a:r>
              <a:rPr lang="en-US" sz="2400" dirty="0">
                <a:latin typeface="Cambria" panose="02040503050406030204" pitchFamily="18" charset="0"/>
                <a:ea typeface="Cambria" panose="02040503050406030204" pitchFamily="18" charset="0"/>
              </a:rPr>
              <a:t>If the transaction completes successfully, the current page table is retained. Otherwise, the new pages are ignored, and the shadow page table becomes the current page table.</a:t>
            </a:r>
          </a:p>
          <a:p>
            <a:pPr algn="just">
              <a:spcBef>
                <a:spcPts val="300"/>
              </a:spcBef>
              <a:defRPr/>
            </a:pPr>
            <a:endParaRPr lang="en-US" sz="2400" dirty="0">
              <a:solidFill>
                <a:srgbClr val="0033CC"/>
              </a:solidFill>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FB8A907F-E0B6-4654-6F10-7BE402EF2514}"/>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D2AFB017-28A6-6107-2998-D7C132D1A813}"/>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418949809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8E852-923B-3CAA-00DF-3E4F74AEB02B}"/>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7DD4C287-2AFD-E966-CD58-81C5F82C20A7}"/>
              </a:ext>
            </a:extLst>
          </p:cNvPr>
          <p:cNvSpPr>
            <a:spLocks noGrp="1" noChangeArrowheads="1"/>
          </p:cNvSpPr>
          <p:nvPr>
            <p:ph type="title"/>
          </p:nvPr>
        </p:nvSpPr>
        <p:spPr>
          <a:xfrm>
            <a:off x="323850" y="188640"/>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Reasons of Database Failure</a:t>
            </a:r>
          </a:p>
        </p:txBody>
      </p:sp>
      <p:sp>
        <p:nvSpPr>
          <p:cNvPr id="2" name="Content Placeholder 1">
            <a:extLst>
              <a:ext uri="{FF2B5EF4-FFF2-40B4-BE49-F238E27FC236}">
                <a16:creationId xmlns:a16="http://schemas.microsoft.com/office/drawing/2014/main" id="{7208E499-22A3-6CB5-733A-3761AB2BE874}"/>
              </a:ext>
            </a:extLst>
          </p:cNvPr>
          <p:cNvSpPr>
            <a:spLocks noGrp="1"/>
          </p:cNvSpPr>
          <p:nvPr>
            <p:ph sz="quarter" idx="1"/>
          </p:nvPr>
        </p:nvSpPr>
        <p:spPr>
          <a:xfrm>
            <a:off x="400050" y="620688"/>
            <a:ext cx="8492430" cy="6091634"/>
          </a:xfrm>
        </p:spPr>
        <p:txBody>
          <a:bodyPr/>
          <a:lstStyle/>
          <a:p>
            <a:pPr marL="514350" indent="-514350" algn="just">
              <a:spcBef>
                <a:spcPts val="300"/>
              </a:spcBef>
              <a:buFont typeface="+mj-lt"/>
              <a:buAutoNum type="arabicPeriod"/>
              <a:defRPr/>
            </a:pPr>
            <a:r>
              <a:rPr lang="en-US" sz="2800" dirty="0">
                <a:latin typeface="Cambria" panose="02040503050406030204" pitchFamily="18" charset="0"/>
                <a:ea typeface="Cambria" panose="02040503050406030204" pitchFamily="18" charset="0"/>
              </a:rPr>
              <a:t>System Failure</a:t>
            </a:r>
          </a:p>
          <a:p>
            <a:pPr marL="514350" indent="-514350" algn="just">
              <a:spcBef>
                <a:spcPts val="300"/>
              </a:spcBef>
              <a:buFont typeface="+mj-lt"/>
              <a:buAutoNum type="arabicPeriod"/>
              <a:defRPr/>
            </a:pPr>
            <a:r>
              <a:rPr lang="en-US" sz="2800" dirty="0">
                <a:latin typeface="Cambria" panose="02040503050406030204" pitchFamily="18" charset="0"/>
                <a:ea typeface="Cambria" panose="02040503050406030204" pitchFamily="18" charset="0"/>
              </a:rPr>
              <a:t>Database Destruction (Media Failure)</a:t>
            </a:r>
          </a:p>
          <a:p>
            <a:pPr marL="514350" indent="-514350" algn="just">
              <a:spcBef>
                <a:spcPts val="300"/>
              </a:spcBef>
              <a:buFont typeface="+mj-lt"/>
              <a:buAutoNum type="arabicPeriod"/>
              <a:defRPr/>
            </a:pPr>
            <a:r>
              <a:rPr lang="en-US" sz="2800" dirty="0">
                <a:latin typeface="Cambria" panose="02040503050406030204" pitchFamily="18" charset="0"/>
                <a:ea typeface="Cambria" panose="02040503050406030204" pitchFamily="18" charset="0"/>
              </a:rPr>
              <a:t>Application software errors</a:t>
            </a:r>
          </a:p>
          <a:p>
            <a:pPr marL="514350" indent="-514350" algn="just">
              <a:spcBef>
                <a:spcPts val="300"/>
              </a:spcBef>
              <a:buFont typeface="+mj-lt"/>
              <a:buAutoNum type="arabicPeriod"/>
              <a:defRPr/>
            </a:pPr>
            <a:r>
              <a:rPr lang="en-US" sz="2800" dirty="0">
                <a:latin typeface="Cambria" panose="02040503050406030204" pitchFamily="18" charset="0"/>
                <a:ea typeface="Cambria" panose="02040503050406030204" pitchFamily="18" charset="0"/>
              </a:rPr>
              <a:t>Incorrect data</a:t>
            </a:r>
          </a:p>
          <a:p>
            <a:pPr marL="514350" indent="-514350" algn="just">
              <a:spcBef>
                <a:spcPts val="300"/>
              </a:spcBef>
              <a:buFont typeface="+mj-lt"/>
              <a:buAutoNum type="arabicPeriod"/>
              <a:defRPr/>
            </a:pPr>
            <a:r>
              <a:rPr lang="en-US" sz="2800" dirty="0">
                <a:latin typeface="Cambria" panose="02040503050406030204" pitchFamily="18" charset="0"/>
                <a:ea typeface="Cambria" panose="02040503050406030204" pitchFamily="18" charset="0"/>
              </a:rPr>
              <a:t>Natural physical disasters</a:t>
            </a:r>
          </a:p>
          <a:p>
            <a:pPr marL="514350" indent="-514350" algn="just">
              <a:spcBef>
                <a:spcPts val="300"/>
              </a:spcBef>
              <a:buFont typeface="+mj-lt"/>
              <a:buAutoNum type="arabicPeriod"/>
              <a:defRPr/>
            </a:pPr>
            <a:r>
              <a:rPr lang="en-US" sz="2800" dirty="0">
                <a:latin typeface="Cambria" panose="02040503050406030204" pitchFamily="18" charset="0"/>
                <a:ea typeface="Cambria" panose="02040503050406030204" pitchFamily="18" charset="0"/>
              </a:rPr>
              <a:t>Sabotage</a:t>
            </a:r>
          </a:p>
          <a:p>
            <a:pPr marL="514350" indent="-514350" algn="just">
              <a:spcBef>
                <a:spcPts val="300"/>
              </a:spcBef>
              <a:buFont typeface="+mj-lt"/>
              <a:buAutoNum type="arabicPeriod"/>
              <a:defRPr/>
            </a:pPr>
            <a:endParaRPr lang="en-US" sz="2800" dirty="0">
              <a:solidFill>
                <a:srgbClr val="0033CC"/>
              </a:solidFill>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03ADC44C-4AA7-00DB-519B-1202CE09C31E}"/>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BB9EB81E-31A9-25B7-0FE0-7FD44EC9949F}"/>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495683845"/>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204CB-F5EB-C4C1-E959-4B4C2A3C38D3}"/>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86501779-D89A-9E5D-440E-C398390C99CF}"/>
              </a:ext>
            </a:extLst>
          </p:cNvPr>
          <p:cNvSpPr>
            <a:spLocks noGrp="1" noChangeArrowheads="1"/>
          </p:cNvSpPr>
          <p:nvPr>
            <p:ph type="title"/>
          </p:nvPr>
        </p:nvSpPr>
        <p:spPr>
          <a:xfrm>
            <a:off x="323850" y="188640"/>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Reasons of Database Failure</a:t>
            </a:r>
          </a:p>
        </p:txBody>
      </p:sp>
      <p:sp>
        <p:nvSpPr>
          <p:cNvPr id="2" name="Content Placeholder 1">
            <a:extLst>
              <a:ext uri="{FF2B5EF4-FFF2-40B4-BE49-F238E27FC236}">
                <a16:creationId xmlns:a16="http://schemas.microsoft.com/office/drawing/2014/main" id="{F6EDDCC3-C9F8-4C35-E611-5BBF593BAF96}"/>
              </a:ext>
            </a:extLst>
          </p:cNvPr>
          <p:cNvSpPr>
            <a:spLocks noGrp="1"/>
          </p:cNvSpPr>
          <p:nvPr>
            <p:ph sz="quarter" idx="1"/>
          </p:nvPr>
        </p:nvSpPr>
        <p:spPr>
          <a:xfrm>
            <a:off x="400050" y="620688"/>
            <a:ext cx="8492430" cy="6091634"/>
          </a:xfrm>
        </p:spPr>
        <p:txBody>
          <a:bodyPr/>
          <a:lstStyle/>
          <a:p>
            <a:pPr marL="0" indent="0" algn="just">
              <a:spcBef>
                <a:spcPts val="300"/>
              </a:spcBef>
              <a:buNone/>
              <a:defRPr/>
            </a:pPr>
            <a:r>
              <a:rPr lang="en-US" sz="2400" b="1" dirty="0">
                <a:solidFill>
                  <a:srgbClr val="0033CC"/>
                </a:solidFill>
                <a:latin typeface="Cambria" panose="02040503050406030204" pitchFamily="18" charset="0"/>
                <a:ea typeface="Cambria" panose="02040503050406030204" pitchFamily="18" charset="0"/>
              </a:rPr>
              <a:t>1. System Failure</a:t>
            </a:r>
          </a:p>
          <a:p>
            <a:pPr algn="just">
              <a:spcBef>
                <a:spcPts val="300"/>
              </a:spcBef>
              <a:defRPr/>
            </a:pPr>
            <a:r>
              <a:rPr lang="en-US" sz="2400" dirty="0">
                <a:latin typeface="Cambria" panose="02040503050406030204" pitchFamily="18" charset="0"/>
                <a:ea typeface="Cambria" panose="02040503050406030204" pitchFamily="18" charset="0"/>
              </a:rPr>
              <a:t>It affects all transactions currently in progress but does not physically damage the database.</a:t>
            </a:r>
          </a:p>
          <a:p>
            <a:pPr algn="just">
              <a:spcBef>
                <a:spcPts val="300"/>
              </a:spcBef>
              <a:defRPr/>
            </a:pPr>
            <a:r>
              <a:rPr lang="en-US" sz="2400" dirty="0">
                <a:latin typeface="Cambria" panose="02040503050406030204" pitchFamily="18" charset="0"/>
                <a:ea typeface="Cambria" panose="02040503050406030204" pitchFamily="18" charset="0"/>
              </a:rPr>
              <a:t>It is also known as soft crash.</a:t>
            </a:r>
          </a:p>
          <a:p>
            <a:pPr algn="just">
              <a:spcBef>
                <a:spcPts val="300"/>
              </a:spcBef>
              <a:defRPr/>
            </a:pPr>
            <a:r>
              <a:rPr lang="en-US" sz="2400" dirty="0">
                <a:latin typeface="Cambria" panose="02040503050406030204" pitchFamily="18" charset="0"/>
                <a:ea typeface="Cambria" panose="02040503050406030204" pitchFamily="18" charset="0"/>
              </a:rPr>
              <a:t>Some causes of system failure are power loss, system software failure etc.</a:t>
            </a:r>
          </a:p>
          <a:p>
            <a:pPr algn="just">
              <a:spcBef>
                <a:spcPts val="300"/>
              </a:spcBef>
              <a:defRPr/>
            </a:pPr>
            <a:r>
              <a:rPr lang="en-US" sz="2400" dirty="0">
                <a:latin typeface="Cambria" panose="02040503050406030204" pitchFamily="18" charset="0"/>
                <a:ea typeface="Cambria" panose="02040503050406030204" pitchFamily="18" charset="0"/>
              </a:rPr>
              <a:t>System failure can be recovered using Roll Forward and Roll Backward.</a:t>
            </a:r>
          </a:p>
          <a:p>
            <a:pPr marL="0" indent="0" algn="just">
              <a:spcBef>
                <a:spcPts val="300"/>
              </a:spcBef>
              <a:buNone/>
              <a:defRPr/>
            </a:pPr>
            <a:r>
              <a:rPr lang="en-US" sz="2400" b="1" dirty="0">
                <a:solidFill>
                  <a:srgbClr val="0033CC"/>
                </a:solidFill>
                <a:latin typeface="Cambria" panose="02040503050406030204" pitchFamily="18" charset="0"/>
                <a:ea typeface="Cambria" panose="02040503050406030204" pitchFamily="18" charset="0"/>
              </a:rPr>
              <a:t>2. Database Destruction</a:t>
            </a:r>
            <a:r>
              <a:rPr lang="en-US" sz="2400" dirty="0">
                <a:latin typeface="Cambria" panose="02040503050406030204" pitchFamily="18" charset="0"/>
                <a:ea typeface="Cambria" panose="02040503050406030204" pitchFamily="18" charset="0"/>
              </a:rPr>
              <a:t> </a:t>
            </a:r>
          </a:p>
          <a:p>
            <a:pPr algn="just">
              <a:spcBef>
                <a:spcPts val="300"/>
              </a:spcBef>
              <a:defRPr/>
            </a:pPr>
            <a:r>
              <a:rPr lang="en-US" sz="2400" dirty="0">
                <a:latin typeface="Cambria" panose="02040503050406030204" pitchFamily="18" charset="0"/>
                <a:ea typeface="Cambria" panose="02040503050406030204" pitchFamily="18" charset="0"/>
              </a:rPr>
              <a:t>Database itself is lost or destroyed. </a:t>
            </a:r>
          </a:p>
          <a:p>
            <a:pPr algn="just">
              <a:spcBef>
                <a:spcPts val="300"/>
              </a:spcBef>
              <a:defRPr/>
            </a:pPr>
            <a:r>
              <a:rPr lang="en-US" sz="2400" dirty="0">
                <a:latin typeface="Cambria" panose="02040503050406030204" pitchFamily="18" charset="0"/>
                <a:ea typeface="Cambria" panose="02040503050406030204" pitchFamily="18" charset="0"/>
              </a:rPr>
              <a:t>It is also known as Hard Crash.</a:t>
            </a:r>
          </a:p>
          <a:p>
            <a:pPr algn="just">
              <a:spcBef>
                <a:spcPts val="300"/>
              </a:spcBef>
              <a:defRPr/>
            </a:pPr>
            <a:r>
              <a:rPr lang="en-US" sz="2400" dirty="0">
                <a:latin typeface="Cambria" panose="02040503050406030204" pitchFamily="18" charset="0"/>
                <a:ea typeface="Cambria" panose="02040503050406030204" pitchFamily="18" charset="0"/>
              </a:rPr>
              <a:t>A Backup copy of the database is required for recovery in this situation.</a:t>
            </a:r>
          </a:p>
          <a:p>
            <a:pPr algn="just">
              <a:spcBef>
                <a:spcPts val="300"/>
              </a:spcBef>
              <a:defRPr/>
            </a:pPr>
            <a:endParaRPr lang="en-US" sz="2400" dirty="0">
              <a:solidFill>
                <a:srgbClr val="0033CC"/>
              </a:solidFill>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9BE882E9-58BF-ED1E-F0D9-D3685C112CF0}"/>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B5B02CA0-0E4E-6FAE-4C6D-8BE1726E648E}"/>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169835637"/>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1A3FD-B005-7773-98E1-78BCF8E01004}"/>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C31F0D48-18FC-EFDB-C420-CC1D091D499E}"/>
              </a:ext>
            </a:extLst>
          </p:cNvPr>
          <p:cNvSpPr>
            <a:spLocks noGrp="1" noChangeArrowheads="1"/>
          </p:cNvSpPr>
          <p:nvPr>
            <p:ph type="title"/>
          </p:nvPr>
        </p:nvSpPr>
        <p:spPr>
          <a:xfrm>
            <a:off x="323850" y="188640"/>
            <a:ext cx="7848600" cy="533400"/>
          </a:xfrm>
        </p:spPr>
        <p:txBody>
          <a:bodyPr/>
          <a:lstStyle/>
          <a:p>
            <a:pPr eaLnBrk="1" hangingPunct="1">
              <a:spcBef>
                <a:spcPct val="50000"/>
              </a:spcBef>
            </a:pPr>
            <a:r>
              <a:rPr lang="en-US" altLang="en-US" sz="3200" b="1" u="sng" dirty="0">
                <a:solidFill>
                  <a:srgbClr val="D34817"/>
                </a:solidFill>
                <a:latin typeface="Cambria" panose="02040503050406030204" pitchFamily="18" charset="0"/>
                <a:ea typeface="Cambria" panose="02040503050406030204" pitchFamily="18" charset="0"/>
              </a:rPr>
              <a:t>Reasons of Database Failure</a:t>
            </a:r>
          </a:p>
        </p:txBody>
      </p:sp>
      <p:sp>
        <p:nvSpPr>
          <p:cNvPr id="2" name="Content Placeholder 1">
            <a:extLst>
              <a:ext uri="{FF2B5EF4-FFF2-40B4-BE49-F238E27FC236}">
                <a16:creationId xmlns:a16="http://schemas.microsoft.com/office/drawing/2014/main" id="{9508956F-3D95-9058-4D39-18769C85578D}"/>
              </a:ext>
            </a:extLst>
          </p:cNvPr>
          <p:cNvSpPr>
            <a:spLocks noGrp="1"/>
          </p:cNvSpPr>
          <p:nvPr>
            <p:ph sz="quarter" idx="1"/>
          </p:nvPr>
        </p:nvSpPr>
        <p:spPr>
          <a:xfrm>
            <a:off x="400050" y="620688"/>
            <a:ext cx="8492430" cy="6091634"/>
          </a:xfrm>
        </p:spPr>
        <p:txBody>
          <a:bodyPr/>
          <a:lstStyle/>
          <a:p>
            <a:pPr marL="0" indent="0" algn="just">
              <a:spcBef>
                <a:spcPts val="300"/>
              </a:spcBef>
              <a:buNone/>
              <a:defRPr/>
            </a:pPr>
            <a:r>
              <a:rPr lang="en-US" sz="2400" b="1" dirty="0">
                <a:solidFill>
                  <a:srgbClr val="0033CC"/>
                </a:solidFill>
                <a:latin typeface="Cambria" panose="02040503050406030204" pitchFamily="18" charset="0"/>
                <a:ea typeface="Cambria" panose="02040503050406030204" pitchFamily="18" charset="0"/>
              </a:rPr>
              <a:t>3. Application software errors</a:t>
            </a:r>
          </a:p>
          <a:p>
            <a:pPr algn="just">
              <a:spcBef>
                <a:spcPts val="300"/>
              </a:spcBef>
              <a:defRPr/>
            </a:pPr>
            <a:r>
              <a:rPr lang="en-US" sz="2400" dirty="0">
                <a:latin typeface="Cambria" panose="02040503050406030204" pitchFamily="18" charset="0"/>
                <a:ea typeface="Cambria" panose="02040503050406030204" pitchFamily="18" charset="0"/>
              </a:rPr>
              <a:t>Logical errors in a program that cause one or more transactions to fail. </a:t>
            </a:r>
          </a:p>
          <a:p>
            <a:pPr marL="0" indent="0" algn="just">
              <a:spcBef>
                <a:spcPts val="300"/>
              </a:spcBef>
              <a:buNone/>
              <a:defRPr/>
            </a:pPr>
            <a:r>
              <a:rPr lang="en-US" sz="2400" b="1" dirty="0">
                <a:solidFill>
                  <a:srgbClr val="0033CC"/>
                </a:solidFill>
                <a:latin typeface="Cambria" panose="02040503050406030204" pitchFamily="18" charset="0"/>
                <a:ea typeface="Cambria" panose="02040503050406030204" pitchFamily="18" charset="0"/>
              </a:rPr>
              <a:t>4. Incorrect Data</a:t>
            </a:r>
          </a:p>
          <a:p>
            <a:pPr algn="just">
              <a:spcBef>
                <a:spcPts val="300"/>
              </a:spcBef>
              <a:defRPr/>
            </a:pPr>
            <a:r>
              <a:rPr lang="en-US" sz="2400" dirty="0">
                <a:latin typeface="Cambria" panose="02040503050406030204" pitchFamily="18" charset="0"/>
                <a:ea typeface="Cambria" panose="02040503050406030204" pitchFamily="18" charset="0"/>
              </a:rPr>
              <a:t>Database updated with an incorrect data may initiate a chain to erroneous transactions leading to database failure.  </a:t>
            </a:r>
          </a:p>
          <a:p>
            <a:pPr algn="just">
              <a:spcBef>
                <a:spcPts val="300"/>
              </a:spcBef>
              <a:defRPr/>
            </a:pPr>
            <a:r>
              <a:rPr lang="en-US" sz="2400" dirty="0">
                <a:latin typeface="Cambria" panose="02040503050406030204" pitchFamily="18" charset="0"/>
                <a:ea typeface="Cambria" panose="02040503050406030204" pitchFamily="18" charset="0"/>
              </a:rPr>
              <a:t>In such situation, the database can be recovered using:</a:t>
            </a:r>
          </a:p>
          <a:p>
            <a:pPr marL="731838" lvl="1" indent="-457200" algn="just">
              <a:spcBef>
                <a:spcPts val="300"/>
              </a:spcBef>
              <a:buClr>
                <a:srgbClr val="0033CC"/>
              </a:buClr>
              <a:buFont typeface="+mj-lt"/>
              <a:buAutoNum type="alphaLcParenR"/>
              <a:defRPr/>
            </a:pPr>
            <a:r>
              <a:rPr lang="en-US" dirty="0">
                <a:solidFill>
                  <a:srgbClr val="FF0000"/>
                </a:solidFill>
                <a:latin typeface="Cambria" panose="02040503050406030204" pitchFamily="18" charset="0"/>
                <a:ea typeface="Cambria" panose="02040503050406030204" pitchFamily="18" charset="0"/>
              </a:rPr>
              <a:t>Backward Recovery</a:t>
            </a:r>
          </a:p>
          <a:p>
            <a:pPr marL="731838" lvl="1" indent="-457200" algn="just">
              <a:spcBef>
                <a:spcPts val="300"/>
              </a:spcBef>
              <a:buClr>
                <a:srgbClr val="0033CC"/>
              </a:buClr>
              <a:buFont typeface="+mj-lt"/>
              <a:buAutoNum type="alphaLcParenR"/>
              <a:defRPr/>
            </a:pPr>
            <a:r>
              <a:rPr lang="en-US" dirty="0">
                <a:solidFill>
                  <a:srgbClr val="FF0000"/>
                </a:solidFill>
                <a:latin typeface="Cambria" panose="02040503050406030204" pitchFamily="18" charset="0"/>
                <a:ea typeface="Cambria" panose="02040503050406030204" pitchFamily="18" charset="0"/>
              </a:rPr>
              <a:t>Applying a series of compensating transactions to nullify the effect of incorrect input. </a:t>
            </a:r>
          </a:p>
          <a:p>
            <a:pPr algn="just">
              <a:spcBef>
                <a:spcPts val="300"/>
              </a:spcBef>
              <a:defRPr/>
            </a:pPr>
            <a:endParaRPr lang="en-US" sz="2400" dirty="0">
              <a:solidFill>
                <a:srgbClr val="0033CC"/>
              </a:solidFill>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6D9475DD-02BF-E6C1-B17F-F5A869612B6E}"/>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76628C9D-2AD9-23E2-4297-7C0E29972DD1}"/>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458495734"/>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A4929F11-C487-A396-DFF4-E6366BC696F2}"/>
              </a:ext>
            </a:extLst>
          </p:cNvPr>
          <p:cNvSpPr>
            <a:spLocks noGrp="1" noChangeArrowheads="1"/>
          </p:cNvSpPr>
          <p:nvPr>
            <p:ph type="title"/>
          </p:nvPr>
        </p:nvSpPr>
        <p:spPr>
          <a:xfrm>
            <a:off x="373063" y="188640"/>
            <a:ext cx="6886575" cy="457200"/>
          </a:xfrm>
        </p:spPr>
        <p:txBody>
          <a:bodyPr/>
          <a:lstStyle/>
          <a:p>
            <a:pPr eaLnBrk="1" hangingPunct="1"/>
            <a:r>
              <a:rPr lang="en-US" altLang="en-US" sz="2800" b="1" u="sng" dirty="0">
                <a:solidFill>
                  <a:srgbClr val="D34817"/>
                </a:solidFill>
                <a:latin typeface="Cambria" panose="02040503050406030204" pitchFamily="18" charset="0"/>
                <a:ea typeface="Cambria" panose="02040503050406030204" pitchFamily="18" charset="0"/>
              </a:rPr>
              <a:t>Reading Material</a:t>
            </a:r>
          </a:p>
        </p:txBody>
      </p:sp>
      <p:sp>
        <p:nvSpPr>
          <p:cNvPr id="95235" name="Rectangle 3">
            <a:extLst>
              <a:ext uri="{FF2B5EF4-FFF2-40B4-BE49-F238E27FC236}">
                <a16:creationId xmlns:a16="http://schemas.microsoft.com/office/drawing/2014/main" id="{7BB35BBD-746F-8E8C-FE4F-CF912DAE358F}"/>
              </a:ext>
            </a:extLst>
          </p:cNvPr>
          <p:cNvSpPr txBox="1">
            <a:spLocks noChangeArrowheads="1"/>
          </p:cNvSpPr>
          <p:nvPr/>
        </p:nvSpPr>
        <p:spPr bwMode="auto">
          <a:xfrm>
            <a:off x="266700" y="548680"/>
            <a:ext cx="8610600" cy="306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914400" indent="-45720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822325"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096963"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1371600" indent="-228600">
              <a:spcBef>
                <a:spcPts val="375"/>
              </a:spcBef>
              <a:buClr>
                <a:srgbClr val="A28E6A"/>
              </a:buClr>
              <a:buChar char="o"/>
              <a:defRPr sz="2000">
                <a:solidFill>
                  <a:schemeClr val="tx1"/>
                </a:solidFill>
                <a:latin typeface="Perpetua" panose="02020502060401020303" pitchFamily="18" charset="0"/>
              </a:defRPr>
            </a:lvl5pPr>
            <a:lvl6pPr marL="1828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286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2743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2004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marL="457200" marR="0" lvl="0" indent="-457200" algn="l" defTabSz="914400" rtl="0" eaLnBrk="1" fontAlgn="base" latinLnBrk="0" hangingPunct="1">
              <a:lnSpc>
                <a:spcPct val="100000"/>
              </a:lnSpc>
              <a:spcBef>
                <a:spcPts val="575"/>
              </a:spcBef>
              <a:spcAft>
                <a:spcPct val="0"/>
              </a:spcAft>
              <a:buClr>
                <a:srgbClr val="D34817"/>
              </a:buClr>
              <a:buSzPct val="85000"/>
              <a:buFont typeface="Franklin Gothic Book" panose="020B0503020102020204" pitchFamily="34" charset="0"/>
              <a:buAutoNum type="alphaUcPeriod"/>
              <a:tabLst/>
              <a:defRPr/>
            </a:pPr>
            <a:r>
              <a:rPr kumimoji="0" lang="en-US" altLang="en-US" sz="20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rPr>
              <a:t>Database Systems – Design, Implementation and Management: </a:t>
            </a:r>
            <a:r>
              <a:rPr kumimoji="0" lang="en-US" altLang="en-US" sz="20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rPr>
              <a:t>Carlos Coronel, Steven Morris (13</a:t>
            </a:r>
            <a:r>
              <a:rPr kumimoji="0" lang="en-US" altLang="en-US" sz="2000" b="0" i="0" u="none" strike="noStrike" kern="1200" cap="none" spc="0" normalizeH="0" baseline="30000" noProof="0" dirty="0">
                <a:ln>
                  <a:noFill/>
                </a:ln>
                <a:solidFill>
                  <a:srgbClr val="0000FF"/>
                </a:solidFill>
                <a:effectLst/>
                <a:uLnTx/>
                <a:uFillTx/>
                <a:latin typeface="Cambria" panose="02040503050406030204" pitchFamily="18" charset="0"/>
                <a:ea typeface="Cambria" panose="02040503050406030204" pitchFamily="18" charset="0"/>
              </a:rPr>
              <a:t>th</a:t>
            </a:r>
            <a:r>
              <a:rPr kumimoji="0" lang="en-US" altLang="en-US" sz="20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rPr>
              <a:t> Ed.)</a:t>
            </a:r>
          </a:p>
          <a:p>
            <a:pPr marL="457200" marR="0" lvl="0" indent="-457200" algn="l" defTabSz="914400" rtl="0" eaLnBrk="1" fontAlgn="base" latinLnBrk="0" hangingPunct="1">
              <a:lnSpc>
                <a:spcPct val="100000"/>
              </a:lnSpc>
              <a:spcBef>
                <a:spcPts val="575"/>
              </a:spcBef>
              <a:spcAft>
                <a:spcPct val="0"/>
              </a:spcAft>
              <a:buClr>
                <a:srgbClr val="D34817"/>
              </a:buClr>
              <a:buSzPct val="85000"/>
              <a:buFont typeface="Franklin Gothic Book" panose="020B0503020102020204" pitchFamily="34" charset="0"/>
              <a:buAutoNum type="alphaUcPeriod"/>
              <a:tabLst/>
              <a:defRPr/>
            </a:pPr>
            <a:r>
              <a:rPr kumimoji="0" lang="en-US" altLang="en-US" sz="20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rPr>
              <a:t>Modern Database Management: </a:t>
            </a:r>
            <a:r>
              <a:rPr kumimoji="0" lang="en-US" altLang="en-US" sz="20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rPr>
              <a:t>Jeffery. A. Hoffer (12</a:t>
            </a:r>
            <a:r>
              <a:rPr kumimoji="0" lang="en-US" altLang="en-US" sz="2000" b="0" i="0" u="none" strike="noStrike" kern="1200" cap="none" spc="0" normalizeH="0" baseline="30000" noProof="0" dirty="0">
                <a:ln>
                  <a:noFill/>
                </a:ln>
                <a:solidFill>
                  <a:srgbClr val="0000FF"/>
                </a:solidFill>
                <a:effectLst/>
                <a:uLnTx/>
                <a:uFillTx/>
                <a:latin typeface="Cambria" panose="02040503050406030204" pitchFamily="18" charset="0"/>
                <a:ea typeface="Cambria" panose="02040503050406030204" pitchFamily="18" charset="0"/>
              </a:rPr>
              <a:t>th</a:t>
            </a:r>
            <a:r>
              <a:rPr kumimoji="0" lang="en-US" altLang="en-US" sz="20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rPr>
              <a:t> Ed.)</a:t>
            </a:r>
          </a:p>
          <a:p>
            <a:pPr marL="457200" marR="0" lvl="0" indent="-457200" algn="l" defTabSz="914400" rtl="0" eaLnBrk="1" fontAlgn="base" latinLnBrk="0" hangingPunct="1">
              <a:lnSpc>
                <a:spcPct val="100000"/>
              </a:lnSpc>
              <a:spcBef>
                <a:spcPts val="575"/>
              </a:spcBef>
              <a:spcAft>
                <a:spcPct val="0"/>
              </a:spcAft>
              <a:buClr>
                <a:srgbClr val="D34817"/>
              </a:buClr>
              <a:buSzPct val="85000"/>
              <a:buFont typeface="Franklin Gothic Book" panose="020B0503020102020204" pitchFamily="34" charset="0"/>
              <a:buAutoNum type="alphaUcPeriod"/>
              <a:tabLst/>
              <a:defRPr/>
            </a:pPr>
            <a:r>
              <a:rPr kumimoji="0" lang="en-US" altLang="en-US" sz="20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rPr>
              <a:t>Database Systems: </a:t>
            </a:r>
            <a:r>
              <a:rPr kumimoji="0" lang="en-US" altLang="en-US" sz="20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rPr>
              <a:t>Thomas M. Connolly (6</a:t>
            </a:r>
            <a:r>
              <a:rPr kumimoji="0" lang="en-US" altLang="en-US" sz="2000" b="0" i="0" u="none" strike="noStrike" kern="1200" cap="none" spc="0" normalizeH="0" baseline="30000" noProof="0" dirty="0">
                <a:ln>
                  <a:noFill/>
                </a:ln>
                <a:solidFill>
                  <a:srgbClr val="0000FF"/>
                </a:solidFill>
                <a:effectLst/>
                <a:uLnTx/>
                <a:uFillTx/>
                <a:latin typeface="Cambria" panose="02040503050406030204" pitchFamily="18" charset="0"/>
                <a:ea typeface="Cambria" panose="02040503050406030204" pitchFamily="18" charset="0"/>
              </a:rPr>
              <a:t>th</a:t>
            </a:r>
            <a:r>
              <a:rPr kumimoji="0" lang="en-US" altLang="en-US" sz="20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rPr>
              <a:t> Ed.)</a:t>
            </a:r>
          </a:p>
          <a:p>
            <a:pPr marL="457200" marR="0" lvl="0" indent="-457200" algn="l" defTabSz="914400" rtl="0" eaLnBrk="1" fontAlgn="base" latinLnBrk="0" hangingPunct="1">
              <a:lnSpc>
                <a:spcPct val="100000"/>
              </a:lnSpc>
              <a:spcBef>
                <a:spcPts val="575"/>
              </a:spcBef>
              <a:spcAft>
                <a:spcPct val="0"/>
              </a:spcAft>
              <a:buClr>
                <a:srgbClr val="D34817"/>
              </a:buClr>
              <a:buSzPct val="85000"/>
              <a:buFont typeface="Franklin Gothic Book" panose="020B0503020102020204" pitchFamily="34" charset="0"/>
              <a:buAutoNum type="alphaUcPeriod"/>
              <a:tabLst/>
              <a:defRPr/>
            </a:pPr>
            <a:r>
              <a:rPr kumimoji="0" lang="en-US" altLang="en-US" sz="20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rPr>
              <a:t>Fundamentals of Database Systems: </a:t>
            </a:r>
            <a:r>
              <a:rPr kumimoji="0" lang="en-US" altLang="en-US" sz="20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rPr>
              <a:t>Elmasri (7</a:t>
            </a:r>
            <a:r>
              <a:rPr kumimoji="0" lang="en-US" altLang="en-US" sz="2000" b="0" i="0" u="none" strike="noStrike" kern="1200" cap="none" spc="0" normalizeH="0" baseline="30000" noProof="0" dirty="0">
                <a:ln>
                  <a:noFill/>
                </a:ln>
                <a:solidFill>
                  <a:srgbClr val="0000FF"/>
                </a:solidFill>
                <a:effectLst/>
                <a:uLnTx/>
                <a:uFillTx/>
                <a:latin typeface="Cambria" panose="02040503050406030204" pitchFamily="18" charset="0"/>
                <a:ea typeface="Cambria" panose="02040503050406030204" pitchFamily="18" charset="0"/>
              </a:rPr>
              <a:t>th</a:t>
            </a:r>
            <a:r>
              <a:rPr kumimoji="0" lang="en-US" altLang="en-US" sz="20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rPr>
              <a:t> Ed.)</a:t>
            </a:r>
            <a:r>
              <a:rPr kumimoji="0" lang="en-US" altLang="en-US" sz="2000" b="0" i="0" u="none" strike="noStrike" kern="1200" cap="none" spc="0" normalizeH="0" baseline="0" noProof="0" dirty="0">
                <a:ln>
                  <a:noFill/>
                </a:ln>
                <a:solidFill>
                  <a:srgbClr val="9B2D1F"/>
                </a:solidFill>
                <a:effectLst/>
                <a:uLnTx/>
                <a:uFillTx/>
                <a:latin typeface="Cambria" panose="02040503050406030204" pitchFamily="18" charset="0"/>
                <a:ea typeface="Cambria" panose="02040503050406030204" pitchFamily="18" charset="0"/>
              </a:rPr>
              <a:t> </a:t>
            </a:r>
          </a:p>
          <a:p>
            <a:pPr marL="457200" marR="0" lvl="0" indent="-457200" algn="l" defTabSz="914400" rtl="0" eaLnBrk="1" fontAlgn="base" latinLnBrk="0" hangingPunct="1">
              <a:lnSpc>
                <a:spcPct val="100000"/>
              </a:lnSpc>
              <a:spcBef>
                <a:spcPts val="575"/>
              </a:spcBef>
              <a:spcAft>
                <a:spcPct val="0"/>
              </a:spcAft>
              <a:buClr>
                <a:srgbClr val="D34817"/>
              </a:buClr>
              <a:buSzPct val="85000"/>
              <a:buFont typeface="Franklin Gothic Book" panose="020B0503020102020204" pitchFamily="34" charset="0"/>
              <a:buAutoNum type="alphaUcPeriod"/>
              <a:tabLst/>
              <a:defRPr/>
            </a:pPr>
            <a:r>
              <a:rPr kumimoji="0" lang="en-US" altLang="en-US" sz="20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rPr>
              <a:t>Database System Concepts: </a:t>
            </a:r>
            <a:r>
              <a:rPr kumimoji="0" lang="en-US" altLang="en-US" sz="20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rPr>
              <a:t>Abraham Silberschatz (7</a:t>
            </a:r>
            <a:r>
              <a:rPr kumimoji="0" lang="en-US" altLang="en-US" sz="2000" b="0" i="0" u="none" strike="noStrike" kern="1200" cap="none" spc="0" normalizeH="0" baseline="30000" noProof="0" dirty="0">
                <a:ln>
                  <a:noFill/>
                </a:ln>
                <a:solidFill>
                  <a:srgbClr val="0000FF"/>
                </a:solidFill>
                <a:effectLst/>
                <a:uLnTx/>
                <a:uFillTx/>
                <a:latin typeface="Cambria" panose="02040503050406030204" pitchFamily="18" charset="0"/>
                <a:ea typeface="Cambria" panose="02040503050406030204" pitchFamily="18" charset="0"/>
              </a:rPr>
              <a:t>th</a:t>
            </a:r>
            <a:r>
              <a:rPr kumimoji="0" lang="en-US" altLang="en-US" sz="20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rPr>
              <a:t> Ed.)</a:t>
            </a:r>
          </a:p>
          <a:p>
            <a:pPr marL="457200" marR="0" lvl="0" indent="-457200" algn="l" defTabSz="914400" rtl="0" eaLnBrk="1" fontAlgn="base" latinLnBrk="0" hangingPunct="1">
              <a:lnSpc>
                <a:spcPct val="100000"/>
              </a:lnSpc>
              <a:spcBef>
                <a:spcPts val="575"/>
              </a:spcBef>
              <a:spcAft>
                <a:spcPct val="0"/>
              </a:spcAft>
              <a:buClr>
                <a:srgbClr val="D34817"/>
              </a:buClr>
              <a:buSzPct val="85000"/>
              <a:buFont typeface="Franklin Gothic Book" panose="020B0503020102020204" pitchFamily="34" charset="0"/>
              <a:buAutoNum type="alphaUcPeriod"/>
              <a:tabLst/>
              <a:defRPr/>
            </a:pPr>
            <a:r>
              <a:rPr kumimoji="0" lang="en-US" altLang="en-US" sz="20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rPr>
              <a:t>Databases Illuminated: </a:t>
            </a:r>
            <a:r>
              <a:rPr kumimoji="0" lang="en-US" altLang="en-US" sz="20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rPr>
              <a:t>Catherine M. Ricardo (3rd Ed.)</a:t>
            </a:r>
            <a:endParaRPr kumimoji="0" lang="en-US" altLang="en-US" sz="2000" b="0" i="0" u="none" strike="noStrike" kern="1200" cap="none" spc="0" normalizeH="0" baseline="0" noProof="0" dirty="0">
              <a:ln>
                <a:noFill/>
              </a:ln>
              <a:solidFill>
                <a:srgbClr val="9B2D1F"/>
              </a:solidFill>
              <a:effectLst/>
              <a:uLnTx/>
              <a:uFillTx/>
              <a:latin typeface="Cambria" panose="02040503050406030204" pitchFamily="18" charset="0"/>
              <a:ea typeface="Cambria" panose="02040503050406030204" pitchFamily="18" charset="0"/>
            </a:endParaRPr>
          </a:p>
        </p:txBody>
      </p:sp>
      <p:graphicFrame>
        <p:nvGraphicFramePr>
          <p:cNvPr id="2" name="Table 1">
            <a:extLst>
              <a:ext uri="{FF2B5EF4-FFF2-40B4-BE49-F238E27FC236}">
                <a16:creationId xmlns:a16="http://schemas.microsoft.com/office/drawing/2014/main" id="{0126F7C9-B62A-24E8-1C19-746D60B1C8FF}"/>
              </a:ext>
            </a:extLst>
          </p:cNvPr>
          <p:cNvGraphicFramePr>
            <a:graphicFrameLocks noGrp="1"/>
          </p:cNvGraphicFramePr>
          <p:nvPr>
            <p:extLst>
              <p:ext uri="{D42A27DB-BD31-4B8C-83A1-F6EECF244321}">
                <p14:modId xmlns:p14="http://schemas.microsoft.com/office/powerpoint/2010/main" val="1199703020"/>
              </p:ext>
            </p:extLst>
          </p:nvPr>
        </p:nvGraphicFramePr>
        <p:xfrm>
          <a:off x="1547813" y="3140968"/>
          <a:ext cx="5832475" cy="3200400"/>
        </p:xfrm>
        <a:graphic>
          <a:graphicData uri="http://schemas.openxmlformats.org/drawingml/2006/table">
            <a:tbl>
              <a:tblPr firstRow="1" bandRow="1">
                <a:tableStyleId>{5C22544A-7EE6-4342-B048-85BDC9FD1C3A}</a:tableStyleId>
              </a:tblPr>
              <a:tblGrid>
                <a:gridCol w="1008082">
                  <a:extLst>
                    <a:ext uri="{9D8B030D-6E8A-4147-A177-3AD203B41FA5}">
                      <a16:colId xmlns:a16="http://schemas.microsoft.com/office/drawing/2014/main" val="20000"/>
                    </a:ext>
                  </a:extLst>
                </a:gridCol>
                <a:gridCol w="4824393">
                  <a:extLst>
                    <a:ext uri="{9D8B030D-6E8A-4147-A177-3AD203B41FA5}">
                      <a16:colId xmlns:a16="http://schemas.microsoft.com/office/drawing/2014/main" val="20001"/>
                    </a:ext>
                  </a:extLst>
                </a:gridCol>
              </a:tblGrid>
              <a:tr h="431970">
                <a:tc>
                  <a:txBody>
                    <a:bodyPr/>
                    <a:lstStyle/>
                    <a:p>
                      <a:pPr algn="ctr"/>
                      <a:r>
                        <a:rPr lang="en-US" sz="2400" dirty="0">
                          <a:solidFill>
                            <a:srgbClr val="FFFF00"/>
                          </a:solidFill>
                          <a:latin typeface="Cambria" panose="02040503050406030204" pitchFamily="18" charset="0"/>
                          <a:ea typeface="Cambria" panose="02040503050406030204" pitchFamily="18" charset="0"/>
                        </a:rPr>
                        <a:t>Book</a:t>
                      </a:r>
                    </a:p>
                  </a:txBody>
                  <a:tcPr marL="91437" marR="91437"/>
                </a:tc>
                <a:tc>
                  <a:txBody>
                    <a:bodyPr/>
                    <a:lstStyle/>
                    <a:p>
                      <a:pPr algn="ctr"/>
                      <a:r>
                        <a:rPr lang="en-US" sz="2400" dirty="0">
                          <a:solidFill>
                            <a:srgbClr val="FFFF00"/>
                          </a:solidFill>
                          <a:latin typeface="Cambria" panose="02040503050406030204" pitchFamily="18" charset="0"/>
                          <a:ea typeface="Cambria" panose="02040503050406030204" pitchFamily="18" charset="0"/>
                        </a:rPr>
                        <a:t>Section(s) / Chapter</a:t>
                      </a:r>
                    </a:p>
                  </a:txBody>
                  <a:tcPr marL="91437" marR="91437"/>
                </a:tc>
                <a:extLst>
                  <a:ext uri="{0D108BD9-81ED-4DB2-BD59-A6C34878D82A}">
                    <a16:rowId xmlns:a16="http://schemas.microsoft.com/office/drawing/2014/main" val="10000"/>
                  </a:ext>
                </a:extLst>
              </a:tr>
              <a:tr h="431970">
                <a:tc>
                  <a:txBody>
                    <a:bodyPr/>
                    <a:lstStyle/>
                    <a:p>
                      <a:pPr algn="ctr"/>
                      <a:r>
                        <a:rPr lang="en-US" sz="2400" b="0" dirty="0">
                          <a:solidFill>
                            <a:srgbClr val="0033CC"/>
                          </a:solidFill>
                          <a:latin typeface="Cambria" panose="02040503050406030204" pitchFamily="18" charset="0"/>
                          <a:ea typeface="Cambria" panose="02040503050406030204" pitchFamily="18" charset="0"/>
                        </a:rPr>
                        <a:t>A</a:t>
                      </a:r>
                    </a:p>
                  </a:txBody>
                  <a:tcPr marL="91437" marR="91437"/>
                </a:tc>
                <a:tc>
                  <a:txBody>
                    <a:bodyPr/>
                    <a:lstStyle/>
                    <a:p>
                      <a:pPr algn="l"/>
                      <a:r>
                        <a:rPr lang="en-US" sz="2400" b="0" dirty="0">
                          <a:solidFill>
                            <a:schemeClr val="tx1"/>
                          </a:solidFill>
                          <a:latin typeface="Cambria" panose="02040503050406030204" pitchFamily="18" charset="0"/>
                          <a:ea typeface="Cambria" panose="02040503050406030204" pitchFamily="18" charset="0"/>
                        </a:rPr>
                        <a:t>10.1, 10.7</a:t>
                      </a:r>
                    </a:p>
                  </a:txBody>
                  <a:tcPr marL="91437" marR="91437"/>
                </a:tc>
                <a:extLst>
                  <a:ext uri="{0D108BD9-81ED-4DB2-BD59-A6C34878D82A}">
                    <a16:rowId xmlns:a16="http://schemas.microsoft.com/office/drawing/2014/main" val="10001"/>
                  </a:ext>
                </a:extLst>
              </a:tr>
              <a:tr h="431970">
                <a:tc>
                  <a:txBody>
                    <a:bodyPr/>
                    <a:lstStyle/>
                    <a:p>
                      <a:pPr algn="ctr"/>
                      <a:r>
                        <a:rPr lang="en-US" sz="2400" dirty="0">
                          <a:solidFill>
                            <a:srgbClr val="0033CC"/>
                          </a:solidFill>
                          <a:latin typeface="Cambria" panose="02040503050406030204" pitchFamily="18" charset="0"/>
                          <a:ea typeface="Cambria" panose="02040503050406030204" pitchFamily="18" charset="0"/>
                        </a:rPr>
                        <a:t>B</a:t>
                      </a:r>
                    </a:p>
                  </a:txBody>
                  <a:tcPr marL="91437" marR="91437"/>
                </a:tc>
                <a:tc>
                  <a:txBody>
                    <a:bodyPr/>
                    <a:lstStyle/>
                    <a:p>
                      <a:pPr algn="l"/>
                      <a:r>
                        <a:rPr lang="en-US" sz="2400" dirty="0">
                          <a:latin typeface="Cambria" panose="02040503050406030204" pitchFamily="18" charset="0"/>
                          <a:ea typeface="Cambria" panose="02040503050406030204" pitchFamily="18" charset="0"/>
                        </a:rPr>
                        <a:t>None</a:t>
                      </a:r>
                    </a:p>
                  </a:txBody>
                  <a:tcPr marL="91437" marR="91437"/>
                </a:tc>
                <a:extLst>
                  <a:ext uri="{0D108BD9-81ED-4DB2-BD59-A6C34878D82A}">
                    <a16:rowId xmlns:a16="http://schemas.microsoft.com/office/drawing/2014/main" val="10002"/>
                  </a:ext>
                </a:extLst>
              </a:tr>
              <a:tr h="431970">
                <a:tc>
                  <a:txBody>
                    <a:bodyPr/>
                    <a:lstStyle/>
                    <a:p>
                      <a:pPr algn="ctr"/>
                      <a:r>
                        <a:rPr lang="en-US" sz="2400" dirty="0">
                          <a:solidFill>
                            <a:srgbClr val="0033CC"/>
                          </a:solidFill>
                          <a:latin typeface="Cambria" panose="02040503050406030204" pitchFamily="18" charset="0"/>
                          <a:ea typeface="Cambria" panose="02040503050406030204" pitchFamily="18" charset="0"/>
                        </a:rPr>
                        <a:t>C</a:t>
                      </a:r>
                    </a:p>
                  </a:txBody>
                  <a:tcPr marL="91437" marR="91437"/>
                </a:tc>
                <a:tc>
                  <a:txBody>
                    <a:bodyPr/>
                    <a:lstStyle/>
                    <a:p>
                      <a:pPr algn="l"/>
                      <a:r>
                        <a:rPr lang="en-US" sz="2400" dirty="0">
                          <a:latin typeface="Cambria" panose="02040503050406030204" pitchFamily="18" charset="0"/>
                          <a:ea typeface="Cambria" panose="02040503050406030204" pitchFamily="18" charset="0"/>
                        </a:rPr>
                        <a:t>22.1, 22.3</a:t>
                      </a:r>
                    </a:p>
                  </a:txBody>
                  <a:tcPr marL="91437" marR="91437"/>
                </a:tc>
                <a:extLst>
                  <a:ext uri="{0D108BD9-81ED-4DB2-BD59-A6C34878D82A}">
                    <a16:rowId xmlns:a16="http://schemas.microsoft.com/office/drawing/2014/main" val="10003"/>
                  </a:ext>
                </a:extLst>
              </a:tr>
              <a:tr h="431970">
                <a:tc>
                  <a:txBody>
                    <a:bodyPr/>
                    <a:lstStyle/>
                    <a:p>
                      <a:pPr algn="ctr"/>
                      <a:r>
                        <a:rPr lang="en-US" sz="2400" dirty="0">
                          <a:solidFill>
                            <a:srgbClr val="0033CC"/>
                          </a:solidFill>
                          <a:latin typeface="Cambria" panose="02040503050406030204" pitchFamily="18" charset="0"/>
                          <a:ea typeface="Cambria" panose="02040503050406030204" pitchFamily="18" charset="0"/>
                        </a:rPr>
                        <a:t>D</a:t>
                      </a:r>
                    </a:p>
                  </a:txBody>
                  <a:tcPr marL="91437" marR="91437"/>
                </a:tc>
                <a:tc>
                  <a:txBody>
                    <a:bodyPr/>
                    <a:lstStyle/>
                    <a:p>
                      <a:pPr algn="l"/>
                      <a:r>
                        <a:rPr lang="en-US" sz="2400" dirty="0">
                          <a:latin typeface="Cambria" panose="02040503050406030204" pitchFamily="18" charset="0"/>
                          <a:ea typeface="Cambria" panose="02040503050406030204" pitchFamily="18" charset="0"/>
                        </a:rPr>
                        <a:t>20.1 to 20.3</a:t>
                      </a:r>
                    </a:p>
                  </a:txBody>
                  <a:tcPr marL="91437" marR="91437"/>
                </a:tc>
                <a:extLst>
                  <a:ext uri="{0D108BD9-81ED-4DB2-BD59-A6C34878D82A}">
                    <a16:rowId xmlns:a16="http://schemas.microsoft.com/office/drawing/2014/main" val="10004"/>
                  </a:ext>
                </a:extLst>
              </a:tr>
              <a:tr h="431970">
                <a:tc>
                  <a:txBody>
                    <a:bodyPr/>
                    <a:lstStyle/>
                    <a:p>
                      <a:pPr algn="ctr"/>
                      <a:r>
                        <a:rPr lang="en-US" sz="2400" dirty="0">
                          <a:solidFill>
                            <a:srgbClr val="0033CC"/>
                          </a:solidFill>
                          <a:latin typeface="Cambria" panose="02040503050406030204" pitchFamily="18" charset="0"/>
                          <a:ea typeface="Cambria" panose="02040503050406030204" pitchFamily="18" charset="0"/>
                        </a:rPr>
                        <a:t>E</a:t>
                      </a:r>
                    </a:p>
                  </a:txBody>
                  <a:tcPr marL="91437" marR="91437"/>
                </a:tc>
                <a:tc>
                  <a:txBody>
                    <a:bodyPr/>
                    <a:lstStyle/>
                    <a:p>
                      <a:pPr algn="l"/>
                      <a:r>
                        <a:rPr lang="en-US" sz="2400" dirty="0">
                          <a:latin typeface="Cambria" panose="02040503050406030204" pitchFamily="18" charset="0"/>
                          <a:ea typeface="Cambria" panose="02040503050406030204" pitchFamily="18" charset="0"/>
                        </a:rPr>
                        <a:t>17.1 to 17.5</a:t>
                      </a:r>
                    </a:p>
                  </a:txBody>
                  <a:tcPr marL="91437" marR="91437"/>
                </a:tc>
                <a:extLst>
                  <a:ext uri="{0D108BD9-81ED-4DB2-BD59-A6C34878D82A}">
                    <a16:rowId xmlns:a16="http://schemas.microsoft.com/office/drawing/2014/main" val="10005"/>
                  </a:ext>
                </a:extLst>
              </a:tr>
              <a:tr h="431970">
                <a:tc>
                  <a:txBody>
                    <a:bodyPr/>
                    <a:lstStyle/>
                    <a:p>
                      <a:pPr algn="ctr"/>
                      <a:r>
                        <a:rPr lang="en-US" sz="2400" dirty="0">
                          <a:solidFill>
                            <a:srgbClr val="0033CC"/>
                          </a:solidFill>
                          <a:latin typeface="Cambria" panose="02040503050406030204" pitchFamily="18" charset="0"/>
                          <a:ea typeface="Cambria" panose="02040503050406030204" pitchFamily="18" charset="0"/>
                        </a:rPr>
                        <a:t>F</a:t>
                      </a:r>
                    </a:p>
                  </a:txBody>
                  <a:tcPr marL="91437" marR="91437"/>
                </a:tc>
                <a:tc>
                  <a:txBody>
                    <a:bodyPr/>
                    <a:lstStyle/>
                    <a:p>
                      <a:pPr algn="l"/>
                      <a:r>
                        <a:rPr lang="en-US" sz="2400" dirty="0">
                          <a:latin typeface="Cambria" panose="02040503050406030204" pitchFamily="18" charset="0"/>
                          <a:ea typeface="Cambria" panose="02040503050406030204" pitchFamily="18" charset="0"/>
                        </a:rPr>
                        <a:t>9.1, 9.7 to 9.9</a:t>
                      </a:r>
                    </a:p>
                  </a:txBody>
                  <a:tcPr marL="91437" marR="91437"/>
                </a:tc>
                <a:extLst>
                  <a:ext uri="{0D108BD9-81ED-4DB2-BD59-A6C34878D82A}">
                    <a16:rowId xmlns:a16="http://schemas.microsoft.com/office/drawing/2014/main" val="10006"/>
                  </a:ext>
                </a:extLst>
              </a:tr>
            </a:tbl>
          </a:graphicData>
        </a:graphic>
      </p:graphicFrame>
      <p:sp>
        <p:nvSpPr>
          <p:cNvPr id="3" name="Footer Placeholder 2">
            <a:extLst>
              <a:ext uri="{FF2B5EF4-FFF2-40B4-BE49-F238E27FC236}">
                <a16:creationId xmlns:a16="http://schemas.microsoft.com/office/drawing/2014/main" id="{EEDBC1BD-81E8-DBA2-6414-9C6C4CDDA99E}"/>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705256C4-8EA8-67AF-9DEB-9505C129A91C}"/>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2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Overload Protection</Template>
  <TotalTime>3952</TotalTime>
  <Words>3274</Words>
  <Application>Microsoft Office PowerPoint</Application>
  <PresentationFormat>On-screen Show (4:3)</PresentationFormat>
  <Paragraphs>379</Paragraphs>
  <Slides>35</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35</vt:i4>
      </vt:variant>
    </vt:vector>
  </HeadingPairs>
  <TitlesOfParts>
    <vt:vector size="45" baseType="lpstr">
      <vt:lpstr>Arial</vt:lpstr>
      <vt:lpstr>Calibri</vt:lpstr>
      <vt:lpstr>Cambria</vt:lpstr>
      <vt:lpstr>Franklin Gothic Book</vt:lpstr>
      <vt:lpstr>Perpetua</vt:lpstr>
      <vt:lpstr>Times New Roman</vt:lpstr>
      <vt:lpstr>Wingdings</vt:lpstr>
      <vt:lpstr>Wingdings 2</vt:lpstr>
      <vt:lpstr>Equity</vt:lpstr>
      <vt:lpstr>2_Equity</vt:lpstr>
      <vt:lpstr>CC-215 Database Systems</vt:lpstr>
      <vt:lpstr>Transaction Processing</vt:lpstr>
      <vt:lpstr>Transaction Examples</vt:lpstr>
      <vt:lpstr>Transaction Steps</vt:lpstr>
      <vt:lpstr>Transaction Processing</vt:lpstr>
      <vt:lpstr>PowerPoint Presentation</vt:lpstr>
      <vt:lpstr>Transaction Properties</vt:lpstr>
      <vt:lpstr>Transaction Properties</vt:lpstr>
      <vt:lpstr>Transaction Properties</vt:lpstr>
      <vt:lpstr>Transaction Properties</vt:lpstr>
      <vt:lpstr>Transaction Management</vt:lpstr>
      <vt:lpstr>Buffer Management</vt:lpstr>
      <vt:lpstr>Database Recovery</vt:lpstr>
      <vt:lpstr>Database Recovery Techniques</vt:lpstr>
      <vt:lpstr>Database Recovery Techniques</vt:lpstr>
      <vt:lpstr>Database Recovery Techniques</vt:lpstr>
      <vt:lpstr>Recovery Techniques</vt:lpstr>
      <vt:lpstr>Recovery Techniques</vt:lpstr>
      <vt:lpstr>PowerPoint Presentation</vt:lpstr>
      <vt:lpstr>Database Recovery Facilities</vt:lpstr>
      <vt:lpstr>Database Recovery Methods</vt:lpstr>
      <vt:lpstr>Database Recovery Methods</vt:lpstr>
      <vt:lpstr>Database Recovery Methods</vt:lpstr>
      <vt:lpstr>Database Recovery Methods</vt:lpstr>
      <vt:lpstr>Database Recovery Methods</vt:lpstr>
      <vt:lpstr>Database Recovery Methods</vt:lpstr>
      <vt:lpstr>Database Recovery Methods</vt:lpstr>
      <vt:lpstr>Checkpointing</vt:lpstr>
      <vt:lpstr>Checkpointing</vt:lpstr>
      <vt:lpstr>Checkpointing</vt:lpstr>
      <vt:lpstr>Shadow Paging</vt:lpstr>
      <vt:lpstr>Reasons of Database Failure</vt:lpstr>
      <vt:lpstr>Reasons of Database Failure</vt:lpstr>
      <vt:lpstr>Reasons of Database Failure</vt:lpstr>
      <vt:lpstr>Reading Material</vt:lpstr>
    </vt:vector>
  </TitlesOfParts>
  <Company>TU - Wien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Analytical Model for Performance Measurement of Queueing Systems</dc:title>
  <dc:creator>ssarwar</dc:creator>
  <cp:lastModifiedBy>Dr.Asif Sohail</cp:lastModifiedBy>
  <cp:revision>1025</cp:revision>
  <dcterms:created xsi:type="dcterms:W3CDTF">2006-05-17T12:38:56Z</dcterms:created>
  <dcterms:modified xsi:type="dcterms:W3CDTF">2025-12-08T08:56:53Z</dcterms:modified>
</cp:coreProperties>
</file>