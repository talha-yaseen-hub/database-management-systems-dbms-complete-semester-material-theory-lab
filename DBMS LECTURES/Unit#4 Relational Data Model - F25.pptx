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85" r:id="rId1"/>
    <p:sldMasterId id="2147484398" r:id="rId2"/>
    <p:sldMasterId id="2147484820" r:id="rId3"/>
  </p:sldMasterIdLst>
  <p:notesMasterIdLst>
    <p:notesMasterId r:id="rId34"/>
  </p:notesMasterIdLst>
  <p:handoutMasterIdLst>
    <p:handoutMasterId r:id="rId35"/>
  </p:handoutMasterIdLst>
  <p:sldIdLst>
    <p:sldId id="435" r:id="rId4"/>
    <p:sldId id="483" r:id="rId5"/>
    <p:sldId id="486" r:id="rId6"/>
    <p:sldId id="406" r:id="rId7"/>
    <p:sldId id="485" r:id="rId8"/>
    <p:sldId id="487" r:id="rId9"/>
    <p:sldId id="488" r:id="rId10"/>
    <p:sldId id="489" r:id="rId11"/>
    <p:sldId id="490" r:id="rId12"/>
    <p:sldId id="491" r:id="rId13"/>
    <p:sldId id="492" r:id="rId14"/>
    <p:sldId id="493" r:id="rId15"/>
    <p:sldId id="494" r:id="rId16"/>
    <p:sldId id="495" r:id="rId17"/>
    <p:sldId id="496" r:id="rId18"/>
    <p:sldId id="497" r:id="rId19"/>
    <p:sldId id="498" r:id="rId20"/>
    <p:sldId id="499" r:id="rId21"/>
    <p:sldId id="500" r:id="rId22"/>
    <p:sldId id="501" r:id="rId23"/>
    <p:sldId id="502" r:id="rId24"/>
    <p:sldId id="503" r:id="rId25"/>
    <p:sldId id="504" r:id="rId26"/>
    <p:sldId id="505" r:id="rId27"/>
    <p:sldId id="506" r:id="rId28"/>
    <p:sldId id="507" r:id="rId29"/>
    <p:sldId id="508" r:id="rId30"/>
    <p:sldId id="509" r:id="rId31"/>
    <p:sldId id="510" r:id="rId32"/>
    <p:sldId id="484" r:id="rId33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  <a:srgbClr val="FFFF66"/>
    <a:srgbClr val="FF0000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65" autoAdjust="0"/>
    <p:restoredTop sz="85572" autoAdjust="0"/>
  </p:normalViewPr>
  <p:slideViewPr>
    <p:cSldViewPr>
      <p:cViewPr varScale="1">
        <p:scale>
          <a:sx n="83" d="100"/>
          <a:sy n="83" d="100"/>
        </p:scale>
        <p:origin x="79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620C5520-1079-850B-CE4B-2E502D5724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7E02C5D4-E8C7-3DF7-FCF0-FB6E82383DE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19BBA76D-713A-66DC-DC1F-86B6506E342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6DB3255B-8DBC-EEF6-81BB-0A2B8BD3BB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91449BC1-9931-44C9-B7DB-B0A08D1FB9A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27898C-F637-1BD0-C47B-7775CF8E02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5CBDCE7-3387-23C3-E458-45AA9B649A6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1E36F38D-4AE7-13F4-5395-B95BC501BBB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88BFC6C-C8F3-7979-DA95-69B283FA6F5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4BF20E36-0D72-2FC9-44C2-76752A6B2C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EB48D099-6E67-5F95-C71E-43ABED55D0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CE62B6E7-60BF-4056-8ADE-379B3891D78D}" type="slidenum">
              <a:rPr lang="de-AT" altLang="en-US"/>
              <a:pPr>
                <a:defRPr/>
              </a:pPr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843F662-C1C1-5182-2CDF-0FBF699F98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21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21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469CDE-1810-4795-B959-B6A7E78CF0AE}" type="slidenum">
              <a:rPr lang="en-US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30351BD-CE73-9EB4-E4D3-8AE080F5E4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D20EC97-A3CE-FD26-4ECE-139485765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81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23ADEDD0-0A81-EA78-BADD-EE02D85D7A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C25E9653-97BD-7688-40AE-7C6D8A909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9EB58907-A1AF-A85E-15C6-F2930B9A03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/>
            <a:fld id="{213E996F-399C-428B-9EC0-97EC8625F856}" type="slidenum">
              <a:rPr lang="en-US" altLang="en-US" sz="1200" smtClean="0">
                <a:solidFill>
                  <a:srgbClr val="000000"/>
                </a:solidFill>
                <a:cs typeface="Arial" panose="020B0604020202020204" pitchFamily="34" charset="0"/>
              </a:rPr>
              <a:pPr defTabSz="914400"/>
              <a:t>30</a:t>
            </a:fld>
            <a:endParaRPr lang="en-US" altLang="en-US" sz="12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3E8759-B77F-CA11-C881-34D0E681B53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0B0D4A3-A04C-3776-9C5C-08E7BB9CC52E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5E1DB-F208-4A43-4351-F63C95407BE9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E977F8-D956-84B6-0103-6526D55D0036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91754-3A4B-B2D7-CB4A-9F888E867F86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214EEB3E-ECB1-0961-4594-5384F702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4FEA7-008E-46FA-A5E7-56A2260ED2CE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6ED1E1DC-2CA6-1AE5-93C5-5687F965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568F0F4E-F4AD-71FA-916E-867B082D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A8E315F-7C1E-4D98-B606-EBF8F0DABB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000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9CCF0193-34D6-4D9D-1C21-571C263B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5CD9D-F015-408D-979C-90431A93E2E5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53A81B-AC67-0EF5-4A3C-9887B27E8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700D187-C130-C5E2-4057-B89C04B6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2353CA-14AE-44F6-AAB4-54A889F589D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8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26DDD8-13CD-9D90-2D70-A9D73FF3F98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355F1FFC-E780-CEC3-4C3E-4A0C1551FFBA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8E106-8CBC-508E-F9BA-9842D2079168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914211-A97E-501B-E53D-701C27661F6F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057997-3726-FD36-8CE9-E84B7C6821EC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F9BDF99-BF58-4E80-75E8-417E7F85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9EAA1-AC84-4A16-8F03-1A88E9E67ED0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1C3AD59-2CFA-E09A-9A8B-90B41B1A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D45CE1A-5E34-E3C8-16AD-B0C8C1242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8A08C-064C-408C-9CCA-383AD3BDE3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19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F7462148-017D-C9B8-2C25-DA573BDA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E92EC-AFA2-48E9-B9CC-572A9B6C9AFC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07CAC95-1015-84EB-44A8-8E27F3E6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A307B10-29A1-58F3-4371-7C903D18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9C528-BA4A-4DE9-99C0-C874F259C2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074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9F3C1FA3-48F3-366D-327D-03118716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0AA92-C01C-4F7A-95BF-497AAE0E8B02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3EDCC0C-2D26-9F94-E250-03DFE747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92C4D86-74BE-B322-9B9E-4D5BFC27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41551-8988-408B-85D4-23FA697C37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41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5D1CBC52-B716-E65A-F1B5-C93D0CCF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D12B1E-6BDC-41DF-9F79-2EB5B24FE0B8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571B96D-40A8-9CE5-9947-45EABAEA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CFEF4D9-A466-1CE9-599E-AC5458C4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5CE89-00DB-458D-AF43-8DE61CA970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7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6E03CC63-865C-216E-B5F0-FF7A06DF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AF96F-315F-428D-84C5-FD7A9B749CF5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5F227-4CF4-6570-8CDB-C0464AE3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970E2900-204E-F032-D313-2F84CA5E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8AC79-C267-4927-931C-FF645B29F1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10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B415B2-75A5-7F05-3922-A056EF61058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9801408-26DA-2AA0-39D1-047A472EDBC0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7EE1750-7461-5763-FD61-F1E56DAC4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0F977-24A7-4EFB-B047-DCD96F91CB33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9D48A13-9B19-5AD3-6B64-5FC0273CB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77C74C9-C6D9-90B7-FE6A-DF77EC23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40653-3E14-423C-8F9F-75B547366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1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DAD7F3-7EED-A549-B37D-E85484604987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33F76C-8D3D-130D-DC17-6A9090CE6A11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3EFD5-E8C5-7911-18BF-7D3388FEA09E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1F784B35-D3B0-9E0D-1DC7-638704090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DDEDA-B41E-4FB9-BEEA-773D7FE69368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1596942-F48A-E950-C49B-A8E9B8FA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50BBF02-70CD-25A1-5A38-D77A2F31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E14508-7CEF-4865-9BBC-3DD74D8DDC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41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15985EC-2C63-1178-91B4-6D2CDE0A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6F825-92F6-47BA-848C-9D32D3D46F99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5FD0CF4-93A1-23B5-6D60-4DCD12BC6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883EC07-DDB7-1D0D-217C-77F82223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C7D20-5326-49F7-926E-922D5C9EC7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65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AA14E984-4D84-E76C-8073-4D4D69286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527F6-42EE-47B4-BF64-FCA82F270364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8A9A316-83C9-4166-5105-C255A7AA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848549D2-1F17-BBA9-84C4-6E24AF90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48CD5-BA53-4CBD-8A0A-0CFD26A30C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550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1E07AF-29A5-C4D3-9762-24384104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2527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56FFF6-5985-1BAB-327E-8192ED14BDD6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D7F48887-98C1-8FA5-508A-0D267792D85F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857723-C4F1-4DF7-1798-6004E53086D6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A10FD3-8057-7C39-430F-2A5172A193A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6ECD7C-B312-CBA4-59FC-6754315DC024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1193C12F-F559-7BF9-1980-B967F983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2721C-F9A4-47AA-808D-A664DD221988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404D49A0-51ED-2F72-B8D5-6946DE26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5439225B-9E65-B7F5-7F5F-6F1904556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4A4E6EB-9D3C-4B44-A327-16859E7FDB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66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8F69C93-A077-A8DE-57B2-D02E3CE2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6BA25-DEDD-445C-AD03-C794E6D2A09C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E6B5EC6-C767-5048-D75C-B5B8D4F0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0DAC400-121E-6059-B039-67DD761C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BB2192-2FC6-4997-A8C8-736338E753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596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09C17F-A41B-7413-A749-81948574AB5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B0D12F0B-7079-1D8B-80A5-3C0AD17CD411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78841-E6AE-29EB-E665-D83E5EA667C8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2B7C6-F833-CC5B-9339-BC617F1E74FC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3E6150-9613-5E7F-FEEA-B5B412B2357D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AB3FD48-45C3-E768-B0A8-88CADAF0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3C9F7-8221-4C4F-B49E-F7DAA33F3A8B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F2D96CC-10FB-4D5D-197F-214A1A9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ACDCB98-A6E5-D0BD-8642-17580166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ACEC5D-E6B0-4F16-8769-8050DFC612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44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49858EC4-9909-96BB-8E5A-58139FBA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C0D57-C42D-48D0-A2A9-791553E207FF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612923D-79D1-6112-D58D-C75BE6F3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F2AE6C4-70E0-C9A7-396F-639C61EF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C5407-11EE-4E89-8D7E-CB0230EAAF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073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786A4B5-4226-4F52-28BB-4C8AEA86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AAA683-699B-490F-AD66-74E5529DB72A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E29DA15-C933-A4C0-D6F5-299ABD19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CE90DA36-479A-E9A6-B28F-F9DD532E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7CC9E-AA7F-4B57-8A5D-6B45C6F980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414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9852900-311D-445A-0186-B042DAC6B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6DF2BC-4040-4990-B1E0-82343DD03398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F418FF7-8886-F2CA-982B-A0F835879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2B4C327-049E-1DAE-9D42-069C4F60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AFCEB-DE15-444E-BB2C-D3A4B08F8E8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3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1BCD96CB-D9A1-B1A6-4452-74F1451B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BC6BBA-0AB6-4A59-8816-8CC9679915E7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901B5-2DC9-0693-C070-AB5B5114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1B6AC680-C628-1FB6-CF86-38DEACAF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7EBF6-9371-47FD-86FD-34B4757E2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568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991D3B-52B3-ED4D-75CB-5B9FA053982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0065A758-B525-0999-1A8E-6DCBBABCEA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144C8DC-D8E4-5CF2-49AD-24C811E0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AD0B82-BBDA-424A-B45B-69666464EA39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0BBF453C-3B38-B551-219B-7F0BB898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E06509B-2E6A-1A56-BE79-D605D671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FE9AF-E847-4CB3-A8EC-7E08B435FF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591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00DAC2-90F6-216F-D07E-2FE9E5E74A69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756227-0A5B-0FB8-DFBE-60946962F27B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395961-93F3-3FB8-C54F-17B0F285F537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E3B8601-48B7-4073-13EA-ABC1579A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9612E-7BF3-4FC3-8184-CB3E5136D7FF}" type="datetime1">
              <a:rPr lang="en-US"/>
              <a:pPr>
                <a:defRPr/>
              </a:pPr>
              <a:t>10/1/2025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01D48AD-2AD5-F9A4-32BC-F384E4C6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9C4C127-797B-BB89-F434-37032D94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5C7B4-BE9D-4B4F-B8A1-3D5507C31D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5820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60DEEA9-2731-5B50-DC7B-1C0D5FD0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9F1FE-01B5-4166-8541-72B7078E84C0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0F5AC04-613B-EC40-D866-E542F8C0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4C599C90-45BD-AB6F-FC9E-86BF2524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0133D-A796-4862-8A73-197B93D1B8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5256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8945C9A-0131-8834-8ED7-57C394C6D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9370BB-DA84-401A-B284-49F4681AB695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D278425-515B-E7AB-E558-BB02EEA8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C38E7715-8C10-F8AA-B1B5-8359C92D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AC770-F4F4-4221-9458-EA3D6A1819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32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12FFCA-9374-136B-2495-E940AFEA24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0183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469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7167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372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946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106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6124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8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284E1F-2A18-27F9-8F15-8571421702B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DDC50EE7-1BCF-DAD9-E0A1-3146123658BB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100" name="Title Placeholder 21">
            <a:extLst>
              <a:ext uri="{FF2B5EF4-FFF2-40B4-BE49-F238E27FC236}">
                <a16:creationId xmlns:a16="http://schemas.microsoft.com/office/drawing/2014/main" id="{DDAFD58B-1D75-FAE5-4BDD-D42F21EB9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1" name="Text Placeholder 12">
            <a:extLst>
              <a:ext uri="{FF2B5EF4-FFF2-40B4-BE49-F238E27FC236}">
                <a16:creationId xmlns:a16="http://schemas.microsoft.com/office/drawing/2014/main" id="{131E2B7A-C2B8-B640-E0E4-081A761835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F192308-C645-BD59-51F8-500FCE14E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26296D6-2214-47AB-B7F2-84A7E044C3C1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A5F5D4-7914-E07E-AF72-54B231474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DC9E097-02C2-5D91-1FA5-6AA6147F6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1E73A4F-D181-448E-8CD3-41A64795CD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2" r:id="rId1"/>
    <p:sldLayoutId id="2147484803" r:id="rId2"/>
    <p:sldLayoutId id="2147484804" r:id="rId3"/>
    <p:sldLayoutId id="2147484771" r:id="rId4"/>
    <p:sldLayoutId id="2147484772" r:id="rId5"/>
    <p:sldLayoutId id="2147484773" r:id="rId6"/>
    <p:sldLayoutId id="2147484774" r:id="rId7"/>
    <p:sldLayoutId id="2147484805" r:id="rId8"/>
    <p:sldLayoutId id="2147484806" r:id="rId9"/>
    <p:sldLayoutId id="2147484775" r:id="rId10"/>
    <p:sldLayoutId id="2147484776" r:id="rId11"/>
    <p:sldLayoutId id="2147484807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6EC7D61-9DA9-261E-ABDB-B03AAC0DBF8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FE603BB5-62E6-A0D4-C304-1E0290BD149F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124" name="Title Placeholder 21">
            <a:extLst>
              <a:ext uri="{FF2B5EF4-FFF2-40B4-BE49-F238E27FC236}">
                <a16:creationId xmlns:a16="http://schemas.microsoft.com/office/drawing/2014/main" id="{E15E0C88-1C04-9047-08DA-14D01C5D1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5" name="Text Placeholder 12">
            <a:extLst>
              <a:ext uri="{FF2B5EF4-FFF2-40B4-BE49-F238E27FC236}">
                <a16:creationId xmlns:a16="http://schemas.microsoft.com/office/drawing/2014/main" id="{12DCF129-D4BF-8E32-6A91-A25190681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6448640-4CC1-5E16-3A42-F8E0C7825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28F3761-2BCE-487B-9035-001BD91D0396}" type="datetime1">
              <a:rPr lang="en-US"/>
              <a:pPr>
                <a:defRPr/>
              </a:pPr>
              <a:t>10/1/2025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C5A2F-8560-3DE9-F4DF-2C8E07F8C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0396EEE-2B49-5FC3-366E-7BA38D173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5B31D2DD-80B7-427C-984F-C0B051CCE5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8" r:id="rId1"/>
    <p:sldLayoutId id="2147484809" r:id="rId2"/>
    <p:sldLayoutId id="2147484810" r:id="rId3"/>
    <p:sldLayoutId id="2147484811" r:id="rId4"/>
    <p:sldLayoutId id="2147484812" r:id="rId5"/>
    <p:sldLayoutId id="2147484813" r:id="rId6"/>
    <p:sldLayoutId id="2147484814" r:id="rId7"/>
    <p:sldLayoutId id="2147484815" r:id="rId8"/>
    <p:sldLayoutId id="2147484816" r:id="rId9"/>
    <p:sldLayoutId id="2147484817" r:id="rId10"/>
    <p:sldLayoutId id="2147484818" r:id="rId11"/>
    <p:sldLayoutId id="2147484819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2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1" r:id="rId1"/>
    <p:sldLayoutId id="2147484822" r:id="rId2"/>
    <p:sldLayoutId id="2147484823" r:id="rId3"/>
    <p:sldLayoutId id="2147484824" r:id="rId4"/>
    <p:sldLayoutId id="2147484825" r:id="rId5"/>
    <p:sldLayoutId id="2147484826" r:id="rId6"/>
    <p:sldLayoutId id="2147484827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b="1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279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— Unit 4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Relational Data Model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4637620"/>
            <a:ext cx="3233199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B819144-AC91-20AF-4E39-1CC6743E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917" y="295275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7C24E2FC-DC72-6DE9-973D-DFAF2B2A7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5275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C7106B-BDE5-751B-3CDA-7C878E45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653136"/>
            <a:ext cx="5069656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l" eaLnBrk="1" hangingPunct="1">
              <a:defRPr/>
            </a:pP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</a:rPr>
            </a:b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 eaLnBrk="1" hangingPunct="1">
              <a:defRPr/>
            </a:pPr>
            <a:r>
              <a:rPr lang="en-US" sz="1800" b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Some slides and/or pictures are adapted from Lecture slides / Books of</a:t>
            </a:r>
          </a:p>
          <a:p>
            <a:pPr marL="685800" lvl="1" indent="-228600" algn="l" eaLnBrk="1" hangingPunct="1">
              <a:buClr>
                <a:srgbClr val="FF0000"/>
              </a:buClr>
              <a:buFontTx/>
              <a:buChar char="•"/>
              <a:defRPr/>
            </a:pPr>
            <a:r>
              <a:rPr lang="en-US" sz="1800" b="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Peter Rob</a:t>
            </a:r>
          </a:p>
          <a:p>
            <a:pPr marL="685800" lvl="1" indent="-228600" algn="l" eaLnBrk="1" hangingPunct="1">
              <a:buClr>
                <a:srgbClr val="FF0000"/>
              </a:buClr>
              <a:buFontTx/>
              <a:buChar char="•"/>
              <a:defRPr/>
            </a:pPr>
            <a:r>
              <a:rPr lang="en-US" sz="1800" b="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Jeffery. A. Hoffer</a:t>
            </a:r>
          </a:p>
          <a:p>
            <a:pPr marL="685800" lvl="1" indent="-228600" algn="l" eaLnBrk="1" hangingPunct="1">
              <a:buClr>
                <a:srgbClr val="FF0000"/>
              </a:buClr>
              <a:buFontTx/>
              <a:buChar char="•"/>
              <a:defRPr/>
            </a:pPr>
            <a:r>
              <a:rPr lang="en-US" sz="1800" b="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Thomas M. Connolly</a:t>
            </a:r>
          </a:p>
          <a:p>
            <a:pPr marL="685800" lvl="1" indent="-228600" algn="l" eaLnBrk="1" hangingPunct="1">
              <a:buClr>
                <a:srgbClr val="FF0000"/>
              </a:buClr>
              <a:buFontTx/>
              <a:buChar char="•"/>
              <a:defRPr/>
            </a:pPr>
            <a:r>
              <a:rPr lang="en-US" sz="1800" b="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Ramez Elmasri</a:t>
            </a:r>
          </a:p>
          <a:p>
            <a:pPr marL="685800" lvl="1" indent="-228600" algn="l" eaLnBrk="1" hangingPunct="1">
              <a:buClr>
                <a:srgbClr val="FF0000"/>
              </a:buClr>
              <a:buFontTx/>
              <a:buChar char="•"/>
              <a:defRPr/>
            </a:pPr>
            <a:r>
              <a:rPr lang="en-US" sz="1800" b="0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Silberschtaz</a:t>
            </a:r>
            <a:endParaRPr lang="en-US" sz="1800" b="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1859993-80C5-F9AE-CE61-FD6CF75B6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 Model (RDM)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24477BC-55A4-B7A6-8F0F-DD0866798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92150"/>
            <a:ext cx="8466137" cy="434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Relation is a mathematical concept based on the ideas of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sets.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was first proposed by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Dr. E.F. Codd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IBM Research in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1970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a research paper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"A Relational Model for Large Shared Data Banks,"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Communications of the ACM, June 1970.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RDM caused a major revolution in the field of database.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Unlike navigational approach of HDM and NDM, RDM follows declarative approach (need to specify what (not how) the data is to be retrieved).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RDM is widely used database model and now the terms DBMS and RDMBS (Relational DBMS) are used interchangeably.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represents data in form of relations.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Relation (sometimes called a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Table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 is a 2-dimsnesional table of data consisting of rows &amp; columns.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2BB5-8FC4-D8F2-1384-20893728D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203CD14-C892-E1C4-7F40-A5EC48A4B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 Model (RDM)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E7E57E6-2E64-AAFF-C553-F43F6214B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9712" y="4005064"/>
            <a:ext cx="8466137" cy="273685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Row in a relation is also called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Tuple (values are written inside angular brackets &lt;…&gt;)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Number of tuples in a relation is called </a:t>
            </a: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Cardinality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the relation.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Number of columns/attributes in a relation is called </a:t>
            </a: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Degree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or arity of the relation.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attribute has a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Domain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(set of valid values and format).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2" name="Picture 8" descr="fig05_01">
            <a:extLst>
              <a:ext uri="{FF2B5EF4-FFF2-40B4-BE49-F238E27FC236}">
                <a16:creationId xmlns:a16="http://schemas.microsoft.com/office/drawing/2014/main" id="{2D6E0892-A29D-841C-B855-053103129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909762"/>
            <a:ext cx="7545387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559611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3" name="Object 4">
            <a:extLst>
              <a:ext uri="{FF2B5EF4-FFF2-40B4-BE49-F238E27FC236}">
                <a16:creationId xmlns:a16="http://schemas.microsoft.com/office/drawing/2014/main" id="{226C5AB5-0B81-C455-C02E-AC4470A81E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764418"/>
              </p:ext>
            </p:extLst>
          </p:nvPr>
        </p:nvGraphicFramePr>
        <p:xfrm>
          <a:off x="914400" y="1319312"/>
          <a:ext cx="7948613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7949206" imgH="5790476" progId="Photoshop.Image.7">
                  <p:embed/>
                </p:oleObj>
              </mc:Choice>
              <mc:Fallback>
                <p:oleObj name="Image" r:id="rId3" imgW="7949206" imgH="5790476" progId="Photoshop.Image.7">
                  <p:embed/>
                  <p:pic>
                    <p:nvPicPr>
                      <p:cNvPr id="46083" name="Object 4">
                        <a:extLst>
                          <a:ext uri="{FF2B5EF4-FFF2-40B4-BE49-F238E27FC236}">
                            <a16:creationId xmlns:a16="http://schemas.microsoft.com/office/drawing/2014/main" id="{226C5AB5-0B81-C455-C02E-AC4470A81E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19312"/>
                        <a:ext cx="7948613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5">
            <a:extLst>
              <a:ext uri="{FF2B5EF4-FFF2-40B4-BE49-F238E27FC236}">
                <a16:creationId xmlns:a16="http://schemas.microsoft.com/office/drawing/2014/main" id="{BD8252C8-C30F-B3A8-1771-937A80F1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157512"/>
            <a:ext cx="738986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5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7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8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Garamond" panose="02020404030301010803" pitchFamily="18" charset="0"/>
              </a:rPr>
              <a:t>Row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Garamond" panose="02020404030301010803" pitchFamily="18" charset="0"/>
              </a:rPr>
              <a:t>entity</a:t>
            </a:r>
          </a:p>
        </p:txBody>
      </p:sp>
      <p:sp>
        <p:nvSpPr>
          <p:cNvPr id="46085" name="Text Box 6">
            <a:extLst>
              <a:ext uri="{FF2B5EF4-FFF2-40B4-BE49-F238E27FC236}">
                <a16:creationId xmlns:a16="http://schemas.microsoft.com/office/drawing/2014/main" id="{AE0E470B-A3BE-B79B-6569-4286ED8FE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4713" y="836712"/>
            <a:ext cx="2031006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5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7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8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Garamond" panose="02020404030301010803" pitchFamily="18" charset="0"/>
              </a:rPr>
              <a:t>Column (attribute)</a:t>
            </a:r>
          </a:p>
        </p:txBody>
      </p:sp>
      <p:sp>
        <p:nvSpPr>
          <p:cNvPr id="46086" name="Line 7">
            <a:extLst>
              <a:ext uri="{FF2B5EF4-FFF2-40B4-BE49-F238E27FC236}">
                <a16:creationId xmlns:a16="http://schemas.microsoft.com/office/drawing/2014/main" id="{133BBA85-40CD-4988-7065-05EF33C26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166912"/>
            <a:ext cx="228600" cy="838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6087" name="Text Box 8">
            <a:extLst>
              <a:ext uri="{FF2B5EF4-FFF2-40B4-BE49-F238E27FC236}">
                <a16:creationId xmlns:a16="http://schemas.microsoft.com/office/drawing/2014/main" id="{3672280A-F1BB-7530-9919-FA760E66E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862112"/>
            <a:ext cx="1128515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5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7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8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Garamond" panose="02020404030301010803" pitchFamily="18" charset="0"/>
              </a:rPr>
              <a:t>Entity set</a:t>
            </a:r>
          </a:p>
        </p:txBody>
      </p:sp>
      <p:sp>
        <p:nvSpPr>
          <p:cNvPr id="46088" name="Line 9">
            <a:extLst>
              <a:ext uri="{FF2B5EF4-FFF2-40B4-BE49-F238E27FC236}">
                <a16:creationId xmlns:a16="http://schemas.microsoft.com/office/drawing/2014/main" id="{C1DD9F83-3091-5179-2095-B6A010AE3D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243112"/>
            <a:ext cx="228600" cy="6096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6089" name="Line 10">
            <a:extLst>
              <a:ext uri="{FF2B5EF4-FFF2-40B4-BE49-F238E27FC236}">
                <a16:creationId xmlns:a16="http://schemas.microsoft.com/office/drawing/2014/main" id="{ACDB5DA7-D7C5-A2BE-479E-E5FDB64FA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462312"/>
            <a:ext cx="457200" cy="762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46090" name="Text Box 11">
            <a:extLst>
              <a:ext uri="{FF2B5EF4-FFF2-40B4-BE49-F238E27FC236}">
                <a16:creationId xmlns:a16="http://schemas.microsoft.com/office/drawing/2014/main" id="{7947DD38-764E-1A04-6AA5-3A7C7A852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836712"/>
            <a:ext cx="6889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5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6"/>
              </a:buBlip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7"/>
              </a:buBlip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8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9"/>
              </a:buBlip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 b="1" dirty="0">
                <a:solidFill>
                  <a:srgbClr val="0000CC"/>
                </a:solidFill>
                <a:latin typeface="Garamond" panose="02020404030301010803" pitchFamily="18" charset="0"/>
              </a:rPr>
              <a:t>value</a:t>
            </a:r>
          </a:p>
        </p:txBody>
      </p:sp>
      <p:sp>
        <p:nvSpPr>
          <p:cNvPr id="46091" name="Line 12">
            <a:extLst>
              <a:ext uri="{FF2B5EF4-FFF2-40B4-BE49-F238E27FC236}">
                <a16:creationId xmlns:a16="http://schemas.microsoft.com/office/drawing/2014/main" id="{40E2955C-BBEB-6EA5-3E12-C79C041D16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1090712"/>
            <a:ext cx="1600200" cy="19050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C6182F2-4571-48FC-A47E-57D8D6C47D4D}"/>
              </a:ext>
            </a:extLst>
          </p:cNvPr>
          <p:cNvSpPr txBox="1">
            <a:spLocks noChangeArrowheads="1"/>
          </p:cNvSpPr>
          <p:nvPr/>
        </p:nvSpPr>
        <p:spPr>
          <a:xfrm>
            <a:off x="323850" y="116632"/>
            <a:ext cx="7848600" cy="5334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 u="sng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 Model (RDM)</a:t>
            </a:r>
            <a:endParaRPr lang="en-US" altLang="en-US" sz="2800" b="1" u="sng" dirty="0">
              <a:solidFill>
                <a:srgbClr val="D3481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405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98B5-C308-BB1D-D14B-D3A69378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E5FF4F2-BC80-E439-4C26-59972BE84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 Model (RDM)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5AAC0DC-8F97-0DAF-0DAF-0C8B2527879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95288" y="1196975"/>
            <a:ext cx="8424862" cy="4824413"/>
          </a:xfrm>
          <a:prstGeom prst="rect">
            <a:avLst/>
          </a:prstGeom>
          <a:blipFill>
            <a:blip r:embed="rId2"/>
            <a:stretch>
              <a:fillRect l="-1013" t="-1010" r="-108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noFill/>
              </a:rPr>
              <a:t> </a:t>
            </a:r>
            <a:endParaRPr lang="en-US" dirty="0">
              <a:noFill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E4CF1-281D-D2DD-BE5D-7DE6605FB42C}"/>
              </a:ext>
            </a:extLst>
          </p:cNvPr>
          <p:cNvSpPr txBox="1"/>
          <p:nvPr/>
        </p:nvSpPr>
        <p:spPr>
          <a:xfrm>
            <a:off x="6228184" y="1124744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Slide Number Placeholder 23">
            <a:extLst>
              <a:ext uri="{FF2B5EF4-FFF2-40B4-BE49-F238E27FC236}">
                <a16:creationId xmlns:a16="http://schemas.microsoft.com/office/drawing/2014/main" id="{AF73654F-2D3B-54C6-DCBC-62436E73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DF7758A-0927-7923-DC2D-744E1361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44856660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7076-3633-EBCD-0E61-CB099789D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F20DC55-BAC7-D8A0-A35D-4EC135B60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 Model (RDM)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F98FDCB-3192-A1A2-DFA9-0A727E977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92150"/>
            <a:ext cx="8466137" cy="4343400"/>
          </a:xfrm>
        </p:spPr>
        <p:txBody>
          <a:bodyPr/>
          <a:lstStyle/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relation consists of two parts:</a:t>
            </a:r>
          </a:p>
          <a:p>
            <a:pPr marL="744538" lvl="1" indent="-344488" algn="just">
              <a:buClr>
                <a:srgbClr val="0000CC"/>
              </a:buClr>
              <a:buFont typeface="Wingdings" pitchFamily="2" charset="2"/>
              <a:buAutoNum type="alphaLcParenR"/>
              <a:defRPr/>
            </a:pP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Heading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consisting of fixed set of attributes or columns.</a:t>
            </a:r>
          </a:p>
          <a:p>
            <a:pPr marL="744538" lvl="1" indent="-344488" algn="just">
              <a:buClr>
                <a:srgbClr val="0000CC"/>
              </a:buClr>
              <a:buFont typeface="Wingdings" pitchFamily="2" charset="2"/>
              <a:buAutoNum type="alphaLcParenR"/>
              <a:defRPr/>
            </a:pP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Body or State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a relation consists of time varying set of tuples. 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Let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…, 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be attributes with domains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D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…, 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</a:t>
            </a:r>
            <a:r>
              <a:rPr lang="en-US" sz="2400" baseline="-25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</a:t>
            </a:r>
            <a:endParaRPr lang="en-US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relation schema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or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description of a relation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written as:</a:t>
            </a:r>
          </a:p>
          <a:p>
            <a:pPr marL="344488" indent="-344488" algn="just">
              <a:buFontTx/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R(A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…, A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RDM consists of 3 components:</a:t>
            </a:r>
          </a:p>
          <a:p>
            <a:pPr marL="744538" lvl="1" indent="-344488" algn="just">
              <a:buClr>
                <a:srgbClr val="0000CC"/>
              </a:buClr>
              <a:buFont typeface="Wingdings" pitchFamily="2" charset="2"/>
              <a:buAutoNum type="alphaLcParenR"/>
              <a:defRPr/>
            </a:pP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Structure: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Data are organized in the form of tables or relations.</a:t>
            </a:r>
          </a:p>
          <a:p>
            <a:pPr marL="744538" lvl="1" indent="-344488" algn="just">
              <a:buClr>
                <a:srgbClr val="0000CC"/>
              </a:buClr>
              <a:buFont typeface="Wingdings" pitchFamily="2" charset="2"/>
              <a:buAutoNum type="alphaLcParenR"/>
              <a:defRPr/>
            </a:pP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Manipulation: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Powerful operations using SQL.</a:t>
            </a:r>
          </a:p>
          <a:p>
            <a:pPr marL="744538" lvl="1" indent="-344488" algn="just">
              <a:buClr>
                <a:srgbClr val="0000CC"/>
              </a:buClr>
              <a:buFont typeface="Wingdings" pitchFamily="2" charset="2"/>
              <a:buAutoNum type="alphaLcParenR"/>
              <a:defRPr/>
            </a:pPr>
            <a:r>
              <a:rPr lang="en-US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Integrity: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To ensure the correctness of data. 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A3CD9DA-7BDD-CFB7-D2E0-7216F0E3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79FFE-4201-4E74-686D-5320251D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8884104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CC88A-391C-47A2-F2DD-4E9606E56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E6727D5-D460-3CE4-E7F8-52BAF6FBF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Properties of a Relation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F5171F7-4BFD-1A53-6365-1D673AC4B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relation in a database has a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unique name.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column has a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distinct name. 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row is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unique.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Entries in columns are from the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same domain.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row/column intersection must have single or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atomic value.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order of column (left to right) is insignificant.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order of rows (top to bottom) is insignificant.</a:t>
            </a:r>
          </a:p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6C37643-5975-A33A-0977-2B496720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2FD066B-B2CA-0DD9-653B-F4A1C7BC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257172602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FA7D9-88DD-078C-0D67-0BAEDEB8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540D101-8906-E225-6DA2-CCF47C125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Terminologies of a Relation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875B173-2DE1-C239-DC62-C2FBEA5B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541382-0CBD-F872-2F8A-E4326C66A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705695"/>
              </p:ext>
            </p:extLst>
          </p:nvPr>
        </p:nvGraphicFramePr>
        <p:xfrm>
          <a:off x="683568" y="980728"/>
          <a:ext cx="8003232" cy="3200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8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Informal Terms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Informal Terms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" charset="0"/>
                        </a:rPr>
                        <a:t>Table 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itchFamily="1" charset="0"/>
                        </a:rPr>
                        <a:t>Relation, Entity Set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Column or Field 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Attribute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181116581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All possible Column Values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Domain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72612238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Row or Record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Tuple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Table Definition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Schema of a Relation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Populated Table</a:t>
                      </a:r>
                    </a:p>
                  </a:txBody>
                  <a:tcPr marL="91437" marR="91437" marT="45713" marB="45713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State of the Relation</a:t>
                      </a:r>
                    </a:p>
                  </a:txBody>
                  <a:tcPr marL="91437" marR="91437" marT="45713" marB="45713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12D77EE-3D9F-2BFC-8797-69253043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09863436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C4949-6D97-BFD1-3C25-D78EC09D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11C1B6F-F90E-4FDD-BB50-D1C3FE626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8F05FFB-8204-781F-C34D-23B9CA519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Super Keys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Candidate Key(s)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Composite Key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Primary Key (PK)</a:t>
            </a:r>
          </a:p>
          <a:p>
            <a:pPr marL="788988" lvl="1" indent="-514350" algn="just">
              <a:buClr>
                <a:srgbClr val="0000CC"/>
              </a:buClr>
              <a:buAutoNum type="alphaLcParenR"/>
              <a:defRPr/>
            </a:pPr>
            <a:r>
              <a:rPr lang="en-US" sz="2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Natural Key</a:t>
            </a:r>
          </a:p>
          <a:p>
            <a:pPr marL="788988" lvl="1" indent="-514350" algn="just">
              <a:buClr>
                <a:srgbClr val="0000CC"/>
              </a:buClr>
              <a:buAutoNum type="alphaLcParenR"/>
              <a:defRPr/>
            </a:pPr>
            <a:r>
              <a:rPr lang="en-US" sz="2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Surrogate Key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Alternate or Unique Key(s)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Secondary Key(s)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Sort Key(s)</a:t>
            </a:r>
          </a:p>
          <a:p>
            <a:pPr marL="514350" indent="-514350" algn="just">
              <a:buClr>
                <a:srgbClr val="0000CC"/>
              </a:buClr>
              <a:buFont typeface="+mj-lt"/>
              <a:buAutoNum type="arabicPeriod"/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Foreign Key (FK)</a:t>
            </a:r>
          </a:p>
          <a:p>
            <a:pPr marL="514350" indent="-514350" algn="just" eaLnBrk="1" hangingPunct="1"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Font typeface="+mj-lt"/>
              <a:buAutoNum type="arabicPeriod"/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14350" indent="-514350" eaLnBrk="1" hangingPunct="1"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Font typeface="+mj-lt"/>
              <a:buAutoNum type="arabicPeriod"/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14350" indent="-514350" eaLnBrk="1" hangingPunct="1">
              <a:spcBef>
                <a:spcPts val="0"/>
              </a:spcBef>
              <a:spcAft>
                <a:spcPts val="300"/>
              </a:spcAft>
              <a:buClr>
                <a:srgbClr val="0000CC"/>
              </a:buClr>
              <a:buFont typeface="+mj-lt"/>
              <a:buAutoNum type="arabicPeriod"/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EC83EAA-8728-3A8C-60D8-B225AAE9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223BE-E6BC-E6C5-DC87-12FDBE78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7059890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B16E4-7853-64C4-E569-95938D58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7AA9E8D-1178-CAF9-5C44-03290E82A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A3C95E8-30AC-1C11-4355-F64DBECE21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Determination (A -&gt; B)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determines B (A is called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determinant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Using the value of A, value of B can be uniquely determined OR attribute B is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functionally dependent 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on attribute A.</a:t>
            </a:r>
          </a:p>
          <a:p>
            <a:pPr marL="344488" indent="-344488" algn="just">
              <a:defRPr/>
            </a:pP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STU_NUM → STU_NAME, STU_DOB, STU_CLASS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Each value in column A determines one and only one value in column B.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 of the rows in a table that agree on value for attribute A also agree in value for attribute B.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E3D88AA-3E14-DD57-798A-B1318360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B036C-8F04-2453-4B22-44F38916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39161834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4E64-8C99-8911-FA48-913DAEE0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FEF92CE-B49A-A936-AFD5-EA817CF4F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1D7CC18E-8F92-C912-A253-42F7A1E8FC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Relational Schema Example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 (</a:t>
            </a:r>
            <a:r>
              <a:rPr lang="en-US" sz="2400" b="1" u="sng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job,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sal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cnic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email, empid,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 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 (</a:t>
            </a:r>
            <a:r>
              <a:rPr lang="en-US" sz="2400" b="1" u="sng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loc)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(</a:t>
            </a:r>
            <a:r>
              <a:rPr lang="en-US" sz="2400" b="1" u="sng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p_desc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start_date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budget,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pmgr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PROJ_EMP (</a:t>
            </a:r>
            <a:r>
              <a:rPr lang="en-US" sz="2400" b="1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pno</a:t>
            </a:r>
            <a:r>
              <a:rPr lang="en-US" sz="2400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b="1" u="sng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400" b="1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alloc_date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emp_role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0" indent="0" algn="just">
              <a:buNone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Business Rule</a:t>
            </a:r>
          </a:p>
          <a:p>
            <a:pPr marL="344488" indent="-344488" algn="just">
              <a:defRPr/>
            </a:pP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unique for all the employees. 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empid is unique within a department.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employee can be assigned many projects, and vice-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vresa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9F7A95A-6747-6BD8-2CCC-71A70BB0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7A07A-CAED-CFAF-47E4-089EAD8D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95798917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2AC4-16E7-97B6-4642-358A1947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BF7A684-0416-1FAA-5579-EFFF23EB2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468B0DC-AC9E-0EEF-51A8-550ADB6A1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Super Keys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attribute or a set of attributes that uniquely identifies a tuple within a relation.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set of all the attributes of a relation is one of many possible super keys of a relation. 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Formally, 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is a super key of a relation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then two distinct tuples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cannot have identical values on attributes of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i.e., 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 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then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[K]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Symbol" pitchFamily="18" charset="2"/>
              </a:rPr>
              <a:t>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sz="24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[K].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super key may contain </a:t>
            </a:r>
            <a:r>
              <a:rPr lang="en-US" sz="2400" u="sng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extraneous attributes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that are not necessary for achieving uniqueness. 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If K is a super key, then so is any superset of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231775" indent="-231775" algn="just"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Examples: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empno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empno+ename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job+cnic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etc.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46ED7BF-3F0B-96CE-00B1-35F7C465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DCC9F-617C-581F-7AF1-930C39C5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417894336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960D-8707-4185-9845-560E5CD8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A25D597-4801-54C6-D2EB-1BCB271D18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6AB4968-2FFF-6644-97DE-51D358558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Candidate Key(s)</a:t>
            </a:r>
          </a:p>
          <a:p>
            <a:pPr marL="344488" indent="-344488" algn="just"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Minimal set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attributes that uniquely identifies each instance of an entity type. </a:t>
            </a:r>
          </a:p>
          <a:p>
            <a:pPr marL="344488" indent="-344488" algn="just"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Minimal super keys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are the super keys whose any of the proper subsets cannot be a super key.</a:t>
            </a:r>
          </a:p>
          <a:p>
            <a:pPr marL="344488" indent="-344488" algn="just"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candidate key K of a relation R has two properties; </a:t>
            </a:r>
          </a:p>
          <a:p>
            <a:pPr marL="274638" lvl="1" indent="0" algn="just">
              <a:buNone/>
              <a:defRPr/>
            </a:pP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a) Uniqueness</a:t>
            </a:r>
          </a:p>
          <a:p>
            <a:pPr marL="274638" lvl="1" indent="0" algn="just">
              <a:buNone/>
              <a:defRPr/>
            </a:pP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b) Minimality or Irreducibility</a:t>
            </a:r>
          </a:p>
          <a:p>
            <a:pPr marL="344488" indent="-344488" algn="just"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Examples: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cnic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email,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empid+deptno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6DBF32C-B3F5-E1C3-A861-7560494A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BB60E-3DB9-F745-D786-F7232966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20487253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380DD-09BC-7D4F-B30B-49519E9AC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B4F6BF7-8B94-484C-A8BC-C590B5F52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7B9F342-BDF4-F709-4A2B-091F1200E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3. Composite Key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Sometimes a single attribute is not sufficient to uniquely identify a tuple. In such situations, two or more attributes are combined together to form a key and such a key is called Composite Key. 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Composite Key must satisfy the conditions of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uniqueness &amp; minimality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i.e., Elimination of any part of key should will destroy uniqueness.</a:t>
            </a:r>
          </a:p>
          <a:p>
            <a:pPr marL="228600" indent="-228600" algn="just" eaLnBrk="1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particular type of a composite key is a </a:t>
            </a:r>
            <a:r>
              <a:rPr lang="en-US" alt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compound key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which each attribute is a foreign key </a:t>
            </a:r>
          </a:p>
          <a:p>
            <a:pPr marL="228600" indent="-228600" algn="just" eaLnBrk="1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Example: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empid+deptno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300"/>
              </a:spcBef>
              <a:spcAft>
                <a:spcPts val="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432E125-602B-6B89-166F-66680CD6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EAEE9-F1D2-09DA-B531-CFE4B24EE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6743747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B35A9-9D58-90CB-A57D-14B5421D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89E05E1-5ECC-2506-A796-14E88CA09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59296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F91D69B-E987-B0C8-DC11-FE9887208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620688"/>
            <a:ext cx="8466137" cy="43434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Primary Key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an attribute or combination of attributes that is selected as an identifier for an entity type OR the candidate key that is selected for unique identification of tuples of a relation. 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Primary key values are not allowed to accept NULL value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Primary key can uniquely determine the values of other attributes of the relation.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primary key can either be a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Natural Key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or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Surrogate Key.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Natural key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key that has contextual or business meaning. For ex., CNIC,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CourseCode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CustID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etc.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Surrogate Key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system generated key that is manufactured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“artificially”. 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Ex.,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row-ids or sequential numbers.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Surrogate keys are used in the following situations:</a:t>
            </a:r>
          </a:p>
          <a:p>
            <a:pPr marL="731838" lvl="1" indent="-457200" algn="just">
              <a:spcBef>
                <a:spcPts val="300"/>
              </a:spcBef>
              <a:spcAft>
                <a:spcPts val="0"/>
              </a:spcAft>
              <a:buAutoNum type="alphaLcParenR"/>
              <a:defRPr/>
            </a:pPr>
            <a:r>
              <a:rPr lang="en-US" sz="20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Absence of a suitable natural key</a:t>
            </a:r>
          </a:p>
          <a:p>
            <a:pPr marL="731838" lvl="1" indent="-457200" algn="just">
              <a:spcBef>
                <a:spcPts val="300"/>
              </a:spcBef>
              <a:spcAft>
                <a:spcPts val="0"/>
              </a:spcAft>
              <a:buAutoNum type="alphaLcParenR"/>
              <a:defRPr/>
            </a:pPr>
            <a:r>
              <a:rPr lang="en-US" sz="20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Data Warehousing</a:t>
            </a:r>
          </a:p>
          <a:p>
            <a:pPr marL="731838" lvl="1" indent="-457200" algn="just">
              <a:spcBef>
                <a:spcPts val="300"/>
              </a:spcBef>
              <a:spcAft>
                <a:spcPts val="0"/>
              </a:spcAft>
              <a:buAutoNum type="alphaLcParenR"/>
              <a:defRPr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216D4662-BC71-01E5-77F8-33702A9B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5C644-054F-4F9F-34AD-0FBE2889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33893355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EED8E-5404-0086-4AA5-5EE20530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0719267-A8A8-96F4-7B0A-1713DD07E5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3B71802-FC78-DC8F-34D8-9CF9047A0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5. Alternate or Unique Key(s) 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Keys left behind after the selection of the primary key among the possible candidate keys of a relation. For Ex: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cnic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email,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empid+deptno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are candidate keys of EMP table. If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chosen as the Primary Key then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cnic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email,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empid+deptno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will be the Alternate Keys. </a:t>
            </a:r>
          </a:p>
          <a:p>
            <a:pPr marL="344488" indent="-344488" algn="just">
              <a:spcBef>
                <a:spcPts val="300"/>
              </a:spcBef>
              <a:spcAft>
                <a:spcPts val="0"/>
              </a:spcAft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Unique key(s) may assume NULL values.</a:t>
            </a:r>
          </a:p>
          <a:p>
            <a:pPr marL="0" indent="0" algn="just">
              <a:spcBef>
                <a:spcPts val="300"/>
              </a:spcBef>
              <a:spcAft>
                <a:spcPts val="0"/>
              </a:spcAft>
              <a:buNone/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26A6A42-4583-4F35-3B83-06CF4DB5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A63F2-86F4-4816-3D74-F05EEE82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18751554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CEE6-507A-6086-D813-16CC197F1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A91AEC0-8E0E-4809-6DAA-B58E1BF22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6702B0B-8FD7-3F4E-7A48-105EB4076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7. Secondary Key(s)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attribute or combination of attributes used strictly for data retrieval purposes. 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 case of unavailability of primary key value, secondary key(s) provides an alternate way to access a certain record(s). For Ex: 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ename+hiredate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an employee.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Secondary key does not necessarily yield a unique outcome.  </a:t>
            </a:r>
          </a:p>
          <a:p>
            <a:pPr marL="0" indent="0" algn="just"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</a:t>
            </a:r>
          </a:p>
          <a:p>
            <a:pPr marL="0" indent="0" algn="just"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8. Sort Key</a:t>
            </a:r>
          </a:p>
          <a:p>
            <a:pPr marL="344488" indent="-344488" algn="just"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used for arranging data in a certain order. </a:t>
            </a:r>
          </a:p>
          <a:p>
            <a:pPr marL="344488" indent="-344488" algn="just"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Ex: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List all the employees in alphabetical order with respect to their names. 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356BAE70-9E2D-CEB4-DAC0-99DAB625B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306F2-E434-C776-D821-29849DC5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9315489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9330-1874-555E-A537-6A0920B9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6EFB650-E1C6-2F25-9119-9607C8A3F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F04B901-AA91-22A1-552C-5EB9583837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8. Foreign Key (FK)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RDM uses a set of relations liked together by a key called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foreign key.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FK is an attribute of one relation called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referencing relation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whose values are required  to match the primary key of another relation called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referenced or target relation.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Foreign keys are the glue holding the database together. Without foreign keys, the data is like leaves covering the ground in fall – you know that each leave fell from one of the trees, but it is impossible to say from which one.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580EC3E-6EB5-966E-FC48-1A02AD07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3ACAF-BB2B-591F-0C28-6F81ADFA3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41814313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889AC-D8A3-9362-B915-618EA524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13B15E3-3551-B2F1-1A5A-5B38455D80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Keys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308DBC2-C6BA-CFCC-551D-1F9B6B140B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8. Foreign Key (FK)</a:t>
            </a:r>
          </a:p>
          <a:p>
            <a:pPr marL="344488" indent="-344488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Consider the following two relations: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R1: EMP(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EmpNo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EName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,…,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DeptNo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  <a:b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R2: DEPT(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DeptNo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DName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values of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DeptNo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the EMP relation should either be one of the values stored in DEPT relation or it may optionally be NULL.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40D7CDB-B1CA-A740-5E13-73547359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B792C-41FA-C83E-D800-32F33178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E83A26-B93B-6A32-BD15-9D923A3A511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70929" y="3933056"/>
            <a:ext cx="3756025" cy="1235596"/>
          </a:xfrm>
          <a:prstGeom prst="rect">
            <a:avLst/>
          </a:prstGeom>
          <a:gradFill rotWithShape="0">
            <a:gsLst>
              <a:gs pos="0">
                <a:srgbClr val="E5895C"/>
              </a:gs>
              <a:gs pos="50000">
                <a:srgbClr val="FF9966"/>
              </a:gs>
              <a:gs pos="100000">
                <a:srgbClr val="E5895C"/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0050">
              <a:spcBef>
                <a:spcPct val="20000"/>
              </a:spcBef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8341237-8A6F-B5A9-B424-85F27CF6371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857129" y="3933056"/>
            <a:ext cx="3227388" cy="1235596"/>
          </a:xfrm>
          <a:prstGeom prst="rect">
            <a:avLst/>
          </a:prstGeom>
          <a:gradFill rotWithShape="0">
            <a:gsLst>
              <a:gs pos="0">
                <a:srgbClr val="E5895C"/>
              </a:gs>
              <a:gs pos="50000">
                <a:srgbClr val="FF9966"/>
              </a:gs>
              <a:gs pos="100000">
                <a:srgbClr val="E5895C"/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0050">
              <a:spcBef>
                <a:spcPct val="20000"/>
              </a:spcBef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altLang="en-US" sz="12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B6E5939F-6465-FA6F-FFFA-14022606C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579" y="4226743"/>
            <a:ext cx="3784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EE65865-79F3-E283-5B49-D5F7D3795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579" y="4461693"/>
            <a:ext cx="3784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268D0F06-47D4-4B73-6518-D1DE1EEB1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579" y="4696643"/>
            <a:ext cx="3784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E6EE5D0A-8F06-4ACA-57D1-BFAB2DF96B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4579" y="4931593"/>
            <a:ext cx="3784600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B840DC3-F2D5-0244-0A4B-AE85A88D2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5629" y="3947343"/>
            <a:ext cx="1588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C78D885-B74E-EB0F-17AE-6F3868067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9079" y="3947343"/>
            <a:ext cx="1588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749FE61B-2C8A-47CF-00AA-AEA277EC6C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2879" y="3947343"/>
            <a:ext cx="1588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063B0536-61C7-39D9-A039-3BA5982028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9829" y="4207693"/>
            <a:ext cx="32146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54565B51-7871-C67C-2D9A-95DE6CF85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9829" y="4442643"/>
            <a:ext cx="3214688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A7B7107B-B984-7FF1-8021-D5DF7AED8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9829" y="4677593"/>
            <a:ext cx="32146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058D1E07-15DB-9FA8-05CA-9BC66910A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9829" y="4912543"/>
            <a:ext cx="321468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58AA9EE9-194E-A88C-DCB6-2DA460D24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4679" y="3952106"/>
            <a:ext cx="1588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6CDF347B-B112-0944-1A65-F74DCC016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8479" y="3952106"/>
            <a:ext cx="1588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EE5AF3D0-BEA9-869F-8FD1-FE993D401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29" y="3484711"/>
            <a:ext cx="2116733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Name: </a:t>
            </a:r>
            <a:r>
              <a:rPr lang="en-US" sz="20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E7C38D89-6C58-547E-1CA3-A0311B089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104" y="3557736"/>
            <a:ext cx="2244974" cy="40075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lang="en-US" sz="200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 Name: </a:t>
            </a:r>
            <a:r>
              <a:rPr lang="en-US" sz="20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E4D0C44-5697-EADE-A1C6-444CF6413E4D}"/>
              </a:ext>
            </a:extLst>
          </p:cNvPr>
          <p:cNvGrpSpPr>
            <a:grpSpLocks/>
          </p:cNvGrpSpPr>
          <p:nvPr/>
        </p:nvGrpSpPr>
        <p:grpSpPr bwMode="auto">
          <a:xfrm>
            <a:off x="1043954" y="5229200"/>
            <a:ext cx="5545138" cy="844550"/>
            <a:chOff x="478" y="3396"/>
            <a:chExt cx="3493" cy="532"/>
          </a:xfrm>
        </p:grpSpPr>
        <p:grpSp>
          <p:nvGrpSpPr>
            <p:cNvPr id="22" name="Group 22">
              <a:extLst>
                <a:ext uri="{FF2B5EF4-FFF2-40B4-BE49-F238E27FC236}">
                  <a16:creationId xmlns:a16="http://schemas.microsoft.com/office/drawing/2014/main" id="{C5CD6AD3-EDEF-BE24-F5EE-2A3894DCF9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" y="3396"/>
              <a:ext cx="933" cy="532"/>
              <a:chOff x="478" y="3396"/>
              <a:chExt cx="933" cy="532"/>
            </a:xfrm>
          </p:grpSpPr>
          <p:sp>
            <p:nvSpPr>
              <p:cNvPr id="26" name="Rectangle 23">
                <a:extLst>
                  <a:ext uri="{FF2B5EF4-FFF2-40B4-BE49-F238E27FC236}">
                    <a16:creationId xmlns:a16="http://schemas.microsoft.com/office/drawing/2014/main" id="{DBFC0633-39B5-3A47-4FFC-3CDC56394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3697"/>
                <a:ext cx="933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822325">
                  <a:spcBef>
                    <a:spcPct val="50000"/>
                  </a:spcBef>
                  <a:defRPr/>
                </a:pPr>
                <a:r>
                  <a:rPr lang="en-US" sz="1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Primary key</a:t>
                </a:r>
              </a:p>
            </p:txBody>
          </p:sp>
          <p:sp>
            <p:nvSpPr>
              <p:cNvPr id="27" name="Line 24">
                <a:extLst>
                  <a:ext uri="{FF2B5EF4-FFF2-40B4-BE49-F238E27FC236}">
                    <a16:creationId xmlns:a16="http://schemas.microsoft.com/office/drawing/2014/main" id="{53C66D25-5375-4E43-0AA0-87F545C69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0" y="3396"/>
                <a:ext cx="0" cy="288"/>
              </a:xfrm>
              <a:prstGeom prst="line">
                <a:avLst/>
              </a:prstGeom>
              <a:noFill/>
              <a:ln w="50800">
                <a:solidFill>
                  <a:srgbClr val="FFCC00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grpSp>
          <p:nvGrpSpPr>
            <p:cNvPr id="23" name="Group 25">
              <a:extLst>
                <a:ext uri="{FF2B5EF4-FFF2-40B4-BE49-F238E27FC236}">
                  <a16:creationId xmlns:a16="http://schemas.microsoft.com/office/drawing/2014/main" id="{DE96726F-67FC-53BB-191D-919343DDE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8" y="3396"/>
              <a:ext cx="933" cy="532"/>
              <a:chOff x="3038" y="3396"/>
              <a:chExt cx="933" cy="532"/>
            </a:xfrm>
          </p:grpSpPr>
          <p:sp>
            <p:nvSpPr>
              <p:cNvPr id="24" name="Rectangle 26">
                <a:extLst>
                  <a:ext uri="{FF2B5EF4-FFF2-40B4-BE49-F238E27FC236}">
                    <a16:creationId xmlns:a16="http://schemas.microsoft.com/office/drawing/2014/main" id="{DDB5CAAD-5B80-2FF0-03FA-B9293D639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3697"/>
                <a:ext cx="933" cy="2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algn="ctr" defTabSz="822325">
                  <a:spcBef>
                    <a:spcPct val="50000"/>
                  </a:spcBef>
                  <a:defRPr/>
                </a:pPr>
                <a:r>
                  <a:rPr lang="en-US" sz="1800" b="1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Primary key</a:t>
                </a:r>
              </a:p>
            </p:txBody>
          </p:sp>
          <p:sp>
            <p:nvSpPr>
              <p:cNvPr id="25" name="Line 27">
                <a:extLst>
                  <a:ext uri="{FF2B5EF4-FFF2-40B4-BE49-F238E27FC236}">
                    <a16:creationId xmlns:a16="http://schemas.microsoft.com/office/drawing/2014/main" id="{EE69FD3E-889E-0503-A41F-866D9369B4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8" y="3396"/>
                <a:ext cx="0" cy="288"/>
              </a:xfrm>
              <a:prstGeom prst="line">
                <a:avLst/>
              </a:prstGeom>
              <a:noFill/>
              <a:ln w="50800">
                <a:solidFill>
                  <a:srgbClr val="FFCC00"/>
                </a:solidFill>
                <a:round/>
                <a:headEnd type="none" w="sm" len="sm"/>
                <a:tailEnd type="stealth" w="med" len="lg"/>
              </a:ln>
              <a:effectLst>
                <a:outerShdw dist="35921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</p:grpSp>
      <p:grpSp>
        <p:nvGrpSpPr>
          <p:cNvPr id="28" name="Group 29">
            <a:extLst>
              <a:ext uri="{FF2B5EF4-FFF2-40B4-BE49-F238E27FC236}">
                <a16:creationId xmlns:a16="http://schemas.microsoft.com/office/drawing/2014/main" id="{D54753F5-7B9F-7CD7-79D3-2058D8B3F7EF}"/>
              </a:ext>
            </a:extLst>
          </p:cNvPr>
          <p:cNvGrpSpPr>
            <a:grpSpLocks/>
          </p:cNvGrpSpPr>
          <p:nvPr/>
        </p:nvGrpSpPr>
        <p:grpSpPr bwMode="auto">
          <a:xfrm>
            <a:off x="3260104" y="5229200"/>
            <a:ext cx="1466850" cy="844550"/>
            <a:chOff x="1874" y="3396"/>
            <a:chExt cx="924" cy="532"/>
          </a:xfrm>
        </p:grpSpPr>
        <p:sp>
          <p:nvSpPr>
            <p:cNvPr id="29" name="Rectangle 30">
              <a:extLst>
                <a:ext uri="{FF2B5EF4-FFF2-40B4-BE49-F238E27FC236}">
                  <a16:creationId xmlns:a16="http://schemas.microsoft.com/office/drawing/2014/main" id="{B41AC3B6-17C2-32C9-E172-A176A5B67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3697"/>
              <a:ext cx="924" cy="23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defTabSz="822325">
                <a:spcBef>
                  <a:spcPct val="50000"/>
                </a:spcBef>
                <a:defRPr/>
              </a:pPr>
              <a:r>
                <a:rPr lang="en-US" sz="1800" b="1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Foreign key</a:t>
              </a:r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19D4D4FC-7682-7A15-5BD0-9004579699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3396"/>
              <a:ext cx="0" cy="288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3592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31" name="Group 32">
            <a:extLst>
              <a:ext uri="{FF2B5EF4-FFF2-40B4-BE49-F238E27FC236}">
                <a16:creationId xmlns:a16="http://schemas.microsoft.com/office/drawing/2014/main" id="{FEA47B79-F1D4-ABBE-30B0-EC0383C527A0}"/>
              </a:ext>
            </a:extLst>
          </p:cNvPr>
          <p:cNvGrpSpPr>
            <a:grpSpLocks/>
          </p:cNvGrpSpPr>
          <p:nvPr/>
        </p:nvGrpSpPr>
        <p:grpSpPr bwMode="auto">
          <a:xfrm>
            <a:off x="3882404" y="4253731"/>
            <a:ext cx="1695450" cy="687387"/>
            <a:chOff x="2265" y="2714"/>
            <a:chExt cx="1068" cy="433"/>
          </a:xfrm>
        </p:grpSpPr>
        <p:sp>
          <p:nvSpPr>
            <p:cNvPr id="24576" name="Rectangle 33">
              <a:extLst>
                <a:ext uri="{FF2B5EF4-FFF2-40B4-BE49-F238E27FC236}">
                  <a16:creationId xmlns:a16="http://schemas.microsoft.com/office/drawing/2014/main" id="{49736B9C-72FE-0436-F716-4230B5D4B1A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65" y="2714"/>
              <a:ext cx="540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577" name="Rectangle 34">
              <a:extLst>
                <a:ext uri="{FF2B5EF4-FFF2-40B4-BE49-F238E27FC236}">
                  <a16:creationId xmlns:a16="http://schemas.microsoft.com/office/drawing/2014/main" id="{86E1C3FF-9B49-518D-06DC-8626FB2819E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892" y="2714"/>
              <a:ext cx="441" cy="136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578" name="Rectangle 35">
              <a:extLst>
                <a:ext uri="{FF2B5EF4-FFF2-40B4-BE49-F238E27FC236}">
                  <a16:creationId xmlns:a16="http://schemas.microsoft.com/office/drawing/2014/main" id="{CB8CA909-E102-9101-09BC-0E965DC6B4E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65" y="3009"/>
              <a:ext cx="540" cy="138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24580" name="Group 36">
            <a:extLst>
              <a:ext uri="{FF2B5EF4-FFF2-40B4-BE49-F238E27FC236}">
                <a16:creationId xmlns:a16="http://schemas.microsoft.com/office/drawing/2014/main" id="{DFC6E8E3-2A36-856B-0CFE-B7A1C99CAB8B}"/>
              </a:ext>
            </a:extLst>
          </p:cNvPr>
          <p:cNvGrpSpPr>
            <a:grpSpLocks/>
          </p:cNvGrpSpPr>
          <p:nvPr/>
        </p:nvGrpSpPr>
        <p:grpSpPr bwMode="auto">
          <a:xfrm>
            <a:off x="3882404" y="4436293"/>
            <a:ext cx="1695450" cy="715963"/>
            <a:chOff x="2265" y="2861"/>
            <a:chExt cx="1068" cy="451"/>
          </a:xfrm>
        </p:grpSpPr>
        <p:sp>
          <p:nvSpPr>
            <p:cNvPr id="24581" name="Rectangle 37">
              <a:extLst>
                <a:ext uri="{FF2B5EF4-FFF2-40B4-BE49-F238E27FC236}">
                  <a16:creationId xmlns:a16="http://schemas.microsoft.com/office/drawing/2014/main" id="{FB2CC86B-4D86-4F39-B71C-3B6EC58B81C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65" y="3159"/>
              <a:ext cx="540" cy="153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582" name="Rectangle 38">
              <a:extLst>
                <a:ext uri="{FF2B5EF4-FFF2-40B4-BE49-F238E27FC236}">
                  <a16:creationId xmlns:a16="http://schemas.microsoft.com/office/drawing/2014/main" id="{FA3DA8C8-B7D0-F1A1-95B4-1EE4C363913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892" y="2861"/>
              <a:ext cx="441" cy="13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24583" name="Group 39">
            <a:extLst>
              <a:ext uri="{FF2B5EF4-FFF2-40B4-BE49-F238E27FC236}">
                <a16:creationId xmlns:a16="http://schemas.microsoft.com/office/drawing/2014/main" id="{837A42FE-783B-849E-949E-F99F677EAAE2}"/>
              </a:ext>
            </a:extLst>
          </p:cNvPr>
          <p:cNvGrpSpPr>
            <a:grpSpLocks/>
          </p:cNvGrpSpPr>
          <p:nvPr/>
        </p:nvGrpSpPr>
        <p:grpSpPr bwMode="auto">
          <a:xfrm>
            <a:off x="3879229" y="4496618"/>
            <a:ext cx="1695450" cy="454025"/>
            <a:chOff x="2265" y="2861"/>
            <a:chExt cx="1068" cy="286"/>
          </a:xfrm>
        </p:grpSpPr>
        <p:sp>
          <p:nvSpPr>
            <p:cNvPr id="24584" name="Rectangle 40">
              <a:extLst>
                <a:ext uri="{FF2B5EF4-FFF2-40B4-BE49-F238E27FC236}">
                  <a16:creationId xmlns:a16="http://schemas.microsoft.com/office/drawing/2014/main" id="{F3FF887D-4600-E9AE-3176-C8CA081CCD9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65" y="2861"/>
              <a:ext cx="540" cy="136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4585" name="Rectangle 41">
              <a:extLst>
                <a:ext uri="{FF2B5EF4-FFF2-40B4-BE49-F238E27FC236}">
                  <a16:creationId xmlns:a16="http://schemas.microsoft.com/office/drawing/2014/main" id="{BCC6D9DA-86A3-3803-423E-B346E11A875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892" y="3008"/>
              <a:ext cx="441" cy="139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24586" name="Rectangle 42">
            <a:extLst>
              <a:ext uri="{FF2B5EF4-FFF2-40B4-BE49-F238E27FC236}">
                <a16:creationId xmlns:a16="http://schemas.microsoft.com/office/drawing/2014/main" id="{6A95D66A-110F-02AE-9B13-9CE372B17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42" y="3964806"/>
            <a:ext cx="3768725" cy="1235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0050">
              <a:spcBef>
                <a:spcPct val="20000"/>
              </a:spcBef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EMPNO     ENAME      JOB	  	 DEPTNO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 7839     KING     PRESIDENT	    10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7698     BLAKE    MANAGER	        30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 7782     CLARK    MANAGER  	    10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 7566     JONES    MANAGER	        20</a:t>
            </a:r>
          </a:p>
        </p:txBody>
      </p:sp>
      <p:sp>
        <p:nvSpPr>
          <p:cNvPr id="24587" name="Rectangle 43">
            <a:extLst>
              <a:ext uri="{FF2B5EF4-FFF2-40B4-BE49-F238E27FC236}">
                <a16:creationId xmlns:a16="http://schemas.microsoft.com/office/drawing/2014/main" id="{D9CB545D-F7EB-1AAC-E77B-9D6139A3F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654" y="3933056"/>
            <a:ext cx="3233738" cy="1235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00050">
              <a:spcBef>
                <a:spcPct val="20000"/>
              </a:spcBef>
              <a:buChar char="•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00050">
              <a:spcBef>
                <a:spcPct val="20000"/>
              </a:spcBef>
              <a:buChar char="–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00050">
              <a:spcBef>
                <a:spcPct val="20000"/>
              </a:spcBef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000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00050" algn="r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DEPTNO  DNAME  		LOC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 10    ACCOUNTING  	NEW YORK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  20    RESEARCH    	DALLAS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30    SALES       	CHICAGO</a:t>
            </a:r>
          </a:p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40    OPERATIONS 	BOSTON</a:t>
            </a:r>
          </a:p>
        </p:txBody>
      </p:sp>
      <p:grpSp>
        <p:nvGrpSpPr>
          <p:cNvPr id="24588" name="Group 44">
            <a:extLst>
              <a:ext uri="{FF2B5EF4-FFF2-40B4-BE49-F238E27FC236}">
                <a16:creationId xmlns:a16="http://schemas.microsoft.com/office/drawing/2014/main" id="{704DED06-A580-0A47-5BFA-9BE155147595}"/>
              </a:ext>
            </a:extLst>
          </p:cNvPr>
          <p:cNvGrpSpPr>
            <a:grpSpLocks/>
          </p:cNvGrpSpPr>
          <p:nvPr/>
        </p:nvGrpSpPr>
        <p:grpSpPr bwMode="auto">
          <a:xfrm>
            <a:off x="4487242" y="4293418"/>
            <a:ext cx="593725" cy="733425"/>
            <a:chOff x="2780" y="2751"/>
            <a:chExt cx="373" cy="462"/>
          </a:xfrm>
        </p:grpSpPr>
        <p:sp>
          <p:nvSpPr>
            <p:cNvPr id="24589" name="Line 45">
              <a:extLst>
                <a:ext uri="{FF2B5EF4-FFF2-40B4-BE49-F238E27FC236}">
                  <a16:creationId xmlns:a16="http://schemas.microsoft.com/office/drawing/2014/main" id="{CD08F2DD-308B-7893-FB6B-16FF2F514F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2751"/>
              <a:ext cx="336" cy="0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Line 46">
              <a:extLst>
                <a:ext uri="{FF2B5EF4-FFF2-40B4-BE49-F238E27FC236}">
                  <a16:creationId xmlns:a16="http://schemas.microsoft.com/office/drawing/2014/main" id="{59FC0E9F-A050-E407-D95F-5313664C5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2923"/>
              <a:ext cx="373" cy="182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Line 47">
              <a:extLst>
                <a:ext uri="{FF2B5EF4-FFF2-40B4-BE49-F238E27FC236}">
                  <a16:creationId xmlns:a16="http://schemas.microsoft.com/office/drawing/2014/main" id="{83F9C877-FF2A-32BD-036D-66F14CF14B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0" y="2796"/>
              <a:ext cx="326" cy="272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Line 48">
              <a:extLst>
                <a:ext uri="{FF2B5EF4-FFF2-40B4-BE49-F238E27FC236}">
                  <a16:creationId xmlns:a16="http://schemas.microsoft.com/office/drawing/2014/main" id="{411F4547-6F1B-BF09-CB56-74A647F13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0" y="2905"/>
              <a:ext cx="336" cy="308"/>
            </a:xfrm>
            <a:prstGeom prst="line">
              <a:avLst/>
            </a:prstGeom>
            <a:noFill/>
            <a:ln w="25400">
              <a:solidFill>
                <a:srgbClr val="FF0033"/>
              </a:solidFill>
              <a:round/>
              <a:headEnd type="none" w="sm" len="sm"/>
              <a:tailEnd type="stealth" w="med" len="lg"/>
            </a:ln>
            <a:effectLst>
              <a:outerShdw dist="17961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25797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7F4BF-1346-C512-8D4F-C55DEACD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DF0A818-4A85-47C8-ECDC-216DE438F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Relational Database Schema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0E08095-FD54-9170-10E8-5176E2B7F5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relational database schema S is a set of relation schemas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 = {R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… , 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}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and a set of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Integrity Constraints IC.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relational database state (or snapshot) DB of S is a set of relation states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DB = {r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… , 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}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such that each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</a:t>
            </a:r>
            <a:r>
              <a:rPr lang="en-US" sz="2800" baseline="-25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a state of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</a:t>
            </a:r>
            <a:r>
              <a:rPr lang="en-US" sz="2800" baseline="-25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and such that the </a:t>
            </a:r>
            <a:r>
              <a:rPr lang="en-US" sz="28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</a:t>
            </a:r>
            <a:r>
              <a:rPr lang="en-US" sz="2800" baseline="-25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relation states satisfy the integrity constraints specified in IC.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</a:t>
            </a: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legal or valid state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the database is one that obeys all the integrity constraints.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61D8339-6543-997E-3836-FFE99E16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30017-D412-176E-139F-0441D83CA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281769005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20E2-AC7F-562D-3393-16BA4A56F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5D36AB6-E16A-48BF-9D80-6402E28AB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7BC816E-A335-F285-E3BA-107FD0F19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 maintain the accuracy &amp; integrity of data in the database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There are the following classes and Types of Integrity Constraints: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a) Static or Schema Constraints</a:t>
            </a:r>
          </a:p>
          <a:p>
            <a:pPr marL="788988" lvl="1" indent="-51435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Domain Constraints</a:t>
            </a:r>
          </a:p>
          <a:p>
            <a:pPr marL="788988" lvl="1" indent="-51435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NOT NULL Constraint</a:t>
            </a:r>
          </a:p>
          <a:p>
            <a:pPr marL="788988" lvl="1" indent="-51435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Entity Integrity</a:t>
            </a:r>
          </a:p>
          <a:p>
            <a:pPr marL="788988" lvl="1" indent="-51435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Referential Integrity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b) Dynamic Constraints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Action Assertion / Business Rules / Semantic Integrity Constraints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5E72881-92C2-240E-4118-7BDFE241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FC8E1-FF98-A841-4847-D9925C64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34723957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AABB-3479-4236-403E-4D5CC1B4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E213DED-EE91-7CC7-257D-5CF6D2BCF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61FFE41-C0A9-FE64-71A9-66AC1633B9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Domain Constraints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Domain: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Set of values that may be assigned to an attribute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A63D7A7-A372-AC3C-DA46-EC868E22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54A06-2C8F-B540-1B69-E73064C9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91FAD-79E6-2A55-0B3E-6B7B41E0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81435"/>
              </p:ext>
            </p:extLst>
          </p:nvPr>
        </p:nvGraphicFramePr>
        <p:xfrm>
          <a:off x="647965" y="1670522"/>
          <a:ext cx="8142022" cy="259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342">
                  <a:extLst>
                    <a:ext uri="{9D8B030D-6E8A-4147-A177-3AD203B41FA5}">
                      <a16:colId xmlns:a16="http://schemas.microsoft.com/office/drawing/2014/main" val="1623808544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Attribute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Empno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Key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 : size 5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Emp_Name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 : size 25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181116581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Job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CLERK, MANAGER, SALESMAN etc.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Character : size 15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72612238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Between 6000 and 40000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Numeric : size 5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Rank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1, 2, 3, 4, or 5</a:t>
                      </a:r>
                    </a:p>
                  </a:txBody>
                  <a:tcPr marT="45621" marB="4562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Numeric : size 1</a:t>
                      </a:r>
                    </a:p>
                  </a:txBody>
                  <a:tcPr marT="45621" marB="45621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14463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1034-3FA3-E20F-8938-71AFF345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619AFD6-D3E0-664D-5E4F-2BD82F348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A12A177-C8D8-4F43-D011-19F65A192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NOT NULL Constraints 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enforces that an attribute Ai of a relation R must have some value. For example: If student tuple must have a valid, non-Null value for the Name attribute, then Name of STUDENT is required to  be NOT NULL.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3. Entity Integrity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 PK entries are unique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 Component of the PK of a relation is allowed to have NULL values.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Note: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Some other attributes of a relation may also be constrained  to disallow null values, even though they are not members of the primary key.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Formally,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t[PK]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itchFamily="18" charset="2"/>
              </a:rPr>
              <a:t>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null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for any tuple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r(R)</a:t>
            </a:r>
          </a:p>
          <a:p>
            <a:pPr marL="344488" indent="-344488" algn="just"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A452407A-85B9-6030-3412-0EB6FC23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7B9D56-7CCF-63C7-9D1C-DD46131C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5429069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08F33-D152-DF3B-B996-6F76E7FC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09FF9FC-9669-D8F7-004A-4479C269C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B7B1F12-6033-B202-1275-C3979B519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Referential Integrity 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a constraint involving two relations called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referencing relation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referenced or target relation.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specifies a relationship among tuples in two relations.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tuple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t1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(referencing relation) is said to reference a tuple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R2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(referenced relation) if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t1[FK] = t2[PK].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database must not contain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any unmatched FK values.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value in the foreign key column (or columns) FK of the referencing relation R1 can be either:</a:t>
            </a:r>
          </a:p>
          <a:p>
            <a:pPr marL="731838" lvl="1" indent="-45720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value of an existing primary key value of a corresponding primary key PK in the referenced relation R2, or</a:t>
            </a:r>
          </a:p>
          <a:p>
            <a:pPr marL="731838" lvl="1" indent="-457200" algn="just"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null.</a:t>
            </a:r>
          </a:p>
          <a:p>
            <a:pPr marL="344488" indent="-344488" algn="just">
              <a:spcBef>
                <a:spcPts val="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 case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(2),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the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in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should not be a part of 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of its containing relation. </a:t>
            </a:r>
          </a:p>
          <a:p>
            <a:pPr marL="344488" indent="-344488" algn="just"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2B4C035-E6C7-F98E-C047-F4A3DDFE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D232C-8103-1A95-3510-98329709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414009966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48A7C-11C1-BDA7-F75C-E7ED0BFE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BC008D1-E3D2-069C-91C4-552F62130F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E2E33D0-5DDC-4BC4-5200-CEF9FD6AC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670992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Referential Integrity </a:t>
            </a:r>
          </a:p>
          <a:p>
            <a:pPr marL="344488" indent="-344488" algn="just">
              <a:spcBef>
                <a:spcPts val="0"/>
              </a:spcBef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E3FA7A7-872E-D9AF-DE1D-E6496157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577C2-1893-89CF-421C-D4FF0B990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8261E47-5A4A-98AE-AE45-4AE7098EEE6A}"/>
              </a:ext>
            </a:extLst>
          </p:cNvPr>
          <p:cNvGrpSpPr>
            <a:grpSpLocks/>
          </p:cNvGrpSpPr>
          <p:nvPr/>
        </p:nvGrpSpPr>
        <p:grpSpPr bwMode="auto">
          <a:xfrm>
            <a:off x="910456" y="1847801"/>
            <a:ext cx="7696200" cy="609600"/>
            <a:chOff x="192" y="1680"/>
            <a:chExt cx="4848" cy="384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2BB5007-99CA-88F7-4974-5821A2532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168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latin typeface="Cambria" panose="02040503050406030204" pitchFamily="18" charset="0"/>
                  <a:ea typeface="Cambria" panose="02040503050406030204" pitchFamily="18" charset="0"/>
                </a:rPr>
                <a:t>Customer_ID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4010B92-19FB-56A3-7494-7C036A84E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68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Customer_Name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167B23E8-3492-CAAD-06A0-690AC78F8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680"/>
              <a:ext cx="62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City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5492D28-507F-4272-BE75-41100645D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68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Address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827ECB2-66E9-8E49-192B-F9C713CF0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680"/>
              <a:ext cx="720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State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BA3A600-72D4-32B1-AD09-EF54FE6B8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680"/>
              <a:ext cx="480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Zip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48DA669-9E7F-ACB7-E9B9-80B458FDA6B6}"/>
              </a:ext>
            </a:extLst>
          </p:cNvPr>
          <p:cNvGrpSpPr>
            <a:grpSpLocks/>
          </p:cNvGrpSpPr>
          <p:nvPr/>
        </p:nvGrpSpPr>
        <p:grpSpPr bwMode="auto">
          <a:xfrm>
            <a:off x="910456" y="2990801"/>
            <a:ext cx="4800600" cy="609600"/>
            <a:chOff x="528" y="2400"/>
            <a:chExt cx="3024" cy="384"/>
          </a:xfrm>
        </p:grpSpPr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BE24BA4D-EF34-DCA6-F567-8416671DB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40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latin typeface="Cambria" panose="02040503050406030204" pitchFamily="18" charset="0"/>
                  <a:ea typeface="Cambria" panose="02040503050406030204" pitchFamily="18" charset="0"/>
                </a:rPr>
                <a:t>Order_ID</a:t>
              </a: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6F8EC79-82F8-8BD1-25F4-AD6EBE140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40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Order_Date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6BE68679-5105-AE27-04F7-167EB934D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400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Customer_ID</a:t>
              </a: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3DD2222-3579-5887-D40A-07B57B74404B}"/>
              </a:ext>
            </a:extLst>
          </p:cNvPr>
          <p:cNvGrpSpPr>
            <a:grpSpLocks/>
          </p:cNvGrpSpPr>
          <p:nvPr/>
        </p:nvGrpSpPr>
        <p:grpSpPr bwMode="auto">
          <a:xfrm>
            <a:off x="910456" y="4057601"/>
            <a:ext cx="4800600" cy="609600"/>
            <a:chOff x="528" y="3072"/>
            <a:chExt cx="3024" cy="384"/>
          </a:xfrm>
        </p:grpSpPr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48633091-05CB-C002-815B-526BFC568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07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>
                  <a:latin typeface="Cambria" panose="02040503050406030204" pitchFamily="18" charset="0"/>
                  <a:ea typeface="Cambria" panose="02040503050406030204" pitchFamily="18" charset="0"/>
                </a:rPr>
                <a:t>Order_ID</a:t>
              </a:r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641590C0-1387-3376-57C7-C2DD112B7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07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u="sng">
                  <a:latin typeface="Cambria" panose="02040503050406030204" pitchFamily="18" charset="0"/>
                  <a:ea typeface="Cambria" panose="02040503050406030204" pitchFamily="18" charset="0"/>
                </a:rPr>
                <a:t>Product_ID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D54D5AD9-53A0-A814-2C04-6D3E62045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07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Quantity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DBB2BB7-0478-D2BC-5AC0-2D6692DC4C71}"/>
              </a:ext>
            </a:extLst>
          </p:cNvPr>
          <p:cNvGrpSpPr>
            <a:grpSpLocks/>
          </p:cNvGrpSpPr>
          <p:nvPr/>
        </p:nvGrpSpPr>
        <p:grpSpPr bwMode="auto">
          <a:xfrm>
            <a:off x="910456" y="5186313"/>
            <a:ext cx="7543800" cy="609600"/>
            <a:chOff x="528" y="3792"/>
            <a:chExt cx="4752" cy="384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6EA316C8-8E12-007B-F70B-770CF4D2E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79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 u="sng">
                  <a:latin typeface="Cambria" panose="02040503050406030204" pitchFamily="18" charset="0"/>
                  <a:ea typeface="Cambria" panose="02040503050406030204" pitchFamily="18" charset="0"/>
                </a:rPr>
                <a:t>Product_ID</a:t>
              </a:r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72CDDA53-BCBF-2D57-EC5F-62719EEFB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79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Prduct_Desc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7FB6C665-1546-0B5C-1EAF-D9674D4A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79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latin typeface="Cambria" panose="02040503050406030204" pitchFamily="18" charset="0"/>
                  <a:ea typeface="Cambria" panose="02040503050406030204" pitchFamily="18" charset="0"/>
                </a:rPr>
                <a:t>Standard_Price</a:t>
              </a: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6D8C56DE-0D5A-1CBE-BDC5-C22E0BD8C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792"/>
              <a:ext cx="1008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 err="1">
                  <a:latin typeface="Cambria" panose="02040503050406030204" pitchFamily="18" charset="0"/>
                  <a:ea typeface="Cambria" panose="02040503050406030204" pitchFamily="18" charset="0"/>
                </a:rPr>
                <a:t>Product_Type</a:t>
              </a:r>
              <a:endParaRPr lang="en-US" altLang="en-US" sz="16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8EF6681A-0752-C14F-E7D1-43617AB76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792"/>
              <a:ext cx="720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Sock</a:t>
              </a:r>
            </a:p>
          </p:txBody>
        </p:sp>
      </p:grpSp>
      <p:sp>
        <p:nvSpPr>
          <p:cNvPr id="25" name="Line 25">
            <a:extLst>
              <a:ext uri="{FF2B5EF4-FFF2-40B4-BE49-F238E27FC236}">
                <a16:creationId xmlns:a16="http://schemas.microsoft.com/office/drawing/2014/main" id="{FD1880D6-D83F-EA6B-05B4-F54C24C60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3256" y="3432126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63B57FF3-DA22-CB89-472B-421FBC555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416001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</a:t>
            </a:r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ECE09F85-2771-4DEB-219F-D2548FB4B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620913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5CFEBC63-C05F-3A6F-758C-F31998FEA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702001"/>
            <a:ext cx="2209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ORDER_LINE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EA81ED1A-4E8D-DBBE-FF38-3A3EFC99F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830713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</a:t>
            </a:r>
          </a:p>
        </p:txBody>
      </p:sp>
      <p:cxnSp>
        <p:nvCxnSpPr>
          <p:cNvPr id="30" name="AutoShape 30">
            <a:extLst>
              <a:ext uri="{FF2B5EF4-FFF2-40B4-BE49-F238E27FC236}">
                <a16:creationId xmlns:a16="http://schemas.microsoft.com/office/drawing/2014/main" id="{25C2D2C1-4B26-8770-75B8-81B25213F91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3044056" y="1123901"/>
            <a:ext cx="533400" cy="320040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AutoShape 31">
            <a:extLst>
              <a:ext uri="{FF2B5EF4-FFF2-40B4-BE49-F238E27FC236}">
                <a16:creationId xmlns:a16="http://schemas.microsoft.com/office/drawing/2014/main" id="{29F1C7F1-F73E-6534-B55B-E67349D873BD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251100" y="4126657"/>
            <a:ext cx="519112" cy="1600200"/>
          </a:xfrm>
          <a:prstGeom prst="curvedConnector3">
            <a:avLst>
              <a:gd name="adj1" fmla="val 4984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576" name="Line 35">
            <a:extLst>
              <a:ext uri="{FF2B5EF4-FFF2-40B4-BE49-F238E27FC236}">
                <a16:creationId xmlns:a16="http://schemas.microsoft.com/office/drawing/2014/main" id="{100C2058-5CC4-1BF4-7009-163D7A7B1D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9569" y="4511626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577" name="Line 37">
            <a:extLst>
              <a:ext uri="{FF2B5EF4-FFF2-40B4-BE49-F238E27FC236}">
                <a16:creationId xmlns:a16="http://schemas.microsoft.com/office/drawing/2014/main" id="{D42D34EC-A016-73D4-CE3F-0F971F7D5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244" y="45830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578" name="Line 38">
            <a:extLst>
              <a:ext uri="{FF2B5EF4-FFF2-40B4-BE49-F238E27FC236}">
                <a16:creationId xmlns:a16="http://schemas.microsoft.com/office/drawing/2014/main" id="{1F141537-6E40-423F-34AA-4804E66EEB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6331" y="3575001"/>
            <a:ext cx="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76808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195E-273E-CDD5-07FA-F41161EF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DDB4030-3288-E614-C9DE-D37FB2CF2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E17BAC9-A103-7E82-079F-BC3AE1D71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4. Referential Integrity </a:t>
            </a:r>
          </a:p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What should happen if an attempt is made to delete a record from a target table, while some matching records exist in the referencing table?</a:t>
            </a:r>
          </a:p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There are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three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possible options: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Not Allowed.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This is the default option.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Cascade: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All the matching records in the referencing table will also be deleted.</a:t>
            </a:r>
          </a:p>
          <a:p>
            <a:pPr marL="731838" lvl="1" indent="-457200" algn="just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Nullify: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Null will be placed in the FK. This option is only applicable if the FK is not a part of PK. </a:t>
            </a:r>
          </a:p>
          <a:p>
            <a:pPr marL="344488" indent="-344488" algn="just">
              <a:spcBef>
                <a:spcPts val="300"/>
              </a:spcBef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CEF0027-C471-0D37-58BF-E3C410C03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F0C20-5004-C251-B452-98794450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154548514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12715-E77F-8428-1B2A-97E4E3519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2CCAC47-A539-8467-C92D-52B49AC94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Integrity Constraints or Integrity Rules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0DD04BF-10C9-512C-CE25-F824CD2422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0" indent="0" algn="just">
              <a:spcBef>
                <a:spcPts val="300"/>
              </a:spcBef>
              <a:buNone/>
              <a:defRPr/>
            </a:pP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b) Dynamic Constraints </a:t>
            </a:r>
            <a:r>
              <a:rPr lang="en-US" sz="2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- Action Assertion</a:t>
            </a:r>
            <a:r>
              <a:rPr lang="en-US" sz="28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Control on the actions of the organization</a:t>
            </a:r>
          </a:p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“An Employee can avail a certain facility only after a certain period of service”. </a:t>
            </a:r>
          </a:p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Unlike the other types of constraints, which are enforced using DDL, action assertion is enforced through some programming logic or </a:t>
            </a:r>
            <a:r>
              <a:rPr lang="en-US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triggers.</a:t>
            </a:r>
          </a:p>
          <a:p>
            <a:pPr marL="344488" indent="-344488" algn="just">
              <a:spcBef>
                <a:spcPts val="300"/>
              </a:spcBef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1CF5547-C508-FEC4-E99A-5DB820F9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FEAF56-A930-4B7A-77F9-E7A0474D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</p:spTree>
    <p:extLst>
      <p:ext uri="{BB962C8B-B14F-4D97-AF65-F5344CB8AC3E}">
        <p14:creationId xmlns:p14="http://schemas.microsoft.com/office/powerpoint/2010/main" val="22450138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638A-06E6-DE6F-A4C8-84372D84F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84A7FC4-6A7E-E9E7-B54A-43E6F3D92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Schema Diagram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1597ADA-B252-51FB-9E5E-B93F9F821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4013" y="741784"/>
            <a:ext cx="8466137" cy="4343400"/>
          </a:xfrm>
        </p:spPr>
        <p:txBody>
          <a:bodyPr/>
          <a:lstStyle/>
          <a:p>
            <a:pPr marL="344488" indent="-344488" algn="just">
              <a:spcBef>
                <a:spcPts val="300"/>
              </a:spcBef>
              <a:defRPr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It is the graphical representation of the association or relationship between the relations of a relational database. </a:t>
            </a:r>
          </a:p>
          <a:p>
            <a:pPr marL="344488" indent="-344488" algn="just">
              <a:spcBef>
                <a:spcPts val="300"/>
              </a:spcBef>
              <a:defRPr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300"/>
              </a:spcBef>
              <a:spcAft>
                <a:spcPts val="300"/>
              </a:spcAft>
              <a:defRPr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E779A24-0D34-90C4-B6B0-1EF535B9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68735-3040-FF0A-4F4A-621FC8AA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84FD660-54DE-5640-4F5F-F66295147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88592"/>
            <a:ext cx="6297612" cy="333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88512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61B9B-7983-A3C1-32DB-7661CDBF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699A68B-41AC-0462-4C2B-5E29DC62E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60350"/>
            <a:ext cx="784860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Schema Diagram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0307BAD-DFF4-BD38-5467-AACDEDFF8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>
              <a:defRPr/>
            </a:pPr>
            <a:fld id="{110F9843-0372-4357-99AD-419BEB3ABF2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90333-15D4-744B-2C97-68905855F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D18B912-6291-2231-4629-19BFEE1E0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2696"/>
            <a:ext cx="8351838" cy="5592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265078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2C18C6EB-7775-0680-2AA3-F08001E51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3" y="92075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FDB5D17-3FAB-BC56-DFD7-59DC5B5F2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04813"/>
            <a:ext cx="86106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Database Systems – Design, Implementation and Management: </a:t>
            </a:r>
            <a:r>
              <a:rPr lang="en-US" altLang="en-US" sz="2400">
                <a:solidFill>
                  <a:srgbClr val="0000FF"/>
                </a:solidFill>
              </a:rPr>
              <a:t>Carlos Coronel, Steven Morris (13</a:t>
            </a:r>
            <a:r>
              <a:rPr lang="en-US" altLang="en-US" sz="2400" baseline="30000">
                <a:solidFill>
                  <a:srgbClr val="0000FF"/>
                </a:solidFill>
              </a:rPr>
              <a:t>th</a:t>
            </a:r>
            <a:r>
              <a:rPr lang="en-US" altLang="en-US" sz="2400">
                <a:solidFill>
                  <a:srgbClr val="0000FF"/>
                </a:solidFill>
              </a:rPr>
              <a:t> Ed.)</a:t>
            </a:r>
          </a:p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Modern Database Management: </a:t>
            </a:r>
            <a:r>
              <a:rPr lang="en-US" altLang="en-US" sz="2400">
                <a:solidFill>
                  <a:srgbClr val="0000FF"/>
                </a:solidFill>
              </a:rPr>
              <a:t>Jeffery. A. Hoffer (12</a:t>
            </a:r>
            <a:r>
              <a:rPr lang="en-US" altLang="en-US" sz="2400" baseline="30000">
                <a:solidFill>
                  <a:srgbClr val="0000FF"/>
                </a:solidFill>
              </a:rPr>
              <a:t>th</a:t>
            </a:r>
            <a:r>
              <a:rPr lang="en-US" altLang="en-US" sz="2400">
                <a:solidFill>
                  <a:srgbClr val="0000FF"/>
                </a:solidFill>
              </a:rPr>
              <a:t> Ed.)</a:t>
            </a:r>
          </a:p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Database Systems: </a:t>
            </a:r>
            <a:r>
              <a:rPr lang="en-US" altLang="en-US" sz="2400">
                <a:solidFill>
                  <a:srgbClr val="0000FF"/>
                </a:solidFill>
              </a:rPr>
              <a:t>Thomas M. Connolly (6</a:t>
            </a:r>
            <a:r>
              <a:rPr lang="en-US" altLang="en-US" sz="2400" baseline="30000">
                <a:solidFill>
                  <a:srgbClr val="0000FF"/>
                </a:solidFill>
              </a:rPr>
              <a:t>th</a:t>
            </a:r>
            <a:r>
              <a:rPr lang="en-US" altLang="en-US" sz="2400">
                <a:solidFill>
                  <a:srgbClr val="0000FF"/>
                </a:solidFill>
              </a:rPr>
              <a:t> Ed.)</a:t>
            </a:r>
          </a:p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Fundamentals of Database Systems: </a:t>
            </a:r>
            <a:r>
              <a:rPr lang="en-US" altLang="en-US" sz="2400">
                <a:solidFill>
                  <a:srgbClr val="0000FF"/>
                </a:solidFill>
              </a:rPr>
              <a:t>Elmasri (7</a:t>
            </a:r>
            <a:r>
              <a:rPr lang="en-US" altLang="en-US" sz="2400" baseline="30000">
                <a:solidFill>
                  <a:srgbClr val="0000FF"/>
                </a:solidFill>
              </a:rPr>
              <a:t>th</a:t>
            </a:r>
            <a:r>
              <a:rPr lang="en-US" altLang="en-US" sz="2400">
                <a:solidFill>
                  <a:srgbClr val="0000FF"/>
                </a:solidFill>
              </a:rPr>
              <a:t> Ed.)</a:t>
            </a:r>
            <a:r>
              <a:rPr lang="en-US" altLang="en-US" sz="2400">
                <a:solidFill>
                  <a:srgbClr val="9B2D1F"/>
                </a:solidFill>
              </a:rPr>
              <a:t> </a:t>
            </a:r>
          </a:p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Database System Concepts: </a:t>
            </a:r>
            <a:r>
              <a:rPr lang="en-US" altLang="en-US" sz="2400">
                <a:solidFill>
                  <a:srgbClr val="0000FF"/>
                </a:solidFill>
              </a:rPr>
              <a:t>Abraham Silberschatz (7</a:t>
            </a:r>
            <a:r>
              <a:rPr lang="en-US" altLang="en-US" sz="2400" baseline="30000">
                <a:solidFill>
                  <a:srgbClr val="0000FF"/>
                </a:solidFill>
              </a:rPr>
              <a:t>th</a:t>
            </a:r>
            <a:r>
              <a:rPr lang="en-US" altLang="en-US" sz="2400">
                <a:solidFill>
                  <a:srgbClr val="0000FF"/>
                </a:solidFill>
              </a:rPr>
              <a:t> Ed.)</a:t>
            </a:r>
          </a:p>
          <a:p>
            <a:pPr eaLnBrk="1" hangingPunct="1">
              <a:buClr>
                <a:srgbClr val="D34817"/>
              </a:buClr>
              <a:buFont typeface="Franklin Gothic Book" panose="020B0503020102020204" pitchFamily="34" charset="0"/>
              <a:buAutoNum type="alphaUcPeriod"/>
            </a:pPr>
            <a:r>
              <a:rPr lang="en-US" altLang="en-US" sz="2400">
                <a:solidFill>
                  <a:srgbClr val="000000"/>
                </a:solidFill>
              </a:rPr>
              <a:t>Databases Illuminated: </a:t>
            </a:r>
            <a:r>
              <a:rPr lang="en-US" altLang="en-US" sz="2400">
                <a:solidFill>
                  <a:srgbClr val="0000FF"/>
                </a:solidFill>
              </a:rPr>
              <a:t>Catherine M. Ricardo (3rd Ed.)</a:t>
            </a:r>
            <a:endParaRPr lang="en-US" altLang="en-US" sz="2400">
              <a:solidFill>
                <a:srgbClr val="9B2D1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532E86-0362-9D2B-47BB-F5B65FC65F5F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3429000"/>
          <a:ext cx="583247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4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3.1 to 3.3, 3.6 to 3.9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Chapter 1 (page 24 to 27)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4.1 to 4.3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Chapter 5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2.1 to 2.4 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 marL="91437" marR="91437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3.4, 4.1 to 4.4</a:t>
                      </a:r>
                    </a:p>
                  </a:txBody>
                  <a:tcPr marL="91437" marR="91437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25986</TotalTime>
  <Words>2858</Words>
  <Application>Microsoft Office PowerPoint</Application>
  <PresentationFormat>On-screen Show (4:3)</PresentationFormat>
  <Paragraphs>341</Paragraphs>
  <Slides>30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Arial</vt:lpstr>
      <vt:lpstr>Calibri</vt:lpstr>
      <vt:lpstr>Cambria</vt:lpstr>
      <vt:lpstr>Courier New</vt:lpstr>
      <vt:lpstr>Franklin Gothic Book</vt:lpstr>
      <vt:lpstr>Garamond</vt:lpstr>
      <vt:lpstr>Perpetua</vt:lpstr>
      <vt:lpstr>Wingdings</vt:lpstr>
      <vt:lpstr>Wingdings 2</vt:lpstr>
      <vt:lpstr>Equity</vt:lpstr>
      <vt:lpstr>1_Equity</vt:lpstr>
      <vt:lpstr>2_Equity</vt:lpstr>
      <vt:lpstr>Image</vt:lpstr>
      <vt:lpstr>CC-215 Database Systems</vt:lpstr>
      <vt:lpstr>Relational Data Model (RDM)</vt:lpstr>
      <vt:lpstr>Relational Data Model (RDM)</vt:lpstr>
      <vt:lpstr>PowerPoint Presentation</vt:lpstr>
      <vt:lpstr>Relational Data Model (RDM)</vt:lpstr>
      <vt:lpstr>Relational Data Model (RDM)</vt:lpstr>
      <vt:lpstr>Properties of a Relation</vt:lpstr>
      <vt:lpstr>Terminologies of a Relation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Keys</vt:lpstr>
      <vt:lpstr>Relational Database Schema</vt:lpstr>
      <vt:lpstr>Integrity Constraints or Integrity Rules</vt:lpstr>
      <vt:lpstr>Integrity Constraints or Integrity Rules</vt:lpstr>
      <vt:lpstr>Integrity Constraints or Integrity Rules</vt:lpstr>
      <vt:lpstr>Integrity Constraints or Integrity Rules</vt:lpstr>
      <vt:lpstr>Integrity Constraints or Integrity Rules</vt:lpstr>
      <vt:lpstr>Integrity Constraints or Integrity Rules</vt:lpstr>
      <vt:lpstr>Integrity Constraints or Integrity Rules</vt:lpstr>
      <vt:lpstr>Schema Diagram</vt:lpstr>
      <vt:lpstr>Schema Diagram</vt:lpstr>
      <vt:lpstr>Reading Material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775</cp:revision>
  <dcterms:created xsi:type="dcterms:W3CDTF">2006-05-17T12:38:56Z</dcterms:created>
  <dcterms:modified xsi:type="dcterms:W3CDTF">2025-10-08T08:29:31Z</dcterms:modified>
</cp:coreProperties>
</file>