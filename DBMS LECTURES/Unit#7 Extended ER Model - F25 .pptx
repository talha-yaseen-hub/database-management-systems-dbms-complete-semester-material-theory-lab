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20" r:id="rId1"/>
    <p:sldMasterId id="2147483933" r:id="rId2"/>
    <p:sldMasterId id="2147483946" r:id="rId3"/>
  </p:sldMasterIdLst>
  <p:notesMasterIdLst>
    <p:notesMasterId r:id="rId32"/>
  </p:notesMasterIdLst>
  <p:handoutMasterIdLst>
    <p:handoutMasterId r:id="rId33"/>
  </p:handoutMasterIdLst>
  <p:sldIdLst>
    <p:sldId id="508" r:id="rId4"/>
    <p:sldId id="509" r:id="rId5"/>
    <p:sldId id="510" r:id="rId6"/>
    <p:sldId id="511" r:id="rId7"/>
    <p:sldId id="516" r:id="rId8"/>
    <p:sldId id="513" r:id="rId9"/>
    <p:sldId id="514" r:id="rId10"/>
    <p:sldId id="515" r:id="rId11"/>
    <p:sldId id="517" r:id="rId12"/>
    <p:sldId id="518" r:id="rId13"/>
    <p:sldId id="519" r:id="rId14"/>
    <p:sldId id="520" r:id="rId15"/>
    <p:sldId id="521" r:id="rId16"/>
    <p:sldId id="490" r:id="rId17"/>
    <p:sldId id="522" r:id="rId18"/>
    <p:sldId id="523" r:id="rId19"/>
    <p:sldId id="524" r:id="rId20"/>
    <p:sldId id="525" r:id="rId21"/>
    <p:sldId id="526" r:id="rId22"/>
    <p:sldId id="527" r:id="rId23"/>
    <p:sldId id="528" r:id="rId24"/>
    <p:sldId id="529" r:id="rId25"/>
    <p:sldId id="489" r:id="rId26"/>
    <p:sldId id="531" r:id="rId27"/>
    <p:sldId id="488" r:id="rId28"/>
    <p:sldId id="491" r:id="rId29"/>
    <p:sldId id="532" r:id="rId30"/>
    <p:sldId id="473" r:id="rId31"/>
  </p:sldIdLst>
  <p:sldSz cx="9144000" cy="6858000" type="screen4x3"/>
  <p:notesSz cx="6577013" cy="97536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800000"/>
    <a:srgbClr val="006600"/>
    <a:srgbClr val="FFFF66"/>
    <a:srgbClr val="FF0000"/>
    <a:srgbClr val="00FF00"/>
    <a:srgbClr val="FFFFCC"/>
    <a:srgbClr val="99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265" autoAdjust="0"/>
    <p:restoredTop sz="83597" autoAdjust="0"/>
  </p:normalViewPr>
  <p:slideViewPr>
    <p:cSldViewPr>
      <p:cViewPr varScale="1">
        <p:scale>
          <a:sx n="83" d="100"/>
          <a:sy n="83" d="100"/>
        </p:scale>
        <p:origin x="79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C4388169-52DB-0DF6-B356-36D842BEA9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4DEACB86-61C8-3F93-A9B1-9F7EE7B34F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25863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5795B2E1-BA1B-1B57-98B5-8BAD45F0514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559AD6F7-F069-1591-5BD4-933D3B82E75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25863" y="9266238"/>
            <a:ext cx="285115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63543D63-9FDD-4C5B-B361-A8BE00DD961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B08A17-05CF-E5B5-A12D-EDE06F5533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5E68A27-6EAB-FB83-2B4A-64A3AF67AAE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24275" y="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8CBA73F-855A-F219-3EB4-09F74349AF3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0900" y="731838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88D5835-B281-C2AA-02E7-C751AB79458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57225" y="4633913"/>
            <a:ext cx="5262563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DCEC83-D01B-EAAA-3EC9-683255A0948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C0F951B-EC13-131E-8D29-19086EC4B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24275" y="9264650"/>
            <a:ext cx="285115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fld id="{1F83F5EB-9B18-4642-B3FE-1BF4F4701F21}" type="slidenum">
              <a:rPr lang="de-AT" altLang="en-US"/>
              <a:pPr/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7AFC9D1-2D8A-2169-37F4-A8B4714290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3307851A-49A4-24B7-A5DA-E5FB3CE32C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977905DD-C280-3C2E-039B-EF1A29F206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A29219-02F2-4560-99DB-D953633689B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0E873-79F6-575E-42F5-B2658CAF1FD9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2CF1039B-0F3B-8569-1523-C6A2072DE41A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9DE281-3531-767C-C16F-8E372B2DFE2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E35213-7F90-0D26-3115-97DB58B4DCC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C7937A-2BCB-EBDF-9CA7-4BC017080D55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D620D6E4-7CA5-568F-5DD6-31C6AF186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E5396-8487-4CE9-B01E-25B109B015D3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348FDAB0-E1C1-FD82-C8D6-837BE4062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C5A85B9-DB11-3BD3-AE28-EDDF4B1D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AFC5EDC-F198-4829-9067-CC1A4DEDAAB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246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9809E9B-996F-D808-1EC0-203D6108D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EFEAA-3908-4F89-8432-2AB0B6F56C70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99189B-F4C9-2426-B9C9-D89B9DC26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68C3EA48-11DD-A63C-C270-B99383D0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A676-8FFF-4E85-A6E6-C8190E7E18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301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55FFB4-C7CC-7393-5CBA-E3DAA8CCD7FF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4185DD22-BFA2-2711-296C-4F0020C38104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5675B-87EE-BA93-2E0E-E94F5145968A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AEE2-D1C4-FB59-100C-6EC22896AF70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5274BC-F0C4-9887-9E35-5E42294F699B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DC2F6D3-913E-C1DF-CDE9-B675A2F7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E2B02-783B-40EA-9EEC-94A96836EDAA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95AFCB3-51EB-4BC2-BB7F-DCFB7C2B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3BD65B-35F7-B8DC-3AB5-320C2D0A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337BA-DB41-42CC-AD88-72F8AB242B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68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8561D5BA-6488-08EB-E934-02564E70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323F-1B03-4B20-95A6-06AEB8555AF5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B36BBB3-0723-506B-B33F-C86A5315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5A78B5E2-334E-A383-21FC-5A61225B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92E13-E5FD-4E17-A12D-79022FC0F4F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20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29D3FBA5-1B50-AD83-8659-F9E8BA578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00F2C-72E3-470F-8DF4-06D69E13E1BA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4010B77-5563-6BAA-37A5-FAFDBDED3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FBF4ACBC-63B2-E5B0-F4EA-12EDC1D0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F1202-92EE-4F8C-A7FB-901E59E6D3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03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26A30960-77B5-DC33-6EEF-CADDF35F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78F5-5ED2-441D-8560-489C10A5B41C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BD2FE81-0D8B-8CD9-6799-CB299667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525591A-3E98-FB98-4D91-60D86007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83A14-8CF5-4127-9976-C12309A669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14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F10E9228-64BD-2E01-796A-684FF6ECE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3A048-58FB-4F03-A550-F4F28DB0CE43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B5155-BE36-CC46-7101-6F58E5FB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8F113844-006C-8779-FB45-519C6653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30FE3-82F5-4B38-8C23-3B1ADF0D3F0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88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2551F-0659-5E16-D70C-1A7D5A82B1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B503854B-8C6B-BE8E-CB55-273D1E19AFA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663AFAE9-47FD-23F2-1268-C6CC13BC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26B31-211F-4EF5-A0E5-C86264E631BF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DBE83E1-E978-2F5D-8200-F431D257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D466B-548D-60C2-2FD5-7E848DDD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4F016-5C59-4D6D-BAFD-E77BFF2A10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25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DA346A-F8E5-946B-F16A-83769EC908C6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0FC19-D539-79F9-5086-F08395A78F8A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C14848-84B6-BB21-45AD-078AE1F53B79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9E39F22-C110-A91A-240F-25C59D7B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6DC9C0-0299-41CD-9CBD-82375AC037DD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963E876-9969-029A-D420-255B45BDC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FC6B7D47-4F79-B1EA-5A33-0C8D075E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67412-0C28-4A10-B68A-9EEB49F3990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7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0D1B6BE-9435-45EC-D5F2-4FEC4AB40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27CA6-3393-42DD-89D7-284C9D8C2CDB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8C1951D-3410-2E87-5648-3E0EB888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25BAD8A-5DC2-19FF-99B1-21CDF550F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11556-19DB-4CBA-86DA-88549B94631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4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95AC1F1-0296-C783-4349-5956ECB9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08F07-6C1F-4F9E-AA2D-B51A5FD23ADF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66E29E1-025C-5538-697F-B59F0CB16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89EA551-BF26-15AF-B8E2-FC37E4B4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88057-F7EE-4B7F-8305-F1138657B32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27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1536D-DBED-4DF9-422D-EF8DB39714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164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EABC10-8096-B392-8E28-794FBD3F495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6F00C893-4464-9E68-747B-76DCCFA5AA3D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0AEF5-E122-5199-83B9-109D07D9A13A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1B3DA-D001-1F07-C0D7-1B85B45A6242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171ABC-2469-EC87-619C-9E94984D78B2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7">
            <a:extLst>
              <a:ext uri="{FF2B5EF4-FFF2-40B4-BE49-F238E27FC236}">
                <a16:creationId xmlns:a16="http://schemas.microsoft.com/office/drawing/2014/main" id="{9E1F11EC-6D8C-0B06-A27F-18F0C316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03B8B0-006A-4C42-A34E-65E96B126238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742975DB-6EE1-D26C-8E3A-3AC74337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4243921B-A0AC-2B24-CCDB-553C8D15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FFCD2EC-1622-4498-949E-A77678AEEB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023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0596EB7-6B03-0CCE-FF75-0A4C6DC1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0C93A-40BF-42F8-94A1-B10DFBBB76B9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F3AF59-C77D-9558-FEE8-0EC59C27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  <a:endParaRPr lang="en-US" dirty="0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DFAB3E34-36DB-61B3-5347-0BA00A39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01AEF2-00BE-4ACB-908F-6C5B9170E9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7092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00BB6-2AEA-0405-ACCA-3EE562FBFED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4">
            <a:extLst>
              <a:ext uri="{FF2B5EF4-FFF2-40B4-BE49-F238E27FC236}">
                <a16:creationId xmlns:a16="http://schemas.microsoft.com/office/drawing/2014/main" id="{F9D7071B-7C49-4FE5-B04D-66CCBA6F05A8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00D9CC-DA7C-A4DA-62E7-9E02715AD49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884B7D-DA62-54AE-B5D6-18893A517726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B12E63-CFA3-55AD-5E94-14EB9A7BAD99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E8F3446-3673-616E-D1EF-415820D3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1A69C5-D665-4D69-ADF6-FDA97479E0D6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3ECEB32-4E6B-BC04-F753-45859E47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9843BEA-E03A-56C6-1F05-6C6A5623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C548B-73AB-4151-969D-C9A01E77FCE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73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0D0EDF11-59C3-B0CE-F83D-BAF757A7E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72A11C7-3A94-46B1-9763-775E07EC9BDA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5327C74-2B31-E410-B82C-D65BD41C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E579B718-9FF1-1CE4-D879-6E110981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98DB8-2C30-49AF-8D9F-66ED2D4702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3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E9E13318-3C2C-17D9-2780-B2AB9BD6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D62E0D9-9325-4850-8126-2BB3F4FE17E3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E7F8279-C1C6-4491-378F-C5676129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8A1FC29F-EA9A-36BA-9D21-F550ABF2F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7D064-2A2D-459C-AA33-45E937364A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691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C43417C-FB32-AD5C-A1AB-5FE18F53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5445D6-AB86-43FA-9685-C935CF53BDF0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F20B94F-9A14-ECBE-A615-3EDE9EE39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B3EAFF6B-1D1A-D032-BE24-4EC0FB34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EF28A-C8E9-4921-B3EC-87F91712D3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7338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178C3D91-967A-7765-909A-45CBD5D40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88BD775-47FB-49A6-91E2-2F5858D71BCC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CF2EE-0487-9042-237B-03B4B9F5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24BC4622-16B8-2D99-164C-5F0166AA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8C5B0-7618-4CAE-9C97-FA18CC613EA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653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F1033D-F99D-D415-2D36-746C96DF209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19E83448-C57E-0EA4-0201-456791FF4335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CEBC332B-D7E4-8A68-D5EA-207A2135B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B51583-DB4D-4CAA-9AD0-2975CA45AD5E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59B2854A-A212-373B-5E20-D8CF5541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7871EA-3169-4AD8-4D64-84230DD5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68A646-FC6D-4BF3-9A3C-335ADF6996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497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50C82-46A9-40E5-D89E-72ACBC78C8BE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4EFAC6-B3C7-CC68-1EE0-FA41BBEE1713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ABAEAA-C345-59E6-CF29-43AC0AF55765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B1DF1408-AFED-338E-5397-EF1E19CB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EAAE82-5681-426B-953E-519B972B319B}" type="datetime1">
              <a:rPr lang="en-US"/>
              <a:pPr>
                <a:defRPr/>
              </a:pPr>
              <a:t>10/21/2025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7AE38F8-EC5E-CFCB-714F-20D7AC98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428D2ED2-DB0B-B70A-CB28-EB7AB4E5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80832-9B40-4A2C-AF9D-BBEBF87E1B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8263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C5592A2A-3701-55CE-2BF7-A80973503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48C7B2-4C1D-4439-9CF4-D240B24FF89D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A7DEBC0-4BDB-B81C-3DC8-C7BFBAE29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BBB7BC0-8B72-71BF-D846-5501ED346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2E0D0-5A0B-415F-B869-CE5BF8D86E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3592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3F0B6342-F3B5-A0CA-40EB-4A10E250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3A6CACF-EE64-4929-9768-38F8DCC2EBC4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85CD542-BA8D-1D09-D01D-D5FB0201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53DEDED-BD36-A3C4-AB12-6B0768E6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CDCB8F-B69A-4A4A-B5C5-D6961081BC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7232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388" y="228600"/>
            <a:ext cx="8277225" cy="1219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33388" y="1524000"/>
            <a:ext cx="8277225" cy="464185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CC37F4C-0292-5E75-42AD-44F77B67CB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3710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258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565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8291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5243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191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738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99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79237E9-EA19-C50E-E0BE-9DF7D9B797B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E4629FB7-89ED-1F8D-7A97-AA0D96CDCC18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558466A6-B242-FD5A-FF2A-4E8EAA703A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A7168143-A683-8AD3-3F34-72CB884A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6671AAC-2A2D-2A89-6A00-B991F60911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4008626-BC69-490C-8CAB-D90609098E48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F78C3-0D46-C3D5-FA65-D8952F5997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8C285225-DF5C-DEBD-9B0A-907FC32C3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EFEF4D28-6513-4D78-BC50-C378AB1C9F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1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  <p:sldLayoutId id="214748393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546855-5A2A-901A-F9CB-1D8CCA51A7F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768924DC-18A4-B812-6773-0925E2CB927E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52" name="Title Placeholder 21">
            <a:extLst>
              <a:ext uri="{FF2B5EF4-FFF2-40B4-BE49-F238E27FC236}">
                <a16:creationId xmlns:a16="http://schemas.microsoft.com/office/drawing/2014/main" id="{25698EBF-86B7-E47A-3C18-A10EA5B6E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3" name="Text Placeholder 12">
            <a:extLst>
              <a:ext uri="{FF2B5EF4-FFF2-40B4-BE49-F238E27FC236}">
                <a16:creationId xmlns:a16="http://schemas.microsoft.com/office/drawing/2014/main" id="{6E95D8BC-6557-DC12-FF85-225EFA47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15F4504-31BE-5531-9DA0-1E6F6C5F4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F4D158-3D15-44B9-B4CD-31DBF070DB2F}" type="datetime1">
              <a:rPr lang="en-US"/>
              <a:pPr>
                <a:defRPr/>
              </a:pPr>
              <a:t>10/21/2025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BBADE-AEDD-F5B2-9A83-5E73F4874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Autonomous Robots -- Dr. Zawar Qayyum, 2010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74B5963-C7ED-86E3-69D0-C8A16E38B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AD33D01-FB0C-4B77-98BE-7250A88D73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306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76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48" r:id="rId2"/>
    <p:sldLayoutId id="2147483949" r:id="rId3"/>
    <p:sldLayoutId id="2147483950" r:id="rId4"/>
    <p:sldLayoutId id="2147483951" r:id="rId5"/>
    <p:sldLayoutId id="2147483952" r:id="rId6"/>
    <p:sldLayoutId id="2147483953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b="1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CC-215</a:t>
            </a:r>
            <a:br>
              <a:rPr altLang="en-US" dirty="0">
                <a:solidFill>
                  <a:srgbClr val="000099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altLang="en-US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Database Systems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279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— Unit 7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Extended or Enhanced ER Model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4637620"/>
            <a:ext cx="3233199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6B819144-AC91-20AF-4E39-1CC6743EA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917" y="295275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7C24E2FC-DC72-6DE9-973D-DFAF2B2A7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95275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FC7106B-BDE5-751B-3CDA-7C878E45D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653136"/>
            <a:ext cx="5069656" cy="2016224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</a:b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j-cs"/>
              </a:rPr>
              <a:t>Some slides and/or pictures are adapted from Lecture slides / Books of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Peter Rob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Jeffery. A. Hoffer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Thomas M. Connolly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Ramez Elmasri</a:t>
            </a:r>
          </a:p>
          <a:p>
            <a:pPr marL="685800" marR="0" lvl="1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Silberschtaz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9EDE-DD1F-152A-7DB8-193B120A3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D6BF03B-DF5B-B2A6-E978-5F4825490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504056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Outline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CD3B037-EE27-FED2-4D4F-E4E251F6B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Supertype - Subtypes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Basic Notations of Supertype – Subtypes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Supertype – subtypes Relationship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Supertype – subtypes Examples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Specialization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Subtypes Discriminator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Supertype – subtypes Hierarchy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Specialization Hierarchy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Entity Clustering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E5E57-077F-1C5D-890E-80F2DDAD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779A8F6-09E4-3CE0-05BF-E39B686C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8621069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79F0-1AEB-AEF8-9AEA-E81465B53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C07C8DC-D93F-1CF6-4B26-6343A0A65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504056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D96BC42-646F-1AE1-236F-391D86D25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extends original E-R model with new modeling constructs.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Used to cope with the dynamic and complex business environment.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It uses the representations for </a:t>
            </a: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supertypes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subtypes.</a:t>
            </a: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following three design options are possible.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Define a single entity type Employee with all the possible attributes in it.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Define a separate entity type for each employee type.</a:t>
            </a:r>
          </a:p>
          <a:p>
            <a:pPr marL="457200" indent="-457200" algn="just">
              <a:spcBef>
                <a:spcPts val="300"/>
              </a:spcBef>
              <a:buFont typeface="+mj-lt"/>
              <a:buAutoNum type="arabicParenR"/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Define a supertype with all the common attributes and introduce its subtypes having only the applicable attributes.</a:t>
            </a: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52254-EE1F-F594-A768-9C1B8A30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1334D3F-E3D0-A5BC-C46B-212762B05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1CBC80-BF5E-9317-3616-260E485A7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331905"/>
              </p:ext>
            </p:extLst>
          </p:nvPr>
        </p:nvGraphicFramePr>
        <p:xfrm>
          <a:off x="467544" y="2276872"/>
          <a:ext cx="8424936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3728010234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1805933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EMPLOYEE TYPE</a:t>
                      </a:r>
                    </a:p>
                  </a:txBody>
                  <a:tcPr marL="91450" marR="9145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ATTRIBUTES</a:t>
                      </a:r>
                    </a:p>
                  </a:txBody>
                  <a:tcPr marL="91450" marR="91450" horzOverflow="overflow"/>
                </a:tc>
                <a:extLst>
                  <a:ext uri="{0D108BD9-81ED-4DB2-BD59-A6C34878D82A}">
                    <a16:rowId xmlns:a16="http://schemas.microsoft.com/office/drawing/2014/main" val="615010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 Hourly</a:t>
                      </a:r>
                    </a:p>
                  </a:txBody>
                  <a:tcPr marL="91450" marR="914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Address,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Hire_Date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Hourly_Rate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anchor="ctr" horzOverflow="overflow"/>
                </a:tc>
                <a:extLst>
                  <a:ext uri="{0D108BD9-81ED-4DB2-BD59-A6C34878D82A}">
                    <a16:rowId xmlns:a16="http://schemas.microsoft.com/office/drawing/2014/main" val="3944588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 Salaried</a:t>
                      </a:r>
                    </a:p>
                  </a:txBody>
                  <a:tcPr marL="91450" marR="914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Address,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Hire_Date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Salary </a:t>
                      </a:r>
                    </a:p>
                  </a:txBody>
                  <a:tcPr marL="91450" marR="91450" anchor="ctr" horzOverflow="overflow"/>
                </a:tc>
                <a:extLst>
                  <a:ext uri="{0D108BD9-81ED-4DB2-BD59-A6C34878D82A}">
                    <a16:rowId xmlns:a16="http://schemas.microsoft.com/office/drawing/2014/main" val="2939730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33400" marR="0" lvl="0" indent="-533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 Contract</a:t>
                      </a:r>
                    </a:p>
                  </a:txBody>
                  <a:tcPr marL="91450" marR="9145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ENo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Address,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Hire_Date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Rate </a:t>
                      </a:r>
                    </a:p>
                  </a:txBody>
                  <a:tcPr marL="91450" marR="91450" anchor="ctr" horzOverflow="overflow"/>
                </a:tc>
                <a:extLst>
                  <a:ext uri="{0D108BD9-81ED-4DB2-BD59-A6C34878D82A}">
                    <a16:rowId xmlns:a16="http://schemas.microsoft.com/office/drawing/2014/main" val="1678831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3725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BC1DE-46CC-E4B6-192F-273D2E90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95819F7-46EA-5D87-2F04-33A11D8A70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504056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Supertype - Subtypes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9341A73-C820-FE76-BE11-D9E5E8841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 type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a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generic entity type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that is subdivided into </a:t>
            </a: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subtypes.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a subset of a super type that shares the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attributes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of the super type plus it has some of its own attributes that distinguish it from other subtypes.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super type and subtypes employ the concept of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Categorization.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the concept that some entities are subtypes of other more general entities. E.g. Bird, Vehicle etc.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Categorization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is the concept that an entity comes in various subtypes.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Super type &amp; Subtype representation is used to represent the entities that are very much similar.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Attribute Inheritance: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Subtype entities inherit values of all attributes of the supertype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Subtype entities inherit their primary key from their supertype</a:t>
            </a:r>
          </a:p>
          <a:p>
            <a:pPr lvl="1" algn="just">
              <a:spcBef>
                <a:spcPts val="300"/>
              </a:spcBef>
              <a:defRPr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 instance of a subtype is also an instance of the supertype</a:t>
            </a: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194E1-A6B7-5F24-A85A-B4CD72CC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4267A38-C309-4B6D-17E3-25DA33EC8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57043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984D-556B-898A-39D9-C45826B5B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2336F79-B623-D289-2287-09948E4398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1870" y="189458"/>
            <a:ext cx="7676514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Notations of Supertype - Subtypes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292CA5-4D66-C967-0641-E00A349C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ADD0453-6C5E-8CB5-03EF-3A8FEC6D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9A0614-7B8B-03AC-043F-E2C7E8FF7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681918"/>
            <a:ext cx="5246142" cy="584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359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C669A-E156-535D-0F18-3B514B679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336B580-C8DE-5045-C721-B4DF3B4FE7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Notations of Supertype - Subtypes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5E150E-5237-C95A-1B22-224EFC5B9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5507508"/>
            <a:ext cx="8407721" cy="801812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Different modeling tools may have different notation for the same modeling constructs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A0E32D-EAE5-5064-8800-6624E6D4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7F5CE38-3ED3-16F7-96B0-BF3FD162A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3" descr="FIG04_01b">
            <a:extLst>
              <a:ext uri="{FF2B5EF4-FFF2-40B4-BE49-F238E27FC236}">
                <a16:creationId xmlns:a16="http://schemas.microsoft.com/office/drawing/2014/main" id="{B5A53B11-1281-A851-F8BF-CC2DDF38E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26703"/>
            <a:ext cx="8516496" cy="4790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64162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92432-2DB6-C988-DFBF-4A13A1102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0A72A28-BDC8-1CFB-8092-D52A961C2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Employee Supertype with Three Subtypes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8025F-8DBA-C6C7-D023-EC32405DE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F79DC75-8BB3-BB0E-73A7-7A1AE0C55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2" descr="FIG4-2">
            <a:extLst>
              <a:ext uri="{FF2B5EF4-FFF2-40B4-BE49-F238E27FC236}">
                <a16:creationId xmlns:a16="http://schemas.microsoft.com/office/drawing/2014/main" id="{AEB70ACC-60BA-0DEC-0670-6CD1C08AC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764704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DEEE5D0A-0BF0-B797-AA36-76CA1EA90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764704"/>
            <a:ext cx="313454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employee subtypes will have </a:t>
            </a:r>
            <a:r>
              <a:rPr lang="en-US" altLang="en-US" sz="1800" dirty="0" err="1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Emp_Number</a:t>
            </a:r>
            <a:r>
              <a:rPr lang="en-US" altLang="en-US" sz="18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Name, Address, and Date-Hired attributes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2AD9ED07-49B2-08EF-D435-15B39AC7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140968"/>
            <a:ext cx="29698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Each employee subtype also has its own attributes</a:t>
            </a:r>
          </a:p>
        </p:txBody>
      </p:sp>
    </p:spTree>
    <p:extLst>
      <p:ext uri="{BB962C8B-B14F-4D97-AF65-F5344CB8AC3E}">
        <p14:creationId xmlns:p14="http://schemas.microsoft.com/office/powerpoint/2010/main" val="17163314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B855-AEFB-DC50-3497-59AE1C8E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ED00452-E76A-A284-1CEC-8220E3469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Supertype – Subtypes Relationship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4B7EEF-30A2-DF48-F5F9-B340905A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1C4E633-13C3-FBA5-68C9-128A5AE9E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2C775-E6C6-6D25-CDA4-253F0190D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97" y="764704"/>
            <a:ext cx="5341199" cy="5316166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EAB1FD5A-F019-C4E9-040C-D8A1BD847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300" y="2204864"/>
            <a:ext cx="23337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attributes of both subtypes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F99D0621-C163-0504-E1BF-E008D07C8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5085184"/>
            <a:ext cx="313454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Specific attributes of the subtypes of faculty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28B3E28-C3BC-0557-257C-6CA4E2CF4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1" y="682972"/>
            <a:ext cx="358318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relationship between each subtype and its super type is called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ISA relationship.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relationship is read from the subtype to the super type.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cardinality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of the relationship from subtype to super type is always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mandatory one,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and the cardinality and from super type to subtype is </a:t>
            </a:r>
            <a:r>
              <a:rPr lang="en-US" sz="22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optionally one.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Henceforth, cardinality may be omitted in diagram .</a:t>
            </a:r>
          </a:p>
          <a:p>
            <a:pPr algn="just">
              <a:spcBef>
                <a:spcPts val="300"/>
              </a:spcBef>
              <a:defRPr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0899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A535-76A0-EACC-989B-FFD1167FB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EBC29C1-F0D4-1C1A-4621-97F972122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Supertype – Subtypes of a Hospital System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E2D529-20C1-5569-EE8E-B9366AF2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3A23273-EA2B-80C0-89A6-5953BA89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 descr="FIG4-3">
            <a:extLst>
              <a:ext uri="{FF2B5EF4-FFF2-40B4-BE49-F238E27FC236}">
                <a16:creationId xmlns:a16="http://schemas.microsoft.com/office/drawing/2014/main" id="{E59CFB2C-35CF-9306-EA7F-4DD636DAC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00088"/>
            <a:ext cx="8610600" cy="562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3833179E-5C15-AD60-6360-C7CCFE05A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822325"/>
            <a:ext cx="2667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Both outpatients and resident patients are cared for by a responsible physician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4B024638-E482-517B-0CAE-8A7CCF87A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860925"/>
            <a:ext cx="3352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Only resident patients are assigned to a bed</a:t>
            </a:r>
          </a:p>
        </p:txBody>
      </p:sp>
    </p:spTree>
    <p:extLst>
      <p:ext uri="{BB962C8B-B14F-4D97-AF65-F5344CB8AC3E}">
        <p14:creationId xmlns:p14="http://schemas.microsoft.com/office/powerpoint/2010/main" val="37895706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98224-6574-2253-B971-8FCE3DA9F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7017413-953F-9518-A2A3-047D917EC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BE645E-72F5-BE77-A2C3-4FDCBC90E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209EED96-0739-56F5-ABCA-095EC40FA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2" descr="FIG4-4A">
            <a:extLst>
              <a:ext uri="{FF2B5EF4-FFF2-40B4-BE49-F238E27FC236}">
                <a16:creationId xmlns:a16="http://schemas.microsoft.com/office/drawing/2014/main" id="{E3A23B13-A91C-151A-F076-791D56937A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0" y="764704"/>
            <a:ext cx="8714466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34CA259C-C19A-4077-5323-A4F19308B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3893" y="3807168"/>
            <a:ext cx="21494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All three types of vehicles have common attributes</a:t>
            </a:r>
          </a:p>
        </p:txBody>
      </p:sp>
    </p:spTree>
    <p:extLst>
      <p:ext uri="{BB962C8B-B14F-4D97-AF65-F5344CB8AC3E}">
        <p14:creationId xmlns:p14="http://schemas.microsoft.com/office/powerpoint/2010/main" val="38474273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840D-98C8-1611-60DB-738F1552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63C5D64-E44E-7A52-5230-1904F2C5C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EC776A-B9B0-69CE-E2A6-85B8C7D7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809C11E-EBA2-1D9C-E1C9-4D987EA92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 descr="FIG4-4B">
            <a:extLst>
              <a:ext uri="{FF2B5EF4-FFF2-40B4-BE49-F238E27FC236}">
                <a16:creationId xmlns:a16="http://schemas.microsoft.com/office/drawing/2014/main" id="{8D2F663B-218D-EF44-C2A3-09103A688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692696"/>
            <a:ext cx="716280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1DBF68E3-0DFA-E6AF-9DBE-A9DFCC0D9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838" y="764704"/>
            <a:ext cx="21494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Common attributes are connected with the supertype.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67978-8E75-D81F-81BF-311AF324E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949280"/>
            <a:ext cx="8407721" cy="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300"/>
              </a:spcBef>
              <a:defRPr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 subtype for </a:t>
            </a:r>
            <a:r>
              <a:rPr 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Motorcycle,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as it doesn’t have any specific attribute(s).</a:t>
            </a:r>
          </a:p>
        </p:txBody>
      </p:sp>
    </p:spTree>
    <p:extLst>
      <p:ext uri="{BB962C8B-B14F-4D97-AF65-F5344CB8AC3E}">
        <p14:creationId xmlns:p14="http://schemas.microsoft.com/office/powerpoint/2010/main" val="3325677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4072-21EB-F908-7AB3-7300DA95C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77E0397-7B06-B6D7-5869-5CB642BAEE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F986CA-54EC-7351-BD0D-DAE78A0EC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493E268-F407-E8A9-CD7A-1E46F536E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2" descr="FIG4-5A">
            <a:extLst>
              <a:ext uri="{FF2B5EF4-FFF2-40B4-BE49-F238E27FC236}">
                <a16:creationId xmlns:a16="http://schemas.microsoft.com/office/drawing/2014/main" id="{8B009685-2F91-4C65-48B3-E771D276D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915400" cy="517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E277CF8D-B216-D128-AC0C-1D7E5074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581400"/>
            <a:ext cx="1981200" cy="2123658"/>
          </a:xfrm>
          <a:prstGeom prst="rect">
            <a:avLst/>
          </a:prstGeom>
          <a:solidFill>
            <a:schemeClr val="accent1">
              <a:alpha val="3019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2400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0000"/>
                </a:solidFill>
                <a:latin typeface="Times New Roman" panose="02020603050405020304" pitchFamily="18" charset="0"/>
              </a:rPr>
              <a:t>Only applies to manufactured parts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E310ABA-7267-774A-02A8-7303560CC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914400"/>
            <a:ext cx="5105400" cy="2590800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Applies only to purchased parts</a:t>
            </a:r>
          </a:p>
        </p:txBody>
      </p:sp>
    </p:spTree>
    <p:extLst>
      <p:ext uri="{BB962C8B-B14F-4D97-AF65-F5344CB8AC3E}">
        <p14:creationId xmlns:p14="http://schemas.microsoft.com/office/powerpoint/2010/main" val="29963629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E7241-97BC-1A70-289A-BF06F5999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32321CBA-7F7C-7BDD-09FF-65C196E1ED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2E3E9-5BB7-14C1-2D35-BE755D944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B4D05258-087B-8747-D7C2-FF646EAA5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2" descr="FIG4-5B">
            <a:extLst>
              <a:ext uri="{FF2B5EF4-FFF2-40B4-BE49-F238E27FC236}">
                <a16:creationId xmlns:a16="http://schemas.microsoft.com/office/drawing/2014/main" id="{B1BF6D85-FFD1-AE67-7B38-E480FDA99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19138"/>
            <a:ext cx="7467600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7">
            <a:extLst>
              <a:ext uri="{FF2B5EF4-FFF2-40B4-BE49-F238E27FC236}">
                <a16:creationId xmlns:a16="http://schemas.microsoft.com/office/drawing/2014/main" id="{B960BBB5-0B95-9B87-9B3F-34E3BC6D4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674" y="4149080"/>
            <a:ext cx="22753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Created 2 subtypes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44B6C181-14C0-8D39-6A5E-FAC194768E0A}"/>
              </a:ext>
            </a:extLst>
          </p:cNvPr>
          <p:cNvGrpSpPr>
            <a:grpSpLocks/>
          </p:cNvGrpSpPr>
          <p:nvPr/>
        </p:nvGrpSpPr>
        <p:grpSpPr bwMode="auto">
          <a:xfrm>
            <a:off x="353368" y="2996952"/>
            <a:ext cx="8161338" cy="3322638"/>
            <a:chOff x="272" y="1824"/>
            <a:chExt cx="5141" cy="2093"/>
          </a:xfrm>
        </p:grpSpPr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9B510E4-FC9A-8F36-6660-84467A3C9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471"/>
              <a:ext cx="5141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None/>
              </a:pPr>
              <a:r>
                <a:rPr lang="en-US" sz="2000" dirty="0">
                  <a:solidFill>
                    <a:srgbClr val="0000CC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Note:</a:t>
              </a:r>
              <a:r>
                <a:rPr lang="en-US" sz="2000" dirty="0">
                  <a:latin typeface="Cambria" panose="02040503050406030204" pitchFamily="18" charset="0"/>
                  <a:ea typeface="Cambria" panose="02040503050406030204" pitchFamily="18" charset="0"/>
                </a:rPr>
                <a:t> Multivalued attribute is replaced by a relationship to another entity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 dirty="0">
                <a:solidFill>
                  <a:srgbClr val="990000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D7667375-D3EF-85D2-C1CA-C0391B910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824"/>
              <a:ext cx="1160" cy="1536"/>
            </a:xfrm>
            <a:prstGeom prst="rect">
              <a:avLst/>
            </a:prstGeom>
            <a:noFill/>
            <a:ln w="15875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>
                <a:solidFill>
                  <a:srgbClr val="990000"/>
                </a:solidFill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0653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19C4D-85B8-206E-D24F-FDFE822B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D8DF6E4-FC67-58DB-D752-C22462C396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Generalization Constraints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7F616D8-8D9D-2FCE-B7C0-5C28B5FCD7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618774"/>
            <a:ext cx="8640960" cy="4898458"/>
          </a:xfrm>
        </p:spPr>
        <p:txBody>
          <a:bodyPr/>
          <a:lstStyle/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 Completeness Constraint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 the subtypes have been defined and there can’t be any further subtypes.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Exhaustive / Non-Exhaustive Subtypes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 Disjointness Constraint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Exclusive / Non-Exclusive Subtypes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FE0797-7789-70BB-C419-310156B95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548152"/>
              </p:ext>
            </p:extLst>
          </p:nvPr>
        </p:nvGraphicFramePr>
        <p:xfrm>
          <a:off x="539552" y="2420888"/>
          <a:ext cx="835292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358">
                  <a:extLst>
                    <a:ext uri="{9D8B030D-6E8A-4147-A177-3AD203B41FA5}">
                      <a16:colId xmlns:a16="http://schemas.microsoft.com/office/drawing/2014/main" val="3472293431"/>
                    </a:ext>
                  </a:extLst>
                </a:gridCol>
                <a:gridCol w="912539">
                  <a:extLst>
                    <a:ext uri="{9D8B030D-6E8A-4147-A177-3AD203B41FA5}">
                      <a16:colId xmlns:a16="http://schemas.microsoft.com/office/drawing/2014/main" val="642294968"/>
                    </a:ext>
                  </a:extLst>
                </a:gridCol>
                <a:gridCol w="2527031">
                  <a:extLst>
                    <a:ext uri="{9D8B030D-6E8A-4147-A177-3AD203B41FA5}">
                      <a16:colId xmlns:a16="http://schemas.microsoft.com/office/drawing/2014/main" val="234967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Ans?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Rule / 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4304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  <a:cs typeface="Calibri" panose="020F0502020204030204" pitchFamily="34" charset="0"/>
                        </a:rPr>
                        <a:t>Each instance of a supertype must be a member of at least one subtype?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CC"/>
                          </a:solidFill>
                          <a:latin typeface="+mn-lt"/>
                        </a:rPr>
                        <a:t>Total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984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CC"/>
                          </a:solidFill>
                          <a:latin typeface="+mn-lt"/>
                        </a:rPr>
                        <a:t>Partial Specialization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07518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66A20A-7B92-40FA-498D-70F0C9076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48676"/>
              </p:ext>
            </p:extLst>
          </p:nvPr>
        </p:nvGraphicFramePr>
        <p:xfrm>
          <a:off x="539552" y="4725144"/>
          <a:ext cx="835292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3358">
                  <a:extLst>
                    <a:ext uri="{9D8B030D-6E8A-4147-A177-3AD203B41FA5}">
                      <a16:colId xmlns:a16="http://schemas.microsoft.com/office/drawing/2014/main" val="3472293431"/>
                    </a:ext>
                  </a:extLst>
                </a:gridCol>
                <a:gridCol w="912539">
                  <a:extLst>
                    <a:ext uri="{9D8B030D-6E8A-4147-A177-3AD203B41FA5}">
                      <a16:colId xmlns:a16="http://schemas.microsoft.com/office/drawing/2014/main" val="642294968"/>
                    </a:ext>
                  </a:extLst>
                </a:gridCol>
                <a:gridCol w="2527031">
                  <a:extLst>
                    <a:ext uri="{9D8B030D-6E8A-4147-A177-3AD203B41FA5}">
                      <a16:colId xmlns:a16="http://schemas.microsoft.com/office/drawing/2014/main" val="2349676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Ans?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  <a:latin typeface="+mn-lt"/>
                        </a:rPr>
                        <a:t>Rule / Constraint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843045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2400" dirty="0">
                          <a:latin typeface="+mn-lt"/>
                          <a:cs typeface="Calibri" panose="020F0502020204030204" pitchFamily="34" charset="0"/>
                        </a:rPr>
                        <a:t>Each instance of a super type is categorized as exactly one subtype?</a:t>
                      </a:r>
                      <a:endParaRPr lang="en-US" sz="24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+mn-lt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CC"/>
                          </a:solidFill>
                          <a:latin typeface="+mn-lt"/>
                        </a:rPr>
                        <a:t>Disjoint (d)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949843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0000"/>
                          </a:solidFill>
                          <a:latin typeface="+mn-lt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00CC"/>
                          </a:solidFill>
                          <a:latin typeface="+mn-lt"/>
                        </a:rPr>
                        <a:t>Overlap (o)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075189"/>
                  </a:ext>
                </a:extLst>
              </a:tr>
            </a:tbl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C6A7A71-3245-198C-7B3A-6B38BB3A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EF9019E5-072B-0B77-EDD6-5C95FE4D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9140830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AAD8-7806-5859-91BB-1627658F5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346CA4B-FE0F-80CE-5588-08C50F878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 Specialization Rule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24B78D7-55D1-9AAA-D84F-98A93AE31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A9FFD237-56EE-688C-8875-D18E901E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7" name="Picture 2" descr="FIG4-6A">
            <a:extLst>
              <a:ext uri="{FF2B5EF4-FFF2-40B4-BE49-F238E27FC236}">
                <a16:creationId xmlns:a16="http://schemas.microsoft.com/office/drawing/2014/main" id="{976630E3-6414-9CCD-2EAC-6F9E899EB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08720"/>
            <a:ext cx="8305800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5">
            <a:extLst>
              <a:ext uri="{FF2B5EF4-FFF2-40B4-BE49-F238E27FC236}">
                <a16:creationId xmlns:a16="http://schemas.microsoft.com/office/drawing/2014/main" id="{8258EA37-464D-52FE-B0F2-C6C2F584F97C}"/>
              </a:ext>
            </a:extLst>
          </p:cNvPr>
          <p:cNvGrpSpPr>
            <a:grpSpLocks/>
          </p:cNvGrpSpPr>
          <p:nvPr/>
        </p:nvGrpSpPr>
        <p:grpSpPr bwMode="auto">
          <a:xfrm>
            <a:off x="3520456" y="2754188"/>
            <a:ext cx="3373438" cy="1006475"/>
            <a:chOff x="1410" y="1908"/>
            <a:chExt cx="2125" cy="634"/>
          </a:xfrm>
        </p:grpSpPr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69B7C583-274A-B59B-9B46-B0CE260580D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23188">
              <a:off x="1410" y="1946"/>
              <a:ext cx="390" cy="66"/>
            </a:xfrm>
            <a:prstGeom prst="leftArrow">
              <a:avLst>
                <a:gd name="adj1" fmla="val 50000"/>
                <a:gd name="adj2" fmla="val 62500"/>
              </a:avLst>
            </a:prstGeom>
            <a:solidFill>
              <a:srgbClr val="990000"/>
            </a:solidFill>
            <a:ln w="9525">
              <a:solidFill>
                <a:srgbClr val="99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81EF1F2E-2B2B-0449-970B-FDA0251A6A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5" y="1908"/>
              <a:ext cx="1690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99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 patient must be either an outpatient or a resident patient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37554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8CA6-7844-7B46-2E23-FACE1FC2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A852F13-FF16-8625-4729-BF6E56D9C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Partial  Specialization Rule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08CCFE6-07D1-CCB0-A2C3-2C7A1E616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A5C59E2B-2BB2-91CC-1113-7EB69229B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584" y="621216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3" name="Picture 2" descr="FIG4-6B">
            <a:extLst>
              <a:ext uri="{FF2B5EF4-FFF2-40B4-BE49-F238E27FC236}">
                <a16:creationId xmlns:a16="http://schemas.microsoft.com/office/drawing/2014/main" id="{F506F8A8-DE3C-7C18-6D50-67CCAD8B7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36712"/>
            <a:ext cx="81534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5">
            <a:extLst>
              <a:ext uri="{FF2B5EF4-FFF2-40B4-BE49-F238E27FC236}">
                <a16:creationId xmlns:a16="http://schemas.microsoft.com/office/drawing/2014/main" id="{78E0C4CF-AF37-A4C7-33F2-4A0CAD01A4D8}"/>
              </a:ext>
            </a:extLst>
          </p:cNvPr>
          <p:cNvGrpSpPr>
            <a:grpSpLocks/>
          </p:cNvGrpSpPr>
          <p:nvPr/>
        </p:nvGrpSpPr>
        <p:grpSpPr bwMode="auto">
          <a:xfrm>
            <a:off x="5133902" y="2694087"/>
            <a:ext cx="3663951" cy="701675"/>
            <a:chOff x="3142" y="1526"/>
            <a:chExt cx="2308" cy="442"/>
          </a:xfrm>
        </p:grpSpPr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64ED4765-F548-8590-C3CB-128777D828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058121">
              <a:off x="3142" y="1753"/>
              <a:ext cx="591" cy="188"/>
            </a:xfrm>
            <a:prstGeom prst="leftArrow">
              <a:avLst>
                <a:gd name="adj1" fmla="val 48880"/>
                <a:gd name="adj2" fmla="val 59488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341168B1-28C0-D351-D469-FC72F7B1C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0" y="1526"/>
              <a:ext cx="1690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000" dirty="0">
                  <a:solidFill>
                    <a:srgbClr val="99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 vehicle could be a car, a truck, or neither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37149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83BE-90FE-BBD8-F699-64DDF13D5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8A7A2275-9BD5-85FB-A424-BDB87E2F1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Disjoint Rule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E62D27-49FF-8BAD-04E1-6F6DC22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67B267E4-F5AA-DAE3-9A40-814801CF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584" y="621216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7" name="Picture 2" descr="FIG4-7A">
            <a:extLst>
              <a:ext uri="{FF2B5EF4-FFF2-40B4-BE49-F238E27FC236}">
                <a16:creationId xmlns:a16="http://schemas.microsoft.com/office/drawing/2014/main" id="{DD32CD7D-5C58-EC71-EC8C-E8A5D35A3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836712"/>
            <a:ext cx="8610600" cy="499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5">
            <a:extLst>
              <a:ext uri="{FF2B5EF4-FFF2-40B4-BE49-F238E27FC236}">
                <a16:creationId xmlns:a16="http://schemas.microsoft.com/office/drawing/2014/main" id="{148BB62D-B3F1-E58D-04E8-C804A549761E}"/>
              </a:ext>
            </a:extLst>
          </p:cNvPr>
          <p:cNvGrpSpPr>
            <a:grpSpLocks/>
          </p:cNvGrpSpPr>
          <p:nvPr/>
        </p:nvGrpSpPr>
        <p:grpSpPr bwMode="auto">
          <a:xfrm>
            <a:off x="3516313" y="2841156"/>
            <a:ext cx="4271963" cy="684213"/>
            <a:chOff x="1639" y="2136"/>
            <a:chExt cx="2691" cy="431"/>
          </a:xfrm>
        </p:grpSpPr>
        <p:sp>
          <p:nvSpPr>
            <p:cNvPr id="9" name="AutoShape 6">
              <a:extLst>
                <a:ext uri="{FF2B5EF4-FFF2-40B4-BE49-F238E27FC236}">
                  <a16:creationId xmlns:a16="http://schemas.microsoft.com/office/drawing/2014/main" id="{42168EEB-3005-31D4-EEE8-CB6F4B36E1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51792">
              <a:off x="1639" y="2136"/>
              <a:ext cx="437" cy="121"/>
            </a:xfrm>
            <a:prstGeom prst="leftArrow">
              <a:avLst>
                <a:gd name="adj1" fmla="val 50000"/>
                <a:gd name="adj2" fmla="val 83333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F09F1085-AA0F-CBC4-B24F-F8147BFC7C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7" y="2160"/>
              <a:ext cx="225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dirty="0">
                  <a:solidFill>
                    <a:srgbClr val="99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A patient can either be outpatient or resident, but not both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45328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F1755-1EB9-CBB9-0668-9047B01D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0A55F54F-2B78-7C30-855F-E91656F885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Overlap Rule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D73BB85-58BA-79BA-D0F8-5631997AA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F2EFA3D3-9AE6-B168-C234-2BE7216A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66584" y="621216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3" name="Picture 2" descr="FIG4-7B">
            <a:extLst>
              <a:ext uri="{FF2B5EF4-FFF2-40B4-BE49-F238E27FC236}">
                <a16:creationId xmlns:a16="http://schemas.microsoft.com/office/drawing/2014/main" id="{A946842B-1BC2-7F58-7F65-05A36E2F6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51768"/>
            <a:ext cx="8610600" cy="408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7D00DFBD-B796-061A-D477-EA7D1BDB941D}"/>
              </a:ext>
            </a:extLst>
          </p:cNvPr>
          <p:cNvGrpSpPr>
            <a:grpSpLocks/>
          </p:cNvGrpSpPr>
          <p:nvPr/>
        </p:nvGrpSpPr>
        <p:grpSpPr bwMode="auto">
          <a:xfrm>
            <a:off x="3131840" y="2800697"/>
            <a:ext cx="2590800" cy="830262"/>
            <a:chOff x="1920" y="2544"/>
            <a:chExt cx="1632" cy="523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9F5CAB3A-C957-EE5B-0575-B916BB0D9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640"/>
              <a:ext cx="348" cy="118"/>
            </a:xfrm>
            <a:prstGeom prst="leftArrow">
              <a:avLst>
                <a:gd name="adj1" fmla="val 50000"/>
                <a:gd name="adj2" fmla="val 45313"/>
              </a:avLst>
            </a:prstGeom>
            <a:solidFill>
              <a:srgbClr val="9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600"/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35F2E5A6-7075-A373-B7A7-98C0B121F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6" y="2544"/>
              <a:ext cx="122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600" dirty="0">
                  <a:solidFill>
                    <a:srgbClr val="990000"/>
                  </a:solidFill>
                  <a:latin typeface="Times New Roman" panose="02020603050405020304" pitchFamily="18" charset="0"/>
                </a:rPr>
                <a:t>A part may be both purchased and manufactured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353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C51E9-0B20-2DF2-403F-A75FB9D7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9E184D8-DE64-C0DD-D942-725EAD9F7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 Discriminators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7D61E664-64D0-BFE6-9E4E-3EA68C8C3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618774"/>
            <a:ext cx="8640960" cy="4898458"/>
          </a:xfrm>
        </p:spPr>
        <p:txBody>
          <a:bodyPr/>
          <a:lstStyle/>
          <a:p>
            <a:pPr marL="341313" indent="-28575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attribute of the super type whose values determine the target subtype(s)</a:t>
            </a:r>
          </a:p>
          <a:p>
            <a:pPr marL="341313" indent="-28575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Disjoint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– a simple/atomic attribute with alternative values to indicate the possible subtypes</a:t>
            </a:r>
          </a:p>
          <a:p>
            <a:pPr marL="341313" indent="-28575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Overlapping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– a composite attribute whose subparts pertain to different subtypes. Each subpart contains a Boolean value to indicate whether or not the instance belongs to the associated subtype</a:t>
            </a: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73088" indent="-287338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34CFC69-25F9-4A8D-A412-19291ACF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81328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0E97C37A-59A6-AFEA-6222-AEA161A4C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343029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BB37-4A56-5301-C1F4-7AA6D3DCB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7BE0129-3B93-20E4-514D-A1D5B69C8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 Discriminator </a:t>
            </a:r>
            <a:r>
              <a:rPr lang="en-US" altLang="en-US" sz="2800" b="1" u="sng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(Disjoint Rule)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F5118DB-9FEE-1158-1E7A-C37A028C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09320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CC0F0D10-3397-26BC-7F03-FA8CA02E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4" name="Picture 2" descr="FIG4-8">
            <a:extLst>
              <a:ext uri="{FF2B5EF4-FFF2-40B4-BE49-F238E27FC236}">
                <a16:creationId xmlns:a16="http://schemas.microsoft.com/office/drawing/2014/main" id="{38948871-8860-D47C-6160-827AFE33F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739329"/>
            <a:ext cx="8153400" cy="543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D27D563D-A542-85FE-2E79-76D7714B86C4}"/>
              </a:ext>
            </a:extLst>
          </p:cNvPr>
          <p:cNvGrpSpPr>
            <a:grpSpLocks/>
          </p:cNvGrpSpPr>
          <p:nvPr/>
        </p:nvGrpSpPr>
        <p:grpSpPr bwMode="auto">
          <a:xfrm>
            <a:off x="2528888" y="764729"/>
            <a:ext cx="5867400" cy="3276600"/>
            <a:chOff x="1632" y="384"/>
            <a:chExt cx="3696" cy="2112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407B8BBA-2877-13EF-6309-7C14B7B73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680"/>
              <a:ext cx="1584" cy="816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AA25DE1-FC47-9287-A4C3-D07E9E1D7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84"/>
              <a:ext cx="1056" cy="720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411E19E0-7682-FE96-D6D0-3EFA8CD48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776"/>
              <a:ext cx="1584" cy="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A simple attribute with different possible values indicating the subtype</a:t>
              </a:r>
            </a:p>
          </p:txBody>
        </p:sp>
        <p:cxnSp>
          <p:nvCxnSpPr>
            <p:cNvPr id="10" name="AutoShape 8">
              <a:extLst>
                <a:ext uri="{FF2B5EF4-FFF2-40B4-BE49-F238E27FC236}">
                  <a16:creationId xmlns:a16="http://schemas.microsoft.com/office/drawing/2014/main" id="{4E48B13A-EC2B-97F0-8CE0-10C68FA5649C}"/>
                </a:ext>
              </a:extLst>
            </p:cNvPr>
            <p:cNvCxnSpPr>
              <a:cxnSpLocks noChangeShapeType="1"/>
              <a:stCxn id="9" idx="0"/>
              <a:endCxn id="8" idx="3"/>
            </p:cNvCxnSpPr>
            <p:nvPr/>
          </p:nvCxnSpPr>
          <p:spPr bwMode="auto">
            <a:xfrm rot="5400000" flipH="1">
              <a:off x="3724" y="964"/>
              <a:ext cx="1032" cy="592"/>
            </a:xfrm>
            <a:prstGeom prst="bentConnector2">
              <a:avLst/>
            </a:prstGeom>
            <a:noFill/>
            <a:ln w="9525">
              <a:solidFill>
                <a:srgbClr val="990000"/>
              </a:solidFill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AutoShape 9">
              <a:extLst>
                <a:ext uri="{FF2B5EF4-FFF2-40B4-BE49-F238E27FC236}">
                  <a16:creationId xmlns:a16="http://schemas.microsoft.com/office/drawing/2014/main" id="{955922A2-2FD7-D6A3-DC2C-6FE7717E415F}"/>
                </a:ext>
              </a:extLst>
            </p:cNvPr>
            <p:cNvCxnSpPr>
              <a:cxnSpLocks noChangeShapeType="1"/>
              <a:stCxn id="9" idx="1"/>
              <a:endCxn id="7" idx="3"/>
            </p:cNvCxnSpPr>
            <p:nvPr/>
          </p:nvCxnSpPr>
          <p:spPr bwMode="auto">
            <a:xfrm flipH="1">
              <a:off x="3224" y="2065"/>
              <a:ext cx="520" cy="23"/>
            </a:xfrm>
            <a:prstGeom prst="straightConnector1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41455692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661D-DD04-D3FE-04AD-0124B533B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1CC59EC-D71F-263A-9516-0E3949658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Subtype Discriminator </a:t>
            </a:r>
            <a:r>
              <a:rPr lang="en-US" altLang="en-US" sz="2800" b="1" u="sng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(Overlap Rule)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1988FA2-0C74-F0BB-3F22-750DC8C05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309320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Slide Number Placeholder 23">
            <a:extLst>
              <a:ext uri="{FF2B5EF4-FFF2-40B4-BE49-F238E27FC236}">
                <a16:creationId xmlns:a16="http://schemas.microsoft.com/office/drawing/2014/main" id="{47D0771F-5434-09A7-BC18-3654ADE1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5304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3" name="Picture 2" descr="FIG4-9">
            <a:extLst>
              <a:ext uri="{FF2B5EF4-FFF2-40B4-BE49-F238E27FC236}">
                <a16:creationId xmlns:a16="http://schemas.microsoft.com/office/drawing/2014/main" id="{223358D3-D56F-B88B-8843-EE444C761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88429"/>
            <a:ext cx="8763000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4">
            <a:extLst>
              <a:ext uri="{FF2B5EF4-FFF2-40B4-BE49-F238E27FC236}">
                <a16:creationId xmlns:a16="http://schemas.microsoft.com/office/drawing/2014/main" id="{84A815DA-19D2-F95E-864F-C97F42F642E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802729"/>
            <a:ext cx="8077200" cy="4343400"/>
            <a:chOff x="672" y="384"/>
            <a:chExt cx="5088" cy="2736"/>
          </a:xfrm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D328A72-ADAD-160C-8E62-979372D52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52"/>
              <a:ext cx="2112" cy="768"/>
            </a:xfrm>
            <a:prstGeom prst="rect">
              <a:avLst/>
            </a:prstGeom>
            <a:noFill/>
            <a:ln w="2540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967FE372-3D25-6F40-D198-84A8D3CCE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912"/>
              <a:ext cx="1584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A composite attribute with sub-attributes indicating “yes” or “no” to determine whether it is of each subtype</a:t>
              </a:r>
            </a:p>
          </p:txBody>
        </p:sp>
        <p:cxnSp>
          <p:nvCxnSpPr>
            <p:cNvPr id="15" name="AutoShape 7">
              <a:extLst>
                <a:ext uri="{FF2B5EF4-FFF2-40B4-BE49-F238E27FC236}">
                  <a16:creationId xmlns:a16="http://schemas.microsoft.com/office/drawing/2014/main" id="{8C5DC878-664B-1652-CDBD-610441E1E656}"/>
                </a:ext>
              </a:extLst>
            </p:cNvPr>
            <p:cNvCxnSpPr>
              <a:cxnSpLocks noChangeShapeType="1"/>
              <a:stCxn id="14" idx="1"/>
              <a:endCxn id="13" idx="3"/>
            </p:cNvCxnSpPr>
            <p:nvPr/>
          </p:nvCxnSpPr>
          <p:spPr bwMode="auto">
            <a:xfrm flipH="1">
              <a:off x="2792" y="1374"/>
              <a:ext cx="1384" cy="1362"/>
            </a:xfrm>
            <a:prstGeom prst="straightConnector1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C34DD710-7245-37FB-D242-9BA634979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84"/>
              <a:ext cx="2112" cy="1248"/>
            </a:xfrm>
            <a:custGeom>
              <a:avLst/>
              <a:gdLst>
                <a:gd name="T0" fmla="*/ 2112 w 2112"/>
                <a:gd name="T1" fmla="*/ 1152 h 1248"/>
                <a:gd name="T2" fmla="*/ 2112 w 2112"/>
                <a:gd name="T3" fmla="*/ 0 h 1248"/>
                <a:gd name="T4" fmla="*/ 0 w 2112"/>
                <a:gd name="T5" fmla="*/ 0 h 1248"/>
                <a:gd name="T6" fmla="*/ 0 w 2112"/>
                <a:gd name="T7" fmla="*/ 480 h 1248"/>
                <a:gd name="T8" fmla="*/ 672 w 2112"/>
                <a:gd name="T9" fmla="*/ 672 h 1248"/>
                <a:gd name="T10" fmla="*/ 480 w 2112"/>
                <a:gd name="T11" fmla="*/ 1248 h 1248"/>
                <a:gd name="T12" fmla="*/ 2112 w 2112"/>
                <a:gd name="T13" fmla="*/ 1248 h 1248"/>
                <a:gd name="T14" fmla="*/ 2112 w 2112"/>
                <a:gd name="T15" fmla="*/ 1152 h 1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12"/>
                <a:gd name="T25" fmla="*/ 0 h 1248"/>
                <a:gd name="T26" fmla="*/ 2112 w 2112"/>
                <a:gd name="T27" fmla="*/ 1248 h 124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12" h="1248">
                  <a:moveTo>
                    <a:pt x="2112" y="1152"/>
                  </a:moveTo>
                  <a:lnTo>
                    <a:pt x="2112" y="0"/>
                  </a:lnTo>
                  <a:lnTo>
                    <a:pt x="0" y="0"/>
                  </a:lnTo>
                  <a:lnTo>
                    <a:pt x="0" y="480"/>
                  </a:lnTo>
                  <a:lnTo>
                    <a:pt x="672" y="672"/>
                  </a:lnTo>
                  <a:lnTo>
                    <a:pt x="480" y="1248"/>
                  </a:lnTo>
                  <a:lnTo>
                    <a:pt x="2112" y="1248"/>
                  </a:lnTo>
                  <a:lnTo>
                    <a:pt x="2112" y="1152"/>
                  </a:lnTo>
                  <a:close/>
                </a:path>
              </a:pathLst>
            </a:custGeom>
            <a:noFill/>
            <a:ln w="19050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14E71CB8-EF46-30D8-DECF-5E4CD9B5E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40" y="1008"/>
              <a:ext cx="336" cy="192"/>
            </a:xfrm>
            <a:prstGeom prst="line">
              <a:avLst/>
            </a:prstGeom>
            <a:noFill/>
            <a:ln w="952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09360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764F3-9B28-E915-AB07-5CCDF15A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FD3FE2C-E90C-36FB-1647-025E42415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756084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Supertype – Subtypes </a:t>
            </a:r>
            <a:r>
              <a:rPr lang="en-US" altLang="en-US" sz="2800" b="1" u="sng" dirty="0" err="1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Hierachy</a:t>
            </a:r>
            <a:endParaRPr lang="en-US" altLang="en-US" sz="2800" b="1" u="sng" dirty="0">
              <a:solidFill>
                <a:srgbClr val="D34817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CF371-0F42-E686-9C03-0294F7D8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E4EBEA87-3F8D-194E-08A3-0723BE3D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76672-50B6-C88B-2226-64198E190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766911"/>
            <a:ext cx="588645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541741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1538-8076-61F0-0427-27758CB4F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549A6F-747D-FC10-9B57-8CA66913C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676506"/>
            <a:ext cx="7992888" cy="592084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BE2EAF7-E5E5-1F88-20A9-0A75E13F4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98246"/>
            <a:ext cx="89644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spcBef>
                <a:spcPts val="0"/>
              </a:spcBef>
              <a:spcAft>
                <a:spcPts val="300"/>
              </a:spcAft>
              <a:buFont typeface="Wingdings 2" panose="05020102010507070707" pitchFamily="18" charset="2"/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Specialization Hierarchy (Tree Structure or Strict Hierarchy)</a:t>
            </a:r>
            <a:endParaRPr lang="en-US" sz="24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ctr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ctr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1249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3531-AA1C-A465-708C-378A369B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A3646C36-EDD7-784C-17B2-81D083CCF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88640"/>
            <a:ext cx="7632700" cy="647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21318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A1B6A3D-5C02-624C-0E8F-0BA23EDA70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Specialization Lattice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9D815EE-0668-C3BA-CC86-3CBD4FC6D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762790"/>
            <a:ext cx="2448272" cy="533400"/>
          </a:xfrm>
        </p:spPr>
        <p:txBody>
          <a:bodyPr/>
          <a:lstStyle/>
          <a:p>
            <a:pPr marL="0" indent="0" eaLnBrk="1" hangingPunct="1">
              <a:spcBef>
                <a:spcPts val="0"/>
              </a:spcBef>
              <a:spcAft>
                <a:spcPts val="300"/>
              </a:spcAft>
              <a:buNone/>
              <a:defRPr/>
            </a:pPr>
            <a:r>
              <a:rPr lang="en-US" sz="2400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Shared Subset</a:t>
            </a:r>
          </a:p>
          <a:p>
            <a:pPr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An entity set that is a subset of two or more supersets.</a:t>
            </a: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211A9F-66FF-D505-B581-D2ADA4044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908" y="620688"/>
            <a:ext cx="6354588" cy="590465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C43A-8EC5-CA46-21EF-197B0C735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B0B3B5E-270B-FA82-9C9C-958BADAF6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88640"/>
            <a:ext cx="8568630" cy="533400"/>
          </a:xfrm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830A1DE-E6BB-AE14-5B27-F33CE152A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620688"/>
            <a:ext cx="8568630" cy="533400"/>
          </a:xfrm>
        </p:spPr>
        <p:txBody>
          <a:bodyPr/>
          <a:lstStyle/>
          <a:p>
            <a:pPr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subtype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is related to any one of the supertypes. </a:t>
            </a: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algn="just" eaLnBrk="1" hangingPunct="1">
              <a:spcBef>
                <a:spcPts val="0"/>
              </a:spcBef>
              <a:spcAft>
                <a:spcPts val="300"/>
              </a:spcAft>
              <a:defRPr/>
            </a:pP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C2862-0C07-19D1-129A-144484A39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483" y="1124744"/>
            <a:ext cx="6303869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9585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FB7C-1543-D377-1753-B37F0F01D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EA8F23F-9637-637C-5198-5E398D2DCB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261466"/>
            <a:ext cx="5040560" cy="503238"/>
          </a:xfrm>
        </p:spPr>
        <p:txBody>
          <a:bodyPr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Entity Clustering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7A11DED-BBE9-9712-E948-EA91CE6D29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1" y="682972"/>
            <a:ext cx="8407721" cy="5194300"/>
          </a:xfrm>
        </p:spPr>
        <p:txBody>
          <a:bodyPr/>
          <a:lstStyle/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Entity clustering is a useful way to present a data model a large and complex systems involving hundreds of entities.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An entity cluster is a </a:t>
            </a:r>
            <a:r>
              <a:rPr lang="en-US" sz="2400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virtual entity type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formed by combining multiple related entities.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Referring to the examples discussed, the entities related employee, patient, part can be clustered together. </a:t>
            </a:r>
          </a:p>
          <a:p>
            <a:pPr algn="just">
              <a:spcBef>
                <a:spcPts val="300"/>
              </a:spcBef>
              <a:defRPr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cardinalities of the relationships of the clustered entities with the other entities remain the same.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B4BFE9-D7C0-8450-6F83-244C87D5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18F24793-F01D-8F48-CA62-36C4C924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284168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684258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904A93-CB81-221B-5F0A-AB1BC4FDA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3062" y="91480"/>
            <a:ext cx="6886575" cy="457200"/>
          </a:xfrm>
        </p:spPr>
        <p:txBody>
          <a:bodyPr/>
          <a:lstStyle/>
          <a:p>
            <a:pPr eaLnBrk="1" hangingPunct="1"/>
            <a:r>
              <a:rPr lang="en-US" altLang="en-US" sz="2400" b="1" u="sng" dirty="0">
                <a:solidFill>
                  <a:srgbClr val="D34817"/>
                </a:solidFill>
                <a:latin typeface="Calibri" panose="020F0502020204030204" pitchFamily="34" charset="0"/>
              </a:rPr>
              <a:t>Reading Material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7B319E3-B4CB-9CFB-2694-5EE6DD035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404664"/>
            <a:ext cx="8610600" cy="306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14400" indent="-4572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 – Design, Implementation and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Carlos Coronel, Steven Morris (13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Modern Database Management: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Jeffery. A. Hoffer (12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Thomas M. Connolly (6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Fundamentals of Database Systems: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Elmasri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B2D1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 System Concepts: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Abraham </a:t>
            </a: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Silberschatz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(7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th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 Ed.)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ts val="575"/>
              </a:spcBef>
              <a:spcAft>
                <a:spcPct val="0"/>
              </a:spcAft>
              <a:buClr>
                <a:srgbClr val="D34817"/>
              </a:buClr>
              <a:buSzPct val="85000"/>
              <a:buFont typeface="+mj-lt"/>
              <a:buAutoNum type="alphaU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Databases Illuminated: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 panose="02020502060401020303" pitchFamily="18" charset="0"/>
                <a:ea typeface="+mn-ea"/>
                <a:cs typeface="+mn-cs"/>
              </a:rPr>
              <a:t>Catherine M. Ricardo (3rd Ed.)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B2D1F"/>
              </a:solidFill>
              <a:effectLst/>
              <a:uLnTx/>
              <a:uFillTx/>
              <a:latin typeface="Perpetua" panose="02020502060401020303" pitchFamily="18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1B749A-3943-494C-697C-1066ED156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642018"/>
              </p:ext>
            </p:extLst>
          </p:nvPr>
        </p:nvGraphicFramePr>
        <p:xfrm>
          <a:off x="1547664" y="3429000"/>
          <a:ext cx="583264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534379763"/>
                    </a:ext>
                  </a:extLst>
                </a:gridCol>
                <a:gridCol w="4824536">
                  <a:extLst>
                    <a:ext uri="{9D8B030D-6E8A-4147-A177-3AD203B41FA5}">
                      <a16:colId xmlns:a16="http://schemas.microsoft.com/office/drawing/2014/main" val="947663522"/>
                    </a:ext>
                  </a:extLst>
                </a:gridCol>
              </a:tblGrid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rgbClr val="FFFF00"/>
                          </a:solidFill>
                        </a:rPr>
                        <a:t>Section(s) / Chapter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93196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5.1, 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53150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Pages 114 to 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555529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Sections 12.1, 12.3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012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Chapter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7612469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Section 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971778"/>
                  </a:ext>
                </a:extLst>
              </a:tr>
              <a:tr h="43197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3.9 to 3.12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9641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8451</TotalTime>
  <Words>1412</Words>
  <Application>Microsoft Office PowerPoint</Application>
  <PresentationFormat>On-screen Show (4:3)</PresentationFormat>
  <Paragraphs>209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Calibri</vt:lpstr>
      <vt:lpstr>Cambria</vt:lpstr>
      <vt:lpstr>Franklin Gothic Book</vt:lpstr>
      <vt:lpstr>Perpetua</vt:lpstr>
      <vt:lpstr>Tahoma</vt:lpstr>
      <vt:lpstr>Times New Roman</vt:lpstr>
      <vt:lpstr>Wingdings 2</vt:lpstr>
      <vt:lpstr>1_Equity</vt:lpstr>
      <vt:lpstr>Equity</vt:lpstr>
      <vt:lpstr>2_Equity</vt:lpstr>
      <vt:lpstr>CC-215 Database Systems</vt:lpstr>
      <vt:lpstr>Outline</vt:lpstr>
      <vt:lpstr>Introduction</vt:lpstr>
      <vt:lpstr>Supertype - Subtypes</vt:lpstr>
      <vt:lpstr>Basic Notations of Supertype - Subtypes</vt:lpstr>
      <vt:lpstr>Basic Notations of Supertype - Subtypes</vt:lpstr>
      <vt:lpstr>Employee Supertype with Three Subtypes</vt:lpstr>
      <vt:lpstr>Supertype – Subtypes Relationship</vt:lpstr>
      <vt:lpstr>Supertype – Subtypes of a Hospital System</vt:lpstr>
      <vt:lpstr>Generalization</vt:lpstr>
      <vt:lpstr>Generalization</vt:lpstr>
      <vt:lpstr>Specialization</vt:lpstr>
      <vt:lpstr>Specialization</vt:lpstr>
      <vt:lpstr>Generalization Constraints</vt:lpstr>
      <vt:lpstr>Total  Specialization Rule</vt:lpstr>
      <vt:lpstr>Partial  Specialization Rule</vt:lpstr>
      <vt:lpstr>Disjoint Rule</vt:lpstr>
      <vt:lpstr>Overlap Rule</vt:lpstr>
      <vt:lpstr>Subtype Discriminators</vt:lpstr>
      <vt:lpstr>Subtype Discriminator (Disjoint Rule)</vt:lpstr>
      <vt:lpstr>Subtype Discriminator (Overlap Rule)</vt:lpstr>
      <vt:lpstr>Supertype – Subtypes Hierachy</vt:lpstr>
      <vt:lpstr>PowerPoint Presentation</vt:lpstr>
      <vt:lpstr>PowerPoint Presentation</vt:lpstr>
      <vt:lpstr>Specialization Lattice</vt:lpstr>
      <vt:lpstr>UNION</vt:lpstr>
      <vt:lpstr>Entity Clustering</vt:lpstr>
      <vt:lpstr>Reading Material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729</cp:revision>
  <dcterms:created xsi:type="dcterms:W3CDTF">2006-05-17T12:38:56Z</dcterms:created>
  <dcterms:modified xsi:type="dcterms:W3CDTF">2025-10-21T17:00:34Z</dcterms:modified>
</cp:coreProperties>
</file>