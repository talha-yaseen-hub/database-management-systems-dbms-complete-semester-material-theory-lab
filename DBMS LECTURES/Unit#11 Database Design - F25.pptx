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 id="2147483675" r:id="rId2"/>
  </p:sldMasterIdLst>
  <p:notesMasterIdLst>
    <p:notesMasterId r:id="rId36"/>
  </p:notesMasterIdLst>
  <p:handoutMasterIdLst>
    <p:handoutMasterId r:id="rId37"/>
  </p:handoutMasterIdLst>
  <p:sldIdLst>
    <p:sldId id="508" r:id="rId3"/>
    <p:sldId id="689" r:id="rId4"/>
    <p:sldId id="690" r:id="rId5"/>
    <p:sldId id="691" r:id="rId6"/>
    <p:sldId id="692" r:id="rId7"/>
    <p:sldId id="693" r:id="rId8"/>
    <p:sldId id="694" r:id="rId9"/>
    <p:sldId id="695" r:id="rId10"/>
    <p:sldId id="696" r:id="rId11"/>
    <p:sldId id="697" r:id="rId12"/>
    <p:sldId id="698" r:id="rId13"/>
    <p:sldId id="699" r:id="rId14"/>
    <p:sldId id="700" r:id="rId15"/>
    <p:sldId id="550" r:id="rId16"/>
    <p:sldId id="701" r:id="rId17"/>
    <p:sldId id="702" r:id="rId18"/>
    <p:sldId id="552" r:id="rId19"/>
    <p:sldId id="703" r:id="rId20"/>
    <p:sldId id="704" r:id="rId21"/>
    <p:sldId id="705" r:id="rId22"/>
    <p:sldId id="706" r:id="rId23"/>
    <p:sldId id="711" r:id="rId24"/>
    <p:sldId id="712" r:id="rId25"/>
    <p:sldId id="481" r:id="rId26"/>
    <p:sldId id="713" r:id="rId27"/>
    <p:sldId id="555" r:id="rId28"/>
    <p:sldId id="714" r:id="rId29"/>
    <p:sldId id="707" r:id="rId30"/>
    <p:sldId id="709" r:id="rId31"/>
    <p:sldId id="710" r:id="rId32"/>
    <p:sldId id="715" r:id="rId33"/>
    <p:sldId id="716" r:id="rId34"/>
    <p:sldId id="717" r:id="rId35"/>
  </p:sldIdLst>
  <p:sldSz cx="9144000" cy="6858000" type="screen4x3"/>
  <p:notesSz cx="6577013" cy="9753600"/>
  <p:defaultTextStyle>
    <a:defPPr>
      <a:defRPr lang="de-AT"/>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849" autoAdjust="0"/>
  </p:normalViewPr>
  <p:slideViewPr>
    <p:cSldViewPr>
      <p:cViewPr varScale="1">
        <p:scale>
          <a:sx n="83" d="100"/>
          <a:sy n="83" d="100"/>
        </p:scale>
        <p:origin x="140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0AAD0ED-A781-1E0C-08F1-838DAA4F9E37}"/>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294607BC-E288-86CE-7F56-042E1BEA9AFC}"/>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A1CA6DAC-FE18-CF2A-C5A2-598AC9A91ECE}"/>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A5A53CB-93CB-DA29-A770-C8923EBBCBEB}"/>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a:defRPr sz="1200"/>
            </a:lvl1pPr>
          </a:lstStyle>
          <a:p>
            <a:fld id="{C275FB0B-5628-44E7-867F-F8BC95E7D545}"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F5D56C3-C91A-6BB0-F1BE-CB95DD32BF4F}"/>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A8B9983E-63E2-2018-6929-5A8E25D38E8C}"/>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a:defRPr sz="1200">
                <a:latin typeface="Arial" charset="0"/>
              </a:defRPr>
            </a:lvl1pPr>
          </a:lstStyle>
          <a:p>
            <a:pPr>
              <a:defRPr/>
            </a:pPr>
            <a:endParaRPr lang="de-AT"/>
          </a:p>
        </p:txBody>
      </p:sp>
      <p:sp>
        <p:nvSpPr>
          <p:cNvPr id="32772" name="Rectangle 4">
            <a:extLst>
              <a:ext uri="{FF2B5EF4-FFF2-40B4-BE49-F238E27FC236}">
                <a16:creationId xmlns:a16="http://schemas.microsoft.com/office/drawing/2014/main" id="{A306130C-EEF0-22FD-A7BF-AE2EF5731423}"/>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E027B0A-2A97-0D46-3BA7-AC87060B7971}"/>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DCDC7CA5-905F-F218-7DE9-641F57B98FEB}"/>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B739C1CD-2B70-FF34-BD69-FC866304E166}"/>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a:defRPr sz="1200"/>
            </a:lvl1pPr>
          </a:lstStyle>
          <a:p>
            <a:fld id="{B3E0791F-E87D-4AFA-933B-38C34A0552AD}" type="slidenum">
              <a:rPr lang="de-AT" altLang="en-US"/>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9066C-DF9C-6154-623E-4D25B5B52A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18D222C8-BBB8-DC40-CF3C-CD3AC346EA7C}"/>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C78B3C-1801-37D9-1221-8203B8C0377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E18224C-0FB0-6B6C-36DF-472BEAAFBA1D}"/>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0C55B2B4-247C-EA5F-5632-4932003653E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7F564B8B-4E0C-7CB4-9998-C3F6C2F8FB96}"/>
              </a:ext>
            </a:extLst>
          </p:cNvPr>
          <p:cNvSpPr>
            <a:spLocks noGrp="1"/>
          </p:cNvSpPr>
          <p:nvPr>
            <p:ph type="dt" sz="half" idx="10"/>
          </p:nvPr>
        </p:nvSpPr>
        <p:spPr/>
        <p:txBody>
          <a:bodyPr/>
          <a:lstStyle>
            <a:lvl1pPr>
              <a:defRPr/>
            </a:lvl1pPr>
          </a:lstStyle>
          <a:p>
            <a:pPr>
              <a:defRPr/>
            </a:pPr>
            <a:fld id="{79CF1446-C9F6-4443-9286-D689B1A0244F}" type="datetime1">
              <a:rPr lang="en-US"/>
              <a:pPr>
                <a:defRPr/>
              </a:pPr>
              <a:t>12/28/2025</a:t>
            </a:fld>
            <a:endParaRPr lang="en-US"/>
          </a:p>
        </p:txBody>
      </p:sp>
      <p:sp>
        <p:nvSpPr>
          <p:cNvPr id="10" name="Footer Placeholder 16">
            <a:extLst>
              <a:ext uri="{FF2B5EF4-FFF2-40B4-BE49-F238E27FC236}">
                <a16:creationId xmlns:a16="http://schemas.microsoft.com/office/drawing/2014/main" id="{5E0D5E70-3B0E-7AD2-9229-A7D9431E7D6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A2A5AF8-A3EC-51E9-D4E2-AD060A79F00B}"/>
              </a:ext>
            </a:extLst>
          </p:cNvPr>
          <p:cNvSpPr>
            <a:spLocks noGrp="1"/>
          </p:cNvSpPr>
          <p:nvPr>
            <p:ph type="sldNum" sz="quarter" idx="12"/>
          </p:nvPr>
        </p:nvSpPr>
        <p:spPr/>
        <p:txBody>
          <a:bodyPr/>
          <a:lstStyle>
            <a:lvl1pPr>
              <a:defRPr sz="1400">
                <a:solidFill>
                  <a:srgbClr val="FFFFFF"/>
                </a:solidFill>
              </a:defRPr>
            </a:lvl1pPr>
          </a:lstStyle>
          <a:p>
            <a:pPr>
              <a:defRPr/>
            </a:pPr>
            <a:fld id="{CFD065E4-1B66-4917-94CF-DDC2DE6B16AA}" type="slidenum">
              <a:rPr lang="en-US"/>
              <a:pPr>
                <a:defRPr/>
              </a:pPr>
              <a:t>‹#›</a:t>
            </a:fld>
            <a:endParaRPr lang="en-US" dirty="0"/>
          </a:p>
        </p:txBody>
      </p:sp>
    </p:spTree>
    <p:extLst>
      <p:ext uri="{BB962C8B-B14F-4D97-AF65-F5344CB8AC3E}">
        <p14:creationId xmlns:p14="http://schemas.microsoft.com/office/powerpoint/2010/main" val="25606663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396DFE6-B4E8-DD83-A0D8-5DC5CA58994F}"/>
              </a:ext>
            </a:extLst>
          </p:cNvPr>
          <p:cNvSpPr>
            <a:spLocks noGrp="1"/>
          </p:cNvSpPr>
          <p:nvPr>
            <p:ph type="dt" sz="half" idx="10"/>
          </p:nvPr>
        </p:nvSpPr>
        <p:spPr/>
        <p:txBody>
          <a:bodyPr/>
          <a:lstStyle>
            <a:lvl1pPr>
              <a:defRPr/>
            </a:lvl1pPr>
          </a:lstStyle>
          <a:p>
            <a:pPr>
              <a:defRPr/>
            </a:pPr>
            <a:fld id="{33892016-38A5-45A2-8FCF-B28DE5A26B0B}" type="datetime1">
              <a:rPr lang="en-US"/>
              <a:pPr>
                <a:defRPr/>
              </a:pPr>
              <a:t>12/28/2025</a:t>
            </a:fld>
            <a:endParaRPr lang="en-US" dirty="0"/>
          </a:p>
        </p:txBody>
      </p:sp>
      <p:sp>
        <p:nvSpPr>
          <p:cNvPr id="4" name="Footer Placeholder 2">
            <a:extLst>
              <a:ext uri="{FF2B5EF4-FFF2-40B4-BE49-F238E27FC236}">
                <a16:creationId xmlns:a16="http://schemas.microsoft.com/office/drawing/2014/main" id="{9E056B4E-95ED-4A33-07D3-06B5D61210D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DD96BDC-2AFF-94B5-A87D-2D535D5C1D33}"/>
              </a:ext>
            </a:extLst>
          </p:cNvPr>
          <p:cNvSpPr>
            <a:spLocks noGrp="1"/>
          </p:cNvSpPr>
          <p:nvPr>
            <p:ph type="sldNum" sz="quarter" idx="12"/>
          </p:nvPr>
        </p:nvSpPr>
        <p:spPr/>
        <p:txBody>
          <a:bodyPr/>
          <a:lstStyle>
            <a:lvl1pPr>
              <a:defRPr/>
            </a:lvl1pPr>
          </a:lstStyle>
          <a:p>
            <a:pPr>
              <a:defRPr/>
            </a:pPr>
            <a:fld id="{E80619C9-1708-4C3B-BCE0-77AC977914F4}" type="slidenum">
              <a:rPr lang="en-US"/>
              <a:pPr>
                <a:defRPr/>
              </a:pPr>
              <a:t>‹#›</a:t>
            </a:fld>
            <a:endParaRPr lang="en-US" dirty="0"/>
          </a:p>
        </p:txBody>
      </p:sp>
    </p:spTree>
    <p:extLst>
      <p:ext uri="{BB962C8B-B14F-4D97-AF65-F5344CB8AC3E}">
        <p14:creationId xmlns:p14="http://schemas.microsoft.com/office/powerpoint/2010/main" val="2379015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45B2F-9509-7C7F-2E6C-93BD0685E0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7A60FA7-8EFB-B9C1-4374-08BA5C9E9FF7}"/>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999A1CA-F453-0C0B-D422-61A9CA672A49}"/>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94D8863D-3C91-3A32-4D13-7542ADE59049}"/>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2BDF143-C8D8-529C-FA65-3154819F2E1E}"/>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3FBCE05-B246-59A9-7BF9-745DCB197852}"/>
              </a:ext>
            </a:extLst>
          </p:cNvPr>
          <p:cNvSpPr>
            <a:spLocks noGrp="1"/>
          </p:cNvSpPr>
          <p:nvPr>
            <p:ph type="dt" sz="half" idx="10"/>
          </p:nvPr>
        </p:nvSpPr>
        <p:spPr/>
        <p:txBody>
          <a:bodyPr/>
          <a:lstStyle>
            <a:lvl1pPr>
              <a:defRPr/>
            </a:lvl1pPr>
          </a:lstStyle>
          <a:p>
            <a:pPr>
              <a:defRPr/>
            </a:pPr>
            <a:fld id="{85C89F16-0ED0-47D8-9BF6-DB8802875382}" type="datetime1">
              <a:rPr lang="en-US"/>
              <a:pPr>
                <a:defRPr/>
              </a:pPr>
              <a:t>12/28/2025</a:t>
            </a:fld>
            <a:endParaRPr lang="en-US"/>
          </a:p>
        </p:txBody>
      </p:sp>
      <p:sp>
        <p:nvSpPr>
          <p:cNvPr id="10" name="Footer Placeholder 4">
            <a:extLst>
              <a:ext uri="{FF2B5EF4-FFF2-40B4-BE49-F238E27FC236}">
                <a16:creationId xmlns:a16="http://schemas.microsoft.com/office/drawing/2014/main" id="{FDB8DC83-A110-3838-E66B-31388C5C25F7}"/>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45B66283-2DCC-0003-4426-D31020707A56}"/>
              </a:ext>
            </a:extLst>
          </p:cNvPr>
          <p:cNvSpPr>
            <a:spLocks noGrp="1"/>
          </p:cNvSpPr>
          <p:nvPr>
            <p:ph type="sldNum" sz="quarter" idx="12"/>
          </p:nvPr>
        </p:nvSpPr>
        <p:spPr>
          <a:xfrm>
            <a:off x="146050" y="6208713"/>
            <a:ext cx="457200" cy="457200"/>
          </a:xfrm>
        </p:spPr>
        <p:txBody>
          <a:bodyPr/>
          <a:lstStyle>
            <a:lvl1pPr>
              <a:defRPr/>
            </a:lvl1pPr>
          </a:lstStyle>
          <a:p>
            <a:pPr>
              <a:defRPr/>
            </a:pPr>
            <a:fld id="{D18B2ED8-7408-4240-8676-622D3E75AC59}" type="slidenum">
              <a:rPr lang="en-US"/>
              <a:pPr>
                <a:defRPr/>
              </a:pPr>
              <a:t>‹#›</a:t>
            </a:fld>
            <a:endParaRPr lang="en-US" dirty="0"/>
          </a:p>
        </p:txBody>
      </p:sp>
    </p:spTree>
    <p:extLst>
      <p:ext uri="{BB962C8B-B14F-4D97-AF65-F5344CB8AC3E}">
        <p14:creationId xmlns:p14="http://schemas.microsoft.com/office/powerpoint/2010/main" val="31973777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0CDADDF-04BF-2D1D-9C98-ECAB4971517E}"/>
              </a:ext>
            </a:extLst>
          </p:cNvPr>
          <p:cNvSpPr>
            <a:spLocks noGrp="1"/>
          </p:cNvSpPr>
          <p:nvPr>
            <p:ph type="dt" sz="half" idx="10"/>
          </p:nvPr>
        </p:nvSpPr>
        <p:spPr/>
        <p:txBody>
          <a:bodyPr/>
          <a:lstStyle>
            <a:lvl1pPr>
              <a:defRPr/>
            </a:lvl1pPr>
          </a:lstStyle>
          <a:p>
            <a:pPr>
              <a:defRPr/>
            </a:pPr>
            <a:fld id="{7A89DDBE-D9C2-4699-8FC6-A81193FF0F87}" type="datetime1">
              <a:rPr lang="en-US"/>
              <a:pPr>
                <a:defRPr/>
              </a:pPr>
              <a:t>12/28/2025</a:t>
            </a:fld>
            <a:endParaRPr lang="en-US" dirty="0"/>
          </a:p>
        </p:txBody>
      </p:sp>
      <p:sp>
        <p:nvSpPr>
          <p:cNvPr id="4" name="Footer Placeholder 2">
            <a:extLst>
              <a:ext uri="{FF2B5EF4-FFF2-40B4-BE49-F238E27FC236}">
                <a16:creationId xmlns:a16="http://schemas.microsoft.com/office/drawing/2014/main" id="{EA7C873F-1BB3-5513-9803-0A21ECBDF8D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561A1D7E-1AAD-8F49-E349-5153EC543E82}"/>
              </a:ext>
            </a:extLst>
          </p:cNvPr>
          <p:cNvSpPr>
            <a:spLocks noGrp="1"/>
          </p:cNvSpPr>
          <p:nvPr>
            <p:ph type="sldNum" sz="quarter" idx="12"/>
          </p:nvPr>
        </p:nvSpPr>
        <p:spPr/>
        <p:txBody>
          <a:bodyPr/>
          <a:lstStyle>
            <a:lvl1pPr>
              <a:defRPr/>
            </a:lvl1pPr>
          </a:lstStyle>
          <a:p>
            <a:pPr>
              <a:defRPr/>
            </a:pPr>
            <a:fld id="{90243F15-6DC5-4AA3-8CE8-BCF1B672ACEB}" type="slidenum">
              <a:rPr lang="en-US"/>
              <a:pPr>
                <a:defRPr/>
              </a:pPr>
              <a:t>‹#›</a:t>
            </a:fld>
            <a:endParaRPr lang="en-US" dirty="0"/>
          </a:p>
        </p:txBody>
      </p:sp>
    </p:spTree>
    <p:extLst>
      <p:ext uri="{BB962C8B-B14F-4D97-AF65-F5344CB8AC3E}">
        <p14:creationId xmlns:p14="http://schemas.microsoft.com/office/powerpoint/2010/main" val="1018191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EBF8CA8-3AC2-09F7-1BBB-0FA6AED36F1B}"/>
              </a:ext>
            </a:extLst>
          </p:cNvPr>
          <p:cNvSpPr>
            <a:spLocks noGrp="1"/>
          </p:cNvSpPr>
          <p:nvPr>
            <p:ph type="dt" sz="half" idx="10"/>
          </p:nvPr>
        </p:nvSpPr>
        <p:spPr/>
        <p:txBody>
          <a:bodyPr/>
          <a:lstStyle>
            <a:lvl1pPr>
              <a:defRPr/>
            </a:lvl1pPr>
          </a:lstStyle>
          <a:p>
            <a:pPr>
              <a:defRPr/>
            </a:pPr>
            <a:fld id="{E067741A-6475-428B-A8E4-F77833D97E78}" type="datetime1">
              <a:rPr lang="en-US"/>
              <a:pPr>
                <a:defRPr/>
              </a:pPr>
              <a:t>12/28/2025</a:t>
            </a:fld>
            <a:endParaRPr lang="en-US" dirty="0"/>
          </a:p>
        </p:txBody>
      </p:sp>
      <p:sp>
        <p:nvSpPr>
          <p:cNvPr id="6" name="Footer Placeholder 2">
            <a:extLst>
              <a:ext uri="{FF2B5EF4-FFF2-40B4-BE49-F238E27FC236}">
                <a16:creationId xmlns:a16="http://schemas.microsoft.com/office/drawing/2014/main" id="{221316CF-09DD-77DC-96BC-31FCEFF4361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BB2491B1-A99D-3D1D-6260-33F3900E911D}"/>
              </a:ext>
            </a:extLst>
          </p:cNvPr>
          <p:cNvSpPr>
            <a:spLocks noGrp="1"/>
          </p:cNvSpPr>
          <p:nvPr>
            <p:ph type="sldNum" sz="quarter" idx="12"/>
          </p:nvPr>
        </p:nvSpPr>
        <p:spPr/>
        <p:txBody>
          <a:bodyPr/>
          <a:lstStyle>
            <a:lvl1pPr>
              <a:defRPr/>
            </a:lvl1pPr>
          </a:lstStyle>
          <a:p>
            <a:pPr>
              <a:defRPr/>
            </a:pPr>
            <a:fld id="{95E3B942-8215-4833-AC83-10CEBF624210}" type="slidenum">
              <a:rPr lang="en-US"/>
              <a:pPr>
                <a:defRPr/>
              </a:pPr>
              <a:t>‹#›</a:t>
            </a:fld>
            <a:endParaRPr lang="en-US" dirty="0"/>
          </a:p>
        </p:txBody>
      </p:sp>
    </p:spTree>
    <p:extLst>
      <p:ext uri="{BB962C8B-B14F-4D97-AF65-F5344CB8AC3E}">
        <p14:creationId xmlns:p14="http://schemas.microsoft.com/office/powerpoint/2010/main" val="163641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85919E0-21DC-087F-A752-3845402B905B}"/>
              </a:ext>
            </a:extLst>
          </p:cNvPr>
          <p:cNvSpPr>
            <a:spLocks noGrp="1"/>
          </p:cNvSpPr>
          <p:nvPr>
            <p:ph type="dt" sz="half" idx="10"/>
          </p:nvPr>
        </p:nvSpPr>
        <p:spPr/>
        <p:txBody>
          <a:bodyPr/>
          <a:lstStyle>
            <a:lvl1pPr>
              <a:defRPr/>
            </a:lvl1pPr>
          </a:lstStyle>
          <a:p>
            <a:pPr>
              <a:defRPr/>
            </a:pPr>
            <a:fld id="{2C0D66A2-F833-4D3E-BBFD-4BA89826E4C9}" type="datetime1">
              <a:rPr lang="en-US"/>
              <a:pPr>
                <a:defRPr/>
              </a:pPr>
              <a:t>12/28/2025</a:t>
            </a:fld>
            <a:endParaRPr lang="en-US" dirty="0"/>
          </a:p>
        </p:txBody>
      </p:sp>
      <p:sp>
        <p:nvSpPr>
          <p:cNvPr id="4" name="Footer Placeholder 2">
            <a:extLst>
              <a:ext uri="{FF2B5EF4-FFF2-40B4-BE49-F238E27FC236}">
                <a16:creationId xmlns:a16="http://schemas.microsoft.com/office/drawing/2014/main" id="{D5E24651-DD45-C67A-48C2-9D6BE9B3CC6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AB2859EE-C7FE-ED7F-ED32-260F9A2897CE}"/>
              </a:ext>
            </a:extLst>
          </p:cNvPr>
          <p:cNvSpPr>
            <a:spLocks noGrp="1"/>
          </p:cNvSpPr>
          <p:nvPr>
            <p:ph type="sldNum" sz="quarter" idx="12"/>
          </p:nvPr>
        </p:nvSpPr>
        <p:spPr/>
        <p:txBody>
          <a:bodyPr/>
          <a:lstStyle>
            <a:lvl1pPr>
              <a:defRPr/>
            </a:lvl1pPr>
          </a:lstStyle>
          <a:p>
            <a:pPr>
              <a:defRPr/>
            </a:pPr>
            <a:fld id="{D1EC5F62-2A84-4195-8B72-78726C500E3E}" type="slidenum">
              <a:rPr lang="en-US"/>
              <a:pPr>
                <a:defRPr/>
              </a:pPr>
              <a:t>‹#›</a:t>
            </a:fld>
            <a:endParaRPr lang="en-US" dirty="0"/>
          </a:p>
        </p:txBody>
      </p:sp>
    </p:spTree>
    <p:extLst>
      <p:ext uri="{BB962C8B-B14F-4D97-AF65-F5344CB8AC3E}">
        <p14:creationId xmlns:p14="http://schemas.microsoft.com/office/powerpoint/2010/main" val="272910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250D812-A68E-B72D-CCCE-F029E25007D0}"/>
              </a:ext>
            </a:extLst>
          </p:cNvPr>
          <p:cNvSpPr>
            <a:spLocks noGrp="1"/>
          </p:cNvSpPr>
          <p:nvPr>
            <p:ph type="dt" sz="half" idx="10"/>
          </p:nvPr>
        </p:nvSpPr>
        <p:spPr/>
        <p:txBody>
          <a:bodyPr/>
          <a:lstStyle>
            <a:lvl1pPr>
              <a:defRPr/>
            </a:lvl1pPr>
          </a:lstStyle>
          <a:p>
            <a:pPr>
              <a:defRPr/>
            </a:pPr>
            <a:fld id="{06DFCD9B-6A02-440D-883A-790572724131}" type="datetime1">
              <a:rPr lang="en-US"/>
              <a:pPr>
                <a:defRPr/>
              </a:pPr>
              <a:t>12/28/2025</a:t>
            </a:fld>
            <a:endParaRPr lang="en-US" dirty="0"/>
          </a:p>
        </p:txBody>
      </p:sp>
      <p:sp>
        <p:nvSpPr>
          <p:cNvPr id="3" name="Footer Placeholder 2">
            <a:extLst>
              <a:ext uri="{FF2B5EF4-FFF2-40B4-BE49-F238E27FC236}">
                <a16:creationId xmlns:a16="http://schemas.microsoft.com/office/drawing/2014/main" id="{BF8396E7-E023-25E3-AE0A-3B95D71607A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EDE1120C-A435-5F9E-0A10-5116D774BAE8}"/>
              </a:ext>
            </a:extLst>
          </p:cNvPr>
          <p:cNvSpPr>
            <a:spLocks noGrp="1"/>
          </p:cNvSpPr>
          <p:nvPr>
            <p:ph type="sldNum" sz="quarter" idx="12"/>
          </p:nvPr>
        </p:nvSpPr>
        <p:spPr/>
        <p:txBody>
          <a:bodyPr/>
          <a:lstStyle>
            <a:lvl1pPr>
              <a:defRPr/>
            </a:lvl1pPr>
          </a:lstStyle>
          <a:p>
            <a:pPr>
              <a:defRPr/>
            </a:pPr>
            <a:fld id="{A5EAE7F8-F456-46EF-98C9-E75D54E6CEE0}" type="slidenum">
              <a:rPr lang="en-US"/>
              <a:pPr>
                <a:defRPr/>
              </a:pPr>
              <a:t>‹#›</a:t>
            </a:fld>
            <a:endParaRPr lang="en-US" dirty="0"/>
          </a:p>
        </p:txBody>
      </p:sp>
    </p:spTree>
    <p:extLst>
      <p:ext uri="{BB962C8B-B14F-4D97-AF65-F5344CB8AC3E}">
        <p14:creationId xmlns:p14="http://schemas.microsoft.com/office/powerpoint/2010/main" val="3108202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A37AFF-B187-B8B9-49C4-692A9E414BB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EA249C2-7AA4-FBAC-CD84-B31208E12A8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A5B1817-A2A9-3036-5219-5CC18411ECC1}"/>
              </a:ext>
            </a:extLst>
          </p:cNvPr>
          <p:cNvSpPr>
            <a:spLocks noGrp="1"/>
          </p:cNvSpPr>
          <p:nvPr>
            <p:ph type="dt" sz="half" idx="10"/>
          </p:nvPr>
        </p:nvSpPr>
        <p:spPr/>
        <p:txBody>
          <a:bodyPr/>
          <a:lstStyle>
            <a:lvl1pPr>
              <a:defRPr/>
            </a:lvl1pPr>
          </a:lstStyle>
          <a:p>
            <a:pPr>
              <a:defRPr/>
            </a:pPr>
            <a:fld id="{627C16B8-22B0-479A-B212-C924D35CBC22}" type="datetime1">
              <a:rPr lang="en-US"/>
              <a:pPr>
                <a:defRPr/>
              </a:pPr>
              <a:t>12/28/2025</a:t>
            </a:fld>
            <a:endParaRPr lang="en-US"/>
          </a:p>
        </p:txBody>
      </p:sp>
      <p:sp>
        <p:nvSpPr>
          <p:cNvPr id="7" name="Footer Placeholder 5">
            <a:extLst>
              <a:ext uri="{FF2B5EF4-FFF2-40B4-BE49-F238E27FC236}">
                <a16:creationId xmlns:a16="http://schemas.microsoft.com/office/drawing/2014/main" id="{AB4908A0-C03A-042C-F5FA-AB2DB42AE79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0B415EB-A043-C051-8198-9C2C3C85A018}"/>
              </a:ext>
            </a:extLst>
          </p:cNvPr>
          <p:cNvSpPr>
            <a:spLocks noGrp="1"/>
          </p:cNvSpPr>
          <p:nvPr>
            <p:ph type="sldNum" sz="quarter" idx="12"/>
          </p:nvPr>
        </p:nvSpPr>
        <p:spPr/>
        <p:txBody>
          <a:bodyPr/>
          <a:lstStyle>
            <a:lvl1pPr>
              <a:defRPr/>
            </a:lvl1pPr>
          </a:lstStyle>
          <a:p>
            <a:pPr>
              <a:defRPr/>
            </a:pPr>
            <a:fld id="{18499E09-BCAF-4C79-9ED7-85587F328C31}" type="slidenum">
              <a:rPr lang="en-US"/>
              <a:pPr>
                <a:defRPr/>
              </a:pPr>
              <a:t>‹#›</a:t>
            </a:fld>
            <a:endParaRPr lang="en-US"/>
          </a:p>
        </p:txBody>
      </p:sp>
    </p:spTree>
    <p:extLst>
      <p:ext uri="{BB962C8B-B14F-4D97-AF65-F5344CB8AC3E}">
        <p14:creationId xmlns:p14="http://schemas.microsoft.com/office/powerpoint/2010/main" val="3553480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AC405-2C75-A219-0834-108F13DAB45C}"/>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BC3D419-2231-EEF1-CEB7-0EE523B48EB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064155D-D463-FCBF-1733-09AFB952B7F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591B9E-C084-D7AF-CC45-0BC62473DA65}"/>
              </a:ext>
            </a:extLst>
          </p:cNvPr>
          <p:cNvSpPr>
            <a:spLocks noGrp="1"/>
          </p:cNvSpPr>
          <p:nvPr>
            <p:ph type="dt" sz="half" idx="10"/>
          </p:nvPr>
        </p:nvSpPr>
        <p:spPr/>
        <p:txBody>
          <a:bodyPr/>
          <a:lstStyle>
            <a:lvl1pPr>
              <a:defRPr/>
            </a:lvl1pPr>
          </a:lstStyle>
          <a:p>
            <a:pPr>
              <a:defRPr/>
            </a:pPr>
            <a:fld id="{A9439A8E-E74E-4073-A72F-B411CA495669}" type="datetime1">
              <a:rPr lang="en-US"/>
              <a:pPr>
                <a:defRPr/>
              </a:pPr>
              <a:t>12/28/2025</a:t>
            </a:fld>
            <a:endParaRPr lang="en-US"/>
          </a:p>
        </p:txBody>
      </p:sp>
      <p:sp>
        <p:nvSpPr>
          <p:cNvPr id="9" name="Footer Placeholder 5">
            <a:extLst>
              <a:ext uri="{FF2B5EF4-FFF2-40B4-BE49-F238E27FC236}">
                <a16:creationId xmlns:a16="http://schemas.microsoft.com/office/drawing/2014/main" id="{0E8B5B52-C901-9CDC-908D-5320492CB6D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596CD343-8346-E066-8958-650AD84E89AB}"/>
              </a:ext>
            </a:extLst>
          </p:cNvPr>
          <p:cNvSpPr>
            <a:spLocks noGrp="1"/>
          </p:cNvSpPr>
          <p:nvPr>
            <p:ph type="sldNum" sz="quarter" idx="12"/>
          </p:nvPr>
        </p:nvSpPr>
        <p:spPr>
          <a:xfrm>
            <a:off x="146050" y="6208713"/>
            <a:ext cx="457200" cy="457200"/>
          </a:xfrm>
        </p:spPr>
        <p:txBody>
          <a:bodyPr/>
          <a:lstStyle>
            <a:lvl1pPr>
              <a:defRPr/>
            </a:lvl1pPr>
          </a:lstStyle>
          <a:p>
            <a:pPr>
              <a:defRPr/>
            </a:pPr>
            <a:fld id="{E0E47019-EA52-4855-A446-C270BFC7F95E}" type="slidenum">
              <a:rPr lang="en-US"/>
              <a:pPr>
                <a:defRPr/>
              </a:pPr>
              <a:t>‹#›</a:t>
            </a:fld>
            <a:endParaRPr lang="en-US" dirty="0"/>
          </a:p>
        </p:txBody>
      </p:sp>
    </p:spTree>
    <p:extLst>
      <p:ext uri="{BB962C8B-B14F-4D97-AF65-F5344CB8AC3E}">
        <p14:creationId xmlns:p14="http://schemas.microsoft.com/office/powerpoint/2010/main" val="3862574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216D75B-E7B6-7280-37DB-BF4B47BB0C6D}"/>
              </a:ext>
            </a:extLst>
          </p:cNvPr>
          <p:cNvSpPr>
            <a:spLocks noGrp="1"/>
          </p:cNvSpPr>
          <p:nvPr>
            <p:ph type="dt" sz="half" idx="10"/>
          </p:nvPr>
        </p:nvSpPr>
        <p:spPr/>
        <p:txBody>
          <a:bodyPr/>
          <a:lstStyle>
            <a:lvl1pPr>
              <a:defRPr/>
            </a:lvl1pPr>
          </a:lstStyle>
          <a:p>
            <a:pPr>
              <a:defRPr/>
            </a:pPr>
            <a:fld id="{869FE76C-FF8F-43AF-BD8C-E192B2C2B4EE}" type="datetime1">
              <a:rPr lang="en-US"/>
              <a:pPr>
                <a:defRPr/>
              </a:pPr>
              <a:t>12/28/2025</a:t>
            </a:fld>
            <a:endParaRPr lang="en-US" dirty="0"/>
          </a:p>
        </p:txBody>
      </p:sp>
      <p:sp>
        <p:nvSpPr>
          <p:cNvPr id="5" name="Footer Placeholder 2">
            <a:extLst>
              <a:ext uri="{FF2B5EF4-FFF2-40B4-BE49-F238E27FC236}">
                <a16:creationId xmlns:a16="http://schemas.microsoft.com/office/drawing/2014/main" id="{4E144CE4-E7C5-0F00-67B8-690C439CE5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73889489-04F5-935E-D643-BFB345CBAF54}"/>
              </a:ext>
            </a:extLst>
          </p:cNvPr>
          <p:cNvSpPr>
            <a:spLocks noGrp="1"/>
          </p:cNvSpPr>
          <p:nvPr>
            <p:ph type="sldNum" sz="quarter" idx="12"/>
          </p:nvPr>
        </p:nvSpPr>
        <p:spPr/>
        <p:txBody>
          <a:bodyPr/>
          <a:lstStyle>
            <a:lvl1pPr>
              <a:defRPr/>
            </a:lvl1pPr>
          </a:lstStyle>
          <a:p>
            <a:pPr>
              <a:defRPr/>
            </a:pPr>
            <a:fld id="{445BA751-F2BD-4C20-90CF-2539005ABB34}" type="slidenum">
              <a:rPr lang="en-US"/>
              <a:pPr>
                <a:defRPr/>
              </a:pPr>
              <a:t>‹#›</a:t>
            </a:fld>
            <a:endParaRPr lang="en-US" dirty="0"/>
          </a:p>
        </p:txBody>
      </p:sp>
    </p:spTree>
    <p:extLst>
      <p:ext uri="{BB962C8B-B14F-4D97-AF65-F5344CB8AC3E}">
        <p14:creationId xmlns:p14="http://schemas.microsoft.com/office/powerpoint/2010/main" val="1857584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01D196A-0A33-B379-3A18-9C00F90A647E}"/>
              </a:ext>
            </a:extLst>
          </p:cNvPr>
          <p:cNvSpPr>
            <a:spLocks noGrp="1"/>
          </p:cNvSpPr>
          <p:nvPr>
            <p:ph type="dt" sz="half" idx="10"/>
          </p:nvPr>
        </p:nvSpPr>
        <p:spPr/>
        <p:txBody>
          <a:bodyPr/>
          <a:lstStyle>
            <a:lvl1pPr>
              <a:defRPr/>
            </a:lvl1pPr>
          </a:lstStyle>
          <a:p>
            <a:pPr>
              <a:defRPr/>
            </a:pPr>
            <a:fld id="{E2AF3674-77A2-4FBC-A50E-EDF0D2B59C76}" type="datetime1">
              <a:rPr lang="en-US"/>
              <a:pPr>
                <a:defRPr/>
              </a:pPr>
              <a:t>12/28/2025</a:t>
            </a:fld>
            <a:endParaRPr lang="en-US" dirty="0"/>
          </a:p>
        </p:txBody>
      </p:sp>
      <p:sp>
        <p:nvSpPr>
          <p:cNvPr id="5" name="Footer Placeholder 2">
            <a:extLst>
              <a:ext uri="{FF2B5EF4-FFF2-40B4-BE49-F238E27FC236}">
                <a16:creationId xmlns:a16="http://schemas.microsoft.com/office/drawing/2014/main" id="{3D58D851-CE57-B65F-03BE-4563F617529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1F8DA9E-89F2-D90B-44D9-A9A06A7C0FC8}"/>
              </a:ext>
            </a:extLst>
          </p:cNvPr>
          <p:cNvSpPr>
            <a:spLocks noGrp="1"/>
          </p:cNvSpPr>
          <p:nvPr>
            <p:ph type="sldNum" sz="quarter" idx="12"/>
          </p:nvPr>
        </p:nvSpPr>
        <p:spPr/>
        <p:txBody>
          <a:bodyPr/>
          <a:lstStyle>
            <a:lvl1pPr>
              <a:defRPr/>
            </a:lvl1pPr>
          </a:lstStyle>
          <a:p>
            <a:pPr>
              <a:defRPr/>
            </a:pPr>
            <a:fld id="{D298D8AC-5990-4364-BE6A-AB6FF07654B6}" type="slidenum">
              <a:rPr lang="en-US"/>
              <a:pPr>
                <a:defRPr/>
              </a:pPr>
              <a:t>‹#›</a:t>
            </a:fld>
            <a:endParaRPr lang="en-US" dirty="0"/>
          </a:p>
        </p:txBody>
      </p:sp>
    </p:spTree>
    <p:extLst>
      <p:ext uri="{BB962C8B-B14F-4D97-AF65-F5344CB8AC3E}">
        <p14:creationId xmlns:p14="http://schemas.microsoft.com/office/powerpoint/2010/main" val="1890872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0916A30-B4DB-6572-32E5-123305D25E17}"/>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1126403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9606782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17815347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1641900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2050712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3791764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035279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4670262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44A936-745D-EF49-60A0-CF1AF5E0193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71951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9325AD-63AC-7191-3EA4-502BB93C661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134A59EF-318D-F794-085F-76DDB08FF80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92180755-DED9-5C5E-3E74-58D9AB09F39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CEEDB54-C0EC-E656-65BA-77A3B3137C70}"/>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30A4B39-D45E-6E87-AB9B-C3D136C9182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9F46A9E-D93A-4070-8EC6-4ADC3D98B195}" type="datetime1">
              <a:rPr lang="en-US"/>
              <a:pPr>
                <a:defRPr/>
              </a:pPr>
              <a:t>12/28/2025</a:t>
            </a:fld>
            <a:endParaRPr lang="en-US" dirty="0"/>
          </a:p>
        </p:txBody>
      </p:sp>
      <p:sp>
        <p:nvSpPr>
          <p:cNvPr id="3" name="Footer Placeholder 2">
            <a:extLst>
              <a:ext uri="{FF2B5EF4-FFF2-40B4-BE49-F238E27FC236}">
                <a16:creationId xmlns:a16="http://schemas.microsoft.com/office/drawing/2014/main" id="{10E22853-FCCC-34E7-6A1B-4DBAEBA4AED0}"/>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01B6903-5E70-8998-5728-5AE139D7032B}"/>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A6BAC30-25F7-4B4D-96C6-5B82F2D855D3}" type="slidenum">
              <a:rPr lang="en-US"/>
              <a:pPr>
                <a:defRPr/>
              </a:pPr>
              <a:t>‹#›</a:t>
            </a:fld>
            <a:endParaRPr lang="en-US" dirty="0"/>
          </a:p>
        </p:txBody>
      </p:sp>
    </p:spTree>
    <p:extLst>
      <p:ext uri="{BB962C8B-B14F-4D97-AF65-F5344CB8AC3E}">
        <p14:creationId xmlns:p14="http://schemas.microsoft.com/office/powerpoint/2010/main" val="10373822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206547918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11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Database Design</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mn-cs"/>
              </a:rPr>
              <a:t>Silberschtaz</a:t>
            </a:r>
            <a:endPar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DA0E-BE5D-E18F-0500-F11CA3F223C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7441C0C-FC54-5B4F-2A62-78F26AA65218}"/>
              </a:ext>
            </a:extLst>
          </p:cNvPr>
          <p:cNvSpPr>
            <a:spLocks noGrp="1" noChangeArrowheads="1"/>
          </p:cNvSpPr>
          <p:nvPr>
            <p:ph type="title"/>
          </p:nvPr>
        </p:nvSpPr>
        <p:spPr>
          <a:xfrm>
            <a:off x="323528"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2" name="Content Placeholder 1">
            <a:extLst>
              <a:ext uri="{FF2B5EF4-FFF2-40B4-BE49-F238E27FC236}">
                <a16:creationId xmlns:a16="http://schemas.microsoft.com/office/drawing/2014/main" id="{D3D2A838-8D87-4104-EC2E-AF96DA991788}"/>
              </a:ext>
            </a:extLst>
          </p:cNvPr>
          <p:cNvSpPr>
            <a:spLocks noGrp="1"/>
          </p:cNvSpPr>
          <p:nvPr>
            <p:ph sz="quarter" idx="1"/>
          </p:nvPr>
        </p:nvSpPr>
        <p:spPr>
          <a:xfrm>
            <a:off x="251520" y="620688"/>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Database deign of creating a design that will support the organization’s objectives for the required database system.</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Approaches to database design</a:t>
            </a:r>
          </a:p>
          <a:p>
            <a:pPr marL="731838" lvl="1" indent="-457200" algn="just">
              <a:spcBef>
                <a:spcPts val="300"/>
              </a:spcBef>
              <a:buClr>
                <a:srgbClr val="C00000"/>
              </a:buClr>
              <a:buFont typeface="+mj-lt"/>
              <a:buAutoNum type="alphaLcParen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Top-down Approach</a:t>
            </a:r>
          </a:p>
          <a:p>
            <a:pPr marL="731838" lvl="1" indent="-457200" algn="just">
              <a:spcBef>
                <a:spcPts val="300"/>
              </a:spcBef>
              <a:buClr>
                <a:srgbClr val="C00000"/>
              </a:buClr>
              <a:buFont typeface="+mj-lt"/>
              <a:buAutoNum type="alphaLcParen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Bottom-up Approach</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Phases of database design</a:t>
            </a:r>
          </a:p>
          <a:p>
            <a:pPr marL="731838" lvl="1" indent="-457200" algn="just">
              <a:spcBef>
                <a:spcPts val="300"/>
              </a:spcBef>
              <a:buClr>
                <a:srgbClr val="C00000"/>
              </a:buClr>
              <a:buFont typeface="+mj-lt"/>
              <a:buAutoNum type="alphaLcParen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Conceptual database design</a:t>
            </a:r>
          </a:p>
          <a:p>
            <a:pPr marL="731838" lvl="1" indent="-457200" algn="just">
              <a:spcBef>
                <a:spcPts val="300"/>
              </a:spcBef>
              <a:buClr>
                <a:srgbClr val="C00000"/>
              </a:buClr>
              <a:buFont typeface="+mj-lt"/>
              <a:buAutoNum type="alphaLcParen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Logical database design</a:t>
            </a:r>
          </a:p>
          <a:p>
            <a:pPr marL="731838" lvl="1" indent="-457200" algn="just">
              <a:spcBef>
                <a:spcPts val="300"/>
              </a:spcBef>
              <a:buClr>
                <a:srgbClr val="C00000"/>
              </a:buClr>
              <a:buFont typeface="+mj-lt"/>
              <a:buAutoNum type="alphaLcParen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Physical database design</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15155E20-E875-CD45-9FC4-80A83C1E161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75677C5-8878-780C-D58A-012BE425E0B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425909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90AC-7748-F49A-494F-758DF650631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125817F-11D9-33D2-FF66-C53957ED6CE8}"/>
              </a:ext>
            </a:extLst>
          </p:cNvPr>
          <p:cNvSpPr>
            <a:spLocks noGrp="1" noChangeArrowheads="1"/>
          </p:cNvSpPr>
          <p:nvPr>
            <p:ph type="title"/>
          </p:nvPr>
        </p:nvSpPr>
        <p:spPr>
          <a:xfrm>
            <a:off x="323528" y="231304"/>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a) Top-down Approach </a:t>
            </a:r>
            <a:r>
              <a:rPr lang="en-US" altLang="en-US" sz="2800" b="1" u="sng" dirty="0">
                <a:solidFill>
                  <a:srgbClr val="0000CC"/>
                </a:solidFill>
                <a:latin typeface="Cambria" panose="02040503050406030204" pitchFamily="18" charset="0"/>
                <a:ea typeface="Cambria" panose="02040503050406030204" pitchFamily="18" charset="0"/>
              </a:rPr>
              <a:t>(Design by Analysis)</a:t>
            </a:r>
          </a:p>
        </p:txBody>
      </p:sp>
      <p:sp>
        <p:nvSpPr>
          <p:cNvPr id="2" name="Content Placeholder 1">
            <a:extLst>
              <a:ext uri="{FF2B5EF4-FFF2-40B4-BE49-F238E27FC236}">
                <a16:creationId xmlns:a16="http://schemas.microsoft.com/office/drawing/2014/main" id="{4E4B27CF-7E81-BFEF-DF03-0CDC8E90C64E}"/>
              </a:ext>
            </a:extLst>
          </p:cNvPr>
          <p:cNvSpPr>
            <a:spLocks noGrp="1"/>
          </p:cNvSpPr>
          <p:nvPr>
            <p:ph sz="quarter" idx="1"/>
          </p:nvPr>
        </p:nvSpPr>
        <p:spPr>
          <a:xfrm>
            <a:off x="251520" y="764704"/>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starts with a number of groupings of attributes into relations that exist together naturally, for example, an invoice.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relations are then analyzed through normalization.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One may start with the development of ER model, beginning with the identification of entities and relationships between the entities, which are of interest to the organization.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ER model is then transformed into a set of relations using the appropriate rules for conversion.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98811082-0005-459B-62EC-EAD119A7283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F275D88E-4653-47E0-9FD7-893A7D8197F4}"/>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90553212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EF13-E015-766A-F486-C8AEC4C93CBD}"/>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063AFCA-E22D-4885-014A-B6BB845E778E}"/>
              </a:ext>
            </a:extLst>
          </p:cNvPr>
          <p:cNvSpPr>
            <a:spLocks noGrp="1" noChangeArrowheads="1"/>
          </p:cNvSpPr>
          <p:nvPr>
            <p:ph type="title"/>
          </p:nvPr>
        </p:nvSpPr>
        <p:spPr>
          <a:xfrm>
            <a:off x="323528" y="231304"/>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b) Bottom-up Approach </a:t>
            </a:r>
            <a:r>
              <a:rPr lang="en-US" altLang="en-US" sz="2800" b="1" u="sng" dirty="0">
                <a:solidFill>
                  <a:srgbClr val="0000CC"/>
                </a:solidFill>
                <a:latin typeface="Cambria" panose="02040503050406030204" pitchFamily="18" charset="0"/>
                <a:ea typeface="Cambria" panose="02040503050406030204" pitchFamily="18" charset="0"/>
              </a:rPr>
              <a:t>(Design by Synthesis)</a:t>
            </a:r>
          </a:p>
        </p:txBody>
      </p:sp>
      <p:sp>
        <p:nvSpPr>
          <p:cNvPr id="2" name="Content Placeholder 1">
            <a:extLst>
              <a:ext uri="{FF2B5EF4-FFF2-40B4-BE49-F238E27FC236}">
                <a16:creationId xmlns:a16="http://schemas.microsoft.com/office/drawing/2014/main" id="{089B823C-78C3-D0A4-62C4-BE5D99F730F5}"/>
              </a:ext>
            </a:extLst>
          </p:cNvPr>
          <p:cNvSpPr>
            <a:spLocks noGrp="1"/>
          </p:cNvSpPr>
          <p:nvPr>
            <p:ph sz="quarter" idx="1"/>
          </p:nvPr>
        </p:nvSpPr>
        <p:spPr>
          <a:xfrm>
            <a:off x="251520" y="764704"/>
            <a:ext cx="8492430" cy="3600400"/>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begins with the fundamental level of attributes, which through analysis of the associations between attributes, are grouped into relations.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process of Normalization is used to find the normalized relations based on functional dependencies between the attributes.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bottom-up approach is appropriate for the design of simple databases with relatively small number of attributes.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This approach becomes difficult to use with a larger number of attributes, where it is difficult to establish all the functional dependencies between the attributes.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327DDF7-57EC-59BE-3CF5-F7677447211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DAF08B34-E702-19B3-3963-F8C61B1638C8}"/>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5337555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CADCD-8DDB-A3C1-B3EB-29FBCEDF5C8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D231DE2-9CC2-EF63-F993-9F0342658427}"/>
              </a:ext>
            </a:extLst>
          </p:cNvPr>
          <p:cNvSpPr>
            <a:spLocks noGrp="1" noChangeArrowheads="1"/>
          </p:cNvSpPr>
          <p:nvPr>
            <p:ph type="title"/>
          </p:nvPr>
        </p:nvSpPr>
        <p:spPr>
          <a:xfrm>
            <a:off x="323528"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Phases of Database Design</a:t>
            </a:r>
          </a:p>
        </p:txBody>
      </p:sp>
      <p:sp>
        <p:nvSpPr>
          <p:cNvPr id="2" name="Content Placeholder 1">
            <a:extLst>
              <a:ext uri="{FF2B5EF4-FFF2-40B4-BE49-F238E27FC236}">
                <a16:creationId xmlns:a16="http://schemas.microsoft.com/office/drawing/2014/main" id="{24CE62A3-C2D6-1DBA-E46C-FDEA455BC665}"/>
              </a:ext>
            </a:extLst>
          </p:cNvPr>
          <p:cNvSpPr>
            <a:spLocks noGrp="1"/>
          </p:cNvSpPr>
          <p:nvPr>
            <p:ph sz="quarter" idx="1"/>
          </p:nvPr>
        </p:nvSpPr>
        <p:spPr>
          <a:xfrm>
            <a:off x="251520" y="620688"/>
            <a:ext cx="8492430" cy="6048672"/>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a) Conceptual Database Design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process of constructing a model of the data used in an enterprise, independent of all physical considerations, such as the target DBMS software, application programs, programming language, hardware platform etc.</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data model is built using the user’s requirements specification document. It consists of the following steps:</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Identify entity types and the associated attributes</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Identify relationship types and the associated attributes</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Determine the attributes types and the domains</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Determine candidate, primary, and alternate key attributes</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Consider use of enhanced modeling concepts (optional step)</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Check model for redundancy</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Validate conceptual data model against user transactions</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Review conceptual data model with user</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BDEAFAD0-3B0C-C5D5-C2A9-F12F6D2F8CB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B1183CF-A1CB-5691-695A-B38536A93A08}"/>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32690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A82E-0DD9-668A-62C1-1D1FFFD4974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D1B0123-8129-93D2-E7A8-BCECD1532D7F}"/>
              </a:ext>
            </a:extLst>
          </p:cNvPr>
          <p:cNvSpPr>
            <a:spLocks noGrp="1" noChangeArrowheads="1"/>
          </p:cNvSpPr>
          <p:nvPr>
            <p:ph type="title"/>
          </p:nvPr>
        </p:nvSpPr>
        <p:spPr>
          <a:xfrm>
            <a:off x="323528"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Phases of Database Design</a:t>
            </a:r>
          </a:p>
        </p:txBody>
      </p:sp>
      <p:sp>
        <p:nvSpPr>
          <p:cNvPr id="2" name="Content Placeholder 1">
            <a:extLst>
              <a:ext uri="{FF2B5EF4-FFF2-40B4-BE49-F238E27FC236}">
                <a16:creationId xmlns:a16="http://schemas.microsoft.com/office/drawing/2014/main" id="{44159315-2DB8-AD07-46D8-ED3AABDA63DC}"/>
              </a:ext>
            </a:extLst>
          </p:cNvPr>
          <p:cNvSpPr>
            <a:spLocks noGrp="1"/>
          </p:cNvSpPr>
          <p:nvPr>
            <p:ph sz="quarter" idx="1"/>
          </p:nvPr>
        </p:nvSpPr>
        <p:spPr>
          <a:xfrm>
            <a:off x="251520" y="620688"/>
            <a:ext cx="8492430" cy="3600400"/>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b) Logical Database Design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logical data model is based on the target model for the database, such as the relational data model.</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Normalization technique is used to test the correctness of the logical data model.</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Logical database design consists of the following steps:</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Derive relations for logical data model</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Validate relations using normalization</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Validate relations against user transactions</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Check integrity constraints</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Review logical data model with user</a:t>
            </a:r>
          </a:p>
          <a:p>
            <a:pPr marL="731838" lvl="1" indent="-457200" algn="just">
              <a:spcBef>
                <a:spcPts val="300"/>
              </a:spcBef>
              <a:buClr>
                <a:srgbClr val="C00000"/>
              </a:buClr>
              <a:buFont typeface="+mj-lt"/>
              <a:buAutoNum type="arabicPeriod"/>
              <a:defRPr/>
            </a:pPr>
            <a:r>
              <a:rPr lang="en-US" sz="2200" dirty="0">
                <a:latin typeface="Cambria" panose="02040503050406030204" pitchFamily="18" charset="0"/>
                <a:ea typeface="Cambria" panose="02040503050406030204" pitchFamily="18" charset="0"/>
                <a:cs typeface="Calibri" panose="020F0502020204030204" pitchFamily="34" charset="0"/>
              </a:rPr>
              <a:t>Merge logical data models into global model (optional step)</a:t>
            </a:r>
          </a:p>
          <a:p>
            <a:pPr marL="731838" lvl="1" indent="-457200" algn="just">
              <a:spcBef>
                <a:spcPts val="30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Check for future growth</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A60A8F6-3E7D-056D-B8AB-7071C76B430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58533B65-288D-CDE6-F7B7-FCE21EC6B264}"/>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4878782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0CF0F-C499-8444-825B-D7640B7C0AF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6C20321-C682-D9E7-8F78-DD5B8147DC97}"/>
              </a:ext>
            </a:extLst>
          </p:cNvPr>
          <p:cNvSpPr>
            <a:spLocks noGrp="1" noChangeArrowheads="1"/>
          </p:cNvSpPr>
          <p:nvPr>
            <p:ph type="title"/>
          </p:nvPr>
        </p:nvSpPr>
        <p:spPr>
          <a:xfrm>
            <a:off x="323528" y="87288"/>
            <a:ext cx="8568952" cy="533400"/>
          </a:xfrm>
        </p:spPr>
        <p:txBody>
          <a:bodyPr/>
          <a:lstStyle/>
          <a:p>
            <a:pPr eaLnBrk="1" hangingPunct="1">
              <a:spcBef>
                <a:spcPct val="50000"/>
              </a:spcBef>
            </a:pPr>
            <a:r>
              <a:rPr lang="en-US" altLang="en-US" sz="2400" b="1" u="sng" dirty="0">
                <a:solidFill>
                  <a:srgbClr val="D34817"/>
                </a:solidFill>
                <a:latin typeface="Cambria" panose="02040503050406030204" pitchFamily="18" charset="0"/>
                <a:ea typeface="Cambria" panose="02040503050406030204" pitchFamily="18" charset="0"/>
              </a:rPr>
              <a:t>Phases of Database Design - </a:t>
            </a: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Physical Database Design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E292F39D-1CA9-1ADA-A006-C8BBC87DD74D}"/>
              </a:ext>
            </a:extLst>
          </p:cNvPr>
          <p:cNvSpPr>
            <a:spLocks noGrp="1"/>
          </p:cNvSpPr>
          <p:nvPr>
            <p:ph sz="quarter" idx="1"/>
          </p:nvPr>
        </p:nvSpPr>
        <p:spPr>
          <a:xfrm>
            <a:off x="251520" y="476672"/>
            <a:ext cx="8492430" cy="6192688"/>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process of producing the description of the database on the secondary storage.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Physical database design is tailored to a specific DBMS.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Logical database design is concerned with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what,</a:t>
            </a:r>
            <a:r>
              <a:rPr lang="en-US" sz="2400" dirty="0">
                <a:latin typeface="Cambria" panose="02040503050406030204" pitchFamily="18" charset="0"/>
                <a:ea typeface="Cambria" panose="02040503050406030204" pitchFamily="18" charset="0"/>
                <a:cs typeface="Calibri" panose="020F0502020204030204" pitchFamily="34" charset="0"/>
              </a:rPr>
              <a:t> physical database design is concerned with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how.</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Physical database design consists of the following steps:</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Design base relations</a:t>
            </a:r>
          </a:p>
          <a:p>
            <a:pPr marL="731838" lvl="1" indent="-457200" algn="just">
              <a:spcBef>
                <a:spcPts val="0"/>
              </a:spcBef>
              <a:buClr>
                <a:srgbClr val="C00000"/>
              </a:buClr>
              <a:buFont typeface="+mj-lt"/>
              <a:buAutoNum type="arabicPeriod"/>
              <a:defRPr/>
            </a:pP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Design representation of derived data</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Design integrity constraints</a:t>
            </a:r>
          </a:p>
          <a:p>
            <a:pPr marL="731838" lvl="1" indent="-457200" algn="just">
              <a:spcBef>
                <a:spcPts val="0"/>
              </a:spcBef>
              <a:buClr>
                <a:srgbClr val="C00000"/>
              </a:buClr>
              <a:buFont typeface="+mj-lt"/>
              <a:buAutoNum type="arabicPeriod"/>
              <a:defRPr/>
            </a:pP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Design file organization and indexes</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De-normalization</a:t>
            </a:r>
          </a:p>
          <a:p>
            <a:pPr marL="731838" lvl="1" indent="-457200" algn="just">
              <a:spcBef>
                <a:spcPts val="0"/>
              </a:spcBef>
              <a:buClr>
                <a:srgbClr val="C00000"/>
              </a:buClr>
              <a:buFont typeface="+mj-lt"/>
              <a:buAutoNum type="arabicPeriod"/>
              <a:defRPr/>
            </a:pP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Design user views</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Design security mechanism</a:t>
            </a:r>
          </a:p>
          <a:p>
            <a:pPr marL="731838" lvl="1" indent="-457200" algn="just">
              <a:spcBef>
                <a:spcPts val="0"/>
              </a:spcBef>
              <a:buClr>
                <a:srgbClr val="C00000"/>
              </a:buClr>
              <a:buFont typeface="+mj-lt"/>
              <a:buAutoNum type="arabicPeriod"/>
              <a:defRPr/>
            </a:pP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Coding and Compression Techniques</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Analyze transactions</a:t>
            </a:r>
          </a:p>
          <a:p>
            <a:pPr marL="731838" lvl="1" indent="-457200" algn="just">
              <a:spcBef>
                <a:spcPts val="0"/>
              </a:spcBef>
              <a:buClr>
                <a:srgbClr val="C00000"/>
              </a:buClr>
              <a:buFont typeface="+mj-lt"/>
              <a:buAutoNum type="arabicPeriod"/>
              <a:defRPr/>
            </a:pPr>
            <a:r>
              <a:rPr 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Partitioning</a:t>
            </a:r>
          </a:p>
          <a:p>
            <a:pPr marL="731838" lvl="1" indent="-457200" algn="just">
              <a:spcBef>
                <a:spcPts val="0"/>
              </a:spcBef>
              <a:buClr>
                <a:srgbClr val="C00000"/>
              </a:buClr>
              <a:buFont typeface="+mj-lt"/>
              <a:buAutoNum type="arabicPeriod"/>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Estimate disk space requirements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442B5A03-DC5A-2168-441C-1F582462813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F2C33E11-61CD-9A3D-878F-8EDC30E52DE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84493577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A75E7-0BD1-A193-F5D7-CF4692A631A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C857D0D3-BDB2-9B83-B088-9E3F29292593}"/>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A67F420E-9606-8E07-34A9-C8CBF4B55B7B}"/>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Design base relations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For each relation defined in the logical data model, we have a definition consisting of: </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The name of the relation and its attributes</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Key attributes</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Integrity constraints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For each attribute, we have:</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Its domain, consisting of its data type, length, and any constraint on the domain</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An optional default value for the attribute</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Whether the attribute can hold nulls?</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Whether the attribute is derived and, if so, how it should be computed?</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8B4DF39C-D20E-FD93-02B7-C8794A6E088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8D802F0D-BF79-F3D9-68A0-2B26534D0A2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72012078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93449-8986-D02F-E68E-363B6F7E971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4B324B5-332B-7CD2-1C13-084A6A952E37}"/>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01A02FEA-BCA8-BAF9-C828-73F32F3B9CAE}"/>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Derived Data</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Whether a derived attribute is stored in the database or calculated every time it is needed is a tradeoff. The designer should calculate:</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The additional cost to store the derived data and keep it consistent with operational data.</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The cost to calculate each time it is required.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less expensive option is chosen subject to performance constraints.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Derived attribute should be stored when: </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A frequent query is made against it.</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The DBMS’s query language cannot easily calculate the derived attribute.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188A036-51B7-1390-D8B3-45003529271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388C4E9-CFBA-2FF8-F616-4CDC9109B9EF}"/>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6044228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C5917-762D-EE5F-C40A-DF4D1C200FD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F09C306-99F7-4151-60C5-13C84E9EDD5A}"/>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EBA43118-1EDE-C9C6-B803-AEC00D796FE3}"/>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Data Integrity Constraints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Constraints are designed to enforce business rules and the correctness of data.</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constraints defined at physical database design can greatly reduce the programming effort at the application level.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We can introduce constraints such as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DEFAULT value, CHECK constraint, Referential Integrity, database triggers etc.</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285680C-FBEB-D734-268E-02DC406E720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FF60E90A-C307-CD6A-5423-7D42D0A5D866}"/>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56720936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CBD2-B140-AA1C-03E7-E17E63785D41}"/>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3AE6DEB-4F04-CCFA-FC40-D08DE740FC54}"/>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 – </a:t>
            </a:r>
            <a:r>
              <a:rPr lang="en-US" sz="2800" b="1" u="sng" dirty="0">
                <a:solidFill>
                  <a:srgbClr val="0000CC"/>
                </a:solidFill>
                <a:latin typeface="Cambria" panose="02040503050406030204" pitchFamily="18" charset="0"/>
                <a:ea typeface="Cambria" panose="02040503050406030204" pitchFamily="18" charset="0"/>
              </a:rPr>
              <a:t>File Organization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A0783A04-C606-6426-55CD-061DE1661424}"/>
              </a:ext>
            </a:extLst>
          </p:cNvPr>
          <p:cNvSpPr>
            <a:spLocks noGrp="1"/>
          </p:cNvSpPr>
          <p:nvPr>
            <p:ph sz="quarter" idx="1"/>
          </p:nvPr>
        </p:nvSpPr>
        <p:spPr>
          <a:xfrm>
            <a:off x="251520" y="620688"/>
            <a:ext cx="8492430" cy="6192688"/>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database is mapped into a number of different files that are maintained by the underlying operating system.</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file is organized logically as a sequence of records that are mapped onto disk blocks.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Fixed length records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Variable length records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simplest file organization is to store the records as per the sequence of insert operations.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Possible actions in response to a delete operation?</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Move the record that comes after it into the space formerly occupied by the deleted record, and so on, until every record following the deleted record has been moved ahead.</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Move the final record of the file into the space occupied by the deleted record</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Wait for a subsequent insertion to utilize the space occupied by the deleted record. This requires additional structure (file header).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E03E2E4-B8DE-7DBA-F1AA-886204D39E0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A8AF1628-F439-41A7-32EE-B653941A912F}"/>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4794676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842E1-6F77-B4A3-B697-E95ADB31E3E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D8A70E5-7F33-49EC-9F5E-D703804F71BA}"/>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 – </a:t>
            </a:r>
            <a:r>
              <a:rPr lang="en-US" sz="2800" b="1" u="sng" dirty="0">
                <a:solidFill>
                  <a:srgbClr val="0000CC"/>
                </a:solidFill>
                <a:latin typeface="Cambria" panose="02040503050406030204" pitchFamily="18" charset="0"/>
                <a:ea typeface="Cambria" panose="02040503050406030204" pitchFamily="18" charset="0"/>
              </a:rPr>
              <a:t>File Organization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A1B1A43D-F85F-935A-1F73-E7D30D6E58A1}"/>
              </a:ext>
            </a:extLst>
          </p:cNvPr>
          <p:cNvSpPr>
            <a:spLocks noGrp="1"/>
          </p:cNvSpPr>
          <p:nvPr>
            <p:ph sz="quarter" idx="1"/>
          </p:nvPr>
        </p:nvSpPr>
        <p:spPr>
          <a:xfrm>
            <a:off x="251520" y="620688"/>
            <a:ext cx="8492430" cy="6192688"/>
          </a:xfrm>
        </p:spPr>
        <p:txBody>
          <a:bodyPr/>
          <a:lstStyle/>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File header</a:t>
            </a:r>
            <a:r>
              <a:rPr lang="en-US" sz="2400" dirty="0">
                <a:latin typeface="Cambria" panose="02040503050406030204" pitchFamily="18" charset="0"/>
                <a:ea typeface="Cambria" panose="02040503050406030204" pitchFamily="18" charset="0"/>
                <a:cs typeface="Calibri" panose="020F0502020204030204" pitchFamily="34" charset="0"/>
              </a:rPr>
              <a:t> or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file descriptor</a:t>
            </a:r>
            <a:r>
              <a:rPr lang="en-US" sz="2400" dirty="0">
                <a:latin typeface="Cambria" panose="02040503050406030204" pitchFamily="18" charset="0"/>
                <a:ea typeface="Cambria" panose="02040503050406030204" pitchFamily="18" charset="0"/>
                <a:cs typeface="Calibri" panose="020F0502020204030204" pitchFamily="34" charset="0"/>
              </a:rPr>
              <a:t> contains metadata of a file plus the address of the first deleted record.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addresses of the deleted records are maintained in link list as shown in the figure below.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25CD0AE-DD66-D50F-D814-868F81C3924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0B19D9C2-B05E-689F-5F84-198479336640}"/>
              </a:ext>
            </a:extLst>
          </p:cNvPr>
          <p:cNvSpPr>
            <a:spLocks noGrp="1"/>
          </p:cNvSpPr>
          <p:nvPr>
            <p:ph type="sldNum" sz="quarter" idx="12"/>
          </p:nvPr>
        </p:nvSpPr>
        <p:spPr>
          <a:xfrm>
            <a:off x="8532440" y="630932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4" name="Picture 3">
            <a:extLst>
              <a:ext uri="{FF2B5EF4-FFF2-40B4-BE49-F238E27FC236}">
                <a16:creationId xmlns:a16="http://schemas.microsoft.com/office/drawing/2014/main" id="{1D873981-FE09-F516-B7A7-F7E7008B3A60}"/>
              </a:ext>
            </a:extLst>
          </p:cNvPr>
          <p:cNvPicPr>
            <a:picLocks noChangeAspect="1"/>
          </p:cNvPicPr>
          <p:nvPr/>
        </p:nvPicPr>
        <p:blipFill>
          <a:blip r:embed="rId2"/>
          <a:stretch>
            <a:fillRect/>
          </a:stretch>
        </p:blipFill>
        <p:spPr>
          <a:xfrm>
            <a:off x="467544" y="2348880"/>
            <a:ext cx="8351732" cy="3520214"/>
          </a:xfrm>
          <a:prstGeom prst="rect">
            <a:avLst/>
          </a:prstGeom>
        </p:spPr>
      </p:pic>
    </p:spTree>
    <p:extLst>
      <p:ext uri="{BB962C8B-B14F-4D97-AF65-F5344CB8AC3E}">
        <p14:creationId xmlns:p14="http://schemas.microsoft.com/office/powerpoint/2010/main" val="405678374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CF92-44DD-091B-21BA-12DFE615034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4A1B227-80DF-DDA8-9877-09CB20D4A700}"/>
              </a:ext>
            </a:extLst>
          </p:cNvPr>
          <p:cNvSpPr>
            <a:spLocks noGrp="1" noChangeArrowheads="1"/>
          </p:cNvSpPr>
          <p:nvPr>
            <p:ph type="title"/>
          </p:nvPr>
        </p:nvSpPr>
        <p:spPr>
          <a:xfrm>
            <a:off x="323528"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 – </a:t>
            </a:r>
            <a:r>
              <a:rPr lang="en-US" sz="2800" b="1" u="sng" dirty="0">
                <a:solidFill>
                  <a:srgbClr val="0000CC"/>
                </a:solidFill>
                <a:latin typeface="Cambria" panose="02040503050406030204" pitchFamily="18" charset="0"/>
                <a:ea typeface="Cambria" panose="02040503050406030204" pitchFamily="18" charset="0"/>
              </a:rPr>
              <a:t>File Organization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23D989CC-0CF6-8657-3685-7E0F2D23D1EC}"/>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Variable Length Records</a:t>
            </a:r>
          </a:p>
          <a:p>
            <a:pPr marL="347663" indent="-347663" algn="just">
              <a:spcBef>
                <a:spcPts val="300"/>
              </a:spcBef>
              <a:buClr>
                <a:srgbClr val="C00000"/>
              </a:buClr>
              <a:defRPr/>
            </a:pPr>
            <a:r>
              <a:rPr lang="en-US" sz="2200" dirty="0">
                <a:latin typeface="Calibri" panose="020F0502020204030204" pitchFamily="34" charset="0"/>
                <a:ea typeface="Cambria" panose="02040503050406030204" pitchFamily="18" charset="0"/>
                <a:cs typeface="Calibri" panose="020F0502020204030204" pitchFamily="34" charset="0"/>
              </a:rPr>
              <a:t>The representation typically has two parts: an initial part with fixed-length information, whose structure is the same for all records of the same relation, followed by the contents of variable-length attributes. </a:t>
            </a:r>
          </a:p>
          <a:p>
            <a:pPr marL="347663" indent="-347663" algn="just">
              <a:spcBef>
                <a:spcPts val="300"/>
              </a:spcBef>
              <a:buClr>
                <a:srgbClr val="C00000"/>
              </a:buClr>
              <a:defRPr/>
            </a:pPr>
            <a:r>
              <a:rPr lang="en-US" sz="2200" dirty="0">
                <a:solidFill>
                  <a:srgbClr val="FF0000"/>
                </a:solidFill>
                <a:latin typeface="Calibri" panose="020F0502020204030204" pitchFamily="34" charset="0"/>
                <a:ea typeface="Cambria" panose="02040503050406030204" pitchFamily="18" charset="0"/>
                <a:cs typeface="Calibri" panose="020F0502020204030204" pitchFamily="34" charset="0"/>
              </a:rPr>
              <a:t>Variable-length attributes</a:t>
            </a:r>
            <a:r>
              <a:rPr lang="en-US" sz="2200" dirty="0">
                <a:latin typeface="Calibri" panose="020F0502020204030204" pitchFamily="34" charset="0"/>
                <a:ea typeface="Cambria" panose="02040503050406030204" pitchFamily="18" charset="0"/>
                <a:cs typeface="Calibri" panose="020F0502020204030204" pitchFamily="34" charset="0"/>
              </a:rPr>
              <a:t> are represented by a </a:t>
            </a:r>
            <a:r>
              <a:rPr lang="en-US" sz="2200" dirty="0">
                <a:solidFill>
                  <a:srgbClr val="FF0000"/>
                </a:solidFill>
                <a:latin typeface="Calibri" panose="020F0502020204030204" pitchFamily="34" charset="0"/>
                <a:ea typeface="Cambria" panose="02040503050406030204" pitchFamily="18" charset="0"/>
                <a:cs typeface="Calibri" panose="020F0502020204030204" pitchFamily="34" charset="0"/>
              </a:rPr>
              <a:t>pair (offset, length),</a:t>
            </a:r>
            <a:r>
              <a:rPr lang="en-US" sz="2200" dirty="0">
                <a:latin typeface="Calibri" panose="020F0502020204030204" pitchFamily="34" charset="0"/>
                <a:ea typeface="Cambria" panose="02040503050406030204" pitchFamily="18" charset="0"/>
                <a:cs typeface="Calibri" panose="020F0502020204030204" pitchFamily="34" charset="0"/>
              </a:rPr>
              <a:t> where offset denotes where the data for that attribute begins within the record, and length is the length (in bytes) of the attribute.</a:t>
            </a:r>
          </a:p>
          <a:p>
            <a:pPr marL="347663" indent="-347663" algn="just">
              <a:spcBef>
                <a:spcPts val="300"/>
              </a:spcBef>
              <a:buClr>
                <a:srgbClr val="C00000"/>
              </a:buClr>
              <a:defRPr/>
            </a:pPr>
            <a:r>
              <a:rPr lang="en-US" sz="2200" dirty="0">
                <a:latin typeface="Calibri" panose="020F0502020204030204" pitchFamily="34" charset="0"/>
                <a:ea typeface="Cambria" panose="02040503050406030204" pitchFamily="18" charset="0"/>
                <a:cs typeface="Calibri" panose="020F0502020204030204" pitchFamily="34" charset="0"/>
              </a:rPr>
              <a:t>Consider a relation </a:t>
            </a:r>
            <a:r>
              <a:rPr lang="en-US" sz="2200" dirty="0">
                <a:solidFill>
                  <a:srgbClr val="0000CC"/>
                </a:solidFill>
                <a:latin typeface="Calibri" panose="020F0502020204030204" pitchFamily="34" charset="0"/>
                <a:ea typeface="Cambria" panose="02040503050406030204" pitchFamily="18" charset="0"/>
                <a:cs typeface="Calibri" panose="020F0502020204030204" pitchFamily="34" charset="0"/>
              </a:rPr>
              <a:t>EMP (ID, </a:t>
            </a:r>
            <a:r>
              <a:rPr lang="en-US" sz="2200" dirty="0" err="1">
                <a:solidFill>
                  <a:srgbClr val="0000CC"/>
                </a:solidFill>
                <a:latin typeface="Calibri" panose="020F0502020204030204" pitchFamily="34" charset="0"/>
                <a:ea typeface="Cambria" panose="02040503050406030204" pitchFamily="18" charset="0"/>
                <a:cs typeface="Calibri" panose="020F0502020204030204" pitchFamily="34" charset="0"/>
              </a:rPr>
              <a:t>eName</a:t>
            </a:r>
            <a:r>
              <a:rPr lang="en-US" sz="2200" dirty="0">
                <a:solidFill>
                  <a:srgbClr val="0000CC"/>
                </a:solidFill>
                <a:latin typeface="Calibri" panose="020F0502020204030204" pitchFamily="34" charset="0"/>
                <a:ea typeface="Cambria" panose="02040503050406030204" pitchFamily="18" charset="0"/>
                <a:cs typeface="Calibri" panose="020F0502020204030204" pitchFamily="34" charset="0"/>
              </a:rPr>
              <a:t>, job, </a:t>
            </a:r>
            <a:r>
              <a:rPr lang="en-US" sz="2200" dirty="0" err="1">
                <a:solidFill>
                  <a:srgbClr val="0000CC"/>
                </a:solidFill>
                <a:latin typeface="Calibri" panose="020F0502020204030204" pitchFamily="34" charset="0"/>
                <a:ea typeface="Cambria" panose="02040503050406030204" pitchFamily="18" charset="0"/>
                <a:cs typeface="Calibri" panose="020F0502020204030204" pitchFamily="34" charset="0"/>
              </a:rPr>
              <a:t>sal</a:t>
            </a:r>
            <a:r>
              <a:rPr lang="en-US" sz="2200" dirty="0">
                <a:solidFill>
                  <a:srgbClr val="0000CC"/>
                </a:solidFill>
                <a:latin typeface="Calibri" panose="020F0502020204030204" pitchFamily="34" charset="0"/>
                <a:ea typeface="Cambria" panose="02040503050406030204" pitchFamily="18" charset="0"/>
                <a:cs typeface="Calibri" panose="020F0502020204030204" pitchFamily="34" charset="0"/>
              </a:rPr>
              <a:t>). </a:t>
            </a:r>
            <a:r>
              <a:rPr lang="en-US" sz="2200" dirty="0">
                <a:latin typeface="Calibri" panose="020F0502020204030204" pitchFamily="34" charset="0"/>
                <a:ea typeface="Cambria" panose="02040503050406030204" pitchFamily="18" charset="0"/>
                <a:cs typeface="Calibri" panose="020F0502020204030204" pitchFamily="34" charset="0"/>
              </a:rPr>
              <a:t>The attributes are </a:t>
            </a:r>
            <a:r>
              <a:rPr lang="en-US" sz="2200" dirty="0">
                <a:solidFill>
                  <a:srgbClr val="0000CC"/>
                </a:solidFill>
                <a:latin typeface="Calibri" panose="020F0502020204030204" pitchFamily="34" charset="0"/>
                <a:ea typeface="Cambria" panose="02040503050406030204" pitchFamily="18" charset="0"/>
                <a:cs typeface="Calibri" panose="020F0502020204030204" pitchFamily="34" charset="0"/>
              </a:rPr>
              <a:t>ID, </a:t>
            </a:r>
            <a:r>
              <a:rPr lang="en-US" sz="2200" dirty="0" err="1">
                <a:solidFill>
                  <a:srgbClr val="0000CC"/>
                </a:solidFill>
                <a:latin typeface="Calibri" panose="020F0502020204030204" pitchFamily="34" charset="0"/>
                <a:ea typeface="Cambria" panose="02040503050406030204" pitchFamily="18" charset="0"/>
                <a:cs typeface="Calibri" panose="020F0502020204030204" pitchFamily="34" charset="0"/>
              </a:rPr>
              <a:t>eName</a:t>
            </a:r>
            <a:r>
              <a:rPr lang="en-US" sz="2200" dirty="0">
                <a:solidFill>
                  <a:srgbClr val="0000CC"/>
                </a:solidFill>
                <a:latin typeface="Calibri" panose="020F0502020204030204" pitchFamily="34" charset="0"/>
                <a:ea typeface="Cambria" panose="02040503050406030204" pitchFamily="18" charset="0"/>
                <a:cs typeface="Calibri" panose="020F0502020204030204" pitchFamily="34" charset="0"/>
              </a:rPr>
              <a:t>, job</a:t>
            </a:r>
            <a:r>
              <a:rPr lang="en-US" sz="2200" dirty="0">
                <a:latin typeface="Calibri" panose="020F0502020204030204" pitchFamily="34" charset="0"/>
                <a:ea typeface="Cambria" panose="02040503050406030204" pitchFamily="18" charset="0"/>
                <a:cs typeface="Calibri" panose="020F0502020204030204" pitchFamily="34" charset="0"/>
              </a:rPr>
              <a:t> are variable-length attributes, and </a:t>
            </a:r>
            <a:r>
              <a:rPr lang="en-US" sz="2200" dirty="0" err="1">
                <a:latin typeface="Calibri" panose="020F0502020204030204" pitchFamily="34" charset="0"/>
                <a:ea typeface="Cambria" panose="02040503050406030204" pitchFamily="18" charset="0"/>
                <a:cs typeface="Calibri" panose="020F0502020204030204" pitchFamily="34" charset="0"/>
              </a:rPr>
              <a:t>sal</a:t>
            </a:r>
            <a:r>
              <a:rPr lang="en-US" sz="2200" dirty="0">
                <a:latin typeface="Calibri" panose="020F0502020204030204" pitchFamily="34" charset="0"/>
                <a:ea typeface="Cambria" panose="02040503050406030204" pitchFamily="18" charset="0"/>
                <a:cs typeface="Calibri" panose="020F0502020204030204" pitchFamily="34" charset="0"/>
              </a:rPr>
              <a:t> is fixed length attribute of 8 bytes. </a:t>
            </a:r>
          </a:p>
          <a:p>
            <a:pPr marL="347663" indent="-347663" algn="just">
              <a:spcBef>
                <a:spcPts val="300"/>
              </a:spcBef>
              <a:buClr>
                <a:srgbClr val="C00000"/>
              </a:buClr>
              <a:defRPr/>
            </a:pPr>
            <a:r>
              <a:rPr lang="en-US" sz="2200" dirty="0">
                <a:latin typeface="Calibri" panose="020F0502020204030204" pitchFamily="34" charset="0"/>
                <a:ea typeface="Cambria" panose="02040503050406030204" pitchFamily="18" charset="0"/>
                <a:cs typeface="Calibri" panose="020F0502020204030204" pitchFamily="34" charset="0"/>
              </a:rPr>
              <a:t>Assuming that the offset and length use 2 bytes each, representation of a variable length record of EMP is shown below. </a:t>
            </a:r>
          </a:p>
          <a:p>
            <a:pPr marL="347663" indent="-347663" algn="just">
              <a:spcBef>
                <a:spcPts val="300"/>
              </a:spcBef>
              <a:buClr>
                <a:srgbClr val="C00000"/>
              </a:buClr>
              <a:defRPr/>
            </a:pPr>
            <a:r>
              <a:rPr lang="en-US" sz="2200" dirty="0">
                <a:latin typeface="Calibri" panose="020F0502020204030204" pitchFamily="34" charset="0"/>
                <a:ea typeface="Cambria" panose="02040503050406030204" pitchFamily="18" charset="0"/>
                <a:cs typeface="Calibri" panose="020F0502020204030204" pitchFamily="34" charset="0"/>
              </a:rPr>
              <a:t>Bit 1 in </a:t>
            </a:r>
            <a:r>
              <a:rPr lang="en-US" sz="2200" dirty="0">
                <a:solidFill>
                  <a:srgbClr val="FF0000"/>
                </a:solidFill>
                <a:latin typeface="Calibri" panose="020F0502020204030204" pitchFamily="34" charset="0"/>
                <a:ea typeface="Cambria" panose="02040503050406030204" pitchFamily="18" charset="0"/>
                <a:cs typeface="Calibri" panose="020F0502020204030204" pitchFamily="34" charset="0"/>
              </a:rPr>
              <a:t>NULL bitmap</a:t>
            </a:r>
            <a:r>
              <a:rPr lang="en-US" sz="2200" dirty="0">
                <a:latin typeface="Calibri" panose="020F0502020204030204" pitchFamily="34" charset="0"/>
                <a:ea typeface="Cambria" panose="02040503050406030204" pitchFamily="18" charset="0"/>
                <a:cs typeface="Calibri" panose="020F0502020204030204" pitchFamily="34" charset="0"/>
              </a:rPr>
              <a:t> at a certain position indicates NULL value of an attribute. </a:t>
            </a:r>
          </a:p>
          <a:p>
            <a:pPr marL="347663" indent="-347663" algn="just">
              <a:spcBef>
                <a:spcPts val="300"/>
              </a:spcBef>
              <a:buClr>
                <a:srgbClr val="C00000"/>
              </a:buClr>
              <a:defRPr/>
            </a:pPr>
            <a:endParaRPr lang="en-US" sz="2200" dirty="0">
              <a:latin typeface="Calibri" panose="020F0502020204030204" pitchFamily="34"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200" dirty="0">
              <a:latin typeface="Calibri" panose="020F0502020204030204" pitchFamily="34" charset="0"/>
              <a:ea typeface="Cambria" panose="02040503050406030204" pitchFamily="18" charset="0"/>
              <a:cs typeface="Calibri" panose="020F0502020204030204" pitchFamily="34" charset="0"/>
            </a:endParaRPr>
          </a:p>
        </p:txBody>
      </p:sp>
      <p:pic>
        <p:nvPicPr>
          <p:cNvPr id="4" name="Picture 3">
            <a:extLst>
              <a:ext uri="{FF2B5EF4-FFF2-40B4-BE49-F238E27FC236}">
                <a16:creationId xmlns:a16="http://schemas.microsoft.com/office/drawing/2014/main" id="{CBB4BEC7-2BAC-4EE1-9AB0-F979B518E5A4}"/>
              </a:ext>
            </a:extLst>
          </p:cNvPr>
          <p:cNvPicPr>
            <a:picLocks noChangeAspect="1"/>
          </p:cNvPicPr>
          <p:nvPr/>
        </p:nvPicPr>
        <p:blipFill>
          <a:blip r:embed="rId2"/>
          <a:stretch>
            <a:fillRect/>
          </a:stretch>
        </p:blipFill>
        <p:spPr>
          <a:xfrm>
            <a:off x="2157192" y="5444926"/>
            <a:ext cx="6663280" cy="1224434"/>
          </a:xfrm>
          <a:prstGeom prst="rect">
            <a:avLst/>
          </a:prstGeom>
        </p:spPr>
      </p:pic>
    </p:spTree>
    <p:extLst>
      <p:ext uri="{BB962C8B-B14F-4D97-AF65-F5344CB8AC3E}">
        <p14:creationId xmlns:p14="http://schemas.microsoft.com/office/powerpoint/2010/main" val="179985491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6FC8E-2AAF-DBA6-FE87-3D492B520FA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D40AD76-9E86-9F6D-6C13-441867866E90}"/>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Record Blocking</a:t>
            </a:r>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748EFA49-ABFD-6691-A417-543A24EED2F4}"/>
                  </a:ext>
                </a:extLst>
              </p:cNvPr>
              <p:cNvSpPr>
                <a:spLocks noGrp="1"/>
              </p:cNvSpPr>
              <p:nvPr>
                <p:ph sz="quarter" idx="1"/>
              </p:nvPr>
            </p:nvSpPr>
            <p:spPr>
              <a:xfrm>
                <a:off x="400050" y="649734"/>
                <a:ext cx="8492430" cy="6091634"/>
              </a:xfrm>
            </p:spPr>
            <p:txBody>
              <a:bodyPr/>
              <a:lstStyle/>
              <a:p>
                <a:pPr algn="just">
                  <a:spcBef>
                    <a:spcPts val="300"/>
                  </a:spcBef>
                  <a:defRPr/>
                </a:pPr>
                <a:r>
                  <a:rPr lang="en-US" sz="2200" dirty="0">
                    <a:latin typeface="Calibri" pitchFamily="34" charset="0"/>
                  </a:rPr>
                  <a:t>The records of a file must be allocated to disk blocks because a block is the unit of data transfer between disk and memory.</a:t>
                </a:r>
              </a:p>
              <a:p>
                <a:pPr algn="just">
                  <a:spcBef>
                    <a:spcPts val="300"/>
                  </a:spcBef>
                  <a:defRPr/>
                </a:pPr>
                <a:r>
                  <a:rPr lang="en-US" sz="2200" dirty="0">
                    <a:latin typeface="Calibri" pitchFamily="34" charset="0"/>
                  </a:rPr>
                  <a:t>When the block size is larger than the record size, each block will contain numerous records, although some files may have unusually large records that cannot fit in one block.</a:t>
                </a:r>
              </a:p>
              <a:p>
                <a:pPr algn="just">
                  <a:spcBef>
                    <a:spcPts val="300"/>
                  </a:spcBef>
                  <a:defRPr/>
                </a:pPr>
                <a:r>
                  <a:rPr lang="en-US" sz="2200" b="1" dirty="0">
                    <a:solidFill>
                      <a:srgbClr val="0000CC"/>
                    </a:solidFill>
                    <a:latin typeface="Calibri" pitchFamily="34" charset="0"/>
                  </a:rPr>
                  <a:t>Blocking Factor (</a:t>
                </a:r>
                <a:r>
                  <a:rPr lang="en-US" sz="2200" b="1" dirty="0" err="1">
                    <a:solidFill>
                      <a:srgbClr val="0000CC"/>
                    </a:solidFill>
                    <a:latin typeface="Calibri" pitchFamily="34" charset="0"/>
                  </a:rPr>
                  <a:t>bfr</a:t>
                </a:r>
                <a:r>
                  <a:rPr lang="en-US" sz="2200" b="1" dirty="0">
                    <a:solidFill>
                      <a:srgbClr val="0000CC"/>
                    </a:solidFill>
                    <a:latin typeface="Calibri" pitchFamily="34" charset="0"/>
                  </a:rPr>
                  <a:t>):</a:t>
                </a:r>
                <a:r>
                  <a:rPr lang="en-US" sz="2200" dirty="0">
                    <a:latin typeface="Calibri" pitchFamily="34" charset="0"/>
                  </a:rPr>
                  <a:t> Suppose that the block size is </a:t>
                </a:r>
                <a:r>
                  <a:rPr lang="en-US" sz="2200" i="1" dirty="0">
                    <a:solidFill>
                      <a:srgbClr val="FF0000"/>
                    </a:solidFill>
                    <a:latin typeface="Calibri" pitchFamily="34" charset="0"/>
                  </a:rPr>
                  <a:t>B</a:t>
                </a:r>
                <a:r>
                  <a:rPr lang="en-US" sz="2200" dirty="0">
                    <a:latin typeface="Calibri" pitchFamily="34" charset="0"/>
                  </a:rPr>
                  <a:t> bytes. For a file of fixed-length records of size </a:t>
                </a:r>
                <a:r>
                  <a:rPr lang="en-US" sz="2200" i="1" dirty="0">
                    <a:solidFill>
                      <a:srgbClr val="FF0000"/>
                    </a:solidFill>
                    <a:latin typeface="Calibri" pitchFamily="34" charset="0"/>
                  </a:rPr>
                  <a:t>R</a:t>
                </a:r>
                <a:r>
                  <a:rPr lang="en-US" sz="2200" dirty="0">
                    <a:latin typeface="Calibri" pitchFamily="34" charset="0"/>
                  </a:rPr>
                  <a:t> bytes, with </a:t>
                </a:r>
                <a14:m>
                  <m:oMath xmlns:m="http://schemas.openxmlformats.org/officeDocument/2006/math">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𝑅</m:t>
                    </m:r>
                  </m:oMath>
                </a14:m>
                <a:r>
                  <a:rPr lang="en-US" sz="2200" dirty="0">
                    <a:solidFill>
                      <a:srgbClr val="FF0000"/>
                    </a:solidFill>
                    <a:latin typeface="Calibri" pitchFamily="34" charset="0"/>
                  </a:rPr>
                  <a:t>,</a:t>
                </a:r>
                <a:r>
                  <a:rPr lang="en-US" sz="2200" dirty="0">
                    <a:latin typeface="Calibri" pitchFamily="34" charset="0"/>
                  </a:rPr>
                  <a:t> we can fit </a:t>
                </a:r>
                <a14:m>
                  <m:oMath xmlns:m="http://schemas.openxmlformats.org/officeDocument/2006/math">
                    <m:r>
                      <a:rPr lang="en-US" sz="2200" i="1" dirty="0" smtClean="0">
                        <a:solidFill>
                          <a:srgbClr val="FF0000"/>
                        </a:solidFill>
                        <a:latin typeface="Cambria Math" panose="02040503050406030204" pitchFamily="18" charset="0"/>
                      </a:rPr>
                      <m:t>𝑏𝑓𝑟</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𝑅</m:t>
                    </m:r>
                    <m:r>
                      <a:rPr lang="en-US" sz="2200" i="1" dirty="0" smtClean="0">
                        <a:solidFill>
                          <a:srgbClr val="FF0000"/>
                        </a:solidFill>
                        <a:latin typeface="Cambria Math" panose="02040503050406030204" pitchFamily="18" charset="0"/>
                      </a:rPr>
                      <m:t>⎦</m:t>
                    </m:r>
                  </m:oMath>
                </a14:m>
                <a:r>
                  <a:rPr lang="en-US" sz="2200" dirty="0">
                    <a:latin typeface="Calibri" pitchFamily="34" charset="0"/>
                  </a:rPr>
                  <a:t> records per block.</a:t>
                </a:r>
              </a:p>
              <a:p>
                <a:pPr algn="just">
                  <a:spcBef>
                    <a:spcPts val="300"/>
                  </a:spcBef>
                  <a:defRPr/>
                </a:pPr>
                <a:r>
                  <a:rPr lang="en-US" sz="2200" dirty="0">
                    <a:latin typeface="Calibri" pitchFamily="34" charset="0"/>
                  </a:rPr>
                  <a:t>In general, </a:t>
                </a:r>
                <a:r>
                  <a:rPr lang="en-US" sz="2200" i="1" dirty="0">
                    <a:solidFill>
                      <a:srgbClr val="FF0000"/>
                    </a:solidFill>
                    <a:latin typeface="Calibri" pitchFamily="34" charset="0"/>
                  </a:rPr>
                  <a:t>R</a:t>
                </a:r>
                <a:r>
                  <a:rPr lang="en-US" sz="2200" dirty="0">
                    <a:latin typeface="Calibri" pitchFamily="34" charset="0"/>
                  </a:rPr>
                  <a:t> may not divide B exactly, so we have some unused space in each block equal to </a:t>
                </a:r>
                <a14:m>
                  <m:oMath xmlns:m="http://schemas.openxmlformats.org/officeDocument/2006/math">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 − (</m:t>
                    </m:r>
                    <m:r>
                      <a:rPr lang="en-US" sz="2200" i="1" dirty="0" err="1" smtClean="0">
                        <a:solidFill>
                          <a:srgbClr val="FF0000"/>
                        </a:solidFill>
                        <a:latin typeface="Cambria Math" panose="02040503050406030204" pitchFamily="18" charset="0"/>
                      </a:rPr>
                      <m:t>𝑏𝑓𝑟</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𝑅</m:t>
                    </m:r>
                    <m:r>
                      <a:rPr lang="en-US" sz="2200" i="1" dirty="0" smtClean="0">
                        <a:solidFill>
                          <a:srgbClr val="FF0000"/>
                        </a:solidFill>
                        <a:latin typeface="Cambria Math" panose="02040503050406030204" pitchFamily="18" charset="0"/>
                      </a:rPr>
                      <m:t>)</m:t>
                    </m:r>
                  </m:oMath>
                </a14:m>
                <a:r>
                  <a:rPr lang="en-US" sz="2200" dirty="0">
                    <a:latin typeface="Calibri" pitchFamily="34" charset="0"/>
                  </a:rPr>
                  <a:t> bytes.</a:t>
                </a:r>
              </a:p>
              <a:p>
                <a:pPr marL="0" indent="0" algn="just">
                  <a:spcBef>
                    <a:spcPts val="300"/>
                  </a:spcBef>
                  <a:buNone/>
                  <a:defRPr/>
                </a:pPr>
                <a:endParaRPr lang="en-US" sz="1000" b="1" dirty="0">
                  <a:solidFill>
                    <a:srgbClr val="0000CC"/>
                  </a:solidFill>
                  <a:latin typeface="Calibri" pitchFamily="34" charset="0"/>
                </a:endParaRPr>
              </a:p>
              <a:p>
                <a:pPr algn="just">
                  <a:spcBef>
                    <a:spcPts val="300"/>
                  </a:spcBef>
                  <a:defRPr/>
                </a:pPr>
                <a:r>
                  <a:rPr lang="en-US" sz="2000" b="1" dirty="0">
                    <a:solidFill>
                      <a:srgbClr val="0000CC"/>
                    </a:solidFill>
                    <a:latin typeface="Calibri" pitchFamily="34" charset="0"/>
                  </a:rPr>
                  <a:t>Un spanned organization:</a:t>
                </a:r>
              </a:p>
              <a:p>
                <a:pPr algn="just">
                  <a:spcBef>
                    <a:spcPts val="300"/>
                  </a:spcBef>
                  <a:defRPr/>
                </a:pPr>
                <a:r>
                  <a:rPr lang="en-US" sz="2000" dirty="0">
                    <a:latin typeface="Calibri" pitchFamily="34" charset="0"/>
                  </a:rPr>
                  <a:t>A record is not allowed </a:t>
                </a:r>
              </a:p>
              <a:p>
                <a:pPr marL="0" indent="0" algn="just">
                  <a:spcBef>
                    <a:spcPts val="300"/>
                  </a:spcBef>
                  <a:buNone/>
                  <a:defRPr/>
                </a:pPr>
                <a:r>
                  <a:rPr lang="en-US" sz="2000" dirty="0">
                    <a:latin typeface="Calibri" pitchFamily="34" charset="0"/>
                  </a:rPr>
                  <a:t>    to cross block boundaries. </a:t>
                </a:r>
              </a:p>
              <a:p>
                <a:pPr algn="just">
                  <a:spcBef>
                    <a:spcPts val="300"/>
                  </a:spcBef>
                  <a:defRPr/>
                </a:pPr>
                <a:r>
                  <a:rPr lang="en-US" sz="2000" b="1" dirty="0">
                    <a:solidFill>
                      <a:srgbClr val="0000CC"/>
                    </a:solidFill>
                    <a:latin typeface="Calibri" pitchFamily="34" charset="0"/>
                  </a:rPr>
                  <a:t>Spanned organization:</a:t>
                </a:r>
                <a:r>
                  <a:rPr lang="en-US" sz="2000" dirty="0">
                    <a:latin typeface="Calibri" pitchFamily="34" charset="0"/>
                  </a:rPr>
                  <a:t> </a:t>
                </a:r>
              </a:p>
              <a:p>
                <a:pPr algn="just">
                  <a:spcBef>
                    <a:spcPts val="300"/>
                  </a:spcBef>
                  <a:defRPr/>
                </a:pPr>
                <a:r>
                  <a:rPr lang="en-US" sz="2000" dirty="0">
                    <a:latin typeface="Calibri" pitchFamily="34" charset="0"/>
                  </a:rPr>
                  <a:t>A record can be stored </a:t>
                </a:r>
              </a:p>
              <a:p>
                <a:pPr marL="0" indent="0" algn="just">
                  <a:spcBef>
                    <a:spcPts val="300"/>
                  </a:spcBef>
                  <a:buNone/>
                  <a:defRPr/>
                </a:pPr>
                <a:r>
                  <a:rPr lang="en-US" sz="2000" dirty="0">
                    <a:latin typeface="Calibri" pitchFamily="34" charset="0"/>
                  </a:rPr>
                  <a:t>    at multiple block.</a:t>
                </a:r>
              </a:p>
              <a:p>
                <a:pPr algn="just">
                  <a:spcBef>
                    <a:spcPts val="300"/>
                  </a:spcBef>
                  <a:defRPr/>
                </a:pPr>
                <a:endParaRPr lang="en-US" sz="2200" dirty="0">
                  <a:latin typeface="Calibri" pitchFamily="34" charset="0"/>
                </a:endParaRPr>
              </a:p>
              <a:p>
                <a:pPr algn="just">
                  <a:spcBef>
                    <a:spcPts val="300"/>
                  </a:spcBef>
                  <a:defRPr/>
                </a:pPr>
                <a:endParaRPr lang="en-US" sz="2200" dirty="0">
                  <a:latin typeface="Calibri" pitchFamily="34" charset="0"/>
                </a:endParaRPr>
              </a:p>
            </p:txBody>
          </p:sp>
        </mc:Choice>
        <mc:Fallback>
          <p:sp>
            <p:nvSpPr>
              <p:cNvPr id="2" name="Content Placeholder 1">
                <a:extLst>
                  <a:ext uri="{FF2B5EF4-FFF2-40B4-BE49-F238E27FC236}">
                    <a16:creationId xmlns:a16="http://schemas.microsoft.com/office/drawing/2014/main" id="{748EFA49-ABFD-6691-A417-543A24EED2F4}"/>
                  </a:ext>
                </a:extLst>
              </p:cNvPr>
              <p:cNvSpPr>
                <a:spLocks noGrp="1" noRot="1" noChangeAspect="1" noMove="1" noResize="1" noEditPoints="1" noAdjustHandles="1" noChangeArrowheads="1" noChangeShapeType="1" noTextEdit="1"/>
              </p:cNvSpPr>
              <p:nvPr>
                <p:ph sz="quarter" idx="1"/>
              </p:nvPr>
            </p:nvSpPr>
            <p:spPr>
              <a:xfrm>
                <a:off x="400050" y="649734"/>
                <a:ext cx="8492430" cy="6091634"/>
              </a:xfrm>
              <a:blipFill>
                <a:blip r:embed="rId2"/>
                <a:stretch>
                  <a:fillRect l="-431" t="-701" r="-9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F27EA23-BEDD-DE72-7A1A-07073D3CA6F1}"/>
              </a:ext>
            </a:extLst>
          </p:cNvPr>
          <p:cNvPicPr>
            <a:picLocks noChangeAspect="1"/>
          </p:cNvPicPr>
          <p:nvPr/>
        </p:nvPicPr>
        <p:blipFill>
          <a:blip r:embed="rId3"/>
          <a:stretch>
            <a:fillRect/>
          </a:stretch>
        </p:blipFill>
        <p:spPr>
          <a:xfrm>
            <a:off x="3779912" y="4437112"/>
            <a:ext cx="5254580" cy="1952017"/>
          </a:xfrm>
          <a:prstGeom prst="rect">
            <a:avLst/>
          </a:prstGeom>
        </p:spPr>
      </p:pic>
    </p:spTree>
    <p:extLst>
      <p:ext uri="{BB962C8B-B14F-4D97-AF65-F5344CB8AC3E}">
        <p14:creationId xmlns:p14="http://schemas.microsoft.com/office/powerpoint/2010/main" val="274297646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D762-1177-785B-257E-EF9096700B7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FA2E047-C744-0725-ADD7-694ABDBA0C35}"/>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File Organization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9919BF04-679D-AE6E-667C-1D21BFBCD3E6}"/>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Record Blocking</a:t>
            </a:r>
            <a:endParaRPr lang="en-US" sz="20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The blocks of a file can be allocated on the disk in the following ways:</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a) Contiguous Allocation:</a:t>
            </a:r>
            <a:r>
              <a:rPr lang="en-US" sz="2400" dirty="0">
                <a:latin typeface="Cambria" panose="02040503050406030204" pitchFamily="18" charset="0"/>
                <a:ea typeface="Cambria" panose="02040503050406030204" pitchFamily="18" charset="0"/>
                <a:cs typeface="Calibri" panose="020F0502020204030204" pitchFamily="34" charset="0"/>
              </a:rPr>
              <a:t> The file blocks are allocated to consecutive disk blocks. This makes reading the whole file very fast, but it makes expanding the file difficult. </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b) Linked Allocation:</a:t>
            </a:r>
            <a:r>
              <a:rPr lang="en-US" sz="2400" dirty="0">
                <a:latin typeface="Cambria" panose="02040503050406030204" pitchFamily="18" charset="0"/>
                <a:ea typeface="Cambria" panose="02040503050406030204" pitchFamily="18" charset="0"/>
                <a:cs typeface="Calibri" panose="020F0502020204030204" pitchFamily="34" charset="0"/>
              </a:rPr>
              <a:t> Each file block contains a pointer to the next file block. This makes it easy to expand the file but makes it slow to read the whole file.</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c) Cluster Allocation:</a:t>
            </a:r>
            <a:r>
              <a:rPr lang="en-US" sz="2400" dirty="0">
                <a:latin typeface="Cambria" panose="02040503050406030204" pitchFamily="18" charset="0"/>
                <a:ea typeface="Cambria" panose="02040503050406030204" pitchFamily="18" charset="0"/>
                <a:cs typeface="Calibri" panose="020F0502020204030204" pitchFamily="34" charset="0"/>
              </a:rPr>
              <a:t> It is a combination (a) and (b). </a:t>
            </a:r>
          </a:p>
          <a:p>
            <a:pPr marL="0" indent="0" algn="just">
              <a:spcBef>
                <a:spcPts val="300"/>
              </a:spcBef>
              <a:buClr>
                <a:srgbClr val="C00000"/>
              </a:buClr>
              <a:buNone/>
              <a:defRPr/>
            </a:pPr>
            <a:r>
              <a:rPr lang="en-US" sz="2400" dirty="0">
                <a:latin typeface="Cambria" panose="02040503050406030204" pitchFamily="18" charset="0"/>
                <a:ea typeface="Cambria" panose="02040503050406030204" pitchFamily="18" charset="0"/>
                <a:cs typeface="Calibri" panose="020F0502020204030204" pitchFamily="34" charset="0"/>
              </a:rPr>
              <a:t>It allocates clusters of consecutive disk blocks, and the clusters are linked. Clusters are sometimes called file segments or extents.</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d) Indexed Allocation:</a:t>
            </a:r>
            <a:r>
              <a:rPr lang="en-US" sz="2400" dirty="0">
                <a:latin typeface="Cambria" panose="02040503050406030204" pitchFamily="18" charset="0"/>
                <a:ea typeface="Cambria" panose="02040503050406030204" pitchFamily="18" charset="0"/>
                <a:cs typeface="Calibri" panose="020F0502020204030204" pitchFamily="34" charset="0"/>
              </a:rPr>
              <a:t> One or more index blocks contain pointers to the actual file blocks.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FF017B43-7895-5335-0461-0F4831EE489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E99E1705-05B9-7560-D7B9-3BEC4BD4FF6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00138488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34BD1-97E2-0157-70A8-7FA68AC269F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AB51D7C-9B3F-12CF-B44A-AF839B035A9D}"/>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 – </a:t>
            </a:r>
            <a:r>
              <a:rPr lang="en-US" sz="2800" b="1" u="sng" dirty="0">
                <a:solidFill>
                  <a:srgbClr val="0000CC"/>
                </a:solidFill>
                <a:latin typeface="Cambria" panose="02040503050406030204" pitchFamily="18" charset="0"/>
                <a:ea typeface="Cambria" panose="02040503050406030204" pitchFamily="18" charset="0"/>
              </a:rPr>
              <a:t>File Organization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46AE3467-1A07-8908-2AC6-AE0B8971B313}"/>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Records Organization</a:t>
            </a:r>
          </a:p>
          <a:p>
            <a:pPr marL="347663" indent="-347663" algn="just">
              <a:spcBef>
                <a:spcPts val="300"/>
              </a:spcBef>
              <a:buClr>
                <a:srgbClr val="C00000"/>
              </a:buClr>
              <a:defRPr/>
            </a:pPr>
            <a:r>
              <a:rPr lang="en-US" sz="2000" dirty="0">
                <a:latin typeface="Cambria" panose="02040503050406030204" pitchFamily="18" charset="0"/>
                <a:ea typeface="Cambria" panose="02040503050406030204" pitchFamily="18" charset="0"/>
                <a:cs typeface="Calibri" panose="020F0502020204030204" pitchFamily="34" charset="0"/>
              </a:rPr>
              <a:t>The records of a file can be organized on the disk in the following ways:</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1. Heap or pile or unordered file:</a:t>
            </a:r>
            <a:r>
              <a:rPr lang="en-US" sz="2400" dirty="0">
                <a:latin typeface="Cambria" panose="02040503050406030204" pitchFamily="18" charset="0"/>
                <a:ea typeface="Cambria" panose="02040503050406030204" pitchFamily="18" charset="0"/>
                <a:cs typeface="Calibri" panose="020F0502020204030204" pitchFamily="34" charset="0"/>
              </a:rPr>
              <a:t> Any record can be placed anywhere in the file where there is space for the record. There is no ordering of records.</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2. Sequential or sorted file:</a:t>
            </a:r>
            <a:r>
              <a:rPr lang="en-US" sz="2400" dirty="0">
                <a:latin typeface="Cambria" panose="02040503050406030204" pitchFamily="18" charset="0"/>
                <a:ea typeface="Cambria" panose="02040503050406030204" pitchFamily="18" charset="0"/>
                <a:cs typeface="Calibri" panose="020F0502020204030204" pitchFamily="34" charset="0"/>
              </a:rPr>
              <a:t> Records are stored in sequential order, according to the value of a "sort key" of each record.</a:t>
            </a:r>
          </a:p>
          <a:p>
            <a:pPr marL="0" indent="0" algn="just">
              <a:spcBef>
                <a:spcPts val="300"/>
              </a:spcBef>
              <a:buClr>
                <a:srgbClr val="C00000"/>
              </a:buClr>
              <a:buNone/>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3. Indexed Sequential file.</a:t>
            </a:r>
            <a:r>
              <a:rPr lang="en-US" sz="2400" dirty="0">
                <a:latin typeface="Cambria" panose="02040503050406030204" pitchFamily="18" charset="0"/>
                <a:ea typeface="Cambria" panose="02040503050406030204" pitchFamily="18" charset="0"/>
                <a:cs typeface="Calibri" panose="020F0502020204030204" pitchFamily="34" charset="0"/>
              </a:rPr>
              <a:t> </a:t>
            </a:r>
          </a:p>
          <a:p>
            <a:pPr marL="0" indent="0" algn="just">
              <a:spcBef>
                <a:spcPts val="300"/>
              </a:spcBef>
              <a:buClr>
                <a:srgbClr val="C00000"/>
              </a:buClr>
              <a:buNone/>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4. Hashed file:</a:t>
            </a:r>
            <a:r>
              <a:rPr lang="en-US" sz="2400" dirty="0">
                <a:latin typeface="Cambria" panose="02040503050406030204" pitchFamily="18" charset="0"/>
                <a:ea typeface="Cambria" panose="02040503050406030204" pitchFamily="18" charset="0"/>
                <a:cs typeface="Calibri" panose="020F0502020204030204" pitchFamily="34" charset="0"/>
              </a:rPr>
              <a:t> Place of a record is determined using a hash function applied to a particular field called hash key“.</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A8695B44-9DF1-A810-5FF7-9B028B56FB0F}"/>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C1600432-2228-2C6A-FAD0-222D5964E101}"/>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6609388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3D677-5C08-92DF-7B9E-36FA351FA1B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2485215-EE60-CD0B-B38D-8EDEC992C1E6}"/>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Organization of Records in Files</a:t>
            </a:r>
          </a:p>
        </p:txBody>
      </p:sp>
      <p:sp>
        <p:nvSpPr>
          <p:cNvPr id="2" name="Content Placeholder 1">
            <a:extLst>
              <a:ext uri="{FF2B5EF4-FFF2-40B4-BE49-F238E27FC236}">
                <a16:creationId xmlns:a16="http://schemas.microsoft.com/office/drawing/2014/main" id="{2E16B334-4D07-0978-9EB0-3232A59E10C2}"/>
              </a:ext>
            </a:extLst>
          </p:cNvPr>
          <p:cNvSpPr>
            <a:spLocks noGrp="1"/>
          </p:cNvSpPr>
          <p:nvPr>
            <p:ph sz="quarter" idx="1"/>
          </p:nvPr>
        </p:nvSpPr>
        <p:spPr>
          <a:xfrm>
            <a:off x="400050" y="649734"/>
            <a:ext cx="8492430" cy="6091634"/>
          </a:xfrm>
        </p:spPr>
        <p:txBody>
          <a:bodyPr/>
          <a:lstStyle/>
          <a:p>
            <a:pPr marL="0" indent="0" algn="just">
              <a:spcBef>
                <a:spcPts val="300"/>
              </a:spcBef>
              <a:buNone/>
              <a:defRPr/>
            </a:pPr>
            <a:r>
              <a:rPr lang="en-US" sz="2400" b="1" dirty="0">
                <a:solidFill>
                  <a:srgbClr val="0000CC"/>
                </a:solidFill>
                <a:latin typeface="Calibri" pitchFamily="34" charset="0"/>
              </a:rPr>
              <a:t>Insertion in Sequential file</a:t>
            </a:r>
            <a:r>
              <a:rPr lang="en-US" sz="2400" dirty="0">
                <a:latin typeface="Calibri" pitchFamily="34" charset="0"/>
              </a:rPr>
              <a:t> </a:t>
            </a:r>
          </a:p>
          <a:p>
            <a:pPr marL="457200" indent="-457200" algn="just">
              <a:spcBef>
                <a:spcPts val="300"/>
              </a:spcBef>
              <a:buAutoNum type="arabicPeriod"/>
              <a:defRPr/>
            </a:pPr>
            <a:r>
              <a:rPr lang="en-US" sz="2400" dirty="0">
                <a:latin typeface="Calibri" pitchFamily="34" charset="0"/>
              </a:rPr>
              <a:t>Locate the record in the file that comes before the record to be inserted in search key order.</a:t>
            </a:r>
          </a:p>
          <a:p>
            <a:pPr marL="457200" indent="-457200" algn="just">
              <a:spcBef>
                <a:spcPts val="300"/>
              </a:spcBef>
              <a:buAutoNum type="arabicPeriod"/>
              <a:defRPr/>
            </a:pPr>
            <a:r>
              <a:rPr lang="en-US" sz="2400" dirty="0">
                <a:latin typeface="Calibri" pitchFamily="34" charset="0"/>
              </a:rPr>
              <a:t>If there is a free record (i.e., space left after a deletion) within the same block as this record, insert the new record there.</a:t>
            </a:r>
          </a:p>
          <a:p>
            <a:pPr marL="0" indent="0" algn="just">
              <a:spcBef>
                <a:spcPts val="300"/>
              </a:spcBef>
              <a:buNone/>
              <a:defRPr/>
            </a:pPr>
            <a:r>
              <a:rPr lang="en-US" sz="2400" dirty="0">
                <a:latin typeface="Calibri" pitchFamily="34" charset="0"/>
              </a:rPr>
              <a:t>Otherwise, insert </a:t>
            </a:r>
          </a:p>
          <a:p>
            <a:pPr marL="0" indent="0" algn="just">
              <a:spcBef>
                <a:spcPts val="300"/>
              </a:spcBef>
              <a:buNone/>
              <a:defRPr/>
            </a:pPr>
            <a:r>
              <a:rPr lang="en-US" sz="2400" dirty="0">
                <a:latin typeface="Calibri" pitchFamily="34" charset="0"/>
              </a:rPr>
              <a:t>the new record in an </a:t>
            </a:r>
          </a:p>
          <a:p>
            <a:pPr marL="0" indent="0" algn="just">
              <a:spcBef>
                <a:spcPts val="300"/>
              </a:spcBef>
              <a:buNone/>
              <a:defRPr/>
            </a:pPr>
            <a:r>
              <a:rPr lang="en-US" sz="2400" dirty="0">
                <a:solidFill>
                  <a:srgbClr val="FF0000"/>
                </a:solidFill>
                <a:latin typeface="Calibri" pitchFamily="34" charset="0"/>
              </a:rPr>
              <a:t>overflow block.</a:t>
            </a:r>
            <a:r>
              <a:rPr lang="en-US" sz="2400" dirty="0">
                <a:latin typeface="Calibri" pitchFamily="34" charset="0"/>
              </a:rPr>
              <a:t> </a:t>
            </a:r>
          </a:p>
          <a:p>
            <a:pPr algn="just">
              <a:spcBef>
                <a:spcPts val="300"/>
              </a:spcBef>
              <a:defRPr/>
            </a:pPr>
            <a:r>
              <a:rPr lang="en-US" sz="2400" dirty="0">
                <a:latin typeface="Calibri" pitchFamily="34" charset="0"/>
              </a:rPr>
              <a:t>If too many overflow </a:t>
            </a:r>
          </a:p>
          <a:p>
            <a:pPr marL="0" indent="0" algn="just">
              <a:spcBef>
                <a:spcPts val="300"/>
              </a:spcBef>
              <a:buNone/>
              <a:defRPr/>
            </a:pPr>
            <a:r>
              <a:rPr lang="en-US" sz="2400" dirty="0">
                <a:latin typeface="Calibri" pitchFamily="34" charset="0"/>
              </a:rPr>
              <a:t>blocks are generated </a:t>
            </a:r>
          </a:p>
          <a:p>
            <a:pPr marL="0" indent="0" algn="just">
              <a:spcBef>
                <a:spcPts val="300"/>
              </a:spcBef>
              <a:buNone/>
              <a:defRPr/>
            </a:pPr>
            <a:r>
              <a:rPr lang="en-US" sz="2400" dirty="0">
                <a:latin typeface="Calibri" pitchFamily="34" charset="0"/>
              </a:rPr>
              <a:t>over time, the file </a:t>
            </a:r>
          </a:p>
          <a:p>
            <a:pPr marL="0" indent="0" algn="just">
              <a:spcBef>
                <a:spcPts val="300"/>
              </a:spcBef>
              <a:buNone/>
              <a:defRPr/>
            </a:pPr>
            <a:r>
              <a:rPr lang="en-US" sz="2400" dirty="0">
                <a:latin typeface="Calibri" pitchFamily="34" charset="0"/>
              </a:rPr>
              <a:t>should be </a:t>
            </a:r>
            <a:r>
              <a:rPr lang="en-US" sz="2400" dirty="0">
                <a:solidFill>
                  <a:srgbClr val="FF0000"/>
                </a:solidFill>
                <a:latin typeface="Calibri" pitchFamily="34" charset="0"/>
              </a:rPr>
              <a:t>reorganized.</a:t>
            </a:r>
            <a:r>
              <a:rPr lang="en-US" sz="2400" dirty="0">
                <a:latin typeface="Calibri" pitchFamily="34" charset="0"/>
              </a:rPr>
              <a:t>   </a:t>
            </a:r>
          </a:p>
        </p:txBody>
      </p:sp>
      <p:pic>
        <p:nvPicPr>
          <p:cNvPr id="4" name="Picture 3">
            <a:extLst>
              <a:ext uri="{FF2B5EF4-FFF2-40B4-BE49-F238E27FC236}">
                <a16:creationId xmlns:a16="http://schemas.microsoft.com/office/drawing/2014/main" id="{3E0C2D59-FD82-EACE-4156-627862275FD7}"/>
              </a:ext>
            </a:extLst>
          </p:cNvPr>
          <p:cNvPicPr>
            <a:picLocks noChangeAspect="1"/>
          </p:cNvPicPr>
          <p:nvPr/>
        </p:nvPicPr>
        <p:blipFill>
          <a:blip r:embed="rId2"/>
          <a:stretch>
            <a:fillRect/>
          </a:stretch>
        </p:blipFill>
        <p:spPr>
          <a:xfrm>
            <a:off x="3513930" y="2536508"/>
            <a:ext cx="5522566" cy="4060844"/>
          </a:xfrm>
          <a:prstGeom prst="rect">
            <a:avLst/>
          </a:prstGeom>
        </p:spPr>
      </p:pic>
    </p:spTree>
    <p:extLst>
      <p:ext uri="{BB962C8B-B14F-4D97-AF65-F5344CB8AC3E}">
        <p14:creationId xmlns:p14="http://schemas.microsoft.com/office/powerpoint/2010/main" val="216570460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1EFD5-2A70-6D87-0C7D-304E5729B6AB}"/>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AD7864A-E755-0076-E517-2EB9ADBEE87C}"/>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File Organization</a:t>
            </a:r>
            <a:r>
              <a:rPr lang="en-US" sz="2800" b="1" dirty="0">
                <a:solidFill>
                  <a:srgbClr val="D34817"/>
                </a:solidFill>
                <a:latin typeface="Cambria" panose="02040503050406030204" pitchFamily="18" charset="0"/>
                <a:ea typeface="Cambria" panose="02040503050406030204" pitchFamily="18" charset="0"/>
              </a:rPr>
              <a:t> - </a:t>
            </a:r>
            <a:r>
              <a:rPr lang="en-US" sz="2800" b="1" dirty="0">
                <a:solidFill>
                  <a:srgbClr val="0000CC"/>
                </a:solidFill>
                <a:latin typeface="Cambria" panose="02040503050406030204" pitchFamily="18" charset="0"/>
                <a:ea typeface="Cambria" panose="02040503050406030204" pitchFamily="18" charset="0"/>
                <a:cs typeface="Calibri" panose="020F0502020204030204" pitchFamily="34" charset="0"/>
              </a:rPr>
              <a:t>Indexing</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E49C8E83-6839-BB2B-D405-6516814103EF}"/>
              </a:ext>
            </a:extLst>
          </p:cNvPr>
          <p:cNvSpPr>
            <a:spLocks noGrp="1"/>
          </p:cNvSpPr>
          <p:nvPr>
            <p:ph sz="quarter" idx="1"/>
          </p:nvPr>
        </p:nvSpPr>
        <p:spPr>
          <a:xfrm>
            <a:off x="251520" y="620688"/>
            <a:ext cx="8568952" cy="2088232"/>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Sequential file organization are good for searching, but involves a significant overhead of keeping it sorted. An alternate is to maintain an index on the file.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many cases, a RDBMS may give little or no choice for choosing file organization, although some may be established as indexes are specified.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Indexing enable quick data access based on particular attribute(s) known as </a:t>
            </a:r>
          </a:p>
          <a:p>
            <a:pPr marL="0" indent="0" algn="just">
              <a:spcBef>
                <a:spcPts val="300"/>
              </a:spcBef>
              <a:buClr>
                <a:srgbClr val="C00000"/>
              </a:buClr>
              <a:buNone/>
              <a:defRPr/>
            </a:pPr>
            <a:r>
              <a:rPr lang="en-US" sz="2400" dirty="0">
                <a:latin typeface="Cambria" panose="02040503050406030204" pitchFamily="18" charset="0"/>
                <a:ea typeface="Cambria" panose="02040503050406030204" pitchFamily="18" charset="0"/>
                <a:cs typeface="Calibri" panose="020F0502020204030204" pitchFamily="34" charset="0"/>
              </a:rPr>
              <a:t>     index key(s). </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E8707071-AD76-F5F8-EBB5-325DA92CC27F}"/>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4" name="object 3">
            <a:extLst>
              <a:ext uri="{FF2B5EF4-FFF2-40B4-BE49-F238E27FC236}">
                <a16:creationId xmlns:a16="http://schemas.microsoft.com/office/drawing/2014/main" id="{C0870E98-BE6F-1D3F-EA04-D0B94D99D262}"/>
              </a:ext>
            </a:extLst>
          </p:cNvPr>
          <p:cNvPicPr/>
          <p:nvPr/>
        </p:nvPicPr>
        <p:blipFill>
          <a:blip r:embed="rId2" cstate="print"/>
          <a:stretch>
            <a:fillRect/>
          </a:stretch>
        </p:blipFill>
        <p:spPr>
          <a:xfrm>
            <a:off x="4091496" y="3429000"/>
            <a:ext cx="4728976" cy="3024336"/>
          </a:xfrm>
          <a:prstGeom prst="rect">
            <a:avLst/>
          </a:prstGeom>
        </p:spPr>
      </p:pic>
      <p:sp>
        <p:nvSpPr>
          <p:cNvPr id="6" name="Content Placeholder 1">
            <a:extLst>
              <a:ext uri="{FF2B5EF4-FFF2-40B4-BE49-F238E27FC236}">
                <a16:creationId xmlns:a16="http://schemas.microsoft.com/office/drawing/2014/main" id="{A5CE8154-E65F-154F-EDB8-14F87EBDD45C}"/>
              </a:ext>
            </a:extLst>
          </p:cNvPr>
          <p:cNvSpPr txBox="1">
            <a:spLocks/>
          </p:cNvSpPr>
          <p:nvPr/>
        </p:nvSpPr>
        <p:spPr bwMode="auto">
          <a:xfrm>
            <a:off x="255007" y="4077072"/>
            <a:ext cx="3672408"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Indexes provide secondary pathways to access records without changing their physical position in the main file.</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84533070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F250-F541-59FB-881E-C66FE8CD879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B2E8DA2-5C3D-4391-C1B9-67D7A981F643}"/>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File Organization</a:t>
            </a:r>
            <a:r>
              <a:rPr lang="en-US" sz="2800" b="1" dirty="0">
                <a:solidFill>
                  <a:srgbClr val="D34817"/>
                </a:solidFill>
                <a:latin typeface="Cambria" panose="02040503050406030204" pitchFamily="18" charset="0"/>
                <a:ea typeface="Cambria" panose="02040503050406030204" pitchFamily="18" charset="0"/>
              </a:rPr>
              <a:t> - </a:t>
            </a:r>
            <a:r>
              <a:rPr lang="en-US" sz="2800" b="1" dirty="0">
                <a:solidFill>
                  <a:srgbClr val="0000CC"/>
                </a:solidFill>
                <a:latin typeface="Cambria" panose="02040503050406030204" pitchFamily="18" charset="0"/>
                <a:ea typeface="Cambria" panose="02040503050406030204" pitchFamily="18" charset="0"/>
                <a:cs typeface="Calibri" panose="020F0502020204030204" pitchFamily="34" charset="0"/>
              </a:rPr>
              <a:t>Indexing</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71F67CBE-8092-6EC9-2ED2-74B613868D92}"/>
              </a:ext>
            </a:extLst>
          </p:cNvPr>
          <p:cNvSpPr>
            <a:spLocks noGrp="1"/>
          </p:cNvSpPr>
          <p:nvPr>
            <p:ph sz="quarter" idx="1"/>
          </p:nvPr>
        </p:nvSpPr>
        <p:spPr>
          <a:xfrm>
            <a:off x="251520" y="620688"/>
            <a:ext cx="8568952" cy="4896544"/>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Indexes can be established on any relation field, be it primary key or non-key. An index on primary key is called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primary index</a:t>
            </a:r>
            <a:r>
              <a:rPr lang="en-US" sz="2400" dirty="0">
                <a:latin typeface="Cambria" panose="02040503050406030204" pitchFamily="18" charset="0"/>
                <a:ea typeface="Cambria" panose="02040503050406030204" pitchFamily="18" charset="0"/>
                <a:cs typeface="Calibri" panose="020F0502020204030204" pitchFamily="34" charset="0"/>
              </a:rPr>
              <a:t> and an index on non key is called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secondary index.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primary index</a:t>
            </a:r>
            <a:r>
              <a:rPr lang="en-US" sz="2400" dirty="0">
                <a:latin typeface="Cambria" panose="02040503050406030204" pitchFamily="18" charset="0"/>
                <a:ea typeface="Cambria" panose="02040503050406030204" pitchFamily="18" charset="0"/>
                <a:cs typeface="Calibri" panose="020F0502020204030204" pitchFamily="34" charset="0"/>
              </a:rPr>
              <a:t> is specified on the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ordering key</a:t>
            </a:r>
            <a:r>
              <a:rPr lang="en-US" sz="2400" dirty="0">
                <a:latin typeface="Cambria" panose="02040503050406030204" pitchFamily="18" charset="0"/>
                <a:ea typeface="Cambria" panose="02040503050406030204" pitchFamily="18" charset="0"/>
                <a:cs typeface="Calibri" panose="020F0502020204030204" pitchFamily="34" charset="0"/>
              </a:rPr>
              <a:t> field of an ordered file of records. If the ordering field is not a key field – then it will be called a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clustering index.</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file can have at most one physical ordering field, however, each attribute can have a dedicated index file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(secondary index),</a:t>
            </a:r>
            <a:r>
              <a:rPr lang="en-US" sz="2400" dirty="0">
                <a:latin typeface="Cambria" panose="02040503050406030204" pitchFamily="18" charset="0"/>
                <a:ea typeface="Cambria" panose="02040503050406030204" pitchFamily="18" charset="0"/>
                <a:cs typeface="Calibri" panose="020F0502020204030204" pitchFamily="34" charset="0"/>
              </a:rPr>
              <a:t> </a:t>
            </a:r>
            <a:r>
              <a:rPr lang="en-US" sz="2400" dirty="0" err="1">
                <a:latin typeface="Cambria" panose="02040503050406030204" pitchFamily="18" charset="0"/>
                <a:ea typeface="Cambria" panose="02040503050406030204" pitchFamily="18" charset="0"/>
                <a:cs typeface="Calibri" panose="020F0502020204030204" pitchFamily="34" charset="0"/>
              </a:rPr>
              <a:t>i</a:t>
            </a:r>
            <a:r>
              <a:rPr lang="en-US" sz="2400" dirty="0">
                <a:latin typeface="Cambria" panose="02040503050406030204" pitchFamily="18" charset="0"/>
                <a:ea typeface="Cambria" panose="02040503050406030204" pitchFamily="18" charset="0"/>
                <a:cs typeface="Calibri" panose="020F0502020204030204" pitchFamily="34" charset="0"/>
              </a:rPr>
              <a:t>,.e., multiple index files may exist for one main file.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index file is always sorted, irrespective of the main file's order. An index is useful for an attribute:</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Used most often for join operations. </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Used most often to access the tuples in a relation.</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Frequently involved in ORDER BY/GROUP BY clause.</a:t>
            </a:r>
          </a:p>
          <a:p>
            <a:pPr marL="622301" lvl="1" indent="-347663" algn="just">
              <a:spcBef>
                <a:spcPts val="300"/>
              </a:spcBef>
              <a:buClr>
                <a:srgbClr val="C00000"/>
              </a:buClr>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Contains a wide range of values.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CF90772F-8444-7FB5-FBFE-EA0AD2933363}"/>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1463542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9AD14-D5E1-1674-08E4-8E50DFC0339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0D3ADA92-9727-ACFD-7ABC-A06A75804215}"/>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File Organization</a:t>
            </a:r>
            <a:r>
              <a:rPr lang="en-US" sz="2800" b="1" dirty="0">
                <a:solidFill>
                  <a:srgbClr val="D34817"/>
                </a:solidFill>
                <a:latin typeface="Cambria" panose="02040503050406030204" pitchFamily="18" charset="0"/>
                <a:ea typeface="Cambria" panose="02040503050406030204" pitchFamily="18" charset="0"/>
              </a:rPr>
              <a:t> - </a:t>
            </a:r>
            <a:r>
              <a:rPr lang="en-US" sz="2800" b="1" dirty="0">
                <a:solidFill>
                  <a:srgbClr val="0000CC"/>
                </a:solidFill>
                <a:latin typeface="Cambria" panose="02040503050406030204" pitchFamily="18" charset="0"/>
                <a:ea typeface="Cambria" panose="02040503050406030204" pitchFamily="18" charset="0"/>
                <a:cs typeface="Calibri" panose="020F0502020204030204" pitchFamily="34" charset="0"/>
              </a:rPr>
              <a:t>Indexing</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2304E761-01B1-EFFB-C21C-4B54CC98123C}"/>
              </a:ext>
            </a:extLst>
          </p:cNvPr>
          <p:cNvSpPr>
            <a:spLocks noGrp="1"/>
          </p:cNvSpPr>
          <p:nvPr>
            <p:ph sz="quarter" idx="1"/>
          </p:nvPr>
        </p:nvSpPr>
        <p:spPr>
          <a:xfrm>
            <a:off x="251520" y="620688"/>
            <a:ext cx="4211960" cy="4896544"/>
          </a:xfrm>
        </p:spPr>
        <p:txBody>
          <a:bodyPr/>
          <a:lstStyle/>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An index file record contain only two columns;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index key</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block pointer</a:t>
            </a:r>
            <a:r>
              <a:rPr lang="en-US" sz="2400" dirty="0">
                <a:latin typeface="Cambria" panose="02040503050406030204" pitchFamily="18" charset="0"/>
                <a:ea typeface="Cambria" panose="02040503050406030204" pitchFamily="18" charset="0"/>
                <a:cs typeface="Calibri" panose="020F0502020204030204" pitchFamily="34" charset="0"/>
              </a:rPr>
              <a:t> (base address of the block of main file which contains the record holding the key).</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total number of entries in the index is the same as the number of disk blocks in the ordered data file. The first record in each block of the data file is called the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anchor record</a:t>
            </a:r>
            <a:r>
              <a:rPr lang="en-US" sz="2400" dirty="0">
                <a:latin typeface="Cambria" panose="02040503050406030204" pitchFamily="18" charset="0"/>
                <a:ea typeface="Cambria" panose="02040503050406030204" pitchFamily="18" charset="0"/>
                <a:cs typeface="Calibri" panose="020F0502020204030204" pitchFamily="34" charset="0"/>
              </a:rPr>
              <a:t> of the block, or simply the block anchor</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BF416458-4BFE-A72C-DF6A-E21DAF271DA2}"/>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4" name="object 3">
            <a:extLst>
              <a:ext uri="{FF2B5EF4-FFF2-40B4-BE49-F238E27FC236}">
                <a16:creationId xmlns:a16="http://schemas.microsoft.com/office/drawing/2014/main" id="{0BDE3E71-3219-BC41-EF23-474F7163BC61}"/>
              </a:ext>
            </a:extLst>
          </p:cNvPr>
          <p:cNvPicPr/>
          <p:nvPr/>
        </p:nvPicPr>
        <p:blipFill>
          <a:blip r:embed="rId2" cstate="print"/>
          <a:stretch>
            <a:fillRect/>
          </a:stretch>
        </p:blipFill>
        <p:spPr>
          <a:xfrm>
            <a:off x="4644008" y="794048"/>
            <a:ext cx="4211960" cy="5371256"/>
          </a:xfrm>
          <a:prstGeom prst="rect">
            <a:avLst/>
          </a:prstGeom>
        </p:spPr>
      </p:pic>
    </p:spTree>
    <p:extLst>
      <p:ext uri="{BB962C8B-B14F-4D97-AF65-F5344CB8AC3E}">
        <p14:creationId xmlns:p14="http://schemas.microsoft.com/office/powerpoint/2010/main" val="41485955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78C1-934C-AAF1-8837-0438BE4C25D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30F5BDF-2557-F34E-7B76-9FD079C0F1C6}"/>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File Organization</a:t>
            </a:r>
            <a:r>
              <a:rPr lang="en-US" sz="2800" b="1" dirty="0">
                <a:solidFill>
                  <a:srgbClr val="D34817"/>
                </a:solidFill>
                <a:latin typeface="Cambria" panose="02040503050406030204" pitchFamily="18" charset="0"/>
                <a:ea typeface="Cambria" panose="02040503050406030204" pitchFamily="18" charset="0"/>
              </a:rPr>
              <a:t> - </a:t>
            </a:r>
            <a:r>
              <a:rPr lang="en-US" sz="2800" b="1" dirty="0">
                <a:solidFill>
                  <a:srgbClr val="0000CC"/>
                </a:solidFill>
                <a:latin typeface="Cambria" panose="02040503050406030204" pitchFamily="18" charset="0"/>
                <a:ea typeface="Cambria" panose="02040503050406030204" pitchFamily="18" charset="0"/>
                <a:cs typeface="Calibri" panose="020F0502020204030204" pitchFamily="34" charset="0"/>
              </a:rPr>
              <a:t>Indexing</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E5F1909D-5864-AA06-D701-A9D80DD0358A}"/>
              </a:ext>
            </a:extLst>
          </p:cNvPr>
          <p:cNvSpPr>
            <a:spLocks noGrp="1"/>
          </p:cNvSpPr>
          <p:nvPr>
            <p:ph sz="quarter" idx="1"/>
          </p:nvPr>
        </p:nvSpPr>
        <p:spPr>
          <a:xfrm>
            <a:off x="251520" y="620688"/>
            <a:ext cx="8568952" cy="4896544"/>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Dense vs Sparse Index</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dense index</a:t>
            </a:r>
            <a:r>
              <a:rPr lang="en-US" sz="2400" dirty="0">
                <a:latin typeface="Cambria" panose="02040503050406030204" pitchFamily="18" charset="0"/>
                <a:ea typeface="Cambria" panose="02040503050406030204" pitchFamily="18" charset="0"/>
                <a:cs typeface="Calibri" panose="020F0502020204030204" pitchFamily="34" charset="0"/>
              </a:rPr>
              <a:t> has an index entry for every search key value (and hence every record) in the data file. This makes searching faster but requires more space to store index records itself.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a:t>
            </a: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sparse (or </a:t>
            </a:r>
            <a:r>
              <a:rPr lang="en-US" sz="2400" b="1" dirty="0" err="1">
                <a:solidFill>
                  <a:srgbClr val="FF0000"/>
                </a:solidFill>
                <a:latin typeface="Cambria" panose="02040503050406030204" pitchFamily="18" charset="0"/>
                <a:ea typeface="Cambria" panose="02040503050406030204" pitchFamily="18" charset="0"/>
                <a:cs typeface="Calibri" panose="020F0502020204030204" pitchFamily="34" charset="0"/>
              </a:rPr>
              <a:t>nondense</a:t>
            </a: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 index,</a:t>
            </a:r>
            <a:r>
              <a:rPr lang="en-US" sz="2400" dirty="0">
                <a:latin typeface="Cambria" panose="02040503050406030204" pitchFamily="18" charset="0"/>
                <a:ea typeface="Cambria" panose="02040503050406030204" pitchFamily="18" charset="0"/>
                <a:cs typeface="Calibri" panose="020F0502020204030204" pitchFamily="34" charset="0"/>
              </a:rPr>
              <a:t> on the other hand, has index entries for only some of the search values. A sparse index has fewer entries than the number of records in the file.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primary index is a </a:t>
            </a:r>
            <a:r>
              <a:rPr lang="en-US" sz="2400" dirty="0" err="1">
                <a:latin typeface="Cambria" panose="02040503050406030204" pitchFamily="18" charset="0"/>
                <a:ea typeface="Cambria" panose="02040503050406030204" pitchFamily="18" charset="0"/>
                <a:cs typeface="Calibri" panose="020F0502020204030204" pitchFamily="34" charset="0"/>
              </a:rPr>
              <a:t>nondense</a:t>
            </a:r>
            <a:r>
              <a:rPr lang="en-US" sz="2400" dirty="0">
                <a:latin typeface="Cambria" panose="02040503050406030204" pitchFamily="18" charset="0"/>
                <a:ea typeface="Cambria" panose="02040503050406030204" pitchFamily="18" charset="0"/>
                <a:cs typeface="Calibri" panose="020F0502020204030204" pitchFamily="34" charset="0"/>
              </a:rPr>
              <a:t> (sparse) index, since it includes an entry for each disk block of the data file and the keys of its anchor record rather than for every search record.</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F05B582F-BEB1-8252-93A5-5210D58A777A}"/>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406632974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F3BF-2D8E-6527-0079-008031BD01B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6946CEBD-F05B-9CDC-D7C3-3151EBAD1721}"/>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94402A6B-A94B-7451-6CA2-AEFC0A0E147D}"/>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Denormalization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Denormalization is a technique to move from higher to lower normal forms of database modeling in order to speed up database access.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fully normalized database schema can fail to provide adequate system response time due to excessive table join operations.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Denormalization results in combining two relations into one relation. More specifically, in this step, we consider duplicating certain attributes or combining relations together to reduce the number of joins required to perform a query.</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As a general rule of thumb, if performance is unsatisfactory and a relation has a low update rate and very high query rate, denormalization may be a viable option.</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DE6C522A-44D7-02FC-C8B4-33836327B76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B5CEA8CA-A718-4DE6-6459-B8F335591C97}"/>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83934966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4F4FB-F405-5FDE-C88F-4C16CA17DC74}"/>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8FD410C-939C-F98E-C5BB-792D6CECAF90}"/>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D1D110AE-4DE9-50C3-B2F0-2620CA1745E8}"/>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Denormalization</a:t>
            </a:r>
          </a:p>
          <a:p>
            <a:pPr marL="347663" indent="-347663" algn="just">
              <a:spcBef>
                <a:spcPts val="300"/>
              </a:spcBef>
              <a:buClr>
                <a:srgbClr val="C00000"/>
              </a:buClr>
              <a:defRPr/>
            </a:pPr>
            <a:r>
              <a:rPr lang="en-US" sz="2400" b="1" dirty="0">
                <a:solidFill>
                  <a:srgbClr val="FF0000"/>
                </a:solidFill>
                <a:latin typeface="Cambria" panose="02040503050406030204" pitchFamily="18" charset="0"/>
                <a:ea typeface="Cambria" panose="02040503050406030204" pitchFamily="18" charset="0"/>
                <a:cs typeface="Calibri" panose="020F0502020204030204" pitchFamily="34" charset="0"/>
              </a:rPr>
              <a:t>Denormalization Situation 1:</a:t>
            </a:r>
            <a:r>
              <a:rPr lang="en-US" sz="2400" b="1"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Many to many binary relationships mapped to three relations. </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EMP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empID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eName</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job, Sal)</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PROJ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pjId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pjName</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WORK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empID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pjId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dtHired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By de-normalizing these relations, we merge the WORK relation with PROJ relation. In this case it is violating 2NF and anomalies of 2NF would be there, but there would be only one join operation involved by joining two tables, which increases the efficiency.</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EMP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empID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eName</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job, Sal)</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PROJ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pjId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pjName</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empId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dtHired</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7505A74D-2768-756F-575D-B64DFAF1BD5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6BEBCD4-3F38-EF93-07B3-0623BD21D781}"/>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70367177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7953667-A207-285C-B9F4-8D7C969CE7CC}"/>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Denormalization</a:t>
            </a:r>
          </a:p>
        </p:txBody>
      </p:sp>
      <p:sp>
        <p:nvSpPr>
          <p:cNvPr id="2" name="Content Placeholder 1">
            <a:extLst>
              <a:ext uri="{FF2B5EF4-FFF2-40B4-BE49-F238E27FC236}">
                <a16:creationId xmlns:a16="http://schemas.microsoft.com/office/drawing/2014/main" id="{BBF83A51-5766-1E7B-357D-862E3AD0B34A}"/>
              </a:ext>
            </a:extLst>
          </p:cNvPr>
          <p:cNvSpPr>
            <a:spLocks noGrp="1"/>
          </p:cNvSpPr>
          <p:nvPr>
            <p:ph sz="quarter" idx="1"/>
          </p:nvPr>
        </p:nvSpPr>
        <p:spPr>
          <a:xfrm>
            <a:off x="400050" y="649734"/>
            <a:ext cx="8492430" cy="6091634"/>
          </a:xfrm>
        </p:spPr>
        <p:txBody>
          <a:bodyPr/>
          <a:lstStyle/>
          <a:p>
            <a:pPr marL="0" indent="0" algn="just">
              <a:spcBef>
                <a:spcPts val="300"/>
              </a:spcBef>
              <a:buNone/>
              <a:defRPr/>
            </a:pPr>
            <a:r>
              <a:rPr lang="en-US" sz="2200" b="1" u="sng" dirty="0">
                <a:solidFill>
                  <a:srgbClr val="0000CC"/>
                </a:solidFill>
                <a:latin typeface="Calibri" panose="020F0502020204030204" pitchFamily="34" charset="0"/>
                <a:ea typeface="+mj-ea"/>
                <a:cs typeface="+mj-cs"/>
              </a:rPr>
              <a:t>Denormalization Situation 2: </a:t>
            </a:r>
          </a:p>
          <a:p>
            <a:pPr algn="just">
              <a:spcBef>
                <a:spcPts val="300"/>
              </a:spcBef>
              <a:defRPr/>
            </a:pPr>
            <a:r>
              <a:rPr lang="en-US" sz="2200" dirty="0">
                <a:latin typeface="Calibri" pitchFamily="34" charset="0"/>
              </a:rPr>
              <a:t>We have attributes that are almost always used together in application and they end up in different relations, then we will always have to perform a join operation when we retrieve them. </a:t>
            </a:r>
          </a:p>
          <a:p>
            <a:pPr algn="just">
              <a:spcBef>
                <a:spcPts val="300"/>
              </a:spcBef>
              <a:defRPr/>
            </a:pPr>
            <a:r>
              <a:rPr lang="en-US" sz="2200" dirty="0">
                <a:latin typeface="Calibri" pitchFamily="34" charset="0"/>
              </a:rPr>
              <a:t>Example: Consider the following relation:</a:t>
            </a:r>
          </a:p>
          <a:p>
            <a:pPr lvl="1" algn="just">
              <a:spcBef>
                <a:spcPts val="300"/>
              </a:spcBef>
              <a:defRPr/>
            </a:pPr>
            <a:r>
              <a:rPr lang="en-US" sz="2200" dirty="0">
                <a:solidFill>
                  <a:srgbClr val="0000CC"/>
                </a:solidFill>
                <a:latin typeface="Calibri" panose="020F0502020204030204" pitchFamily="34" charset="0"/>
                <a:ea typeface="+mj-ea"/>
                <a:cs typeface="+mj-cs"/>
              </a:rPr>
              <a:t>EMP (</a:t>
            </a:r>
            <a:r>
              <a:rPr lang="en-US" sz="2200" dirty="0" err="1">
                <a:solidFill>
                  <a:srgbClr val="0000CC"/>
                </a:solidFill>
                <a:latin typeface="Calibri" panose="020F0502020204030204" pitchFamily="34" charset="0"/>
                <a:ea typeface="+mj-ea"/>
                <a:cs typeface="+mj-cs"/>
              </a:rPr>
              <a:t>empID</a:t>
            </a:r>
            <a:r>
              <a:rPr lang="en-US" sz="2200" dirty="0">
                <a:solidFill>
                  <a:srgbClr val="0000CC"/>
                </a:solidFill>
                <a:latin typeface="Calibri" panose="020F0502020204030204" pitchFamily="34" charset="0"/>
                <a:ea typeface="+mj-ea"/>
                <a:cs typeface="+mj-cs"/>
              </a:rPr>
              <a:t>, </a:t>
            </a:r>
            <a:r>
              <a:rPr lang="en-US" sz="2200" dirty="0" err="1">
                <a:solidFill>
                  <a:srgbClr val="0000CC"/>
                </a:solidFill>
                <a:latin typeface="Calibri" panose="020F0502020204030204" pitchFamily="34" charset="0"/>
                <a:ea typeface="+mj-ea"/>
                <a:cs typeface="+mj-cs"/>
              </a:rPr>
              <a:t>eName</a:t>
            </a:r>
            <a:r>
              <a:rPr lang="en-US" sz="2200" dirty="0">
                <a:solidFill>
                  <a:srgbClr val="0000CC"/>
                </a:solidFill>
                <a:latin typeface="Calibri" panose="020F0502020204030204" pitchFamily="34" charset="0"/>
                <a:ea typeface="+mj-ea"/>
                <a:cs typeface="+mj-cs"/>
              </a:rPr>
              <a:t>, street, postcode, city)</a:t>
            </a:r>
          </a:p>
          <a:p>
            <a:pPr algn="just">
              <a:spcBef>
                <a:spcPts val="300"/>
              </a:spcBef>
              <a:defRPr/>
            </a:pPr>
            <a:r>
              <a:rPr lang="en-US" sz="2200" dirty="0">
                <a:latin typeface="Calibri" pitchFamily="34" charset="0"/>
              </a:rPr>
              <a:t>The relation has a transitive dependency </a:t>
            </a:r>
            <a:r>
              <a:rPr lang="en-US" sz="2200" dirty="0">
                <a:solidFill>
                  <a:srgbClr val="FF0000"/>
                </a:solidFill>
                <a:latin typeface="Calibri" pitchFamily="34" charset="0"/>
              </a:rPr>
              <a:t>postcode -&gt; city.</a:t>
            </a:r>
          </a:p>
          <a:p>
            <a:pPr algn="just">
              <a:spcBef>
                <a:spcPts val="300"/>
              </a:spcBef>
              <a:defRPr/>
            </a:pPr>
            <a:r>
              <a:rPr lang="en-US" sz="2200" dirty="0">
                <a:latin typeface="Calibri" pitchFamily="34" charset="0"/>
              </a:rPr>
              <a:t>After converting the above relation into 3NF, we have</a:t>
            </a:r>
          </a:p>
          <a:p>
            <a:pPr lvl="1" algn="just">
              <a:spcBef>
                <a:spcPts val="300"/>
              </a:spcBef>
              <a:defRPr/>
            </a:pPr>
            <a:r>
              <a:rPr lang="en-US" sz="2200" dirty="0">
                <a:solidFill>
                  <a:srgbClr val="0000CC"/>
                </a:solidFill>
                <a:latin typeface="Calibri" panose="020F0502020204030204" pitchFamily="34" charset="0"/>
                <a:ea typeface="+mj-ea"/>
                <a:cs typeface="+mj-cs"/>
              </a:rPr>
              <a:t>EMP (</a:t>
            </a:r>
            <a:r>
              <a:rPr lang="en-US" sz="2200" dirty="0" err="1">
                <a:solidFill>
                  <a:srgbClr val="0000CC"/>
                </a:solidFill>
                <a:latin typeface="Calibri" panose="020F0502020204030204" pitchFamily="34" charset="0"/>
                <a:ea typeface="+mj-ea"/>
                <a:cs typeface="+mj-cs"/>
              </a:rPr>
              <a:t>empID</a:t>
            </a:r>
            <a:r>
              <a:rPr lang="en-US" sz="2200" dirty="0">
                <a:solidFill>
                  <a:srgbClr val="0000CC"/>
                </a:solidFill>
                <a:latin typeface="Calibri" panose="020F0502020204030204" pitchFamily="34" charset="0"/>
                <a:ea typeface="+mj-ea"/>
                <a:cs typeface="+mj-cs"/>
              </a:rPr>
              <a:t>, </a:t>
            </a:r>
            <a:r>
              <a:rPr lang="en-US" sz="2200" dirty="0" err="1">
                <a:solidFill>
                  <a:srgbClr val="0000CC"/>
                </a:solidFill>
                <a:latin typeface="Calibri" panose="020F0502020204030204" pitchFamily="34" charset="0"/>
                <a:ea typeface="+mj-ea"/>
                <a:cs typeface="+mj-cs"/>
              </a:rPr>
              <a:t>eName</a:t>
            </a:r>
            <a:r>
              <a:rPr lang="en-US" sz="2200" dirty="0">
                <a:solidFill>
                  <a:srgbClr val="0000CC"/>
                </a:solidFill>
                <a:latin typeface="Calibri" panose="020F0502020204030204" pitchFamily="34" charset="0"/>
                <a:ea typeface="+mj-ea"/>
                <a:cs typeface="+mj-cs"/>
              </a:rPr>
              <a:t>, street, postcode)</a:t>
            </a:r>
          </a:p>
          <a:p>
            <a:pPr lvl="1" algn="just">
              <a:spcBef>
                <a:spcPts val="300"/>
              </a:spcBef>
              <a:defRPr/>
            </a:pPr>
            <a:r>
              <a:rPr lang="en-US" sz="2200" dirty="0">
                <a:solidFill>
                  <a:srgbClr val="0000CC"/>
                </a:solidFill>
                <a:latin typeface="Calibri" panose="020F0502020204030204" pitchFamily="34" charset="0"/>
                <a:ea typeface="+mj-ea"/>
                <a:cs typeface="+mj-cs"/>
              </a:rPr>
              <a:t>LOCATION (postcode, city)</a:t>
            </a:r>
          </a:p>
          <a:p>
            <a:pPr algn="just">
              <a:spcBef>
                <a:spcPts val="300"/>
              </a:spcBef>
              <a:defRPr/>
            </a:pPr>
            <a:r>
              <a:rPr lang="en-US" sz="2200" dirty="0">
                <a:latin typeface="Calibri" pitchFamily="34" charset="0"/>
              </a:rPr>
              <a:t>However, this would mean that we would have to do a join whenever we want a complete address for a person. In this case, we would settle for 2NF and implement the original EMP relation. </a:t>
            </a:r>
          </a:p>
          <a:p>
            <a:pPr algn="just">
              <a:defRPr/>
            </a:pPr>
            <a:r>
              <a:rPr lang="en-US" sz="2200" dirty="0">
                <a:latin typeface="Calibri" pitchFamily="34" charset="0"/>
              </a:rPr>
              <a:t>An alternative is to additionally store the join of </a:t>
            </a:r>
            <a:r>
              <a:rPr lang="en-US" sz="2200" dirty="0">
                <a:solidFill>
                  <a:srgbClr val="FF0000"/>
                </a:solidFill>
                <a:latin typeface="Calibri" pitchFamily="34" charset="0"/>
              </a:rPr>
              <a:t>EMP</a:t>
            </a:r>
            <a:r>
              <a:rPr lang="en-US" sz="2200" dirty="0">
                <a:latin typeface="Calibri" pitchFamily="34" charset="0"/>
              </a:rPr>
              <a:t> and </a:t>
            </a:r>
            <a:r>
              <a:rPr lang="en-US" sz="2200" dirty="0">
                <a:solidFill>
                  <a:srgbClr val="FF0000"/>
                </a:solidFill>
                <a:latin typeface="Calibri" pitchFamily="34" charset="0"/>
              </a:rPr>
              <a:t>LOCATION</a:t>
            </a:r>
            <a:r>
              <a:rPr lang="en-US" sz="2200" dirty="0">
                <a:latin typeface="Calibri" pitchFamily="34" charset="0"/>
              </a:rPr>
              <a:t> as a </a:t>
            </a:r>
            <a:r>
              <a:rPr lang="en-US" sz="2200" dirty="0">
                <a:solidFill>
                  <a:srgbClr val="0000CC"/>
                </a:solidFill>
                <a:latin typeface="Calibri" panose="020F0502020204030204" pitchFamily="34" charset="0"/>
                <a:ea typeface="+mj-ea"/>
                <a:cs typeface="+mj-cs"/>
              </a:rPr>
              <a:t>materialized view </a:t>
            </a:r>
            <a:r>
              <a:rPr lang="en-US" sz="2200" dirty="0">
                <a:latin typeface="Calibri" pitchFamily="34" charset="0"/>
              </a:rPr>
              <a:t>(A view whose result is stored in the database and brought up to date when the relations used in the view are updated.) </a:t>
            </a:r>
          </a:p>
          <a:p>
            <a:pPr algn="just">
              <a:spcBef>
                <a:spcPts val="300"/>
              </a:spcBef>
              <a:defRPr/>
            </a:pPr>
            <a:endParaRPr lang="en-US" sz="2200" dirty="0">
              <a:latin typeface="Calibri" pitchFamily="34" charset="0"/>
            </a:endParaRPr>
          </a:p>
          <a:p>
            <a:pPr>
              <a:spcBef>
                <a:spcPts val="300"/>
              </a:spcBef>
            </a:pPr>
            <a:endParaRPr lang="en-US" sz="2200" dirty="0"/>
          </a:p>
        </p:txBody>
      </p:sp>
    </p:spTree>
    <p:extLst>
      <p:ext uri="{BB962C8B-B14F-4D97-AF65-F5344CB8AC3E}">
        <p14:creationId xmlns:p14="http://schemas.microsoft.com/office/powerpoint/2010/main" val="123627604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0F804-EA58-5473-EF03-FB1BB53CA50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C620F53-45B8-6C49-0CD2-6F6C86E51093}"/>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099EB6BC-FC9C-C103-4239-E5E1C562C93F}"/>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Design user views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View is a subset of the database that is presented to one or more users.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view is often referred to as a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virtual table.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Views are created to satisfy the requirements of multiple users in an efficient way.</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A0C5D6D9-E980-F1E8-50A7-B9463E2E8C4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E450FD9B-0578-6BE4-2474-504ADEAED21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5963281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5B79-D90F-F377-EC74-72E2C71DD4E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8459A4D-F2D8-D0ED-1D9C-53140AC853AE}"/>
              </a:ext>
            </a:extLst>
          </p:cNvPr>
          <p:cNvSpPr>
            <a:spLocks noGrp="1" noChangeArrowheads="1"/>
          </p:cNvSpPr>
          <p:nvPr>
            <p:ph type="title"/>
          </p:nvPr>
        </p:nvSpPr>
        <p:spPr>
          <a:xfrm>
            <a:off x="395808" y="116632"/>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Database Access Control</a:t>
            </a:r>
          </a:p>
        </p:txBody>
      </p:sp>
      <p:sp>
        <p:nvSpPr>
          <p:cNvPr id="2" name="Content Placeholder 1">
            <a:extLst>
              <a:ext uri="{FF2B5EF4-FFF2-40B4-BE49-F238E27FC236}">
                <a16:creationId xmlns:a16="http://schemas.microsoft.com/office/drawing/2014/main" id="{E069D429-9DA9-599D-BFAC-165DD0D4AAC8}"/>
              </a:ext>
            </a:extLst>
          </p:cNvPr>
          <p:cNvSpPr>
            <a:spLocks noGrp="1"/>
          </p:cNvSpPr>
          <p:nvPr>
            <p:ph sz="quarter" idx="1"/>
          </p:nvPr>
        </p:nvSpPr>
        <p:spPr>
          <a:xfrm>
            <a:off x="400050" y="476672"/>
            <a:ext cx="8492430" cy="6091634"/>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Database access control is the process of making sure that data or other resources are accessed only in authorized ways.</a:t>
            </a:r>
          </a:p>
          <a:p>
            <a:pPr algn="just">
              <a:spcBef>
                <a:spcPts val="300"/>
              </a:spcBef>
              <a:defRPr/>
            </a:pPr>
            <a:r>
              <a:rPr lang="en-US" sz="2400" dirty="0">
                <a:solidFill>
                  <a:srgbClr val="FF0000"/>
                </a:solidFill>
                <a:latin typeface="Cambria" panose="02040503050406030204" pitchFamily="18" charset="0"/>
                <a:ea typeface="Cambria" panose="02040503050406030204" pitchFamily="18" charset="0"/>
              </a:rPr>
              <a:t>Access Control Matrix or Authorization Table </a:t>
            </a:r>
            <a:r>
              <a:rPr lang="en-US" sz="2400" dirty="0">
                <a:latin typeface="Cambria" panose="02040503050406030204" pitchFamily="18" charset="0"/>
                <a:ea typeface="Cambria" panose="02040503050406030204" pitchFamily="18" charset="0"/>
              </a:rPr>
              <a:t>is used to describe the access type or actions that a database user can perform on a given database object. </a:t>
            </a:r>
          </a:p>
          <a:p>
            <a:pPr algn="just">
              <a:spcBef>
                <a:spcPts val="300"/>
              </a:spcBef>
              <a:defRPr/>
            </a:pPr>
            <a:r>
              <a:rPr lang="en-US" sz="2400" dirty="0">
                <a:latin typeface="Cambria" panose="02040503050406030204" pitchFamily="18" charset="0"/>
                <a:ea typeface="Cambria" panose="02040503050406030204" pitchFamily="18" charset="0"/>
              </a:rPr>
              <a:t>It expresses the Authorization Rules in the form of a table or matrix that include </a:t>
            </a:r>
            <a:r>
              <a:rPr lang="en-US" sz="2400" dirty="0">
                <a:solidFill>
                  <a:srgbClr val="FF0000"/>
                </a:solidFill>
                <a:latin typeface="Cambria" panose="02040503050406030204" pitchFamily="18" charset="0"/>
                <a:ea typeface="Cambria" panose="02040503050406030204" pitchFamily="18" charset="0"/>
              </a:rPr>
              <a:t>Subject, Object &amp; Privileges.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spcBef>
                <a:spcPts val="300"/>
              </a:spcBef>
            </a:pPr>
            <a:endParaRPr lang="en-US" sz="2400" dirty="0">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56DA5794-EAA3-981B-6428-69D468378B35}"/>
              </a:ext>
            </a:extLst>
          </p:cNvPr>
          <p:cNvGraphicFramePr>
            <a:graphicFrameLocks noGrp="1"/>
          </p:cNvGraphicFramePr>
          <p:nvPr>
            <p:extLst>
              <p:ext uri="{D42A27DB-BD31-4B8C-83A1-F6EECF244321}">
                <p14:modId xmlns:p14="http://schemas.microsoft.com/office/powerpoint/2010/main" val="4184093573"/>
              </p:ext>
            </p:extLst>
          </p:nvPr>
        </p:nvGraphicFramePr>
        <p:xfrm>
          <a:off x="603174" y="3212976"/>
          <a:ext cx="8289306" cy="2855381"/>
        </p:xfrm>
        <a:graphic>
          <a:graphicData uri="http://schemas.openxmlformats.org/drawingml/2006/table">
            <a:tbl>
              <a:tblPr firstRow="1" bandRow="1">
                <a:tableStyleId>{5C22544A-7EE6-4342-B048-85BDC9FD1C3A}</a:tableStyleId>
              </a:tblPr>
              <a:tblGrid>
                <a:gridCol w="1381551">
                  <a:extLst>
                    <a:ext uri="{9D8B030D-6E8A-4147-A177-3AD203B41FA5}">
                      <a16:colId xmlns:a16="http://schemas.microsoft.com/office/drawing/2014/main" val="754568277"/>
                    </a:ext>
                  </a:extLst>
                </a:gridCol>
                <a:gridCol w="1381551">
                  <a:extLst>
                    <a:ext uri="{9D8B030D-6E8A-4147-A177-3AD203B41FA5}">
                      <a16:colId xmlns:a16="http://schemas.microsoft.com/office/drawing/2014/main" val="569776166"/>
                    </a:ext>
                  </a:extLst>
                </a:gridCol>
                <a:gridCol w="1133716">
                  <a:extLst>
                    <a:ext uri="{9D8B030D-6E8A-4147-A177-3AD203B41FA5}">
                      <a16:colId xmlns:a16="http://schemas.microsoft.com/office/drawing/2014/main" val="2050617400"/>
                    </a:ext>
                  </a:extLst>
                </a:gridCol>
                <a:gridCol w="1728192">
                  <a:extLst>
                    <a:ext uri="{9D8B030D-6E8A-4147-A177-3AD203B41FA5}">
                      <a16:colId xmlns:a16="http://schemas.microsoft.com/office/drawing/2014/main" val="2015120012"/>
                    </a:ext>
                  </a:extLst>
                </a:gridCol>
                <a:gridCol w="1440160">
                  <a:extLst>
                    <a:ext uri="{9D8B030D-6E8A-4147-A177-3AD203B41FA5}">
                      <a16:colId xmlns:a16="http://schemas.microsoft.com/office/drawing/2014/main" val="11418989"/>
                    </a:ext>
                  </a:extLst>
                </a:gridCol>
                <a:gridCol w="1224136">
                  <a:extLst>
                    <a:ext uri="{9D8B030D-6E8A-4147-A177-3AD203B41FA5}">
                      <a16:colId xmlns:a16="http://schemas.microsoft.com/office/drawing/2014/main" val="3719792421"/>
                    </a:ext>
                  </a:extLst>
                </a:gridCol>
              </a:tblGrid>
              <a:tr h="691277">
                <a:tc>
                  <a:txBody>
                    <a:bodyPr/>
                    <a:lstStyle/>
                    <a:p>
                      <a:pPr algn="ctr"/>
                      <a:r>
                        <a:rPr lang="en-US" sz="2000" b="1" dirty="0">
                          <a:solidFill>
                            <a:srgbClr val="FFFF00"/>
                          </a:solidFill>
                          <a:latin typeface="Cambria" panose="02040503050406030204" pitchFamily="18" charset="0"/>
                          <a:ea typeface="Cambria" panose="02040503050406030204" pitchFamily="18" charset="0"/>
                        </a:rPr>
                        <a:t>SUBJECT</a:t>
                      </a:r>
                    </a:p>
                  </a:txBody>
                  <a:tcPr anchor="ct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Student</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Table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Result</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Table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Faculty</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View</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Adm. Procedure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mbria" panose="02040503050406030204" pitchFamily="18" charset="0"/>
                          <a:ea typeface="Cambria" panose="02040503050406030204" pitchFamily="18" charset="0"/>
                        </a:rPr>
                        <a:t>CREATE TABLE</a:t>
                      </a:r>
                    </a:p>
                  </a:txBody>
                  <a:tcPr marL="91439" marR="91439" marT="45724" marB="45724" anchor="ctr" horzOverflow="overflow"/>
                </a:tc>
                <a:extLst>
                  <a:ext uri="{0D108BD9-81ED-4DB2-BD59-A6C34878D82A}">
                    <a16:rowId xmlns:a16="http://schemas.microsoft.com/office/drawing/2014/main" val="3438793"/>
                  </a:ext>
                </a:extLst>
              </a:tr>
              <a:tr h="691277">
                <a:tc>
                  <a:txBody>
                    <a:bodyPr/>
                    <a:lstStyle/>
                    <a:p>
                      <a:pPr algn="ctr"/>
                      <a:r>
                        <a:rPr lang="en-US" sz="2000" b="1" dirty="0">
                          <a:solidFill>
                            <a:srgbClr val="FF0000"/>
                          </a:solidFill>
                          <a:latin typeface="Cambria" panose="02040503050406030204" pitchFamily="18" charset="0"/>
                          <a:ea typeface="Cambria" panose="02040503050406030204" pitchFamily="18" charset="0"/>
                        </a:rPr>
                        <a:t>User A</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Null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Null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a:t>
                      </a:r>
                    </a:p>
                  </a:txBody>
                  <a:tcPr marL="91439" marR="91439" marT="45724" marB="45724" anchor="ctr" horzOverflow="overflow"/>
                </a:tc>
                <a:extLst>
                  <a:ext uri="{0D108BD9-81ED-4DB2-BD59-A6C34878D82A}">
                    <a16:rowId xmlns:a16="http://schemas.microsoft.com/office/drawing/2014/main" val="2925021511"/>
                  </a:ext>
                </a:extLst>
              </a:tr>
              <a:tr h="691277">
                <a:tc>
                  <a:txBody>
                    <a:bodyPr/>
                    <a:lstStyle/>
                    <a:p>
                      <a:pPr algn="ctr"/>
                      <a:r>
                        <a:rPr lang="en-US" sz="2000" b="1" dirty="0">
                          <a:solidFill>
                            <a:srgbClr val="FF0000"/>
                          </a:solidFill>
                          <a:latin typeface="Cambria" panose="02040503050406030204" pitchFamily="18" charset="0"/>
                          <a:ea typeface="Cambria" panose="02040503050406030204" pitchFamily="18" charset="0"/>
                        </a:rPr>
                        <a:t>User B</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a:t>
                      </a:r>
                    </a:p>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Yes</a:t>
                      </a:r>
                    </a:p>
                  </a:txBody>
                  <a:tcPr marL="91439" marR="91439" marT="45724" marB="45724" anchor="ctr" horzOverflow="overflow"/>
                </a:tc>
                <a:extLst>
                  <a:ext uri="{0D108BD9-81ED-4DB2-BD59-A6C34878D82A}">
                    <a16:rowId xmlns:a16="http://schemas.microsoft.com/office/drawing/2014/main" val="2115425310"/>
                  </a:ext>
                </a:extLst>
              </a:tr>
              <a:tr h="691277">
                <a:tc>
                  <a:txBody>
                    <a:bodyPr/>
                    <a:lstStyle/>
                    <a:p>
                      <a:pPr algn="ctr"/>
                      <a:r>
                        <a:rPr lang="en-US" sz="2000" b="1" dirty="0">
                          <a:solidFill>
                            <a:srgbClr val="FF0000"/>
                          </a:solidFill>
                          <a:latin typeface="Cambria" panose="02040503050406030204" pitchFamily="18" charset="0"/>
                          <a:ea typeface="Cambria" panose="02040503050406030204" pitchFamily="18" charset="0"/>
                        </a:rPr>
                        <a:t>Role A</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Read, Write, Update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a:t>
                      </a:r>
                    </a:p>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Alter</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Yes</a:t>
                      </a:r>
                    </a:p>
                  </a:txBody>
                  <a:tcPr marL="91439" marR="91439" marT="45724" marB="45724" anchor="ctr" horzOverflow="overflow"/>
                </a:tc>
                <a:extLst>
                  <a:ext uri="{0D108BD9-81ED-4DB2-BD59-A6C34878D82A}">
                    <a16:rowId xmlns:a16="http://schemas.microsoft.com/office/drawing/2014/main" val="2131888941"/>
                  </a:ext>
                </a:extLst>
              </a:tr>
            </a:tbl>
          </a:graphicData>
        </a:graphic>
      </p:graphicFrame>
      <p:sp>
        <p:nvSpPr>
          <p:cNvPr id="4" name="Footer Placeholder 2">
            <a:extLst>
              <a:ext uri="{FF2B5EF4-FFF2-40B4-BE49-F238E27FC236}">
                <a16:creationId xmlns:a16="http://schemas.microsoft.com/office/drawing/2014/main" id="{DF550397-6454-D1DF-5141-3C843A3B86E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498E550D-0BCB-E9E0-441F-03C0796F357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09729774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3A2A-DD45-3D38-C500-681F94A73289}"/>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152D9DCD-532B-8669-A1A4-3608FEBFD3DF}"/>
              </a:ext>
            </a:extLst>
          </p:cNvPr>
          <p:cNvSpPr>
            <a:spLocks noGrp="1" noChangeArrowheads="1"/>
          </p:cNvSpPr>
          <p:nvPr>
            <p:ph type="title"/>
          </p:nvPr>
        </p:nvSpPr>
        <p:spPr>
          <a:xfrm>
            <a:off x="395808" y="116632"/>
            <a:ext cx="7848600"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CFE840B0-9FC2-54EF-C184-9ACEC6212E56}"/>
              </a:ext>
            </a:extLst>
          </p:cNvPr>
          <p:cNvSpPr>
            <a:spLocks noGrp="1"/>
          </p:cNvSpPr>
          <p:nvPr>
            <p:ph sz="quarter" idx="1"/>
          </p:nvPr>
        </p:nvSpPr>
        <p:spPr>
          <a:xfrm>
            <a:off x="400050" y="548680"/>
            <a:ext cx="8492430" cy="6091634"/>
          </a:xfrm>
        </p:spPr>
        <p:txBody>
          <a:bodyPr/>
          <a:lstStyle/>
          <a:p>
            <a:pPr marL="0" indent="0" algn="just">
              <a:spcBef>
                <a:spcPts val="300"/>
              </a:spcBef>
              <a:buNone/>
              <a:defRPr/>
            </a:pPr>
            <a:r>
              <a:rPr lang="en-US" altLang="en-US" sz="2400" b="1" dirty="0">
                <a:solidFill>
                  <a:srgbClr val="0000CC"/>
                </a:solidFill>
                <a:latin typeface="Cambria" panose="02040503050406030204" pitchFamily="18" charset="0"/>
                <a:ea typeface="Cambria" panose="02040503050406030204" pitchFamily="18" charset="0"/>
              </a:rPr>
              <a:t>Database Access Control</a:t>
            </a:r>
            <a:endParaRPr lang="en-US" sz="2400" dirty="0">
              <a:solidFill>
                <a:srgbClr val="0000CC"/>
              </a:solidFill>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The Column Headings represent database objects, which may be tables, Views, Sequence, Indexes etc.</a:t>
            </a:r>
          </a:p>
          <a:p>
            <a:pPr algn="just">
              <a:spcBef>
                <a:spcPts val="300"/>
              </a:spcBef>
              <a:defRPr/>
            </a:pPr>
            <a:r>
              <a:rPr lang="en-US" sz="2400" dirty="0">
                <a:latin typeface="Cambria" panose="02040503050406030204" pitchFamily="18" charset="0"/>
                <a:ea typeface="Cambria" panose="02040503050406030204" pitchFamily="18" charset="0"/>
              </a:rPr>
              <a:t>The Subjects are written on the left side of the table. It may be an individual or a group of users.</a:t>
            </a:r>
          </a:p>
          <a:p>
            <a:pPr algn="just">
              <a:spcBef>
                <a:spcPts val="300"/>
              </a:spcBef>
              <a:defRPr/>
            </a:pPr>
            <a:r>
              <a:rPr lang="en-US" sz="2400" dirty="0">
                <a:latin typeface="Cambria" panose="02040503050406030204" pitchFamily="18" charset="0"/>
                <a:ea typeface="Cambria" panose="02040503050406030204" pitchFamily="18" charset="0"/>
              </a:rPr>
              <a:t>The Cell entries of the table specify the privileges. These include </a:t>
            </a:r>
            <a:r>
              <a:rPr lang="en-US" sz="2400" dirty="0">
                <a:solidFill>
                  <a:srgbClr val="FF0000"/>
                </a:solidFill>
                <a:latin typeface="Cambria" panose="02040503050406030204" pitchFamily="18" charset="0"/>
                <a:ea typeface="Cambria" panose="02040503050406030204" pitchFamily="18" charset="0"/>
              </a:rPr>
              <a:t>INSERT, UPDATE, DELETE, ALTER, SELECT</a:t>
            </a:r>
          </a:p>
          <a:p>
            <a:pPr algn="just">
              <a:spcBef>
                <a:spcPts val="300"/>
              </a:spcBef>
              <a:defRPr/>
            </a:pPr>
            <a:r>
              <a:rPr lang="en-US" sz="2400" dirty="0">
                <a:latin typeface="Cambria" panose="02040503050406030204" pitchFamily="18" charset="0"/>
                <a:ea typeface="Cambria" panose="02040503050406030204" pitchFamily="18" charset="0"/>
              </a:rPr>
              <a:t>Once the Authorization table or Access Control Matrix is complete, the DBA grants the privileges accordingly.</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spcBef>
                <a:spcPts val="300"/>
              </a:spcBef>
            </a:pPr>
            <a:endParaRPr lang="en-US" sz="2400" dirty="0">
              <a:latin typeface="Cambria" panose="02040503050406030204" pitchFamily="18" charset="0"/>
              <a:ea typeface="Cambria" panose="02040503050406030204" pitchFamily="18" charset="0"/>
            </a:endParaRPr>
          </a:p>
        </p:txBody>
      </p:sp>
      <p:sp>
        <p:nvSpPr>
          <p:cNvPr id="4" name="Footer Placeholder 2">
            <a:extLst>
              <a:ext uri="{FF2B5EF4-FFF2-40B4-BE49-F238E27FC236}">
                <a16:creationId xmlns:a16="http://schemas.microsoft.com/office/drawing/2014/main" id="{A8958FBA-5C6E-C43E-2A0E-90726F16ED9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8D111D6F-A459-D395-9533-55EB913A8643}"/>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18334384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1881-9640-9AA0-2650-F3B2449C5C1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82A8CAE-9E08-C33A-598C-E5F76584046E}"/>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A7AD4381-E0D0-CAB6-BD13-EFA1FE698032}"/>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Coding and Compression Techniques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Coding techniques are useful for compression of data values, by replacing those data values with the smaller sized codes.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Consider the following relation:</a:t>
            </a:r>
          </a:p>
          <a:p>
            <a:pPr marL="347663" indent="-347663" algn="just">
              <a:spcBef>
                <a:spcPts val="300"/>
              </a:spcBef>
              <a:buClr>
                <a:srgbClr val="C00000"/>
              </a:buClr>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EMP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EmpNo</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sz="2400" dirty="0" err="1">
                <a:solidFill>
                  <a:srgbClr val="0000CC"/>
                </a:solidFill>
                <a:latin typeface="Cambria" panose="02040503050406030204" pitchFamily="18" charset="0"/>
                <a:ea typeface="Cambria" panose="02040503050406030204" pitchFamily="18" charset="0"/>
                <a:cs typeface="Calibri" panose="020F0502020204030204" pitchFamily="34" charset="0"/>
              </a:rPr>
              <a:t>Ename</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 Job, City,…….)</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If we have large number of records, then the wastage of small amount of space in each record can lead to loss of huge amount of data storage space.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To avoid the above problem, we can use the following relations:</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EMP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EmpNo</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Ename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JobCode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CityCode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Job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JobCode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JobTitle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622301" lvl="1" indent="-347663" algn="just">
              <a:spcBef>
                <a:spcPts val="300"/>
              </a:spcBef>
              <a:buClr>
                <a:srgbClr val="C00000"/>
              </a:buClr>
              <a:defRPr/>
            </a:pP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City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CityCode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 </a:t>
            </a:r>
            <a:r>
              <a:rPr lang="en-US" dirty="0" err="1">
                <a:solidFill>
                  <a:srgbClr val="0000CC"/>
                </a:solidFill>
                <a:latin typeface="Cambria" panose="02040503050406030204" pitchFamily="18" charset="0"/>
                <a:ea typeface="Cambria" panose="02040503050406030204" pitchFamily="18" charset="0"/>
                <a:cs typeface="Calibri" panose="020F0502020204030204" pitchFamily="34" charset="0"/>
              </a:rPr>
              <a:t>CityName</a:t>
            </a:r>
            <a:r>
              <a:rPr lang="en-US" dirty="0">
                <a:solidFill>
                  <a:srgbClr val="0000CC"/>
                </a:solidFill>
                <a:latin typeface="Cambria" panose="02040503050406030204" pitchFamily="18" charset="0"/>
                <a:ea typeface="Cambria" panose="02040503050406030204" pitchFamily="18" charset="0"/>
                <a:cs typeface="Calibri" panose="020F0502020204030204" pitchFamily="34" charset="0"/>
              </a:rPr>
              <a:t>)</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CB030CBE-65F4-84FD-5B99-0EA0564E34F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3676093A-11A2-983D-4225-52602108C171}"/>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69386002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8C98-4289-B9AC-4EC3-B85C5932D6A3}"/>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9555EDF-7613-E31A-1FC8-746B776B54D6}"/>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4A62EFA1-D11F-6FBE-FDA7-225A96F88B19}"/>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Analyze Transactions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For efficient database design, it is necessary to have knowledge of the transactions that will run on the database. It includes the identification of frequent transactions, the transactions that are critical, peak load time etc.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most active 20% of user queries account for 80% of the total data access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(80/20 Rule).</a:t>
            </a:r>
          </a:p>
          <a:p>
            <a:pPr marL="347663" indent="-347663" algn="just">
              <a:spcBef>
                <a:spcPts val="300"/>
              </a:spcBef>
              <a:buClr>
                <a:srgbClr val="C00000"/>
              </a:buClr>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Transaction relation cross-reference matrix</a:t>
            </a:r>
            <a:r>
              <a:rPr lang="en-US" sz="2400" dirty="0">
                <a:latin typeface="Cambria" panose="02040503050406030204" pitchFamily="18" charset="0"/>
                <a:ea typeface="Cambria" panose="02040503050406030204" pitchFamily="18" charset="0"/>
                <a:cs typeface="Calibri" panose="020F0502020204030204" pitchFamily="34" charset="0"/>
              </a:rPr>
              <a:t> shows the operation a transaction performs on a certain relation. </a:t>
            </a:r>
          </a:p>
          <a:p>
            <a:pPr marL="347663" indent="-347663" algn="just">
              <a:spcBef>
                <a:spcPts val="300"/>
              </a:spcBef>
              <a:buClr>
                <a:srgbClr val="C00000"/>
              </a:buClr>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Transaction usage map</a:t>
            </a:r>
            <a:r>
              <a:rPr lang="en-US" sz="2400" dirty="0">
                <a:latin typeface="Cambria" panose="02040503050406030204" pitchFamily="18" charset="0"/>
                <a:ea typeface="Cambria" panose="02040503050406030204" pitchFamily="18" charset="0"/>
                <a:cs typeface="Calibri" panose="020F0502020204030204" pitchFamily="34" charset="0"/>
              </a:rPr>
              <a:t> diagrammatically indicates which relations are potentially heavily used.</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above information is used to select appropriate file organizations and indexes.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DD315BE4-7C76-2059-C925-569B475D33B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6CBE36C9-A83A-18C9-3858-E654E61A4B2D}"/>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66248663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9A9FD-5251-AA32-B8DB-65915A44561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9CB8C966-B201-DA1D-4F8E-33350C1FF1D4}"/>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E83A2627-8EE4-05C7-1E80-C5037691BD6A}"/>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Transaction / relation cross-reference matrix</a:t>
            </a: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ctr">
              <a:spcBef>
                <a:spcPts val="300"/>
              </a:spcBef>
              <a:buClr>
                <a:srgbClr val="C00000"/>
              </a:buClr>
              <a:buNone/>
              <a:defRPr/>
            </a:pPr>
            <a:r>
              <a:rPr lang="en-US" altLang="en-US" sz="2400" dirty="0">
                <a:solidFill>
                  <a:srgbClr val="0000CC"/>
                </a:solidFill>
                <a:latin typeface="Cambria" panose="02040503050406030204" pitchFamily="18" charset="0"/>
                <a:ea typeface="Cambria" panose="02040503050406030204" pitchFamily="18" charset="0"/>
              </a:rPr>
              <a:t>I = Insert; R = Read; U = Update; D = Delete</a:t>
            </a: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buClr>
                <a:srgbClr val="C00000"/>
              </a:buClr>
              <a:buNone/>
              <a:defRPr/>
            </a:pPr>
            <a:endPar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2F0940BF-3FCD-501D-E6C4-EF69B22E0BA5}"/>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2120896A-B76B-D6DD-E855-DA2A1E4D785F}"/>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4" name="Table 3">
            <a:extLst>
              <a:ext uri="{FF2B5EF4-FFF2-40B4-BE49-F238E27FC236}">
                <a16:creationId xmlns:a16="http://schemas.microsoft.com/office/drawing/2014/main" id="{06170F7F-4D09-4361-89AA-11DF924030C2}"/>
              </a:ext>
            </a:extLst>
          </p:cNvPr>
          <p:cNvGraphicFramePr>
            <a:graphicFrameLocks noGrp="1"/>
          </p:cNvGraphicFramePr>
          <p:nvPr>
            <p:extLst>
              <p:ext uri="{D42A27DB-BD31-4B8C-83A1-F6EECF244321}">
                <p14:modId xmlns:p14="http://schemas.microsoft.com/office/powerpoint/2010/main" val="2429118832"/>
              </p:ext>
            </p:extLst>
          </p:nvPr>
        </p:nvGraphicFramePr>
        <p:xfrm>
          <a:off x="251520" y="1124744"/>
          <a:ext cx="8699726" cy="4704660"/>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3688770004"/>
                    </a:ext>
                  </a:extLst>
                </a:gridCol>
                <a:gridCol w="403534">
                  <a:extLst>
                    <a:ext uri="{9D8B030D-6E8A-4147-A177-3AD203B41FA5}">
                      <a16:colId xmlns:a16="http://schemas.microsoft.com/office/drawing/2014/main" val="3127764754"/>
                    </a:ext>
                  </a:extLst>
                </a:gridCol>
                <a:gridCol w="403534">
                  <a:extLst>
                    <a:ext uri="{9D8B030D-6E8A-4147-A177-3AD203B41FA5}">
                      <a16:colId xmlns:a16="http://schemas.microsoft.com/office/drawing/2014/main" val="550815863"/>
                    </a:ext>
                  </a:extLst>
                </a:gridCol>
                <a:gridCol w="403534">
                  <a:extLst>
                    <a:ext uri="{9D8B030D-6E8A-4147-A177-3AD203B41FA5}">
                      <a16:colId xmlns:a16="http://schemas.microsoft.com/office/drawing/2014/main" val="3914442623"/>
                    </a:ext>
                  </a:extLst>
                </a:gridCol>
                <a:gridCol w="403534">
                  <a:extLst>
                    <a:ext uri="{9D8B030D-6E8A-4147-A177-3AD203B41FA5}">
                      <a16:colId xmlns:a16="http://schemas.microsoft.com/office/drawing/2014/main" val="781348336"/>
                    </a:ext>
                  </a:extLst>
                </a:gridCol>
                <a:gridCol w="428448">
                  <a:extLst>
                    <a:ext uri="{9D8B030D-6E8A-4147-A177-3AD203B41FA5}">
                      <a16:colId xmlns:a16="http://schemas.microsoft.com/office/drawing/2014/main" val="142822592"/>
                    </a:ext>
                  </a:extLst>
                </a:gridCol>
                <a:gridCol w="428448">
                  <a:extLst>
                    <a:ext uri="{9D8B030D-6E8A-4147-A177-3AD203B41FA5}">
                      <a16:colId xmlns:a16="http://schemas.microsoft.com/office/drawing/2014/main" val="2929886672"/>
                    </a:ext>
                  </a:extLst>
                </a:gridCol>
                <a:gridCol w="428448">
                  <a:extLst>
                    <a:ext uri="{9D8B030D-6E8A-4147-A177-3AD203B41FA5}">
                      <a16:colId xmlns:a16="http://schemas.microsoft.com/office/drawing/2014/main" val="1253968630"/>
                    </a:ext>
                  </a:extLst>
                </a:gridCol>
                <a:gridCol w="428448">
                  <a:extLst>
                    <a:ext uri="{9D8B030D-6E8A-4147-A177-3AD203B41FA5}">
                      <a16:colId xmlns:a16="http://schemas.microsoft.com/office/drawing/2014/main" val="820835749"/>
                    </a:ext>
                  </a:extLst>
                </a:gridCol>
                <a:gridCol w="1713790">
                  <a:extLst>
                    <a:ext uri="{9D8B030D-6E8A-4147-A177-3AD203B41FA5}">
                      <a16:colId xmlns:a16="http://schemas.microsoft.com/office/drawing/2014/main" val="3305517620"/>
                    </a:ext>
                  </a:extLst>
                </a:gridCol>
                <a:gridCol w="428448">
                  <a:extLst>
                    <a:ext uri="{9D8B030D-6E8A-4147-A177-3AD203B41FA5}">
                      <a16:colId xmlns:a16="http://schemas.microsoft.com/office/drawing/2014/main" val="4169240024"/>
                    </a:ext>
                  </a:extLst>
                </a:gridCol>
                <a:gridCol w="428448">
                  <a:extLst>
                    <a:ext uri="{9D8B030D-6E8A-4147-A177-3AD203B41FA5}">
                      <a16:colId xmlns:a16="http://schemas.microsoft.com/office/drawing/2014/main" val="1722530864"/>
                    </a:ext>
                  </a:extLst>
                </a:gridCol>
                <a:gridCol w="428448">
                  <a:extLst>
                    <a:ext uri="{9D8B030D-6E8A-4147-A177-3AD203B41FA5}">
                      <a16:colId xmlns:a16="http://schemas.microsoft.com/office/drawing/2014/main" val="892128921"/>
                    </a:ext>
                  </a:extLst>
                </a:gridCol>
                <a:gridCol w="428448">
                  <a:extLst>
                    <a:ext uri="{9D8B030D-6E8A-4147-A177-3AD203B41FA5}">
                      <a16:colId xmlns:a16="http://schemas.microsoft.com/office/drawing/2014/main" val="2929410640"/>
                    </a:ext>
                  </a:extLst>
                </a:gridCol>
              </a:tblGrid>
              <a:tr h="703188">
                <a:tc rowSpan="2">
                  <a:txBody>
                    <a:bodyPr/>
                    <a:lstStyle/>
                    <a:p>
                      <a:pPr algn="ctr"/>
                      <a:r>
                        <a:rPr lang="en-US" sz="2400" dirty="0">
                          <a:latin typeface="Cambria" panose="02040503050406030204" pitchFamily="18" charset="0"/>
                          <a:ea typeface="Cambria" panose="02040503050406030204" pitchFamily="18" charset="0"/>
                        </a:rPr>
                        <a:t>Transaction/ Relation</a:t>
                      </a:r>
                    </a:p>
                  </a:txBody>
                  <a:tcPr anchor="ctr"/>
                </a:tc>
                <a:tc gridSpan="4">
                  <a:txBody>
                    <a:bodyPr/>
                    <a:lstStyle/>
                    <a:p>
                      <a:pPr algn="ctr"/>
                      <a:r>
                        <a:rPr lang="en-US" sz="2400" b="1" dirty="0">
                          <a:solidFill>
                            <a:srgbClr val="FFFF00"/>
                          </a:solidFill>
                          <a:latin typeface="Cambria" panose="02040503050406030204" pitchFamily="18" charset="0"/>
                          <a:ea typeface="Cambria" panose="02040503050406030204" pitchFamily="18" charset="0"/>
                        </a:rPr>
                        <a:t>T1</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2400" b="1" dirty="0">
                          <a:solidFill>
                            <a:srgbClr val="FFFF00"/>
                          </a:solidFill>
                          <a:latin typeface="Cambria" panose="02040503050406030204" pitchFamily="18" charset="0"/>
                          <a:ea typeface="Cambria" panose="02040503050406030204" pitchFamily="18" charset="0"/>
                        </a:rPr>
                        <a:t>T2</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sz="2400" b="1" dirty="0">
                          <a:solidFill>
                            <a:srgbClr val="FFFF00"/>
                          </a:solidFill>
                          <a:latin typeface="Cambria" panose="02040503050406030204" pitchFamily="18" charset="0"/>
                          <a:ea typeface="Cambria" panose="02040503050406030204" pitchFamily="18" charset="0"/>
                        </a:rPr>
                        <a:t>. . .</a:t>
                      </a:r>
                    </a:p>
                  </a:txBody>
                  <a:tcPr anchor="ctr"/>
                </a:tc>
                <a:tc gridSpan="4">
                  <a:txBody>
                    <a:bodyPr/>
                    <a:lstStyle/>
                    <a:p>
                      <a:pPr algn="ctr"/>
                      <a:r>
                        <a:rPr lang="en-US" sz="2400" b="1" dirty="0">
                          <a:solidFill>
                            <a:srgbClr val="FFFF00"/>
                          </a:solidFill>
                          <a:latin typeface="Cambria" panose="02040503050406030204" pitchFamily="18" charset="0"/>
                          <a:ea typeface="Cambria" panose="02040503050406030204" pitchFamily="18" charset="0"/>
                        </a:rPr>
                        <a:t>Tm</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720048"/>
                  </a:ext>
                </a:extLst>
              </a:tr>
              <a:tr h="703188">
                <a:tc vMerge="1">
                  <a:txBody>
                    <a:bodyPr/>
                    <a:lstStyle/>
                    <a:p>
                      <a:endParaRPr lang="en-US" dirty="0"/>
                    </a:p>
                  </a:txBody>
                  <a:tcPr/>
                </a:tc>
                <a:tc>
                  <a:txBody>
                    <a:bodyPr/>
                    <a:lstStyle/>
                    <a:p>
                      <a:pPr algn="ctr"/>
                      <a:r>
                        <a:rPr lang="en-US" sz="2400" b="1" dirty="0">
                          <a:latin typeface="Cambria" panose="02040503050406030204" pitchFamily="18" charset="0"/>
                          <a:ea typeface="Cambria" panose="02040503050406030204" pitchFamily="18" charset="0"/>
                        </a:rPr>
                        <a:t>I</a:t>
                      </a:r>
                    </a:p>
                  </a:txBody>
                  <a:tcPr anchor="ctr"/>
                </a:tc>
                <a:tc>
                  <a:txBody>
                    <a:bodyPr/>
                    <a:lstStyle/>
                    <a:p>
                      <a:pPr algn="ctr"/>
                      <a:r>
                        <a:rPr lang="en-US" sz="2400" b="1" dirty="0">
                          <a:latin typeface="Cambria" panose="02040503050406030204" pitchFamily="18" charset="0"/>
                          <a:ea typeface="Cambria" panose="02040503050406030204" pitchFamily="18" charset="0"/>
                        </a:rPr>
                        <a:t>R</a:t>
                      </a:r>
                    </a:p>
                  </a:txBody>
                  <a:tcPr anchor="ctr"/>
                </a:tc>
                <a:tc>
                  <a:txBody>
                    <a:bodyPr/>
                    <a:lstStyle/>
                    <a:p>
                      <a:pPr algn="ctr"/>
                      <a:r>
                        <a:rPr lang="en-US" sz="2400" b="1" dirty="0">
                          <a:latin typeface="Cambria" panose="02040503050406030204" pitchFamily="18" charset="0"/>
                          <a:ea typeface="Cambria" panose="02040503050406030204" pitchFamily="18" charset="0"/>
                        </a:rPr>
                        <a:t>U</a:t>
                      </a:r>
                    </a:p>
                  </a:txBody>
                  <a:tcPr anchor="ctr"/>
                </a:tc>
                <a:tc>
                  <a:txBody>
                    <a:bodyPr/>
                    <a:lstStyle/>
                    <a:p>
                      <a:pPr algn="ctr"/>
                      <a:r>
                        <a:rPr lang="en-US" sz="2400" b="1" dirty="0">
                          <a:latin typeface="Cambria" panose="02040503050406030204" pitchFamily="18" charset="0"/>
                          <a:ea typeface="Cambria" panose="02040503050406030204" pitchFamily="18" charset="0"/>
                        </a:rPr>
                        <a:t>D</a:t>
                      </a:r>
                    </a:p>
                  </a:txBody>
                  <a:tcPr anchor="ctr"/>
                </a:tc>
                <a:tc>
                  <a:txBody>
                    <a:bodyPr/>
                    <a:lstStyle/>
                    <a:p>
                      <a:pPr algn="ctr"/>
                      <a:r>
                        <a:rPr lang="en-US" sz="2400" b="1" dirty="0">
                          <a:solidFill>
                            <a:srgbClr val="FF0000"/>
                          </a:solidFill>
                          <a:latin typeface="Cambria" panose="02040503050406030204" pitchFamily="18" charset="0"/>
                          <a:ea typeface="Cambria" panose="02040503050406030204" pitchFamily="18" charset="0"/>
                        </a:rPr>
                        <a:t>I</a:t>
                      </a:r>
                    </a:p>
                  </a:txBody>
                  <a:tcPr anchor="ctr"/>
                </a:tc>
                <a:tc>
                  <a:txBody>
                    <a:bodyPr/>
                    <a:lstStyle/>
                    <a:p>
                      <a:pPr algn="ctr"/>
                      <a:r>
                        <a:rPr lang="en-US" sz="2400" b="1" dirty="0">
                          <a:solidFill>
                            <a:srgbClr val="FF0000"/>
                          </a:solidFill>
                          <a:latin typeface="Cambria" panose="02040503050406030204" pitchFamily="18" charset="0"/>
                          <a:ea typeface="Cambria" panose="02040503050406030204" pitchFamily="18" charset="0"/>
                        </a:rPr>
                        <a:t>R</a:t>
                      </a:r>
                    </a:p>
                  </a:txBody>
                  <a:tcPr anchor="ctr"/>
                </a:tc>
                <a:tc>
                  <a:txBody>
                    <a:bodyPr/>
                    <a:lstStyle/>
                    <a:p>
                      <a:pPr algn="ctr"/>
                      <a:r>
                        <a:rPr lang="en-US" sz="2400" b="1" dirty="0">
                          <a:solidFill>
                            <a:srgbClr val="FF0000"/>
                          </a:solidFill>
                          <a:latin typeface="Cambria" panose="02040503050406030204" pitchFamily="18" charset="0"/>
                          <a:ea typeface="Cambria" panose="02040503050406030204" pitchFamily="18" charset="0"/>
                        </a:rPr>
                        <a:t>U</a:t>
                      </a:r>
                    </a:p>
                  </a:txBody>
                  <a:tcPr anchor="ctr"/>
                </a:tc>
                <a:tc>
                  <a:txBody>
                    <a:bodyPr/>
                    <a:lstStyle/>
                    <a:p>
                      <a:pPr algn="ctr"/>
                      <a:r>
                        <a:rPr lang="en-US" sz="2400" b="1" dirty="0">
                          <a:solidFill>
                            <a:srgbClr val="FF0000"/>
                          </a:solidFill>
                          <a:latin typeface="Cambria" panose="02040503050406030204" pitchFamily="18" charset="0"/>
                          <a:ea typeface="Cambria" panose="02040503050406030204" pitchFamily="18" charset="0"/>
                        </a:rPr>
                        <a:t>D</a:t>
                      </a:r>
                    </a:p>
                  </a:txBody>
                  <a:tcPr anchor="ctr"/>
                </a:tc>
                <a:tc>
                  <a:txBody>
                    <a:bodyPr/>
                    <a:lstStyle/>
                    <a:p>
                      <a:pPr algn="ctr"/>
                      <a:r>
                        <a:rPr lang="en-US" sz="2400" dirty="0">
                          <a:latin typeface="Cambria" panose="02040503050406030204" pitchFamily="18" charset="0"/>
                          <a:ea typeface="Cambria" panose="02040503050406030204" pitchFamily="18" charset="0"/>
                        </a:rPr>
                        <a:t>. . .</a:t>
                      </a:r>
                    </a:p>
                  </a:txBody>
                  <a:tcPr anchor="ctr"/>
                </a:tc>
                <a:tc>
                  <a:txBody>
                    <a:bodyPr/>
                    <a:lstStyle/>
                    <a:p>
                      <a:pPr algn="ctr"/>
                      <a:r>
                        <a:rPr lang="en-US" sz="2400" b="1" dirty="0">
                          <a:latin typeface="Cambria" panose="02040503050406030204" pitchFamily="18" charset="0"/>
                          <a:ea typeface="Cambria" panose="02040503050406030204" pitchFamily="18" charset="0"/>
                        </a:rPr>
                        <a:t>I</a:t>
                      </a:r>
                    </a:p>
                  </a:txBody>
                  <a:tcPr anchor="ctr"/>
                </a:tc>
                <a:tc>
                  <a:txBody>
                    <a:bodyPr/>
                    <a:lstStyle/>
                    <a:p>
                      <a:pPr algn="ctr"/>
                      <a:r>
                        <a:rPr lang="en-US" sz="2400" b="1" dirty="0">
                          <a:latin typeface="Cambria" panose="02040503050406030204" pitchFamily="18" charset="0"/>
                          <a:ea typeface="Cambria" panose="02040503050406030204" pitchFamily="18" charset="0"/>
                        </a:rPr>
                        <a:t>R</a:t>
                      </a:r>
                    </a:p>
                  </a:txBody>
                  <a:tcPr anchor="ctr"/>
                </a:tc>
                <a:tc>
                  <a:txBody>
                    <a:bodyPr/>
                    <a:lstStyle/>
                    <a:p>
                      <a:pPr algn="ctr"/>
                      <a:r>
                        <a:rPr lang="en-US" sz="2400" b="1" dirty="0">
                          <a:latin typeface="Cambria" panose="02040503050406030204" pitchFamily="18" charset="0"/>
                          <a:ea typeface="Cambria" panose="02040503050406030204" pitchFamily="18" charset="0"/>
                        </a:rPr>
                        <a:t>U</a:t>
                      </a:r>
                    </a:p>
                  </a:txBody>
                  <a:tcPr anchor="ctr"/>
                </a:tc>
                <a:tc>
                  <a:txBody>
                    <a:bodyPr/>
                    <a:lstStyle/>
                    <a:p>
                      <a:pPr algn="ctr"/>
                      <a:r>
                        <a:rPr lang="en-US" sz="2400" b="1" dirty="0">
                          <a:latin typeface="Cambria" panose="02040503050406030204" pitchFamily="18" charset="0"/>
                          <a:ea typeface="Cambria" panose="02040503050406030204" pitchFamily="18" charset="0"/>
                        </a:rPr>
                        <a:t>D</a:t>
                      </a:r>
                    </a:p>
                  </a:txBody>
                  <a:tcPr anchor="ctr"/>
                </a:tc>
                <a:extLst>
                  <a:ext uri="{0D108BD9-81ED-4DB2-BD59-A6C34878D82A}">
                    <a16:rowId xmlns:a16="http://schemas.microsoft.com/office/drawing/2014/main" val="374008958"/>
                  </a:ext>
                </a:extLst>
              </a:tr>
              <a:tr h="703188">
                <a:tc>
                  <a:txBody>
                    <a:bodyPr/>
                    <a:lstStyle/>
                    <a:p>
                      <a:pPr algn="ctr"/>
                      <a:r>
                        <a:rPr lang="en-US" sz="2400" b="1" dirty="0">
                          <a:solidFill>
                            <a:srgbClr val="0000CC"/>
                          </a:solidFill>
                          <a:latin typeface="Cambria" panose="02040503050406030204" pitchFamily="18" charset="0"/>
                          <a:ea typeface="Cambria" panose="02040503050406030204" pitchFamily="18" charset="0"/>
                        </a:rPr>
                        <a:t>R1</a:t>
                      </a:r>
                    </a:p>
                  </a:txBody>
                  <a:tcPr anchor="ctr"/>
                </a:tc>
                <a:tc>
                  <a:txBody>
                    <a:bodyPr/>
                    <a:lstStyle/>
                    <a:p>
                      <a:pPr algn="l"/>
                      <a:r>
                        <a:rPr lang="en-US" sz="2400" dirty="0">
                          <a:latin typeface="Cambria" panose="02040503050406030204" pitchFamily="18" charset="0"/>
                          <a:ea typeface="Cambria" panose="02040503050406030204" pitchFamily="18" charset="0"/>
                        </a:rPr>
                        <a:t>X</a:t>
                      </a:r>
                    </a:p>
                  </a:txBody>
                  <a:tcPr anchor="ctr"/>
                </a:tc>
                <a:tc>
                  <a:txBody>
                    <a:bodyPr/>
                    <a:lstStyle/>
                    <a:p>
                      <a:pPr algn="l"/>
                      <a:r>
                        <a:rPr lang="en-US" sz="2400" dirty="0">
                          <a:latin typeface="Cambria" panose="02040503050406030204" pitchFamily="18" charset="0"/>
                          <a:ea typeface="Cambria" panose="02040503050406030204" pitchFamily="18" charset="0"/>
                        </a:rPr>
                        <a:t>X</a:t>
                      </a:r>
                    </a:p>
                  </a:txBody>
                  <a:tcPr anchor="ctr"/>
                </a:tc>
                <a:tc>
                  <a:txBody>
                    <a:bodyPr/>
                    <a:lstStyle/>
                    <a:p>
                      <a:pPr algn="l"/>
                      <a:endParaRPr lang="en-US" sz="2400" dirty="0">
                        <a:latin typeface="Cambria" panose="02040503050406030204" pitchFamily="18" charset="0"/>
                        <a:ea typeface="Cambria" panose="02040503050406030204" pitchFamily="18" charset="0"/>
                      </a:endParaRPr>
                    </a:p>
                  </a:txBody>
                  <a:tcPr anchor="ctr"/>
                </a:tc>
                <a:tc>
                  <a:txBody>
                    <a:bodyPr/>
                    <a:lstStyle/>
                    <a:p>
                      <a:pPr algn="l"/>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 . .</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962921746"/>
                  </a:ext>
                </a:extLst>
              </a:tr>
              <a:tr h="703188">
                <a:tc>
                  <a:txBody>
                    <a:bodyPr/>
                    <a:lstStyle/>
                    <a:p>
                      <a:pPr algn="ctr"/>
                      <a:r>
                        <a:rPr lang="en-US" sz="2400" b="1" dirty="0">
                          <a:solidFill>
                            <a:srgbClr val="0000CC"/>
                          </a:solidFill>
                          <a:latin typeface="Cambria" panose="02040503050406030204" pitchFamily="18" charset="0"/>
                          <a:ea typeface="Cambria" panose="02040503050406030204" pitchFamily="18" charset="0"/>
                        </a:rPr>
                        <a:t>R2</a:t>
                      </a: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 . .</a:t>
                      </a: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508972731"/>
                  </a:ext>
                </a:extLst>
              </a:tr>
              <a:tr h="703188">
                <a:tc>
                  <a:txBody>
                    <a:bodyPr/>
                    <a:lstStyle/>
                    <a:p>
                      <a:pPr algn="ctr"/>
                      <a:r>
                        <a:rPr lang="en-US" sz="2400" b="1" dirty="0">
                          <a:solidFill>
                            <a:srgbClr val="0000CC"/>
                          </a:solidFill>
                          <a:latin typeface="Cambria" panose="02040503050406030204" pitchFamily="18" charset="0"/>
                          <a:ea typeface="Cambria" panose="02040503050406030204" pitchFamily="18" charset="0"/>
                        </a:rPr>
                        <a:t>.</a:t>
                      </a:r>
                    </a:p>
                    <a:p>
                      <a:pPr algn="ctr"/>
                      <a:r>
                        <a:rPr lang="en-US" sz="2400" b="1" dirty="0">
                          <a:solidFill>
                            <a:srgbClr val="0000CC"/>
                          </a:solidFill>
                          <a:latin typeface="Cambria" panose="02040503050406030204" pitchFamily="18" charset="0"/>
                          <a:ea typeface="Cambria" panose="02040503050406030204" pitchFamily="18" charset="0"/>
                        </a:rPr>
                        <a:t>.</a:t>
                      </a:r>
                    </a:p>
                    <a:p>
                      <a:pPr algn="ctr"/>
                      <a:r>
                        <a:rPr lang="en-US" sz="2400" b="1" dirty="0">
                          <a:solidFill>
                            <a:srgbClr val="0000CC"/>
                          </a:solidFill>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p>
                      <a:pPr algn="ctr"/>
                      <a:r>
                        <a:rPr lang="en-US" sz="2400" dirty="0">
                          <a:solidFill>
                            <a:srgbClr val="FF0000"/>
                          </a:solidFill>
                          <a:latin typeface="Cambria" panose="02040503050406030204" pitchFamily="18" charset="0"/>
                          <a:ea typeface="Cambria" panose="020405030504060302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 . .</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tc>
                  <a:txBody>
                    <a:bodyPr/>
                    <a:lstStyle/>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p>
                      <a:pPr algn="ctr"/>
                      <a:r>
                        <a:rPr lang="en-US" sz="2400" dirty="0">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1500153504"/>
                  </a:ext>
                </a:extLst>
              </a:tr>
              <a:tr h="703188">
                <a:tc>
                  <a:txBody>
                    <a:bodyPr/>
                    <a:lstStyle/>
                    <a:p>
                      <a:pPr algn="ctr"/>
                      <a:r>
                        <a:rPr lang="en-US" sz="2400" b="1" dirty="0">
                          <a:solidFill>
                            <a:srgbClr val="0000CC"/>
                          </a:solidFill>
                          <a:latin typeface="Cambria" panose="02040503050406030204" pitchFamily="18" charset="0"/>
                          <a:ea typeface="Cambria" panose="02040503050406030204" pitchFamily="18" charset="0"/>
                        </a:rPr>
                        <a:t>Rn</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algn="ctr"/>
                      <a:r>
                        <a:rPr lang="en-US" sz="2400" dirty="0">
                          <a:solidFill>
                            <a:srgbClr val="FF0000"/>
                          </a:solidFill>
                          <a:latin typeface="Cambria" panose="02040503050406030204" pitchFamily="18" charset="0"/>
                          <a:ea typeface="Cambria" panose="02040503050406030204" pitchFamily="18" charset="0"/>
                        </a:rPr>
                        <a:t>X</a:t>
                      </a: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algn="ctr"/>
                      <a:endParaRPr lang="en-US" sz="2400" dirty="0">
                        <a:solidFill>
                          <a:srgbClr val="FF0000"/>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 . .</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r>
                        <a:rPr lang="en-US" sz="2400" dirty="0">
                          <a:latin typeface="Cambria" panose="02040503050406030204" pitchFamily="18" charset="0"/>
                          <a:ea typeface="Cambria" panose="02040503050406030204" pitchFamily="18" charset="0"/>
                        </a:rPr>
                        <a:t>X</a:t>
                      </a: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tc>
                  <a:txBody>
                    <a:bodyPr/>
                    <a:lstStyle/>
                    <a:p>
                      <a:pPr algn="ctr"/>
                      <a:endParaRPr lang="en-US" sz="2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217790867"/>
                  </a:ext>
                </a:extLst>
              </a:tr>
            </a:tbl>
          </a:graphicData>
        </a:graphic>
      </p:graphicFrame>
    </p:spTree>
    <p:extLst>
      <p:ext uri="{BB962C8B-B14F-4D97-AF65-F5344CB8AC3E}">
        <p14:creationId xmlns:p14="http://schemas.microsoft.com/office/powerpoint/2010/main" val="43030894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3520-462C-3A94-DF75-8A020CD3D4E5}"/>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C0B077D-DD98-09E3-0BDD-509D30DB7F9A}"/>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BD14FCAA-2550-316A-4E72-039402E0F0EE}"/>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Partitioning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splits a relation into two or more relations.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is primality used in distributed databases.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 Distributed Database is a single logical database that is spread across computers in multiple locations that are connected by a data communication network.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objective is to place the partitions at the appropriate sites for optimizing the following parameters. </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Ease of data access</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Reduced communication cost</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Reduced communication cost</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Balance workload</a:t>
            </a:r>
          </a:p>
          <a:p>
            <a:pPr marL="622301" lvl="1" indent="-347663" algn="just">
              <a:spcBef>
                <a:spcPts val="300"/>
              </a:spcBef>
              <a:buClr>
                <a:srgbClr val="C00000"/>
              </a:buClr>
              <a:defRPr/>
            </a:pPr>
            <a:r>
              <a:rPr lang="en-US" sz="2200" dirty="0">
                <a:solidFill>
                  <a:srgbClr val="0000CC"/>
                </a:solidFill>
                <a:latin typeface="Cambria" panose="02040503050406030204" pitchFamily="18" charset="0"/>
                <a:ea typeface="Cambria" panose="02040503050406030204" pitchFamily="18" charset="0"/>
                <a:cs typeface="Calibri" panose="020F0502020204030204" pitchFamily="34" charset="0"/>
              </a:rPr>
              <a:t>Efficiency</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There are two types of partitioning;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Horizontal Partitioning and Vertical Partitioning</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7281E54B-BC3C-919A-E88A-C4EF29DCBA0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8018F45E-ECC9-78FF-6C01-78C30B3853E9}"/>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31264529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06FE-93F7-4491-5578-82F1EC41CFB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4F26FD4-E5B9-5073-CE83-DD62A21D81E2}"/>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BC712835-B46A-6799-FAAF-02BF39EA3099}"/>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a) Horizontal Partitioning</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distributes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rows of a table</a:t>
            </a:r>
            <a:r>
              <a:rPr lang="en-US" sz="2400" dirty="0">
                <a:latin typeface="Cambria" panose="02040503050406030204" pitchFamily="18" charset="0"/>
                <a:ea typeface="Cambria" panose="02040503050406030204" pitchFamily="18" charset="0"/>
                <a:cs typeface="Calibri" panose="020F0502020204030204" pitchFamily="34" charset="0"/>
              </a:rPr>
              <a:t> into several separate tables.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Access time of smaller tables is less than the time to accessing the records of a larger table.</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also helps in the maintenance of tables, security, authorization and backup.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These smaller partitions can also be placed on different disks to reduce disk contention.</a:t>
            </a:r>
          </a:p>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b)  Vertical Partitioning</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It distributes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columns of a table </a:t>
            </a:r>
            <a:r>
              <a:rPr lang="en-US" sz="2400" dirty="0">
                <a:latin typeface="Cambria" panose="02040503050406030204" pitchFamily="18" charset="0"/>
                <a:ea typeface="Cambria" panose="02040503050406030204" pitchFamily="18" charset="0"/>
                <a:cs typeface="Calibri" panose="020F0502020204030204" pitchFamily="34" charset="0"/>
              </a:rPr>
              <a:t>into several separate tables place them at the appropriate sites.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Primary key is repeated in all vertical partitions of a table to get the original table.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You can replicate a limited subset of a table's columns to other machines.</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62B7CAB7-8BF9-6B24-6685-A98F60C923D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DF318A59-1F48-640A-9737-DFCF5DA7060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05476469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4321-E581-732D-FF32-3CE37DCD28D8}"/>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AC0333C9-36CA-E575-4C76-377AD6713015}"/>
              </a:ext>
            </a:extLst>
          </p:cNvPr>
          <p:cNvSpPr>
            <a:spLocks noGrp="1" noChangeArrowheads="1"/>
          </p:cNvSpPr>
          <p:nvPr>
            <p:ph type="title"/>
          </p:nvPr>
        </p:nvSpPr>
        <p:spPr>
          <a:xfrm>
            <a:off x="251520" y="188640"/>
            <a:ext cx="8568952" cy="533400"/>
          </a:xfrm>
        </p:spPr>
        <p:txBody>
          <a:bodyPr/>
          <a:lstStyle/>
          <a:p>
            <a:pPr eaLnBrk="1" hangingPunct="1">
              <a:spcBef>
                <a:spcPct val="50000"/>
              </a:spcBef>
            </a:pPr>
            <a:r>
              <a:rPr lang="en-US" sz="2800" b="1" u="sng" dirty="0">
                <a:solidFill>
                  <a:srgbClr val="D34817"/>
                </a:solidFill>
                <a:latin typeface="Cambria" panose="02040503050406030204" pitchFamily="18" charset="0"/>
                <a:ea typeface="Cambria" panose="02040503050406030204" pitchFamily="18" charset="0"/>
              </a:rPr>
              <a:t>Physical Database Design</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2" name="Content Placeholder 1">
            <a:extLst>
              <a:ext uri="{FF2B5EF4-FFF2-40B4-BE49-F238E27FC236}">
                <a16:creationId xmlns:a16="http://schemas.microsoft.com/office/drawing/2014/main" id="{05FB9C6D-0229-CC2D-4B27-0D0A2A59BEB8}"/>
              </a:ext>
            </a:extLst>
          </p:cNvPr>
          <p:cNvSpPr>
            <a:spLocks noGrp="1"/>
          </p:cNvSpPr>
          <p:nvPr>
            <p:ph sz="quarter" idx="1"/>
          </p:nvPr>
        </p:nvSpPr>
        <p:spPr>
          <a:xfrm>
            <a:off x="251520" y="620688"/>
            <a:ext cx="8492430" cy="6192688"/>
          </a:xfrm>
        </p:spPr>
        <p:txBody>
          <a:bodyPr/>
          <a:lstStyle/>
          <a:p>
            <a:pPr marL="0" indent="0" algn="just">
              <a:spcBef>
                <a:spcPts val="300"/>
              </a:spcBef>
              <a:buClr>
                <a:srgbClr val="C00000"/>
              </a:buClr>
              <a:buNone/>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Estimate disk space requirements</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This step is required so that the appropriate disk size can be selected. </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In general, the estimate is based on the size of each tuple and the number of tuples in a relation.</a:t>
            </a:r>
          </a:p>
          <a:p>
            <a:pPr marL="347663" indent="-347663" algn="just">
              <a:spcBef>
                <a:spcPts val="300"/>
              </a:spcBef>
              <a:buClr>
                <a:srgbClr val="C00000"/>
              </a:buClr>
              <a:defRPr/>
            </a:pPr>
            <a:r>
              <a:rPr lang="en-US" sz="2400" dirty="0">
                <a:latin typeface="Cambria" panose="02040503050406030204" pitchFamily="18" charset="0"/>
                <a:ea typeface="Cambria" panose="02040503050406030204" pitchFamily="18" charset="0"/>
                <a:cs typeface="Calibri" panose="020F0502020204030204" pitchFamily="34" charset="0"/>
              </a:rPr>
              <a:t>The growth of the relation should also be taken into consideration.</a:t>
            </a: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a:spcBef>
                <a:spcPts val="300"/>
              </a:spcBef>
              <a:buClr>
                <a:srgbClr val="C00000"/>
              </a:buClr>
              <a:defRPr/>
            </a:pPr>
            <a:endParaRPr 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3C12D933-E67B-6520-7F02-CA0C9A0F19EF}"/>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Slide Number Placeholder 23">
            <a:extLst>
              <a:ext uri="{FF2B5EF4-FFF2-40B4-BE49-F238E27FC236}">
                <a16:creationId xmlns:a16="http://schemas.microsoft.com/office/drawing/2014/main" id="{9E48F59C-5ABA-8BE2-1951-039A8BCA9412}"/>
              </a:ext>
            </a:extLst>
          </p:cNvPr>
          <p:cNvSpPr>
            <a:spLocks noGrp="1"/>
          </p:cNvSpPr>
          <p:nvPr>
            <p:ph type="sldNum" sz="quarter" idx="12"/>
          </p:nvPr>
        </p:nvSpPr>
        <p:spPr>
          <a:xfrm>
            <a:off x="8532440" y="6237312"/>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798737200"/>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28272</TotalTime>
  <Words>3840</Words>
  <Application>Microsoft Office PowerPoint</Application>
  <PresentationFormat>On-screen Show (4:3)</PresentationFormat>
  <Paragraphs>453</Paragraphs>
  <Slides>33</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Arial</vt:lpstr>
      <vt:lpstr>Calibri</vt:lpstr>
      <vt:lpstr>Cambria</vt:lpstr>
      <vt:lpstr>Cambria Math</vt:lpstr>
      <vt:lpstr>Franklin Gothic Book</vt:lpstr>
      <vt:lpstr>Perpetua</vt:lpstr>
      <vt:lpstr>Symbol</vt:lpstr>
      <vt:lpstr>Wingdings 2</vt:lpstr>
      <vt:lpstr>Equity</vt:lpstr>
      <vt:lpstr>2_Equity</vt:lpstr>
      <vt:lpstr>CC-215 Database Systems</vt:lpstr>
      <vt:lpstr>Introduction</vt:lpstr>
      <vt:lpstr>a) Top-down Approach (Design by Analysis)</vt:lpstr>
      <vt:lpstr>b) Bottom-up Approach (Design by Synthesis)</vt:lpstr>
      <vt:lpstr>Phases of Database Design</vt:lpstr>
      <vt:lpstr>Phases of Database Design</vt:lpstr>
      <vt:lpstr>Phases of Database Design - Physical Database Design</vt:lpstr>
      <vt:lpstr>Physical Database Design</vt:lpstr>
      <vt:lpstr>Physical Database Design</vt:lpstr>
      <vt:lpstr>Physical Database Design</vt:lpstr>
      <vt:lpstr>Physical Database Design – File Organization</vt:lpstr>
      <vt:lpstr>Physical Database Design – File Organization</vt:lpstr>
      <vt:lpstr>Physical Database Design – File Organization</vt:lpstr>
      <vt:lpstr>Record Blocking</vt:lpstr>
      <vt:lpstr>File Organization</vt:lpstr>
      <vt:lpstr>Physical Database Design – File Organization</vt:lpstr>
      <vt:lpstr>Organization of Records in Files</vt:lpstr>
      <vt:lpstr>File Organization - Indexing</vt:lpstr>
      <vt:lpstr>File Organization - Indexing</vt:lpstr>
      <vt:lpstr>File Organization - Indexing</vt:lpstr>
      <vt:lpstr>File Organization - Indexing</vt:lpstr>
      <vt:lpstr>Physical Database Design</vt:lpstr>
      <vt:lpstr>Physical Database Design</vt:lpstr>
      <vt:lpstr>Denormalization</vt:lpstr>
      <vt:lpstr>Physical Database Design</vt:lpstr>
      <vt:lpstr>Database Access Control</vt:lpstr>
      <vt:lpstr>Physical Database Design</vt:lpstr>
      <vt:lpstr>Physical Database Design</vt:lpstr>
      <vt:lpstr>Physical Database Design</vt:lpstr>
      <vt:lpstr>Physical Database Design</vt:lpstr>
      <vt:lpstr>Physical Database Design</vt:lpstr>
      <vt:lpstr>Physical Database Design</vt:lpstr>
      <vt:lpstr>Physical Database Design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871</cp:revision>
  <dcterms:created xsi:type="dcterms:W3CDTF">2006-05-17T12:38:56Z</dcterms:created>
  <dcterms:modified xsi:type="dcterms:W3CDTF">2025-12-31T10:59:12Z</dcterms:modified>
</cp:coreProperties>
</file>