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75" r:id="rId2"/>
    <p:sldMasterId id="2147483688" r:id="rId3"/>
  </p:sldMasterIdLst>
  <p:notesMasterIdLst>
    <p:notesMasterId r:id="rId19"/>
  </p:notesMasterIdLst>
  <p:handoutMasterIdLst>
    <p:handoutMasterId r:id="rId20"/>
  </p:handoutMasterIdLst>
  <p:sldIdLst>
    <p:sldId id="508" r:id="rId4"/>
    <p:sldId id="512" r:id="rId5"/>
    <p:sldId id="1034" r:id="rId6"/>
    <p:sldId id="1035" r:id="rId7"/>
    <p:sldId id="1037" r:id="rId8"/>
    <p:sldId id="1038" r:id="rId9"/>
    <p:sldId id="1039" r:id="rId10"/>
    <p:sldId id="1040" r:id="rId11"/>
    <p:sldId id="1041" r:id="rId12"/>
    <p:sldId id="1042" r:id="rId13"/>
    <p:sldId id="1043" r:id="rId14"/>
    <p:sldId id="1044" r:id="rId15"/>
    <p:sldId id="1045" r:id="rId16"/>
    <p:sldId id="473" r:id="rId17"/>
    <p:sldId id="492" r:id="rId18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  <a:srgbClr val="FF0000"/>
    <a:srgbClr val="006600"/>
    <a:srgbClr val="FFFF66"/>
    <a:srgbClr val="00FF00"/>
    <a:srgbClr val="FFFFCC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13" autoAdjust="0"/>
    <p:restoredTop sz="95256" autoAdjust="0"/>
  </p:normalViewPr>
  <p:slideViewPr>
    <p:cSldViewPr>
      <p:cViewPr varScale="1">
        <p:scale>
          <a:sx n="83" d="100"/>
          <a:sy n="83" d="100"/>
        </p:scale>
        <p:origin x="110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D28D114C-3970-6717-448C-EE55CF87DB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EA49F5F5-D1FF-04EC-BFFA-07545229B6B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370FFB60-ED1F-FA39-2E17-2019ACA36E0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6DEC4CAF-9327-5321-C1E6-D8BEC099EA2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13C75FF7-CD42-483B-B6D0-719C3E947FA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1C6656-1B84-C4F9-DB68-6185057A26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29B1CC6-0300-7696-4A05-8B4093A056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4FEED01-3BC4-2A3D-5483-49E1547A63F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0AC4C51-3EB8-01C0-A70D-C38838E335A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3964A5D-7716-E510-AE28-70EC6083C8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7D5716C0-576A-C12D-78F9-4DD50E88C1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3B6F24BB-CA1B-478B-A09D-142BA492A082}" type="slidenum">
              <a:rPr lang="de-AT" altLang="en-US"/>
              <a:pPr>
                <a:defRPr/>
              </a:pPr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EDAAC-6305-5D5B-FAE9-D212E0A5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CF424162-ABE3-86AF-B744-377F2F1E01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D54EA09F-89E9-49B9-9D43-A8BE5116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</a:rPr>
              <a:t>F = {A → B,  A → C}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BA73A57-190E-7C98-A51E-BBB9C0AB0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CD6C1D-CDC0-43A4-B26D-BF17332DD192}" type="slidenum">
              <a:rPr lang="de-AT" altLang="en-US" smtClean="0"/>
              <a:pPr>
                <a:spcBef>
                  <a:spcPct val="0"/>
                </a:spcBef>
              </a:pPr>
              <a:t>11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4092249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DA14-3A28-8B41-CF9F-6A56EA04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4DD5E45E-DBA8-74F8-AEA0-64712B8123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ADAD99BF-6A4F-64F7-3A36-6C2F73B1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</a:rPr>
              <a:t>F = {A → B,  A → C}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B524A8A-BFEF-4B66-DA8C-403337296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CD6C1D-CDC0-43A4-B26D-BF17332DD192}" type="slidenum">
              <a:rPr lang="de-AT" altLang="en-US" smtClean="0"/>
              <a:pPr>
                <a:spcBef>
                  <a:spcPct val="0"/>
                </a:spcBef>
              </a:pPr>
              <a:t>12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4036285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35D723C-C9C7-A568-FCF7-4EB6D646C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7620E5-E56A-49FA-9155-1FDAD0A7E276}" type="slidenum">
              <a:rPr lang="de-AT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15</a:t>
            </a:fld>
            <a:endParaRPr lang="de-AT" altLang="en-US">
              <a:solidFill>
                <a:srgbClr val="000000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6836BE6-20E4-351B-BC60-248E1316E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FC398F3C-1D53-AF59-20A3-2AC1A709E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521059-6778-5F60-1086-45CEED048C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44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71C488-7D10-FE96-7303-3FB3E8C904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39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5D5076-4D8D-8196-7D6D-859DD92135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149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A89B4-0F1F-5A40-7A17-5B78C5C01D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77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6DB3F49-B8D1-1DED-D0C5-DE65A82FA7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62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CD58CA2-24D6-CBBA-D646-9421EB86F7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48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3E1C250-646A-50D4-AEA1-D0530EB73E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26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0F5B7-E924-6664-1CEB-368A5CCD7A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12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C8406-D65D-6061-38D3-E4E87065E4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59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2FF159-79E2-7162-54D5-A17BF9F0CF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153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17629B-C1EC-E324-A6A9-19D7F38F2C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42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3058F-5E3F-252E-B178-E1A8F4698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621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607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63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73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73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2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92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75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7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299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55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988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9928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060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1775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368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8244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477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054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2221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B44A936-745D-EF49-60A0-CF1AF5E01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034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8D8596-5C8D-4BD2-D3F8-CE941716D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B09042-A068-E57A-7017-794853C43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C770BC1-C191-5F46-DD45-84E0E45529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1EDEBA8E-7C68-61D4-264A-A4DAF1B7E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C7E98C6C-6C5F-0592-2409-B2BBCADC7A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97B06EB5-74DC-7F65-912C-F634534A7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>
                <a:solidFill>
                  <a:srgbClr val="FFFF00"/>
                </a:solidFill>
                <a:cs typeface="Arial" charset="0"/>
              </a:rPr>
              <a:t>Database Systems</a:t>
            </a:r>
            <a:endParaRPr lang="de-DE" sz="1000">
              <a:solidFill>
                <a:srgbClr val="FFFF00"/>
              </a:solidFill>
            </a:endParaRP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EE644693-908C-4E7C-B8CE-C9AA84F242F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de-DE" altLang="en-US" sz="1000"/>
              <a:t>Slide </a:t>
            </a:r>
            <a:fld id="{C889DD0C-9343-4F9F-BF85-6DBC498356A0}" type="slidenum">
              <a:rPr lang="de-DE" altLang="en-US" sz="1000" smtClean="0"/>
              <a:pPr algn="ctr" eaLnBrk="1" hangingPunct="1">
                <a:defRPr/>
              </a:pPr>
              <a:t>‹#›</a:t>
            </a:fld>
            <a:endParaRPr lang="de-DE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11/16/2025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6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0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b="1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CC-215</a:t>
            </a:r>
            <a:b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altLang="en-US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Systems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2795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— Unit 9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Functional Dependencies &amp; 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Inference Rules (Armstrong Axioms)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4637620"/>
            <a:ext cx="3233199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B819144-AC91-20AF-4E39-1CC6743E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917" y="295275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7C24E2FC-DC72-6DE9-973D-DFAF2B2A7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5275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FC7106B-BDE5-751B-3CDA-7C878E45D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653136"/>
            <a:ext cx="5069656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Some slides and/or pictures are adapted from Lecture slides / Books of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Peter Rob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Jeffery. A. Hoffer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Thomas M. Connolly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Ramez Elmasri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Silberschtaz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CB9-4BF5-C5F2-8C4F-498B0DFA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DFC45EC-3177-3DFE-21EC-E9DF51777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 Dependency (FD)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38FA7D6-5711-9C64-E668-35B79ADCE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Functional Dependency (FD) is a relationship between two attributes A &amp; B of a relation R, such that attribute B is said to be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functionally dependent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on attribute A, if A uniquely determines the values of B.(A-&gt;B)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attribute on the left-hand side of the arrow in a functional dependency is called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Determinant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on the right are called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Dependents.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E3710-1733-20E4-5FC3-C475DEA4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0E969A3-E994-1903-4958-1B009E3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2C729B9-D6DA-AAB2-3FF7-523D2BFB869C}"/>
              </a:ext>
            </a:extLst>
          </p:cNvPr>
          <p:cNvGrpSpPr>
            <a:grpSpLocks/>
          </p:cNvGrpSpPr>
          <p:nvPr/>
        </p:nvGrpSpPr>
        <p:grpSpPr bwMode="auto">
          <a:xfrm>
            <a:off x="2433638" y="3645024"/>
            <a:ext cx="6477000" cy="609600"/>
            <a:chOff x="384" y="1584"/>
            <a:chExt cx="4080" cy="384"/>
          </a:xfrm>
          <a:solidFill>
            <a:schemeClr val="bg1">
              <a:lumMod val="75000"/>
            </a:schemeClr>
          </a:solidFill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3A28212-C72D-30BF-F4E6-7A98B450B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584"/>
              <a:ext cx="3024" cy="384"/>
              <a:chOff x="144" y="3840"/>
              <a:chExt cx="3024" cy="384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81522F8-4DBA-CCEC-D1B1-3AD153CE3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u="sng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EMP_ID 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7246BE-032E-EF54-43F6-F77E97F0A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Cambria" panose="02040503050406030204" pitchFamily="18" charset="0"/>
                    <a:ea typeface="Cambria" panose="02040503050406030204" pitchFamily="18" charset="0"/>
                  </a:rPr>
                  <a:t>Name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43674A-B1EA-C76B-8BBB-14539E179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Cambria" panose="02040503050406030204" pitchFamily="18" charset="0"/>
                    <a:ea typeface="Cambria" panose="02040503050406030204" pitchFamily="18" charset="0"/>
                  </a:rPr>
                  <a:t>Dept_Name</a:t>
                </a:r>
              </a:p>
            </p:txBody>
          </p:sp>
        </p:grp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F28B3CE2-DC66-A91B-71CD-FF1FFD0E4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84"/>
              <a:ext cx="1056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Cambria" panose="02040503050406030204" pitchFamily="18" charset="0"/>
                  <a:ea typeface="Cambria" panose="02040503050406030204" pitchFamily="18" charset="0"/>
                </a:rPr>
                <a:t>Salary</a:t>
              </a:r>
            </a:p>
          </p:txBody>
        </p:sp>
      </p:grpSp>
      <p:sp>
        <p:nvSpPr>
          <p:cNvPr id="10" name="Text Box 10">
            <a:extLst>
              <a:ext uri="{FF2B5EF4-FFF2-40B4-BE49-F238E27FC236}">
                <a16:creationId xmlns:a16="http://schemas.microsoft.com/office/drawing/2014/main" id="{36393619-F482-F320-898A-660EC7797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717032"/>
            <a:ext cx="1728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EMPLOYEE</a:t>
            </a:r>
          </a:p>
        </p:txBody>
      </p:sp>
      <p:cxnSp>
        <p:nvCxnSpPr>
          <p:cNvPr id="11" name="AutoShape 23">
            <a:extLst>
              <a:ext uri="{FF2B5EF4-FFF2-40B4-BE49-F238E27FC236}">
                <a16:creationId xmlns:a16="http://schemas.microsoft.com/office/drawing/2014/main" id="{E447A6A4-01D0-000F-0B61-31451136595B}"/>
              </a:ext>
            </a:extLst>
          </p:cNvPr>
          <p:cNvCxnSpPr>
            <a:cxnSpLocks noChangeShapeType="1"/>
            <a:stCxn id="7" idx="2"/>
            <a:endCxn id="6" idx="2"/>
          </p:cNvCxnSpPr>
          <p:nvPr/>
        </p:nvCxnSpPr>
        <p:spPr bwMode="auto">
          <a:xfrm rot="16200000" flipH="1">
            <a:off x="5652294" y="1836068"/>
            <a:ext cx="1587" cy="4838700"/>
          </a:xfrm>
          <a:prstGeom prst="bentConnector3">
            <a:avLst>
              <a:gd name="adj1" fmla="val 144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Line 24">
            <a:extLst>
              <a:ext uri="{FF2B5EF4-FFF2-40B4-BE49-F238E27FC236}">
                <a16:creationId xmlns:a16="http://schemas.microsoft.com/office/drawing/2014/main" id="{12EEF62E-F494-E2AF-20A2-7D40BC8693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9638" y="4254624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EFFD7A07-7473-2589-1006-A400AFD3B4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96038" y="4254624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6F72DB64-32FA-5F51-A757-42F74D224723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5373216"/>
            <a:ext cx="8785223" cy="609600"/>
            <a:chOff x="48" y="2832"/>
            <a:chExt cx="5712" cy="384"/>
          </a:xfrm>
          <a:solidFill>
            <a:schemeClr val="bg1">
              <a:lumMod val="75000"/>
            </a:schemeClr>
          </a:solidFill>
        </p:grpSpPr>
        <p:grpSp>
          <p:nvGrpSpPr>
            <p:cNvPr id="15" name="Group 3">
              <a:extLst>
                <a:ext uri="{FF2B5EF4-FFF2-40B4-BE49-F238E27FC236}">
                  <a16:creationId xmlns:a16="http://schemas.microsoft.com/office/drawing/2014/main" id="{C4289739-3C28-51B5-D858-9297A09F52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832"/>
              <a:ext cx="4080" cy="384"/>
              <a:chOff x="384" y="1584"/>
              <a:chExt cx="4080" cy="384"/>
            </a:xfrm>
            <a:grpFill/>
          </p:grpSpPr>
          <p:grpSp>
            <p:nvGrpSpPr>
              <p:cNvPr id="18" name="Group 14">
                <a:extLst>
                  <a:ext uri="{FF2B5EF4-FFF2-40B4-BE49-F238E27FC236}">
                    <a16:creationId xmlns:a16="http://schemas.microsoft.com/office/drawing/2014/main" id="{430698EE-E23A-EDB8-2243-A7448F5472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584"/>
                <a:ext cx="3024" cy="384"/>
                <a:chOff x="144" y="3840"/>
                <a:chExt cx="3024" cy="384"/>
              </a:xfrm>
              <a:grpFill/>
            </p:grpSpPr>
            <p:sp>
              <p:nvSpPr>
                <p:cNvPr id="20" name="Rectangle 15">
                  <a:extLst>
                    <a:ext uri="{FF2B5EF4-FFF2-40B4-BE49-F238E27FC236}">
                      <a16:creationId xmlns:a16="http://schemas.microsoft.com/office/drawing/2014/main" id="{265D61F7-4E55-1FE5-041A-F9A0AF21B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" y="3840"/>
                  <a:ext cx="1008" cy="384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u="sng" dirty="0">
                      <a:solidFill>
                        <a:srgbClr val="FF000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EMP_ID</a:t>
                  </a:r>
                </a:p>
              </p:txBody>
            </p:sp>
            <p:sp>
              <p:nvSpPr>
                <p:cNvPr id="21" name="Rectangle 16">
                  <a:extLst>
                    <a:ext uri="{FF2B5EF4-FFF2-40B4-BE49-F238E27FC236}">
                      <a16:creationId xmlns:a16="http://schemas.microsoft.com/office/drawing/2014/main" id="{81CB5262-0704-19CA-CE6E-F4248E8F2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840"/>
                  <a:ext cx="1008" cy="384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u="sng" dirty="0">
                      <a:solidFill>
                        <a:srgbClr val="FF000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Project Code</a:t>
                  </a:r>
                </a:p>
              </p:txBody>
            </p:sp>
            <p:sp>
              <p:nvSpPr>
                <p:cNvPr id="22" name="Rectangle 17">
                  <a:extLst>
                    <a:ext uri="{FF2B5EF4-FFF2-40B4-BE49-F238E27FC236}">
                      <a16:creationId xmlns:a16="http://schemas.microsoft.com/office/drawing/2014/main" id="{FDAC0D6E-2713-1DCD-B87E-225C7CF1FD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3840"/>
                  <a:ext cx="1008" cy="384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>
                      <a:latin typeface="Cambria" panose="02040503050406030204" pitchFamily="18" charset="0"/>
                      <a:ea typeface="Cambria" panose="02040503050406030204" pitchFamily="18" charset="0"/>
                    </a:rPr>
                    <a:t>Name</a:t>
                  </a:r>
                </a:p>
              </p:txBody>
            </p:sp>
          </p:grp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234763E-C465-C810-C862-302DC875C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584"/>
                <a:ext cx="1056" cy="38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Cambria" panose="02040503050406030204" pitchFamily="18" charset="0"/>
                    <a:ea typeface="Cambria" panose="02040503050406030204" pitchFamily="18" charset="0"/>
                  </a:rPr>
                  <a:t>Dept_Name</a:t>
                </a:r>
              </a:p>
            </p:txBody>
          </p:sp>
        </p:grp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7CC4B5B1-AB17-532A-81E9-29A55547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32"/>
              <a:ext cx="624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Cambria" panose="02040503050406030204" pitchFamily="18" charset="0"/>
                  <a:ea typeface="Cambria" panose="02040503050406030204" pitchFamily="18" charset="0"/>
                </a:rPr>
                <a:t>Salary</a:t>
              </a:r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E0CE7B58-F915-8D84-8FD3-CED6482C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832"/>
              <a:ext cx="1056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Emp_Role</a:t>
              </a:r>
              <a:endParaRPr lang="en-US" altLang="en-US" sz="2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cxnSp>
        <p:nvCxnSpPr>
          <p:cNvPr id="23" name="AutoShape 21">
            <a:extLst>
              <a:ext uri="{FF2B5EF4-FFF2-40B4-BE49-F238E27FC236}">
                <a16:creationId xmlns:a16="http://schemas.microsoft.com/office/drawing/2014/main" id="{CC865D04-2099-F58E-BABD-43DE9FECB33B}"/>
              </a:ext>
            </a:extLst>
          </p:cNvPr>
          <p:cNvCxnSpPr>
            <a:cxnSpLocks noChangeShapeType="1"/>
            <a:stCxn id="17" idx="2"/>
            <a:endCxn id="20" idx="2"/>
          </p:cNvCxnSpPr>
          <p:nvPr/>
        </p:nvCxnSpPr>
        <p:spPr bwMode="auto">
          <a:xfrm rot="5400000">
            <a:off x="4553668" y="2383828"/>
            <a:ext cx="12700" cy="7197977"/>
          </a:xfrm>
          <a:prstGeom prst="bentConnector3">
            <a:avLst>
              <a:gd name="adj1" fmla="val 18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22">
            <a:extLst>
              <a:ext uri="{FF2B5EF4-FFF2-40B4-BE49-F238E27FC236}">
                <a16:creationId xmlns:a16="http://schemas.microsoft.com/office/drawing/2014/main" id="{B8512452-6B11-BCAC-5630-8F6DE7C76D41}"/>
              </a:ext>
            </a:extLst>
          </p:cNvPr>
          <p:cNvCxnSpPr>
            <a:cxnSpLocks noChangeShapeType="1"/>
            <a:stCxn id="17" idx="2"/>
            <a:endCxn id="21" idx="2"/>
          </p:cNvCxnSpPr>
          <p:nvPr/>
        </p:nvCxnSpPr>
        <p:spPr bwMode="auto">
          <a:xfrm rot="5400000">
            <a:off x="5328834" y="3158994"/>
            <a:ext cx="12700" cy="5647644"/>
          </a:xfrm>
          <a:prstGeom prst="bentConnector3">
            <a:avLst>
              <a:gd name="adj1" fmla="val 1800000"/>
            </a:avLst>
          </a:prstGeom>
          <a:noFill/>
          <a:ln w="38100">
            <a:solidFill>
              <a:schemeClr val="tx1"/>
            </a:solidFill>
            <a:miter lim="800000"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26">
            <a:extLst>
              <a:ext uri="{FF2B5EF4-FFF2-40B4-BE49-F238E27FC236}">
                <a16:creationId xmlns:a16="http://schemas.microsoft.com/office/drawing/2014/main" id="{CF03ACC8-B8F0-0E05-2737-2DE54D31E05D}"/>
              </a:ext>
            </a:extLst>
          </p:cNvPr>
          <p:cNvCxnSpPr>
            <a:cxnSpLocks noChangeShapeType="1"/>
            <a:stCxn id="20" idx="0"/>
            <a:endCxn id="16" idx="0"/>
          </p:cNvCxnSpPr>
          <p:nvPr/>
        </p:nvCxnSpPr>
        <p:spPr bwMode="auto">
          <a:xfrm rot="5400000" flipH="1" flipV="1">
            <a:off x="3944607" y="2383288"/>
            <a:ext cx="12700" cy="5979857"/>
          </a:xfrm>
          <a:prstGeom prst="bentConnector3">
            <a:avLst>
              <a:gd name="adj1" fmla="val 18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Line 27">
            <a:extLst>
              <a:ext uri="{FF2B5EF4-FFF2-40B4-BE49-F238E27FC236}">
                <a16:creationId xmlns:a16="http://schemas.microsoft.com/office/drawing/2014/main" id="{7EF371F6-BC2E-F66E-A8EC-6DD00A467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3525" y="5157192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43E4FA49-2A47-D991-6B65-B6C5CEDD7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5" y="5157192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47752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BAEF-A298-35BA-0175-1871B02D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714C66E-9BA1-CC96-C030-1284A51B2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 Dependency (FD)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8B9648D-9ED9-B56B-F16F-5C7B122E9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functional dependency, denoted by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→ 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between two sets of attributes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a relation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specifies a constraint that, for any two tuples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that have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t1[X] = t2[X],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they must also have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t1[Y] = t2[Y].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a constraint on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states that there cannot be more than one tuple with a given X-value in any relation instance r(R), i.e.,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is a candidate key of 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- this implies that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→ 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for any subset of attributes Y of R.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Which of the following functional dependencies may or may not hold for the given dataset? 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de-DE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 -&gt; C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de-DE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 -&gt; B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de-DE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-&gt; C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de-DE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-&gt; B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de-DE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CD -&gt; B	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C59E7-4F25-4934-D91F-541EC948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6CC9FE3-DE52-C7C1-FB6A-CF4C4627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32EEBB6-1F82-623F-6FAB-6CC8D3167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318478"/>
              </p:ext>
            </p:extLst>
          </p:nvPr>
        </p:nvGraphicFramePr>
        <p:xfrm>
          <a:off x="4984405" y="4287728"/>
          <a:ext cx="3505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11751099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8519701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26202268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913128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</a:rPr>
                        <a:t>A</a:t>
                      </a:r>
                      <a:endParaRPr lang="en-US" sz="20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</a:rPr>
                        <a:t>B</a:t>
                      </a:r>
                      <a:endParaRPr lang="en-US" sz="20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</a:rPr>
                        <a:t>C</a:t>
                      </a:r>
                      <a:endParaRPr lang="en-US" sz="20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</a:rPr>
                        <a:t>D</a:t>
                      </a:r>
                      <a:endParaRPr lang="en-US" sz="20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88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a1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b1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c1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d1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1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a1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b2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c2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d2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62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a2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b2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c2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d3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8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a3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b3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c4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d3</a:t>
                      </a:r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858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1063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CD81-7DA9-7133-94F8-C56B0B13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66A2216-64A1-8E74-9F3A-E959EDC81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Inference Rules or Armstrong Axioms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C2736F8-99BE-F874-40F8-315619C94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Using the given set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functional dependencies, additional functional dependencies can be derived using Inference Rules for functional dependencies, called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inference axioms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Armstrong axioms,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after their developer, can be used to find all the FDs logically implied by a set of FDs.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Armstrong axioms are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sound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complete.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→ 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inferred from or implied by a set of dependencies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specified on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→ 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holds in every relation state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R;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that is, whenever r satisfies all the dependencies in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F,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→ 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also holds in r.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Inference rules are helpful in identifying the </a:t>
            </a:r>
            <a:r>
              <a:rPr lang="en-US" sz="2400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a relation and to replace a relation with a collection of smaller relations.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attribute or set of attributes is a key, if it can functionally determine the other attributes of the relation.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D4187-D13C-F5AF-81FE-C653C16E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7952AE69-EB4A-72EC-F9C5-E9308FDF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4064796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7507-E61D-58D7-2C22-E7ED934A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BE70E-1199-862B-F03D-E26F21DE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FA57393-604C-B595-6917-3523B43A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FAFC31-59B9-6D4E-D05E-F14863633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185245"/>
              </p:ext>
            </p:extLst>
          </p:nvPr>
        </p:nvGraphicFramePr>
        <p:xfrm>
          <a:off x="201215" y="332656"/>
          <a:ext cx="8835281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61">
                  <a:extLst>
                    <a:ext uri="{9D8B030D-6E8A-4147-A177-3AD203B41FA5}">
                      <a16:colId xmlns:a16="http://schemas.microsoft.com/office/drawing/2014/main" val="335934443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042765703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360171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Inference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1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Reflexivity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⊇ Y,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then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→ Y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ename,job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 </a:t>
                      </a:r>
                      <a:r>
                        <a:rPr lang="en-US" sz="24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then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 → BC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then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empno,job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ename,job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6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Transitivity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 → C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then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C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deptno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and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deptno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dname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then</a:t>
                      </a:r>
                    </a:p>
                    <a:p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dname</a:t>
                      </a:r>
                      <a:endParaRPr lang="en-US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559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 Additivity or Union</a:t>
                      </a:r>
                      <a:endParaRPr lang="en-US" sz="24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C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then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BC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job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and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then</a:t>
                      </a:r>
                    </a:p>
                    <a:p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job,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</a:t>
                      </a:r>
                      <a:endParaRPr lang="en-US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55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 Projectivity or Decomposition</a:t>
                      </a:r>
                      <a:endParaRPr lang="en-US" sz="24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BC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C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job,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then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job then</a:t>
                      </a:r>
                    </a:p>
                    <a:p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</a:t>
                      </a:r>
                      <a:endParaRPr lang="en-US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26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6. Pseudo transitivity</a:t>
                      </a:r>
                      <a:endParaRPr lang="en-US" sz="24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→ B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BC → D,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then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 → D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If </a:t>
                      </a: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job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and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job,sal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bonus 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then</a:t>
                      </a:r>
                    </a:p>
                    <a:p>
                      <a:r>
                        <a:rPr lang="en-US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empno,sal</a:t>
                      </a:r>
                      <a:r>
                        <a:rPr lang="en-US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→ bonus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742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143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82D6-1164-B750-0FC2-65E3795B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117E2BE-534A-CDE9-9B3A-C4691A1C9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Closure of F (F</a:t>
            </a:r>
            <a:r>
              <a:rPr lang="en-US" altLang="en-US" sz="2800" b="1" u="sng" baseline="30000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B05A10-AA4F-2565-16D8-B78097408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F-closure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a set of FDs logically implied from given FDs.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for determining F+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Input: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set F of FDs on a relation schema R, and a set of attributes X, which is a subset of R.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F+ := F;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Apply the reflexivity rule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repeat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for each functional dependency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apply the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augmentation rule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add the resulting functional dependencies to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for each pair of functional dependencies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can be combined using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transitivity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	add the resulting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until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does not change any further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C10DC-6C64-9F3F-AD3C-33964E80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EE6E018-4C60-927F-2A95-BDABB428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45039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48F9-CFC1-4496-6C88-3B12F02C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6BF9072-98B3-1AC2-823B-0F4219CF2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Closure of F (F</a:t>
            </a:r>
            <a:r>
              <a:rPr lang="en-US" altLang="en-US" sz="2800" b="1" u="sng" baseline="30000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CD8D1AC-E5BB-737C-0C2C-DE8ED9483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 1: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Consider a relation R(A,B,C,D,E) with the FDs:</a:t>
            </a:r>
          </a:p>
          <a:p>
            <a:pPr marL="0" indent="0" algn="ctr">
              <a:spcBef>
                <a:spcPts val="60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{A → BC,  CD → E, B → D, E → A} 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Reflexivity: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A,  B → B, C → C, D → D, E → E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Decomposition: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BC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B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C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Transitivity: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B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 → 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D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Union: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C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CD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Transitivity: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CD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CD → 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→ E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concludes that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→ ABCDE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and hence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is a key.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 → A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 that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E → ABCDE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 hence E is also a key.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CD → 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 that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CD → ABCDE</a:t>
            </a:r>
          </a:p>
          <a:p>
            <a:pPr algn="just">
              <a:spcBef>
                <a:spcPts val="6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 → 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implies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BC → CD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 hence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BC → ABCDE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defRPr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 2: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Find F+ of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{A → B, A → C, CG → H, CG → I, B → H}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5200B-424C-DD33-4AA3-C344F96F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8F01052-34EC-5694-A6EB-13464CAC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47370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D826-490B-EC25-3102-7C6A6C54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D3CE0DF-E862-BF59-775A-58FB6EB62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5327650" cy="504825"/>
          </a:xfrm>
          <a:noFill/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Closure of X (X+)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FD0FBA00-1C36-4B42-56AF-DF315DBA2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056" y="640109"/>
            <a:ext cx="8497888" cy="523716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attribute(s)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we can determine a set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attributes that are functionally dependent on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based of a given set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functional dependencies.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called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X-closure or closure of X under F.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for determining X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Input: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set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FDs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on a relation schema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a set of attributes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which is a subset of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:= X;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repeat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old 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:= 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for each functional dependency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 → Z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in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do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if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⊇ 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then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:= 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∪ Z;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until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old X</a:t>
            </a:r>
            <a:r>
              <a:rPr lang="en-US" sz="2400" baseline="30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5F90CCE-1605-7A03-5905-C7F52F69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83EB5773-5FBD-D70D-277D-756CC6C0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729038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B2BAB-10EB-22B5-74C7-74FE3A07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46E7215-17C4-369B-456C-4ED7AC301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275" y="260648"/>
            <a:ext cx="5327650" cy="504825"/>
          </a:xfrm>
          <a:noFill/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Closure of X (X+)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1C1F740-0896-113D-9D87-0D4199F90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770734"/>
            <a:ext cx="8497888" cy="523716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R(A,B,C,D,E)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FD = {A → D,  D → B, B → C, E → B}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8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ADBC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8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28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28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DBC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28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EBC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None of the above attribute is a key and hence we need to have a composite key.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AE</a:t>
            </a:r>
            <a:r>
              <a:rPr lang="en-US" sz="28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ABCDE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1D7CC3A-B4E3-F177-DA05-198C68B1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2534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D989D6DD-BDF4-86F0-EC39-F7FD9527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11835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5A83-3058-1E14-7CF2-D691E195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F57D904-2A09-907F-78DA-D0373F33B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0164"/>
            <a:ext cx="7920038" cy="504825"/>
          </a:xfrm>
          <a:noFill/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Equivalent Dependencies (Cover)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23B731CB-EE13-6A8E-04F4-B21AB8144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056" y="738981"/>
            <a:ext cx="8497888" cy="5380037"/>
          </a:xfrm>
        </p:spPr>
        <p:txBody>
          <a:bodyPr/>
          <a:lstStyle/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Given two sets F and G of functional dependencies, then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G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then F and G are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equivalent.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/>
              </a:rPr>
              <a:t>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then G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covers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F.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/>
              </a:rPr>
              <a:t>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/>
              </a:rPr>
              <a:t>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/>
              </a:rPr>
              <a:t>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</a:t>
            </a:r>
            <a:r>
              <a:rPr 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set of functional dependencies F is said to cover another set of functional dependencies G if every FD in G is also in F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; that is, if every dependency in G can be inferred from F.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can determine whether G covers F by calculating X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with respect to F using FDs in G. If we can get dependents for every FD in F using FDs of G , then G covers F.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Let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R(A,B,C)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B,  B → C, C → A}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</a:p>
          <a:p>
            <a:pPr marL="0" indent="0" algn="just">
              <a:spcBef>
                <a:spcPts val="200"/>
              </a:spcBef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 = {C → B,  B → A, A → C}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 = {A → C,  AC → D, E → AD, E → H} and </a:t>
            </a:r>
          </a:p>
          <a:p>
            <a:pPr marL="0" indent="0" algn="just">
              <a:spcBef>
                <a:spcPts val="200"/>
              </a:spcBef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G = {A → CD,  E → AH}</a:t>
            </a:r>
          </a:p>
          <a:p>
            <a:pPr algn="just">
              <a:spcBef>
                <a:spcPts val="2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2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200"/>
              </a:spcBef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spcBef>
                <a:spcPts val="2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spcBef>
                <a:spcPts val="2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6BB3A8A-9042-F52D-C078-0EEDA23E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811F753C-14FA-5E42-FDFF-C4F25ADE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960473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471C-7040-3580-6372-7E0FD2A6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901C51D-C0A5-EC77-776D-021008463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7920038" cy="504825"/>
          </a:xfrm>
          <a:noFill/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Minimal or Canonical Cover of FDs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5045D35-02C3-B030-E53A-70626830A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056" y="620688"/>
            <a:ext cx="8497888" cy="5237163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Minimal cover is a minimum and the simplified set of FDs.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Minimal cover for a given set of FDs is obtained after performing the following three transformation in order: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Singleton RHS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extraneous LHS attributes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redundant FDs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Removing an attribute from the left side of a functional dependency could make it a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stronger constraint.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For example, if we have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remove B, we get the possibly stronger result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→ C.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It may be stronger because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→ 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logically implies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but AB → C does not, on its own, logically imply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→ C.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example, suppose that the set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{AB → C, A → D, D → C}.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Then we can show that F logically implies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→ C,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making B extraneous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CF5785D-1701-87B9-3B7C-EE8F5A77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632EAA63-C03D-8951-3569-FC3F002B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702887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9EF2-777E-089D-D947-11607100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19D6514-4609-B86B-7578-F3E4986BA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7920038" cy="504825"/>
          </a:xfrm>
          <a:noFill/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Minimal or Canonical Cover of FDs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F6264D5-FCB8-08DB-FE32-93A079444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056" y="640109"/>
            <a:ext cx="8497416" cy="5237163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Removing an attribute from the right side of a functional dependency could make it a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weaker constraint.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Suppose that we have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CD.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If we remove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from the RHS, we get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D.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may be weaker because using just AB → D, we can no longer infer AB → C.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Suppose that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{AB → CD, A → C}.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If we replace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by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D,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we can still infer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thus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 → CD.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Minimal cover of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B,  AB → C}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B,  A → C}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Minimal cover of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{A → B,  B → C, A → C}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{A → B, B → C}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minimal cover of: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D,  C → A, C → B,  E → A}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BC,  B → C, A → B, AB → C}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B302D54-E05C-A9B0-4FA4-0ABE02DBB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EF90F66A-D917-7177-D8FB-FCC661F1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7835080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EC11-44FB-137F-1A0A-97FB0AE4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04D12B9-1039-A14B-23AA-5347B50AD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259879"/>
            <a:ext cx="6551613" cy="504825"/>
          </a:xfrm>
          <a:noFill/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Inference Rules – Sample Problems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9D363AE5-471C-DD21-E13D-9E1593960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056" y="712117"/>
            <a:ext cx="8497888" cy="523716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F-closure, A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and B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+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R(A,B,C,D,E) with FDs: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{AB → C,  BC → D, CD → E, DE → A, AE → B}</a:t>
            </a:r>
            <a:r>
              <a:rPr 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Determine the key(s) for R(A,B,C,D,E) with FDs: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itchFamily="2" charset="2"/>
              </a:rPr>
              <a:t>F = {A -&gt; D, D -&gt; B, B -&gt; C, E -&gt; B}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 =  {D → C,  CE → A, D → A, AE → D}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Compute B+ and C+ for R(A,B,C,D,E) with the FDs:</a:t>
            </a:r>
          </a:p>
          <a:p>
            <a:pPr marL="0" indent="0" algn="ctr">
              <a:spcBef>
                <a:spcPts val="300"/>
              </a:spcBef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D,  BC → AD, C → B,  E → A, E → D}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Determine the key(s) for R(A,B,C,D,E,F) with FDs: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{CDE → B,  ACD → F, BEF → C, B → D}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Determine whether or not the following two sets of dependencies F and G is equivalent: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{A → C,  AC → D, E → AD, E → H}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G = {A → CD,  E → AH}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minimal cover of </a:t>
            </a: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= {B → A,  D → A, AB → D}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 algn="just">
              <a:buFontTx/>
              <a:buNone/>
              <a:defRPr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sym typeface="Wingdings" pitchFamily="2" charset="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endParaRPr lang="en-US" sz="24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DD947E0-3E4C-6CE6-E35A-A8CA8112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8B5FDA70-2C58-6C90-FE68-5DB28EB2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24004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260648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725760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Thomas M. Connolly (6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Fundamentals of Database Systems: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Elmasri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B2D1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Perpetua" panose="02020502060401020303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055111"/>
              </p:ext>
            </p:extLst>
          </p:nvPr>
        </p:nvGraphicFramePr>
        <p:xfrm>
          <a:off x="1547664" y="2638128"/>
          <a:ext cx="583264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14.4, 15.1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14.2, 15.1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246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Section 7.4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97177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Section 6.3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64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F131D2E-1643-2B0B-13E6-73A2652C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628775"/>
            <a:ext cx="8277225" cy="1219200"/>
          </a:xfrm>
        </p:spPr>
        <p:txBody>
          <a:bodyPr/>
          <a:lstStyle/>
          <a:p>
            <a:pPr algn="ctr" eaLnBrk="1" hangingPunct="1"/>
            <a:br>
              <a:rPr lang="de-AT" altLang="en-US" sz="3600">
                <a:latin typeface="Georgia" panose="02040502050405020303" pitchFamily="18" charset="0"/>
              </a:rPr>
            </a:br>
            <a:r>
              <a:rPr lang="de-AT" altLang="en-US" sz="3600">
                <a:latin typeface="Georgia" panose="02040502050405020303" pitchFamily="18" charset="0"/>
              </a:rPr>
              <a:t>Thank you for your attention.</a:t>
            </a:r>
          </a:p>
        </p:txBody>
      </p:sp>
      <p:sp>
        <p:nvSpPr>
          <p:cNvPr id="97283" name="Rectangle 8">
            <a:extLst>
              <a:ext uri="{FF2B5EF4-FFF2-40B4-BE49-F238E27FC236}">
                <a16:creationId xmlns:a16="http://schemas.microsoft.com/office/drawing/2014/main" id="{1D2A0AC3-EA23-63ED-82E3-AC533EA2B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62400"/>
            <a:ext cx="4495800" cy="2130425"/>
          </a:xfrm>
          <a:prstGeom prst="rect">
            <a:avLst/>
          </a:prstGeom>
          <a:solidFill>
            <a:srgbClr val="FFFFCC"/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7284" name="Rectangle 9">
            <a:extLst>
              <a:ext uri="{FF2B5EF4-FFF2-40B4-BE49-F238E27FC236}">
                <a16:creationId xmlns:a16="http://schemas.microsoft.com/office/drawing/2014/main" id="{102F474F-E7C3-2B43-FC45-D92EEF1D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777240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de-AT" altLang="en-US" sz="900" b="1" dirty="0">
                <a:solidFill>
                  <a:srgbClr val="000066"/>
                </a:solidFill>
              </a:rPr>
              <a:t>			</a:t>
            </a:r>
            <a:r>
              <a:rPr lang="de-AT" altLang="en-US" sz="2400" b="1" dirty="0">
                <a:solidFill>
                  <a:srgbClr val="3333CC"/>
                </a:solidFill>
                <a:latin typeface="Georgia" panose="02040502050405020303" pitchFamily="18" charset="0"/>
              </a:rPr>
              <a:t>Dr. Asif Sohail</a:t>
            </a:r>
            <a:endParaRPr lang="de-AT" altLang="en-US" sz="1200" b="1" dirty="0">
              <a:solidFill>
                <a:srgbClr val="3333CC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b="1" dirty="0">
                <a:solidFill>
                  <a:srgbClr val="800000"/>
                </a:solidFill>
                <a:latin typeface="Georgia" panose="02040502050405020303" pitchFamily="18" charset="0"/>
              </a:rPr>
              <a:t>Assistant Professor</a:t>
            </a:r>
            <a:endParaRPr lang="de-AT" altLang="en-US" sz="1200" dirty="0">
              <a:solidFill>
                <a:srgbClr val="800000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Department of Information Technology,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Faculty of Computing and Information Technology (FCIT)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University of the Punjab, Lahore, Pakistan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Tel:                  +92-(0)42-111-923-923    Ext. </a:t>
            </a:r>
            <a:r>
              <a:rPr lang="de-AT" altLang="en-US" sz="1200" dirty="0">
                <a:solidFill>
                  <a:srgbClr val="0000FF"/>
                </a:solidFill>
                <a:latin typeface="Times New Roman" panose="02020603050405020304" pitchFamily="18" charset="0"/>
              </a:rPr>
              <a:t>154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E-mail:           asif@pucit.edu.pk</a:t>
            </a:r>
          </a:p>
          <a:p>
            <a:pPr eaLnBrk="1" hangingPunct="1"/>
            <a:endParaRPr lang="en-US" altLang="en-US" sz="1200" dirty="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C2E2F7CA-C894-0B39-5274-12A5FB95B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28D636A8-6BC8-F0E1-72F9-45439E09D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7512</TotalTime>
  <Words>2388</Words>
  <Application>Microsoft Office PowerPoint</Application>
  <PresentationFormat>On-screen Show (4:3)</PresentationFormat>
  <Paragraphs>262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Cambria</vt:lpstr>
      <vt:lpstr>Franklin Gothic Book</vt:lpstr>
      <vt:lpstr>Georgia</vt:lpstr>
      <vt:lpstr>Perpetua</vt:lpstr>
      <vt:lpstr>Times New Roman</vt:lpstr>
      <vt:lpstr>Wingdings 2</vt:lpstr>
      <vt:lpstr>Standarddesign</vt:lpstr>
      <vt:lpstr>1_Equity</vt:lpstr>
      <vt:lpstr>2_Equity</vt:lpstr>
      <vt:lpstr>CC-215 Database Systems</vt:lpstr>
      <vt:lpstr>Functional Dependency (FD)</vt:lpstr>
      <vt:lpstr>Functional Dependency (FD)</vt:lpstr>
      <vt:lpstr>Inference Rules or Armstrong Axioms</vt:lpstr>
      <vt:lpstr>PowerPoint Presentation</vt:lpstr>
      <vt:lpstr>Closure of F (F+)</vt:lpstr>
      <vt:lpstr>Closure of F (F+)</vt:lpstr>
      <vt:lpstr>Closure of X (X+)</vt:lpstr>
      <vt:lpstr>Closure of X (X+)</vt:lpstr>
      <vt:lpstr>Equivalent Dependencies (Cover)</vt:lpstr>
      <vt:lpstr>Minimal or Canonical Cover of FDs</vt:lpstr>
      <vt:lpstr>Minimal or Canonical Cover of FDs</vt:lpstr>
      <vt:lpstr>Inference Rules – Sample Problems</vt:lpstr>
      <vt:lpstr>Reading Material</vt:lpstr>
      <vt:lpstr> Thank you for your attention.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860</cp:revision>
  <dcterms:created xsi:type="dcterms:W3CDTF">2006-05-17T12:38:56Z</dcterms:created>
  <dcterms:modified xsi:type="dcterms:W3CDTF">2025-11-19T06:56:01Z</dcterms:modified>
</cp:coreProperties>
</file>