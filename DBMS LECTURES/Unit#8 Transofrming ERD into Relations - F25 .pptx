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  <p:sldMasterId id="2147483675" r:id="rId2"/>
  </p:sldMasterIdLst>
  <p:notesMasterIdLst>
    <p:notesMasterId r:id="rId29"/>
  </p:notesMasterIdLst>
  <p:handoutMasterIdLst>
    <p:handoutMasterId r:id="rId30"/>
  </p:handoutMasterIdLst>
  <p:sldIdLst>
    <p:sldId id="508" r:id="rId3"/>
    <p:sldId id="511" r:id="rId4"/>
    <p:sldId id="512" r:id="rId5"/>
    <p:sldId id="513" r:id="rId6"/>
    <p:sldId id="514" r:id="rId7"/>
    <p:sldId id="515" r:id="rId8"/>
    <p:sldId id="516" r:id="rId9"/>
    <p:sldId id="517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7" r:id="rId20"/>
    <p:sldId id="528" r:id="rId21"/>
    <p:sldId id="529" r:id="rId22"/>
    <p:sldId id="530" r:id="rId23"/>
    <p:sldId id="531" r:id="rId24"/>
    <p:sldId id="532" r:id="rId25"/>
    <p:sldId id="533" r:id="rId26"/>
    <p:sldId id="534" r:id="rId27"/>
    <p:sldId id="473" r:id="rId28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033CC"/>
    <a:srgbClr val="800000"/>
    <a:srgbClr val="006600"/>
    <a:srgbClr val="FFFF66"/>
    <a:srgbClr val="FF0000"/>
    <a:srgbClr val="00FF00"/>
    <a:srgbClr val="FF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13" autoAdjust="0"/>
    <p:restoredTop sz="85572" autoAdjust="0"/>
  </p:normalViewPr>
  <p:slideViewPr>
    <p:cSldViewPr>
      <p:cViewPr varScale="1">
        <p:scale>
          <a:sx n="83" d="100"/>
          <a:sy n="83" d="100"/>
        </p:scale>
        <p:origin x="11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E805A720-E40F-F7F3-8060-17B685CB9C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DBD98888-4114-5BF4-1060-3792EDFD5A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4A7F8689-EF0F-4EA8-7CDF-818F32B2941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A43F1D82-7CA5-40BF-A616-48E33A3A556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FA331A45-3CD3-4596-A00F-944B6D2E9F6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5F653CC-D36B-3968-73C1-113F477403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9BDCF37-42D4-B4BB-238A-C48C6361D6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15BDF8-0B93-261E-4E6B-B97E2F499A4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4CA718C-3B7F-7CC0-2FC8-FA221BD5795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4A35AB6-1F24-8E19-2627-B96E3662EC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182CC0F-F3A6-0D10-95D6-BFAAF4D994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6671BAA1-036C-4828-88B4-42B91D98129D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D377-ACA4-D64B-D430-E917FCDB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E7785B-B155-A4D1-A23F-36B040B865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3988" y="173038"/>
            <a:ext cx="6264275" cy="4699000"/>
          </a:xfrm>
          <a:ln w="12700" cap="flat">
            <a:solidFill>
              <a:schemeClr val="tx1"/>
            </a:solidFill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CAE3FB9-057E-1CEA-DDF7-71F28BB6D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5092700"/>
            <a:ext cx="5783262" cy="4006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>
                <a:latin typeface="Arial" panose="020B0604020202020204" pitchFamily="34" charset="0"/>
              </a:rPr>
              <a:t>Data Models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Models are a cornerstone of design. Engineers build a model of a car to work out any details before putting it into production. In the same manner, system designers develop models to explore ideas and improve the understanding of the database design.</a:t>
            </a:r>
          </a:p>
          <a:p>
            <a:r>
              <a:rPr lang="en-US" altLang="en-US">
                <a:latin typeface="Arial" panose="020B0604020202020204" pitchFamily="34" charset="0"/>
              </a:rPr>
              <a:t>Purpose of Models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Models help communicate the concepts in people’s minds. They can be used to do the following: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Communicate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Categorize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Describe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Specify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Investigate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Evolve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Analyze</a:t>
            </a:r>
          </a:p>
          <a:p>
            <a:pPr lvl="2"/>
            <a:r>
              <a:rPr lang="en-US" altLang="en-US">
                <a:latin typeface="Arial" panose="020B0604020202020204" pitchFamily="34" charset="0"/>
              </a:rPr>
              <a:t>Imitate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The objective is to produce a model that fits a multitude of these uses, can be understood by an end user, and contains sufficient detail for a developer to build a database system.</a:t>
            </a:r>
          </a:p>
        </p:txBody>
      </p:sp>
    </p:spTree>
    <p:extLst>
      <p:ext uri="{BB962C8B-B14F-4D97-AF65-F5344CB8AC3E}">
        <p14:creationId xmlns:p14="http://schemas.microsoft.com/office/powerpoint/2010/main" val="1036626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80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782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577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4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492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780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6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11/15/2025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6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902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207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9766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3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594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91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861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120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71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050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44A936-745D-EF49-60A0-CF1AF5E01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70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11/15/2025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0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325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b="1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279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— Unit 8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Transforming ERD into Relations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4637620"/>
            <a:ext cx="3233199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B819144-AC91-20AF-4E39-1CC6743E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917" y="295275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7C24E2FC-DC72-6DE9-973D-DFAF2B2A7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5275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C7106B-BDE5-751B-3CDA-7C878E45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653136"/>
            <a:ext cx="5069656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Some slides and/or pictures are adapted from Lecture slides / Books of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Peter Rob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Jeffery. A. Hoffer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Thomas M. Connolly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Ramez Elmasri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Silberschtaz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4E443-9E2D-01A1-18E1-CBD3F49F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>
            <a:extLst>
              <a:ext uri="{FF2B5EF4-FFF2-40B4-BE49-F238E27FC236}">
                <a16:creationId xmlns:a16="http://schemas.microsoft.com/office/drawing/2014/main" id="{5D009F43-5714-5CF1-7347-D257AB5943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657350"/>
            <a:ext cx="1543050" cy="7620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1" name="Line 3">
            <a:extLst>
              <a:ext uri="{FF2B5EF4-FFF2-40B4-BE49-F238E27FC236}">
                <a16:creationId xmlns:a16="http://schemas.microsoft.com/office/drawing/2014/main" id="{6ACC00E9-F7C8-66A8-FB1E-7E9D70721F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2781300"/>
            <a:ext cx="1219200" cy="59055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Line 4">
            <a:extLst>
              <a:ext uri="{FF2B5EF4-FFF2-40B4-BE49-F238E27FC236}">
                <a16:creationId xmlns:a16="http://schemas.microsoft.com/office/drawing/2014/main" id="{BC1D411B-253F-AD8F-D7DD-DE3020B69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3505200"/>
            <a:ext cx="2095500" cy="10287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CC5CDCF-59F6-4EDA-4FA4-EAA595E1D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3388" y="260648"/>
            <a:ext cx="2338387" cy="60801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0000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lIns="92075" tIns="46038" rIns="92075" bIns="46038" anchor="t"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Models</a:t>
            </a:r>
          </a:p>
        </p:txBody>
      </p:sp>
      <p:sp>
        <p:nvSpPr>
          <p:cNvPr id="91142" name="Rectangle 6">
            <a:extLst>
              <a:ext uri="{FF2B5EF4-FFF2-40B4-BE49-F238E27FC236}">
                <a16:creationId xmlns:a16="http://schemas.microsoft.com/office/drawing/2014/main" id="{27CF5BEB-2E33-68E1-6603-74C0B8C41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867025"/>
            <a:ext cx="1703388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 of</a:t>
            </a:r>
            <a:b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system</a:t>
            </a:r>
            <a:b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 client’s</a:t>
            </a:r>
            <a:b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mind</a:t>
            </a:r>
          </a:p>
        </p:txBody>
      </p:sp>
      <p:grpSp>
        <p:nvGrpSpPr>
          <p:cNvPr id="7175" name="Group 7">
            <a:extLst>
              <a:ext uri="{FF2B5EF4-FFF2-40B4-BE49-F238E27FC236}">
                <a16:creationId xmlns:a16="http://schemas.microsoft.com/office/drawing/2014/main" id="{4ACCE8CA-19A1-B285-7B6F-6B2BDC63C024}"/>
              </a:ext>
            </a:extLst>
          </p:cNvPr>
          <p:cNvGrpSpPr>
            <a:grpSpLocks/>
          </p:cNvGrpSpPr>
          <p:nvPr/>
        </p:nvGrpSpPr>
        <p:grpSpPr bwMode="auto">
          <a:xfrm>
            <a:off x="2332038" y="2459038"/>
            <a:ext cx="1782762" cy="544512"/>
            <a:chOff x="1469" y="1549"/>
            <a:chExt cx="1123" cy="343"/>
          </a:xfrm>
        </p:grpSpPr>
        <p:sp>
          <p:nvSpPr>
            <p:cNvPr id="7241" name="Line 8">
              <a:extLst>
                <a:ext uri="{FF2B5EF4-FFF2-40B4-BE49-F238E27FC236}">
                  <a16:creationId xmlns:a16="http://schemas.microsoft.com/office/drawing/2014/main" id="{C8B00859-D587-EFA0-05E5-8C03BB26A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1" y="1724"/>
              <a:ext cx="42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42" name="Freeform 9">
              <a:extLst>
                <a:ext uri="{FF2B5EF4-FFF2-40B4-BE49-F238E27FC236}">
                  <a16:creationId xmlns:a16="http://schemas.microsoft.com/office/drawing/2014/main" id="{BAA4BFEF-5084-D3A4-321D-003A6B595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607"/>
              <a:ext cx="146" cy="260"/>
            </a:xfrm>
            <a:custGeom>
              <a:avLst/>
              <a:gdLst>
                <a:gd name="T0" fmla="*/ 32 w 146"/>
                <a:gd name="T1" fmla="*/ 0 h 260"/>
                <a:gd name="T2" fmla="*/ 145 w 146"/>
                <a:gd name="T3" fmla="*/ 113 h 260"/>
                <a:gd name="T4" fmla="*/ 0 w 146"/>
                <a:gd name="T5" fmla="*/ 259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6" h="260">
                  <a:moveTo>
                    <a:pt x="32" y="0"/>
                  </a:moveTo>
                  <a:lnTo>
                    <a:pt x="145" y="113"/>
                  </a:lnTo>
                  <a:lnTo>
                    <a:pt x="0" y="259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46" name="AutoShape 10">
              <a:extLst>
                <a:ext uri="{FF2B5EF4-FFF2-40B4-BE49-F238E27FC236}">
                  <a16:creationId xmlns:a16="http://schemas.microsoft.com/office/drawing/2014/main" id="{DC92E43D-5CA1-B754-2FA4-74A6CEBE2AC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469" y="1549"/>
              <a:ext cx="571" cy="343"/>
            </a:xfrm>
            <a:prstGeom prst="roundRect">
              <a:avLst>
                <a:gd name="adj" fmla="val 12495"/>
              </a:avLst>
            </a:prstGeom>
            <a:gradFill rotWithShape="0">
              <a:gsLst>
                <a:gs pos="0">
                  <a:srgbClr val="3333FF"/>
                </a:gs>
                <a:gs pos="100000">
                  <a:srgbClr val="3333FF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91147" name="AutoShape 11">
              <a:extLst>
                <a:ext uri="{FF2B5EF4-FFF2-40B4-BE49-F238E27FC236}">
                  <a16:creationId xmlns:a16="http://schemas.microsoft.com/office/drawing/2014/main" id="{913AE471-AB9E-20B9-FC18-614050459406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2250" y="1549"/>
              <a:ext cx="342" cy="343"/>
            </a:xfrm>
            <a:prstGeom prst="roundRect">
              <a:avLst>
                <a:gd name="adj" fmla="val 12495"/>
              </a:avLst>
            </a:prstGeom>
            <a:gradFill rotWithShape="0">
              <a:gsLst>
                <a:gs pos="0">
                  <a:srgbClr val="3333FF"/>
                </a:gs>
                <a:gs pos="100000">
                  <a:srgbClr val="3333FF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91148" name="Rectangle 12">
            <a:extLst>
              <a:ext uri="{FF2B5EF4-FFF2-40B4-BE49-F238E27FC236}">
                <a16:creationId xmlns:a16="http://schemas.microsoft.com/office/drawing/2014/main" id="{3EBD0ACA-0131-C674-FA33-D25116C88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838" y="3263900"/>
            <a:ext cx="2427287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Entity model of</a:t>
            </a:r>
            <a:b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client’s model</a:t>
            </a:r>
          </a:p>
        </p:txBody>
      </p:sp>
      <p:sp>
        <p:nvSpPr>
          <p:cNvPr id="91149" name="Rectangle 13">
            <a:extLst>
              <a:ext uri="{FF2B5EF4-FFF2-40B4-BE49-F238E27FC236}">
                <a16:creationId xmlns:a16="http://schemas.microsoft.com/office/drawing/2014/main" id="{A1642204-AD42-5ABE-0C4C-6ACBFC169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025900"/>
            <a:ext cx="2427287" cy="646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model</a:t>
            </a:r>
            <a:b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entity model</a:t>
            </a:r>
          </a:p>
        </p:txBody>
      </p:sp>
      <p:sp>
        <p:nvSpPr>
          <p:cNvPr id="91150" name="Rectangle 14">
            <a:extLst>
              <a:ext uri="{FF2B5EF4-FFF2-40B4-BE49-F238E27FC236}">
                <a16:creationId xmlns:a16="http://schemas.microsoft.com/office/drawing/2014/main" id="{11FA9CD8-B872-9F95-4B70-1627E3821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9288" y="5579306"/>
            <a:ext cx="1992312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Tables on disk</a:t>
            </a:r>
          </a:p>
        </p:txBody>
      </p:sp>
      <p:grpSp>
        <p:nvGrpSpPr>
          <p:cNvPr id="7179" name="Group 15">
            <a:extLst>
              <a:ext uri="{FF2B5EF4-FFF2-40B4-BE49-F238E27FC236}">
                <a16:creationId xmlns:a16="http://schemas.microsoft.com/office/drawing/2014/main" id="{C3FA12B9-AC3B-BA5A-07AE-1C8329A35A3A}"/>
              </a:ext>
            </a:extLst>
          </p:cNvPr>
          <p:cNvGrpSpPr>
            <a:grpSpLocks/>
          </p:cNvGrpSpPr>
          <p:nvPr/>
        </p:nvGrpSpPr>
        <p:grpSpPr bwMode="auto">
          <a:xfrm>
            <a:off x="4884738" y="3240088"/>
            <a:ext cx="1762125" cy="538162"/>
            <a:chOff x="3077" y="2041"/>
            <a:chExt cx="1110" cy="339"/>
          </a:xfrm>
        </p:grpSpPr>
        <p:sp>
          <p:nvSpPr>
            <p:cNvPr id="7237" name="Line 16">
              <a:extLst>
                <a:ext uri="{FF2B5EF4-FFF2-40B4-BE49-F238E27FC236}">
                  <a16:creationId xmlns:a16="http://schemas.microsoft.com/office/drawing/2014/main" id="{9E5A7EEA-58A0-7FC2-BE25-E82521E09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" y="2214"/>
              <a:ext cx="419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8" name="Freeform 17">
              <a:extLst>
                <a:ext uri="{FF2B5EF4-FFF2-40B4-BE49-F238E27FC236}">
                  <a16:creationId xmlns:a16="http://schemas.microsoft.com/office/drawing/2014/main" id="{E83E0E93-6A67-828C-604B-81921284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098"/>
              <a:ext cx="145" cy="257"/>
            </a:xfrm>
            <a:custGeom>
              <a:avLst/>
              <a:gdLst>
                <a:gd name="T0" fmla="*/ 32 w 145"/>
                <a:gd name="T1" fmla="*/ 0 h 257"/>
                <a:gd name="T2" fmla="*/ 144 w 145"/>
                <a:gd name="T3" fmla="*/ 112 h 257"/>
                <a:gd name="T4" fmla="*/ 0 w 145"/>
                <a:gd name="T5" fmla="*/ 256 h 2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" h="257">
                  <a:moveTo>
                    <a:pt x="32" y="0"/>
                  </a:moveTo>
                  <a:lnTo>
                    <a:pt x="144" y="112"/>
                  </a:lnTo>
                  <a:lnTo>
                    <a:pt x="0" y="256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154" name="AutoShape 18">
              <a:extLst>
                <a:ext uri="{FF2B5EF4-FFF2-40B4-BE49-F238E27FC236}">
                  <a16:creationId xmlns:a16="http://schemas.microsoft.com/office/drawing/2014/main" id="{CB29E16A-6EC0-C4B0-B675-0EC38EDF3FB9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077" y="2041"/>
              <a:ext cx="565" cy="339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91155" name="AutoShape 19">
              <a:extLst>
                <a:ext uri="{FF2B5EF4-FFF2-40B4-BE49-F238E27FC236}">
                  <a16:creationId xmlns:a16="http://schemas.microsoft.com/office/drawing/2014/main" id="{E155C641-90CD-DFFF-FFC7-DF20D428082F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849" y="2041"/>
              <a:ext cx="338" cy="339"/>
            </a:xfrm>
            <a:prstGeom prst="roundRect">
              <a:avLst>
                <a:gd name="adj" fmla="val 0"/>
              </a:avLst>
            </a:prstGeom>
            <a:gradFill rotWithShape="0">
              <a:gsLst>
                <a:gs pos="0">
                  <a:srgbClr val="009900"/>
                </a:gs>
                <a:gs pos="100000">
                  <a:srgbClr val="0099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round/>
              <a:headEnd/>
              <a:tailEnd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/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>
                <a:defRPr/>
              </a:pPr>
              <a:endParaRPr lang="en-US" sz="1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7180" name="Group 20">
            <a:extLst>
              <a:ext uri="{FF2B5EF4-FFF2-40B4-BE49-F238E27FC236}">
                <a16:creationId xmlns:a16="http://schemas.microsoft.com/office/drawing/2014/main" id="{234CF7B5-2313-2781-5323-B7AC34A51C07}"/>
              </a:ext>
            </a:extLst>
          </p:cNvPr>
          <p:cNvGrpSpPr>
            <a:grpSpLocks/>
          </p:cNvGrpSpPr>
          <p:nvPr/>
        </p:nvGrpSpPr>
        <p:grpSpPr bwMode="auto">
          <a:xfrm>
            <a:off x="7350125" y="4249738"/>
            <a:ext cx="1270000" cy="1312862"/>
            <a:chOff x="4630" y="2677"/>
            <a:chExt cx="800" cy="827"/>
          </a:xfrm>
        </p:grpSpPr>
        <p:sp>
          <p:nvSpPr>
            <p:cNvPr id="7223" name="Rectangle 21">
              <a:extLst>
                <a:ext uri="{FF2B5EF4-FFF2-40B4-BE49-F238E27FC236}">
                  <a16:creationId xmlns:a16="http://schemas.microsoft.com/office/drawing/2014/main" id="{800D4620-9396-F0CB-1CB7-FAC4DC47452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2845"/>
              <a:ext cx="800" cy="496"/>
            </a:xfrm>
            <a:prstGeom prst="rect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224" name="Oval 22">
              <a:extLst>
                <a:ext uri="{FF2B5EF4-FFF2-40B4-BE49-F238E27FC236}">
                  <a16:creationId xmlns:a16="http://schemas.microsoft.com/office/drawing/2014/main" id="{1641E80B-ACE5-6C8C-1D9F-16DA4993680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2677"/>
              <a:ext cx="800" cy="318"/>
            </a:xfrm>
            <a:prstGeom prst="ellipse">
              <a:avLst/>
            </a:prstGeom>
            <a:gradFill rotWithShape="0">
              <a:gsLst>
                <a:gs pos="0">
                  <a:srgbClr val="A0A0A0"/>
                </a:gs>
                <a:gs pos="100000">
                  <a:srgbClr val="B2B2B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7225" name="Oval 23">
              <a:extLst>
                <a:ext uri="{FF2B5EF4-FFF2-40B4-BE49-F238E27FC236}">
                  <a16:creationId xmlns:a16="http://schemas.microsoft.com/office/drawing/2014/main" id="{89579902-A313-DE7B-EF1D-7DEA8D7C2CD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630" y="3186"/>
              <a:ext cx="800" cy="318"/>
            </a:xfrm>
            <a:prstGeom prst="ellipse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1160" name="Rectangle 24">
              <a:extLst>
                <a:ext uri="{FF2B5EF4-FFF2-40B4-BE49-F238E27FC236}">
                  <a16:creationId xmlns:a16="http://schemas.microsoft.com/office/drawing/2014/main" id="{13BD9937-F21D-E1D4-8E4B-CF143059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0" y="2738"/>
              <a:ext cx="5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33CC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Server</a:t>
              </a:r>
            </a:p>
          </p:txBody>
        </p:sp>
        <p:grpSp>
          <p:nvGrpSpPr>
            <p:cNvPr id="7227" name="Group 25">
              <a:extLst>
                <a:ext uri="{FF2B5EF4-FFF2-40B4-BE49-F238E27FC236}">
                  <a16:creationId xmlns:a16="http://schemas.microsoft.com/office/drawing/2014/main" id="{D5AD047D-FAF9-0826-569E-85C362E74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0" y="3062"/>
              <a:ext cx="575" cy="347"/>
              <a:chOff x="4720" y="3062"/>
              <a:chExt cx="575" cy="347"/>
            </a:xfrm>
          </p:grpSpPr>
          <p:sp>
            <p:nvSpPr>
              <p:cNvPr id="7228" name="Rectangle 26">
                <a:extLst>
                  <a:ext uri="{FF2B5EF4-FFF2-40B4-BE49-F238E27FC236}">
                    <a16:creationId xmlns:a16="http://schemas.microsoft.com/office/drawing/2014/main" id="{86EBD3B2-FD67-73AF-FA97-9AE1D0596FD3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0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29" name="Rectangle 27">
                <a:extLst>
                  <a:ext uri="{FF2B5EF4-FFF2-40B4-BE49-F238E27FC236}">
                    <a16:creationId xmlns:a16="http://schemas.microsoft.com/office/drawing/2014/main" id="{918A07E5-AABF-56C9-FAE4-72B98AEE6F16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7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0" name="Rectangle 28">
                <a:extLst>
                  <a:ext uri="{FF2B5EF4-FFF2-40B4-BE49-F238E27FC236}">
                    <a16:creationId xmlns:a16="http://schemas.microsoft.com/office/drawing/2014/main" id="{F7864412-ED46-8927-6750-8B4DE438F029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3" y="3062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1" name="Rectangle 29">
                <a:extLst>
                  <a:ext uri="{FF2B5EF4-FFF2-40B4-BE49-F238E27FC236}">
                    <a16:creationId xmlns:a16="http://schemas.microsoft.com/office/drawing/2014/main" id="{7D5C10A7-69C3-E9D4-9D16-6D3550B8933E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1" y="3193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2" name="Rectangle 30">
                <a:extLst>
                  <a:ext uri="{FF2B5EF4-FFF2-40B4-BE49-F238E27FC236}">
                    <a16:creationId xmlns:a16="http://schemas.microsoft.com/office/drawing/2014/main" id="{48E69A9C-1D86-3540-03BB-E6C84659FA7C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8" y="3193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3" name="Rectangle 31">
                <a:extLst>
                  <a:ext uri="{FF2B5EF4-FFF2-40B4-BE49-F238E27FC236}">
                    <a16:creationId xmlns:a16="http://schemas.microsoft.com/office/drawing/2014/main" id="{02152A83-843E-3F73-652E-E8564C3BA7A4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4" y="3193"/>
                <a:ext cx="161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4" name="Rectangle 32">
                <a:extLst>
                  <a:ext uri="{FF2B5EF4-FFF2-40B4-BE49-F238E27FC236}">
                    <a16:creationId xmlns:a16="http://schemas.microsoft.com/office/drawing/2014/main" id="{DEE2230D-6638-C838-C624-D8F22BEACD0F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721" y="3321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5" name="Rectangle 33">
                <a:extLst>
                  <a:ext uri="{FF2B5EF4-FFF2-40B4-BE49-F238E27FC236}">
                    <a16:creationId xmlns:a16="http://schemas.microsoft.com/office/drawing/2014/main" id="{DD66D8EC-BD27-78E4-A2A5-FFC4E55E2EB2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4928" y="3321"/>
                <a:ext cx="162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7236" name="Rectangle 34">
                <a:extLst>
                  <a:ext uri="{FF2B5EF4-FFF2-40B4-BE49-F238E27FC236}">
                    <a16:creationId xmlns:a16="http://schemas.microsoft.com/office/drawing/2014/main" id="{0CD31E18-6684-C339-D362-EC0B00C167FD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5134" y="3321"/>
                <a:ext cx="161" cy="8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</p:grpSp>
      <p:grpSp>
        <p:nvGrpSpPr>
          <p:cNvPr id="7181" name="Group 35">
            <a:extLst>
              <a:ext uri="{FF2B5EF4-FFF2-40B4-BE49-F238E27FC236}">
                <a16:creationId xmlns:a16="http://schemas.microsoft.com/office/drawing/2014/main" id="{018685B3-D61A-CC78-61B4-584A3F06879A}"/>
              </a:ext>
            </a:extLst>
          </p:cNvPr>
          <p:cNvGrpSpPr>
            <a:grpSpLocks/>
          </p:cNvGrpSpPr>
          <p:nvPr/>
        </p:nvGrpSpPr>
        <p:grpSpPr bwMode="auto">
          <a:xfrm>
            <a:off x="4881563" y="3376613"/>
            <a:ext cx="904875" cy="271462"/>
            <a:chOff x="3075" y="2127"/>
            <a:chExt cx="570" cy="171"/>
          </a:xfrm>
        </p:grpSpPr>
        <p:sp>
          <p:nvSpPr>
            <p:cNvPr id="7220" name="Line 36">
              <a:extLst>
                <a:ext uri="{FF2B5EF4-FFF2-40B4-BE49-F238E27FC236}">
                  <a16:creationId xmlns:a16="http://schemas.microsoft.com/office/drawing/2014/main" id="{15720C58-1391-497C-D838-203E15478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127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1" name="Line 37">
              <a:extLst>
                <a:ext uri="{FF2B5EF4-FFF2-40B4-BE49-F238E27FC236}">
                  <a16:creationId xmlns:a16="http://schemas.microsoft.com/office/drawing/2014/main" id="{0A89B03D-43E9-F723-5681-C57B7F2E3E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217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2" name="Line 38">
              <a:extLst>
                <a:ext uri="{FF2B5EF4-FFF2-40B4-BE49-F238E27FC236}">
                  <a16:creationId xmlns:a16="http://schemas.microsoft.com/office/drawing/2014/main" id="{FA9008A2-C226-253B-ED06-ACDF9E102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5" y="2298"/>
              <a:ext cx="57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2" name="Group 39">
            <a:extLst>
              <a:ext uri="{FF2B5EF4-FFF2-40B4-BE49-F238E27FC236}">
                <a16:creationId xmlns:a16="http://schemas.microsoft.com/office/drawing/2014/main" id="{71507D5B-51C1-7DFD-CB7A-B5725CD88806}"/>
              </a:ext>
            </a:extLst>
          </p:cNvPr>
          <p:cNvGrpSpPr>
            <a:grpSpLocks/>
          </p:cNvGrpSpPr>
          <p:nvPr/>
        </p:nvGrpSpPr>
        <p:grpSpPr bwMode="auto">
          <a:xfrm>
            <a:off x="6119813" y="3376613"/>
            <a:ext cx="533400" cy="271462"/>
            <a:chOff x="3855" y="2127"/>
            <a:chExt cx="336" cy="171"/>
          </a:xfrm>
        </p:grpSpPr>
        <p:sp>
          <p:nvSpPr>
            <p:cNvPr id="7217" name="Line 40">
              <a:extLst>
                <a:ext uri="{FF2B5EF4-FFF2-40B4-BE49-F238E27FC236}">
                  <a16:creationId xmlns:a16="http://schemas.microsoft.com/office/drawing/2014/main" id="{6849E41C-7CBC-B70F-96E4-623537FEA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127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8" name="Line 41">
              <a:extLst>
                <a:ext uri="{FF2B5EF4-FFF2-40B4-BE49-F238E27FC236}">
                  <a16:creationId xmlns:a16="http://schemas.microsoft.com/office/drawing/2014/main" id="{83DA4AE6-C2F5-B268-9E83-50BBC4CB2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217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9" name="Line 42">
              <a:extLst>
                <a:ext uri="{FF2B5EF4-FFF2-40B4-BE49-F238E27FC236}">
                  <a16:creationId xmlns:a16="http://schemas.microsoft.com/office/drawing/2014/main" id="{2721334D-98F7-BFFD-2665-5363E5466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298"/>
              <a:ext cx="33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3" name="Group 43">
            <a:extLst>
              <a:ext uri="{FF2B5EF4-FFF2-40B4-BE49-F238E27FC236}">
                <a16:creationId xmlns:a16="http://schemas.microsoft.com/office/drawing/2014/main" id="{94F60048-1A63-A39B-FFF5-E31BAE3BB23C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3236913"/>
            <a:ext cx="271462" cy="533400"/>
            <a:chOff x="3937" y="2039"/>
            <a:chExt cx="171" cy="336"/>
          </a:xfrm>
        </p:grpSpPr>
        <p:sp>
          <p:nvSpPr>
            <p:cNvPr id="7214" name="Line 44">
              <a:extLst>
                <a:ext uri="{FF2B5EF4-FFF2-40B4-BE49-F238E27FC236}">
                  <a16:creationId xmlns:a16="http://schemas.microsoft.com/office/drawing/2014/main" id="{CC1F693B-E747-F9E4-0BB7-C7A3001E0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5" name="Line 45">
              <a:extLst>
                <a:ext uri="{FF2B5EF4-FFF2-40B4-BE49-F238E27FC236}">
                  <a16:creationId xmlns:a16="http://schemas.microsoft.com/office/drawing/2014/main" id="{77FF01F0-5AA4-671F-B18E-CD5076DB5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6" name="Line 46">
              <a:extLst>
                <a:ext uri="{FF2B5EF4-FFF2-40B4-BE49-F238E27FC236}">
                  <a16:creationId xmlns:a16="http://schemas.microsoft.com/office/drawing/2014/main" id="{C958385B-E25A-D677-281F-0F33D3867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4" name="Group 47">
            <a:extLst>
              <a:ext uri="{FF2B5EF4-FFF2-40B4-BE49-F238E27FC236}">
                <a16:creationId xmlns:a16="http://schemas.microsoft.com/office/drawing/2014/main" id="{3CD06A40-1796-1970-20C5-F37E7E687CB0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3236913"/>
            <a:ext cx="271462" cy="533400"/>
            <a:chOff x="3157" y="2039"/>
            <a:chExt cx="171" cy="336"/>
          </a:xfrm>
        </p:grpSpPr>
        <p:sp>
          <p:nvSpPr>
            <p:cNvPr id="7211" name="Line 48">
              <a:extLst>
                <a:ext uri="{FF2B5EF4-FFF2-40B4-BE49-F238E27FC236}">
                  <a16:creationId xmlns:a16="http://schemas.microsoft.com/office/drawing/2014/main" id="{80A54184-608B-0EB0-16CA-479880FAF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2" name="Line 49">
              <a:extLst>
                <a:ext uri="{FF2B5EF4-FFF2-40B4-BE49-F238E27FC236}">
                  <a16:creationId xmlns:a16="http://schemas.microsoft.com/office/drawing/2014/main" id="{BCE47545-C612-34CB-2234-8A3040630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3" name="Line 50">
              <a:extLst>
                <a:ext uri="{FF2B5EF4-FFF2-40B4-BE49-F238E27FC236}">
                  <a16:creationId xmlns:a16="http://schemas.microsoft.com/office/drawing/2014/main" id="{F0DE0224-090C-3D7C-9A50-022727740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5" name="Group 51">
            <a:extLst>
              <a:ext uri="{FF2B5EF4-FFF2-40B4-BE49-F238E27FC236}">
                <a16:creationId xmlns:a16="http://schemas.microsoft.com/office/drawing/2014/main" id="{65966A25-C6CF-4114-DB29-5D57AB77BC66}"/>
              </a:ext>
            </a:extLst>
          </p:cNvPr>
          <p:cNvGrpSpPr>
            <a:grpSpLocks/>
          </p:cNvGrpSpPr>
          <p:nvPr/>
        </p:nvGrpSpPr>
        <p:grpSpPr bwMode="auto">
          <a:xfrm>
            <a:off x="5402263" y="3236913"/>
            <a:ext cx="271462" cy="533400"/>
            <a:chOff x="3403" y="2039"/>
            <a:chExt cx="171" cy="336"/>
          </a:xfrm>
        </p:grpSpPr>
        <p:sp>
          <p:nvSpPr>
            <p:cNvPr id="7208" name="Line 52">
              <a:extLst>
                <a:ext uri="{FF2B5EF4-FFF2-40B4-BE49-F238E27FC236}">
                  <a16:creationId xmlns:a16="http://schemas.microsoft.com/office/drawing/2014/main" id="{BDCC1D33-1B3C-C208-9E83-571736D0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4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9" name="Line 53">
              <a:extLst>
                <a:ext uri="{FF2B5EF4-FFF2-40B4-BE49-F238E27FC236}">
                  <a16:creationId xmlns:a16="http://schemas.microsoft.com/office/drawing/2014/main" id="{787B17BD-2EC7-4476-5DDC-4B480ED75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10" name="Line 54">
              <a:extLst>
                <a:ext uri="{FF2B5EF4-FFF2-40B4-BE49-F238E27FC236}">
                  <a16:creationId xmlns:a16="http://schemas.microsoft.com/office/drawing/2014/main" id="{493658B9-6E7D-B89A-EBFD-ED02AA648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3" y="2039"/>
              <a:ext cx="0" cy="3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6" name="Group 55">
            <a:extLst>
              <a:ext uri="{FF2B5EF4-FFF2-40B4-BE49-F238E27FC236}">
                <a16:creationId xmlns:a16="http://schemas.microsoft.com/office/drawing/2014/main" id="{FCA69C27-90EC-4A06-6331-9D8D4E5A61F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009650"/>
            <a:ext cx="1581150" cy="1620838"/>
            <a:chOff x="384" y="636"/>
            <a:chExt cx="996" cy="1021"/>
          </a:xfrm>
        </p:grpSpPr>
        <p:grpSp>
          <p:nvGrpSpPr>
            <p:cNvPr id="7187" name="Group 56">
              <a:extLst>
                <a:ext uri="{FF2B5EF4-FFF2-40B4-BE49-F238E27FC236}">
                  <a16:creationId xmlns:a16="http://schemas.microsoft.com/office/drawing/2014/main" id="{B3A55B79-356B-014B-DADE-B89041DEA3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" y="892"/>
              <a:ext cx="457" cy="765"/>
              <a:chOff x="658" y="892"/>
              <a:chExt cx="457" cy="765"/>
            </a:xfrm>
          </p:grpSpPr>
          <p:sp>
            <p:nvSpPr>
              <p:cNvPr id="7197" name="Freeform 57">
                <a:extLst>
                  <a:ext uri="{FF2B5EF4-FFF2-40B4-BE49-F238E27FC236}">
                    <a16:creationId xmlns:a16="http://schemas.microsoft.com/office/drawing/2014/main" id="{A35BDF79-67C6-47DF-8987-AEF1AA6F6A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429"/>
                <a:ext cx="215" cy="228"/>
              </a:xfrm>
              <a:custGeom>
                <a:avLst/>
                <a:gdLst>
                  <a:gd name="T0" fmla="*/ 0 w 215"/>
                  <a:gd name="T1" fmla="*/ 31 h 228"/>
                  <a:gd name="T2" fmla="*/ 0 w 215"/>
                  <a:gd name="T3" fmla="*/ 135 h 228"/>
                  <a:gd name="T4" fmla="*/ 3 w 215"/>
                  <a:gd name="T5" fmla="*/ 157 h 228"/>
                  <a:gd name="T6" fmla="*/ 14 w 215"/>
                  <a:gd name="T7" fmla="*/ 176 h 228"/>
                  <a:gd name="T8" fmla="*/ 29 w 215"/>
                  <a:gd name="T9" fmla="*/ 191 h 228"/>
                  <a:gd name="T10" fmla="*/ 47 w 215"/>
                  <a:gd name="T11" fmla="*/ 204 h 228"/>
                  <a:gd name="T12" fmla="*/ 66 w 215"/>
                  <a:gd name="T13" fmla="*/ 215 h 228"/>
                  <a:gd name="T14" fmla="*/ 82 w 215"/>
                  <a:gd name="T15" fmla="*/ 222 h 228"/>
                  <a:gd name="T16" fmla="*/ 98 w 215"/>
                  <a:gd name="T17" fmla="*/ 225 h 228"/>
                  <a:gd name="T18" fmla="*/ 106 w 215"/>
                  <a:gd name="T19" fmla="*/ 227 h 228"/>
                  <a:gd name="T20" fmla="*/ 117 w 215"/>
                  <a:gd name="T21" fmla="*/ 223 h 228"/>
                  <a:gd name="T22" fmla="*/ 131 w 215"/>
                  <a:gd name="T23" fmla="*/ 215 h 228"/>
                  <a:gd name="T24" fmla="*/ 148 w 215"/>
                  <a:gd name="T25" fmla="*/ 203 h 228"/>
                  <a:gd name="T26" fmla="*/ 166 w 215"/>
                  <a:gd name="T27" fmla="*/ 186 h 228"/>
                  <a:gd name="T28" fmla="*/ 184 w 215"/>
                  <a:gd name="T29" fmla="*/ 169 h 228"/>
                  <a:gd name="T30" fmla="*/ 199 w 215"/>
                  <a:gd name="T31" fmla="*/ 148 h 228"/>
                  <a:gd name="T32" fmla="*/ 210 w 215"/>
                  <a:gd name="T33" fmla="*/ 127 h 228"/>
                  <a:gd name="T34" fmla="*/ 214 w 215"/>
                  <a:gd name="T35" fmla="*/ 105 h 228"/>
                  <a:gd name="T36" fmla="*/ 214 w 215"/>
                  <a:gd name="T37" fmla="*/ 0 h 228"/>
                  <a:gd name="T38" fmla="*/ 0 w 215"/>
                  <a:gd name="T39" fmla="*/ 31 h 22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15" h="228">
                    <a:moveTo>
                      <a:pt x="0" y="31"/>
                    </a:moveTo>
                    <a:lnTo>
                      <a:pt x="0" y="135"/>
                    </a:lnTo>
                    <a:lnTo>
                      <a:pt x="3" y="157"/>
                    </a:lnTo>
                    <a:lnTo>
                      <a:pt x="14" y="176"/>
                    </a:lnTo>
                    <a:lnTo>
                      <a:pt x="29" y="191"/>
                    </a:lnTo>
                    <a:lnTo>
                      <a:pt x="47" y="204"/>
                    </a:lnTo>
                    <a:lnTo>
                      <a:pt x="66" y="215"/>
                    </a:lnTo>
                    <a:lnTo>
                      <a:pt x="82" y="222"/>
                    </a:lnTo>
                    <a:lnTo>
                      <a:pt x="98" y="225"/>
                    </a:lnTo>
                    <a:lnTo>
                      <a:pt x="106" y="227"/>
                    </a:lnTo>
                    <a:lnTo>
                      <a:pt x="117" y="223"/>
                    </a:lnTo>
                    <a:lnTo>
                      <a:pt x="131" y="215"/>
                    </a:lnTo>
                    <a:lnTo>
                      <a:pt x="148" y="203"/>
                    </a:lnTo>
                    <a:lnTo>
                      <a:pt x="166" y="186"/>
                    </a:lnTo>
                    <a:lnTo>
                      <a:pt x="184" y="169"/>
                    </a:lnTo>
                    <a:lnTo>
                      <a:pt x="199" y="148"/>
                    </a:lnTo>
                    <a:lnTo>
                      <a:pt x="210" y="127"/>
                    </a:lnTo>
                    <a:lnTo>
                      <a:pt x="214" y="105"/>
                    </a:lnTo>
                    <a:lnTo>
                      <a:pt x="214" y="0"/>
                    </a:lnTo>
                    <a:lnTo>
                      <a:pt x="0" y="31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8" name="Freeform 58">
                <a:extLst>
                  <a:ext uri="{FF2B5EF4-FFF2-40B4-BE49-F238E27FC236}">
                    <a16:creationId xmlns:a16="http://schemas.microsoft.com/office/drawing/2014/main" id="{24BD6E84-2E5F-1429-9825-AABE5E04C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" y="1423"/>
                <a:ext cx="217" cy="47"/>
              </a:xfrm>
              <a:custGeom>
                <a:avLst/>
                <a:gdLst>
                  <a:gd name="T0" fmla="*/ 107 w 217"/>
                  <a:gd name="T1" fmla="*/ 40 h 47"/>
                  <a:gd name="T2" fmla="*/ 129 w 217"/>
                  <a:gd name="T3" fmla="*/ 36 h 47"/>
                  <a:gd name="T4" fmla="*/ 149 w 217"/>
                  <a:gd name="T5" fmla="*/ 33 h 47"/>
                  <a:gd name="T6" fmla="*/ 168 w 217"/>
                  <a:gd name="T7" fmla="*/ 28 h 47"/>
                  <a:gd name="T8" fmla="*/ 184 w 217"/>
                  <a:gd name="T9" fmla="*/ 23 h 47"/>
                  <a:gd name="T10" fmla="*/ 197 w 217"/>
                  <a:gd name="T11" fmla="*/ 20 h 47"/>
                  <a:gd name="T12" fmla="*/ 207 w 217"/>
                  <a:gd name="T13" fmla="*/ 15 h 47"/>
                  <a:gd name="T14" fmla="*/ 213 w 217"/>
                  <a:gd name="T15" fmla="*/ 10 h 47"/>
                  <a:gd name="T16" fmla="*/ 216 w 217"/>
                  <a:gd name="T17" fmla="*/ 7 h 47"/>
                  <a:gd name="T18" fmla="*/ 213 w 217"/>
                  <a:gd name="T19" fmla="*/ 3 h 47"/>
                  <a:gd name="T20" fmla="*/ 207 w 217"/>
                  <a:gd name="T21" fmla="*/ 1 h 47"/>
                  <a:gd name="T22" fmla="*/ 197 w 217"/>
                  <a:gd name="T23" fmla="*/ 0 h 47"/>
                  <a:gd name="T24" fmla="*/ 184 w 217"/>
                  <a:gd name="T25" fmla="*/ 0 h 47"/>
                  <a:gd name="T26" fmla="*/ 168 w 217"/>
                  <a:gd name="T27" fmla="*/ 0 h 47"/>
                  <a:gd name="T28" fmla="*/ 149 w 217"/>
                  <a:gd name="T29" fmla="*/ 1 h 47"/>
                  <a:gd name="T30" fmla="*/ 129 w 217"/>
                  <a:gd name="T31" fmla="*/ 2 h 47"/>
                  <a:gd name="T32" fmla="*/ 107 w 217"/>
                  <a:gd name="T33" fmla="*/ 5 h 47"/>
                  <a:gd name="T34" fmla="*/ 86 w 217"/>
                  <a:gd name="T35" fmla="*/ 9 h 47"/>
                  <a:gd name="T36" fmla="*/ 66 w 217"/>
                  <a:gd name="T37" fmla="*/ 12 h 47"/>
                  <a:gd name="T38" fmla="*/ 47 w 217"/>
                  <a:gd name="T39" fmla="*/ 17 h 47"/>
                  <a:gd name="T40" fmla="*/ 31 w 217"/>
                  <a:gd name="T41" fmla="*/ 21 h 47"/>
                  <a:gd name="T42" fmla="*/ 17 w 217"/>
                  <a:gd name="T43" fmla="*/ 25 h 47"/>
                  <a:gd name="T44" fmla="*/ 8 w 217"/>
                  <a:gd name="T45" fmla="*/ 30 h 47"/>
                  <a:gd name="T46" fmla="*/ 2 w 217"/>
                  <a:gd name="T47" fmla="*/ 35 h 47"/>
                  <a:gd name="T48" fmla="*/ 0 w 217"/>
                  <a:gd name="T49" fmla="*/ 38 h 47"/>
                  <a:gd name="T50" fmla="*/ 2 w 217"/>
                  <a:gd name="T51" fmla="*/ 41 h 47"/>
                  <a:gd name="T52" fmla="*/ 8 w 217"/>
                  <a:gd name="T53" fmla="*/ 43 h 47"/>
                  <a:gd name="T54" fmla="*/ 17 w 217"/>
                  <a:gd name="T55" fmla="*/ 46 h 47"/>
                  <a:gd name="T56" fmla="*/ 31 w 217"/>
                  <a:gd name="T57" fmla="*/ 46 h 47"/>
                  <a:gd name="T58" fmla="*/ 47 w 217"/>
                  <a:gd name="T59" fmla="*/ 46 h 47"/>
                  <a:gd name="T60" fmla="*/ 66 w 217"/>
                  <a:gd name="T61" fmla="*/ 44 h 47"/>
                  <a:gd name="T62" fmla="*/ 86 w 217"/>
                  <a:gd name="T63" fmla="*/ 42 h 47"/>
                  <a:gd name="T64" fmla="*/ 107 w 217"/>
                  <a:gd name="T65" fmla="*/ 40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17" h="47">
                    <a:moveTo>
                      <a:pt x="107" y="40"/>
                    </a:moveTo>
                    <a:lnTo>
                      <a:pt x="129" y="36"/>
                    </a:lnTo>
                    <a:lnTo>
                      <a:pt x="149" y="33"/>
                    </a:lnTo>
                    <a:lnTo>
                      <a:pt x="168" y="28"/>
                    </a:lnTo>
                    <a:lnTo>
                      <a:pt x="184" y="23"/>
                    </a:lnTo>
                    <a:lnTo>
                      <a:pt x="197" y="20"/>
                    </a:lnTo>
                    <a:lnTo>
                      <a:pt x="207" y="15"/>
                    </a:lnTo>
                    <a:lnTo>
                      <a:pt x="213" y="10"/>
                    </a:lnTo>
                    <a:lnTo>
                      <a:pt x="216" y="7"/>
                    </a:lnTo>
                    <a:lnTo>
                      <a:pt x="213" y="3"/>
                    </a:lnTo>
                    <a:lnTo>
                      <a:pt x="207" y="1"/>
                    </a:lnTo>
                    <a:lnTo>
                      <a:pt x="197" y="0"/>
                    </a:lnTo>
                    <a:lnTo>
                      <a:pt x="184" y="0"/>
                    </a:lnTo>
                    <a:lnTo>
                      <a:pt x="168" y="0"/>
                    </a:lnTo>
                    <a:lnTo>
                      <a:pt x="149" y="1"/>
                    </a:lnTo>
                    <a:lnTo>
                      <a:pt x="129" y="2"/>
                    </a:lnTo>
                    <a:lnTo>
                      <a:pt x="107" y="5"/>
                    </a:lnTo>
                    <a:lnTo>
                      <a:pt x="86" y="9"/>
                    </a:lnTo>
                    <a:lnTo>
                      <a:pt x="66" y="12"/>
                    </a:lnTo>
                    <a:lnTo>
                      <a:pt x="47" y="17"/>
                    </a:lnTo>
                    <a:lnTo>
                      <a:pt x="31" y="21"/>
                    </a:lnTo>
                    <a:lnTo>
                      <a:pt x="17" y="25"/>
                    </a:lnTo>
                    <a:lnTo>
                      <a:pt x="8" y="30"/>
                    </a:lnTo>
                    <a:lnTo>
                      <a:pt x="2" y="35"/>
                    </a:lnTo>
                    <a:lnTo>
                      <a:pt x="0" y="38"/>
                    </a:lnTo>
                    <a:lnTo>
                      <a:pt x="2" y="41"/>
                    </a:lnTo>
                    <a:lnTo>
                      <a:pt x="8" y="43"/>
                    </a:lnTo>
                    <a:lnTo>
                      <a:pt x="17" y="46"/>
                    </a:lnTo>
                    <a:lnTo>
                      <a:pt x="31" y="46"/>
                    </a:lnTo>
                    <a:lnTo>
                      <a:pt x="47" y="46"/>
                    </a:lnTo>
                    <a:lnTo>
                      <a:pt x="66" y="44"/>
                    </a:lnTo>
                    <a:lnTo>
                      <a:pt x="86" y="42"/>
                    </a:lnTo>
                    <a:lnTo>
                      <a:pt x="107" y="4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9" name="Freeform 59">
                <a:extLst>
                  <a:ext uri="{FF2B5EF4-FFF2-40B4-BE49-F238E27FC236}">
                    <a16:creationId xmlns:a16="http://schemas.microsoft.com/office/drawing/2014/main" id="{BDC615FA-F9AE-4A94-87F8-3528EEB30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99"/>
                <a:ext cx="211" cy="91"/>
              </a:xfrm>
              <a:custGeom>
                <a:avLst/>
                <a:gdLst>
                  <a:gd name="T0" fmla="*/ 206 w 211"/>
                  <a:gd name="T1" fmla="*/ 0 h 91"/>
                  <a:gd name="T2" fmla="*/ 202 w 211"/>
                  <a:gd name="T3" fmla="*/ 4 h 91"/>
                  <a:gd name="T4" fmla="*/ 197 w 211"/>
                  <a:gd name="T5" fmla="*/ 10 h 91"/>
                  <a:gd name="T6" fmla="*/ 187 w 211"/>
                  <a:gd name="T7" fmla="*/ 16 h 91"/>
                  <a:gd name="T8" fmla="*/ 174 w 211"/>
                  <a:gd name="T9" fmla="*/ 23 h 91"/>
                  <a:gd name="T10" fmla="*/ 160 w 211"/>
                  <a:gd name="T11" fmla="*/ 31 h 91"/>
                  <a:gd name="T12" fmla="*/ 143 w 211"/>
                  <a:gd name="T13" fmla="*/ 40 h 91"/>
                  <a:gd name="T14" fmla="*/ 126 w 211"/>
                  <a:gd name="T15" fmla="*/ 48 h 91"/>
                  <a:gd name="T16" fmla="*/ 106 w 211"/>
                  <a:gd name="T17" fmla="*/ 56 h 91"/>
                  <a:gd name="T18" fmla="*/ 88 w 211"/>
                  <a:gd name="T19" fmla="*/ 63 h 91"/>
                  <a:gd name="T20" fmla="*/ 70 w 211"/>
                  <a:gd name="T21" fmla="*/ 69 h 91"/>
                  <a:gd name="T22" fmla="*/ 54 w 211"/>
                  <a:gd name="T23" fmla="*/ 75 h 91"/>
                  <a:gd name="T24" fmla="*/ 38 w 211"/>
                  <a:gd name="T25" fmla="*/ 79 h 91"/>
                  <a:gd name="T26" fmla="*/ 25 w 211"/>
                  <a:gd name="T27" fmla="*/ 82 h 91"/>
                  <a:gd name="T28" fmla="*/ 15 w 211"/>
                  <a:gd name="T29" fmla="*/ 85 h 91"/>
                  <a:gd name="T30" fmla="*/ 7 w 211"/>
                  <a:gd name="T31" fmla="*/ 85 h 91"/>
                  <a:gd name="T32" fmla="*/ 1 w 211"/>
                  <a:gd name="T33" fmla="*/ 85 h 91"/>
                  <a:gd name="T34" fmla="*/ 1 w 211"/>
                  <a:gd name="T35" fmla="*/ 85 h 91"/>
                  <a:gd name="T36" fmla="*/ 1 w 211"/>
                  <a:gd name="T37" fmla="*/ 85 h 91"/>
                  <a:gd name="T38" fmla="*/ 0 w 211"/>
                  <a:gd name="T39" fmla="*/ 86 h 91"/>
                  <a:gd name="T40" fmla="*/ 0 w 211"/>
                  <a:gd name="T41" fmla="*/ 86 h 91"/>
                  <a:gd name="T42" fmla="*/ 0 w 211"/>
                  <a:gd name="T43" fmla="*/ 86 h 91"/>
                  <a:gd name="T44" fmla="*/ 0 w 211"/>
                  <a:gd name="T45" fmla="*/ 86 h 91"/>
                  <a:gd name="T46" fmla="*/ 0 w 211"/>
                  <a:gd name="T47" fmla="*/ 87 h 91"/>
                  <a:gd name="T48" fmla="*/ 0 w 211"/>
                  <a:gd name="T49" fmla="*/ 87 h 91"/>
                  <a:gd name="T50" fmla="*/ 3 w 211"/>
                  <a:gd name="T51" fmla="*/ 90 h 91"/>
                  <a:gd name="T52" fmla="*/ 10 w 211"/>
                  <a:gd name="T53" fmla="*/ 90 h 91"/>
                  <a:gd name="T54" fmla="*/ 21 w 211"/>
                  <a:gd name="T55" fmla="*/ 88 h 91"/>
                  <a:gd name="T56" fmla="*/ 34 w 211"/>
                  <a:gd name="T57" fmla="*/ 86 h 91"/>
                  <a:gd name="T58" fmla="*/ 50 w 211"/>
                  <a:gd name="T59" fmla="*/ 81 h 91"/>
                  <a:gd name="T60" fmla="*/ 68 w 211"/>
                  <a:gd name="T61" fmla="*/ 75 h 91"/>
                  <a:gd name="T62" fmla="*/ 88 w 211"/>
                  <a:gd name="T63" fmla="*/ 69 h 91"/>
                  <a:gd name="T64" fmla="*/ 109 w 211"/>
                  <a:gd name="T65" fmla="*/ 61 h 91"/>
                  <a:gd name="T66" fmla="*/ 130 w 211"/>
                  <a:gd name="T67" fmla="*/ 52 h 91"/>
                  <a:gd name="T68" fmla="*/ 149 w 211"/>
                  <a:gd name="T69" fmla="*/ 42 h 91"/>
                  <a:gd name="T70" fmla="*/ 167 w 211"/>
                  <a:gd name="T71" fmla="*/ 34 h 91"/>
                  <a:gd name="T72" fmla="*/ 182 w 211"/>
                  <a:gd name="T73" fmla="*/ 26 h 91"/>
                  <a:gd name="T74" fmla="*/ 194 w 211"/>
                  <a:gd name="T75" fmla="*/ 18 h 91"/>
                  <a:gd name="T76" fmla="*/ 202 w 211"/>
                  <a:gd name="T77" fmla="*/ 11 h 91"/>
                  <a:gd name="T78" fmla="*/ 208 w 211"/>
                  <a:gd name="T79" fmla="*/ 5 h 91"/>
                  <a:gd name="T80" fmla="*/ 210 w 211"/>
                  <a:gd name="T81" fmla="*/ 2 h 91"/>
                  <a:gd name="T82" fmla="*/ 210 w 211"/>
                  <a:gd name="T83" fmla="*/ 2 h 91"/>
                  <a:gd name="T84" fmla="*/ 210 w 211"/>
                  <a:gd name="T85" fmla="*/ 1 h 91"/>
                  <a:gd name="T86" fmla="*/ 208 w 211"/>
                  <a:gd name="T87" fmla="*/ 1 h 91"/>
                  <a:gd name="T88" fmla="*/ 208 w 211"/>
                  <a:gd name="T89" fmla="*/ 1 h 91"/>
                  <a:gd name="T90" fmla="*/ 208 w 211"/>
                  <a:gd name="T91" fmla="*/ 0 h 91"/>
                  <a:gd name="T92" fmla="*/ 207 w 211"/>
                  <a:gd name="T93" fmla="*/ 0 h 91"/>
                  <a:gd name="T94" fmla="*/ 207 w 211"/>
                  <a:gd name="T95" fmla="*/ 0 h 91"/>
                  <a:gd name="T96" fmla="*/ 206 w 211"/>
                  <a:gd name="T97" fmla="*/ 0 h 91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1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10"/>
                    </a:lnTo>
                    <a:lnTo>
                      <a:pt x="187" y="16"/>
                    </a:lnTo>
                    <a:lnTo>
                      <a:pt x="174" y="23"/>
                    </a:lnTo>
                    <a:lnTo>
                      <a:pt x="160" y="31"/>
                    </a:lnTo>
                    <a:lnTo>
                      <a:pt x="143" y="40"/>
                    </a:lnTo>
                    <a:lnTo>
                      <a:pt x="126" y="48"/>
                    </a:lnTo>
                    <a:lnTo>
                      <a:pt x="106" y="56"/>
                    </a:lnTo>
                    <a:lnTo>
                      <a:pt x="88" y="63"/>
                    </a:lnTo>
                    <a:lnTo>
                      <a:pt x="70" y="69"/>
                    </a:lnTo>
                    <a:lnTo>
                      <a:pt x="54" y="75"/>
                    </a:lnTo>
                    <a:lnTo>
                      <a:pt x="38" y="79"/>
                    </a:lnTo>
                    <a:lnTo>
                      <a:pt x="25" y="82"/>
                    </a:lnTo>
                    <a:lnTo>
                      <a:pt x="15" y="85"/>
                    </a:lnTo>
                    <a:lnTo>
                      <a:pt x="7" y="85"/>
                    </a:lnTo>
                    <a:lnTo>
                      <a:pt x="1" y="85"/>
                    </a:lnTo>
                    <a:lnTo>
                      <a:pt x="0" y="86"/>
                    </a:lnTo>
                    <a:lnTo>
                      <a:pt x="0" y="87"/>
                    </a:lnTo>
                    <a:lnTo>
                      <a:pt x="3" y="90"/>
                    </a:lnTo>
                    <a:lnTo>
                      <a:pt x="10" y="90"/>
                    </a:lnTo>
                    <a:lnTo>
                      <a:pt x="21" y="88"/>
                    </a:lnTo>
                    <a:lnTo>
                      <a:pt x="34" y="86"/>
                    </a:lnTo>
                    <a:lnTo>
                      <a:pt x="50" y="81"/>
                    </a:lnTo>
                    <a:lnTo>
                      <a:pt x="68" y="75"/>
                    </a:lnTo>
                    <a:lnTo>
                      <a:pt x="88" y="69"/>
                    </a:lnTo>
                    <a:lnTo>
                      <a:pt x="109" y="61"/>
                    </a:lnTo>
                    <a:lnTo>
                      <a:pt x="130" y="52"/>
                    </a:lnTo>
                    <a:lnTo>
                      <a:pt x="149" y="42"/>
                    </a:lnTo>
                    <a:lnTo>
                      <a:pt x="167" y="34"/>
                    </a:lnTo>
                    <a:lnTo>
                      <a:pt x="182" y="26"/>
                    </a:lnTo>
                    <a:lnTo>
                      <a:pt x="194" y="18"/>
                    </a:lnTo>
                    <a:lnTo>
                      <a:pt x="202" y="11"/>
                    </a:lnTo>
                    <a:lnTo>
                      <a:pt x="208" y="5"/>
                    </a:lnTo>
                    <a:lnTo>
                      <a:pt x="210" y="2"/>
                    </a:lnTo>
                    <a:lnTo>
                      <a:pt x="210" y="1"/>
                    </a:lnTo>
                    <a:lnTo>
                      <a:pt x="208" y="1"/>
                    </a:lnTo>
                    <a:lnTo>
                      <a:pt x="208" y="0"/>
                    </a:lnTo>
                    <a:lnTo>
                      <a:pt x="207" y="0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0" name="Freeform 60">
                <a:extLst>
                  <a:ext uri="{FF2B5EF4-FFF2-40B4-BE49-F238E27FC236}">
                    <a16:creationId xmlns:a16="http://schemas.microsoft.com/office/drawing/2014/main" id="{6791305F-DACD-5E44-FA6A-FAA8E3860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1530"/>
                <a:ext cx="166" cy="88"/>
              </a:xfrm>
              <a:custGeom>
                <a:avLst/>
                <a:gdLst>
                  <a:gd name="T0" fmla="*/ 165 w 166"/>
                  <a:gd name="T1" fmla="*/ 7 h 88"/>
                  <a:gd name="T2" fmla="*/ 165 w 166"/>
                  <a:gd name="T3" fmla="*/ 7 h 88"/>
                  <a:gd name="T4" fmla="*/ 165 w 166"/>
                  <a:gd name="T5" fmla="*/ 7 h 88"/>
                  <a:gd name="T6" fmla="*/ 165 w 166"/>
                  <a:gd name="T7" fmla="*/ 5 h 88"/>
                  <a:gd name="T8" fmla="*/ 165 w 166"/>
                  <a:gd name="T9" fmla="*/ 5 h 88"/>
                  <a:gd name="T10" fmla="*/ 165 w 166"/>
                  <a:gd name="T11" fmla="*/ 5 h 88"/>
                  <a:gd name="T12" fmla="*/ 165 w 166"/>
                  <a:gd name="T13" fmla="*/ 4 h 88"/>
                  <a:gd name="T14" fmla="*/ 165 w 166"/>
                  <a:gd name="T15" fmla="*/ 4 h 88"/>
                  <a:gd name="T16" fmla="*/ 165 w 166"/>
                  <a:gd name="T17" fmla="*/ 4 h 88"/>
                  <a:gd name="T18" fmla="*/ 165 w 166"/>
                  <a:gd name="T19" fmla="*/ 0 h 88"/>
                  <a:gd name="T20" fmla="*/ 159 w 166"/>
                  <a:gd name="T21" fmla="*/ 4 h 88"/>
                  <a:gd name="T22" fmla="*/ 152 w 166"/>
                  <a:gd name="T23" fmla="*/ 9 h 88"/>
                  <a:gd name="T24" fmla="*/ 144 w 166"/>
                  <a:gd name="T25" fmla="*/ 14 h 88"/>
                  <a:gd name="T26" fmla="*/ 136 w 166"/>
                  <a:gd name="T27" fmla="*/ 19 h 88"/>
                  <a:gd name="T28" fmla="*/ 128 w 166"/>
                  <a:gd name="T29" fmla="*/ 24 h 88"/>
                  <a:gd name="T30" fmla="*/ 120 w 166"/>
                  <a:gd name="T31" fmla="*/ 29 h 88"/>
                  <a:gd name="T32" fmla="*/ 111 w 166"/>
                  <a:gd name="T33" fmla="*/ 35 h 88"/>
                  <a:gd name="T34" fmla="*/ 102 w 166"/>
                  <a:gd name="T35" fmla="*/ 39 h 88"/>
                  <a:gd name="T36" fmla="*/ 84 w 166"/>
                  <a:gd name="T37" fmla="*/ 49 h 88"/>
                  <a:gd name="T38" fmla="*/ 68 w 166"/>
                  <a:gd name="T39" fmla="*/ 57 h 88"/>
                  <a:gd name="T40" fmla="*/ 51 w 166"/>
                  <a:gd name="T41" fmla="*/ 65 h 88"/>
                  <a:gd name="T42" fmla="*/ 37 w 166"/>
                  <a:gd name="T43" fmla="*/ 71 h 88"/>
                  <a:gd name="T44" fmla="*/ 24 w 166"/>
                  <a:gd name="T45" fmla="*/ 76 h 88"/>
                  <a:gd name="T46" fmla="*/ 14 w 166"/>
                  <a:gd name="T47" fmla="*/ 79 h 88"/>
                  <a:gd name="T48" fmla="*/ 5 w 166"/>
                  <a:gd name="T49" fmla="*/ 82 h 88"/>
                  <a:gd name="T50" fmla="*/ 0 w 166"/>
                  <a:gd name="T51" fmla="*/ 82 h 88"/>
                  <a:gd name="T52" fmla="*/ 0 w 166"/>
                  <a:gd name="T53" fmla="*/ 83 h 88"/>
                  <a:gd name="T54" fmla="*/ 0 w 166"/>
                  <a:gd name="T55" fmla="*/ 83 h 88"/>
                  <a:gd name="T56" fmla="*/ 0 w 166"/>
                  <a:gd name="T57" fmla="*/ 83 h 88"/>
                  <a:gd name="T58" fmla="*/ 0 w 166"/>
                  <a:gd name="T59" fmla="*/ 83 h 88"/>
                  <a:gd name="T60" fmla="*/ 0 w 166"/>
                  <a:gd name="T61" fmla="*/ 84 h 88"/>
                  <a:gd name="T62" fmla="*/ 0 w 166"/>
                  <a:gd name="T63" fmla="*/ 84 h 88"/>
                  <a:gd name="T64" fmla="*/ 0 w 166"/>
                  <a:gd name="T65" fmla="*/ 84 h 88"/>
                  <a:gd name="T66" fmla="*/ 0 w 166"/>
                  <a:gd name="T67" fmla="*/ 84 h 88"/>
                  <a:gd name="T68" fmla="*/ 3 w 166"/>
                  <a:gd name="T69" fmla="*/ 87 h 88"/>
                  <a:gd name="T70" fmla="*/ 10 w 166"/>
                  <a:gd name="T71" fmla="*/ 87 h 88"/>
                  <a:gd name="T72" fmla="*/ 20 w 166"/>
                  <a:gd name="T73" fmla="*/ 83 h 88"/>
                  <a:gd name="T74" fmla="*/ 34 w 166"/>
                  <a:gd name="T75" fmla="*/ 78 h 88"/>
                  <a:gd name="T76" fmla="*/ 49 w 166"/>
                  <a:gd name="T77" fmla="*/ 72 h 88"/>
                  <a:gd name="T78" fmla="*/ 67 w 166"/>
                  <a:gd name="T79" fmla="*/ 64 h 88"/>
                  <a:gd name="T80" fmla="*/ 86 w 166"/>
                  <a:gd name="T81" fmla="*/ 55 h 88"/>
                  <a:gd name="T82" fmla="*/ 106 w 166"/>
                  <a:gd name="T83" fmla="*/ 43 h 88"/>
                  <a:gd name="T84" fmla="*/ 114 w 166"/>
                  <a:gd name="T85" fmla="*/ 38 h 88"/>
                  <a:gd name="T86" fmla="*/ 122 w 166"/>
                  <a:gd name="T87" fmla="*/ 34 h 88"/>
                  <a:gd name="T88" fmla="*/ 130 w 166"/>
                  <a:gd name="T89" fmla="*/ 29 h 88"/>
                  <a:gd name="T90" fmla="*/ 137 w 166"/>
                  <a:gd name="T91" fmla="*/ 24 h 88"/>
                  <a:gd name="T92" fmla="*/ 144 w 166"/>
                  <a:gd name="T93" fmla="*/ 19 h 88"/>
                  <a:gd name="T94" fmla="*/ 152 w 166"/>
                  <a:gd name="T95" fmla="*/ 15 h 88"/>
                  <a:gd name="T96" fmla="*/ 159 w 166"/>
                  <a:gd name="T97" fmla="*/ 11 h 88"/>
                  <a:gd name="T98" fmla="*/ 165 w 166"/>
                  <a:gd name="T99" fmla="*/ 7 h 8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66" h="88">
                    <a:moveTo>
                      <a:pt x="165" y="7"/>
                    </a:moveTo>
                    <a:lnTo>
                      <a:pt x="165" y="7"/>
                    </a:lnTo>
                    <a:lnTo>
                      <a:pt x="165" y="5"/>
                    </a:lnTo>
                    <a:lnTo>
                      <a:pt x="165" y="4"/>
                    </a:lnTo>
                    <a:lnTo>
                      <a:pt x="165" y="0"/>
                    </a:lnTo>
                    <a:lnTo>
                      <a:pt x="159" y="4"/>
                    </a:lnTo>
                    <a:lnTo>
                      <a:pt x="152" y="9"/>
                    </a:lnTo>
                    <a:lnTo>
                      <a:pt x="144" y="14"/>
                    </a:lnTo>
                    <a:lnTo>
                      <a:pt x="136" y="19"/>
                    </a:lnTo>
                    <a:lnTo>
                      <a:pt x="128" y="24"/>
                    </a:lnTo>
                    <a:lnTo>
                      <a:pt x="120" y="29"/>
                    </a:lnTo>
                    <a:lnTo>
                      <a:pt x="111" y="35"/>
                    </a:lnTo>
                    <a:lnTo>
                      <a:pt x="102" y="39"/>
                    </a:lnTo>
                    <a:lnTo>
                      <a:pt x="84" y="49"/>
                    </a:lnTo>
                    <a:lnTo>
                      <a:pt x="68" y="57"/>
                    </a:lnTo>
                    <a:lnTo>
                      <a:pt x="51" y="65"/>
                    </a:lnTo>
                    <a:lnTo>
                      <a:pt x="37" y="71"/>
                    </a:lnTo>
                    <a:lnTo>
                      <a:pt x="24" y="76"/>
                    </a:lnTo>
                    <a:lnTo>
                      <a:pt x="14" y="79"/>
                    </a:lnTo>
                    <a:lnTo>
                      <a:pt x="5" y="82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0" y="84"/>
                    </a:lnTo>
                    <a:lnTo>
                      <a:pt x="3" y="87"/>
                    </a:lnTo>
                    <a:lnTo>
                      <a:pt x="10" y="87"/>
                    </a:lnTo>
                    <a:lnTo>
                      <a:pt x="20" y="83"/>
                    </a:lnTo>
                    <a:lnTo>
                      <a:pt x="34" y="78"/>
                    </a:lnTo>
                    <a:lnTo>
                      <a:pt x="49" y="72"/>
                    </a:lnTo>
                    <a:lnTo>
                      <a:pt x="67" y="64"/>
                    </a:lnTo>
                    <a:lnTo>
                      <a:pt x="86" y="55"/>
                    </a:lnTo>
                    <a:lnTo>
                      <a:pt x="106" y="43"/>
                    </a:lnTo>
                    <a:lnTo>
                      <a:pt x="114" y="38"/>
                    </a:lnTo>
                    <a:lnTo>
                      <a:pt x="122" y="34"/>
                    </a:lnTo>
                    <a:lnTo>
                      <a:pt x="130" y="29"/>
                    </a:lnTo>
                    <a:lnTo>
                      <a:pt x="137" y="24"/>
                    </a:lnTo>
                    <a:lnTo>
                      <a:pt x="144" y="19"/>
                    </a:lnTo>
                    <a:lnTo>
                      <a:pt x="152" y="15"/>
                    </a:lnTo>
                    <a:lnTo>
                      <a:pt x="159" y="11"/>
                    </a:lnTo>
                    <a:lnTo>
                      <a:pt x="165" y="7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1" name="Freeform 61">
                <a:extLst>
                  <a:ext uri="{FF2B5EF4-FFF2-40B4-BE49-F238E27FC236}">
                    <a16:creationId xmlns:a16="http://schemas.microsoft.com/office/drawing/2014/main" id="{2F398356-6DB9-35FF-B924-D50F23FEC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1437"/>
                <a:ext cx="171" cy="61"/>
              </a:xfrm>
              <a:custGeom>
                <a:avLst/>
                <a:gdLst>
                  <a:gd name="T0" fmla="*/ 0 w 171"/>
                  <a:gd name="T1" fmla="*/ 60 h 61"/>
                  <a:gd name="T2" fmla="*/ 7 w 171"/>
                  <a:gd name="T3" fmla="*/ 58 h 61"/>
                  <a:gd name="T4" fmla="*/ 15 w 171"/>
                  <a:gd name="T5" fmla="*/ 57 h 61"/>
                  <a:gd name="T6" fmla="*/ 24 w 171"/>
                  <a:gd name="T7" fmla="*/ 55 h 61"/>
                  <a:gd name="T8" fmla="*/ 34 w 171"/>
                  <a:gd name="T9" fmla="*/ 52 h 61"/>
                  <a:gd name="T10" fmla="*/ 44 w 171"/>
                  <a:gd name="T11" fmla="*/ 50 h 61"/>
                  <a:gd name="T12" fmla="*/ 55 w 171"/>
                  <a:gd name="T13" fmla="*/ 47 h 61"/>
                  <a:gd name="T14" fmla="*/ 66 w 171"/>
                  <a:gd name="T15" fmla="*/ 43 h 61"/>
                  <a:gd name="T16" fmla="*/ 77 w 171"/>
                  <a:gd name="T17" fmla="*/ 40 h 61"/>
                  <a:gd name="T18" fmla="*/ 93 w 171"/>
                  <a:gd name="T19" fmla="*/ 35 h 61"/>
                  <a:gd name="T20" fmla="*/ 107 w 171"/>
                  <a:gd name="T21" fmla="*/ 29 h 61"/>
                  <a:gd name="T22" fmla="*/ 120 w 171"/>
                  <a:gd name="T23" fmla="*/ 24 h 61"/>
                  <a:gd name="T24" fmla="*/ 133 w 171"/>
                  <a:gd name="T25" fmla="*/ 18 h 61"/>
                  <a:gd name="T26" fmla="*/ 145 w 171"/>
                  <a:gd name="T27" fmla="*/ 14 h 61"/>
                  <a:gd name="T28" fmla="*/ 154 w 171"/>
                  <a:gd name="T29" fmla="*/ 8 h 61"/>
                  <a:gd name="T30" fmla="*/ 162 w 171"/>
                  <a:gd name="T31" fmla="*/ 3 h 61"/>
                  <a:gd name="T32" fmla="*/ 170 w 171"/>
                  <a:gd name="T33" fmla="*/ 0 h 61"/>
                  <a:gd name="T34" fmla="*/ 155 w 171"/>
                  <a:gd name="T35" fmla="*/ 1 h 61"/>
                  <a:gd name="T36" fmla="*/ 148 w 171"/>
                  <a:gd name="T37" fmla="*/ 5 h 61"/>
                  <a:gd name="T38" fmla="*/ 140 w 171"/>
                  <a:gd name="T39" fmla="*/ 9 h 61"/>
                  <a:gd name="T40" fmla="*/ 131 w 171"/>
                  <a:gd name="T41" fmla="*/ 14 h 61"/>
                  <a:gd name="T42" fmla="*/ 120 w 171"/>
                  <a:gd name="T43" fmla="*/ 17 h 61"/>
                  <a:gd name="T44" fmla="*/ 109 w 171"/>
                  <a:gd name="T45" fmla="*/ 22 h 61"/>
                  <a:gd name="T46" fmla="*/ 99 w 171"/>
                  <a:gd name="T47" fmla="*/ 27 h 61"/>
                  <a:gd name="T48" fmla="*/ 87 w 171"/>
                  <a:gd name="T49" fmla="*/ 30 h 61"/>
                  <a:gd name="T50" fmla="*/ 74 w 171"/>
                  <a:gd name="T51" fmla="*/ 35 h 61"/>
                  <a:gd name="T52" fmla="*/ 63 w 171"/>
                  <a:gd name="T53" fmla="*/ 38 h 61"/>
                  <a:gd name="T54" fmla="*/ 53 w 171"/>
                  <a:gd name="T55" fmla="*/ 42 h 61"/>
                  <a:gd name="T56" fmla="*/ 43 w 171"/>
                  <a:gd name="T57" fmla="*/ 44 h 61"/>
                  <a:gd name="T58" fmla="*/ 34 w 171"/>
                  <a:gd name="T59" fmla="*/ 47 h 61"/>
                  <a:gd name="T60" fmla="*/ 24 w 171"/>
                  <a:gd name="T61" fmla="*/ 49 h 61"/>
                  <a:gd name="T62" fmla="*/ 15 w 171"/>
                  <a:gd name="T63" fmla="*/ 51 h 61"/>
                  <a:gd name="T64" fmla="*/ 7 w 171"/>
                  <a:gd name="T65" fmla="*/ 54 h 61"/>
                  <a:gd name="T66" fmla="*/ 0 w 171"/>
                  <a:gd name="T67" fmla="*/ 55 h 61"/>
                  <a:gd name="T68" fmla="*/ 0 w 171"/>
                  <a:gd name="T69" fmla="*/ 60 h 6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71" h="61">
                    <a:moveTo>
                      <a:pt x="0" y="60"/>
                    </a:moveTo>
                    <a:lnTo>
                      <a:pt x="7" y="58"/>
                    </a:lnTo>
                    <a:lnTo>
                      <a:pt x="15" y="57"/>
                    </a:lnTo>
                    <a:lnTo>
                      <a:pt x="24" y="55"/>
                    </a:lnTo>
                    <a:lnTo>
                      <a:pt x="34" y="52"/>
                    </a:lnTo>
                    <a:lnTo>
                      <a:pt x="44" y="50"/>
                    </a:lnTo>
                    <a:lnTo>
                      <a:pt x="55" y="47"/>
                    </a:lnTo>
                    <a:lnTo>
                      <a:pt x="66" y="43"/>
                    </a:lnTo>
                    <a:lnTo>
                      <a:pt x="77" y="40"/>
                    </a:lnTo>
                    <a:lnTo>
                      <a:pt x="93" y="35"/>
                    </a:lnTo>
                    <a:lnTo>
                      <a:pt x="107" y="29"/>
                    </a:lnTo>
                    <a:lnTo>
                      <a:pt x="120" y="24"/>
                    </a:lnTo>
                    <a:lnTo>
                      <a:pt x="133" y="18"/>
                    </a:lnTo>
                    <a:lnTo>
                      <a:pt x="145" y="14"/>
                    </a:lnTo>
                    <a:lnTo>
                      <a:pt x="154" y="8"/>
                    </a:lnTo>
                    <a:lnTo>
                      <a:pt x="162" y="3"/>
                    </a:lnTo>
                    <a:lnTo>
                      <a:pt x="170" y="0"/>
                    </a:lnTo>
                    <a:lnTo>
                      <a:pt x="155" y="1"/>
                    </a:lnTo>
                    <a:lnTo>
                      <a:pt x="148" y="5"/>
                    </a:lnTo>
                    <a:lnTo>
                      <a:pt x="140" y="9"/>
                    </a:lnTo>
                    <a:lnTo>
                      <a:pt x="131" y="14"/>
                    </a:lnTo>
                    <a:lnTo>
                      <a:pt x="120" y="17"/>
                    </a:lnTo>
                    <a:lnTo>
                      <a:pt x="109" y="22"/>
                    </a:lnTo>
                    <a:lnTo>
                      <a:pt x="99" y="27"/>
                    </a:lnTo>
                    <a:lnTo>
                      <a:pt x="87" y="30"/>
                    </a:lnTo>
                    <a:lnTo>
                      <a:pt x="74" y="35"/>
                    </a:lnTo>
                    <a:lnTo>
                      <a:pt x="63" y="38"/>
                    </a:lnTo>
                    <a:lnTo>
                      <a:pt x="53" y="42"/>
                    </a:lnTo>
                    <a:lnTo>
                      <a:pt x="43" y="44"/>
                    </a:lnTo>
                    <a:lnTo>
                      <a:pt x="34" y="47"/>
                    </a:lnTo>
                    <a:lnTo>
                      <a:pt x="24" y="49"/>
                    </a:lnTo>
                    <a:lnTo>
                      <a:pt x="15" y="51"/>
                    </a:lnTo>
                    <a:lnTo>
                      <a:pt x="7" y="54"/>
                    </a:lnTo>
                    <a:lnTo>
                      <a:pt x="0" y="55"/>
                    </a:lnTo>
                    <a:lnTo>
                      <a:pt x="0" y="6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2" name="Freeform 62">
                <a:extLst>
                  <a:ext uri="{FF2B5EF4-FFF2-40B4-BE49-F238E27FC236}">
                    <a16:creationId xmlns:a16="http://schemas.microsoft.com/office/drawing/2014/main" id="{40EC14A0-84D0-2325-95EC-66031FEFC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67"/>
                <a:ext cx="211" cy="90"/>
              </a:xfrm>
              <a:custGeom>
                <a:avLst/>
                <a:gdLst>
                  <a:gd name="T0" fmla="*/ 206 w 211"/>
                  <a:gd name="T1" fmla="*/ 0 h 90"/>
                  <a:gd name="T2" fmla="*/ 202 w 211"/>
                  <a:gd name="T3" fmla="*/ 4 h 90"/>
                  <a:gd name="T4" fmla="*/ 197 w 211"/>
                  <a:gd name="T5" fmla="*/ 9 h 90"/>
                  <a:gd name="T6" fmla="*/ 187 w 211"/>
                  <a:gd name="T7" fmla="*/ 16 h 90"/>
                  <a:gd name="T8" fmla="*/ 174 w 211"/>
                  <a:gd name="T9" fmla="*/ 23 h 90"/>
                  <a:gd name="T10" fmla="*/ 160 w 211"/>
                  <a:gd name="T11" fmla="*/ 31 h 90"/>
                  <a:gd name="T12" fmla="*/ 143 w 211"/>
                  <a:gd name="T13" fmla="*/ 38 h 90"/>
                  <a:gd name="T14" fmla="*/ 126 w 211"/>
                  <a:gd name="T15" fmla="*/ 46 h 90"/>
                  <a:gd name="T16" fmla="*/ 106 w 211"/>
                  <a:gd name="T17" fmla="*/ 55 h 90"/>
                  <a:gd name="T18" fmla="*/ 88 w 211"/>
                  <a:gd name="T19" fmla="*/ 63 h 90"/>
                  <a:gd name="T20" fmla="*/ 70 w 211"/>
                  <a:gd name="T21" fmla="*/ 69 h 90"/>
                  <a:gd name="T22" fmla="*/ 54 w 211"/>
                  <a:gd name="T23" fmla="*/ 73 h 90"/>
                  <a:gd name="T24" fmla="*/ 38 w 211"/>
                  <a:gd name="T25" fmla="*/ 78 h 90"/>
                  <a:gd name="T26" fmla="*/ 25 w 211"/>
                  <a:gd name="T27" fmla="*/ 81 h 90"/>
                  <a:gd name="T28" fmla="*/ 15 w 211"/>
                  <a:gd name="T29" fmla="*/ 83 h 90"/>
                  <a:gd name="T30" fmla="*/ 7 w 211"/>
                  <a:gd name="T31" fmla="*/ 84 h 90"/>
                  <a:gd name="T32" fmla="*/ 1 w 211"/>
                  <a:gd name="T33" fmla="*/ 84 h 90"/>
                  <a:gd name="T34" fmla="*/ 1 w 211"/>
                  <a:gd name="T35" fmla="*/ 84 h 90"/>
                  <a:gd name="T36" fmla="*/ 1 w 211"/>
                  <a:gd name="T37" fmla="*/ 84 h 90"/>
                  <a:gd name="T38" fmla="*/ 0 w 211"/>
                  <a:gd name="T39" fmla="*/ 85 h 90"/>
                  <a:gd name="T40" fmla="*/ 0 w 211"/>
                  <a:gd name="T41" fmla="*/ 85 h 90"/>
                  <a:gd name="T42" fmla="*/ 0 w 211"/>
                  <a:gd name="T43" fmla="*/ 85 h 90"/>
                  <a:gd name="T44" fmla="*/ 0 w 211"/>
                  <a:gd name="T45" fmla="*/ 85 h 90"/>
                  <a:gd name="T46" fmla="*/ 0 w 211"/>
                  <a:gd name="T47" fmla="*/ 85 h 90"/>
                  <a:gd name="T48" fmla="*/ 0 w 211"/>
                  <a:gd name="T49" fmla="*/ 86 h 90"/>
                  <a:gd name="T50" fmla="*/ 3 w 211"/>
                  <a:gd name="T51" fmla="*/ 89 h 90"/>
                  <a:gd name="T52" fmla="*/ 10 w 211"/>
                  <a:gd name="T53" fmla="*/ 89 h 90"/>
                  <a:gd name="T54" fmla="*/ 21 w 211"/>
                  <a:gd name="T55" fmla="*/ 87 h 90"/>
                  <a:gd name="T56" fmla="*/ 34 w 211"/>
                  <a:gd name="T57" fmla="*/ 85 h 90"/>
                  <a:gd name="T58" fmla="*/ 50 w 211"/>
                  <a:gd name="T59" fmla="*/ 80 h 90"/>
                  <a:gd name="T60" fmla="*/ 68 w 211"/>
                  <a:gd name="T61" fmla="*/ 74 h 90"/>
                  <a:gd name="T62" fmla="*/ 88 w 211"/>
                  <a:gd name="T63" fmla="*/ 67 h 90"/>
                  <a:gd name="T64" fmla="*/ 109 w 211"/>
                  <a:gd name="T65" fmla="*/ 59 h 90"/>
                  <a:gd name="T66" fmla="*/ 130 w 211"/>
                  <a:gd name="T67" fmla="*/ 51 h 90"/>
                  <a:gd name="T68" fmla="*/ 149 w 211"/>
                  <a:gd name="T69" fmla="*/ 42 h 90"/>
                  <a:gd name="T70" fmla="*/ 167 w 211"/>
                  <a:gd name="T71" fmla="*/ 33 h 90"/>
                  <a:gd name="T72" fmla="*/ 182 w 211"/>
                  <a:gd name="T73" fmla="*/ 25 h 90"/>
                  <a:gd name="T74" fmla="*/ 194 w 211"/>
                  <a:gd name="T75" fmla="*/ 18 h 90"/>
                  <a:gd name="T76" fmla="*/ 202 w 211"/>
                  <a:gd name="T77" fmla="*/ 11 h 90"/>
                  <a:gd name="T78" fmla="*/ 208 w 211"/>
                  <a:gd name="T79" fmla="*/ 5 h 90"/>
                  <a:gd name="T80" fmla="*/ 210 w 211"/>
                  <a:gd name="T81" fmla="*/ 2 h 90"/>
                  <a:gd name="T82" fmla="*/ 210 w 211"/>
                  <a:gd name="T83" fmla="*/ 1 h 90"/>
                  <a:gd name="T84" fmla="*/ 210 w 211"/>
                  <a:gd name="T85" fmla="*/ 1 h 90"/>
                  <a:gd name="T86" fmla="*/ 208 w 211"/>
                  <a:gd name="T87" fmla="*/ 1 h 90"/>
                  <a:gd name="T88" fmla="*/ 208 w 211"/>
                  <a:gd name="T89" fmla="*/ 0 h 90"/>
                  <a:gd name="T90" fmla="*/ 208 w 211"/>
                  <a:gd name="T91" fmla="*/ 0 h 90"/>
                  <a:gd name="T92" fmla="*/ 207 w 211"/>
                  <a:gd name="T93" fmla="*/ 0 h 90"/>
                  <a:gd name="T94" fmla="*/ 207 w 211"/>
                  <a:gd name="T95" fmla="*/ 0 h 90"/>
                  <a:gd name="T96" fmla="*/ 206 w 211"/>
                  <a:gd name="T97" fmla="*/ 0 h 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0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9"/>
                    </a:lnTo>
                    <a:lnTo>
                      <a:pt x="187" y="16"/>
                    </a:lnTo>
                    <a:lnTo>
                      <a:pt x="174" y="23"/>
                    </a:lnTo>
                    <a:lnTo>
                      <a:pt x="160" y="31"/>
                    </a:lnTo>
                    <a:lnTo>
                      <a:pt x="143" y="38"/>
                    </a:lnTo>
                    <a:lnTo>
                      <a:pt x="126" y="46"/>
                    </a:lnTo>
                    <a:lnTo>
                      <a:pt x="106" y="55"/>
                    </a:lnTo>
                    <a:lnTo>
                      <a:pt x="88" y="63"/>
                    </a:lnTo>
                    <a:lnTo>
                      <a:pt x="70" y="69"/>
                    </a:lnTo>
                    <a:lnTo>
                      <a:pt x="54" y="73"/>
                    </a:lnTo>
                    <a:lnTo>
                      <a:pt x="38" y="78"/>
                    </a:lnTo>
                    <a:lnTo>
                      <a:pt x="25" y="81"/>
                    </a:lnTo>
                    <a:lnTo>
                      <a:pt x="15" y="83"/>
                    </a:lnTo>
                    <a:lnTo>
                      <a:pt x="7" y="84"/>
                    </a:lnTo>
                    <a:lnTo>
                      <a:pt x="1" y="84"/>
                    </a:lnTo>
                    <a:lnTo>
                      <a:pt x="0" y="85"/>
                    </a:lnTo>
                    <a:lnTo>
                      <a:pt x="0" y="86"/>
                    </a:lnTo>
                    <a:lnTo>
                      <a:pt x="3" y="89"/>
                    </a:lnTo>
                    <a:lnTo>
                      <a:pt x="10" y="89"/>
                    </a:lnTo>
                    <a:lnTo>
                      <a:pt x="21" y="87"/>
                    </a:lnTo>
                    <a:lnTo>
                      <a:pt x="34" y="85"/>
                    </a:lnTo>
                    <a:lnTo>
                      <a:pt x="50" y="80"/>
                    </a:lnTo>
                    <a:lnTo>
                      <a:pt x="68" y="74"/>
                    </a:lnTo>
                    <a:lnTo>
                      <a:pt x="88" y="67"/>
                    </a:lnTo>
                    <a:lnTo>
                      <a:pt x="109" y="59"/>
                    </a:lnTo>
                    <a:lnTo>
                      <a:pt x="130" y="51"/>
                    </a:lnTo>
                    <a:lnTo>
                      <a:pt x="149" y="42"/>
                    </a:lnTo>
                    <a:lnTo>
                      <a:pt x="167" y="33"/>
                    </a:lnTo>
                    <a:lnTo>
                      <a:pt x="182" y="25"/>
                    </a:lnTo>
                    <a:lnTo>
                      <a:pt x="194" y="18"/>
                    </a:lnTo>
                    <a:lnTo>
                      <a:pt x="202" y="11"/>
                    </a:lnTo>
                    <a:lnTo>
                      <a:pt x="208" y="5"/>
                    </a:lnTo>
                    <a:lnTo>
                      <a:pt x="210" y="2"/>
                    </a:lnTo>
                    <a:lnTo>
                      <a:pt x="210" y="1"/>
                    </a:lnTo>
                    <a:lnTo>
                      <a:pt x="208" y="1"/>
                    </a:lnTo>
                    <a:lnTo>
                      <a:pt x="208" y="0"/>
                    </a:lnTo>
                    <a:lnTo>
                      <a:pt x="207" y="0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3" name="Freeform 63">
                <a:extLst>
                  <a:ext uri="{FF2B5EF4-FFF2-40B4-BE49-F238E27FC236}">
                    <a16:creationId xmlns:a16="http://schemas.microsoft.com/office/drawing/2014/main" id="{9F5F6A7F-E566-D8AE-22B5-DF5561C14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" y="1434"/>
                <a:ext cx="211" cy="92"/>
              </a:xfrm>
              <a:custGeom>
                <a:avLst/>
                <a:gdLst>
                  <a:gd name="T0" fmla="*/ 206 w 211"/>
                  <a:gd name="T1" fmla="*/ 0 h 92"/>
                  <a:gd name="T2" fmla="*/ 202 w 211"/>
                  <a:gd name="T3" fmla="*/ 4 h 92"/>
                  <a:gd name="T4" fmla="*/ 197 w 211"/>
                  <a:gd name="T5" fmla="*/ 10 h 92"/>
                  <a:gd name="T6" fmla="*/ 187 w 211"/>
                  <a:gd name="T7" fmla="*/ 17 h 92"/>
                  <a:gd name="T8" fmla="*/ 174 w 211"/>
                  <a:gd name="T9" fmla="*/ 24 h 92"/>
                  <a:gd name="T10" fmla="*/ 160 w 211"/>
                  <a:gd name="T11" fmla="*/ 31 h 92"/>
                  <a:gd name="T12" fmla="*/ 143 w 211"/>
                  <a:gd name="T13" fmla="*/ 40 h 92"/>
                  <a:gd name="T14" fmla="*/ 126 w 211"/>
                  <a:gd name="T15" fmla="*/ 48 h 92"/>
                  <a:gd name="T16" fmla="*/ 106 w 211"/>
                  <a:gd name="T17" fmla="*/ 56 h 92"/>
                  <a:gd name="T18" fmla="*/ 88 w 211"/>
                  <a:gd name="T19" fmla="*/ 63 h 92"/>
                  <a:gd name="T20" fmla="*/ 70 w 211"/>
                  <a:gd name="T21" fmla="*/ 70 h 92"/>
                  <a:gd name="T22" fmla="*/ 54 w 211"/>
                  <a:gd name="T23" fmla="*/ 75 h 92"/>
                  <a:gd name="T24" fmla="*/ 38 w 211"/>
                  <a:gd name="T25" fmla="*/ 80 h 92"/>
                  <a:gd name="T26" fmla="*/ 25 w 211"/>
                  <a:gd name="T27" fmla="*/ 83 h 92"/>
                  <a:gd name="T28" fmla="*/ 15 w 211"/>
                  <a:gd name="T29" fmla="*/ 85 h 92"/>
                  <a:gd name="T30" fmla="*/ 7 w 211"/>
                  <a:gd name="T31" fmla="*/ 86 h 92"/>
                  <a:gd name="T32" fmla="*/ 1 w 211"/>
                  <a:gd name="T33" fmla="*/ 86 h 92"/>
                  <a:gd name="T34" fmla="*/ 1 w 211"/>
                  <a:gd name="T35" fmla="*/ 86 h 92"/>
                  <a:gd name="T36" fmla="*/ 1 w 211"/>
                  <a:gd name="T37" fmla="*/ 86 h 92"/>
                  <a:gd name="T38" fmla="*/ 0 w 211"/>
                  <a:gd name="T39" fmla="*/ 86 h 92"/>
                  <a:gd name="T40" fmla="*/ 0 w 211"/>
                  <a:gd name="T41" fmla="*/ 87 h 92"/>
                  <a:gd name="T42" fmla="*/ 0 w 211"/>
                  <a:gd name="T43" fmla="*/ 87 h 92"/>
                  <a:gd name="T44" fmla="*/ 0 w 211"/>
                  <a:gd name="T45" fmla="*/ 87 h 92"/>
                  <a:gd name="T46" fmla="*/ 0 w 211"/>
                  <a:gd name="T47" fmla="*/ 87 h 92"/>
                  <a:gd name="T48" fmla="*/ 0 w 211"/>
                  <a:gd name="T49" fmla="*/ 87 h 92"/>
                  <a:gd name="T50" fmla="*/ 3 w 211"/>
                  <a:gd name="T51" fmla="*/ 89 h 92"/>
                  <a:gd name="T52" fmla="*/ 10 w 211"/>
                  <a:gd name="T53" fmla="*/ 91 h 92"/>
                  <a:gd name="T54" fmla="*/ 21 w 211"/>
                  <a:gd name="T55" fmla="*/ 89 h 92"/>
                  <a:gd name="T56" fmla="*/ 34 w 211"/>
                  <a:gd name="T57" fmla="*/ 87 h 92"/>
                  <a:gd name="T58" fmla="*/ 50 w 211"/>
                  <a:gd name="T59" fmla="*/ 82 h 92"/>
                  <a:gd name="T60" fmla="*/ 68 w 211"/>
                  <a:gd name="T61" fmla="*/ 76 h 92"/>
                  <a:gd name="T62" fmla="*/ 88 w 211"/>
                  <a:gd name="T63" fmla="*/ 69 h 92"/>
                  <a:gd name="T64" fmla="*/ 109 w 211"/>
                  <a:gd name="T65" fmla="*/ 61 h 92"/>
                  <a:gd name="T66" fmla="*/ 130 w 211"/>
                  <a:gd name="T67" fmla="*/ 53 h 92"/>
                  <a:gd name="T68" fmla="*/ 149 w 211"/>
                  <a:gd name="T69" fmla="*/ 43 h 92"/>
                  <a:gd name="T70" fmla="*/ 167 w 211"/>
                  <a:gd name="T71" fmla="*/ 35 h 92"/>
                  <a:gd name="T72" fmla="*/ 182 w 211"/>
                  <a:gd name="T73" fmla="*/ 27 h 92"/>
                  <a:gd name="T74" fmla="*/ 194 w 211"/>
                  <a:gd name="T75" fmla="*/ 18 h 92"/>
                  <a:gd name="T76" fmla="*/ 202 w 211"/>
                  <a:gd name="T77" fmla="*/ 13 h 92"/>
                  <a:gd name="T78" fmla="*/ 208 w 211"/>
                  <a:gd name="T79" fmla="*/ 7 h 92"/>
                  <a:gd name="T80" fmla="*/ 210 w 211"/>
                  <a:gd name="T81" fmla="*/ 3 h 92"/>
                  <a:gd name="T82" fmla="*/ 210 w 211"/>
                  <a:gd name="T83" fmla="*/ 2 h 92"/>
                  <a:gd name="T84" fmla="*/ 210 w 211"/>
                  <a:gd name="T85" fmla="*/ 2 h 92"/>
                  <a:gd name="T86" fmla="*/ 208 w 211"/>
                  <a:gd name="T87" fmla="*/ 2 h 92"/>
                  <a:gd name="T88" fmla="*/ 208 w 211"/>
                  <a:gd name="T89" fmla="*/ 1 h 92"/>
                  <a:gd name="T90" fmla="*/ 208 w 211"/>
                  <a:gd name="T91" fmla="*/ 1 h 92"/>
                  <a:gd name="T92" fmla="*/ 207 w 211"/>
                  <a:gd name="T93" fmla="*/ 1 h 92"/>
                  <a:gd name="T94" fmla="*/ 207 w 211"/>
                  <a:gd name="T95" fmla="*/ 1 h 92"/>
                  <a:gd name="T96" fmla="*/ 206 w 211"/>
                  <a:gd name="T97" fmla="*/ 0 h 9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211" h="92">
                    <a:moveTo>
                      <a:pt x="206" y="0"/>
                    </a:moveTo>
                    <a:lnTo>
                      <a:pt x="202" y="4"/>
                    </a:lnTo>
                    <a:lnTo>
                      <a:pt x="197" y="10"/>
                    </a:lnTo>
                    <a:lnTo>
                      <a:pt x="187" y="17"/>
                    </a:lnTo>
                    <a:lnTo>
                      <a:pt x="174" y="24"/>
                    </a:lnTo>
                    <a:lnTo>
                      <a:pt x="160" y="31"/>
                    </a:lnTo>
                    <a:lnTo>
                      <a:pt x="143" y="40"/>
                    </a:lnTo>
                    <a:lnTo>
                      <a:pt x="126" y="48"/>
                    </a:lnTo>
                    <a:lnTo>
                      <a:pt x="106" y="56"/>
                    </a:lnTo>
                    <a:lnTo>
                      <a:pt x="88" y="63"/>
                    </a:lnTo>
                    <a:lnTo>
                      <a:pt x="70" y="70"/>
                    </a:lnTo>
                    <a:lnTo>
                      <a:pt x="54" y="75"/>
                    </a:lnTo>
                    <a:lnTo>
                      <a:pt x="38" y="80"/>
                    </a:lnTo>
                    <a:lnTo>
                      <a:pt x="25" y="83"/>
                    </a:lnTo>
                    <a:lnTo>
                      <a:pt x="15" y="85"/>
                    </a:lnTo>
                    <a:lnTo>
                      <a:pt x="7" y="86"/>
                    </a:lnTo>
                    <a:lnTo>
                      <a:pt x="1" y="86"/>
                    </a:lnTo>
                    <a:lnTo>
                      <a:pt x="0" y="86"/>
                    </a:lnTo>
                    <a:lnTo>
                      <a:pt x="0" y="87"/>
                    </a:lnTo>
                    <a:lnTo>
                      <a:pt x="3" y="89"/>
                    </a:lnTo>
                    <a:lnTo>
                      <a:pt x="10" y="91"/>
                    </a:lnTo>
                    <a:lnTo>
                      <a:pt x="21" y="89"/>
                    </a:lnTo>
                    <a:lnTo>
                      <a:pt x="34" y="87"/>
                    </a:lnTo>
                    <a:lnTo>
                      <a:pt x="50" y="82"/>
                    </a:lnTo>
                    <a:lnTo>
                      <a:pt x="68" y="76"/>
                    </a:lnTo>
                    <a:lnTo>
                      <a:pt x="88" y="69"/>
                    </a:lnTo>
                    <a:lnTo>
                      <a:pt x="109" y="61"/>
                    </a:lnTo>
                    <a:lnTo>
                      <a:pt x="130" y="53"/>
                    </a:lnTo>
                    <a:lnTo>
                      <a:pt x="149" y="43"/>
                    </a:lnTo>
                    <a:lnTo>
                      <a:pt x="167" y="35"/>
                    </a:lnTo>
                    <a:lnTo>
                      <a:pt x="182" y="27"/>
                    </a:lnTo>
                    <a:lnTo>
                      <a:pt x="194" y="18"/>
                    </a:lnTo>
                    <a:lnTo>
                      <a:pt x="202" y="13"/>
                    </a:lnTo>
                    <a:lnTo>
                      <a:pt x="208" y="7"/>
                    </a:lnTo>
                    <a:lnTo>
                      <a:pt x="210" y="3"/>
                    </a:lnTo>
                    <a:lnTo>
                      <a:pt x="210" y="2"/>
                    </a:lnTo>
                    <a:lnTo>
                      <a:pt x="208" y="2"/>
                    </a:lnTo>
                    <a:lnTo>
                      <a:pt x="208" y="1"/>
                    </a:lnTo>
                    <a:lnTo>
                      <a:pt x="207" y="1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7F7F7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" name="Freeform 64">
                <a:extLst>
                  <a:ext uri="{FF2B5EF4-FFF2-40B4-BE49-F238E27FC236}">
                    <a16:creationId xmlns:a16="http://schemas.microsoft.com/office/drawing/2014/main" id="{A4592E72-5DE6-321F-CF2C-293131125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892"/>
                <a:ext cx="457" cy="570"/>
              </a:xfrm>
              <a:custGeom>
                <a:avLst/>
                <a:gdLst>
                  <a:gd name="T0" fmla="*/ 451 w 457"/>
                  <a:gd name="T1" fmla="*/ 151 h 570"/>
                  <a:gd name="T2" fmla="*/ 417 w 457"/>
                  <a:gd name="T3" fmla="*/ 75 h 570"/>
                  <a:gd name="T4" fmla="*/ 355 w 457"/>
                  <a:gd name="T5" fmla="*/ 22 h 570"/>
                  <a:gd name="T6" fmla="*/ 274 w 457"/>
                  <a:gd name="T7" fmla="*/ 0 h 570"/>
                  <a:gd name="T8" fmla="*/ 181 w 457"/>
                  <a:gd name="T9" fmla="*/ 12 h 570"/>
                  <a:gd name="T10" fmla="*/ 100 w 457"/>
                  <a:gd name="T11" fmla="*/ 58 h 570"/>
                  <a:gd name="T12" fmla="*/ 38 w 457"/>
                  <a:gd name="T13" fmla="*/ 129 h 570"/>
                  <a:gd name="T14" fmla="*/ 4 w 457"/>
                  <a:gd name="T15" fmla="*/ 216 h 570"/>
                  <a:gd name="T16" fmla="*/ 1 w 457"/>
                  <a:gd name="T17" fmla="*/ 289 h 570"/>
                  <a:gd name="T18" fmla="*/ 14 w 457"/>
                  <a:gd name="T19" fmla="*/ 340 h 570"/>
                  <a:gd name="T20" fmla="*/ 37 w 457"/>
                  <a:gd name="T21" fmla="*/ 382 h 570"/>
                  <a:gd name="T22" fmla="*/ 70 w 457"/>
                  <a:gd name="T23" fmla="*/ 417 h 570"/>
                  <a:gd name="T24" fmla="*/ 89 w 457"/>
                  <a:gd name="T25" fmla="*/ 431 h 570"/>
                  <a:gd name="T26" fmla="*/ 89 w 457"/>
                  <a:gd name="T27" fmla="*/ 432 h 570"/>
                  <a:gd name="T28" fmla="*/ 93 w 457"/>
                  <a:gd name="T29" fmla="*/ 434 h 570"/>
                  <a:gd name="T30" fmla="*/ 100 w 457"/>
                  <a:gd name="T31" fmla="*/ 441 h 570"/>
                  <a:gd name="T32" fmla="*/ 114 w 457"/>
                  <a:gd name="T33" fmla="*/ 454 h 570"/>
                  <a:gd name="T34" fmla="*/ 120 w 457"/>
                  <a:gd name="T35" fmla="*/ 460 h 570"/>
                  <a:gd name="T36" fmla="*/ 124 w 457"/>
                  <a:gd name="T37" fmla="*/ 467 h 570"/>
                  <a:gd name="T38" fmla="*/ 128 w 457"/>
                  <a:gd name="T39" fmla="*/ 474 h 570"/>
                  <a:gd name="T40" fmla="*/ 129 w 457"/>
                  <a:gd name="T41" fmla="*/ 481 h 570"/>
                  <a:gd name="T42" fmla="*/ 130 w 457"/>
                  <a:gd name="T43" fmla="*/ 552 h 570"/>
                  <a:gd name="T44" fmla="*/ 130 w 457"/>
                  <a:gd name="T45" fmla="*/ 557 h 570"/>
                  <a:gd name="T46" fmla="*/ 131 w 457"/>
                  <a:gd name="T47" fmla="*/ 560 h 570"/>
                  <a:gd name="T48" fmla="*/ 131 w 457"/>
                  <a:gd name="T49" fmla="*/ 564 h 570"/>
                  <a:gd name="T50" fmla="*/ 133 w 457"/>
                  <a:gd name="T51" fmla="*/ 567 h 570"/>
                  <a:gd name="T52" fmla="*/ 149 w 457"/>
                  <a:gd name="T53" fmla="*/ 569 h 570"/>
                  <a:gd name="T54" fmla="*/ 172 w 457"/>
                  <a:gd name="T55" fmla="*/ 569 h 570"/>
                  <a:gd name="T56" fmla="*/ 197 w 457"/>
                  <a:gd name="T57" fmla="*/ 566 h 570"/>
                  <a:gd name="T58" fmla="*/ 227 w 457"/>
                  <a:gd name="T59" fmla="*/ 563 h 570"/>
                  <a:gd name="T60" fmla="*/ 256 w 457"/>
                  <a:gd name="T61" fmla="*/ 558 h 570"/>
                  <a:gd name="T62" fmla="*/ 283 w 457"/>
                  <a:gd name="T63" fmla="*/ 552 h 570"/>
                  <a:gd name="T64" fmla="*/ 306 w 457"/>
                  <a:gd name="T65" fmla="*/ 546 h 570"/>
                  <a:gd name="T66" fmla="*/ 322 w 457"/>
                  <a:gd name="T67" fmla="*/ 540 h 570"/>
                  <a:gd name="T68" fmla="*/ 324 w 457"/>
                  <a:gd name="T69" fmla="*/ 537 h 570"/>
                  <a:gd name="T70" fmla="*/ 324 w 457"/>
                  <a:gd name="T71" fmla="*/ 532 h 570"/>
                  <a:gd name="T72" fmla="*/ 325 w 457"/>
                  <a:gd name="T73" fmla="*/ 528 h 570"/>
                  <a:gd name="T74" fmla="*/ 325 w 457"/>
                  <a:gd name="T75" fmla="*/ 524 h 570"/>
                  <a:gd name="T76" fmla="*/ 325 w 457"/>
                  <a:gd name="T77" fmla="*/ 453 h 570"/>
                  <a:gd name="T78" fmla="*/ 327 w 457"/>
                  <a:gd name="T79" fmla="*/ 446 h 570"/>
                  <a:gd name="T80" fmla="*/ 331 w 457"/>
                  <a:gd name="T81" fmla="*/ 438 h 570"/>
                  <a:gd name="T82" fmla="*/ 335 w 457"/>
                  <a:gd name="T83" fmla="*/ 429 h 570"/>
                  <a:gd name="T84" fmla="*/ 341 w 457"/>
                  <a:gd name="T85" fmla="*/ 421 h 570"/>
                  <a:gd name="T86" fmla="*/ 355 w 457"/>
                  <a:gd name="T87" fmla="*/ 404 h 570"/>
                  <a:gd name="T88" fmla="*/ 362 w 457"/>
                  <a:gd name="T89" fmla="*/ 395 h 570"/>
                  <a:gd name="T90" fmla="*/ 366 w 457"/>
                  <a:gd name="T91" fmla="*/ 392 h 570"/>
                  <a:gd name="T92" fmla="*/ 366 w 457"/>
                  <a:gd name="T93" fmla="*/ 391 h 570"/>
                  <a:gd name="T94" fmla="*/ 385 w 457"/>
                  <a:gd name="T95" fmla="*/ 372 h 570"/>
                  <a:gd name="T96" fmla="*/ 418 w 457"/>
                  <a:gd name="T97" fmla="*/ 327 h 570"/>
                  <a:gd name="T98" fmla="*/ 441 w 457"/>
                  <a:gd name="T99" fmla="*/ 278 h 570"/>
                  <a:gd name="T100" fmla="*/ 454 w 457"/>
                  <a:gd name="T101" fmla="*/ 225 h 57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457" h="570">
                    <a:moveTo>
                      <a:pt x="456" y="196"/>
                    </a:moveTo>
                    <a:lnTo>
                      <a:pt x="451" y="151"/>
                    </a:lnTo>
                    <a:lnTo>
                      <a:pt x="438" y="110"/>
                    </a:lnTo>
                    <a:lnTo>
                      <a:pt x="417" y="75"/>
                    </a:lnTo>
                    <a:lnTo>
                      <a:pt x="388" y="45"/>
                    </a:lnTo>
                    <a:lnTo>
                      <a:pt x="355" y="22"/>
                    </a:lnTo>
                    <a:lnTo>
                      <a:pt x="316" y="7"/>
                    </a:lnTo>
                    <a:lnTo>
                      <a:pt x="274" y="0"/>
                    </a:lnTo>
                    <a:lnTo>
                      <a:pt x="227" y="2"/>
                    </a:lnTo>
                    <a:lnTo>
                      <a:pt x="181" y="12"/>
                    </a:lnTo>
                    <a:lnTo>
                      <a:pt x="139" y="32"/>
                    </a:lnTo>
                    <a:lnTo>
                      <a:pt x="100" y="58"/>
                    </a:lnTo>
                    <a:lnTo>
                      <a:pt x="65" y="91"/>
                    </a:lnTo>
                    <a:lnTo>
                      <a:pt x="38" y="129"/>
                    </a:lnTo>
                    <a:lnTo>
                      <a:pt x="17" y="171"/>
                    </a:lnTo>
                    <a:lnTo>
                      <a:pt x="4" y="216"/>
                    </a:lnTo>
                    <a:lnTo>
                      <a:pt x="0" y="262"/>
                    </a:lnTo>
                    <a:lnTo>
                      <a:pt x="1" y="289"/>
                    </a:lnTo>
                    <a:lnTo>
                      <a:pt x="5" y="315"/>
                    </a:lnTo>
                    <a:lnTo>
                      <a:pt x="14" y="340"/>
                    </a:lnTo>
                    <a:lnTo>
                      <a:pt x="24" y="362"/>
                    </a:lnTo>
                    <a:lnTo>
                      <a:pt x="37" y="382"/>
                    </a:lnTo>
                    <a:lnTo>
                      <a:pt x="53" y="401"/>
                    </a:lnTo>
                    <a:lnTo>
                      <a:pt x="70" y="417"/>
                    </a:lnTo>
                    <a:lnTo>
                      <a:pt x="90" y="431"/>
                    </a:lnTo>
                    <a:lnTo>
                      <a:pt x="89" y="431"/>
                    </a:lnTo>
                    <a:lnTo>
                      <a:pt x="89" y="432"/>
                    </a:lnTo>
                    <a:lnTo>
                      <a:pt x="90" y="432"/>
                    </a:lnTo>
                    <a:lnTo>
                      <a:pt x="93" y="434"/>
                    </a:lnTo>
                    <a:lnTo>
                      <a:pt x="95" y="437"/>
                    </a:lnTo>
                    <a:lnTo>
                      <a:pt x="100" y="441"/>
                    </a:lnTo>
                    <a:lnTo>
                      <a:pt x="106" y="446"/>
                    </a:lnTo>
                    <a:lnTo>
                      <a:pt x="114" y="454"/>
                    </a:lnTo>
                    <a:lnTo>
                      <a:pt x="116" y="458"/>
                    </a:lnTo>
                    <a:lnTo>
                      <a:pt x="120" y="460"/>
                    </a:lnTo>
                    <a:lnTo>
                      <a:pt x="122" y="464"/>
                    </a:lnTo>
                    <a:lnTo>
                      <a:pt x="124" y="467"/>
                    </a:lnTo>
                    <a:lnTo>
                      <a:pt x="126" y="471"/>
                    </a:lnTo>
                    <a:lnTo>
                      <a:pt x="128" y="474"/>
                    </a:lnTo>
                    <a:lnTo>
                      <a:pt x="129" y="478"/>
                    </a:lnTo>
                    <a:lnTo>
                      <a:pt x="129" y="481"/>
                    </a:lnTo>
                    <a:lnTo>
                      <a:pt x="129" y="552"/>
                    </a:lnTo>
                    <a:lnTo>
                      <a:pt x="130" y="552"/>
                    </a:lnTo>
                    <a:lnTo>
                      <a:pt x="130" y="554"/>
                    </a:lnTo>
                    <a:lnTo>
                      <a:pt x="130" y="557"/>
                    </a:lnTo>
                    <a:lnTo>
                      <a:pt x="130" y="558"/>
                    </a:lnTo>
                    <a:lnTo>
                      <a:pt x="131" y="560"/>
                    </a:lnTo>
                    <a:lnTo>
                      <a:pt x="131" y="561"/>
                    </a:lnTo>
                    <a:lnTo>
                      <a:pt x="131" y="564"/>
                    </a:lnTo>
                    <a:lnTo>
                      <a:pt x="133" y="566"/>
                    </a:lnTo>
                    <a:lnTo>
                      <a:pt x="133" y="567"/>
                    </a:lnTo>
                    <a:lnTo>
                      <a:pt x="141" y="569"/>
                    </a:lnTo>
                    <a:lnTo>
                      <a:pt x="149" y="569"/>
                    </a:lnTo>
                    <a:lnTo>
                      <a:pt x="160" y="569"/>
                    </a:lnTo>
                    <a:lnTo>
                      <a:pt x="172" y="569"/>
                    </a:lnTo>
                    <a:lnTo>
                      <a:pt x="184" y="567"/>
                    </a:lnTo>
                    <a:lnTo>
                      <a:pt x="197" y="566"/>
                    </a:lnTo>
                    <a:lnTo>
                      <a:pt x="213" y="565"/>
                    </a:lnTo>
                    <a:lnTo>
                      <a:pt x="227" y="563"/>
                    </a:lnTo>
                    <a:lnTo>
                      <a:pt x="242" y="560"/>
                    </a:lnTo>
                    <a:lnTo>
                      <a:pt x="256" y="558"/>
                    </a:lnTo>
                    <a:lnTo>
                      <a:pt x="271" y="554"/>
                    </a:lnTo>
                    <a:lnTo>
                      <a:pt x="283" y="552"/>
                    </a:lnTo>
                    <a:lnTo>
                      <a:pt x="295" y="550"/>
                    </a:lnTo>
                    <a:lnTo>
                      <a:pt x="306" y="546"/>
                    </a:lnTo>
                    <a:lnTo>
                      <a:pt x="314" y="543"/>
                    </a:lnTo>
                    <a:lnTo>
                      <a:pt x="322" y="540"/>
                    </a:lnTo>
                    <a:lnTo>
                      <a:pt x="322" y="538"/>
                    </a:lnTo>
                    <a:lnTo>
                      <a:pt x="324" y="537"/>
                    </a:lnTo>
                    <a:lnTo>
                      <a:pt x="324" y="534"/>
                    </a:lnTo>
                    <a:lnTo>
                      <a:pt x="324" y="532"/>
                    </a:lnTo>
                    <a:lnTo>
                      <a:pt x="325" y="530"/>
                    </a:lnTo>
                    <a:lnTo>
                      <a:pt x="325" y="528"/>
                    </a:lnTo>
                    <a:lnTo>
                      <a:pt x="325" y="526"/>
                    </a:lnTo>
                    <a:lnTo>
                      <a:pt x="325" y="524"/>
                    </a:lnTo>
                    <a:lnTo>
                      <a:pt x="325" y="453"/>
                    </a:lnTo>
                    <a:lnTo>
                      <a:pt x="326" y="450"/>
                    </a:lnTo>
                    <a:lnTo>
                      <a:pt x="327" y="446"/>
                    </a:lnTo>
                    <a:lnTo>
                      <a:pt x="328" y="441"/>
                    </a:lnTo>
                    <a:lnTo>
                      <a:pt x="331" y="438"/>
                    </a:lnTo>
                    <a:lnTo>
                      <a:pt x="333" y="434"/>
                    </a:lnTo>
                    <a:lnTo>
                      <a:pt x="335" y="429"/>
                    </a:lnTo>
                    <a:lnTo>
                      <a:pt x="338" y="425"/>
                    </a:lnTo>
                    <a:lnTo>
                      <a:pt x="341" y="421"/>
                    </a:lnTo>
                    <a:lnTo>
                      <a:pt x="349" y="411"/>
                    </a:lnTo>
                    <a:lnTo>
                      <a:pt x="355" y="404"/>
                    </a:lnTo>
                    <a:lnTo>
                      <a:pt x="360" y="399"/>
                    </a:lnTo>
                    <a:lnTo>
                      <a:pt x="362" y="395"/>
                    </a:lnTo>
                    <a:lnTo>
                      <a:pt x="365" y="393"/>
                    </a:lnTo>
                    <a:lnTo>
                      <a:pt x="366" y="392"/>
                    </a:lnTo>
                    <a:lnTo>
                      <a:pt x="366" y="391"/>
                    </a:lnTo>
                    <a:lnTo>
                      <a:pt x="365" y="391"/>
                    </a:lnTo>
                    <a:lnTo>
                      <a:pt x="385" y="372"/>
                    </a:lnTo>
                    <a:lnTo>
                      <a:pt x="402" y="351"/>
                    </a:lnTo>
                    <a:lnTo>
                      <a:pt x="418" y="327"/>
                    </a:lnTo>
                    <a:lnTo>
                      <a:pt x="431" y="303"/>
                    </a:lnTo>
                    <a:lnTo>
                      <a:pt x="441" y="278"/>
                    </a:lnTo>
                    <a:lnTo>
                      <a:pt x="450" y="252"/>
                    </a:lnTo>
                    <a:lnTo>
                      <a:pt x="454" y="225"/>
                    </a:lnTo>
                    <a:lnTo>
                      <a:pt x="456" y="196"/>
                    </a:lnTo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5" name="Freeform 65">
                <a:extLst>
                  <a:ext uri="{FF2B5EF4-FFF2-40B4-BE49-F238E27FC236}">
                    <a16:creationId xmlns:a16="http://schemas.microsoft.com/office/drawing/2014/main" id="{12D7251D-EB40-2077-730D-7F8FD8CD5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" y="928"/>
                <a:ext cx="233" cy="370"/>
              </a:xfrm>
              <a:custGeom>
                <a:avLst/>
                <a:gdLst>
                  <a:gd name="T0" fmla="*/ 41 w 233"/>
                  <a:gd name="T1" fmla="*/ 259 h 370"/>
                  <a:gd name="T2" fmla="*/ 44 w 233"/>
                  <a:gd name="T3" fmla="*/ 216 h 370"/>
                  <a:gd name="T4" fmla="*/ 56 w 233"/>
                  <a:gd name="T5" fmla="*/ 172 h 370"/>
                  <a:gd name="T6" fmla="*/ 73 w 233"/>
                  <a:gd name="T7" fmla="*/ 132 h 370"/>
                  <a:gd name="T8" fmla="*/ 97 w 233"/>
                  <a:gd name="T9" fmla="*/ 96 h 370"/>
                  <a:gd name="T10" fmla="*/ 124 w 233"/>
                  <a:gd name="T11" fmla="*/ 63 h 370"/>
                  <a:gd name="T12" fmla="*/ 157 w 233"/>
                  <a:gd name="T13" fmla="*/ 36 h 370"/>
                  <a:gd name="T14" fmla="*/ 192 w 233"/>
                  <a:gd name="T15" fmla="*/ 15 h 370"/>
                  <a:gd name="T16" fmla="*/ 232 w 233"/>
                  <a:gd name="T17" fmla="*/ 0 h 370"/>
                  <a:gd name="T18" fmla="*/ 228 w 233"/>
                  <a:gd name="T19" fmla="*/ 0 h 370"/>
                  <a:gd name="T20" fmla="*/ 224 w 233"/>
                  <a:gd name="T21" fmla="*/ 0 h 370"/>
                  <a:gd name="T22" fmla="*/ 220 w 233"/>
                  <a:gd name="T23" fmla="*/ 0 h 370"/>
                  <a:gd name="T24" fmla="*/ 216 w 233"/>
                  <a:gd name="T25" fmla="*/ 1 h 370"/>
                  <a:gd name="T26" fmla="*/ 213 w 233"/>
                  <a:gd name="T27" fmla="*/ 1 h 370"/>
                  <a:gd name="T28" fmla="*/ 208 w 233"/>
                  <a:gd name="T29" fmla="*/ 1 h 370"/>
                  <a:gd name="T30" fmla="*/ 204 w 233"/>
                  <a:gd name="T31" fmla="*/ 2 h 370"/>
                  <a:gd name="T32" fmla="*/ 200 w 233"/>
                  <a:gd name="T33" fmla="*/ 2 h 370"/>
                  <a:gd name="T34" fmla="*/ 159 w 233"/>
                  <a:gd name="T35" fmla="*/ 11 h 370"/>
                  <a:gd name="T36" fmla="*/ 123 w 233"/>
                  <a:gd name="T37" fmla="*/ 29 h 370"/>
                  <a:gd name="T38" fmla="*/ 88 w 233"/>
                  <a:gd name="T39" fmla="*/ 51 h 370"/>
                  <a:gd name="T40" fmla="*/ 59 w 233"/>
                  <a:gd name="T41" fmla="*/ 81 h 370"/>
                  <a:gd name="T42" fmla="*/ 34 w 233"/>
                  <a:gd name="T43" fmla="*/ 113 h 370"/>
                  <a:gd name="T44" fmla="*/ 16 w 233"/>
                  <a:gd name="T45" fmla="*/ 150 h 370"/>
                  <a:gd name="T46" fmla="*/ 4 w 233"/>
                  <a:gd name="T47" fmla="*/ 189 h 370"/>
                  <a:gd name="T48" fmla="*/ 0 w 233"/>
                  <a:gd name="T49" fmla="*/ 229 h 370"/>
                  <a:gd name="T50" fmla="*/ 1 w 233"/>
                  <a:gd name="T51" fmla="*/ 251 h 370"/>
                  <a:gd name="T52" fmla="*/ 4 w 233"/>
                  <a:gd name="T53" fmla="*/ 271 h 370"/>
                  <a:gd name="T54" fmla="*/ 10 w 233"/>
                  <a:gd name="T55" fmla="*/ 291 h 370"/>
                  <a:gd name="T56" fmla="*/ 18 w 233"/>
                  <a:gd name="T57" fmla="*/ 310 h 370"/>
                  <a:gd name="T58" fmla="*/ 28 w 233"/>
                  <a:gd name="T59" fmla="*/ 326 h 370"/>
                  <a:gd name="T60" fmla="*/ 40 w 233"/>
                  <a:gd name="T61" fmla="*/ 341 h 370"/>
                  <a:gd name="T62" fmla="*/ 53 w 233"/>
                  <a:gd name="T63" fmla="*/ 356 h 370"/>
                  <a:gd name="T64" fmla="*/ 68 w 233"/>
                  <a:gd name="T65" fmla="*/ 369 h 370"/>
                  <a:gd name="T66" fmla="*/ 62 w 233"/>
                  <a:gd name="T67" fmla="*/ 357 h 370"/>
                  <a:gd name="T68" fmla="*/ 56 w 233"/>
                  <a:gd name="T69" fmla="*/ 344 h 370"/>
                  <a:gd name="T70" fmla="*/ 52 w 233"/>
                  <a:gd name="T71" fmla="*/ 331 h 370"/>
                  <a:gd name="T72" fmla="*/ 48 w 233"/>
                  <a:gd name="T73" fmla="*/ 318 h 370"/>
                  <a:gd name="T74" fmla="*/ 44 w 233"/>
                  <a:gd name="T75" fmla="*/ 304 h 370"/>
                  <a:gd name="T76" fmla="*/ 43 w 233"/>
                  <a:gd name="T77" fmla="*/ 290 h 370"/>
                  <a:gd name="T78" fmla="*/ 42 w 233"/>
                  <a:gd name="T79" fmla="*/ 274 h 370"/>
                  <a:gd name="T80" fmla="*/ 41 w 233"/>
                  <a:gd name="T81" fmla="*/ 259 h 37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33" h="370">
                    <a:moveTo>
                      <a:pt x="41" y="259"/>
                    </a:moveTo>
                    <a:lnTo>
                      <a:pt x="44" y="216"/>
                    </a:lnTo>
                    <a:lnTo>
                      <a:pt x="56" y="172"/>
                    </a:lnTo>
                    <a:lnTo>
                      <a:pt x="73" y="132"/>
                    </a:lnTo>
                    <a:lnTo>
                      <a:pt x="97" y="96"/>
                    </a:lnTo>
                    <a:lnTo>
                      <a:pt x="124" y="63"/>
                    </a:lnTo>
                    <a:lnTo>
                      <a:pt x="157" y="36"/>
                    </a:lnTo>
                    <a:lnTo>
                      <a:pt x="192" y="15"/>
                    </a:lnTo>
                    <a:lnTo>
                      <a:pt x="232" y="0"/>
                    </a:lnTo>
                    <a:lnTo>
                      <a:pt x="228" y="0"/>
                    </a:lnTo>
                    <a:lnTo>
                      <a:pt x="224" y="0"/>
                    </a:lnTo>
                    <a:lnTo>
                      <a:pt x="220" y="0"/>
                    </a:lnTo>
                    <a:lnTo>
                      <a:pt x="216" y="1"/>
                    </a:lnTo>
                    <a:lnTo>
                      <a:pt x="213" y="1"/>
                    </a:lnTo>
                    <a:lnTo>
                      <a:pt x="208" y="1"/>
                    </a:lnTo>
                    <a:lnTo>
                      <a:pt x="204" y="2"/>
                    </a:lnTo>
                    <a:lnTo>
                      <a:pt x="200" y="2"/>
                    </a:lnTo>
                    <a:lnTo>
                      <a:pt x="159" y="11"/>
                    </a:lnTo>
                    <a:lnTo>
                      <a:pt x="123" y="29"/>
                    </a:lnTo>
                    <a:lnTo>
                      <a:pt x="88" y="51"/>
                    </a:lnTo>
                    <a:lnTo>
                      <a:pt x="59" y="81"/>
                    </a:lnTo>
                    <a:lnTo>
                      <a:pt x="34" y="113"/>
                    </a:lnTo>
                    <a:lnTo>
                      <a:pt x="16" y="150"/>
                    </a:lnTo>
                    <a:lnTo>
                      <a:pt x="4" y="189"/>
                    </a:lnTo>
                    <a:lnTo>
                      <a:pt x="0" y="229"/>
                    </a:lnTo>
                    <a:lnTo>
                      <a:pt x="1" y="251"/>
                    </a:lnTo>
                    <a:lnTo>
                      <a:pt x="4" y="271"/>
                    </a:lnTo>
                    <a:lnTo>
                      <a:pt x="10" y="291"/>
                    </a:lnTo>
                    <a:lnTo>
                      <a:pt x="18" y="310"/>
                    </a:lnTo>
                    <a:lnTo>
                      <a:pt x="28" y="326"/>
                    </a:lnTo>
                    <a:lnTo>
                      <a:pt x="40" y="341"/>
                    </a:lnTo>
                    <a:lnTo>
                      <a:pt x="53" y="356"/>
                    </a:lnTo>
                    <a:lnTo>
                      <a:pt x="68" y="369"/>
                    </a:lnTo>
                    <a:lnTo>
                      <a:pt x="62" y="357"/>
                    </a:lnTo>
                    <a:lnTo>
                      <a:pt x="56" y="344"/>
                    </a:lnTo>
                    <a:lnTo>
                      <a:pt x="52" y="331"/>
                    </a:lnTo>
                    <a:lnTo>
                      <a:pt x="48" y="318"/>
                    </a:lnTo>
                    <a:lnTo>
                      <a:pt x="44" y="304"/>
                    </a:lnTo>
                    <a:lnTo>
                      <a:pt x="43" y="290"/>
                    </a:lnTo>
                    <a:lnTo>
                      <a:pt x="42" y="274"/>
                    </a:lnTo>
                    <a:lnTo>
                      <a:pt x="41" y="2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6" name="Freeform 66">
                <a:extLst>
                  <a:ext uri="{FF2B5EF4-FFF2-40B4-BE49-F238E27FC236}">
                    <a16:creationId xmlns:a16="http://schemas.microsoft.com/office/drawing/2014/main" id="{356862C6-A3EE-5596-CA87-5EF7B74C6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1374"/>
                <a:ext cx="52" cy="72"/>
              </a:xfrm>
              <a:custGeom>
                <a:avLst/>
                <a:gdLst>
                  <a:gd name="T0" fmla="*/ 21 w 52"/>
                  <a:gd name="T1" fmla="*/ 62 h 72"/>
                  <a:gd name="T2" fmla="*/ 14 w 52"/>
                  <a:gd name="T3" fmla="*/ 53 h 72"/>
                  <a:gd name="T4" fmla="*/ 9 w 52"/>
                  <a:gd name="T5" fmla="*/ 43 h 72"/>
                  <a:gd name="T6" fmla="*/ 5 w 52"/>
                  <a:gd name="T7" fmla="*/ 33 h 72"/>
                  <a:gd name="T8" fmla="*/ 4 w 52"/>
                  <a:gd name="T9" fmla="*/ 23 h 72"/>
                  <a:gd name="T10" fmla="*/ 3 w 52"/>
                  <a:gd name="T11" fmla="*/ 15 h 72"/>
                  <a:gd name="T12" fmla="*/ 2 w 52"/>
                  <a:gd name="T13" fmla="*/ 8 h 72"/>
                  <a:gd name="T14" fmla="*/ 1 w 52"/>
                  <a:gd name="T15" fmla="*/ 2 h 72"/>
                  <a:gd name="T16" fmla="*/ 0 w 52"/>
                  <a:gd name="T17" fmla="*/ 0 h 72"/>
                  <a:gd name="T18" fmla="*/ 0 w 52"/>
                  <a:gd name="T19" fmla="*/ 57 h 72"/>
                  <a:gd name="T20" fmla="*/ 1 w 52"/>
                  <a:gd name="T21" fmla="*/ 55 h 72"/>
                  <a:gd name="T22" fmla="*/ 1 w 52"/>
                  <a:gd name="T23" fmla="*/ 58 h 72"/>
                  <a:gd name="T24" fmla="*/ 1 w 52"/>
                  <a:gd name="T25" fmla="*/ 59 h 72"/>
                  <a:gd name="T26" fmla="*/ 1 w 52"/>
                  <a:gd name="T27" fmla="*/ 61 h 72"/>
                  <a:gd name="T28" fmla="*/ 2 w 52"/>
                  <a:gd name="T29" fmla="*/ 62 h 72"/>
                  <a:gd name="T30" fmla="*/ 2 w 52"/>
                  <a:gd name="T31" fmla="*/ 65 h 72"/>
                  <a:gd name="T32" fmla="*/ 2 w 52"/>
                  <a:gd name="T33" fmla="*/ 66 h 72"/>
                  <a:gd name="T34" fmla="*/ 2 w 52"/>
                  <a:gd name="T35" fmla="*/ 67 h 72"/>
                  <a:gd name="T36" fmla="*/ 3 w 52"/>
                  <a:gd name="T37" fmla="*/ 69 h 72"/>
                  <a:gd name="T38" fmla="*/ 7 w 52"/>
                  <a:gd name="T39" fmla="*/ 69 h 72"/>
                  <a:gd name="T40" fmla="*/ 11 w 52"/>
                  <a:gd name="T41" fmla="*/ 69 h 72"/>
                  <a:gd name="T42" fmla="*/ 17 w 52"/>
                  <a:gd name="T43" fmla="*/ 71 h 72"/>
                  <a:gd name="T44" fmla="*/ 23 w 52"/>
                  <a:gd name="T45" fmla="*/ 71 h 72"/>
                  <a:gd name="T46" fmla="*/ 29 w 52"/>
                  <a:gd name="T47" fmla="*/ 69 h 72"/>
                  <a:gd name="T48" fmla="*/ 36 w 52"/>
                  <a:gd name="T49" fmla="*/ 69 h 72"/>
                  <a:gd name="T50" fmla="*/ 43 w 52"/>
                  <a:gd name="T51" fmla="*/ 69 h 72"/>
                  <a:gd name="T52" fmla="*/ 51 w 52"/>
                  <a:gd name="T53" fmla="*/ 68 h 72"/>
                  <a:gd name="T54" fmla="*/ 49 w 52"/>
                  <a:gd name="T55" fmla="*/ 69 h 72"/>
                  <a:gd name="T56" fmla="*/ 47 w 52"/>
                  <a:gd name="T57" fmla="*/ 69 h 72"/>
                  <a:gd name="T58" fmla="*/ 43 w 52"/>
                  <a:gd name="T59" fmla="*/ 69 h 72"/>
                  <a:gd name="T60" fmla="*/ 39 w 52"/>
                  <a:gd name="T61" fmla="*/ 68 h 72"/>
                  <a:gd name="T62" fmla="*/ 34 w 52"/>
                  <a:gd name="T63" fmla="*/ 68 h 72"/>
                  <a:gd name="T64" fmla="*/ 29 w 52"/>
                  <a:gd name="T65" fmla="*/ 67 h 72"/>
                  <a:gd name="T66" fmla="*/ 24 w 52"/>
                  <a:gd name="T67" fmla="*/ 65 h 72"/>
                  <a:gd name="T68" fmla="*/ 21 w 52"/>
                  <a:gd name="T69" fmla="*/ 62 h 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2" h="72">
                    <a:moveTo>
                      <a:pt x="21" y="62"/>
                    </a:moveTo>
                    <a:lnTo>
                      <a:pt x="14" y="53"/>
                    </a:lnTo>
                    <a:lnTo>
                      <a:pt x="9" y="43"/>
                    </a:lnTo>
                    <a:lnTo>
                      <a:pt x="5" y="33"/>
                    </a:lnTo>
                    <a:lnTo>
                      <a:pt x="4" y="23"/>
                    </a:lnTo>
                    <a:lnTo>
                      <a:pt x="3" y="15"/>
                    </a:lnTo>
                    <a:lnTo>
                      <a:pt x="2" y="8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0" y="57"/>
                    </a:lnTo>
                    <a:lnTo>
                      <a:pt x="1" y="55"/>
                    </a:lnTo>
                    <a:lnTo>
                      <a:pt x="1" y="58"/>
                    </a:lnTo>
                    <a:lnTo>
                      <a:pt x="1" y="59"/>
                    </a:lnTo>
                    <a:lnTo>
                      <a:pt x="1" y="61"/>
                    </a:lnTo>
                    <a:lnTo>
                      <a:pt x="2" y="62"/>
                    </a:lnTo>
                    <a:lnTo>
                      <a:pt x="2" y="65"/>
                    </a:lnTo>
                    <a:lnTo>
                      <a:pt x="2" y="66"/>
                    </a:lnTo>
                    <a:lnTo>
                      <a:pt x="2" y="67"/>
                    </a:lnTo>
                    <a:lnTo>
                      <a:pt x="3" y="69"/>
                    </a:lnTo>
                    <a:lnTo>
                      <a:pt x="7" y="69"/>
                    </a:lnTo>
                    <a:lnTo>
                      <a:pt x="11" y="69"/>
                    </a:lnTo>
                    <a:lnTo>
                      <a:pt x="17" y="71"/>
                    </a:lnTo>
                    <a:lnTo>
                      <a:pt x="23" y="71"/>
                    </a:lnTo>
                    <a:lnTo>
                      <a:pt x="29" y="69"/>
                    </a:lnTo>
                    <a:lnTo>
                      <a:pt x="36" y="69"/>
                    </a:lnTo>
                    <a:lnTo>
                      <a:pt x="43" y="69"/>
                    </a:lnTo>
                    <a:lnTo>
                      <a:pt x="51" y="68"/>
                    </a:lnTo>
                    <a:lnTo>
                      <a:pt x="49" y="69"/>
                    </a:lnTo>
                    <a:lnTo>
                      <a:pt x="47" y="69"/>
                    </a:lnTo>
                    <a:lnTo>
                      <a:pt x="43" y="69"/>
                    </a:lnTo>
                    <a:lnTo>
                      <a:pt x="39" y="68"/>
                    </a:lnTo>
                    <a:lnTo>
                      <a:pt x="34" y="68"/>
                    </a:lnTo>
                    <a:lnTo>
                      <a:pt x="29" y="67"/>
                    </a:lnTo>
                    <a:lnTo>
                      <a:pt x="24" y="65"/>
                    </a:lnTo>
                    <a:lnTo>
                      <a:pt x="21" y="6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7" name="Freeform 67">
                <a:extLst>
                  <a:ext uri="{FF2B5EF4-FFF2-40B4-BE49-F238E27FC236}">
                    <a16:creationId xmlns:a16="http://schemas.microsoft.com/office/drawing/2014/main" id="{8DE63006-7A97-688B-2D50-9A191399A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1625"/>
                <a:ext cx="99" cy="32"/>
              </a:xfrm>
              <a:custGeom>
                <a:avLst/>
                <a:gdLst>
                  <a:gd name="T0" fmla="*/ 48 w 99"/>
                  <a:gd name="T1" fmla="*/ 9 h 32"/>
                  <a:gd name="T2" fmla="*/ 42 w 99"/>
                  <a:gd name="T3" fmla="*/ 10 h 32"/>
                  <a:gd name="T4" fmla="*/ 35 w 99"/>
                  <a:gd name="T5" fmla="*/ 11 h 32"/>
                  <a:gd name="T6" fmla="*/ 29 w 99"/>
                  <a:gd name="T7" fmla="*/ 13 h 32"/>
                  <a:gd name="T8" fmla="*/ 23 w 99"/>
                  <a:gd name="T9" fmla="*/ 13 h 32"/>
                  <a:gd name="T10" fmla="*/ 17 w 99"/>
                  <a:gd name="T11" fmla="*/ 14 h 32"/>
                  <a:gd name="T12" fmla="*/ 11 w 99"/>
                  <a:gd name="T13" fmla="*/ 14 h 32"/>
                  <a:gd name="T14" fmla="*/ 5 w 99"/>
                  <a:gd name="T15" fmla="*/ 14 h 32"/>
                  <a:gd name="T16" fmla="*/ 0 w 99"/>
                  <a:gd name="T17" fmla="*/ 14 h 32"/>
                  <a:gd name="T18" fmla="*/ 8 w 99"/>
                  <a:gd name="T19" fmla="*/ 19 h 32"/>
                  <a:gd name="T20" fmla="*/ 15 w 99"/>
                  <a:gd name="T21" fmla="*/ 22 h 32"/>
                  <a:gd name="T22" fmla="*/ 23 w 99"/>
                  <a:gd name="T23" fmla="*/ 25 h 32"/>
                  <a:gd name="T24" fmla="*/ 29 w 99"/>
                  <a:gd name="T25" fmla="*/ 27 h 32"/>
                  <a:gd name="T26" fmla="*/ 36 w 99"/>
                  <a:gd name="T27" fmla="*/ 29 h 32"/>
                  <a:gd name="T28" fmla="*/ 41 w 99"/>
                  <a:gd name="T29" fmla="*/ 31 h 32"/>
                  <a:gd name="T30" fmla="*/ 46 w 99"/>
                  <a:gd name="T31" fmla="*/ 31 h 32"/>
                  <a:gd name="T32" fmla="*/ 48 w 99"/>
                  <a:gd name="T33" fmla="*/ 31 h 32"/>
                  <a:gd name="T34" fmla="*/ 51 w 99"/>
                  <a:gd name="T35" fmla="*/ 29 h 32"/>
                  <a:gd name="T36" fmla="*/ 56 w 99"/>
                  <a:gd name="T37" fmla="*/ 28 h 32"/>
                  <a:gd name="T38" fmla="*/ 62 w 99"/>
                  <a:gd name="T39" fmla="*/ 25 h 32"/>
                  <a:gd name="T40" fmla="*/ 68 w 99"/>
                  <a:gd name="T41" fmla="*/ 21 h 32"/>
                  <a:gd name="T42" fmla="*/ 75 w 99"/>
                  <a:gd name="T43" fmla="*/ 17 h 32"/>
                  <a:gd name="T44" fmla="*/ 82 w 99"/>
                  <a:gd name="T45" fmla="*/ 11 h 32"/>
                  <a:gd name="T46" fmla="*/ 90 w 99"/>
                  <a:gd name="T47" fmla="*/ 7 h 32"/>
                  <a:gd name="T48" fmla="*/ 98 w 99"/>
                  <a:gd name="T49" fmla="*/ 0 h 32"/>
                  <a:gd name="T50" fmla="*/ 93 w 99"/>
                  <a:gd name="T51" fmla="*/ 2 h 32"/>
                  <a:gd name="T52" fmla="*/ 87 w 99"/>
                  <a:gd name="T53" fmla="*/ 3 h 32"/>
                  <a:gd name="T54" fmla="*/ 81 w 99"/>
                  <a:gd name="T55" fmla="*/ 4 h 32"/>
                  <a:gd name="T56" fmla="*/ 74 w 99"/>
                  <a:gd name="T57" fmla="*/ 5 h 32"/>
                  <a:gd name="T58" fmla="*/ 68 w 99"/>
                  <a:gd name="T59" fmla="*/ 7 h 32"/>
                  <a:gd name="T60" fmla="*/ 62 w 99"/>
                  <a:gd name="T61" fmla="*/ 8 h 32"/>
                  <a:gd name="T62" fmla="*/ 55 w 99"/>
                  <a:gd name="T63" fmla="*/ 9 h 32"/>
                  <a:gd name="T64" fmla="*/ 48 w 99"/>
                  <a:gd name="T65" fmla="*/ 9 h 3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99" h="32">
                    <a:moveTo>
                      <a:pt x="48" y="9"/>
                    </a:moveTo>
                    <a:lnTo>
                      <a:pt x="42" y="10"/>
                    </a:lnTo>
                    <a:lnTo>
                      <a:pt x="35" y="11"/>
                    </a:lnTo>
                    <a:lnTo>
                      <a:pt x="29" y="13"/>
                    </a:lnTo>
                    <a:lnTo>
                      <a:pt x="23" y="13"/>
                    </a:lnTo>
                    <a:lnTo>
                      <a:pt x="17" y="14"/>
                    </a:lnTo>
                    <a:lnTo>
                      <a:pt x="11" y="14"/>
                    </a:lnTo>
                    <a:lnTo>
                      <a:pt x="5" y="14"/>
                    </a:lnTo>
                    <a:lnTo>
                      <a:pt x="0" y="14"/>
                    </a:lnTo>
                    <a:lnTo>
                      <a:pt x="8" y="19"/>
                    </a:lnTo>
                    <a:lnTo>
                      <a:pt x="15" y="22"/>
                    </a:lnTo>
                    <a:lnTo>
                      <a:pt x="23" y="25"/>
                    </a:lnTo>
                    <a:lnTo>
                      <a:pt x="29" y="27"/>
                    </a:lnTo>
                    <a:lnTo>
                      <a:pt x="36" y="29"/>
                    </a:lnTo>
                    <a:lnTo>
                      <a:pt x="41" y="31"/>
                    </a:lnTo>
                    <a:lnTo>
                      <a:pt x="46" y="31"/>
                    </a:lnTo>
                    <a:lnTo>
                      <a:pt x="48" y="31"/>
                    </a:lnTo>
                    <a:lnTo>
                      <a:pt x="51" y="29"/>
                    </a:lnTo>
                    <a:lnTo>
                      <a:pt x="56" y="28"/>
                    </a:lnTo>
                    <a:lnTo>
                      <a:pt x="62" y="25"/>
                    </a:lnTo>
                    <a:lnTo>
                      <a:pt x="68" y="21"/>
                    </a:lnTo>
                    <a:lnTo>
                      <a:pt x="75" y="17"/>
                    </a:lnTo>
                    <a:lnTo>
                      <a:pt x="82" y="11"/>
                    </a:lnTo>
                    <a:lnTo>
                      <a:pt x="90" y="7"/>
                    </a:lnTo>
                    <a:lnTo>
                      <a:pt x="98" y="0"/>
                    </a:lnTo>
                    <a:lnTo>
                      <a:pt x="93" y="2"/>
                    </a:lnTo>
                    <a:lnTo>
                      <a:pt x="87" y="3"/>
                    </a:lnTo>
                    <a:lnTo>
                      <a:pt x="81" y="4"/>
                    </a:lnTo>
                    <a:lnTo>
                      <a:pt x="74" y="5"/>
                    </a:lnTo>
                    <a:lnTo>
                      <a:pt x="68" y="7"/>
                    </a:lnTo>
                    <a:lnTo>
                      <a:pt x="62" y="8"/>
                    </a:lnTo>
                    <a:lnTo>
                      <a:pt x="55" y="9"/>
                    </a:lnTo>
                    <a:lnTo>
                      <a:pt x="48" y="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88" name="Line 68">
              <a:extLst>
                <a:ext uri="{FF2B5EF4-FFF2-40B4-BE49-F238E27FC236}">
                  <a16:creationId xmlns:a16="http://schemas.microsoft.com/office/drawing/2014/main" id="{899C8598-470B-5E28-4660-A22A10113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636"/>
              <a:ext cx="0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Line 69">
              <a:extLst>
                <a:ext uri="{FF2B5EF4-FFF2-40B4-BE49-F238E27FC236}">
                  <a16:creationId xmlns:a16="http://schemas.microsoft.com/office/drawing/2014/main" id="{9A4BDC0E-5821-A679-D50D-BE88D0FE58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4" y="636"/>
              <a:ext cx="48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Line 70">
              <a:extLst>
                <a:ext uri="{FF2B5EF4-FFF2-40B4-BE49-F238E27FC236}">
                  <a16:creationId xmlns:a16="http://schemas.microsoft.com/office/drawing/2014/main" id="{D06FCF8E-8B6E-879B-FC06-B859894EC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732"/>
              <a:ext cx="120" cy="156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Line 71">
              <a:extLst>
                <a:ext uri="{FF2B5EF4-FFF2-40B4-BE49-F238E27FC236}">
                  <a16:creationId xmlns:a16="http://schemas.microsoft.com/office/drawing/2014/main" id="{F5651811-98E3-72E6-C2E7-3D8F32DF2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888"/>
              <a:ext cx="144" cy="7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Line 72">
              <a:extLst>
                <a:ext uri="{FF2B5EF4-FFF2-40B4-BE49-F238E27FC236}">
                  <a16:creationId xmlns:a16="http://schemas.microsoft.com/office/drawing/2014/main" id="{210F56CE-8C89-543C-C5BB-A96ABABD5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76" y="1044"/>
              <a:ext cx="204" cy="24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Line 73">
              <a:extLst>
                <a:ext uri="{FF2B5EF4-FFF2-40B4-BE49-F238E27FC236}">
                  <a16:creationId xmlns:a16="http://schemas.microsoft.com/office/drawing/2014/main" id="{9FB24113-9202-138C-54C6-E1E7C88AA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4" y="636"/>
              <a:ext cx="48" cy="19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Line 74">
              <a:extLst>
                <a:ext uri="{FF2B5EF4-FFF2-40B4-BE49-F238E27FC236}">
                  <a16:creationId xmlns:a16="http://schemas.microsoft.com/office/drawing/2014/main" id="{2F3B75EB-A075-E950-FD88-7ADF1E0D5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" y="744"/>
              <a:ext cx="120" cy="156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Line 75">
              <a:extLst>
                <a:ext uri="{FF2B5EF4-FFF2-40B4-BE49-F238E27FC236}">
                  <a16:creationId xmlns:a16="http://schemas.microsoft.com/office/drawing/2014/main" id="{528686F6-F1E3-88B5-6E2C-11F8D0D6A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" y="924"/>
              <a:ext cx="144" cy="72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6" name="Line 76">
              <a:extLst>
                <a:ext uri="{FF2B5EF4-FFF2-40B4-BE49-F238E27FC236}">
                  <a16:creationId xmlns:a16="http://schemas.microsoft.com/office/drawing/2014/main" id="{5385C2D8-C022-0302-532C-14EB3DC37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" y="1068"/>
              <a:ext cx="204" cy="24"/>
            </a:xfrm>
            <a:prstGeom prst="line">
              <a:avLst/>
            </a:prstGeom>
            <a:noFill/>
            <a:ln w="508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 Box 4">
            <a:extLst>
              <a:ext uri="{FF2B5EF4-FFF2-40B4-BE49-F238E27FC236}">
                <a16:creationId xmlns:a16="http://schemas.microsoft.com/office/drawing/2014/main" id="{FBB03685-DA03-341D-CEC6-31592EEA3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528" y="1988840"/>
            <a:ext cx="3276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Conceptual Data Model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6D348292-0997-B639-6AD4-777B78EE7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2780928"/>
            <a:ext cx="3276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Logical Data Model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A73D285-CA99-75C1-0E8F-E3D619D0B1CE}"/>
              </a:ext>
            </a:extLst>
          </p:cNvPr>
          <p:cNvSpPr txBox="1">
            <a:spLocks/>
          </p:cNvSpPr>
          <p:nvPr/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/>
          <a:lstStyle>
            <a:defPPr>
              <a:defRPr lang="de-AT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>
                <a:solidFill>
                  <a:srgbClr val="0000FF"/>
                </a:solidFill>
                <a:latin typeface="Perpetua"/>
              </a:rPr>
              <a:t>Dr. Asif Sohail,</a:t>
            </a:r>
            <a:r>
              <a:rPr lang="en-US" sz="1400">
                <a:solidFill>
                  <a:srgbClr val="696464"/>
                </a:solidFill>
                <a:latin typeface="Perpetua"/>
              </a:rPr>
              <a:t> Department of IT, </a:t>
            </a:r>
            <a:r>
              <a:rPr lang="en-US" sz="1400">
                <a:solidFill>
                  <a:srgbClr val="FF0000"/>
                </a:solidFill>
                <a:latin typeface="Perpetua"/>
              </a:rPr>
              <a:t>University of the Punjab, Lahore</a:t>
            </a:r>
            <a:endParaRPr lang="en-US" sz="1400" dirty="0">
              <a:solidFill>
                <a:srgbClr val="FF0000"/>
              </a:solidFill>
              <a:latin typeface="Perpetua"/>
            </a:endParaRP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EAA4505C-9AB9-9E88-1B31-1C7DEC252E13}"/>
              </a:ext>
            </a:extLst>
          </p:cNvPr>
          <p:cNvSpPr txBox="1">
            <a:spLocks/>
          </p:cNvSpPr>
          <p:nvPr/>
        </p:nvSpPr>
        <p:spPr>
          <a:xfrm>
            <a:off x="8532440" y="6284168"/>
            <a:ext cx="457200" cy="457200"/>
          </a:xfrm>
          <a:prstGeom prst="ellipse">
            <a:avLst/>
          </a:prstGeom>
        </p:spPr>
        <p:txBody>
          <a:bodyPr/>
          <a:lstStyle>
            <a:defPPr>
              <a:defRPr lang="de-AT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10F9843-0372-4357-99AD-419BEB3ABF28}" type="slidenum">
              <a:rPr lang="en-US" sz="1400" smtClean="0">
                <a:solidFill>
                  <a:srgbClr val="FFFFFF"/>
                </a:solidFill>
                <a:latin typeface="Franklin Gothic Book"/>
                <a:ea typeface="+mj-ea"/>
                <a:cs typeface="+mj-cs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sz="1400">
              <a:solidFill>
                <a:srgbClr val="FFFFFF"/>
              </a:solidFill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7499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98CB9-4BF5-C5F2-8C4F-498B0DFA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DFC45EC-3177-3DFE-21EC-E9DF51777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ERD into Relations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38FA7D6-5711-9C64-E668-35B79ADCE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transformation consists of two steps: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 Entities 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 Relationships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Each entity of an ER Diagram is represented as a relation.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relational representation of relationship of an ER diagram depends upon the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degree and cardinality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of the relationship.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E3710-1733-20E4-5FC3-C475DEA4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0E969A3-E994-1903-4958-1B009E3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4747752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1E2D-0068-8729-C70B-77288B1D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FA861FC-B4D3-93A9-1F1E-D58103883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ADBCC72-E9D5-9FF8-312F-31584EDC3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There are three type of entities: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Regular entities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Weak Entities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Associative Entities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0BAC3-74CD-7C56-1881-80083530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E0A976F-097C-C20E-B573-F2B473D8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29039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5736F-E8A1-0EA9-DC8B-191F12C4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9CDB433-0295-73E5-F890-C0913E8BE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9F874A1-1931-69A6-87D1-4C683A68E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Regular Entities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Each regular entity of an ERD is mapped to a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Simple attributes of the entity type become the attributes of the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Make identifier the Primary Key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constituent of a Composite Attribute of the entity are used as attributes of the relation.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Multivalued Attribute or a Repeating Group of the entity is represented using a new relation.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first relation contains all of the attributes of the entity type except the multivalued attribute or repeating group.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second relation contains the PK of the entity and the multivalued attribute or repeating group. The PK of the first relation used as FK in the second relation.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178CA-9485-2E88-2052-0A37280F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B6F1F07-AFAB-C8BC-4B35-7FF5E1CE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446833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411B-03AC-80F8-280A-C599C720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897BC42-5CBB-9A5E-F581-3607A7516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F9981-AFD2-1325-DFD2-AF6BC59A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A4828A0-7DCD-B100-57E3-60C89705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D3E35124-5DCA-A797-362F-1A2636E6714B}"/>
              </a:ext>
            </a:extLst>
          </p:cNvPr>
          <p:cNvGrpSpPr>
            <a:grpSpLocks/>
          </p:cNvGrpSpPr>
          <p:nvPr/>
        </p:nvGrpSpPr>
        <p:grpSpPr bwMode="auto">
          <a:xfrm>
            <a:off x="1141040" y="4790728"/>
            <a:ext cx="5735216" cy="609600"/>
            <a:chOff x="624" y="3456"/>
            <a:chExt cx="3024" cy="384"/>
          </a:xfrm>
          <a:solidFill>
            <a:schemeClr val="bg1">
              <a:lumMod val="75000"/>
            </a:schemeClr>
          </a:solidFill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D3F4A92-8E99-C867-54DB-DED0A6C70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456"/>
              <a:ext cx="1008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latin typeface="Cambria" panose="02040503050406030204" pitchFamily="18" charset="0"/>
                  <a:ea typeface="Cambria" panose="02040503050406030204" pitchFamily="18" charset="0"/>
                </a:rPr>
                <a:t>Customer_ID</a:t>
              </a:r>
              <a:endParaRPr lang="en-US" altLang="en-US" sz="1800" u="sng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8CE5C0D-185B-8532-4EDA-FDA69C110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56"/>
              <a:ext cx="1008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Customer_Name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619B385F-B6CC-1162-F7F5-6E4916220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456"/>
              <a:ext cx="1008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Address</a:t>
              </a:r>
            </a:p>
          </p:txBody>
        </p:sp>
      </p:grpSp>
      <p:sp>
        <p:nvSpPr>
          <p:cNvPr id="9" name="Text Box 7">
            <a:extLst>
              <a:ext uri="{FF2B5EF4-FFF2-40B4-BE49-F238E27FC236}">
                <a16:creationId xmlns:a16="http://schemas.microsoft.com/office/drawing/2014/main" id="{C4FE2EF0-C917-60E1-F00D-C886820CB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840" y="4424016"/>
            <a:ext cx="220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56E0E1F-4DE1-13E5-6C09-AD690E9AF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240" y="2504728"/>
            <a:ext cx="2057400" cy="8382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1D96EAEC-C12E-AB9C-D8F1-CC36A067B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7040" y="980728"/>
            <a:ext cx="2286000" cy="838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Customer_Name</a:t>
            </a:r>
            <a:endParaRPr lang="en-US" alt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3D098447-79DB-DACC-5AA4-2F2D2EE16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640" y="2504728"/>
            <a:ext cx="2286000" cy="838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0400F27A-29BD-84BA-B27F-AF96D7D39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440" y="2504728"/>
            <a:ext cx="2286000" cy="838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None/>
            </a:pP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Customer_Address</a:t>
            </a:r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9402F7EB-2D19-22A3-1C7F-DF15504982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0040" y="181892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AutoShape 13">
            <a:extLst>
              <a:ext uri="{FF2B5EF4-FFF2-40B4-BE49-F238E27FC236}">
                <a16:creationId xmlns:a16="http://schemas.microsoft.com/office/drawing/2014/main" id="{D17FDEB0-7D20-0ACD-8B29-37DBF1AB4440}"/>
              </a:ext>
            </a:extLst>
          </p:cNvPr>
          <p:cNvCxnSpPr>
            <a:cxnSpLocks noChangeShapeType="1"/>
            <a:stCxn id="10" idx="3"/>
            <a:endCxn id="13" idx="2"/>
          </p:cNvCxnSpPr>
          <p:nvPr/>
        </p:nvCxnSpPr>
        <p:spPr bwMode="auto">
          <a:xfrm>
            <a:off x="5560640" y="2923828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AutoShape 14">
            <a:extLst>
              <a:ext uri="{FF2B5EF4-FFF2-40B4-BE49-F238E27FC236}">
                <a16:creationId xmlns:a16="http://schemas.microsoft.com/office/drawing/2014/main" id="{61AAB173-211D-060B-6762-4C45AFA3FE0E}"/>
              </a:ext>
            </a:extLst>
          </p:cNvPr>
          <p:cNvCxnSpPr>
            <a:cxnSpLocks noChangeShapeType="1"/>
            <a:stCxn id="10" idx="1"/>
            <a:endCxn id="12" idx="6"/>
          </p:cNvCxnSpPr>
          <p:nvPr/>
        </p:nvCxnSpPr>
        <p:spPr bwMode="auto">
          <a:xfrm flipH="1">
            <a:off x="2893640" y="292382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 Box 15">
            <a:extLst>
              <a:ext uri="{FF2B5EF4-FFF2-40B4-BE49-F238E27FC236}">
                <a16:creationId xmlns:a16="http://schemas.microsoft.com/office/drawing/2014/main" id="{CBA3EC11-9CD6-F9AA-F36F-34A92B0EE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40" y="1209328"/>
            <a:ext cx="2362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Entity</a:t>
            </a:r>
          </a:p>
        </p:txBody>
      </p:sp>
    </p:spTree>
    <p:extLst>
      <p:ext uri="{BB962C8B-B14F-4D97-AF65-F5344CB8AC3E}">
        <p14:creationId xmlns:p14="http://schemas.microsoft.com/office/powerpoint/2010/main" val="35987869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621B-4E76-4FD8-582F-E9CC5087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EC80AAA-0616-4DE7-C4AE-0C32B215F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352" y="189012"/>
            <a:ext cx="3516312" cy="647700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Composite Attribute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47423D92-90EC-5D54-B5AD-497D78F62E49}"/>
              </a:ext>
            </a:extLst>
          </p:cNvPr>
          <p:cNvGrpSpPr>
            <a:grpSpLocks/>
          </p:cNvGrpSpPr>
          <p:nvPr/>
        </p:nvGrpSpPr>
        <p:grpSpPr bwMode="auto">
          <a:xfrm>
            <a:off x="774576" y="4907632"/>
            <a:ext cx="8045896" cy="609600"/>
            <a:chOff x="192" y="1680"/>
            <a:chExt cx="4848" cy="384"/>
          </a:xfrm>
        </p:grpSpPr>
        <p:sp>
          <p:nvSpPr>
            <p:cNvPr id="13334" name="Rectangle 4">
              <a:extLst>
                <a:ext uri="{FF2B5EF4-FFF2-40B4-BE49-F238E27FC236}">
                  <a16:creationId xmlns:a16="http://schemas.microsoft.com/office/drawing/2014/main" id="{E9536758-58DA-69D8-FA76-0D3BF9D05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Customer_ID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335" name="Rectangle 5">
              <a:extLst>
                <a:ext uri="{FF2B5EF4-FFF2-40B4-BE49-F238E27FC236}">
                  <a16:creationId xmlns:a16="http://schemas.microsoft.com/office/drawing/2014/main" id="{2D1E1BF6-CBD5-3AA4-83CC-D71FFFD93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Customer_Name</a:t>
              </a:r>
            </a:p>
          </p:txBody>
        </p:sp>
        <p:sp>
          <p:nvSpPr>
            <p:cNvPr id="13336" name="Rectangle 6">
              <a:extLst>
                <a:ext uri="{FF2B5EF4-FFF2-40B4-BE49-F238E27FC236}">
                  <a16:creationId xmlns:a16="http://schemas.microsoft.com/office/drawing/2014/main" id="{B424AF34-A33D-A315-7E88-1BAF66CE6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62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City</a:t>
              </a:r>
            </a:p>
          </p:txBody>
        </p:sp>
        <p:sp>
          <p:nvSpPr>
            <p:cNvPr id="13337" name="Rectangle 7">
              <a:extLst>
                <a:ext uri="{FF2B5EF4-FFF2-40B4-BE49-F238E27FC236}">
                  <a16:creationId xmlns:a16="http://schemas.microsoft.com/office/drawing/2014/main" id="{E13124C4-4517-764C-880D-E7605A14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68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Street</a:t>
              </a:r>
            </a:p>
          </p:txBody>
        </p:sp>
        <p:sp>
          <p:nvSpPr>
            <p:cNvPr id="13338" name="Rectangle 8">
              <a:extLst>
                <a:ext uri="{FF2B5EF4-FFF2-40B4-BE49-F238E27FC236}">
                  <a16:creationId xmlns:a16="http://schemas.microsoft.com/office/drawing/2014/main" id="{CB348AA1-82F4-F17A-BDA1-CE7CB804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80"/>
              <a:ext cx="72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State</a:t>
              </a:r>
            </a:p>
          </p:txBody>
        </p:sp>
        <p:sp>
          <p:nvSpPr>
            <p:cNvPr id="13339" name="Rectangle 9">
              <a:extLst>
                <a:ext uri="{FF2B5EF4-FFF2-40B4-BE49-F238E27FC236}">
                  <a16:creationId xmlns:a16="http://schemas.microsoft.com/office/drawing/2014/main" id="{8E415899-C392-F4B1-E98B-D94A50EBB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80"/>
              <a:ext cx="4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Zip</a:t>
              </a:r>
            </a:p>
          </p:txBody>
        </p:sp>
      </p:grpSp>
      <p:sp>
        <p:nvSpPr>
          <p:cNvPr id="13316" name="Text Box 10">
            <a:extLst>
              <a:ext uri="{FF2B5EF4-FFF2-40B4-BE49-F238E27FC236}">
                <a16:creationId xmlns:a16="http://schemas.microsoft.com/office/drawing/2014/main" id="{C51E4C21-BA02-9A31-57FD-18C4F1465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76" y="4540920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3317" name="Rectangle 11">
            <a:extLst>
              <a:ext uri="{FF2B5EF4-FFF2-40B4-BE49-F238E27FC236}">
                <a16:creationId xmlns:a16="http://schemas.microsoft.com/office/drawing/2014/main" id="{9DE30381-8DD2-76AF-4B85-BF9442A4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776" y="3200400"/>
            <a:ext cx="2057400" cy="8382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3318" name="Oval 12">
            <a:extLst>
              <a:ext uri="{FF2B5EF4-FFF2-40B4-BE49-F238E27FC236}">
                <a16:creationId xmlns:a16="http://schemas.microsoft.com/office/drawing/2014/main" id="{116AE419-C164-9065-C7E2-3DEE0A94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576" y="1676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Customer_Name</a:t>
            </a:r>
          </a:p>
        </p:txBody>
      </p:sp>
      <p:sp>
        <p:nvSpPr>
          <p:cNvPr id="13319" name="Oval 13">
            <a:extLst>
              <a:ext uri="{FF2B5EF4-FFF2-40B4-BE49-F238E27FC236}">
                <a16:creationId xmlns:a16="http://schemas.microsoft.com/office/drawing/2014/main" id="{DE153D0E-E9D0-BC9A-6E94-BED6DA18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320" name="Oval 14">
            <a:extLst>
              <a:ext uri="{FF2B5EF4-FFF2-40B4-BE49-F238E27FC236}">
                <a16:creationId xmlns:a16="http://schemas.microsoft.com/office/drawing/2014/main" id="{23BD6270-7F0A-1227-1476-0633C8A1C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976" y="3200400"/>
            <a:ext cx="2286000" cy="838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Customer_Address</a:t>
            </a:r>
          </a:p>
        </p:txBody>
      </p:sp>
      <p:sp>
        <p:nvSpPr>
          <p:cNvPr id="13321" name="Line 15">
            <a:extLst>
              <a:ext uri="{FF2B5EF4-FFF2-40B4-BE49-F238E27FC236}">
                <a16:creationId xmlns:a16="http://schemas.microsoft.com/office/drawing/2014/main" id="{FEF75967-335C-D062-EFD3-63359F308F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3576" y="2514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3322" name="AutoShape 16">
            <a:extLst>
              <a:ext uri="{FF2B5EF4-FFF2-40B4-BE49-F238E27FC236}">
                <a16:creationId xmlns:a16="http://schemas.microsoft.com/office/drawing/2014/main" id="{A1500F55-8D68-EB8A-7C57-E2B2BA67CC8F}"/>
              </a:ext>
            </a:extLst>
          </p:cNvPr>
          <p:cNvCxnSpPr>
            <a:cxnSpLocks noChangeShapeType="1"/>
            <a:stCxn id="13317" idx="3"/>
            <a:endCxn id="13320" idx="2"/>
          </p:cNvCxnSpPr>
          <p:nvPr/>
        </p:nvCxnSpPr>
        <p:spPr bwMode="auto">
          <a:xfrm>
            <a:off x="5194176" y="3619500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23" name="AutoShape 17">
            <a:extLst>
              <a:ext uri="{FF2B5EF4-FFF2-40B4-BE49-F238E27FC236}">
                <a16:creationId xmlns:a16="http://schemas.microsoft.com/office/drawing/2014/main" id="{5FE00851-6452-8F9B-F8A7-BEF1F602A160}"/>
              </a:ext>
            </a:extLst>
          </p:cNvPr>
          <p:cNvCxnSpPr>
            <a:cxnSpLocks noChangeShapeType="1"/>
            <a:stCxn id="13317" idx="1"/>
            <a:endCxn id="13319" idx="6"/>
          </p:cNvCxnSpPr>
          <p:nvPr/>
        </p:nvCxnSpPr>
        <p:spPr bwMode="auto">
          <a:xfrm flipH="1">
            <a:off x="2527176" y="361950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324" name="Text Box 18">
            <a:extLst>
              <a:ext uri="{FF2B5EF4-FFF2-40B4-BE49-F238E27FC236}">
                <a16:creationId xmlns:a16="http://schemas.microsoft.com/office/drawing/2014/main" id="{D3E0B4DB-57A2-A4B7-7075-67E19CA36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75" y="1905000"/>
            <a:ext cx="25907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Entity Type with Composite Attribute</a:t>
            </a:r>
          </a:p>
        </p:txBody>
      </p:sp>
      <p:sp>
        <p:nvSpPr>
          <p:cNvPr id="13326" name="Oval 20">
            <a:extLst>
              <a:ext uri="{FF2B5EF4-FFF2-40B4-BE49-F238E27FC236}">
                <a16:creationId xmlns:a16="http://schemas.microsoft.com/office/drawing/2014/main" id="{9B12476B-22DF-61E5-45E3-2FDFFD2F5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6576" y="12192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Street</a:t>
            </a:r>
          </a:p>
        </p:txBody>
      </p:sp>
      <p:sp>
        <p:nvSpPr>
          <p:cNvPr id="13327" name="Oval 21">
            <a:extLst>
              <a:ext uri="{FF2B5EF4-FFF2-40B4-BE49-F238E27FC236}">
                <a16:creationId xmlns:a16="http://schemas.microsoft.com/office/drawing/2014/main" id="{CD277CCD-9623-D71C-5F95-8476CA712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0176" y="14478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State</a:t>
            </a:r>
          </a:p>
        </p:txBody>
      </p:sp>
      <p:sp>
        <p:nvSpPr>
          <p:cNvPr id="13328" name="Oval 22">
            <a:extLst>
              <a:ext uri="{FF2B5EF4-FFF2-40B4-BE49-F238E27FC236}">
                <a16:creationId xmlns:a16="http://schemas.microsoft.com/office/drawing/2014/main" id="{9ED7D6B5-3F58-B703-17FE-1C939A7DC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1976" y="5334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City</a:t>
            </a:r>
          </a:p>
        </p:txBody>
      </p:sp>
      <p:sp>
        <p:nvSpPr>
          <p:cNvPr id="13329" name="Oval 23">
            <a:extLst>
              <a:ext uri="{FF2B5EF4-FFF2-40B4-BE49-F238E27FC236}">
                <a16:creationId xmlns:a16="http://schemas.microsoft.com/office/drawing/2014/main" id="{E2907206-8124-4DFB-1CE7-531B9F5B4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3976" y="2438400"/>
            <a:ext cx="15240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Zip</a:t>
            </a:r>
          </a:p>
        </p:txBody>
      </p:sp>
      <p:cxnSp>
        <p:nvCxnSpPr>
          <p:cNvPr id="13330" name="AutoShape 24">
            <a:extLst>
              <a:ext uri="{FF2B5EF4-FFF2-40B4-BE49-F238E27FC236}">
                <a16:creationId xmlns:a16="http://schemas.microsoft.com/office/drawing/2014/main" id="{C9B07A06-EF7F-1A0A-3E52-092201C30068}"/>
              </a:ext>
            </a:extLst>
          </p:cNvPr>
          <p:cNvCxnSpPr>
            <a:cxnSpLocks noChangeShapeType="1"/>
            <a:stCxn id="13320" idx="0"/>
            <a:endCxn id="13326" idx="4"/>
          </p:cNvCxnSpPr>
          <p:nvPr/>
        </p:nvCxnSpPr>
        <p:spPr bwMode="auto">
          <a:xfrm flipH="1" flipV="1">
            <a:off x="6108576" y="1905000"/>
            <a:ext cx="914400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1" name="AutoShape 25">
            <a:extLst>
              <a:ext uri="{FF2B5EF4-FFF2-40B4-BE49-F238E27FC236}">
                <a16:creationId xmlns:a16="http://schemas.microsoft.com/office/drawing/2014/main" id="{9D781605-1B6D-ABDB-28BC-293D69C4F455}"/>
              </a:ext>
            </a:extLst>
          </p:cNvPr>
          <p:cNvCxnSpPr>
            <a:cxnSpLocks noChangeShapeType="1"/>
            <a:stCxn id="13320" idx="0"/>
            <a:endCxn id="13328" idx="4"/>
          </p:cNvCxnSpPr>
          <p:nvPr/>
        </p:nvCxnSpPr>
        <p:spPr bwMode="auto">
          <a:xfrm flipV="1">
            <a:off x="7022976" y="1219200"/>
            <a:ext cx="381000" cy="1981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2" name="AutoShape 26">
            <a:extLst>
              <a:ext uri="{FF2B5EF4-FFF2-40B4-BE49-F238E27FC236}">
                <a16:creationId xmlns:a16="http://schemas.microsoft.com/office/drawing/2014/main" id="{9C7C0866-E2B5-5CD6-6556-89C3C617E903}"/>
              </a:ext>
            </a:extLst>
          </p:cNvPr>
          <p:cNvCxnSpPr>
            <a:cxnSpLocks noChangeShapeType="1"/>
            <a:stCxn id="13320" idx="0"/>
            <a:endCxn id="13327" idx="2"/>
          </p:cNvCxnSpPr>
          <p:nvPr/>
        </p:nvCxnSpPr>
        <p:spPr bwMode="auto">
          <a:xfrm flipV="1">
            <a:off x="7022976" y="1790700"/>
            <a:ext cx="457200" cy="14097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33" name="AutoShape 27">
            <a:extLst>
              <a:ext uri="{FF2B5EF4-FFF2-40B4-BE49-F238E27FC236}">
                <a16:creationId xmlns:a16="http://schemas.microsoft.com/office/drawing/2014/main" id="{73396437-B86F-5FAC-002B-0AF49D5D6A55}"/>
              </a:ext>
            </a:extLst>
          </p:cNvPr>
          <p:cNvCxnSpPr>
            <a:cxnSpLocks noChangeShapeType="1"/>
            <a:stCxn id="13320" idx="0"/>
            <a:endCxn id="13329" idx="4"/>
          </p:cNvCxnSpPr>
          <p:nvPr/>
        </p:nvCxnSpPr>
        <p:spPr bwMode="auto">
          <a:xfrm flipV="1">
            <a:off x="7022976" y="3124200"/>
            <a:ext cx="114300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BBBBD49-CD88-3CC9-76A5-00F6DC8D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3" name="Slide Number Placeholder 23">
            <a:extLst>
              <a:ext uri="{FF2B5EF4-FFF2-40B4-BE49-F238E27FC236}">
                <a16:creationId xmlns:a16="http://schemas.microsoft.com/office/drawing/2014/main" id="{11BD567A-4EE3-CD83-E2E4-6B332B4E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2133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AD79-63D4-DD4B-773D-CC4F7904C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408D19D-3965-96BF-D8E0-D3734B634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 err="1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Mutli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-valued Attribute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0B1C4-F71D-6691-4F15-A99DAFA5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25E93BC-FECB-1389-83A5-4C5CAADC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C499BF-C72A-7DE3-803F-AC9F72579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93" y="836712"/>
            <a:ext cx="820896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602776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75AD2-A261-F835-6B17-27DCD5830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CFB72BE-1651-F971-4A82-9B6C6B5B7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7E3D63A-98A5-BDDD-93E8-F81D395E6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Weak Entity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a new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Include all simple attributes as attributes of the new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Include PK of identifying relation as FK to the new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PK of new relation is (PK of identifying relation + Partial identifier of weak entity)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Associative Entity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Create a new relation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Include PK of the participating entities along with the attributes of the associative entity in the new relation 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1892E-5DD2-B704-5615-260428E6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3CA3268-8B35-A373-A358-FF1F1AEE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9545568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72B1-7324-D438-412D-B4205243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7" name="Group 3">
            <a:extLst>
              <a:ext uri="{FF2B5EF4-FFF2-40B4-BE49-F238E27FC236}">
                <a16:creationId xmlns:a16="http://schemas.microsoft.com/office/drawing/2014/main" id="{C9CAA105-DF0B-7231-B2D9-1E9DC4C48CF5}"/>
              </a:ext>
            </a:extLst>
          </p:cNvPr>
          <p:cNvGrpSpPr>
            <a:grpSpLocks/>
          </p:cNvGrpSpPr>
          <p:nvPr/>
        </p:nvGrpSpPr>
        <p:grpSpPr bwMode="auto">
          <a:xfrm>
            <a:off x="357336" y="4386064"/>
            <a:ext cx="3352800" cy="609600"/>
            <a:chOff x="144" y="3264"/>
            <a:chExt cx="2112" cy="384"/>
          </a:xfrm>
        </p:grpSpPr>
        <p:sp>
          <p:nvSpPr>
            <p:cNvPr id="16418" name="Rectangle 4">
              <a:extLst>
                <a:ext uri="{FF2B5EF4-FFF2-40B4-BE49-F238E27FC236}">
                  <a16:creationId xmlns:a16="http://schemas.microsoft.com/office/drawing/2014/main" id="{B64B6BC0-F690-7145-0F33-A0F2224CD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Employee_ID</a:t>
              </a:r>
              <a:endParaRPr lang="en-US" altLang="en-US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419" name="Rectangle 5">
              <a:extLst>
                <a:ext uri="{FF2B5EF4-FFF2-40B4-BE49-F238E27FC236}">
                  <a16:creationId xmlns:a16="http://schemas.microsoft.com/office/drawing/2014/main" id="{FA2A706A-BBFA-547D-BE94-344DD86ED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Employee_Name</a:t>
              </a:r>
            </a:p>
          </p:txBody>
        </p:sp>
      </p:grpSp>
      <p:sp>
        <p:nvSpPr>
          <p:cNvPr id="16388" name="Text Box 6">
            <a:extLst>
              <a:ext uri="{FF2B5EF4-FFF2-40B4-BE49-F238E27FC236}">
                <a16:creationId xmlns:a16="http://schemas.microsoft.com/office/drawing/2014/main" id="{E0A357EE-4C22-F38C-B831-9147738D5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36" y="4005064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EMPLOYEE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8F7F9EA7-5EC9-66AC-D340-992C650BA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EMPLOYEE</a:t>
            </a:r>
          </a:p>
        </p:txBody>
      </p:sp>
      <p:sp>
        <p:nvSpPr>
          <p:cNvPr id="16390" name="Oval 8">
            <a:extLst>
              <a:ext uri="{FF2B5EF4-FFF2-40B4-BE49-F238E27FC236}">
                <a16:creationId xmlns:a16="http://schemas.microsoft.com/office/drawing/2014/main" id="{8C66B5D6-193E-7E42-9932-3A332E35A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600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Employee_Name</a:t>
            </a:r>
          </a:p>
        </p:txBody>
      </p:sp>
      <p:sp>
        <p:nvSpPr>
          <p:cNvPr id="16391" name="Oval 9">
            <a:extLst>
              <a:ext uri="{FF2B5EF4-FFF2-40B4-BE49-F238E27FC236}">
                <a16:creationId xmlns:a16="http://schemas.microsoft.com/office/drawing/2014/main" id="{997E84F2-2612-481A-7EE2-8641DB806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667000"/>
            <a:ext cx="15240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Employee_ID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6392" name="AutoShape 10">
            <a:extLst>
              <a:ext uri="{FF2B5EF4-FFF2-40B4-BE49-F238E27FC236}">
                <a16:creationId xmlns:a16="http://schemas.microsoft.com/office/drawing/2014/main" id="{0E69DAD8-CA7A-B1E0-21F6-79A1DA5D9E60}"/>
              </a:ext>
            </a:extLst>
          </p:cNvPr>
          <p:cNvCxnSpPr>
            <a:cxnSpLocks noChangeShapeType="1"/>
            <a:stCxn id="16389" idx="1"/>
            <a:endCxn id="16391" idx="6"/>
          </p:cNvCxnSpPr>
          <p:nvPr/>
        </p:nvCxnSpPr>
        <p:spPr bwMode="auto">
          <a:xfrm flipH="1" flipV="1">
            <a:off x="1752600" y="2971800"/>
            <a:ext cx="228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3" name="Text Box 11">
            <a:extLst>
              <a:ext uri="{FF2B5EF4-FFF2-40B4-BE49-F238E27FC236}">
                <a16:creationId xmlns:a16="http://schemas.microsoft.com/office/drawing/2014/main" id="{6653270D-FC0D-C032-B923-7274710B6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24" y="753797"/>
            <a:ext cx="2514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Weak Entity</a:t>
            </a:r>
          </a:p>
        </p:txBody>
      </p:sp>
      <p:sp>
        <p:nvSpPr>
          <p:cNvPr id="16395" name="Text Box 13">
            <a:extLst>
              <a:ext uri="{FF2B5EF4-FFF2-40B4-BE49-F238E27FC236}">
                <a16:creationId xmlns:a16="http://schemas.microsoft.com/office/drawing/2014/main" id="{92B03F8B-E04B-B2F9-4E28-3F1EF803D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36" y="5300464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DEPENDENT</a:t>
            </a:r>
          </a:p>
        </p:txBody>
      </p:sp>
      <p:cxnSp>
        <p:nvCxnSpPr>
          <p:cNvPr id="16396" name="AutoShape 14">
            <a:extLst>
              <a:ext uri="{FF2B5EF4-FFF2-40B4-BE49-F238E27FC236}">
                <a16:creationId xmlns:a16="http://schemas.microsoft.com/office/drawing/2014/main" id="{962DB411-5C61-AD12-B752-8049E02840F3}"/>
              </a:ext>
            </a:extLst>
          </p:cNvPr>
          <p:cNvCxnSpPr>
            <a:cxnSpLocks noChangeShapeType="1"/>
            <a:stCxn id="16389" idx="0"/>
            <a:endCxn id="16390" idx="4"/>
          </p:cNvCxnSpPr>
          <p:nvPr/>
        </p:nvCxnSpPr>
        <p:spPr bwMode="auto">
          <a:xfrm flipH="1" flipV="1">
            <a:off x="2743200" y="2286000"/>
            <a:ext cx="381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7" name="Rectangle 15">
            <a:extLst>
              <a:ext uri="{FF2B5EF4-FFF2-40B4-BE49-F238E27FC236}">
                <a16:creationId xmlns:a16="http://schemas.microsoft.com/office/drawing/2014/main" id="{5D631268-6338-D2CA-952B-F26CD6A69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895600"/>
            <a:ext cx="1600200" cy="609600"/>
          </a:xfrm>
          <a:prstGeom prst="rect">
            <a:avLst/>
          </a:prstGeom>
          <a:solidFill>
            <a:schemeClr val="bg2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DEPENDENT</a:t>
            </a:r>
          </a:p>
        </p:txBody>
      </p:sp>
      <p:sp>
        <p:nvSpPr>
          <p:cNvPr id="16398" name="Oval 16">
            <a:extLst>
              <a:ext uri="{FF2B5EF4-FFF2-40B4-BE49-F238E27FC236}">
                <a16:creationId xmlns:a16="http://schemas.microsoft.com/office/drawing/2014/main" id="{EE355841-2771-E254-8A1A-1E777D058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828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Dependent_Name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399" name="Oval 17">
            <a:extLst>
              <a:ext uri="{FF2B5EF4-FFF2-40B4-BE49-F238E27FC236}">
                <a16:creationId xmlns:a16="http://schemas.microsoft.com/office/drawing/2014/main" id="{B16D8BAB-97A4-A058-E07D-45F62550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657600"/>
            <a:ext cx="1433264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Gender</a:t>
            </a:r>
          </a:p>
        </p:txBody>
      </p:sp>
      <p:sp>
        <p:nvSpPr>
          <p:cNvPr id="16400" name="Oval 18">
            <a:extLst>
              <a:ext uri="{FF2B5EF4-FFF2-40B4-BE49-F238E27FC236}">
                <a16:creationId xmlns:a16="http://schemas.microsoft.com/office/drawing/2014/main" id="{985A017C-237C-DA5C-445D-FEB62F854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438400"/>
            <a:ext cx="16002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Date_of_Birth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401" name="Oval 19">
            <a:extLst>
              <a:ext uri="{FF2B5EF4-FFF2-40B4-BE49-F238E27FC236}">
                <a16:creationId xmlns:a16="http://schemas.microsoft.com/office/drawing/2014/main" id="{BC72D04D-E8A5-9298-718C-CD0583CCF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143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First_Name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402" name="Oval 20">
            <a:extLst>
              <a:ext uri="{FF2B5EF4-FFF2-40B4-BE49-F238E27FC236}">
                <a16:creationId xmlns:a16="http://schemas.microsoft.com/office/drawing/2014/main" id="{BE82A7DB-784E-83A8-D59E-F88F1941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Last_Name</a:t>
            </a:r>
          </a:p>
        </p:txBody>
      </p:sp>
      <p:cxnSp>
        <p:nvCxnSpPr>
          <p:cNvPr id="16403" name="AutoShape 21">
            <a:extLst>
              <a:ext uri="{FF2B5EF4-FFF2-40B4-BE49-F238E27FC236}">
                <a16:creationId xmlns:a16="http://schemas.microsoft.com/office/drawing/2014/main" id="{C1ED4424-7252-C3CC-17D8-E28DC1659731}"/>
              </a:ext>
            </a:extLst>
          </p:cNvPr>
          <p:cNvCxnSpPr>
            <a:cxnSpLocks noChangeShapeType="1"/>
            <a:stCxn id="16397" idx="0"/>
            <a:endCxn id="16398" idx="4"/>
          </p:cNvCxnSpPr>
          <p:nvPr/>
        </p:nvCxnSpPr>
        <p:spPr bwMode="auto">
          <a:xfrm flipV="1">
            <a:off x="6286500" y="2514600"/>
            <a:ext cx="38100" cy="361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AutoShape 22">
            <a:extLst>
              <a:ext uri="{FF2B5EF4-FFF2-40B4-BE49-F238E27FC236}">
                <a16:creationId xmlns:a16="http://schemas.microsoft.com/office/drawing/2014/main" id="{86668668-6E7F-04DF-F15D-6C7BFC4F7723}"/>
              </a:ext>
            </a:extLst>
          </p:cNvPr>
          <p:cNvCxnSpPr>
            <a:cxnSpLocks noChangeShapeType="1"/>
            <a:stCxn id="16398" idx="1"/>
            <a:endCxn id="16401" idx="4"/>
          </p:cNvCxnSpPr>
          <p:nvPr/>
        </p:nvCxnSpPr>
        <p:spPr bwMode="auto">
          <a:xfrm flipH="1" flipV="1">
            <a:off x="4953000" y="1828800"/>
            <a:ext cx="725488" cy="1000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5" name="AutoShape 23">
            <a:extLst>
              <a:ext uri="{FF2B5EF4-FFF2-40B4-BE49-F238E27FC236}">
                <a16:creationId xmlns:a16="http://schemas.microsoft.com/office/drawing/2014/main" id="{DCC461F2-00F9-8961-0E85-7DEE1C6A6A77}"/>
              </a:ext>
            </a:extLst>
          </p:cNvPr>
          <p:cNvCxnSpPr>
            <a:cxnSpLocks noChangeShapeType="1"/>
            <a:stCxn id="16398" idx="7"/>
            <a:endCxn id="16402" idx="4"/>
          </p:cNvCxnSpPr>
          <p:nvPr/>
        </p:nvCxnSpPr>
        <p:spPr bwMode="auto">
          <a:xfrm flipV="1">
            <a:off x="6970713" y="1676400"/>
            <a:ext cx="954087" cy="2524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6" name="AutoShape 24">
            <a:extLst>
              <a:ext uri="{FF2B5EF4-FFF2-40B4-BE49-F238E27FC236}">
                <a16:creationId xmlns:a16="http://schemas.microsoft.com/office/drawing/2014/main" id="{5330CA05-BFA9-EDE2-3356-4A1A31011160}"/>
              </a:ext>
            </a:extLst>
          </p:cNvPr>
          <p:cNvCxnSpPr>
            <a:cxnSpLocks noChangeShapeType="1"/>
            <a:stCxn id="16397" idx="3"/>
            <a:endCxn id="16400" idx="4"/>
          </p:cNvCxnSpPr>
          <p:nvPr/>
        </p:nvCxnSpPr>
        <p:spPr bwMode="auto">
          <a:xfrm flipV="1">
            <a:off x="7086600" y="3124200"/>
            <a:ext cx="102870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7" name="AutoShape 25">
            <a:extLst>
              <a:ext uri="{FF2B5EF4-FFF2-40B4-BE49-F238E27FC236}">
                <a16:creationId xmlns:a16="http://schemas.microsoft.com/office/drawing/2014/main" id="{70B847E3-FBD1-78D7-4670-CB9D0BC08F94}"/>
              </a:ext>
            </a:extLst>
          </p:cNvPr>
          <p:cNvCxnSpPr>
            <a:cxnSpLocks noChangeShapeType="1"/>
            <a:stCxn id="16397" idx="3"/>
            <a:endCxn id="16399" idx="0"/>
          </p:cNvCxnSpPr>
          <p:nvPr/>
        </p:nvCxnSpPr>
        <p:spPr bwMode="auto">
          <a:xfrm>
            <a:off x="7086600" y="3200400"/>
            <a:ext cx="94523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08" name="AutoShape 26">
            <a:extLst>
              <a:ext uri="{FF2B5EF4-FFF2-40B4-BE49-F238E27FC236}">
                <a16:creationId xmlns:a16="http://schemas.microsoft.com/office/drawing/2014/main" id="{114E0C21-214C-3E97-2E9B-5CD21DD13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838200" cy="762000"/>
          </a:xfrm>
          <a:prstGeom prst="diamond">
            <a:avLst/>
          </a:prstGeom>
          <a:solidFill>
            <a:schemeClr val="bg2"/>
          </a:solidFill>
          <a:ln w="38100" cmpd="dbl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Has</a:t>
            </a:r>
          </a:p>
        </p:txBody>
      </p:sp>
      <p:cxnSp>
        <p:nvCxnSpPr>
          <p:cNvPr id="16409" name="AutoShape 27">
            <a:extLst>
              <a:ext uri="{FF2B5EF4-FFF2-40B4-BE49-F238E27FC236}">
                <a16:creationId xmlns:a16="http://schemas.microsoft.com/office/drawing/2014/main" id="{7F4A9A63-0309-50D9-C1CE-44ABF7C96C91}"/>
              </a:ext>
            </a:extLst>
          </p:cNvPr>
          <p:cNvCxnSpPr>
            <a:cxnSpLocks noChangeShapeType="1"/>
            <a:stCxn id="16389" idx="3"/>
            <a:endCxn id="16408" idx="1"/>
          </p:cNvCxnSpPr>
          <p:nvPr/>
        </p:nvCxnSpPr>
        <p:spPr bwMode="auto">
          <a:xfrm>
            <a:off x="3581400" y="3200400"/>
            <a:ext cx="5143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0" name="AutoShape 28">
            <a:extLst>
              <a:ext uri="{FF2B5EF4-FFF2-40B4-BE49-F238E27FC236}">
                <a16:creationId xmlns:a16="http://schemas.microsoft.com/office/drawing/2014/main" id="{1D5F4295-CA4D-3DAF-FBB5-6B71E4E029B4}"/>
              </a:ext>
            </a:extLst>
          </p:cNvPr>
          <p:cNvCxnSpPr>
            <a:cxnSpLocks noChangeShapeType="1"/>
            <a:stCxn id="16408" idx="3"/>
            <a:endCxn id="16397" idx="1"/>
          </p:cNvCxnSpPr>
          <p:nvPr/>
        </p:nvCxnSpPr>
        <p:spPr bwMode="auto">
          <a:xfrm>
            <a:off x="4972050" y="3200400"/>
            <a:ext cx="4953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411" name="Group 29">
            <a:extLst>
              <a:ext uri="{FF2B5EF4-FFF2-40B4-BE49-F238E27FC236}">
                <a16:creationId xmlns:a16="http://schemas.microsoft.com/office/drawing/2014/main" id="{AEDF81AC-5737-64F9-2F2D-1934ECFC9753}"/>
              </a:ext>
            </a:extLst>
          </p:cNvPr>
          <p:cNvGrpSpPr>
            <a:grpSpLocks/>
          </p:cNvGrpSpPr>
          <p:nvPr/>
        </p:nvGrpSpPr>
        <p:grpSpPr bwMode="auto">
          <a:xfrm>
            <a:off x="357336" y="5681464"/>
            <a:ext cx="7239000" cy="609600"/>
            <a:chOff x="144" y="3840"/>
            <a:chExt cx="4560" cy="384"/>
          </a:xfrm>
        </p:grpSpPr>
        <p:sp>
          <p:nvSpPr>
            <p:cNvPr id="16413" name="Rectangle 30">
              <a:extLst>
                <a:ext uri="{FF2B5EF4-FFF2-40B4-BE49-F238E27FC236}">
                  <a16:creationId xmlns:a16="http://schemas.microsoft.com/office/drawing/2014/main" id="{2450488B-009D-6032-257E-49451DF3F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First_Name</a:t>
              </a:r>
              <a:endParaRPr lang="en-US" altLang="en-US" sz="1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414" name="Rectangle 31">
              <a:extLst>
                <a:ext uri="{FF2B5EF4-FFF2-40B4-BE49-F238E27FC236}">
                  <a16:creationId xmlns:a16="http://schemas.microsoft.com/office/drawing/2014/main" id="{B4D9EA68-B6F1-8EAC-183D-3F40B3FFF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Last_Name</a:t>
              </a:r>
            </a:p>
          </p:txBody>
        </p:sp>
        <p:sp>
          <p:nvSpPr>
            <p:cNvPr id="16415" name="Rectangle 32">
              <a:extLst>
                <a:ext uri="{FF2B5EF4-FFF2-40B4-BE49-F238E27FC236}">
                  <a16:creationId xmlns:a16="http://schemas.microsoft.com/office/drawing/2014/main" id="{2F57A07B-6D79-90BC-59B6-0CCBE9AD3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840"/>
              <a:ext cx="816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Date_of_Birth</a:t>
              </a:r>
            </a:p>
          </p:txBody>
        </p:sp>
        <p:sp>
          <p:nvSpPr>
            <p:cNvPr id="16416" name="Rectangle 33">
              <a:extLst>
                <a:ext uri="{FF2B5EF4-FFF2-40B4-BE49-F238E27FC236}">
                  <a16:creationId xmlns:a16="http://schemas.microsoft.com/office/drawing/2014/main" id="{1EA3C77E-24DD-D461-FA20-302B13D22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Employee_ID</a:t>
              </a:r>
            </a:p>
          </p:txBody>
        </p:sp>
        <p:sp>
          <p:nvSpPr>
            <p:cNvPr id="16417" name="Rectangle 34">
              <a:extLst>
                <a:ext uri="{FF2B5EF4-FFF2-40B4-BE49-F238E27FC236}">
                  <a16:creationId xmlns:a16="http://schemas.microsoft.com/office/drawing/2014/main" id="{C6775D58-FD38-74CC-1B99-8FFCF3779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3840"/>
              <a:ext cx="72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Gender</a:t>
              </a:r>
            </a:p>
          </p:txBody>
        </p:sp>
      </p:grpSp>
      <p:cxnSp>
        <p:nvCxnSpPr>
          <p:cNvPr id="16412" name="AutoShape 35">
            <a:extLst>
              <a:ext uri="{FF2B5EF4-FFF2-40B4-BE49-F238E27FC236}">
                <a16:creationId xmlns:a16="http://schemas.microsoft.com/office/drawing/2014/main" id="{FDD007C7-A06C-C7F7-FB07-72BA37AFE8E1}"/>
              </a:ext>
            </a:extLst>
          </p:cNvPr>
          <p:cNvCxnSpPr>
            <a:cxnSpLocks noChangeShapeType="1"/>
            <a:stCxn id="16416" idx="0"/>
            <a:endCxn id="16418" idx="2"/>
          </p:cNvCxnSpPr>
          <p:nvPr/>
        </p:nvCxnSpPr>
        <p:spPr bwMode="auto">
          <a:xfrm rot="5400000" flipH="1">
            <a:off x="2414736" y="3738364"/>
            <a:ext cx="685800" cy="32004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59A8E44D-22F6-4C7D-BD1A-B5F97BC2D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117995E-890E-2523-F2C6-60E13D56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8" name="Slide Number Placeholder 23">
            <a:extLst>
              <a:ext uri="{FF2B5EF4-FFF2-40B4-BE49-F238E27FC236}">
                <a16:creationId xmlns:a16="http://schemas.microsoft.com/office/drawing/2014/main" id="{8E99E251-955E-87B3-947B-E07F9D92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075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DEA06-6004-6A27-3BCE-C2280806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6A55F-D0B5-69FB-865D-0EDD667DF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NURSE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6C03878-772C-629A-8882-D4101DAD90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6431" y="705643"/>
            <a:ext cx="4619625" cy="468313"/>
          </a:xfrm>
        </p:spPr>
        <p:txBody>
          <a:bodyPr/>
          <a:lstStyle/>
          <a:p>
            <a:r>
              <a:rPr lang="en-US" altLang="en-US" sz="24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Associative Entities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531A783-85CB-1158-9606-9496BDC85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</a:p>
        </p:txBody>
      </p:sp>
      <p:sp>
        <p:nvSpPr>
          <p:cNvPr id="18437" name="Oval 5">
            <a:extLst>
              <a:ext uri="{FF2B5EF4-FFF2-40B4-BE49-F238E27FC236}">
                <a16:creationId xmlns:a16="http://schemas.microsoft.com/office/drawing/2014/main" id="{D2CB35B5-EAE8-282F-5250-AA4D61DE4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1981200"/>
            <a:ext cx="14859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439" name="AutoShape 8">
            <a:extLst>
              <a:ext uri="{FF2B5EF4-FFF2-40B4-BE49-F238E27FC236}">
                <a16:creationId xmlns:a16="http://schemas.microsoft.com/office/drawing/2014/main" id="{B39E46F4-7A25-0057-4C26-6EE9252B88B9}"/>
              </a:ext>
            </a:extLst>
          </p:cNvPr>
          <p:cNvCxnSpPr>
            <a:cxnSpLocks noChangeShapeType="1"/>
            <a:stCxn id="18436" idx="0"/>
            <a:endCxn id="18437" idx="4"/>
          </p:cNvCxnSpPr>
          <p:nvPr/>
        </p:nvCxnSpPr>
        <p:spPr bwMode="auto">
          <a:xfrm flipH="1" flipV="1">
            <a:off x="1085850" y="2667000"/>
            <a:ext cx="55245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0" name="Rectangle 9">
            <a:extLst>
              <a:ext uri="{FF2B5EF4-FFF2-40B4-BE49-F238E27FC236}">
                <a16:creationId xmlns:a16="http://schemas.microsoft.com/office/drawing/2014/main" id="{A80339C8-2674-E2D5-7E39-E4C0B4FE8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</a:p>
        </p:txBody>
      </p:sp>
      <p:sp>
        <p:nvSpPr>
          <p:cNvPr id="18441" name="Oval 10">
            <a:extLst>
              <a:ext uri="{FF2B5EF4-FFF2-40B4-BE49-F238E27FC236}">
                <a16:creationId xmlns:a16="http://schemas.microsoft.com/office/drawing/2014/main" id="{99629F35-CA58-4164-2F1C-6E0ACFAA2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42" name="Oval 11">
            <a:extLst>
              <a:ext uri="{FF2B5EF4-FFF2-40B4-BE49-F238E27FC236}">
                <a16:creationId xmlns:a16="http://schemas.microsoft.com/office/drawing/2014/main" id="{1F062884-7EE3-36AA-D165-0EAFFDFEC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447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Price</a:t>
            </a:r>
          </a:p>
        </p:txBody>
      </p:sp>
      <p:cxnSp>
        <p:nvCxnSpPr>
          <p:cNvPr id="18443" name="AutoShape 12">
            <a:extLst>
              <a:ext uri="{FF2B5EF4-FFF2-40B4-BE49-F238E27FC236}">
                <a16:creationId xmlns:a16="http://schemas.microsoft.com/office/drawing/2014/main" id="{39CB735E-456A-FEA2-6A2F-84D2341E9D6A}"/>
              </a:ext>
            </a:extLst>
          </p:cNvPr>
          <p:cNvCxnSpPr>
            <a:cxnSpLocks noChangeShapeType="1"/>
            <a:stCxn id="18440" idx="0"/>
            <a:endCxn id="18441" idx="4"/>
          </p:cNvCxnSpPr>
          <p:nvPr/>
        </p:nvCxnSpPr>
        <p:spPr bwMode="auto">
          <a:xfrm flipH="1" flipV="1">
            <a:off x="6172200" y="1676400"/>
            <a:ext cx="11811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4" name="AutoShape 13">
            <a:extLst>
              <a:ext uri="{FF2B5EF4-FFF2-40B4-BE49-F238E27FC236}">
                <a16:creationId xmlns:a16="http://schemas.microsoft.com/office/drawing/2014/main" id="{3C9C5B3F-87C6-E9EE-1E64-A7BA2AD0BD19}"/>
              </a:ext>
            </a:extLst>
          </p:cNvPr>
          <p:cNvCxnSpPr>
            <a:cxnSpLocks noChangeShapeType="1"/>
            <a:stCxn id="18440" idx="0"/>
            <a:endCxn id="18442" idx="4"/>
          </p:cNvCxnSpPr>
          <p:nvPr/>
        </p:nvCxnSpPr>
        <p:spPr bwMode="auto">
          <a:xfrm flipV="1">
            <a:off x="7353300" y="2133600"/>
            <a:ext cx="4953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5" name="AutoShape 14">
            <a:extLst>
              <a:ext uri="{FF2B5EF4-FFF2-40B4-BE49-F238E27FC236}">
                <a16:creationId xmlns:a16="http://schemas.microsoft.com/office/drawing/2014/main" id="{16F0C311-1ACD-EABC-991E-B58E8C191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ORDER_LINE</a:t>
            </a:r>
          </a:p>
        </p:txBody>
      </p:sp>
      <p:cxnSp>
        <p:nvCxnSpPr>
          <p:cNvPr id="18446" name="AutoShape 15">
            <a:extLst>
              <a:ext uri="{FF2B5EF4-FFF2-40B4-BE49-F238E27FC236}">
                <a16:creationId xmlns:a16="http://schemas.microsoft.com/office/drawing/2014/main" id="{D989CB4C-043E-FC80-A29D-B5D129ACC6DA}"/>
              </a:ext>
            </a:extLst>
          </p:cNvPr>
          <p:cNvCxnSpPr>
            <a:cxnSpLocks noChangeShapeType="1"/>
            <a:stCxn id="18436" idx="3"/>
            <a:endCxn id="18445" idx="1"/>
          </p:cNvCxnSpPr>
          <p:nvPr/>
        </p:nvCxnSpPr>
        <p:spPr bwMode="auto">
          <a:xfrm>
            <a:off x="2438400" y="32004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7" name="AutoShape 16">
            <a:extLst>
              <a:ext uri="{FF2B5EF4-FFF2-40B4-BE49-F238E27FC236}">
                <a16:creationId xmlns:a16="http://schemas.microsoft.com/office/drawing/2014/main" id="{9906545D-F583-B18A-DD68-F3828F9DAF8B}"/>
              </a:ext>
            </a:extLst>
          </p:cNvPr>
          <p:cNvCxnSpPr>
            <a:cxnSpLocks noChangeShapeType="1"/>
            <a:stCxn id="18445" idx="3"/>
            <a:endCxn id="18440" idx="1"/>
          </p:cNvCxnSpPr>
          <p:nvPr/>
        </p:nvCxnSpPr>
        <p:spPr bwMode="auto">
          <a:xfrm>
            <a:off x="5410200" y="32004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8" name="Oval 17">
            <a:extLst>
              <a:ext uri="{FF2B5EF4-FFF2-40B4-BE49-F238E27FC236}">
                <a16:creationId xmlns:a16="http://schemas.microsoft.com/office/drawing/2014/main" id="{F934714C-5222-4928-2456-8D097B0F0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Order_Date</a:t>
            </a:r>
          </a:p>
        </p:txBody>
      </p:sp>
      <p:cxnSp>
        <p:nvCxnSpPr>
          <p:cNvPr id="18449" name="AutoShape 18">
            <a:extLst>
              <a:ext uri="{FF2B5EF4-FFF2-40B4-BE49-F238E27FC236}">
                <a16:creationId xmlns:a16="http://schemas.microsoft.com/office/drawing/2014/main" id="{31732513-3B6C-517A-DE70-E8DE9C407B44}"/>
              </a:ext>
            </a:extLst>
          </p:cNvPr>
          <p:cNvCxnSpPr>
            <a:cxnSpLocks noChangeShapeType="1"/>
            <a:stCxn id="18436" idx="0"/>
            <a:endCxn id="18448" idx="4"/>
          </p:cNvCxnSpPr>
          <p:nvPr/>
        </p:nvCxnSpPr>
        <p:spPr bwMode="auto">
          <a:xfrm flipV="1">
            <a:off x="1638300" y="2209800"/>
            <a:ext cx="10287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50" name="Oval 19">
            <a:extLst>
              <a:ext uri="{FF2B5EF4-FFF2-40B4-BE49-F238E27FC236}">
                <a16:creationId xmlns:a16="http://schemas.microsoft.com/office/drawing/2014/main" id="{99A515F0-C8B3-9A04-25D9-1810A5369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51" name="Oval 20">
            <a:extLst>
              <a:ext uri="{FF2B5EF4-FFF2-40B4-BE49-F238E27FC236}">
                <a16:creationId xmlns:a16="http://schemas.microsoft.com/office/drawing/2014/main" id="{995B9D14-80B8-CE2A-B68D-0AC054372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905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Quantity</a:t>
            </a:r>
          </a:p>
        </p:txBody>
      </p:sp>
      <p:cxnSp>
        <p:nvCxnSpPr>
          <p:cNvPr id="18452" name="AutoShape 21">
            <a:extLst>
              <a:ext uri="{FF2B5EF4-FFF2-40B4-BE49-F238E27FC236}">
                <a16:creationId xmlns:a16="http://schemas.microsoft.com/office/drawing/2014/main" id="{0A464A21-C0F2-2DDF-F86A-DAEB62A22243}"/>
              </a:ext>
            </a:extLst>
          </p:cNvPr>
          <p:cNvCxnSpPr>
            <a:cxnSpLocks noChangeShapeType="1"/>
            <a:stCxn id="18445" idx="0"/>
            <a:endCxn id="18451" idx="4"/>
          </p:cNvCxnSpPr>
          <p:nvPr/>
        </p:nvCxnSpPr>
        <p:spPr bwMode="auto">
          <a:xfrm flipH="1" flipV="1">
            <a:off x="4572000" y="2590800"/>
            <a:ext cx="381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53" name="Line 22">
            <a:extLst>
              <a:ext uri="{FF2B5EF4-FFF2-40B4-BE49-F238E27FC236}">
                <a16:creationId xmlns:a16="http://schemas.microsoft.com/office/drawing/2014/main" id="{4B05B3F0-9877-558F-DDA0-A30E4B544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54" name="Line 23">
            <a:extLst>
              <a:ext uri="{FF2B5EF4-FFF2-40B4-BE49-F238E27FC236}">
                <a16:creationId xmlns:a16="http://schemas.microsoft.com/office/drawing/2014/main" id="{504F60C2-9C3A-7739-60D3-8AD1435A9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55" name="Line 24">
            <a:extLst>
              <a:ext uri="{FF2B5EF4-FFF2-40B4-BE49-F238E27FC236}">
                <a16:creationId xmlns:a16="http://schemas.microsoft.com/office/drawing/2014/main" id="{318BA45F-3038-39E0-A874-8C1E67D32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56" name="Line 25">
            <a:extLst>
              <a:ext uri="{FF2B5EF4-FFF2-40B4-BE49-F238E27FC236}">
                <a16:creationId xmlns:a16="http://schemas.microsoft.com/office/drawing/2014/main" id="{A72EF693-1638-9CC2-CDAC-FEE181F6FD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57" name="Oval 26">
            <a:extLst>
              <a:ext uri="{FF2B5EF4-FFF2-40B4-BE49-F238E27FC236}">
                <a16:creationId xmlns:a16="http://schemas.microsoft.com/office/drawing/2014/main" id="{DA97D096-CDE5-582A-49D6-9255FC58F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8862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Product_Desc</a:t>
            </a:r>
          </a:p>
        </p:txBody>
      </p:sp>
      <p:sp>
        <p:nvSpPr>
          <p:cNvPr id="18458" name="Oval 27">
            <a:extLst>
              <a:ext uri="{FF2B5EF4-FFF2-40B4-BE49-F238E27FC236}">
                <a16:creationId xmlns:a16="http://schemas.microsoft.com/office/drawing/2014/main" id="{98226E43-D07B-B0C3-CEF8-CD121CE40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886200"/>
            <a:ext cx="17526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Product_Type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8459" name="AutoShape 28">
            <a:extLst>
              <a:ext uri="{FF2B5EF4-FFF2-40B4-BE49-F238E27FC236}">
                <a16:creationId xmlns:a16="http://schemas.microsoft.com/office/drawing/2014/main" id="{3FF8BE25-04D0-73B4-B821-E9E4FAC099E7}"/>
              </a:ext>
            </a:extLst>
          </p:cNvPr>
          <p:cNvCxnSpPr>
            <a:cxnSpLocks noChangeShapeType="1"/>
            <a:stCxn id="18458" idx="0"/>
            <a:endCxn id="18440" idx="2"/>
          </p:cNvCxnSpPr>
          <p:nvPr/>
        </p:nvCxnSpPr>
        <p:spPr bwMode="auto">
          <a:xfrm flipH="1" flipV="1">
            <a:off x="7353300" y="3505200"/>
            <a:ext cx="6858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60" name="AutoShape 29">
            <a:extLst>
              <a:ext uri="{FF2B5EF4-FFF2-40B4-BE49-F238E27FC236}">
                <a16:creationId xmlns:a16="http://schemas.microsoft.com/office/drawing/2014/main" id="{90C8A9BA-1BA2-F8F5-0492-F95F1E736F4E}"/>
              </a:ext>
            </a:extLst>
          </p:cNvPr>
          <p:cNvCxnSpPr>
            <a:cxnSpLocks noChangeShapeType="1"/>
            <a:stCxn id="18457" idx="0"/>
            <a:endCxn id="18440" idx="2"/>
          </p:cNvCxnSpPr>
          <p:nvPr/>
        </p:nvCxnSpPr>
        <p:spPr bwMode="auto">
          <a:xfrm flipV="1">
            <a:off x="6057900" y="3505200"/>
            <a:ext cx="12954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61" name="Group 30">
            <a:extLst>
              <a:ext uri="{FF2B5EF4-FFF2-40B4-BE49-F238E27FC236}">
                <a16:creationId xmlns:a16="http://schemas.microsoft.com/office/drawing/2014/main" id="{3F289059-94C0-C6BF-23D4-752F9D283EA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10200" y="3121025"/>
            <a:ext cx="306388" cy="155575"/>
            <a:chOff x="3888" y="1967"/>
            <a:chExt cx="193" cy="98"/>
          </a:xfrm>
        </p:grpSpPr>
        <p:sp>
          <p:nvSpPr>
            <p:cNvPr id="18484" name="Line 31">
              <a:extLst>
                <a:ext uri="{FF2B5EF4-FFF2-40B4-BE49-F238E27FC236}">
                  <a16:creationId xmlns:a16="http://schemas.microsoft.com/office/drawing/2014/main" id="{924D98A6-D07C-4B85-2E17-6064070ADF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485" name="Line 32">
              <a:extLst>
                <a:ext uri="{FF2B5EF4-FFF2-40B4-BE49-F238E27FC236}">
                  <a16:creationId xmlns:a16="http://schemas.microsoft.com/office/drawing/2014/main" id="{45F5DBCF-C299-8A35-A96F-1B6C3F30B2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8462" name="Group 33">
            <a:extLst>
              <a:ext uri="{FF2B5EF4-FFF2-40B4-BE49-F238E27FC236}">
                <a16:creationId xmlns:a16="http://schemas.microsoft.com/office/drawing/2014/main" id="{0475F292-3670-1E29-6B3C-0F15B9EBAB20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124200"/>
            <a:ext cx="306388" cy="155575"/>
            <a:chOff x="3888" y="1967"/>
            <a:chExt cx="193" cy="98"/>
          </a:xfrm>
        </p:grpSpPr>
        <p:sp>
          <p:nvSpPr>
            <p:cNvPr id="18482" name="Line 34">
              <a:extLst>
                <a:ext uri="{FF2B5EF4-FFF2-40B4-BE49-F238E27FC236}">
                  <a16:creationId xmlns:a16="http://schemas.microsoft.com/office/drawing/2014/main" id="{BD551FB4-C68D-D9A3-3099-41E36A40B3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483" name="Line 35">
              <a:extLst>
                <a:ext uri="{FF2B5EF4-FFF2-40B4-BE49-F238E27FC236}">
                  <a16:creationId xmlns:a16="http://schemas.microsoft.com/office/drawing/2014/main" id="{B5FD6048-0CA2-2FC3-91A6-0C549D7FFB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8463" name="Line 36">
            <a:extLst>
              <a:ext uri="{FF2B5EF4-FFF2-40B4-BE49-F238E27FC236}">
                <a16:creationId xmlns:a16="http://schemas.microsoft.com/office/drawing/2014/main" id="{220FCDBE-145A-22CE-E491-F52E8CBF0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048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464" name="Text Box 37">
            <a:extLst>
              <a:ext uri="{FF2B5EF4-FFF2-40B4-BE49-F238E27FC236}">
                <a16:creationId xmlns:a16="http://schemas.microsoft.com/office/drawing/2014/main" id="{FB25F48E-93E8-6701-847E-A9CF08F96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</a:p>
        </p:txBody>
      </p:sp>
      <p:sp>
        <p:nvSpPr>
          <p:cNvPr id="18465" name="Text Box 38">
            <a:extLst>
              <a:ext uri="{FF2B5EF4-FFF2-40B4-BE49-F238E27FC236}">
                <a16:creationId xmlns:a16="http://schemas.microsoft.com/office/drawing/2014/main" id="{72EEEA2C-474A-67FF-509A-7C8777228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ORDER_LINE</a:t>
            </a:r>
          </a:p>
        </p:txBody>
      </p:sp>
      <p:grpSp>
        <p:nvGrpSpPr>
          <p:cNvPr id="18466" name="Group 39">
            <a:extLst>
              <a:ext uri="{FF2B5EF4-FFF2-40B4-BE49-F238E27FC236}">
                <a16:creationId xmlns:a16="http://schemas.microsoft.com/office/drawing/2014/main" id="{4F6DB86B-D3ED-B86D-1E2E-E58BE10B5DE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867400"/>
            <a:ext cx="3581400" cy="609600"/>
            <a:chOff x="144" y="3840"/>
            <a:chExt cx="3024" cy="384"/>
          </a:xfrm>
        </p:grpSpPr>
        <p:sp>
          <p:nvSpPr>
            <p:cNvPr id="18479" name="Rectangle 40">
              <a:extLst>
                <a:ext uri="{FF2B5EF4-FFF2-40B4-BE49-F238E27FC236}">
                  <a16:creationId xmlns:a16="http://schemas.microsoft.com/office/drawing/2014/main" id="{6D2737AC-29E5-13E3-BB6F-8E451775F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Product_ID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480" name="Rectangle 41">
              <a:extLst>
                <a:ext uri="{FF2B5EF4-FFF2-40B4-BE49-F238E27FC236}">
                  <a16:creationId xmlns:a16="http://schemas.microsoft.com/office/drawing/2014/main" id="{D14AEB45-259B-C6AF-CA14-DDDF9ACEE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Order_ID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481" name="Rectangle 42">
              <a:extLst>
                <a:ext uri="{FF2B5EF4-FFF2-40B4-BE49-F238E27FC236}">
                  <a16:creationId xmlns:a16="http://schemas.microsoft.com/office/drawing/2014/main" id="{2811E721-6C16-93FF-6F34-B134F2347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Quantity</a:t>
              </a:r>
            </a:p>
          </p:txBody>
        </p:sp>
      </p:grpSp>
      <p:cxnSp>
        <p:nvCxnSpPr>
          <p:cNvPr id="18467" name="AutoShape 43">
            <a:extLst>
              <a:ext uri="{FF2B5EF4-FFF2-40B4-BE49-F238E27FC236}">
                <a16:creationId xmlns:a16="http://schemas.microsoft.com/office/drawing/2014/main" id="{4CED362E-2EA6-4BAC-616D-3A44B72A81B6}"/>
              </a:ext>
            </a:extLst>
          </p:cNvPr>
          <p:cNvCxnSpPr>
            <a:cxnSpLocks noChangeShapeType="1"/>
            <a:stCxn id="18480" idx="0"/>
            <a:endCxn id="18477" idx="2"/>
          </p:cNvCxnSpPr>
          <p:nvPr/>
        </p:nvCxnSpPr>
        <p:spPr bwMode="auto">
          <a:xfrm rot="16200000" flipV="1">
            <a:off x="1122600" y="4970700"/>
            <a:ext cx="609600" cy="11838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68" name="Group 44">
            <a:extLst>
              <a:ext uri="{FF2B5EF4-FFF2-40B4-BE49-F238E27FC236}">
                <a16:creationId xmlns:a16="http://schemas.microsoft.com/office/drawing/2014/main" id="{E1151D34-7095-0726-04E6-5269B02588A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648200"/>
            <a:ext cx="2543200" cy="609600"/>
            <a:chOff x="144" y="3264"/>
            <a:chExt cx="2112" cy="384"/>
          </a:xfrm>
        </p:grpSpPr>
        <p:sp>
          <p:nvSpPr>
            <p:cNvPr id="18477" name="Rectangle 45">
              <a:extLst>
                <a:ext uri="{FF2B5EF4-FFF2-40B4-BE49-F238E27FC236}">
                  <a16:creationId xmlns:a16="http://schemas.microsoft.com/office/drawing/2014/main" id="{316A41DC-1D4E-C412-1D28-728AEA0FF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Order_ID</a:t>
              </a:r>
              <a:endParaRPr lang="en-US" altLang="en-US" sz="16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478" name="Rectangle 46">
              <a:extLst>
                <a:ext uri="{FF2B5EF4-FFF2-40B4-BE49-F238E27FC236}">
                  <a16:creationId xmlns:a16="http://schemas.microsoft.com/office/drawing/2014/main" id="{7FA5953F-935E-00A0-A0D7-5A62C99B2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Order_Date</a:t>
              </a:r>
            </a:p>
          </p:txBody>
        </p:sp>
      </p:grpSp>
      <p:sp>
        <p:nvSpPr>
          <p:cNvPr id="18469" name="Text Box 47">
            <a:extLst>
              <a:ext uri="{FF2B5EF4-FFF2-40B4-BE49-F238E27FC236}">
                <a16:creationId xmlns:a16="http://schemas.microsoft.com/office/drawing/2014/main" id="{72681865-B300-F287-E1E8-189F35D1D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48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</a:p>
        </p:txBody>
      </p:sp>
      <p:cxnSp>
        <p:nvCxnSpPr>
          <p:cNvPr id="18470" name="AutoShape 48">
            <a:extLst>
              <a:ext uri="{FF2B5EF4-FFF2-40B4-BE49-F238E27FC236}">
                <a16:creationId xmlns:a16="http://schemas.microsoft.com/office/drawing/2014/main" id="{D3111CD9-BB45-0776-A03E-17B0F5BE7E96}"/>
              </a:ext>
            </a:extLst>
          </p:cNvPr>
          <p:cNvCxnSpPr>
            <a:cxnSpLocks noChangeShapeType="1"/>
            <a:stCxn id="18479" idx="0"/>
            <a:endCxn id="18474" idx="2"/>
          </p:cNvCxnSpPr>
          <p:nvPr/>
        </p:nvCxnSpPr>
        <p:spPr bwMode="auto">
          <a:xfrm rot="5400000" flipH="1" flipV="1">
            <a:off x="2514600" y="4025900"/>
            <a:ext cx="152400" cy="35306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471" name="Group 49">
            <a:extLst>
              <a:ext uri="{FF2B5EF4-FFF2-40B4-BE49-F238E27FC236}">
                <a16:creationId xmlns:a16="http://schemas.microsoft.com/office/drawing/2014/main" id="{C11AD86B-FFCA-956D-BDBE-0B29CFDAE0BA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105400"/>
            <a:ext cx="5162550" cy="609600"/>
            <a:chOff x="2304" y="3216"/>
            <a:chExt cx="3252" cy="384"/>
          </a:xfrm>
        </p:grpSpPr>
        <p:grpSp>
          <p:nvGrpSpPr>
            <p:cNvPr id="18472" name="Group 50">
              <a:extLst>
                <a:ext uri="{FF2B5EF4-FFF2-40B4-BE49-F238E27FC236}">
                  <a16:creationId xmlns:a16="http://schemas.microsoft.com/office/drawing/2014/main" id="{2362FED5-7202-74E4-9B9E-36BC545D9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18474" name="Rectangle 51">
                <a:extLst>
                  <a:ext uri="{FF2B5EF4-FFF2-40B4-BE49-F238E27FC236}">
                    <a16:creationId xmlns:a16="http://schemas.microsoft.com/office/drawing/2014/main" id="{C54A3DE8-7533-D81E-A03E-6EB486375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u="sng" dirty="0" err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Product_ID</a:t>
                </a:r>
                <a:endParaRPr lang="en-US" altLang="en-US" sz="1800" u="sng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8475" name="Rectangle 52">
                <a:extLst>
                  <a:ext uri="{FF2B5EF4-FFF2-40B4-BE49-F238E27FC236}">
                    <a16:creationId xmlns:a16="http://schemas.microsoft.com/office/drawing/2014/main" id="{514F5C7C-4448-EAA9-8C50-4AE0941DC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Product_Desc</a:t>
                </a:r>
                <a:endParaRPr lang="en-US" altLang="en-US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8476" name="Rectangle 53">
                <a:extLst>
                  <a:ext uri="{FF2B5EF4-FFF2-40B4-BE49-F238E27FC236}">
                    <a16:creationId xmlns:a16="http://schemas.microsoft.com/office/drawing/2014/main" id="{A2C03ED1-CD37-AA5B-D540-45CF01956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Product_Type</a:t>
                </a:r>
                <a:endParaRPr lang="en-US" altLang="en-US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8473" name="Rectangle 54">
              <a:extLst>
                <a:ext uri="{FF2B5EF4-FFF2-40B4-BE49-F238E27FC236}">
                  <a16:creationId xmlns:a16="http://schemas.microsoft.com/office/drawing/2014/main" id="{C35656E5-C628-6C51-9D55-F67813E65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62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Price</a:t>
              </a: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F5396B0D-21BC-2DF6-D77B-6FF3FD3A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261466"/>
            <a:ext cx="648072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9pPr>
          </a:lstStyle>
          <a:p>
            <a:r>
              <a:rPr lang="en-US" altLang="en-US" sz="2800" b="1" u="sng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  <a:endParaRPr lang="en-US" altLang="en-US" sz="2800" b="1" u="sng" dirty="0">
              <a:solidFill>
                <a:srgbClr val="D3481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1F56AAF-8E12-C296-163E-CF4CF8B3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F62E0A65-01CE-D28B-57BB-894DC925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1289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1428-BDBA-22C6-7BA9-EEB666D5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6BF092D-559C-198B-F0A4-60C0239BF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NURSE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9AC82091-1EC0-24E0-8C1D-ADA368875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9461" name="Oval 5">
            <a:extLst>
              <a:ext uri="{FF2B5EF4-FFF2-40B4-BE49-F238E27FC236}">
                <a16:creationId xmlns:a16="http://schemas.microsoft.com/office/drawing/2014/main" id="{523495B4-8E9E-FBE3-5887-E96B4BAC2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81200"/>
            <a:ext cx="16002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9463" name="AutoShape 8">
            <a:extLst>
              <a:ext uri="{FF2B5EF4-FFF2-40B4-BE49-F238E27FC236}">
                <a16:creationId xmlns:a16="http://schemas.microsoft.com/office/drawing/2014/main" id="{963CA9CA-E4F5-C6D4-0EBA-B77DEF9D5359}"/>
              </a:ext>
            </a:extLst>
          </p:cNvPr>
          <p:cNvCxnSpPr>
            <a:cxnSpLocks noChangeShapeType="1"/>
            <a:stCxn id="19460" idx="0"/>
            <a:endCxn id="19461" idx="4"/>
          </p:cNvCxnSpPr>
          <p:nvPr/>
        </p:nvCxnSpPr>
        <p:spPr bwMode="auto">
          <a:xfrm flipH="1" flipV="1">
            <a:off x="1028700" y="2667000"/>
            <a:ext cx="609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4" name="Rectangle 9">
            <a:extLst>
              <a:ext uri="{FF2B5EF4-FFF2-40B4-BE49-F238E27FC236}">
                <a16:creationId xmlns:a16="http://schemas.microsoft.com/office/drawing/2014/main" id="{85D6873B-4095-6AE4-7231-12FDBA075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VENDOR</a:t>
            </a:r>
          </a:p>
        </p:txBody>
      </p:sp>
      <p:sp>
        <p:nvSpPr>
          <p:cNvPr id="19465" name="Oval 10">
            <a:extLst>
              <a:ext uri="{FF2B5EF4-FFF2-40B4-BE49-F238E27FC236}">
                <a16:creationId xmlns:a16="http://schemas.microsoft.com/office/drawing/2014/main" id="{186E5C9D-7CE0-F86D-1E61-2D316732A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Vendor_ID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466" name="Oval 11">
            <a:extLst>
              <a:ext uri="{FF2B5EF4-FFF2-40B4-BE49-F238E27FC236}">
                <a16:creationId xmlns:a16="http://schemas.microsoft.com/office/drawing/2014/main" id="{F476B1AA-4B8C-D548-FF7A-D08DB2332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447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Address</a:t>
            </a:r>
          </a:p>
        </p:txBody>
      </p:sp>
      <p:cxnSp>
        <p:nvCxnSpPr>
          <p:cNvPr id="19467" name="AutoShape 12">
            <a:extLst>
              <a:ext uri="{FF2B5EF4-FFF2-40B4-BE49-F238E27FC236}">
                <a16:creationId xmlns:a16="http://schemas.microsoft.com/office/drawing/2014/main" id="{93F4E063-95EA-5773-EF27-1DC213CA9398}"/>
              </a:ext>
            </a:extLst>
          </p:cNvPr>
          <p:cNvCxnSpPr>
            <a:cxnSpLocks noChangeShapeType="1"/>
            <a:stCxn id="19464" idx="0"/>
            <a:endCxn id="19465" idx="4"/>
          </p:cNvCxnSpPr>
          <p:nvPr/>
        </p:nvCxnSpPr>
        <p:spPr bwMode="auto">
          <a:xfrm flipH="1" flipV="1">
            <a:off x="6553200" y="1676400"/>
            <a:ext cx="8001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68" name="AutoShape 13">
            <a:extLst>
              <a:ext uri="{FF2B5EF4-FFF2-40B4-BE49-F238E27FC236}">
                <a16:creationId xmlns:a16="http://schemas.microsoft.com/office/drawing/2014/main" id="{813F946F-069F-19BA-3549-171B97659407}"/>
              </a:ext>
            </a:extLst>
          </p:cNvPr>
          <p:cNvCxnSpPr>
            <a:cxnSpLocks noChangeShapeType="1"/>
            <a:stCxn id="19464" idx="0"/>
            <a:endCxn id="19466" idx="4"/>
          </p:cNvCxnSpPr>
          <p:nvPr/>
        </p:nvCxnSpPr>
        <p:spPr bwMode="auto">
          <a:xfrm flipV="1">
            <a:off x="7353300" y="2133600"/>
            <a:ext cx="72390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69" name="AutoShape 14">
            <a:extLst>
              <a:ext uri="{FF2B5EF4-FFF2-40B4-BE49-F238E27FC236}">
                <a16:creationId xmlns:a16="http://schemas.microsoft.com/office/drawing/2014/main" id="{D9453ED7-2F0B-71DF-1737-0AA3AB608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895600"/>
            <a:ext cx="16002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SHIPMENT</a:t>
            </a:r>
          </a:p>
        </p:txBody>
      </p:sp>
      <p:cxnSp>
        <p:nvCxnSpPr>
          <p:cNvPr id="19470" name="AutoShape 15">
            <a:extLst>
              <a:ext uri="{FF2B5EF4-FFF2-40B4-BE49-F238E27FC236}">
                <a16:creationId xmlns:a16="http://schemas.microsoft.com/office/drawing/2014/main" id="{B288458C-0FAF-6F15-CB32-88C0DCFF0BF3}"/>
              </a:ext>
            </a:extLst>
          </p:cNvPr>
          <p:cNvCxnSpPr>
            <a:cxnSpLocks noChangeShapeType="1"/>
            <a:stCxn id="19460" idx="3"/>
            <a:endCxn id="19469" idx="1"/>
          </p:cNvCxnSpPr>
          <p:nvPr/>
        </p:nvCxnSpPr>
        <p:spPr bwMode="auto">
          <a:xfrm>
            <a:off x="2438400" y="3200400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1" name="AutoShape 16">
            <a:extLst>
              <a:ext uri="{FF2B5EF4-FFF2-40B4-BE49-F238E27FC236}">
                <a16:creationId xmlns:a16="http://schemas.microsoft.com/office/drawing/2014/main" id="{DF90EB91-9441-9C6B-6641-A1E11BD9D03D}"/>
              </a:ext>
            </a:extLst>
          </p:cNvPr>
          <p:cNvCxnSpPr>
            <a:cxnSpLocks noChangeShapeType="1"/>
            <a:stCxn id="19469" idx="3"/>
            <a:endCxn id="19464" idx="1"/>
          </p:cNvCxnSpPr>
          <p:nvPr/>
        </p:nvCxnSpPr>
        <p:spPr bwMode="auto">
          <a:xfrm>
            <a:off x="5410200" y="3200400"/>
            <a:ext cx="1143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2" name="Oval 17">
            <a:extLst>
              <a:ext uri="{FF2B5EF4-FFF2-40B4-BE49-F238E27FC236}">
                <a16:creationId xmlns:a16="http://schemas.microsoft.com/office/drawing/2014/main" id="{80455CDE-5C1D-68EC-4214-F006BA649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</a:p>
        </p:txBody>
      </p:sp>
      <p:cxnSp>
        <p:nvCxnSpPr>
          <p:cNvPr id="19473" name="AutoShape 18">
            <a:extLst>
              <a:ext uri="{FF2B5EF4-FFF2-40B4-BE49-F238E27FC236}">
                <a16:creationId xmlns:a16="http://schemas.microsoft.com/office/drawing/2014/main" id="{24B82D44-80E8-A511-00C8-9B8BF72157CF}"/>
              </a:ext>
            </a:extLst>
          </p:cNvPr>
          <p:cNvCxnSpPr>
            <a:cxnSpLocks noChangeShapeType="1"/>
            <a:stCxn id="19460" idx="0"/>
            <a:endCxn id="19472" idx="4"/>
          </p:cNvCxnSpPr>
          <p:nvPr/>
        </p:nvCxnSpPr>
        <p:spPr bwMode="auto">
          <a:xfrm flipV="1">
            <a:off x="1638300" y="2209800"/>
            <a:ext cx="7239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4" name="Oval 19">
            <a:extLst>
              <a:ext uri="{FF2B5EF4-FFF2-40B4-BE49-F238E27FC236}">
                <a16:creationId xmlns:a16="http://schemas.microsoft.com/office/drawing/2014/main" id="{083752CC-C6C5-43AF-E464-AF132D658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812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Date</a:t>
            </a:r>
          </a:p>
        </p:txBody>
      </p:sp>
      <p:cxnSp>
        <p:nvCxnSpPr>
          <p:cNvPr id="19475" name="AutoShape 20">
            <a:extLst>
              <a:ext uri="{FF2B5EF4-FFF2-40B4-BE49-F238E27FC236}">
                <a16:creationId xmlns:a16="http://schemas.microsoft.com/office/drawing/2014/main" id="{3B4B5421-9A11-960A-125B-73E8F62764B0}"/>
              </a:ext>
            </a:extLst>
          </p:cNvPr>
          <p:cNvCxnSpPr>
            <a:cxnSpLocks noChangeShapeType="1"/>
            <a:stCxn id="19469" idx="0"/>
            <a:endCxn id="19474" idx="4"/>
          </p:cNvCxnSpPr>
          <p:nvPr/>
        </p:nvCxnSpPr>
        <p:spPr bwMode="auto">
          <a:xfrm flipH="1" flipV="1">
            <a:off x="3886200" y="2667000"/>
            <a:ext cx="7239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476" name="Group 21">
            <a:extLst>
              <a:ext uri="{FF2B5EF4-FFF2-40B4-BE49-F238E27FC236}">
                <a16:creationId xmlns:a16="http://schemas.microsoft.com/office/drawing/2014/main" id="{95F48843-0135-8B89-A083-95B0E75C8B5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410200" y="3121025"/>
            <a:ext cx="306388" cy="155575"/>
            <a:chOff x="3888" y="1967"/>
            <a:chExt cx="193" cy="98"/>
          </a:xfrm>
        </p:grpSpPr>
        <p:sp>
          <p:nvSpPr>
            <p:cNvPr id="19504" name="Line 22">
              <a:extLst>
                <a:ext uri="{FF2B5EF4-FFF2-40B4-BE49-F238E27FC236}">
                  <a16:creationId xmlns:a16="http://schemas.microsoft.com/office/drawing/2014/main" id="{87D2D985-6E2A-620B-0CE8-B156BD10BB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505" name="Line 23">
              <a:extLst>
                <a:ext uri="{FF2B5EF4-FFF2-40B4-BE49-F238E27FC236}">
                  <a16:creationId xmlns:a16="http://schemas.microsoft.com/office/drawing/2014/main" id="{50D42104-07FF-4A8C-7080-4B627A1E39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9477" name="Group 24">
            <a:extLst>
              <a:ext uri="{FF2B5EF4-FFF2-40B4-BE49-F238E27FC236}">
                <a16:creationId xmlns:a16="http://schemas.microsoft.com/office/drawing/2014/main" id="{9C2A6B5F-F369-6F35-E974-A14A24A677C8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124200"/>
            <a:ext cx="306388" cy="155575"/>
            <a:chOff x="3888" y="1967"/>
            <a:chExt cx="193" cy="98"/>
          </a:xfrm>
        </p:grpSpPr>
        <p:sp>
          <p:nvSpPr>
            <p:cNvPr id="19502" name="Line 25">
              <a:extLst>
                <a:ext uri="{FF2B5EF4-FFF2-40B4-BE49-F238E27FC236}">
                  <a16:creationId xmlns:a16="http://schemas.microsoft.com/office/drawing/2014/main" id="{598E068A-C1AA-886E-E1EF-2D9ABE0E68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503" name="Line 26">
              <a:extLst>
                <a:ext uri="{FF2B5EF4-FFF2-40B4-BE49-F238E27FC236}">
                  <a16:creationId xmlns:a16="http://schemas.microsoft.com/office/drawing/2014/main" id="{C5B127C7-5183-F162-6540-B01C66F622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9478" name="Text Box 27">
            <a:extLst>
              <a:ext uri="{FF2B5EF4-FFF2-40B4-BE49-F238E27FC236}">
                <a16:creationId xmlns:a16="http://schemas.microsoft.com/office/drawing/2014/main" id="{126CF45E-C899-C3CD-C6E9-973D97DDC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19479" name="Text Box 28">
            <a:extLst>
              <a:ext uri="{FF2B5EF4-FFF2-40B4-BE49-F238E27FC236}">
                <a16:creationId xmlns:a16="http://schemas.microsoft.com/office/drawing/2014/main" id="{D4AD6F86-E144-905A-E9E9-292AFC000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VENDOR</a:t>
            </a:r>
          </a:p>
        </p:txBody>
      </p:sp>
      <p:grpSp>
        <p:nvGrpSpPr>
          <p:cNvPr id="19480" name="Group 29">
            <a:extLst>
              <a:ext uri="{FF2B5EF4-FFF2-40B4-BE49-F238E27FC236}">
                <a16:creationId xmlns:a16="http://schemas.microsoft.com/office/drawing/2014/main" id="{DF596BB3-CC14-7AB0-A526-63EA7378DA1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5867400"/>
            <a:ext cx="4648200" cy="609600"/>
            <a:chOff x="144" y="3840"/>
            <a:chExt cx="3024" cy="384"/>
          </a:xfrm>
        </p:grpSpPr>
        <p:sp>
          <p:nvSpPr>
            <p:cNvPr id="19499" name="Rectangle 30">
              <a:extLst>
                <a:ext uri="{FF2B5EF4-FFF2-40B4-BE49-F238E27FC236}">
                  <a16:creationId xmlns:a16="http://schemas.microsoft.com/office/drawing/2014/main" id="{3F915CA7-425C-0E4D-C4AF-47462DA9D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Vendor_ID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500" name="Rectangle 31">
              <a:extLst>
                <a:ext uri="{FF2B5EF4-FFF2-40B4-BE49-F238E27FC236}">
                  <a16:creationId xmlns:a16="http://schemas.microsoft.com/office/drawing/2014/main" id="{01A57D18-87DB-0A12-2F64-4E9F527B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Address</a:t>
              </a:r>
            </a:p>
          </p:txBody>
        </p:sp>
        <p:sp>
          <p:nvSpPr>
            <p:cNvPr id="19501" name="Rectangle 32">
              <a:extLst>
                <a:ext uri="{FF2B5EF4-FFF2-40B4-BE49-F238E27FC236}">
                  <a16:creationId xmlns:a16="http://schemas.microsoft.com/office/drawing/2014/main" id="{6BA28B22-B44F-125E-6D3A-914639383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Other attributes</a:t>
              </a:r>
            </a:p>
          </p:txBody>
        </p:sp>
      </p:grpSp>
      <p:grpSp>
        <p:nvGrpSpPr>
          <p:cNvPr id="19481" name="Group 33">
            <a:extLst>
              <a:ext uri="{FF2B5EF4-FFF2-40B4-BE49-F238E27FC236}">
                <a16:creationId xmlns:a16="http://schemas.microsoft.com/office/drawing/2014/main" id="{0955C8F3-8AAD-E5E7-0E1B-4AA2A4949A3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648200"/>
            <a:ext cx="3352800" cy="609600"/>
            <a:chOff x="144" y="3264"/>
            <a:chExt cx="2112" cy="384"/>
          </a:xfrm>
        </p:grpSpPr>
        <p:sp>
          <p:nvSpPr>
            <p:cNvPr id="19497" name="Rectangle 34">
              <a:extLst>
                <a:ext uri="{FF2B5EF4-FFF2-40B4-BE49-F238E27FC236}">
                  <a16:creationId xmlns:a16="http://schemas.microsoft.com/office/drawing/2014/main" id="{642D410E-A81F-BC2A-2694-5170B4421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264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Customer_ID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9498" name="Rectangle 35">
              <a:extLst>
                <a:ext uri="{FF2B5EF4-FFF2-40B4-BE49-F238E27FC236}">
                  <a16:creationId xmlns:a16="http://schemas.microsoft.com/office/drawing/2014/main" id="{E4EDD808-9804-1F19-D86C-C058DD5F9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26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Name</a:t>
              </a:r>
            </a:p>
          </p:txBody>
        </p:sp>
      </p:grpSp>
      <p:sp>
        <p:nvSpPr>
          <p:cNvPr id="19482" name="Text Box 36">
            <a:extLst>
              <a:ext uri="{FF2B5EF4-FFF2-40B4-BE49-F238E27FC236}">
                <a16:creationId xmlns:a16="http://schemas.microsoft.com/office/drawing/2014/main" id="{0F9752C0-B843-508B-4B7B-2BF186C8B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648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SHIPMENT</a:t>
            </a:r>
          </a:p>
        </p:txBody>
      </p:sp>
      <p:grpSp>
        <p:nvGrpSpPr>
          <p:cNvPr id="19483" name="Group 37">
            <a:extLst>
              <a:ext uri="{FF2B5EF4-FFF2-40B4-BE49-F238E27FC236}">
                <a16:creationId xmlns:a16="http://schemas.microsoft.com/office/drawing/2014/main" id="{119C7051-F9D8-E202-57B1-AA8B95E6E6C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105400"/>
            <a:ext cx="5334000" cy="609600"/>
            <a:chOff x="2304" y="3216"/>
            <a:chExt cx="3504" cy="384"/>
          </a:xfrm>
        </p:grpSpPr>
        <p:grpSp>
          <p:nvGrpSpPr>
            <p:cNvPr id="19492" name="Group 38">
              <a:extLst>
                <a:ext uri="{FF2B5EF4-FFF2-40B4-BE49-F238E27FC236}">
                  <a16:creationId xmlns:a16="http://schemas.microsoft.com/office/drawing/2014/main" id="{1E8F2939-A404-577C-397B-A60713FE5F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19494" name="Rectangle 39">
                <a:extLst>
                  <a:ext uri="{FF2B5EF4-FFF2-40B4-BE49-F238E27FC236}">
                    <a16:creationId xmlns:a16="http://schemas.microsoft.com/office/drawing/2014/main" id="{273EEF65-A90C-54B8-A010-4F84D6585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u="sng" dirty="0" err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Shipment_No</a:t>
                </a:r>
                <a:endParaRPr lang="en-US" altLang="en-US" sz="1800" u="sng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9495" name="Rectangle 40">
                <a:extLst>
                  <a:ext uri="{FF2B5EF4-FFF2-40B4-BE49-F238E27FC236}">
                    <a16:creationId xmlns:a16="http://schemas.microsoft.com/office/drawing/2014/main" id="{34959388-832C-0466-91C7-2A63A0F7D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 err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Customer_ID</a:t>
                </a:r>
                <a:endParaRPr lang="en-US" altLang="en-US" sz="180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9496" name="Rectangle 41">
                <a:extLst>
                  <a:ext uri="{FF2B5EF4-FFF2-40B4-BE49-F238E27FC236}">
                    <a16:creationId xmlns:a16="http://schemas.microsoft.com/office/drawing/2014/main" id="{F780954E-158C-C305-C447-7B223948B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Vendor_ID</a:t>
                </a:r>
              </a:p>
            </p:txBody>
          </p:sp>
        </p:grpSp>
        <p:sp>
          <p:nvSpPr>
            <p:cNvPr id="19493" name="Rectangle 42">
              <a:extLst>
                <a:ext uri="{FF2B5EF4-FFF2-40B4-BE49-F238E27FC236}">
                  <a16:creationId xmlns:a16="http://schemas.microsoft.com/office/drawing/2014/main" id="{CC48344D-C052-82E5-A548-8CEA6B500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8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Others</a:t>
              </a:r>
            </a:p>
          </p:txBody>
        </p:sp>
      </p:grpSp>
      <p:sp>
        <p:nvSpPr>
          <p:cNvPr id="19484" name="Oval 43">
            <a:extLst>
              <a:ext uri="{FF2B5EF4-FFF2-40B4-BE49-F238E27FC236}">
                <a16:creationId xmlns:a16="http://schemas.microsoft.com/office/drawing/2014/main" id="{9022DFC4-3088-F3FB-8BE7-1267FA03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8288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Shipment_No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485" name="Oval 44">
            <a:extLst>
              <a:ext uri="{FF2B5EF4-FFF2-40B4-BE49-F238E27FC236}">
                <a16:creationId xmlns:a16="http://schemas.microsoft.com/office/drawing/2014/main" id="{61767531-15E2-1580-5589-296C82D9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657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Amount</a:t>
            </a:r>
          </a:p>
        </p:txBody>
      </p:sp>
      <p:cxnSp>
        <p:nvCxnSpPr>
          <p:cNvPr id="19486" name="AutoShape 45">
            <a:extLst>
              <a:ext uri="{FF2B5EF4-FFF2-40B4-BE49-F238E27FC236}">
                <a16:creationId xmlns:a16="http://schemas.microsoft.com/office/drawing/2014/main" id="{92184A3D-D71A-A303-0B17-7E1998619116}"/>
              </a:ext>
            </a:extLst>
          </p:cNvPr>
          <p:cNvCxnSpPr>
            <a:cxnSpLocks noChangeShapeType="1"/>
            <a:stCxn id="19485" idx="0"/>
            <a:endCxn id="19469" idx="2"/>
          </p:cNvCxnSpPr>
          <p:nvPr/>
        </p:nvCxnSpPr>
        <p:spPr bwMode="auto">
          <a:xfrm flipH="1" flipV="1">
            <a:off x="4610100" y="3505200"/>
            <a:ext cx="64770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7" name="AutoShape 46">
            <a:extLst>
              <a:ext uri="{FF2B5EF4-FFF2-40B4-BE49-F238E27FC236}">
                <a16:creationId xmlns:a16="http://schemas.microsoft.com/office/drawing/2014/main" id="{AF322DDC-49AB-D58E-3F7A-9C3754D5AF0D}"/>
              </a:ext>
            </a:extLst>
          </p:cNvPr>
          <p:cNvCxnSpPr>
            <a:cxnSpLocks noChangeShapeType="1"/>
            <a:stCxn id="19484" idx="4"/>
            <a:endCxn id="19469" idx="0"/>
          </p:cNvCxnSpPr>
          <p:nvPr/>
        </p:nvCxnSpPr>
        <p:spPr bwMode="auto">
          <a:xfrm flipH="1">
            <a:off x="4610100" y="2514600"/>
            <a:ext cx="11811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88" name="Line 47">
            <a:extLst>
              <a:ext uri="{FF2B5EF4-FFF2-40B4-BE49-F238E27FC236}">
                <a16:creationId xmlns:a16="http://schemas.microsoft.com/office/drawing/2014/main" id="{4CF8D316-2055-3B99-ED43-115A3E3C3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489" name="Line 48">
            <a:extLst>
              <a:ext uri="{FF2B5EF4-FFF2-40B4-BE49-F238E27FC236}">
                <a16:creationId xmlns:a16="http://schemas.microsoft.com/office/drawing/2014/main" id="{24103181-DA07-9E08-A097-2583D18399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9490" name="AutoShape 49">
            <a:extLst>
              <a:ext uri="{FF2B5EF4-FFF2-40B4-BE49-F238E27FC236}">
                <a16:creationId xmlns:a16="http://schemas.microsoft.com/office/drawing/2014/main" id="{1C82C6F6-2C9D-8D59-9C91-68A0F428BB36}"/>
              </a:ext>
            </a:extLst>
          </p:cNvPr>
          <p:cNvCxnSpPr>
            <a:cxnSpLocks noChangeShapeType="1"/>
            <a:stCxn id="19495" idx="0"/>
            <a:endCxn id="19497" idx="0"/>
          </p:cNvCxnSpPr>
          <p:nvPr/>
        </p:nvCxnSpPr>
        <p:spPr bwMode="auto">
          <a:xfrm rot="16200000" flipV="1">
            <a:off x="3119242" y="2557658"/>
            <a:ext cx="457200" cy="4638284"/>
          </a:xfrm>
          <a:prstGeom prst="curvedConnector3">
            <a:avLst>
              <a:gd name="adj1" fmla="val 1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91" name="AutoShape 50">
            <a:extLst>
              <a:ext uri="{FF2B5EF4-FFF2-40B4-BE49-F238E27FC236}">
                <a16:creationId xmlns:a16="http://schemas.microsoft.com/office/drawing/2014/main" id="{7618FF32-C03D-532E-284E-36DB4D30D16F}"/>
              </a:ext>
            </a:extLst>
          </p:cNvPr>
          <p:cNvCxnSpPr>
            <a:cxnSpLocks noChangeShapeType="1"/>
            <a:stCxn id="19496" idx="2"/>
            <a:endCxn id="19499" idx="2"/>
          </p:cNvCxnSpPr>
          <p:nvPr/>
        </p:nvCxnSpPr>
        <p:spPr bwMode="auto">
          <a:xfrm rot="5400000">
            <a:off x="3623937" y="3094364"/>
            <a:ext cx="762000" cy="6003273"/>
          </a:xfrm>
          <a:prstGeom prst="bentConnector3">
            <a:avLst>
              <a:gd name="adj1" fmla="val 13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9D0CC37-B292-256A-1338-0F26A8EBC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423" y="705643"/>
            <a:ext cx="4619625" cy="468313"/>
          </a:xfrm>
        </p:spPr>
        <p:txBody>
          <a:bodyPr/>
          <a:lstStyle/>
          <a:p>
            <a:r>
              <a:rPr lang="en-US" altLang="en-US" sz="24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Associative Entities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FDE427D-DA64-7165-74E3-3CF08B1C9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61466"/>
            <a:ext cx="648072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9pPr>
          </a:lstStyle>
          <a:p>
            <a:r>
              <a:rPr lang="en-US" altLang="en-US" sz="2800" b="1" u="sng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Entities</a:t>
            </a:r>
            <a:endParaRPr lang="en-US" altLang="en-US" sz="2800" b="1" u="sng" dirty="0">
              <a:solidFill>
                <a:srgbClr val="D3481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40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8C78-98FE-885D-B4C9-683D23AF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202330C-A807-B089-6065-155E7C1206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662EF28-6EB2-4886-70E3-FB8985CBE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There are the following types of relationship:</a:t>
            </a:r>
          </a:p>
          <a:p>
            <a:pPr marL="731838" lvl="1" indent="-4572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 </a:t>
            </a:r>
          </a:p>
          <a:p>
            <a:pPr marL="731838" lvl="1" indent="-4572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Unary Relationship </a:t>
            </a:r>
          </a:p>
          <a:p>
            <a:pPr marL="731838" lvl="1" indent="-4572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Ternary Relationship </a:t>
            </a:r>
          </a:p>
          <a:p>
            <a:pPr marL="731838" lvl="1" indent="-4572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 type / Subtype Relationship</a:t>
            </a:r>
          </a:p>
          <a:p>
            <a:pPr marL="274638" lvl="1" indent="0" algn="just">
              <a:spcBef>
                <a:spcPts val="600"/>
              </a:spcBef>
              <a:buNone/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3A20A-27DD-373D-F68F-79FD94EF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3CF00812-DB11-A10F-010E-04247C50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575237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50FA-A094-2367-A090-39EF55C24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66B759D-1BF9-31CB-3AA2-A46AB3510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45886E1-E933-0680-8D9D-A2929211E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2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2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One to Many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is represented by the PK of the entity having one cardinality as a FK in the relation representing the entity having many cardinality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Department - Employee (1:M)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ii) One to One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is represented by the PK of the entity having mandatory cardinality as a FK in the relation representing the entity having optional cardinality  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Student – Project (1:1)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iii) Many to Many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200" u="sng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relation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created consisting of Primary Keys of both the entities plus the attributes of the relationship.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Example: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Order – Product (M:N) 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        Student – Course (M:N)</a:t>
            </a: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36F62-5CEA-118B-5467-CFADBAD8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D03534D-67DF-D906-B3C9-7CA46AB2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451983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29F4-8239-E4A5-5920-47F432FF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6E8E4D3-DA7B-8472-28E5-B8429915C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091E30C-44AB-B154-301D-F5AE60DCF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 (1:M)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EF16DD-0158-99CB-D92C-755730AA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D95BEA3-AAC6-5892-02D4-EDF1744D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15CDE80-5CB1-0D0D-1595-E14267258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4" y="1175916"/>
            <a:ext cx="8216900" cy="520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02841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461E-ADD6-E1F9-36DA-B0329ABF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8AAB6EB-0938-081C-6040-B1A6C3F28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0C11C4F-A9AB-7790-F1A7-E4E545D2F1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 (1:1)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2CC2B-4420-B939-4988-078268FD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A3AFBE55-61F6-90B7-2E82-5E211F77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61B561F8-A9DA-EDDD-AAC5-3E38FD828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68413"/>
            <a:ext cx="7489825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213139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FDC1-11A4-0940-E9BE-53347494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ED8603C-D154-8B94-1AB4-7D19BE2CC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7BD8959-61F9-C926-AAAA-342CBBBB6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94176" y="257847"/>
            <a:ext cx="3960440" cy="503238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 (M:N)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511804-3057-A982-AB18-89895C5F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A90702E-9471-C716-D7F2-226C5651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619C31A-8C68-F357-566D-4921BF29E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836712"/>
            <a:ext cx="6985000" cy="599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07547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9EB23-364D-AC16-0052-3B8B8DCE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63497C4-B479-86D2-CEEB-CC2BB1A735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E2CD15A-858A-841A-5F06-D4DDA05021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701" y="711306"/>
            <a:ext cx="3960440" cy="503238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Binary Relationship (M:N)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0E386-E606-B98E-CCF2-B4C72984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750DBA86-1FC2-C635-DC49-BD40F2407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96" y="41910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RAW MATERIALS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9B5494D-3E63-F3FC-DD30-8EB64068B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696" y="2895600"/>
            <a:ext cx="1600200" cy="6096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RAW MATERIAL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60311686-3362-679C-B800-E8EEBF004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96" y="1600200"/>
            <a:ext cx="16764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Unit_of_Measure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81B59B52-30C2-8CED-369B-8319F5EB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96" y="2667000"/>
            <a:ext cx="1562100" cy="6096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Material_ID</a:t>
            </a:r>
            <a:endParaRPr lang="en-US" altLang="en-US" sz="1800" u="sng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AutoShape 7">
            <a:extLst>
              <a:ext uri="{FF2B5EF4-FFF2-40B4-BE49-F238E27FC236}">
                <a16:creationId xmlns:a16="http://schemas.microsoft.com/office/drawing/2014/main" id="{71211BEA-FF1E-1172-AD10-2CF8CC278B73}"/>
              </a:ext>
            </a:extLst>
          </p:cNvPr>
          <p:cNvCxnSpPr>
            <a:cxnSpLocks noChangeShapeType="1"/>
            <a:stCxn id="6" idx="1"/>
            <a:endCxn id="8" idx="6"/>
          </p:cNvCxnSpPr>
          <p:nvPr/>
        </p:nvCxnSpPr>
        <p:spPr bwMode="auto">
          <a:xfrm flipH="1" flipV="1">
            <a:off x="1788096" y="2971800"/>
            <a:ext cx="2286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 Box 10">
            <a:extLst>
              <a:ext uri="{FF2B5EF4-FFF2-40B4-BE49-F238E27FC236}">
                <a16:creationId xmlns:a16="http://schemas.microsoft.com/office/drawing/2014/main" id="{F27B8A3C-1F7A-85A6-0D1C-D908EAF7F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96" y="5410200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QUOTE</a:t>
            </a:r>
          </a:p>
        </p:txBody>
      </p:sp>
      <p:cxnSp>
        <p:nvCxnSpPr>
          <p:cNvPr id="13" name="AutoShape 11">
            <a:extLst>
              <a:ext uri="{FF2B5EF4-FFF2-40B4-BE49-F238E27FC236}">
                <a16:creationId xmlns:a16="http://schemas.microsoft.com/office/drawing/2014/main" id="{812F701E-6CB7-9484-028B-3D092C3FF8D0}"/>
              </a:ext>
            </a:extLst>
          </p:cNvPr>
          <p:cNvCxnSpPr>
            <a:cxnSpLocks noChangeShapeType="1"/>
            <a:stCxn id="6" idx="0"/>
            <a:endCxn id="7" idx="4"/>
          </p:cNvCxnSpPr>
          <p:nvPr/>
        </p:nvCxnSpPr>
        <p:spPr bwMode="auto">
          <a:xfrm flipH="1" flipV="1">
            <a:off x="1102296" y="2286000"/>
            <a:ext cx="17145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Rectangle 12">
            <a:extLst>
              <a:ext uri="{FF2B5EF4-FFF2-40B4-BE49-F238E27FC236}">
                <a16:creationId xmlns:a16="http://schemas.microsoft.com/office/drawing/2014/main" id="{D47E0645-B869-0609-F9F6-D976ECAEC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496" y="2895600"/>
            <a:ext cx="1600200" cy="609600"/>
          </a:xfrm>
          <a:prstGeom prst="rect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VENDOR</a:t>
            </a: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8D689949-F06C-B7B8-34DA-99125658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4296" y="9906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Vendor_ID</a:t>
            </a:r>
          </a:p>
        </p:txBody>
      </p:sp>
      <p:sp>
        <p:nvSpPr>
          <p:cNvPr id="16" name="Oval 14">
            <a:extLst>
              <a:ext uri="{FF2B5EF4-FFF2-40B4-BE49-F238E27FC236}">
                <a16:creationId xmlns:a16="http://schemas.microsoft.com/office/drawing/2014/main" id="{1CA7D5AA-4096-E0D1-7A3B-3F481B570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696" y="1447800"/>
            <a:ext cx="1562099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Vendor_Name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7" name="AutoShape 15">
            <a:extLst>
              <a:ext uri="{FF2B5EF4-FFF2-40B4-BE49-F238E27FC236}">
                <a16:creationId xmlns:a16="http://schemas.microsoft.com/office/drawing/2014/main" id="{EEA5A574-0E65-87AE-F341-FA8E856745B9}"/>
              </a:ext>
            </a:extLst>
          </p:cNvPr>
          <p:cNvCxnSpPr>
            <a:cxnSpLocks noChangeShapeType="1"/>
            <a:stCxn id="14" idx="0"/>
            <a:endCxn id="15" idx="4"/>
          </p:cNvCxnSpPr>
          <p:nvPr/>
        </p:nvCxnSpPr>
        <p:spPr bwMode="auto">
          <a:xfrm flipH="1" flipV="1">
            <a:off x="6588696" y="1676400"/>
            <a:ext cx="723900" cy="1219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AutoShape 16">
            <a:extLst>
              <a:ext uri="{FF2B5EF4-FFF2-40B4-BE49-F238E27FC236}">
                <a16:creationId xmlns:a16="http://schemas.microsoft.com/office/drawing/2014/main" id="{5D750F6C-055D-B50E-3538-74D4DF077B4F}"/>
              </a:ext>
            </a:extLst>
          </p:cNvPr>
          <p:cNvCxnSpPr>
            <a:cxnSpLocks noChangeShapeType="1"/>
            <a:stCxn id="14" idx="0"/>
            <a:endCxn id="16" idx="4"/>
          </p:cNvCxnSpPr>
          <p:nvPr/>
        </p:nvCxnSpPr>
        <p:spPr bwMode="auto">
          <a:xfrm flipV="1">
            <a:off x="7312596" y="2133600"/>
            <a:ext cx="819150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AutoShape 17">
            <a:extLst>
              <a:ext uri="{FF2B5EF4-FFF2-40B4-BE49-F238E27FC236}">
                <a16:creationId xmlns:a16="http://schemas.microsoft.com/office/drawing/2014/main" id="{F815B69E-87E8-3FB9-9A27-232A0450B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096" y="2819400"/>
            <a:ext cx="1066800" cy="7620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Supplies</a:t>
            </a:r>
          </a:p>
        </p:txBody>
      </p:sp>
      <p:cxnSp>
        <p:nvCxnSpPr>
          <p:cNvPr id="20" name="AutoShape 18">
            <a:extLst>
              <a:ext uri="{FF2B5EF4-FFF2-40B4-BE49-F238E27FC236}">
                <a16:creationId xmlns:a16="http://schemas.microsoft.com/office/drawing/2014/main" id="{6A68BC37-1ECA-3D8B-31B1-E7352816A7B5}"/>
              </a:ext>
            </a:extLst>
          </p:cNvPr>
          <p:cNvCxnSpPr>
            <a:cxnSpLocks noChangeShapeType="1"/>
            <a:stCxn id="6" idx="3"/>
            <a:endCxn id="19" idx="1"/>
          </p:cNvCxnSpPr>
          <p:nvPr/>
        </p:nvCxnSpPr>
        <p:spPr bwMode="auto">
          <a:xfrm>
            <a:off x="3616896" y="3200400"/>
            <a:ext cx="8382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19">
            <a:extLst>
              <a:ext uri="{FF2B5EF4-FFF2-40B4-BE49-F238E27FC236}">
                <a16:creationId xmlns:a16="http://schemas.microsoft.com/office/drawing/2014/main" id="{927242F9-A2DA-82C7-AE71-AE9878C10B1E}"/>
              </a:ext>
            </a:extLst>
          </p:cNvPr>
          <p:cNvCxnSpPr>
            <a:cxnSpLocks noChangeShapeType="1"/>
            <a:stCxn id="19" idx="3"/>
            <a:endCxn id="14" idx="1"/>
          </p:cNvCxnSpPr>
          <p:nvPr/>
        </p:nvCxnSpPr>
        <p:spPr bwMode="auto">
          <a:xfrm>
            <a:off x="5521896" y="3200400"/>
            <a:ext cx="990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" name="Group 20">
            <a:extLst>
              <a:ext uri="{FF2B5EF4-FFF2-40B4-BE49-F238E27FC236}">
                <a16:creationId xmlns:a16="http://schemas.microsoft.com/office/drawing/2014/main" id="{AB547E96-A842-F81B-B2D3-7077A533E8E6}"/>
              </a:ext>
            </a:extLst>
          </p:cNvPr>
          <p:cNvGrpSpPr>
            <a:grpSpLocks/>
          </p:cNvGrpSpPr>
          <p:nvPr/>
        </p:nvGrpSpPr>
        <p:grpSpPr bwMode="auto">
          <a:xfrm>
            <a:off x="264096" y="5791200"/>
            <a:ext cx="4191000" cy="609600"/>
            <a:chOff x="144" y="3840"/>
            <a:chExt cx="3024" cy="384"/>
          </a:xfrm>
        </p:grpSpPr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C78590D3-5D11-2244-712B-166638FE5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Material_ID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D2E5A90E-8FB2-F652-FD5E-992BDE7EC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Vendor_ID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4BF359A0-0E95-A98A-F059-F807C6BE4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Unit_Price</a:t>
              </a:r>
            </a:p>
          </p:txBody>
        </p:sp>
      </p:grpSp>
      <p:cxnSp>
        <p:nvCxnSpPr>
          <p:cNvPr id="26" name="AutoShape 24">
            <a:extLst>
              <a:ext uri="{FF2B5EF4-FFF2-40B4-BE49-F238E27FC236}">
                <a16:creationId xmlns:a16="http://schemas.microsoft.com/office/drawing/2014/main" id="{7D9F5844-0EF5-3D36-AF39-D6A69B35BC91}"/>
              </a:ext>
            </a:extLst>
          </p:cNvPr>
          <p:cNvCxnSpPr>
            <a:cxnSpLocks noChangeShapeType="1"/>
            <a:stCxn id="12" idx="2"/>
            <a:endCxn id="30720" idx="2"/>
          </p:cNvCxnSpPr>
          <p:nvPr/>
        </p:nvCxnSpPr>
        <p:spPr bwMode="auto">
          <a:xfrm rot="16200000" flipV="1">
            <a:off x="937989" y="5307807"/>
            <a:ext cx="595313" cy="342900"/>
          </a:xfrm>
          <a:prstGeom prst="curvedConnector5">
            <a:avLst>
              <a:gd name="adj1" fmla="val 24264"/>
              <a:gd name="adj2" fmla="val -207870"/>
              <a:gd name="adj3" fmla="val 8080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Oval 25">
            <a:extLst>
              <a:ext uri="{FF2B5EF4-FFF2-40B4-BE49-F238E27FC236}">
                <a16:creationId xmlns:a16="http://schemas.microsoft.com/office/drawing/2014/main" id="{3E070A74-015D-DA4A-E92B-7AF09C4AB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096" y="1524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Standard_Cost</a:t>
            </a:r>
          </a:p>
        </p:txBody>
      </p:sp>
      <p:cxnSp>
        <p:nvCxnSpPr>
          <p:cNvPr id="28" name="AutoShape 26">
            <a:extLst>
              <a:ext uri="{FF2B5EF4-FFF2-40B4-BE49-F238E27FC236}">
                <a16:creationId xmlns:a16="http://schemas.microsoft.com/office/drawing/2014/main" id="{514F16E5-B935-5AFB-6E25-7358DDF90CD7}"/>
              </a:ext>
            </a:extLst>
          </p:cNvPr>
          <p:cNvCxnSpPr>
            <a:cxnSpLocks noChangeShapeType="1"/>
            <a:stCxn id="6" idx="0"/>
            <a:endCxn id="27" idx="4"/>
          </p:cNvCxnSpPr>
          <p:nvPr/>
        </p:nvCxnSpPr>
        <p:spPr bwMode="auto">
          <a:xfrm flipV="1">
            <a:off x="2816796" y="2209800"/>
            <a:ext cx="266700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" name="Group 27">
            <a:extLst>
              <a:ext uri="{FF2B5EF4-FFF2-40B4-BE49-F238E27FC236}">
                <a16:creationId xmlns:a16="http://schemas.microsoft.com/office/drawing/2014/main" id="{07537A50-556D-FB8D-C060-0EC4A0900443}"/>
              </a:ext>
            </a:extLst>
          </p:cNvPr>
          <p:cNvGrpSpPr>
            <a:grpSpLocks/>
          </p:cNvGrpSpPr>
          <p:nvPr/>
        </p:nvGrpSpPr>
        <p:grpSpPr bwMode="auto">
          <a:xfrm>
            <a:off x="264096" y="4572000"/>
            <a:ext cx="5105400" cy="609600"/>
            <a:chOff x="144" y="3024"/>
            <a:chExt cx="3216" cy="384"/>
          </a:xfrm>
        </p:grpSpPr>
        <p:grpSp>
          <p:nvGrpSpPr>
            <p:cNvPr id="30" name="Group 28">
              <a:extLst>
                <a:ext uri="{FF2B5EF4-FFF2-40B4-BE49-F238E27FC236}">
                  <a16:creationId xmlns:a16="http://schemas.microsoft.com/office/drawing/2014/main" id="{4AEF05FE-A71F-650D-5ACD-8D3B673A63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3024"/>
              <a:ext cx="2112" cy="384"/>
              <a:chOff x="144" y="3264"/>
              <a:chExt cx="2112" cy="384"/>
            </a:xfrm>
          </p:grpSpPr>
          <p:sp>
            <p:nvSpPr>
              <p:cNvPr id="30720" name="Rectangle 29">
                <a:extLst>
                  <a:ext uri="{FF2B5EF4-FFF2-40B4-BE49-F238E27FC236}">
                    <a16:creationId xmlns:a16="http://schemas.microsoft.com/office/drawing/2014/main" id="{C25E0FB5-E12F-5329-287D-724AB9BED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264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 u="sng" dirty="0" err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Material_ID</a:t>
                </a:r>
                <a:endParaRPr lang="en-US" altLang="en-US" sz="1600" u="sng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0721" name="Rectangle 30">
                <a:extLst>
                  <a:ext uri="{FF2B5EF4-FFF2-40B4-BE49-F238E27FC236}">
                    <a16:creationId xmlns:a16="http://schemas.microsoft.com/office/drawing/2014/main" id="{3C2654EB-6353-E078-FF5D-29F4F1A56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264"/>
                <a:ext cx="1104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latin typeface="Cambria" panose="02040503050406030204" pitchFamily="18" charset="0"/>
                    <a:ea typeface="Cambria" panose="02040503050406030204" pitchFamily="18" charset="0"/>
                  </a:rPr>
                  <a:t>Standard_Cost</a:t>
                </a:r>
              </a:p>
            </p:txBody>
          </p:sp>
        </p:grp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E96A285B-22A9-6816-907C-A1D3FE670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024"/>
              <a:ext cx="1104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Unit_of_Measure</a:t>
              </a:r>
            </a:p>
          </p:txBody>
        </p:sp>
      </p:grpSp>
      <p:grpSp>
        <p:nvGrpSpPr>
          <p:cNvPr id="30723" name="Group 32">
            <a:extLst>
              <a:ext uri="{FF2B5EF4-FFF2-40B4-BE49-F238E27FC236}">
                <a16:creationId xmlns:a16="http://schemas.microsoft.com/office/drawing/2014/main" id="{FC20BBEF-2328-6E5A-7473-AE98DDA58E15}"/>
              </a:ext>
            </a:extLst>
          </p:cNvPr>
          <p:cNvGrpSpPr>
            <a:grpSpLocks/>
          </p:cNvGrpSpPr>
          <p:nvPr/>
        </p:nvGrpSpPr>
        <p:grpSpPr bwMode="auto">
          <a:xfrm>
            <a:off x="6207696" y="3122613"/>
            <a:ext cx="306388" cy="155575"/>
            <a:chOff x="3888" y="1967"/>
            <a:chExt cx="193" cy="98"/>
          </a:xfrm>
        </p:grpSpPr>
        <p:sp>
          <p:nvSpPr>
            <p:cNvPr id="30724" name="Line 33">
              <a:extLst>
                <a:ext uri="{FF2B5EF4-FFF2-40B4-BE49-F238E27FC236}">
                  <a16:creationId xmlns:a16="http://schemas.microsoft.com/office/drawing/2014/main" id="{561F70DF-FC23-36A4-3550-DFAC9CE542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725" name="Line 34">
              <a:extLst>
                <a:ext uri="{FF2B5EF4-FFF2-40B4-BE49-F238E27FC236}">
                  <a16:creationId xmlns:a16="http://schemas.microsoft.com/office/drawing/2014/main" id="{78E2446F-7383-9CDC-ADCF-E836974F18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30726" name="Oval 35">
            <a:extLst>
              <a:ext uri="{FF2B5EF4-FFF2-40B4-BE49-F238E27FC236}">
                <a16:creationId xmlns:a16="http://schemas.microsoft.com/office/drawing/2014/main" id="{458D0589-2690-BF8F-C8DB-E2D4514FA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5296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0727" name="Group 36">
            <a:extLst>
              <a:ext uri="{FF2B5EF4-FFF2-40B4-BE49-F238E27FC236}">
                <a16:creationId xmlns:a16="http://schemas.microsoft.com/office/drawing/2014/main" id="{5138D4FE-D1FA-EE43-8298-FA2C427BEE9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616896" y="3124200"/>
            <a:ext cx="306388" cy="155575"/>
            <a:chOff x="3888" y="1967"/>
            <a:chExt cx="193" cy="98"/>
          </a:xfrm>
        </p:grpSpPr>
        <p:sp>
          <p:nvSpPr>
            <p:cNvPr id="30728" name="Line 37">
              <a:extLst>
                <a:ext uri="{FF2B5EF4-FFF2-40B4-BE49-F238E27FC236}">
                  <a16:creationId xmlns:a16="http://schemas.microsoft.com/office/drawing/2014/main" id="{22FA9A95-963C-B609-60D6-2F837FB0D7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729" name="Line 38">
              <a:extLst>
                <a:ext uri="{FF2B5EF4-FFF2-40B4-BE49-F238E27FC236}">
                  <a16:creationId xmlns:a16="http://schemas.microsoft.com/office/drawing/2014/main" id="{BFAB7A87-DD0D-1CF3-D547-DA3D157866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30730" name="Oval 39">
            <a:extLst>
              <a:ext uri="{FF2B5EF4-FFF2-40B4-BE49-F238E27FC236}">
                <a16:creationId xmlns:a16="http://schemas.microsoft.com/office/drawing/2014/main" id="{B227237E-847E-B504-1E4D-72DBF11445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21696" y="3124200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731" name="Oval 40">
            <a:extLst>
              <a:ext uri="{FF2B5EF4-FFF2-40B4-BE49-F238E27FC236}">
                <a16:creationId xmlns:a16="http://schemas.microsoft.com/office/drawing/2014/main" id="{1FD145BA-EB7D-E7BA-B909-71709CA07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096" y="1905000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Unit_Price</a:t>
            </a:r>
          </a:p>
        </p:txBody>
      </p:sp>
      <p:cxnSp>
        <p:nvCxnSpPr>
          <p:cNvPr id="30732" name="AutoShape 41">
            <a:extLst>
              <a:ext uri="{FF2B5EF4-FFF2-40B4-BE49-F238E27FC236}">
                <a16:creationId xmlns:a16="http://schemas.microsoft.com/office/drawing/2014/main" id="{22207FD0-900F-0BAE-7ADA-1216E8325F67}"/>
              </a:ext>
            </a:extLst>
          </p:cNvPr>
          <p:cNvCxnSpPr>
            <a:cxnSpLocks noChangeShapeType="1"/>
            <a:stCxn id="19" idx="0"/>
            <a:endCxn id="30731" idx="4"/>
          </p:cNvCxnSpPr>
          <p:nvPr/>
        </p:nvCxnSpPr>
        <p:spPr bwMode="auto">
          <a:xfrm flipV="1">
            <a:off x="4988496" y="2590800"/>
            <a:ext cx="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3" name="Oval 42">
            <a:extLst>
              <a:ext uri="{FF2B5EF4-FFF2-40B4-BE49-F238E27FC236}">
                <a16:creationId xmlns:a16="http://schemas.microsoft.com/office/drawing/2014/main" id="{06E64F31-4C18-453F-A212-CE1727446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996" y="3810000"/>
            <a:ext cx="2209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Vendor_Address</a:t>
            </a:r>
            <a:endParaRPr lang="en-US" alt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0734" name="AutoShape 43">
            <a:extLst>
              <a:ext uri="{FF2B5EF4-FFF2-40B4-BE49-F238E27FC236}">
                <a16:creationId xmlns:a16="http://schemas.microsoft.com/office/drawing/2014/main" id="{7385A30C-F126-F968-0E21-29046E940481}"/>
              </a:ext>
            </a:extLst>
          </p:cNvPr>
          <p:cNvCxnSpPr>
            <a:cxnSpLocks noChangeShapeType="1"/>
            <a:stCxn id="14" idx="2"/>
            <a:endCxn id="30733" idx="0"/>
          </p:cNvCxnSpPr>
          <p:nvPr/>
        </p:nvCxnSpPr>
        <p:spPr bwMode="auto">
          <a:xfrm>
            <a:off x="7312596" y="3505200"/>
            <a:ext cx="49530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0735" name="Group 44">
            <a:extLst>
              <a:ext uri="{FF2B5EF4-FFF2-40B4-BE49-F238E27FC236}">
                <a16:creationId xmlns:a16="http://schemas.microsoft.com/office/drawing/2014/main" id="{1627DE2D-4ABE-C13D-18AE-3F2D843C8DD7}"/>
              </a:ext>
            </a:extLst>
          </p:cNvPr>
          <p:cNvGrpSpPr>
            <a:grpSpLocks/>
          </p:cNvGrpSpPr>
          <p:nvPr/>
        </p:nvGrpSpPr>
        <p:grpSpPr bwMode="auto">
          <a:xfrm>
            <a:off x="4688906" y="5805264"/>
            <a:ext cx="4223889" cy="609600"/>
            <a:chOff x="144" y="3840"/>
            <a:chExt cx="3024" cy="384"/>
          </a:xfrm>
        </p:grpSpPr>
        <p:sp>
          <p:nvSpPr>
            <p:cNvPr id="30736" name="Rectangle 45">
              <a:extLst>
                <a:ext uri="{FF2B5EF4-FFF2-40B4-BE49-F238E27FC236}">
                  <a16:creationId xmlns:a16="http://schemas.microsoft.com/office/drawing/2014/main" id="{BA206260-FE3B-4BF7-A432-46AF0AFFE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Vendor_ID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737" name="Rectangle 46">
              <a:extLst>
                <a:ext uri="{FF2B5EF4-FFF2-40B4-BE49-F238E27FC236}">
                  <a16:creationId xmlns:a16="http://schemas.microsoft.com/office/drawing/2014/main" id="{F8F683D2-07CC-26A6-0120-529311A6D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Vendor_Name</a:t>
              </a:r>
            </a:p>
          </p:txBody>
        </p:sp>
        <p:sp>
          <p:nvSpPr>
            <p:cNvPr id="30738" name="Rectangle 47">
              <a:extLst>
                <a:ext uri="{FF2B5EF4-FFF2-40B4-BE49-F238E27FC236}">
                  <a16:creationId xmlns:a16="http://schemas.microsoft.com/office/drawing/2014/main" id="{161429B5-0766-183E-B28A-A225BE298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Cambria" panose="02040503050406030204" pitchFamily="18" charset="0"/>
                  <a:ea typeface="Cambria" panose="02040503050406030204" pitchFamily="18" charset="0"/>
                </a:rPr>
                <a:t>Vendor_Address</a:t>
              </a:r>
            </a:p>
          </p:txBody>
        </p:sp>
      </p:grpSp>
      <p:sp>
        <p:nvSpPr>
          <p:cNvPr id="30739" name="Text Box 48">
            <a:extLst>
              <a:ext uri="{FF2B5EF4-FFF2-40B4-BE49-F238E27FC236}">
                <a16:creationId xmlns:a16="http://schemas.microsoft.com/office/drawing/2014/main" id="{53FBB407-C94C-0A5B-B6C6-4E403727F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5438551"/>
            <a:ext cx="243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VENDOR</a:t>
            </a:r>
          </a:p>
        </p:txBody>
      </p:sp>
      <p:cxnSp>
        <p:nvCxnSpPr>
          <p:cNvPr id="30740" name="AutoShape 49">
            <a:extLst>
              <a:ext uri="{FF2B5EF4-FFF2-40B4-BE49-F238E27FC236}">
                <a16:creationId xmlns:a16="http://schemas.microsoft.com/office/drawing/2014/main" id="{D07C7A1D-1DF5-FF4B-9DFB-3D81F4052E6B}"/>
              </a:ext>
            </a:extLst>
          </p:cNvPr>
          <p:cNvCxnSpPr>
            <a:cxnSpLocks noChangeShapeType="1"/>
            <a:stCxn id="24" idx="0"/>
            <a:endCxn id="30736" idx="0"/>
          </p:cNvCxnSpPr>
          <p:nvPr/>
        </p:nvCxnSpPr>
        <p:spPr bwMode="auto">
          <a:xfrm rot="16200000" flipH="1">
            <a:off x="3869210" y="4281586"/>
            <a:ext cx="14064" cy="3033292"/>
          </a:xfrm>
          <a:prstGeom prst="curvedConnector3">
            <a:avLst>
              <a:gd name="adj1" fmla="val -162542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3907986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E8FE-D4C5-E4E2-0DAC-313F3F35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BB980F9-2CE4-28A7-AE05-11A90F13E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A4A221E-7222-CF61-0305-F8B28E699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Unary Relationship</a:t>
            </a:r>
          </a:p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4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One to Many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ii) One to One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FK is introduced in the relation obtained from the entity and this FK refers the PK of the same relation. Such FK is called </a:t>
            </a:r>
            <a:r>
              <a:rPr lang="en-US" sz="24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Recursive FK.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iii) Many to Many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new relation is created consisting of Primary Key of the entity repeated twice with different names plus the attributes of the relationship.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3D222-2F97-512D-3711-063371A76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8BF48DD-393C-DA91-7318-7782F920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5734257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C7F69-63EE-7D2A-2101-7D294B12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F807C3C-419D-A7C3-E612-1D73DF1EC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3507420-B899-661A-F0BA-C64F082FA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701" y="711306"/>
            <a:ext cx="3960440" cy="503238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Unary Relationship (1:M)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75CF5-6A2E-A2FB-2817-A57B73A7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AE7B55-339E-7045-C545-4E0A026A3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479576"/>
            <a:ext cx="1600200" cy="6096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EMPLOYEE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09E9D736-6007-4637-8C75-D8464C0D3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41277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u="sng">
                <a:latin typeface="Cambria" panose="02040503050406030204" pitchFamily="18" charset="0"/>
                <a:ea typeface="Cambria" panose="02040503050406030204" pitchFamily="18" charset="0"/>
              </a:rPr>
              <a:t>Employee_ID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6FBC8391-EA3F-8E2F-7FD5-F803CFDCF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933056"/>
            <a:ext cx="843947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Employee Relation with Recursive Foreign Key</a:t>
            </a:r>
          </a:p>
        </p:txBody>
      </p:sp>
      <p:cxnSp>
        <p:nvCxnSpPr>
          <p:cNvPr id="11" name="AutoShape 7">
            <a:extLst>
              <a:ext uri="{FF2B5EF4-FFF2-40B4-BE49-F238E27FC236}">
                <a16:creationId xmlns:a16="http://schemas.microsoft.com/office/drawing/2014/main" id="{DB5741E2-88F7-BB78-7BD4-95F776C3EF4C}"/>
              </a:ext>
            </a:extLst>
          </p:cNvPr>
          <p:cNvCxnSpPr>
            <a:cxnSpLocks noChangeShapeType="1"/>
            <a:stCxn id="2" idx="0"/>
            <a:endCxn id="4" idx="4"/>
          </p:cNvCxnSpPr>
          <p:nvPr/>
        </p:nvCxnSpPr>
        <p:spPr bwMode="auto">
          <a:xfrm flipH="1" flipV="1">
            <a:off x="2133600" y="2098576"/>
            <a:ext cx="16367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1" name="AutoShape 8">
            <a:extLst>
              <a:ext uri="{FF2B5EF4-FFF2-40B4-BE49-F238E27FC236}">
                <a16:creationId xmlns:a16="http://schemas.microsoft.com/office/drawing/2014/main" id="{3516F9E9-3C4B-C350-5B17-7EFEFE65B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2479576"/>
            <a:ext cx="13716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Manages</a:t>
            </a:r>
          </a:p>
        </p:txBody>
      </p:sp>
      <p:cxnSp>
        <p:nvCxnSpPr>
          <p:cNvPr id="30742" name="AutoShape 9">
            <a:extLst>
              <a:ext uri="{FF2B5EF4-FFF2-40B4-BE49-F238E27FC236}">
                <a16:creationId xmlns:a16="http://schemas.microsoft.com/office/drawing/2014/main" id="{E3A71B93-A75B-F922-0140-90F261224D46}"/>
              </a:ext>
            </a:extLst>
          </p:cNvPr>
          <p:cNvCxnSpPr>
            <a:cxnSpLocks noChangeShapeType="1"/>
            <a:stCxn id="2" idx="3"/>
            <a:endCxn id="30741" idx="1"/>
          </p:cNvCxnSpPr>
          <p:nvPr/>
        </p:nvCxnSpPr>
        <p:spPr bwMode="auto">
          <a:xfrm>
            <a:off x="4570413" y="2784376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3" name="Oval 10">
            <a:extLst>
              <a:ext uri="{FF2B5EF4-FFF2-40B4-BE49-F238E27FC236}">
                <a16:creationId xmlns:a16="http://schemas.microsoft.com/office/drawing/2014/main" id="{03AA05D6-180D-C77E-88AC-1F90575C2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141277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</a:p>
        </p:txBody>
      </p:sp>
      <p:cxnSp>
        <p:nvCxnSpPr>
          <p:cNvPr id="30744" name="AutoShape 11">
            <a:extLst>
              <a:ext uri="{FF2B5EF4-FFF2-40B4-BE49-F238E27FC236}">
                <a16:creationId xmlns:a16="http://schemas.microsoft.com/office/drawing/2014/main" id="{6E3F70C6-9C9C-6BCE-30E8-4116EED5ABCC}"/>
              </a:ext>
            </a:extLst>
          </p:cNvPr>
          <p:cNvCxnSpPr>
            <a:cxnSpLocks noChangeShapeType="1"/>
            <a:stCxn id="2" idx="0"/>
            <a:endCxn id="30743" idx="4"/>
          </p:cNvCxnSpPr>
          <p:nvPr/>
        </p:nvCxnSpPr>
        <p:spPr bwMode="auto">
          <a:xfrm flipV="1">
            <a:off x="3770313" y="2098576"/>
            <a:ext cx="573087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5" name="Oval 12">
            <a:extLst>
              <a:ext uri="{FF2B5EF4-FFF2-40B4-BE49-F238E27FC236}">
                <a16:creationId xmlns:a16="http://schemas.microsoft.com/office/drawing/2014/main" id="{0DCF9BB3-898C-0DDA-A580-D1767EA50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48897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latin typeface="Cambria" panose="02040503050406030204" pitchFamily="18" charset="0"/>
                <a:ea typeface="Cambria" panose="02040503050406030204" pitchFamily="18" charset="0"/>
              </a:rPr>
              <a:t>Birthdate</a:t>
            </a:r>
          </a:p>
        </p:txBody>
      </p:sp>
      <p:grpSp>
        <p:nvGrpSpPr>
          <p:cNvPr id="30746" name="Group 13">
            <a:extLst>
              <a:ext uri="{FF2B5EF4-FFF2-40B4-BE49-F238E27FC236}">
                <a16:creationId xmlns:a16="http://schemas.microsoft.com/office/drawing/2014/main" id="{FA3187AB-63E5-45BC-B8C5-29133F3DBD5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570413" y="2708176"/>
            <a:ext cx="306387" cy="155575"/>
            <a:chOff x="3888" y="1967"/>
            <a:chExt cx="193" cy="98"/>
          </a:xfrm>
        </p:grpSpPr>
        <p:sp>
          <p:nvSpPr>
            <p:cNvPr id="30747" name="Line 14">
              <a:extLst>
                <a:ext uri="{FF2B5EF4-FFF2-40B4-BE49-F238E27FC236}">
                  <a16:creationId xmlns:a16="http://schemas.microsoft.com/office/drawing/2014/main" id="{E33119FD-0C14-7B71-C4AC-571B371727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748" name="Line 15">
              <a:extLst>
                <a:ext uri="{FF2B5EF4-FFF2-40B4-BE49-F238E27FC236}">
                  <a16:creationId xmlns:a16="http://schemas.microsoft.com/office/drawing/2014/main" id="{7ED2FAE1-9048-CC32-1944-A17A01D328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8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30749" name="Text Box 16">
            <a:extLst>
              <a:ext uri="{FF2B5EF4-FFF2-40B4-BE49-F238E27FC236}">
                <a16:creationId xmlns:a16="http://schemas.microsoft.com/office/drawing/2014/main" id="{0B94D624-4BAB-8948-C682-9EEC4682F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75064"/>
            <a:ext cx="2209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Cambria" panose="02040503050406030204" pitchFamily="18" charset="0"/>
                <a:ea typeface="Cambria" panose="02040503050406030204" pitchFamily="18" charset="0"/>
              </a:rPr>
              <a:t>EMPLOYEE</a:t>
            </a:r>
          </a:p>
        </p:txBody>
      </p:sp>
      <p:grpSp>
        <p:nvGrpSpPr>
          <p:cNvPr id="30750" name="Group 17">
            <a:extLst>
              <a:ext uri="{FF2B5EF4-FFF2-40B4-BE49-F238E27FC236}">
                <a16:creationId xmlns:a16="http://schemas.microsoft.com/office/drawing/2014/main" id="{EFC54EEF-F4DF-3EA3-283E-FF5C12D6AA7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994176"/>
            <a:ext cx="6398096" cy="609600"/>
            <a:chOff x="2304" y="3216"/>
            <a:chExt cx="3504" cy="384"/>
          </a:xfrm>
        </p:grpSpPr>
        <p:grpSp>
          <p:nvGrpSpPr>
            <p:cNvPr id="30751" name="Group 18">
              <a:extLst>
                <a:ext uri="{FF2B5EF4-FFF2-40B4-BE49-F238E27FC236}">
                  <a16:creationId xmlns:a16="http://schemas.microsoft.com/office/drawing/2014/main" id="{FDFFAA99-B12E-FE4F-8960-E67DEDB4C1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216"/>
              <a:ext cx="2640" cy="384"/>
              <a:chOff x="144" y="3840"/>
              <a:chExt cx="3024" cy="384"/>
            </a:xfrm>
          </p:grpSpPr>
          <p:sp>
            <p:nvSpPr>
              <p:cNvPr id="10241" name="Rectangle 19">
                <a:extLst>
                  <a:ext uri="{FF2B5EF4-FFF2-40B4-BE49-F238E27FC236}">
                    <a16:creationId xmlns:a16="http://schemas.microsoft.com/office/drawing/2014/main" id="{FD3EFAC0-1F59-BA1C-3AB7-1E5920DB5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 u="sng">
                    <a:latin typeface="Cambria" panose="02040503050406030204" pitchFamily="18" charset="0"/>
                    <a:ea typeface="Cambria" panose="02040503050406030204" pitchFamily="18" charset="0"/>
                  </a:rPr>
                  <a:t>Employee_ID</a:t>
                </a:r>
              </a:p>
            </p:txBody>
          </p:sp>
          <p:sp>
            <p:nvSpPr>
              <p:cNvPr id="10242" name="Rectangle 20">
                <a:extLst>
                  <a:ext uri="{FF2B5EF4-FFF2-40B4-BE49-F238E27FC236}">
                    <a16:creationId xmlns:a16="http://schemas.microsoft.com/office/drawing/2014/main" id="{821CB3E6-E7C8-2214-827B-0CF96FCA6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Cambria" panose="02040503050406030204" pitchFamily="18" charset="0"/>
                    <a:ea typeface="Cambria" panose="02040503050406030204" pitchFamily="18" charset="0"/>
                  </a:rPr>
                  <a:t>Name</a:t>
                </a:r>
              </a:p>
            </p:txBody>
          </p:sp>
          <p:sp>
            <p:nvSpPr>
              <p:cNvPr id="10244" name="Rectangle 21">
                <a:extLst>
                  <a:ext uri="{FF2B5EF4-FFF2-40B4-BE49-F238E27FC236}">
                    <a16:creationId xmlns:a16="http://schemas.microsoft.com/office/drawing/2014/main" id="{8DFE46A8-4F6F-BF26-7D98-B7C51AFBB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40"/>
                <a:ext cx="1008" cy="384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2000">
                    <a:latin typeface="Cambria" panose="02040503050406030204" pitchFamily="18" charset="0"/>
                    <a:ea typeface="Cambria" panose="02040503050406030204" pitchFamily="18" charset="0"/>
                  </a:rPr>
                  <a:t>Birthdate</a:t>
                </a:r>
              </a:p>
            </p:txBody>
          </p:sp>
        </p:grpSp>
        <p:sp>
          <p:nvSpPr>
            <p:cNvPr id="10240" name="Rectangle 22">
              <a:extLst>
                <a:ext uri="{FF2B5EF4-FFF2-40B4-BE49-F238E27FC236}">
                  <a16:creationId xmlns:a16="http://schemas.microsoft.com/office/drawing/2014/main" id="{A8895E60-F5D9-5D41-DB5B-9787A7201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8" y="3216"/>
              <a:ext cx="880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Cambria" panose="02040503050406030204" pitchFamily="18" charset="0"/>
                  <a:ea typeface="Cambria" panose="02040503050406030204" pitchFamily="18" charset="0"/>
                </a:rPr>
                <a:t>Manager_ID</a:t>
              </a:r>
            </a:p>
          </p:txBody>
        </p:sp>
      </p:grpSp>
      <p:cxnSp>
        <p:nvCxnSpPr>
          <p:cNvPr id="10245" name="AutoShape 23">
            <a:extLst>
              <a:ext uri="{FF2B5EF4-FFF2-40B4-BE49-F238E27FC236}">
                <a16:creationId xmlns:a16="http://schemas.microsoft.com/office/drawing/2014/main" id="{72617C13-1D69-758E-59EF-DE07A054A151}"/>
              </a:ext>
            </a:extLst>
          </p:cNvPr>
          <p:cNvCxnSpPr>
            <a:cxnSpLocks noChangeShapeType="1"/>
            <a:stCxn id="30741" idx="3"/>
            <a:endCxn id="2" idx="2"/>
          </p:cNvCxnSpPr>
          <p:nvPr/>
        </p:nvCxnSpPr>
        <p:spPr bwMode="auto">
          <a:xfrm flipH="1">
            <a:off x="3770313" y="2784376"/>
            <a:ext cx="3543300" cy="304800"/>
          </a:xfrm>
          <a:prstGeom prst="bentConnector4">
            <a:avLst>
              <a:gd name="adj1" fmla="val -6454"/>
              <a:gd name="adj2" fmla="val 2208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6" name="Oval 24">
            <a:extLst>
              <a:ext uri="{FF2B5EF4-FFF2-40B4-BE49-F238E27FC236}">
                <a16:creationId xmlns:a16="http://schemas.microsoft.com/office/drawing/2014/main" id="{E3A8DC67-4C07-FF95-A769-C2966AE14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708176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47" name="Line 25">
            <a:extLst>
              <a:ext uri="{FF2B5EF4-FFF2-40B4-BE49-F238E27FC236}">
                <a16:creationId xmlns:a16="http://schemas.microsoft.com/office/drawing/2014/main" id="{A469994F-5858-8578-EA8D-B75319895FD4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733800" y="308917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48" name="Line 26">
            <a:extLst>
              <a:ext uri="{FF2B5EF4-FFF2-40B4-BE49-F238E27FC236}">
                <a16:creationId xmlns:a16="http://schemas.microsoft.com/office/drawing/2014/main" id="{CD9A30FB-169D-6F87-6744-B8CB6A26FCA6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733800" y="3012976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249" name="Line 27">
            <a:extLst>
              <a:ext uri="{FF2B5EF4-FFF2-40B4-BE49-F238E27FC236}">
                <a16:creationId xmlns:a16="http://schemas.microsoft.com/office/drawing/2014/main" id="{042CC8D7-A80D-083C-E7A0-BEB906F5C3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1072" y="5451376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252" name="AutoShape 30">
            <a:extLst>
              <a:ext uri="{FF2B5EF4-FFF2-40B4-BE49-F238E27FC236}">
                <a16:creationId xmlns:a16="http://schemas.microsoft.com/office/drawing/2014/main" id="{E60B7F0C-4E27-194F-20B9-8BF41206BE7D}"/>
              </a:ext>
            </a:extLst>
          </p:cNvPr>
          <p:cNvCxnSpPr>
            <a:cxnSpLocks noChangeShapeType="1"/>
            <a:stCxn id="30745" idx="4"/>
            <a:endCxn id="2" idx="0"/>
          </p:cNvCxnSpPr>
          <p:nvPr/>
        </p:nvCxnSpPr>
        <p:spPr bwMode="auto">
          <a:xfrm flipH="1">
            <a:off x="3770313" y="2174776"/>
            <a:ext cx="2706687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53" name="AutoShape 31">
            <a:extLst>
              <a:ext uri="{FF2B5EF4-FFF2-40B4-BE49-F238E27FC236}">
                <a16:creationId xmlns:a16="http://schemas.microsoft.com/office/drawing/2014/main" id="{233DCF4F-E8CD-C52D-F14F-0E9B776967C1}"/>
              </a:ext>
            </a:extLst>
          </p:cNvPr>
          <p:cNvCxnSpPr>
            <a:cxnSpLocks noChangeShapeType="1"/>
            <a:stCxn id="10240" idx="2"/>
            <a:endCxn id="10241" idx="2"/>
          </p:cNvCxnSpPr>
          <p:nvPr/>
        </p:nvCxnSpPr>
        <p:spPr bwMode="auto">
          <a:xfrm rot="5400000">
            <a:off x="4037248" y="3208142"/>
            <a:ext cx="12700" cy="4791268"/>
          </a:xfrm>
          <a:prstGeom prst="bentConnector3">
            <a:avLst>
              <a:gd name="adj1" fmla="val 1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54" name="Slide Number Placeholder 23">
            <a:extLst>
              <a:ext uri="{FF2B5EF4-FFF2-40B4-BE49-F238E27FC236}">
                <a16:creationId xmlns:a16="http://schemas.microsoft.com/office/drawing/2014/main" id="{C5B2F8A3-CB63-B2A8-1E4E-2F38FD94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78748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BC09D-5417-6C73-B8CB-4302240A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D49E6EB-FEBD-519B-D104-1021A3D21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56CBDDD-D925-83CF-B14F-B9B0F7968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9701" y="711306"/>
            <a:ext cx="3960440" cy="503238"/>
          </a:xfrm>
        </p:spPr>
        <p:txBody>
          <a:bodyPr/>
          <a:lstStyle/>
          <a:p>
            <a:pPr marL="0" lvl="1" indent="0" algn="just">
              <a:spcBef>
                <a:spcPts val="300"/>
              </a:spcBef>
              <a:buNone/>
              <a:defRPr/>
            </a:pPr>
            <a:r>
              <a:rPr lang="en-US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Unary Relationship (M:N)</a:t>
            </a: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6F397-667B-06E6-C996-D6394353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10254" name="Slide Number Placeholder 23">
            <a:extLst>
              <a:ext uri="{FF2B5EF4-FFF2-40B4-BE49-F238E27FC236}">
                <a16:creationId xmlns:a16="http://schemas.microsoft.com/office/drawing/2014/main" id="{702806AD-6A24-AAB5-0F85-1507B5E4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1170C1B-F42A-4C1B-B3D8-9D81C7B5F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05" y="2576736"/>
            <a:ext cx="1600200" cy="60960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ITEM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76D0B2F7-D462-948C-728C-BCA855F09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392" y="150993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>
                <a:latin typeface="Cambria" panose="02040503050406030204" pitchFamily="18" charset="0"/>
                <a:ea typeface="Cambria" panose="02040503050406030204" pitchFamily="18" charset="0"/>
              </a:rPr>
              <a:t>Item_No</a:t>
            </a:r>
          </a:p>
        </p:txBody>
      </p:sp>
      <p:cxnSp>
        <p:nvCxnSpPr>
          <p:cNvPr id="8" name="AutoShape 7">
            <a:extLst>
              <a:ext uri="{FF2B5EF4-FFF2-40B4-BE49-F238E27FC236}">
                <a16:creationId xmlns:a16="http://schemas.microsoft.com/office/drawing/2014/main" id="{2117EC72-81E0-57BC-647B-E9F9F567AAA5}"/>
              </a:ext>
            </a:extLst>
          </p:cNvPr>
          <p:cNvCxnSpPr>
            <a:cxnSpLocks noChangeShapeType="1"/>
            <a:stCxn id="5" idx="0"/>
            <a:endCxn id="6" idx="4"/>
          </p:cNvCxnSpPr>
          <p:nvPr/>
        </p:nvCxnSpPr>
        <p:spPr bwMode="auto">
          <a:xfrm flipH="1" flipV="1">
            <a:off x="1775792" y="2195736"/>
            <a:ext cx="21701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AutoShape 8">
            <a:extLst>
              <a:ext uri="{FF2B5EF4-FFF2-40B4-BE49-F238E27FC236}">
                <a16:creationId xmlns:a16="http://schemas.microsoft.com/office/drawing/2014/main" id="{31EA3FD0-23FC-1648-7DF5-5918A48E0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7605" y="2576736"/>
            <a:ext cx="1371600" cy="609600"/>
          </a:xfrm>
          <a:prstGeom prst="diamond">
            <a:avLst/>
          </a:prstGeom>
          <a:solidFill>
            <a:schemeClr val="bg2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>
                <a:latin typeface="Cambria" panose="02040503050406030204" pitchFamily="18" charset="0"/>
                <a:ea typeface="Cambria" panose="02040503050406030204" pitchFamily="18" charset="0"/>
              </a:rPr>
              <a:t>Contains</a:t>
            </a:r>
          </a:p>
        </p:txBody>
      </p:sp>
      <p:cxnSp>
        <p:nvCxnSpPr>
          <p:cNvPr id="12" name="AutoShape 9">
            <a:extLst>
              <a:ext uri="{FF2B5EF4-FFF2-40B4-BE49-F238E27FC236}">
                <a16:creationId xmlns:a16="http://schemas.microsoft.com/office/drawing/2014/main" id="{4B9A9254-E5AC-F336-C646-F4E64B1A9EF7}"/>
              </a:ext>
            </a:extLst>
          </p:cNvPr>
          <p:cNvCxnSpPr>
            <a:cxnSpLocks noChangeShapeType="1"/>
            <a:stCxn id="5" idx="3"/>
            <a:endCxn id="9" idx="1"/>
          </p:cNvCxnSpPr>
          <p:nvPr/>
        </p:nvCxnSpPr>
        <p:spPr bwMode="auto">
          <a:xfrm>
            <a:off x="4746005" y="2881536"/>
            <a:ext cx="1371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0">
            <a:extLst>
              <a:ext uri="{FF2B5EF4-FFF2-40B4-BE49-F238E27FC236}">
                <a16:creationId xmlns:a16="http://schemas.microsoft.com/office/drawing/2014/main" id="{E63D5AB2-4824-73CF-2DB0-0FBC2C848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592" y="150993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</a:p>
        </p:txBody>
      </p:sp>
      <p:cxnSp>
        <p:nvCxnSpPr>
          <p:cNvPr id="14" name="AutoShape 11">
            <a:extLst>
              <a:ext uri="{FF2B5EF4-FFF2-40B4-BE49-F238E27FC236}">
                <a16:creationId xmlns:a16="http://schemas.microsoft.com/office/drawing/2014/main" id="{2F9ED65E-9EBC-D693-CB87-53A54371AB25}"/>
              </a:ext>
            </a:extLst>
          </p:cNvPr>
          <p:cNvCxnSpPr>
            <a:cxnSpLocks noChangeShapeType="1"/>
            <a:stCxn id="5" idx="0"/>
            <a:endCxn id="13" idx="4"/>
          </p:cNvCxnSpPr>
          <p:nvPr/>
        </p:nvCxnSpPr>
        <p:spPr bwMode="auto">
          <a:xfrm flipH="1" flipV="1">
            <a:off x="3756992" y="2195736"/>
            <a:ext cx="18891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2">
            <a:extLst>
              <a:ext uri="{FF2B5EF4-FFF2-40B4-BE49-F238E27FC236}">
                <a16:creationId xmlns:a16="http://schemas.microsoft.com/office/drawing/2014/main" id="{565D055F-B1BA-5354-6CC9-BABE90F7A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7592" y="150993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Unit_Cost</a:t>
            </a:r>
          </a:p>
        </p:txBody>
      </p:sp>
      <p:grpSp>
        <p:nvGrpSpPr>
          <p:cNvPr id="16" name="Group 13">
            <a:extLst>
              <a:ext uri="{FF2B5EF4-FFF2-40B4-BE49-F238E27FC236}">
                <a16:creationId xmlns:a16="http://schemas.microsoft.com/office/drawing/2014/main" id="{3E476354-9A96-781E-7CC3-2767750B9A3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46005" y="2805336"/>
            <a:ext cx="306387" cy="155575"/>
            <a:chOff x="3888" y="1967"/>
            <a:chExt cx="193" cy="98"/>
          </a:xfrm>
        </p:grpSpPr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BC694608-B8E6-8CAD-1D0D-4C8681742A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BB3C6B71-A9E4-0E61-4251-A256BAA433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9" name="Text Box 16">
            <a:extLst>
              <a:ext uri="{FF2B5EF4-FFF2-40B4-BE49-F238E27FC236}">
                <a16:creationId xmlns:a16="http://schemas.microsoft.com/office/drawing/2014/main" id="{4CFA0103-DEC2-D2EF-181F-974F2A2DC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92" y="4172174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ITEM</a:t>
            </a:r>
          </a:p>
        </p:txBody>
      </p:sp>
      <p:cxnSp>
        <p:nvCxnSpPr>
          <p:cNvPr id="20" name="AutoShape 17">
            <a:extLst>
              <a:ext uri="{FF2B5EF4-FFF2-40B4-BE49-F238E27FC236}">
                <a16:creationId xmlns:a16="http://schemas.microsoft.com/office/drawing/2014/main" id="{92044CBA-4D54-718F-F6FC-9B5BB98A0464}"/>
              </a:ext>
            </a:extLst>
          </p:cNvPr>
          <p:cNvCxnSpPr>
            <a:cxnSpLocks noChangeShapeType="1"/>
            <a:stCxn id="9" idx="3"/>
            <a:endCxn id="5" idx="2"/>
          </p:cNvCxnSpPr>
          <p:nvPr/>
        </p:nvCxnSpPr>
        <p:spPr bwMode="auto">
          <a:xfrm flipH="1">
            <a:off x="3945905" y="2881536"/>
            <a:ext cx="3543300" cy="304800"/>
          </a:xfrm>
          <a:prstGeom prst="bentConnector4">
            <a:avLst>
              <a:gd name="adj1" fmla="val -6454"/>
              <a:gd name="adj2" fmla="val 30729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Oval 18">
            <a:extLst>
              <a:ext uri="{FF2B5EF4-FFF2-40B4-BE49-F238E27FC236}">
                <a16:creationId xmlns:a16="http://schemas.microsoft.com/office/drawing/2014/main" id="{CF7D8823-8B1D-3FF6-14C6-32650C910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2392" y="2805336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2" name="Group 19">
            <a:extLst>
              <a:ext uri="{FF2B5EF4-FFF2-40B4-BE49-F238E27FC236}">
                <a16:creationId xmlns:a16="http://schemas.microsoft.com/office/drawing/2014/main" id="{1885D110-B7F6-63C0-1933-C8CCED4975BF}"/>
              </a:ext>
            </a:extLst>
          </p:cNvPr>
          <p:cNvGrpSpPr>
            <a:grpSpLocks/>
          </p:cNvGrpSpPr>
          <p:nvPr/>
        </p:nvGrpSpPr>
        <p:grpSpPr bwMode="auto">
          <a:xfrm rot="5400000" flipH="1">
            <a:off x="3799061" y="3260155"/>
            <a:ext cx="306387" cy="155575"/>
            <a:chOff x="3888" y="1967"/>
            <a:chExt cx="193" cy="98"/>
          </a:xfrm>
        </p:grpSpPr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C5F8749E-267E-A706-831C-13D49A5BB60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3498818">
              <a:off x="3983" y="1969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1BFAB062-AB76-5452-0EF8-3A39CEF67B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3498818" flipV="1">
              <a:off x="3984" y="1872"/>
              <a:ext cx="1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5" name="Oval 22">
            <a:extLst>
              <a:ext uri="{FF2B5EF4-FFF2-40B4-BE49-F238E27FC236}">
                <a16:creationId xmlns:a16="http://schemas.microsoft.com/office/drawing/2014/main" id="{290C6C76-2C16-2648-5EF8-F4D35D31A84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53830" y="3491136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08DF66FF-6F95-5FB7-912C-74FE7E20E064}"/>
              </a:ext>
            </a:extLst>
          </p:cNvPr>
          <p:cNvGrpSpPr>
            <a:grpSpLocks/>
          </p:cNvGrpSpPr>
          <p:nvPr/>
        </p:nvGrpSpPr>
        <p:grpSpPr bwMode="auto">
          <a:xfrm>
            <a:off x="785192" y="5758086"/>
            <a:ext cx="4800600" cy="609600"/>
            <a:chOff x="144" y="3840"/>
            <a:chExt cx="3024" cy="384"/>
          </a:xfrm>
        </p:grpSpPr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1BB74C71-1C9B-C774-E1C4-0A0C9FBFF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Item_No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95C0FDA8-2C60-598B-6136-58EDB983C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Component_No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C29BC1EE-14C2-C177-AAC3-5E9A0678B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Quantity</a:t>
              </a:r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237F0FBC-C2C0-6CA1-AF91-0D95A3AB92BF}"/>
              </a:ext>
            </a:extLst>
          </p:cNvPr>
          <p:cNvGrpSpPr>
            <a:grpSpLocks/>
          </p:cNvGrpSpPr>
          <p:nvPr/>
        </p:nvGrpSpPr>
        <p:grpSpPr bwMode="auto">
          <a:xfrm>
            <a:off x="785192" y="4462686"/>
            <a:ext cx="4800600" cy="609600"/>
            <a:chOff x="144" y="3840"/>
            <a:chExt cx="3024" cy="384"/>
          </a:xfrm>
        </p:grpSpPr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A4D6D0FF-FAF7-11FF-09D1-4E7DCB153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 dirty="0" err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Item_No</a:t>
              </a:r>
              <a:endParaRPr lang="en-US" altLang="en-US" sz="18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720" name="Rectangle 29">
              <a:extLst>
                <a:ext uri="{FF2B5EF4-FFF2-40B4-BE49-F238E27FC236}">
                  <a16:creationId xmlns:a16="http://schemas.microsoft.com/office/drawing/2014/main" id="{A673C6CE-1C54-05E7-6788-C192078DD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Name</a:t>
              </a:r>
            </a:p>
          </p:txBody>
        </p:sp>
        <p:sp>
          <p:nvSpPr>
            <p:cNvPr id="30721" name="Rectangle 30">
              <a:extLst>
                <a:ext uri="{FF2B5EF4-FFF2-40B4-BE49-F238E27FC236}">
                  <a16:creationId xmlns:a16="http://schemas.microsoft.com/office/drawing/2014/main" id="{CB44771C-4718-078D-3366-05A94BB9E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100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latin typeface="Cambria" panose="02040503050406030204" pitchFamily="18" charset="0"/>
                  <a:ea typeface="Cambria" panose="02040503050406030204" pitchFamily="18" charset="0"/>
                </a:rPr>
                <a:t>Unit_Cost</a:t>
              </a:r>
            </a:p>
          </p:txBody>
        </p:sp>
      </p:grpSp>
      <p:sp>
        <p:nvSpPr>
          <p:cNvPr id="30723" name="Text Box 31">
            <a:extLst>
              <a:ext uri="{FF2B5EF4-FFF2-40B4-BE49-F238E27FC236}">
                <a16:creationId xmlns:a16="http://schemas.microsoft.com/office/drawing/2014/main" id="{AC22AB72-CE33-E2DF-C4A7-4712A7D4C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92" y="5391374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Cambria" panose="02040503050406030204" pitchFamily="18" charset="0"/>
                <a:ea typeface="Cambria" panose="02040503050406030204" pitchFamily="18" charset="0"/>
              </a:rPr>
              <a:t>COMPONENT</a:t>
            </a:r>
          </a:p>
        </p:txBody>
      </p:sp>
      <p:cxnSp>
        <p:nvCxnSpPr>
          <p:cNvPr id="30724" name="AutoShape 32">
            <a:extLst>
              <a:ext uri="{FF2B5EF4-FFF2-40B4-BE49-F238E27FC236}">
                <a16:creationId xmlns:a16="http://schemas.microsoft.com/office/drawing/2014/main" id="{7055B29F-7E0D-5C54-4F73-B8E9F5AE45DA}"/>
              </a:ext>
            </a:extLst>
          </p:cNvPr>
          <p:cNvCxnSpPr>
            <a:cxnSpLocks noChangeShapeType="1"/>
            <a:stCxn id="15" idx="4"/>
            <a:endCxn id="5" idx="0"/>
          </p:cNvCxnSpPr>
          <p:nvPr/>
        </p:nvCxnSpPr>
        <p:spPr bwMode="auto">
          <a:xfrm flipH="1">
            <a:off x="3945905" y="2195736"/>
            <a:ext cx="1716087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25" name="Oval 33">
            <a:extLst>
              <a:ext uri="{FF2B5EF4-FFF2-40B4-BE49-F238E27FC236}">
                <a16:creationId xmlns:a16="http://schemas.microsoft.com/office/drawing/2014/main" id="{9D45DE97-DDED-1EFB-C0C7-C1BA62516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1592" y="1052736"/>
            <a:ext cx="1828800" cy="6858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ambria" panose="02040503050406030204" pitchFamily="18" charset="0"/>
                <a:ea typeface="Cambria" panose="02040503050406030204" pitchFamily="18" charset="0"/>
              </a:rPr>
              <a:t>Quantity</a:t>
            </a:r>
          </a:p>
        </p:txBody>
      </p:sp>
      <p:cxnSp>
        <p:nvCxnSpPr>
          <p:cNvPr id="30726" name="AutoShape 34">
            <a:extLst>
              <a:ext uri="{FF2B5EF4-FFF2-40B4-BE49-F238E27FC236}">
                <a16:creationId xmlns:a16="http://schemas.microsoft.com/office/drawing/2014/main" id="{63077DC3-A923-A24C-3D48-C2B57C88E385}"/>
              </a:ext>
            </a:extLst>
          </p:cNvPr>
          <p:cNvCxnSpPr>
            <a:cxnSpLocks noChangeShapeType="1"/>
            <a:stCxn id="9" idx="0"/>
            <a:endCxn id="30725" idx="4"/>
          </p:cNvCxnSpPr>
          <p:nvPr/>
        </p:nvCxnSpPr>
        <p:spPr bwMode="auto">
          <a:xfrm flipV="1">
            <a:off x="6803405" y="1738536"/>
            <a:ext cx="382587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7" name="AutoShape 35">
            <a:extLst>
              <a:ext uri="{FF2B5EF4-FFF2-40B4-BE49-F238E27FC236}">
                <a16:creationId xmlns:a16="http://schemas.microsoft.com/office/drawing/2014/main" id="{89505755-108F-02E1-9658-F46DDBC16E07}"/>
              </a:ext>
            </a:extLst>
          </p:cNvPr>
          <p:cNvCxnSpPr>
            <a:cxnSpLocks noChangeShapeType="1"/>
            <a:stCxn id="28" idx="0"/>
            <a:endCxn id="31" idx="2"/>
          </p:cNvCxnSpPr>
          <p:nvPr/>
        </p:nvCxnSpPr>
        <p:spPr bwMode="auto">
          <a:xfrm rot="5400000" flipH="1">
            <a:off x="2042492" y="4615086"/>
            <a:ext cx="685800" cy="1600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28" name="AutoShape 36">
            <a:extLst>
              <a:ext uri="{FF2B5EF4-FFF2-40B4-BE49-F238E27FC236}">
                <a16:creationId xmlns:a16="http://schemas.microsoft.com/office/drawing/2014/main" id="{94C50266-1C0D-14AC-FA2D-C46FC879E6A3}"/>
              </a:ext>
            </a:extLst>
          </p:cNvPr>
          <p:cNvCxnSpPr>
            <a:cxnSpLocks noChangeShapeType="1"/>
            <a:stCxn id="27" idx="1"/>
            <a:endCxn id="31" idx="1"/>
          </p:cNvCxnSpPr>
          <p:nvPr/>
        </p:nvCxnSpPr>
        <p:spPr bwMode="auto">
          <a:xfrm rot="10800000" flipH="1">
            <a:off x="785192" y="4767486"/>
            <a:ext cx="1588" cy="1295400"/>
          </a:xfrm>
          <a:prstGeom prst="curvedConnector3">
            <a:avLst>
              <a:gd name="adj1" fmla="val -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1288090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8B48-29DD-318E-3A23-64578507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5555241-2983-B640-5800-355F067C8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DEAC20B-DFB6-4546-98CA-94DDAA6E0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1305868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Ternary Relationship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new relation is created. The relation consists of Primary Keys of all the three entities participating in the relationship plus the attributes of the relationship.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B7B40-931A-E398-CBB3-844B9EB75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7CD2BB1-3DDD-A22C-3CDE-6A1C9F27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28AAF0-788D-3F97-D536-E16E17AE3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2340570"/>
            <a:ext cx="8628063" cy="396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569116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97214-58C1-1A56-959B-F453F1FA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4BBED3F-69F9-E50C-B77B-AEFDED1C3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23D1CD46-DC3D-C61B-13E3-BFD5DACD7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1305868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Ternary Relationship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new relation is created. The relation consists of Primary Keys of all the three entities participating in the relationship plus the attributes of the relationship.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058B1-B39D-AB8C-6BB8-18450814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B4D1C24-FDCA-DDB4-5F56-1CC747C8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EEC3BE8-48E7-6F94-013E-E5AF2BDB4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8" y="2492896"/>
            <a:ext cx="88233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4190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6FD9-C067-9971-BDA4-AE1CE7733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185563C-206D-2D44-4A47-657A1CE00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8943884-0443-08FC-4B57-FE49E61E5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1305868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 types / Subtype Relationship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Relations are created against super type and each of its subtypes. The subtypes assume the PK of the super type.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2B1A3A-F6D7-C9D8-5758-FC966A8B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815E13F-B874-F48F-0DEB-728B4671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C551FA-C39E-39E2-4DBF-117022CD7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32309"/>
            <a:ext cx="7396605" cy="466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888927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AF7E4-9F6F-D153-2D41-6CBBC338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8D948D0-8064-2504-E4BB-108022E99E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648072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Transforming Relationship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B99D63E-594D-4612-5A00-2C170B70C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1305868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4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 types / Subtype Relationship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Relations are created against super type and each of its subtypes. The subtypes assume the PK of the super type.</a:t>
            </a:r>
          </a:p>
          <a:p>
            <a:pPr algn="just">
              <a:spcBef>
                <a:spcPts val="30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74638" lvl="1" indent="0" algn="just">
              <a:spcBef>
                <a:spcPts val="300"/>
              </a:spcBef>
              <a:buNone/>
              <a:defRPr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4A62E-D2DF-214E-1770-F28DF1C3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EE3551D-36F8-8A16-39EA-85C298E6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9EBD34F-C6F6-2320-E005-6AB6CBF62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59657"/>
            <a:ext cx="88741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100468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188640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581744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Modern Database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Jeffery. A. Hoffer (12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881014"/>
              </p:ext>
            </p:extLst>
          </p:nvPr>
        </p:nvGraphicFramePr>
        <p:xfrm>
          <a:off x="1547664" y="2060848"/>
          <a:ext cx="583264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Pages 165 to 178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5315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529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4.7, 4.8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AFB8E-EBA6-9F42-7521-371356FB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4" name="Slide Number Placeholder 23">
            <a:extLst>
              <a:ext uri="{FF2B5EF4-FFF2-40B4-BE49-F238E27FC236}">
                <a16:creationId xmlns:a16="http://schemas.microsoft.com/office/drawing/2014/main" id="{90D67C12-BC10-6AAA-B11D-C4CD741F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4700</TotalTime>
  <Words>1605</Words>
  <Application>Microsoft Office PowerPoint</Application>
  <PresentationFormat>On-screen Show (4:3)</PresentationFormat>
  <Paragraphs>315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Cambria</vt:lpstr>
      <vt:lpstr>Franklin Gothic Book</vt:lpstr>
      <vt:lpstr>Perpetua</vt:lpstr>
      <vt:lpstr>Wingdings 2</vt:lpstr>
      <vt:lpstr>1_Equity</vt:lpstr>
      <vt:lpstr>2_Equity</vt:lpstr>
      <vt:lpstr>CC-215 Database Systems</vt:lpstr>
      <vt:lpstr>Data Models</vt:lpstr>
      <vt:lpstr>Transforming ERD into Relations</vt:lpstr>
      <vt:lpstr>Transforming Entities</vt:lpstr>
      <vt:lpstr>Transforming Entities</vt:lpstr>
      <vt:lpstr>Transforming Entities</vt:lpstr>
      <vt:lpstr>Composite Attribute</vt:lpstr>
      <vt:lpstr>Mutli-valued Attribute</vt:lpstr>
      <vt:lpstr>Transforming Entities</vt:lpstr>
      <vt:lpstr>Transforming Entities</vt:lpstr>
      <vt:lpstr>Associative Entities</vt:lpstr>
      <vt:lpstr>Associative Entities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Transforming Relationship</vt:lpstr>
      <vt:lpstr>Reading Material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645</cp:revision>
  <dcterms:created xsi:type="dcterms:W3CDTF">2006-05-17T12:38:56Z</dcterms:created>
  <dcterms:modified xsi:type="dcterms:W3CDTF">2025-11-16T07:38:13Z</dcterms:modified>
</cp:coreProperties>
</file>