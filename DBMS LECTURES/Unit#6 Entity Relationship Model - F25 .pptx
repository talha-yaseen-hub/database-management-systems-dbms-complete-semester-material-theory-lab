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63" r:id="rId1"/>
    <p:sldMasterId id="2147484176" r:id="rId2"/>
    <p:sldMasterId id="2147484189" r:id="rId3"/>
  </p:sldMasterIdLst>
  <p:notesMasterIdLst>
    <p:notesMasterId r:id="rId44"/>
  </p:notesMasterIdLst>
  <p:handoutMasterIdLst>
    <p:handoutMasterId r:id="rId45"/>
  </p:handoutMasterIdLst>
  <p:sldIdLst>
    <p:sldId id="508" r:id="rId4"/>
    <p:sldId id="509" r:id="rId5"/>
    <p:sldId id="510" r:id="rId6"/>
    <p:sldId id="511" r:id="rId7"/>
    <p:sldId id="512" r:id="rId8"/>
    <p:sldId id="515" r:id="rId9"/>
    <p:sldId id="516" r:id="rId10"/>
    <p:sldId id="517" r:id="rId11"/>
    <p:sldId id="518" r:id="rId12"/>
    <p:sldId id="491" r:id="rId13"/>
    <p:sldId id="494" r:id="rId14"/>
    <p:sldId id="495" r:id="rId15"/>
    <p:sldId id="513" r:id="rId16"/>
    <p:sldId id="514" r:id="rId17"/>
    <p:sldId id="519" r:id="rId18"/>
    <p:sldId id="520" r:id="rId19"/>
    <p:sldId id="521" r:id="rId20"/>
    <p:sldId id="522" r:id="rId21"/>
    <p:sldId id="523" r:id="rId22"/>
    <p:sldId id="524" r:id="rId23"/>
    <p:sldId id="525" r:id="rId24"/>
    <p:sldId id="498" r:id="rId25"/>
    <p:sldId id="526" r:id="rId26"/>
    <p:sldId id="527" r:id="rId27"/>
    <p:sldId id="528" r:id="rId28"/>
    <p:sldId id="529" r:id="rId29"/>
    <p:sldId id="481" r:id="rId30"/>
    <p:sldId id="488" r:id="rId31"/>
    <p:sldId id="489" r:id="rId32"/>
    <p:sldId id="490" r:id="rId33"/>
    <p:sldId id="530" r:id="rId34"/>
    <p:sldId id="531" r:id="rId35"/>
    <p:sldId id="487" r:id="rId36"/>
    <p:sldId id="532" r:id="rId37"/>
    <p:sldId id="533" r:id="rId38"/>
    <p:sldId id="534" r:id="rId39"/>
    <p:sldId id="535" r:id="rId40"/>
    <p:sldId id="536" r:id="rId41"/>
    <p:sldId id="537" r:id="rId42"/>
    <p:sldId id="473" r:id="rId43"/>
  </p:sldIdLst>
  <p:sldSz cx="9144000" cy="6858000" type="screen4x3"/>
  <p:notesSz cx="6577013" cy="97536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FFCC"/>
    <a:srgbClr val="99CCFF"/>
    <a:srgbClr val="FF66FF"/>
    <a:srgbClr val="3399FF"/>
    <a:srgbClr val="006600"/>
    <a:srgbClr val="FFFF66"/>
    <a:srgbClr val="FF0000"/>
    <a:srgbClr val="00FF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83597" autoAdjust="0"/>
  </p:normalViewPr>
  <p:slideViewPr>
    <p:cSldViewPr>
      <p:cViewPr varScale="1">
        <p:scale>
          <a:sx n="83" d="100"/>
          <a:sy n="83" d="100"/>
        </p:scale>
        <p:origin x="124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B0CAAC8D-7AA3-2BE1-242C-704ABDC226E8}"/>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B1F2ED0D-2537-B913-00F6-6B45EFD54F73}"/>
              </a:ext>
            </a:extLst>
          </p:cNvPr>
          <p:cNvSpPr>
            <a:spLocks noGrp="1" noChangeArrowheads="1"/>
          </p:cNvSpPr>
          <p:nvPr>
            <p:ph type="dt" sz="quarter" idx="1"/>
          </p:nvPr>
        </p:nvSpPr>
        <p:spPr bwMode="auto">
          <a:xfrm>
            <a:off x="3725863"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5AEDB395-B27B-4F05-2B5F-192285D567AD}"/>
              </a:ext>
            </a:extLst>
          </p:cNvPr>
          <p:cNvSpPr>
            <a:spLocks noGrp="1" noChangeArrowheads="1"/>
          </p:cNvSpPr>
          <p:nvPr>
            <p:ph type="ftr" sz="quarter" idx="2"/>
          </p:nvPr>
        </p:nvSpPr>
        <p:spPr bwMode="auto">
          <a:xfrm>
            <a:off x="0"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F60217BF-269E-148D-DD2A-37F6F35244F6}"/>
              </a:ext>
            </a:extLst>
          </p:cNvPr>
          <p:cNvSpPr>
            <a:spLocks noGrp="1" noChangeArrowheads="1"/>
          </p:cNvSpPr>
          <p:nvPr>
            <p:ph type="sldNum" sz="quarter" idx="3"/>
          </p:nvPr>
        </p:nvSpPr>
        <p:spPr bwMode="auto">
          <a:xfrm>
            <a:off x="3725863"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fld id="{27F9FDAB-CA82-40B2-A677-9B7921DEC834}"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C19403D-2B1B-31A4-7F1C-47AD8B8D2D88}"/>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8DEAC85E-4EA3-BDCE-208C-9D488A9C167B}"/>
              </a:ext>
            </a:extLst>
          </p:cNvPr>
          <p:cNvSpPr>
            <a:spLocks noGrp="1" noChangeArrowheads="1"/>
          </p:cNvSpPr>
          <p:nvPr>
            <p:ph type="dt" idx="1"/>
          </p:nvPr>
        </p:nvSpPr>
        <p:spPr bwMode="auto">
          <a:xfrm>
            <a:off x="3724275"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6148" name="Rectangle 4">
            <a:extLst>
              <a:ext uri="{FF2B5EF4-FFF2-40B4-BE49-F238E27FC236}">
                <a16:creationId xmlns:a16="http://schemas.microsoft.com/office/drawing/2014/main" id="{39DAC2A8-4EA9-C808-3116-811F7153FE7D}"/>
              </a:ext>
            </a:extLst>
          </p:cNvPr>
          <p:cNvSpPr>
            <a:spLocks noGrp="1" noRot="1" noChangeAspect="1" noChangeArrowheads="1" noTextEdit="1"/>
          </p:cNvSpPr>
          <p:nvPr>
            <p:ph type="sldImg" idx="2"/>
          </p:nvPr>
        </p:nvSpPr>
        <p:spPr bwMode="auto">
          <a:xfrm>
            <a:off x="850900" y="731838"/>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5129BDA-88A5-955A-3815-ED3FCA2368B7}"/>
              </a:ext>
            </a:extLst>
          </p:cNvPr>
          <p:cNvSpPr>
            <a:spLocks noGrp="1" noChangeArrowheads="1"/>
          </p:cNvSpPr>
          <p:nvPr>
            <p:ph type="body" sz="quarter" idx="3"/>
          </p:nvPr>
        </p:nvSpPr>
        <p:spPr bwMode="auto">
          <a:xfrm>
            <a:off x="657225" y="4633913"/>
            <a:ext cx="5262563" cy="4387850"/>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DD292270-2EBC-AFE5-E0E2-D7D38F7013DE}"/>
              </a:ext>
            </a:extLst>
          </p:cNvPr>
          <p:cNvSpPr>
            <a:spLocks noGrp="1" noChangeArrowheads="1"/>
          </p:cNvSpPr>
          <p:nvPr>
            <p:ph type="ftr" sz="quarter" idx="4"/>
          </p:nvPr>
        </p:nvSpPr>
        <p:spPr bwMode="auto">
          <a:xfrm>
            <a:off x="0"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DA8469D3-C740-C6C0-411B-53000B2C3B74}"/>
              </a:ext>
            </a:extLst>
          </p:cNvPr>
          <p:cNvSpPr>
            <a:spLocks noGrp="1" noChangeArrowheads="1"/>
          </p:cNvSpPr>
          <p:nvPr>
            <p:ph type="sldNum" sz="quarter" idx="5"/>
          </p:nvPr>
        </p:nvSpPr>
        <p:spPr bwMode="auto">
          <a:xfrm>
            <a:off x="3724275"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fld id="{44F20858-24CC-438A-86C4-0326082B3F54}" type="slidenum">
              <a:rPr lang="de-AT" altLang="en-US"/>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67AFC9D1-2D8A-2169-37F4-A8B4714290E6}"/>
              </a:ext>
            </a:extLst>
          </p:cNvPr>
          <p:cNvSpPr>
            <a:spLocks noGrp="1" noRot="1" noChangeAspect="1" noChangeArrowheads="1" noTextEdit="1"/>
          </p:cNvSpPr>
          <p:nvPr>
            <p:ph type="sldImg"/>
          </p:nvPr>
        </p:nvSpPr>
        <p:spPr>
          <a:ln/>
        </p:spPr>
      </p:sp>
      <p:sp>
        <p:nvSpPr>
          <p:cNvPr id="34819" name="Notes Placeholder 2">
            <a:extLst>
              <a:ext uri="{FF2B5EF4-FFF2-40B4-BE49-F238E27FC236}">
                <a16:creationId xmlns:a16="http://schemas.microsoft.com/office/drawing/2014/main" id="{3307851A-49A4-24B7-A5DA-E5FB3CE32C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4820" name="Slide Number Placeholder 3">
            <a:extLst>
              <a:ext uri="{FF2B5EF4-FFF2-40B4-BE49-F238E27FC236}">
                <a16:creationId xmlns:a16="http://schemas.microsoft.com/office/drawing/2014/main" id="{977905DD-C280-3C2E-039B-EF1A29F206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A29219-02F2-4560-99DB-D953633689B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D0E873-79F6-575E-42F5-B2658CAF1FD9}"/>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2CF1039B-0F3B-8569-1523-C6A2072DE41A}"/>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FB9DE281-3531-767C-C16F-8E372B2DFE2B}"/>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AFE35213-7F90-0D26-3115-97DB58B4DCC2}"/>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ABC7937A-2BCB-EBDF-9CA7-4BC017080D55}"/>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D620D6E4-7CA5-568F-5DD6-31C6AF1861E4}"/>
              </a:ext>
            </a:extLst>
          </p:cNvPr>
          <p:cNvSpPr>
            <a:spLocks noGrp="1"/>
          </p:cNvSpPr>
          <p:nvPr>
            <p:ph type="dt" sz="half" idx="10"/>
          </p:nvPr>
        </p:nvSpPr>
        <p:spPr/>
        <p:txBody>
          <a:bodyPr/>
          <a:lstStyle>
            <a:lvl1pPr>
              <a:defRPr/>
            </a:lvl1pPr>
          </a:lstStyle>
          <a:p>
            <a:pPr>
              <a:defRPr/>
            </a:pPr>
            <a:fld id="{5D9E5396-8487-4CE9-B01E-25B109B015D3}" type="datetime1">
              <a:rPr lang="en-US"/>
              <a:pPr>
                <a:defRPr/>
              </a:pPr>
              <a:t>10/4/2025</a:t>
            </a:fld>
            <a:endParaRPr lang="en-US"/>
          </a:p>
        </p:txBody>
      </p:sp>
      <p:sp>
        <p:nvSpPr>
          <p:cNvPr id="10" name="Footer Placeholder 16">
            <a:extLst>
              <a:ext uri="{FF2B5EF4-FFF2-40B4-BE49-F238E27FC236}">
                <a16:creationId xmlns:a16="http://schemas.microsoft.com/office/drawing/2014/main" id="{348FDAB0-E1C1-FD82-C8D6-837BE4062C87}"/>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AC5A85B9-DB11-3BD3-AE28-EDDF4B1D6830}"/>
              </a:ext>
            </a:extLst>
          </p:cNvPr>
          <p:cNvSpPr>
            <a:spLocks noGrp="1"/>
          </p:cNvSpPr>
          <p:nvPr>
            <p:ph type="sldNum" sz="quarter" idx="12"/>
          </p:nvPr>
        </p:nvSpPr>
        <p:spPr/>
        <p:txBody>
          <a:bodyPr/>
          <a:lstStyle>
            <a:lvl1pPr>
              <a:defRPr sz="1400">
                <a:solidFill>
                  <a:srgbClr val="FFFFFF"/>
                </a:solidFill>
              </a:defRPr>
            </a:lvl1pPr>
          </a:lstStyle>
          <a:p>
            <a:pPr>
              <a:defRPr/>
            </a:pPr>
            <a:fld id="{0AFC5EDC-F198-4829-9067-CC1A4DEDAAB7}" type="slidenum">
              <a:rPr lang="en-US"/>
              <a:pPr>
                <a:defRPr/>
              </a:pPr>
              <a:t>‹#›</a:t>
            </a:fld>
            <a:endParaRPr lang="en-US" dirty="0"/>
          </a:p>
        </p:txBody>
      </p:sp>
    </p:spTree>
    <p:extLst>
      <p:ext uri="{BB962C8B-B14F-4D97-AF65-F5344CB8AC3E}">
        <p14:creationId xmlns:p14="http://schemas.microsoft.com/office/powerpoint/2010/main" val="5070237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19809E9B-996F-D808-1EC0-203D6108D29F}"/>
              </a:ext>
            </a:extLst>
          </p:cNvPr>
          <p:cNvSpPr>
            <a:spLocks noGrp="1"/>
          </p:cNvSpPr>
          <p:nvPr>
            <p:ph type="dt" sz="half" idx="10"/>
          </p:nvPr>
        </p:nvSpPr>
        <p:spPr/>
        <p:txBody>
          <a:bodyPr/>
          <a:lstStyle>
            <a:lvl1pPr>
              <a:defRPr/>
            </a:lvl1pPr>
          </a:lstStyle>
          <a:p>
            <a:pPr>
              <a:defRPr/>
            </a:pPr>
            <a:fld id="{7F6EFEAA-3908-4F89-8432-2AB0B6F56C70}" type="datetime1">
              <a:rPr lang="en-US"/>
              <a:pPr>
                <a:defRPr/>
              </a:pPr>
              <a:t>10/4/2025</a:t>
            </a:fld>
            <a:endParaRPr lang="en-US" dirty="0"/>
          </a:p>
        </p:txBody>
      </p:sp>
      <p:sp>
        <p:nvSpPr>
          <p:cNvPr id="4" name="Footer Placeholder 2">
            <a:extLst>
              <a:ext uri="{FF2B5EF4-FFF2-40B4-BE49-F238E27FC236}">
                <a16:creationId xmlns:a16="http://schemas.microsoft.com/office/drawing/2014/main" id="{0E99189B-F4C9-2426-B9C9-D89B9DC26D99}"/>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68C3EA48-11DD-A63C-C270-B99383D042D3}"/>
              </a:ext>
            </a:extLst>
          </p:cNvPr>
          <p:cNvSpPr>
            <a:spLocks noGrp="1"/>
          </p:cNvSpPr>
          <p:nvPr>
            <p:ph type="sldNum" sz="quarter" idx="12"/>
          </p:nvPr>
        </p:nvSpPr>
        <p:spPr/>
        <p:txBody>
          <a:bodyPr/>
          <a:lstStyle>
            <a:lvl1pPr>
              <a:defRPr/>
            </a:lvl1pPr>
          </a:lstStyle>
          <a:p>
            <a:pPr>
              <a:defRPr/>
            </a:pPr>
            <a:fld id="{066DA676-8FFF-4E85-A6E6-C8190E7E1880}" type="slidenum">
              <a:rPr lang="en-US"/>
              <a:pPr>
                <a:defRPr/>
              </a:pPr>
              <a:t>‹#›</a:t>
            </a:fld>
            <a:endParaRPr lang="en-US" dirty="0"/>
          </a:p>
        </p:txBody>
      </p:sp>
    </p:spTree>
    <p:extLst>
      <p:ext uri="{BB962C8B-B14F-4D97-AF65-F5344CB8AC3E}">
        <p14:creationId xmlns:p14="http://schemas.microsoft.com/office/powerpoint/2010/main" val="795674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55FFB4-C7CC-7393-5CBA-E3DAA8CCD7FF}"/>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4185DD22-BFA2-2711-296C-4F0020C38104}"/>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11F5675B-87EE-BA93-2E0E-E94F5145968A}"/>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C559AEE2-D1C4-FB59-100C-6EC22896AF70}"/>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0C5274BC-F0C4-9887-9E35-5E42294F699B}"/>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1DC2F6D3-913E-C1DF-CDE9-B675A2F76176}"/>
              </a:ext>
            </a:extLst>
          </p:cNvPr>
          <p:cNvSpPr>
            <a:spLocks noGrp="1"/>
          </p:cNvSpPr>
          <p:nvPr>
            <p:ph type="dt" sz="half" idx="10"/>
          </p:nvPr>
        </p:nvSpPr>
        <p:spPr/>
        <p:txBody>
          <a:bodyPr/>
          <a:lstStyle>
            <a:lvl1pPr>
              <a:defRPr/>
            </a:lvl1pPr>
          </a:lstStyle>
          <a:p>
            <a:pPr>
              <a:defRPr/>
            </a:pPr>
            <a:fld id="{850E2B02-783B-40EA-9EEC-94A96836EDAA}" type="datetime1">
              <a:rPr lang="en-US"/>
              <a:pPr>
                <a:defRPr/>
              </a:pPr>
              <a:t>10/4/2025</a:t>
            </a:fld>
            <a:endParaRPr lang="en-US"/>
          </a:p>
        </p:txBody>
      </p:sp>
      <p:sp>
        <p:nvSpPr>
          <p:cNvPr id="10" name="Footer Placeholder 4">
            <a:extLst>
              <a:ext uri="{FF2B5EF4-FFF2-40B4-BE49-F238E27FC236}">
                <a16:creationId xmlns:a16="http://schemas.microsoft.com/office/drawing/2014/main" id="{895AFCB3-51EB-4BC2-BB7F-DCFB7C2BC76F}"/>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653BD65B-35F7-B8DC-3AB5-320C2D0A8493}"/>
              </a:ext>
            </a:extLst>
          </p:cNvPr>
          <p:cNvSpPr>
            <a:spLocks noGrp="1"/>
          </p:cNvSpPr>
          <p:nvPr>
            <p:ph type="sldNum" sz="quarter" idx="12"/>
          </p:nvPr>
        </p:nvSpPr>
        <p:spPr>
          <a:xfrm>
            <a:off x="146050" y="6208713"/>
            <a:ext cx="457200" cy="457200"/>
          </a:xfrm>
        </p:spPr>
        <p:txBody>
          <a:bodyPr/>
          <a:lstStyle>
            <a:lvl1pPr>
              <a:defRPr/>
            </a:lvl1pPr>
          </a:lstStyle>
          <a:p>
            <a:pPr>
              <a:defRPr/>
            </a:pPr>
            <a:fld id="{F89337BA-DB41-42CC-AD88-72F8AB242BAA}" type="slidenum">
              <a:rPr lang="en-US"/>
              <a:pPr>
                <a:defRPr/>
              </a:pPr>
              <a:t>‹#›</a:t>
            </a:fld>
            <a:endParaRPr lang="en-US" dirty="0"/>
          </a:p>
        </p:txBody>
      </p:sp>
    </p:spTree>
    <p:extLst>
      <p:ext uri="{BB962C8B-B14F-4D97-AF65-F5344CB8AC3E}">
        <p14:creationId xmlns:p14="http://schemas.microsoft.com/office/powerpoint/2010/main" val="98664006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8561D5BA-6488-08EB-E934-02564E70939F}"/>
              </a:ext>
            </a:extLst>
          </p:cNvPr>
          <p:cNvSpPr>
            <a:spLocks noGrp="1"/>
          </p:cNvSpPr>
          <p:nvPr>
            <p:ph type="dt" sz="half" idx="10"/>
          </p:nvPr>
        </p:nvSpPr>
        <p:spPr/>
        <p:txBody>
          <a:bodyPr/>
          <a:lstStyle>
            <a:lvl1pPr>
              <a:defRPr/>
            </a:lvl1pPr>
          </a:lstStyle>
          <a:p>
            <a:pPr>
              <a:defRPr/>
            </a:pPr>
            <a:fld id="{40F1323F-1B03-4B20-95A6-06AEB8555AF5}" type="datetime1">
              <a:rPr lang="en-US"/>
              <a:pPr>
                <a:defRPr/>
              </a:pPr>
              <a:t>10/4/2025</a:t>
            </a:fld>
            <a:endParaRPr lang="en-US" dirty="0"/>
          </a:p>
        </p:txBody>
      </p:sp>
      <p:sp>
        <p:nvSpPr>
          <p:cNvPr id="4" name="Footer Placeholder 2">
            <a:extLst>
              <a:ext uri="{FF2B5EF4-FFF2-40B4-BE49-F238E27FC236}">
                <a16:creationId xmlns:a16="http://schemas.microsoft.com/office/drawing/2014/main" id="{4B36BBB3-0723-506B-B33F-C86A53153146}"/>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5A78B5E2-334E-A383-21FC-5A61225B6080}"/>
              </a:ext>
            </a:extLst>
          </p:cNvPr>
          <p:cNvSpPr>
            <a:spLocks noGrp="1"/>
          </p:cNvSpPr>
          <p:nvPr>
            <p:ph type="sldNum" sz="quarter" idx="12"/>
          </p:nvPr>
        </p:nvSpPr>
        <p:spPr/>
        <p:txBody>
          <a:bodyPr/>
          <a:lstStyle>
            <a:lvl1pPr>
              <a:defRPr/>
            </a:lvl1pPr>
          </a:lstStyle>
          <a:p>
            <a:pPr>
              <a:defRPr/>
            </a:pPr>
            <a:fld id="{83B92E13-E5FD-4E17-A12D-79022FC0F4F6}" type="slidenum">
              <a:rPr lang="en-US"/>
              <a:pPr>
                <a:defRPr/>
              </a:pPr>
              <a:t>‹#›</a:t>
            </a:fld>
            <a:endParaRPr lang="en-US" dirty="0"/>
          </a:p>
        </p:txBody>
      </p:sp>
    </p:spTree>
    <p:extLst>
      <p:ext uri="{BB962C8B-B14F-4D97-AF65-F5344CB8AC3E}">
        <p14:creationId xmlns:p14="http://schemas.microsoft.com/office/powerpoint/2010/main" val="3169983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29D3FBA5-1B50-AD83-8659-F9E8BA578273}"/>
              </a:ext>
            </a:extLst>
          </p:cNvPr>
          <p:cNvSpPr>
            <a:spLocks noGrp="1"/>
          </p:cNvSpPr>
          <p:nvPr>
            <p:ph type="dt" sz="half" idx="10"/>
          </p:nvPr>
        </p:nvSpPr>
        <p:spPr/>
        <p:txBody>
          <a:bodyPr/>
          <a:lstStyle>
            <a:lvl1pPr>
              <a:defRPr/>
            </a:lvl1pPr>
          </a:lstStyle>
          <a:p>
            <a:pPr>
              <a:defRPr/>
            </a:pPr>
            <a:fld id="{5AB00F2C-72E3-470F-8DF4-06D69E13E1BA}" type="datetime1">
              <a:rPr lang="en-US"/>
              <a:pPr>
                <a:defRPr/>
              </a:pPr>
              <a:t>10/4/2025</a:t>
            </a:fld>
            <a:endParaRPr lang="en-US" dirty="0"/>
          </a:p>
        </p:txBody>
      </p:sp>
      <p:sp>
        <p:nvSpPr>
          <p:cNvPr id="6" name="Footer Placeholder 2">
            <a:extLst>
              <a:ext uri="{FF2B5EF4-FFF2-40B4-BE49-F238E27FC236}">
                <a16:creationId xmlns:a16="http://schemas.microsoft.com/office/drawing/2014/main" id="{44010B77-5563-6BAA-37A5-FAFDBDED3BDE}"/>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7" name="Slide Number Placeholder 22">
            <a:extLst>
              <a:ext uri="{FF2B5EF4-FFF2-40B4-BE49-F238E27FC236}">
                <a16:creationId xmlns:a16="http://schemas.microsoft.com/office/drawing/2014/main" id="{FBF4ACBC-63B2-E5B0-F4EA-12EDC1D0789E}"/>
              </a:ext>
            </a:extLst>
          </p:cNvPr>
          <p:cNvSpPr>
            <a:spLocks noGrp="1"/>
          </p:cNvSpPr>
          <p:nvPr>
            <p:ph type="sldNum" sz="quarter" idx="12"/>
          </p:nvPr>
        </p:nvSpPr>
        <p:spPr/>
        <p:txBody>
          <a:bodyPr/>
          <a:lstStyle>
            <a:lvl1pPr>
              <a:defRPr/>
            </a:lvl1pPr>
          </a:lstStyle>
          <a:p>
            <a:pPr>
              <a:defRPr/>
            </a:pPr>
            <a:fld id="{E6CF1202-92EE-4F8C-A7FB-901E59E6D351}" type="slidenum">
              <a:rPr lang="en-US"/>
              <a:pPr>
                <a:defRPr/>
              </a:pPr>
              <a:t>‹#›</a:t>
            </a:fld>
            <a:endParaRPr lang="en-US" dirty="0"/>
          </a:p>
        </p:txBody>
      </p:sp>
    </p:spTree>
    <p:extLst>
      <p:ext uri="{BB962C8B-B14F-4D97-AF65-F5344CB8AC3E}">
        <p14:creationId xmlns:p14="http://schemas.microsoft.com/office/powerpoint/2010/main" val="223052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26A30960-77B5-DC33-6EEF-CADDF35F252D}"/>
              </a:ext>
            </a:extLst>
          </p:cNvPr>
          <p:cNvSpPr>
            <a:spLocks noGrp="1"/>
          </p:cNvSpPr>
          <p:nvPr>
            <p:ph type="dt" sz="half" idx="10"/>
          </p:nvPr>
        </p:nvSpPr>
        <p:spPr/>
        <p:txBody>
          <a:bodyPr/>
          <a:lstStyle>
            <a:lvl1pPr>
              <a:defRPr/>
            </a:lvl1pPr>
          </a:lstStyle>
          <a:p>
            <a:pPr>
              <a:defRPr/>
            </a:pPr>
            <a:fld id="{C0BB78F5-5ED2-441D-8560-489C10A5B41C}" type="datetime1">
              <a:rPr lang="en-US"/>
              <a:pPr>
                <a:defRPr/>
              </a:pPr>
              <a:t>10/4/2025</a:t>
            </a:fld>
            <a:endParaRPr lang="en-US" dirty="0"/>
          </a:p>
        </p:txBody>
      </p:sp>
      <p:sp>
        <p:nvSpPr>
          <p:cNvPr id="4" name="Footer Placeholder 2">
            <a:extLst>
              <a:ext uri="{FF2B5EF4-FFF2-40B4-BE49-F238E27FC236}">
                <a16:creationId xmlns:a16="http://schemas.microsoft.com/office/drawing/2014/main" id="{0BD2FE81-0D8B-8CD9-6799-CB2996674C47}"/>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0525591A-3E98-FB98-4D91-60D860072956}"/>
              </a:ext>
            </a:extLst>
          </p:cNvPr>
          <p:cNvSpPr>
            <a:spLocks noGrp="1"/>
          </p:cNvSpPr>
          <p:nvPr>
            <p:ph type="sldNum" sz="quarter" idx="12"/>
          </p:nvPr>
        </p:nvSpPr>
        <p:spPr/>
        <p:txBody>
          <a:bodyPr/>
          <a:lstStyle>
            <a:lvl1pPr>
              <a:defRPr/>
            </a:lvl1pPr>
          </a:lstStyle>
          <a:p>
            <a:pPr>
              <a:defRPr/>
            </a:pPr>
            <a:fld id="{75483A14-8CF5-4127-9976-C12309A669BA}" type="slidenum">
              <a:rPr lang="en-US"/>
              <a:pPr>
                <a:defRPr/>
              </a:pPr>
              <a:t>‹#›</a:t>
            </a:fld>
            <a:endParaRPr lang="en-US" dirty="0"/>
          </a:p>
        </p:txBody>
      </p:sp>
    </p:spTree>
    <p:extLst>
      <p:ext uri="{BB962C8B-B14F-4D97-AF65-F5344CB8AC3E}">
        <p14:creationId xmlns:p14="http://schemas.microsoft.com/office/powerpoint/2010/main" val="158319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F10E9228-64BD-2E01-796A-684FF6ECEF75}"/>
              </a:ext>
            </a:extLst>
          </p:cNvPr>
          <p:cNvSpPr>
            <a:spLocks noGrp="1"/>
          </p:cNvSpPr>
          <p:nvPr>
            <p:ph type="dt" sz="half" idx="10"/>
          </p:nvPr>
        </p:nvSpPr>
        <p:spPr/>
        <p:txBody>
          <a:bodyPr/>
          <a:lstStyle>
            <a:lvl1pPr>
              <a:defRPr/>
            </a:lvl1pPr>
          </a:lstStyle>
          <a:p>
            <a:pPr>
              <a:defRPr/>
            </a:pPr>
            <a:fld id="{EB63A048-58FB-4F03-A550-F4F28DB0CE43}" type="datetime1">
              <a:rPr lang="en-US"/>
              <a:pPr>
                <a:defRPr/>
              </a:pPr>
              <a:t>10/4/2025</a:t>
            </a:fld>
            <a:endParaRPr lang="en-US" dirty="0"/>
          </a:p>
        </p:txBody>
      </p:sp>
      <p:sp>
        <p:nvSpPr>
          <p:cNvPr id="3" name="Footer Placeholder 2">
            <a:extLst>
              <a:ext uri="{FF2B5EF4-FFF2-40B4-BE49-F238E27FC236}">
                <a16:creationId xmlns:a16="http://schemas.microsoft.com/office/drawing/2014/main" id="{7EFB5155-BE36-CC46-7101-6F58E5FBCC71}"/>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4" name="Slide Number Placeholder 22">
            <a:extLst>
              <a:ext uri="{FF2B5EF4-FFF2-40B4-BE49-F238E27FC236}">
                <a16:creationId xmlns:a16="http://schemas.microsoft.com/office/drawing/2014/main" id="{8F113844-006C-8779-FB45-519C6653DC35}"/>
              </a:ext>
            </a:extLst>
          </p:cNvPr>
          <p:cNvSpPr>
            <a:spLocks noGrp="1"/>
          </p:cNvSpPr>
          <p:nvPr>
            <p:ph type="sldNum" sz="quarter" idx="12"/>
          </p:nvPr>
        </p:nvSpPr>
        <p:spPr/>
        <p:txBody>
          <a:bodyPr/>
          <a:lstStyle>
            <a:lvl1pPr>
              <a:defRPr/>
            </a:lvl1pPr>
          </a:lstStyle>
          <a:p>
            <a:pPr>
              <a:defRPr/>
            </a:pPr>
            <a:fld id="{1FE30FE3-82F5-4B38-8C23-3B1ADF0D3F0D}" type="slidenum">
              <a:rPr lang="en-US"/>
              <a:pPr>
                <a:defRPr/>
              </a:pPr>
              <a:t>‹#›</a:t>
            </a:fld>
            <a:endParaRPr lang="en-US" dirty="0"/>
          </a:p>
        </p:txBody>
      </p:sp>
    </p:spTree>
    <p:extLst>
      <p:ext uri="{BB962C8B-B14F-4D97-AF65-F5344CB8AC3E}">
        <p14:creationId xmlns:p14="http://schemas.microsoft.com/office/powerpoint/2010/main" val="3534788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52551F-0659-5E16-D70C-1A7D5A82B133}"/>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B503854B-8C6B-BE8E-CB55-273D1E19AFA5}"/>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663AFAE9-47FD-23F2-1268-C6CC13BCBFDD}"/>
              </a:ext>
            </a:extLst>
          </p:cNvPr>
          <p:cNvSpPr>
            <a:spLocks noGrp="1"/>
          </p:cNvSpPr>
          <p:nvPr>
            <p:ph type="dt" sz="half" idx="10"/>
          </p:nvPr>
        </p:nvSpPr>
        <p:spPr/>
        <p:txBody>
          <a:bodyPr/>
          <a:lstStyle>
            <a:lvl1pPr>
              <a:defRPr/>
            </a:lvl1pPr>
          </a:lstStyle>
          <a:p>
            <a:pPr>
              <a:defRPr/>
            </a:pPr>
            <a:fld id="{76726B31-211F-4EF5-A0E5-C86264E631BF}" type="datetime1">
              <a:rPr lang="en-US"/>
              <a:pPr>
                <a:defRPr/>
              </a:pPr>
              <a:t>10/4/2025</a:t>
            </a:fld>
            <a:endParaRPr lang="en-US"/>
          </a:p>
        </p:txBody>
      </p:sp>
      <p:sp>
        <p:nvSpPr>
          <p:cNvPr id="7" name="Footer Placeholder 5">
            <a:extLst>
              <a:ext uri="{FF2B5EF4-FFF2-40B4-BE49-F238E27FC236}">
                <a16:creationId xmlns:a16="http://schemas.microsoft.com/office/drawing/2014/main" id="{CDBE83E1-E978-2F5D-8200-F431D257F28C}"/>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B73D466B-548D-60C2-2FD5-7E848DDDC573}"/>
              </a:ext>
            </a:extLst>
          </p:cNvPr>
          <p:cNvSpPr>
            <a:spLocks noGrp="1"/>
          </p:cNvSpPr>
          <p:nvPr>
            <p:ph type="sldNum" sz="quarter" idx="12"/>
          </p:nvPr>
        </p:nvSpPr>
        <p:spPr/>
        <p:txBody>
          <a:bodyPr/>
          <a:lstStyle>
            <a:lvl1pPr>
              <a:defRPr/>
            </a:lvl1pPr>
          </a:lstStyle>
          <a:p>
            <a:pPr>
              <a:defRPr/>
            </a:pPr>
            <a:fld id="{6264F016-5C59-4D6D-BAFD-E77BFF2A1033}" type="slidenum">
              <a:rPr lang="en-US"/>
              <a:pPr>
                <a:defRPr/>
              </a:pPr>
              <a:t>‹#›</a:t>
            </a:fld>
            <a:endParaRPr lang="en-US"/>
          </a:p>
        </p:txBody>
      </p:sp>
    </p:spTree>
    <p:extLst>
      <p:ext uri="{BB962C8B-B14F-4D97-AF65-F5344CB8AC3E}">
        <p14:creationId xmlns:p14="http://schemas.microsoft.com/office/powerpoint/2010/main" val="2187792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ADA346A-F8E5-946B-F16A-83769EC908C6}"/>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AF90FC19-D539-79F9-5086-F08395A78F8A}"/>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C0C14848-84B6-BB21-45AD-078AE1F53B79}"/>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9E39F22-C110-A91A-240F-25C59D7B0736}"/>
              </a:ext>
            </a:extLst>
          </p:cNvPr>
          <p:cNvSpPr>
            <a:spLocks noGrp="1"/>
          </p:cNvSpPr>
          <p:nvPr>
            <p:ph type="dt" sz="half" idx="10"/>
          </p:nvPr>
        </p:nvSpPr>
        <p:spPr/>
        <p:txBody>
          <a:bodyPr/>
          <a:lstStyle>
            <a:lvl1pPr>
              <a:defRPr/>
            </a:lvl1pPr>
          </a:lstStyle>
          <a:p>
            <a:pPr>
              <a:defRPr/>
            </a:pPr>
            <a:fld id="{176DC9C0-0299-41CD-9CBD-82375AC037DD}" type="datetime1">
              <a:rPr lang="en-US"/>
              <a:pPr>
                <a:defRPr/>
              </a:pPr>
              <a:t>10/4/2025</a:t>
            </a:fld>
            <a:endParaRPr lang="en-US"/>
          </a:p>
        </p:txBody>
      </p:sp>
      <p:sp>
        <p:nvSpPr>
          <p:cNvPr id="9" name="Footer Placeholder 5">
            <a:extLst>
              <a:ext uri="{FF2B5EF4-FFF2-40B4-BE49-F238E27FC236}">
                <a16:creationId xmlns:a16="http://schemas.microsoft.com/office/drawing/2014/main" id="{0963E876-9969-029A-D420-255B45BDC3BA}"/>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FC6B7D47-4F79-B1EA-5A33-0C8D075E15B7}"/>
              </a:ext>
            </a:extLst>
          </p:cNvPr>
          <p:cNvSpPr>
            <a:spLocks noGrp="1"/>
          </p:cNvSpPr>
          <p:nvPr>
            <p:ph type="sldNum" sz="quarter" idx="12"/>
          </p:nvPr>
        </p:nvSpPr>
        <p:spPr>
          <a:xfrm>
            <a:off x="146050" y="6208713"/>
            <a:ext cx="457200" cy="457200"/>
          </a:xfrm>
        </p:spPr>
        <p:txBody>
          <a:bodyPr/>
          <a:lstStyle>
            <a:lvl1pPr>
              <a:defRPr/>
            </a:lvl1pPr>
          </a:lstStyle>
          <a:p>
            <a:pPr>
              <a:defRPr/>
            </a:pPr>
            <a:fld id="{1ED67412-0C28-4A10-B68A-9EEB49F39900}" type="slidenum">
              <a:rPr lang="en-US"/>
              <a:pPr>
                <a:defRPr/>
              </a:pPr>
              <a:t>‹#›</a:t>
            </a:fld>
            <a:endParaRPr lang="en-US" dirty="0"/>
          </a:p>
        </p:txBody>
      </p:sp>
    </p:spTree>
    <p:extLst>
      <p:ext uri="{BB962C8B-B14F-4D97-AF65-F5344CB8AC3E}">
        <p14:creationId xmlns:p14="http://schemas.microsoft.com/office/powerpoint/2010/main" val="1822926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E0D1B6BE-9435-45EC-D5F2-4FEC4AB4040C}"/>
              </a:ext>
            </a:extLst>
          </p:cNvPr>
          <p:cNvSpPr>
            <a:spLocks noGrp="1"/>
          </p:cNvSpPr>
          <p:nvPr>
            <p:ph type="dt" sz="half" idx="10"/>
          </p:nvPr>
        </p:nvSpPr>
        <p:spPr/>
        <p:txBody>
          <a:bodyPr/>
          <a:lstStyle>
            <a:lvl1pPr>
              <a:defRPr/>
            </a:lvl1pPr>
          </a:lstStyle>
          <a:p>
            <a:pPr>
              <a:defRPr/>
            </a:pPr>
            <a:fld id="{0FB27CA6-3393-42DD-89D7-284C9D8C2CDB}" type="datetime1">
              <a:rPr lang="en-US"/>
              <a:pPr>
                <a:defRPr/>
              </a:pPr>
              <a:t>10/4/2025</a:t>
            </a:fld>
            <a:endParaRPr lang="en-US" dirty="0"/>
          </a:p>
        </p:txBody>
      </p:sp>
      <p:sp>
        <p:nvSpPr>
          <p:cNvPr id="5" name="Footer Placeholder 2">
            <a:extLst>
              <a:ext uri="{FF2B5EF4-FFF2-40B4-BE49-F238E27FC236}">
                <a16:creationId xmlns:a16="http://schemas.microsoft.com/office/drawing/2014/main" id="{D8C1951D-3410-2E87-5648-3E0EB8888DB6}"/>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025BAD8A-5DC2-19FF-99B1-21CDF550F447}"/>
              </a:ext>
            </a:extLst>
          </p:cNvPr>
          <p:cNvSpPr>
            <a:spLocks noGrp="1"/>
          </p:cNvSpPr>
          <p:nvPr>
            <p:ph type="sldNum" sz="quarter" idx="12"/>
          </p:nvPr>
        </p:nvSpPr>
        <p:spPr/>
        <p:txBody>
          <a:bodyPr/>
          <a:lstStyle>
            <a:lvl1pPr>
              <a:defRPr/>
            </a:lvl1pPr>
          </a:lstStyle>
          <a:p>
            <a:pPr>
              <a:defRPr/>
            </a:pPr>
            <a:fld id="{D5211556-19DB-4CBA-86DA-88549B946310}" type="slidenum">
              <a:rPr lang="en-US"/>
              <a:pPr>
                <a:defRPr/>
              </a:pPr>
              <a:t>‹#›</a:t>
            </a:fld>
            <a:endParaRPr lang="en-US" dirty="0"/>
          </a:p>
        </p:txBody>
      </p:sp>
    </p:spTree>
    <p:extLst>
      <p:ext uri="{BB962C8B-B14F-4D97-AF65-F5344CB8AC3E}">
        <p14:creationId xmlns:p14="http://schemas.microsoft.com/office/powerpoint/2010/main" val="3838043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195AC1F1-0296-C783-4349-5956ECB9D0EA}"/>
              </a:ext>
            </a:extLst>
          </p:cNvPr>
          <p:cNvSpPr>
            <a:spLocks noGrp="1"/>
          </p:cNvSpPr>
          <p:nvPr>
            <p:ph type="dt" sz="half" idx="10"/>
          </p:nvPr>
        </p:nvSpPr>
        <p:spPr/>
        <p:txBody>
          <a:bodyPr/>
          <a:lstStyle>
            <a:lvl1pPr>
              <a:defRPr/>
            </a:lvl1pPr>
          </a:lstStyle>
          <a:p>
            <a:pPr>
              <a:defRPr/>
            </a:pPr>
            <a:fld id="{F1508F07-6C1F-4F9E-AA2D-B51A5FD23ADF}" type="datetime1">
              <a:rPr lang="en-US"/>
              <a:pPr>
                <a:defRPr/>
              </a:pPr>
              <a:t>10/4/2025</a:t>
            </a:fld>
            <a:endParaRPr lang="en-US" dirty="0"/>
          </a:p>
        </p:txBody>
      </p:sp>
      <p:sp>
        <p:nvSpPr>
          <p:cNvPr id="5" name="Footer Placeholder 2">
            <a:extLst>
              <a:ext uri="{FF2B5EF4-FFF2-40B4-BE49-F238E27FC236}">
                <a16:creationId xmlns:a16="http://schemas.microsoft.com/office/drawing/2014/main" id="{766E29E1-025C-5538-697F-B59F0CB16D85}"/>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A89EA551-BF26-15AF-B8E2-FC37E4B4F41E}"/>
              </a:ext>
            </a:extLst>
          </p:cNvPr>
          <p:cNvSpPr>
            <a:spLocks noGrp="1"/>
          </p:cNvSpPr>
          <p:nvPr>
            <p:ph type="sldNum" sz="quarter" idx="12"/>
          </p:nvPr>
        </p:nvSpPr>
        <p:spPr/>
        <p:txBody>
          <a:bodyPr/>
          <a:lstStyle>
            <a:lvl1pPr>
              <a:defRPr/>
            </a:lvl1pPr>
          </a:lstStyle>
          <a:p>
            <a:pPr>
              <a:defRPr/>
            </a:pPr>
            <a:fld id="{1D888057-F7EE-4B7F-8305-F1138657B327}" type="slidenum">
              <a:rPr lang="en-US"/>
              <a:pPr>
                <a:defRPr/>
              </a:pPr>
              <a:t>‹#›</a:t>
            </a:fld>
            <a:endParaRPr lang="en-US" dirty="0"/>
          </a:p>
        </p:txBody>
      </p:sp>
    </p:spTree>
    <p:extLst>
      <p:ext uri="{BB962C8B-B14F-4D97-AF65-F5344CB8AC3E}">
        <p14:creationId xmlns:p14="http://schemas.microsoft.com/office/powerpoint/2010/main" val="4046803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8B01536D-DBED-4DF9-422D-EF8DB3971430}"/>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470618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EABC10-8096-B392-8E28-794FBD3F4953}"/>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6F00C893-4464-9E68-747B-76DCCFA5AA3D}"/>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AA70AEF5-E122-5199-83B9-109D07D9A13A}"/>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4871B3DA-D001-1F07-C0D7-1B85B45A6242}"/>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3171ABC-2469-EC87-619C-9E94984D78B2}"/>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9E1F11EC-6D8C-0B06-A27F-18F0C31668ED}"/>
              </a:ext>
            </a:extLst>
          </p:cNvPr>
          <p:cNvSpPr>
            <a:spLocks noGrp="1"/>
          </p:cNvSpPr>
          <p:nvPr>
            <p:ph type="dt" sz="half" idx="10"/>
          </p:nvPr>
        </p:nvSpPr>
        <p:spPr/>
        <p:txBody>
          <a:bodyPr/>
          <a:lstStyle>
            <a:lvl1pPr>
              <a:defRPr smtClean="0"/>
            </a:lvl1pPr>
          </a:lstStyle>
          <a:p>
            <a:pPr>
              <a:defRPr/>
            </a:pPr>
            <a:fld id="{DA03B8B0-006A-4C42-A34E-65E96B126238}" type="datetime1">
              <a:rPr lang="en-US"/>
              <a:pPr>
                <a:defRPr/>
              </a:pPr>
              <a:t>10/4/2025</a:t>
            </a:fld>
            <a:endParaRPr lang="en-US"/>
          </a:p>
        </p:txBody>
      </p:sp>
      <p:sp>
        <p:nvSpPr>
          <p:cNvPr id="10" name="Footer Placeholder 16">
            <a:extLst>
              <a:ext uri="{FF2B5EF4-FFF2-40B4-BE49-F238E27FC236}">
                <a16:creationId xmlns:a16="http://schemas.microsoft.com/office/drawing/2014/main" id="{742975DB-6EE1-D26C-8E3A-3AC74337CF31}"/>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4243921B-A0AC-2B24-CCDB-553C8D15FD75}"/>
              </a:ext>
            </a:extLst>
          </p:cNvPr>
          <p:cNvSpPr>
            <a:spLocks noGrp="1"/>
          </p:cNvSpPr>
          <p:nvPr>
            <p:ph type="sldNum" sz="quarter" idx="12"/>
          </p:nvPr>
        </p:nvSpPr>
        <p:spPr/>
        <p:txBody>
          <a:bodyPr/>
          <a:lstStyle>
            <a:lvl1pPr>
              <a:defRPr sz="1400">
                <a:solidFill>
                  <a:srgbClr val="FFFFFF"/>
                </a:solidFill>
              </a:defRPr>
            </a:lvl1pPr>
          </a:lstStyle>
          <a:p>
            <a:pPr>
              <a:defRPr/>
            </a:pPr>
            <a:fld id="{8FFCD2EC-1622-4498-949E-A77678AEEBEF}" type="slidenum">
              <a:rPr lang="en-US"/>
              <a:pPr>
                <a:defRPr/>
              </a:pPr>
              <a:t>‹#›</a:t>
            </a:fld>
            <a:endParaRPr lang="en-US" dirty="0"/>
          </a:p>
        </p:txBody>
      </p:sp>
    </p:spTree>
    <p:extLst>
      <p:ext uri="{BB962C8B-B14F-4D97-AF65-F5344CB8AC3E}">
        <p14:creationId xmlns:p14="http://schemas.microsoft.com/office/powerpoint/2010/main" val="152915181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10596EB7-6B03-0CCE-FF75-0A4C6DC15584}"/>
              </a:ext>
            </a:extLst>
          </p:cNvPr>
          <p:cNvSpPr>
            <a:spLocks noGrp="1"/>
          </p:cNvSpPr>
          <p:nvPr>
            <p:ph type="dt" sz="half" idx="10"/>
          </p:nvPr>
        </p:nvSpPr>
        <p:spPr/>
        <p:txBody>
          <a:bodyPr/>
          <a:lstStyle>
            <a:lvl1pPr>
              <a:defRPr/>
            </a:lvl1pPr>
          </a:lstStyle>
          <a:p>
            <a:pPr>
              <a:defRPr/>
            </a:pPr>
            <a:fld id="{C5B0C93A-40BF-42F8-94A1-B10DFBBB76B9}" type="datetime1">
              <a:rPr lang="en-US"/>
              <a:pPr>
                <a:defRPr/>
              </a:pPr>
              <a:t>10/4/2025</a:t>
            </a:fld>
            <a:endParaRPr lang="en-US" dirty="0"/>
          </a:p>
        </p:txBody>
      </p:sp>
      <p:sp>
        <p:nvSpPr>
          <p:cNvPr id="4" name="Footer Placeholder 2">
            <a:extLst>
              <a:ext uri="{FF2B5EF4-FFF2-40B4-BE49-F238E27FC236}">
                <a16:creationId xmlns:a16="http://schemas.microsoft.com/office/drawing/2014/main" id="{D2F3AF59-C77D-9558-FEE8-0EC59C27B249}"/>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DFAB3E34-36DB-61B3-5347-0BA00A391AE3}"/>
              </a:ext>
            </a:extLst>
          </p:cNvPr>
          <p:cNvSpPr>
            <a:spLocks noGrp="1"/>
          </p:cNvSpPr>
          <p:nvPr>
            <p:ph type="sldNum" sz="quarter" idx="12"/>
          </p:nvPr>
        </p:nvSpPr>
        <p:spPr/>
        <p:txBody>
          <a:bodyPr/>
          <a:lstStyle>
            <a:lvl1pPr>
              <a:defRPr/>
            </a:lvl1pPr>
          </a:lstStyle>
          <a:p>
            <a:pPr>
              <a:defRPr/>
            </a:pPr>
            <a:fld id="{9601AEF2-00BE-4ACB-908F-6C5B9170E979}" type="slidenum">
              <a:rPr lang="en-US"/>
              <a:pPr>
                <a:defRPr/>
              </a:pPr>
              <a:t>‹#›</a:t>
            </a:fld>
            <a:endParaRPr lang="en-US" dirty="0"/>
          </a:p>
        </p:txBody>
      </p:sp>
    </p:spTree>
    <p:extLst>
      <p:ext uri="{BB962C8B-B14F-4D97-AF65-F5344CB8AC3E}">
        <p14:creationId xmlns:p14="http://schemas.microsoft.com/office/powerpoint/2010/main" val="1079854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A00BB6-2AEA-0405-ACCA-3EE562FBFED1}"/>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F9D7071B-7C49-4FE5-B04D-66CCBA6F05A8}"/>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A400D9CC-DA7C-A4DA-62E7-9E02715AD491}"/>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37884B7D-DA62-54AE-B5D6-18893A517726}"/>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8FB12E63-CFA3-55AD-5E94-14EB9A7BAD99}"/>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0E8F3446-3673-616E-D1EF-415820D3E7C4}"/>
              </a:ext>
            </a:extLst>
          </p:cNvPr>
          <p:cNvSpPr>
            <a:spLocks noGrp="1"/>
          </p:cNvSpPr>
          <p:nvPr>
            <p:ph type="dt" sz="half" idx="10"/>
          </p:nvPr>
        </p:nvSpPr>
        <p:spPr/>
        <p:txBody>
          <a:bodyPr/>
          <a:lstStyle>
            <a:lvl1pPr>
              <a:defRPr smtClean="0"/>
            </a:lvl1pPr>
          </a:lstStyle>
          <a:p>
            <a:pPr>
              <a:defRPr/>
            </a:pPr>
            <a:fld id="{DB1A69C5-D665-4D69-ADF6-FDA97479E0D6}" type="datetime1">
              <a:rPr lang="en-US"/>
              <a:pPr>
                <a:defRPr/>
              </a:pPr>
              <a:t>10/4/2025</a:t>
            </a:fld>
            <a:endParaRPr lang="en-US"/>
          </a:p>
        </p:txBody>
      </p:sp>
      <p:sp>
        <p:nvSpPr>
          <p:cNvPr id="10" name="Footer Placeholder 4">
            <a:extLst>
              <a:ext uri="{FF2B5EF4-FFF2-40B4-BE49-F238E27FC236}">
                <a16:creationId xmlns:a16="http://schemas.microsoft.com/office/drawing/2014/main" id="{83ECEB32-4E6B-BC04-F753-45859E47A8BA}"/>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F9843BEA-E03A-56C6-1F05-6C6A5623164D}"/>
              </a:ext>
            </a:extLst>
          </p:cNvPr>
          <p:cNvSpPr>
            <a:spLocks noGrp="1"/>
          </p:cNvSpPr>
          <p:nvPr>
            <p:ph type="sldNum" sz="quarter" idx="12"/>
          </p:nvPr>
        </p:nvSpPr>
        <p:spPr>
          <a:xfrm>
            <a:off x="146050" y="6208713"/>
            <a:ext cx="457200" cy="457200"/>
          </a:xfrm>
        </p:spPr>
        <p:txBody>
          <a:bodyPr/>
          <a:lstStyle>
            <a:lvl1pPr>
              <a:defRPr/>
            </a:lvl1pPr>
          </a:lstStyle>
          <a:p>
            <a:pPr>
              <a:defRPr/>
            </a:pPr>
            <a:fld id="{CADC548B-73AB-4151-969D-C9A01E77FCEB}" type="slidenum">
              <a:rPr lang="en-US"/>
              <a:pPr>
                <a:defRPr/>
              </a:pPr>
              <a:t>‹#›</a:t>
            </a:fld>
            <a:endParaRPr lang="en-US" dirty="0"/>
          </a:p>
        </p:txBody>
      </p:sp>
    </p:spTree>
    <p:extLst>
      <p:ext uri="{BB962C8B-B14F-4D97-AF65-F5344CB8AC3E}">
        <p14:creationId xmlns:p14="http://schemas.microsoft.com/office/powerpoint/2010/main" val="383797670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0D0EDF11-59C3-B0CE-F83D-BAF757A7E92E}"/>
              </a:ext>
            </a:extLst>
          </p:cNvPr>
          <p:cNvSpPr>
            <a:spLocks noGrp="1"/>
          </p:cNvSpPr>
          <p:nvPr>
            <p:ph type="dt" sz="half" idx="10"/>
          </p:nvPr>
        </p:nvSpPr>
        <p:spPr/>
        <p:txBody>
          <a:bodyPr/>
          <a:lstStyle>
            <a:lvl1pPr>
              <a:defRPr smtClean="0"/>
            </a:lvl1pPr>
          </a:lstStyle>
          <a:p>
            <a:pPr>
              <a:defRPr/>
            </a:pPr>
            <a:fld id="{F72A11C7-3A94-46B1-9763-775E07EC9BDA}" type="datetime1">
              <a:rPr lang="en-US"/>
              <a:pPr>
                <a:defRPr/>
              </a:pPr>
              <a:t>10/4/2025</a:t>
            </a:fld>
            <a:endParaRPr lang="en-US" dirty="0"/>
          </a:p>
        </p:txBody>
      </p:sp>
      <p:sp>
        <p:nvSpPr>
          <p:cNvPr id="4" name="Footer Placeholder 2">
            <a:extLst>
              <a:ext uri="{FF2B5EF4-FFF2-40B4-BE49-F238E27FC236}">
                <a16:creationId xmlns:a16="http://schemas.microsoft.com/office/drawing/2014/main" id="{D5327C74-2B31-E410-B82C-D65BD41CCB39}"/>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E579B718-9FF1-1CE4-D879-6E110981783D}"/>
              </a:ext>
            </a:extLst>
          </p:cNvPr>
          <p:cNvSpPr>
            <a:spLocks noGrp="1"/>
          </p:cNvSpPr>
          <p:nvPr>
            <p:ph type="sldNum" sz="quarter" idx="12"/>
          </p:nvPr>
        </p:nvSpPr>
        <p:spPr/>
        <p:txBody>
          <a:bodyPr/>
          <a:lstStyle>
            <a:lvl1pPr>
              <a:defRPr/>
            </a:lvl1pPr>
          </a:lstStyle>
          <a:p>
            <a:pPr>
              <a:defRPr/>
            </a:pPr>
            <a:fld id="{0B098DB8-2C30-49AF-8D9F-66ED2D470253}" type="slidenum">
              <a:rPr lang="en-US"/>
              <a:pPr>
                <a:defRPr/>
              </a:pPr>
              <a:t>‹#›</a:t>
            </a:fld>
            <a:endParaRPr lang="en-US" dirty="0"/>
          </a:p>
        </p:txBody>
      </p:sp>
    </p:spTree>
    <p:extLst>
      <p:ext uri="{BB962C8B-B14F-4D97-AF65-F5344CB8AC3E}">
        <p14:creationId xmlns:p14="http://schemas.microsoft.com/office/powerpoint/2010/main" val="38561003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E9E13318-3C2C-17D9-2780-B2AB9BD6E863}"/>
              </a:ext>
            </a:extLst>
          </p:cNvPr>
          <p:cNvSpPr>
            <a:spLocks noGrp="1"/>
          </p:cNvSpPr>
          <p:nvPr>
            <p:ph type="dt" sz="half" idx="10"/>
          </p:nvPr>
        </p:nvSpPr>
        <p:spPr/>
        <p:txBody>
          <a:bodyPr/>
          <a:lstStyle>
            <a:lvl1pPr>
              <a:defRPr smtClean="0"/>
            </a:lvl1pPr>
          </a:lstStyle>
          <a:p>
            <a:pPr>
              <a:defRPr/>
            </a:pPr>
            <a:fld id="{AD62E0D9-9325-4850-8126-2BB3F4FE17E3}" type="datetime1">
              <a:rPr lang="en-US"/>
              <a:pPr>
                <a:defRPr/>
              </a:pPr>
              <a:t>10/4/2025</a:t>
            </a:fld>
            <a:endParaRPr lang="en-US" dirty="0"/>
          </a:p>
        </p:txBody>
      </p:sp>
      <p:sp>
        <p:nvSpPr>
          <p:cNvPr id="6" name="Footer Placeholder 2">
            <a:extLst>
              <a:ext uri="{FF2B5EF4-FFF2-40B4-BE49-F238E27FC236}">
                <a16:creationId xmlns:a16="http://schemas.microsoft.com/office/drawing/2014/main" id="{CE7F8279-C1C6-4491-378F-C5676129F7C7}"/>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7" name="Slide Number Placeholder 22">
            <a:extLst>
              <a:ext uri="{FF2B5EF4-FFF2-40B4-BE49-F238E27FC236}">
                <a16:creationId xmlns:a16="http://schemas.microsoft.com/office/drawing/2014/main" id="{8A1FC29F-EA9A-36BA-9D21-F550ABF2F332}"/>
              </a:ext>
            </a:extLst>
          </p:cNvPr>
          <p:cNvSpPr>
            <a:spLocks noGrp="1"/>
          </p:cNvSpPr>
          <p:nvPr>
            <p:ph type="sldNum" sz="quarter" idx="12"/>
          </p:nvPr>
        </p:nvSpPr>
        <p:spPr/>
        <p:txBody>
          <a:bodyPr/>
          <a:lstStyle>
            <a:lvl1pPr>
              <a:defRPr/>
            </a:lvl1pPr>
          </a:lstStyle>
          <a:p>
            <a:pPr>
              <a:defRPr/>
            </a:pPr>
            <a:fld id="{F137D064-2A2D-459C-AA33-45E937364A98}" type="slidenum">
              <a:rPr lang="en-US"/>
              <a:pPr>
                <a:defRPr/>
              </a:pPr>
              <a:t>‹#›</a:t>
            </a:fld>
            <a:endParaRPr lang="en-US" dirty="0"/>
          </a:p>
        </p:txBody>
      </p:sp>
    </p:spTree>
    <p:extLst>
      <p:ext uri="{BB962C8B-B14F-4D97-AF65-F5344CB8AC3E}">
        <p14:creationId xmlns:p14="http://schemas.microsoft.com/office/powerpoint/2010/main" val="38959044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7C43417C-FB32-AD5C-A1AB-5FE18F53A064}"/>
              </a:ext>
            </a:extLst>
          </p:cNvPr>
          <p:cNvSpPr>
            <a:spLocks noGrp="1"/>
          </p:cNvSpPr>
          <p:nvPr>
            <p:ph type="dt" sz="half" idx="10"/>
          </p:nvPr>
        </p:nvSpPr>
        <p:spPr/>
        <p:txBody>
          <a:bodyPr/>
          <a:lstStyle>
            <a:lvl1pPr>
              <a:defRPr smtClean="0"/>
            </a:lvl1pPr>
          </a:lstStyle>
          <a:p>
            <a:pPr>
              <a:defRPr/>
            </a:pPr>
            <a:fld id="{9D5445D6-AB86-43FA-9685-C935CF53BDF0}" type="datetime1">
              <a:rPr lang="en-US"/>
              <a:pPr>
                <a:defRPr/>
              </a:pPr>
              <a:t>10/4/2025</a:t>
            </a:fld>
            <a:endParaRPr lang="en-US" dirty="0"/>
          </a:p>
        </p:txBody>
      </p:sp>
      <p:sp>
        <p:nvSpPr>
          <p:cNvPr id="4" name="Footer Placeholder 2">
            <a:extLst>
              <a:ext uri="{FF2B5EF4-FFF2-40B4-BE49-F238E27FC236}">
                <a16:creationId xmlns:a16="http://schemas.microsoft.com/office/drawing/2014/main" id="{8F20B94F-9A14-ECBE-A615-3EDE9EE397D7}"/>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B3EAFF6B-1D1A-D032-BE24-4EC0FB347EA4}"/>
              </a:ext>
            </a:extLst>
          </p:cNvPr>
          <p:cNvSpPr>
            <a:spLocks noGrp="1"/>
          </p:cNvSpPr>
          <p:nvPr>
            <p:ph type="sldNum" sz="quarter" idx="12"/>
          </p:nvPr>
        </p:nvSpPr>
        <p:spPr/>
        <p:txBody>
          <a:bodyPr/>
          <a:lstStyle>
            <a:lvl1pPr>
              <a:defRPr/>
            </a:lvl1pPr>
          </a:lstStyle>
          <a:p>
            <a:pPr>
              <a:defRPr/>
            </a:pPr>
            <a:fld id="{024EF28A-C8E9-4921-B3EC-87F91712D3CC}" type="slidenum">
              <a:rPr lang="en-US"/>
              <a:pPr>
                <a:defRPr/>
              </a:pPr>
              <a:t>‹#›</a:t>
            </a:fld>
            <a:endParaRPr lang="en-US" dirty="0"/>
          </a:p>
        </p:txBody>
      </p:sp>
    </p:spTree>
    <p:extLst>
      <p:ext uri="{BB962C8B-B14F-4D97-AF65-F5344CB8AC3E}">
        <p14:creationId xmlns:p14="http://schemas.microsoft.com/office/powerpoint/2010/main" val="21755124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178C3D91-967A-7765-909A-45CBD5D40303}"/>
              </a:ext>
            </a:extLst>
          </p:cNvPr>
          <p:cNvSpPr>
            <a:spLocks noGrp="1"/>
          </p:cNvSpPr>
          <p:nvPr>
            <p:ph type="dt" sz="half" idx="10"/>
          </p:nvPr>
        </p:nvSpPr>
        <p:spPr/>
        <p:txBody>
          <a:bodyPr/>
          <a:lstStyle>
            <a:lvl1pPr>
              <a:defRPr smtClean="0"/>
            </a:lvl1pPr>
          </a:lstStyle>
          <a:p>
            <a:pPr>
              <a:defRPr/>
            </a:pPr>
            <a:fld id="{388BD775-47FB-49A6-91E2-2F5858D71BCC}" type="datetime1">
              <a:rPr lang="en-US"/>
              <a:pPr>
                <a:defRPr/>
              </a:pPr>
              <a:t>10/4/2025</a:t>
            </a:fld>
            <a:endParaRPr lang="en-US" dirty="0"/>
          </a:p>
        </p:txBody>
      </p:sp>
      <p:sp>
        <p:nvSpPr>
          <p:cNvPr id="3" name="Footer Placeholder 2">
            <a:extLst>
              <a:ext uri="{FF2B5EF4-FFF2-40B4-BE49-F238E27FC236}">
                <a16:creationId xmlns:a16="http://schemas.microsoft.com/office/drawing/2014/main" id="{F87CF2EE-0487-9042-237B-03B4B9F591BC}"/>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4" name="Slide Number Placeholder 22">
            <a:extLst>
              <a:ext uri="{FF2B5EF4-FFF2-40B4-BE49-F238E27FC236}">
                <a16:creationId xmlns:a16="http://schemas.microsoft.com/office/drawing/2014/main" id="{24BC4622-16B8-2D99-164C-5F0166AA085A}"/>
              </a:ext>
            </a:extLst>
          </p:cNvPr>
          <p:cNvSpPr>
            <a:spLocks noGrp="1"/>
          </p:cNvSpPr>
          <p:nvPr>
            <p:ph type="sldNum" sz="quarter" idx="12"/>
          </p:nvPr>
        </p:nvSpPr>
        <p:spPr/>
        <p:txBody>
          <a:bodyPr/>
          <a:lstStyle>
            <a:lvl1pPr>
              <a:defRPr/>
            </a:lvl1pPr>
          </a:lstStyle>
          <a:p>
            <a:pPr>
              <a:defRPr/>
            </a:pPr>
            <a:fld id="{5068C5B0-7618-4CAE-9C97-FA18CC613EAB}" type="slidenum">
              <a:rPr lang="en-US"/>
              <a:pPr>
                <a:defRPr/>
              </a:pPr>
              <a:t>‹#›</a:t>
            </a:fld>
            <a:endParaRPr lang="en-US" dirty="0"/>
          </a:p>
        </p:txBody>
      </p:sp>
    </p:spTree>
    <p:extLst>
      <p:ext uri="{BB962C8B-B14F-4D97-AF65-F5344CB8AC3E}">
        <p14:creationId xmlns:p14="http://schemas.microsoft.com/office/powerpoint/2010/main" val="20135948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F1033D-F99D-D415-2D36-746C96DF209D}"/>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19E83448-C57E-0EA4-0201-456791FF4335}"/>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CEBC332B-D7E4-8A68-D5EA-207A2135B831}"/>
              </a:ext>
            </a:extLst>
          </p:cNvPr>
          <p:cNvSpPr>
            <a:spLocks noGrp="1"/>
          </p:cNvSpPr>
          <p:nvPr>
            <p:ph type="dt" sz="half" idx="10"/>
          </p:nvPr>
        </p:nvSpPr>
        <p:spPr/>
        <p:txBody>
          <a:bodyPr/>
          <a:lstStyle>
            <a:lvl1pPr>
              <a:defRPr smtClean="0"/>
            </a:lvl1pPr>
          </a:lstStyle>
          <a:p>
            <a:pPr>
              <a:defRPr/>
            </a:pPr>
            <a:fld id="{FEB51583-DB4D-4CAA-9AD0-2975CA45AD5E}" type="datetime1">
              <a:rPr lang="en-US"/>
              <a:pPr>
                <a:defRPr/>
              </a:pPr>
              <a:t>10/4/2025</a:t>
            </a:fld>
            <a:endParaRPr lang="en-US"/>
          </a:p>
        </p:txBody>
      </p:sp>
      <p:sp>
        <p:nvSpPr>
          <p:cNvPr id="7" name="Footer Placeholder 5">
            <a:extLst>
              <a:ext uri="{FF2B5EF4-FFF2-40B4-BE49-F238E27FC236}">
                <a16:creationId xmlns:a16="http://schemas.microsoft.com/office/drawing/2014/main" id="{59B2854A-A212-373B-5E20-D8CF5541354C}"/>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6F7871EA-3169-4AD8-4D64-84230DD5F4C1}"/>
              </a:ext>
            </a:extLst>
          </p:cNvPr>
          <p:cNvSpPr>
            <a:spLocks noGrp="1"/>
          </p:cNvSpPr>
          <p:nvPr>
            <p:ph type="sldNum" sz="quarter" idx="12"/>
          </p:nvPr>
        </p:nvSpPr>
        <p:spPr/>
        <p:txBody>
          <a:bodyPr/>
          <a:lstStyle>
            <a:lvl1pPr>
              <a:defRPr/>
            </a:lvl1pPr>
          </a:lstStyle>
          <a:p>
            <a:pPr>
              <a:defRPr/>
            </a:pPr>
            <a:fld id="{BA68A646-FC6D-4BF3-9A3C-335ADF6996B0}" type="slidenum">
              <a:rPr lang="en-US"/>
              <a:pPr>
                <a:defRPr/>
              </a:pPr>
              <a:t>‹#›</a:t>
            </a:fld>
            <a:endParaRPr lang="en-US"/>
          </a:p>
        </p:txBody>
      </p:sp>
    </p:spTree>
    <p:extLst>
      <p:ext uri="{BB962C8B-B14F-4D97-AF65-F5344CB8AC3E}">
        <p14:creationId xmlns:p14="http://schemas.microsoft.com/office/powerpoint/2010/main" val="3184757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D450C82-46A9-40E5-D89E-72ACBC78C8BE}"/>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F64EFAC6-B3C7-CC68-1EE0-FA41BBEE1713}"/>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AABAEAA-C345-59E6-CF29-43AC0AF55765}"/>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B1DF1408-AFED-338E-5397-EF1E19CB514B}"/>
              </a:ext>
            </a:extLst>
          </p:cNvPr>
          <p:cNvSpPr>
            <a:spLocks noGrp="1"/>
          </p:cNvSpPr>
          <p:nvPr>
            <p:ph type="dt" sz="half" idx="10"/>
          </p:nvPr>
        </p:nvSpPr>
        <p:spPr/>
        <p:txBody>
          <a:bodyPr/>
          <a:lstStyle>
            <a:lvl1pPr>
              <a:defRPr smtClean="0"/>
            </a:lvl1pPr>
          </a:lstStyle>
          <a:p>
            <a:pPr>
              <a:defRPr/>
            </a:pPr>
            <a:fld id="{24EAAE82-5681-426B-953E-519B972B319B}" type="datetime1">
              <a:rPr lang="en-US"/>
              <a:pPr>
                <a:defRPr/>
              </a:pPr>
              <a:t>10/4/2025</a:t>
            </a:fld>
            <a:endParaRPr lang="en-US"/>
          </a:p>
        </p:txBody>
      </p:sp>
      <p:sp>
        <p:nvSpPr>
          <p:cNvPr id="9" name="Footer Placeholder 5">
            <a:extLst>
              <a:ext uri="{FF2B5EF4-FFF2-40B4-BE49-F238E27FC236}">
                <a16:creationId xmlns:a16="http://schemas.microsoft.com/office/drawing/2014/main" id="{D7AE38F8-EC5E-CFCB-714F-20D7AC98C064}"/>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428D2ED2-DB0B-B70A-CB28-EB7AB4E59464}"/>
              </a:ext>
            </a:extLst>
          </p:cNvPr>
          <p:cNvSpPr>
            <a:spLocks noGrp="1"/>
          </p:cNvSpPr>
          <p:nvPr>
            <p:ph type="sldNum" sz="quarter" idx="12"/>
          </p:nvPr>
        </p:nvSpPr>
        <p:spPr>
          <a:xfrm>
            <a:off x="146050" y="6208713"/>
            <a:ext cx="457200" cy="457200"/>
          </a:xfrm>
        </p:spPr>
        <p:txBody>
          <a:bodyPr/>
          <a:lstStyle>
            <a:lvl1pPr>
              <a:defRPr/>
            </a:lvl1pPr>
          </a:lstStyle>
          <a:p>
            <a:pPr>
              <a:defRPr/>
            </a:pPr>
            <a:fld id="{E0680832-9B40-4A2C-AF9D-BBEBF87E1B4F}" type="slidenum">
              <a:rPr lang="en-US"/>
              <a:pPr>
                <a:defRPr/>
              </a:pPr>
              <a:t>‹#›</a:t>
            </a:fld>
            <a:endParaRPr lang="en-US" dirty="0"/>
          </a:p>
        </p:txBody>
      </p:sp>
    </p:spTree>
    <p:extLst>
      <p:ext uri="{BB962C8B-B14F-4D97-AF65-F5344CB8AC3E}">
        <p14:creationId xmlns:p14="http://schemas.microsoft.com/office/powerpoint/2010/main" val="36932995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C5592A2A-3701-55CE-2BF7-A809735036A9}"/>
              </a:ext>
            </a:extLst>
          </p:cNvPr>
          <p:cNvSpPr>
            <a:spLocks noGrp="1"/>
          </p:cNvSpPr>
          <p:nvPr>
            <p:ph type="dt" sz="half" idx="10"/>
          </p:nvPr>
        </p:nvSpPr>
        <p:spPr/>
        <p:txBody>
          <a:bodyPr/>
          <a:lstStyle>
            <a:lvl1pPr>
              <a:defRPr smtClean="0"/>
            </a:lvl1pPr>
          </a:lstStyle>
          <a:p>
            <a:pPr>
              <a:defRPr/>
            </a:pPr>
            <a:fld id="{1048C7B2-4C1D-4439-9CF4-D240B24FF89D}" type="datetime1">
              <a:rPr lang="en-US"/>
              <a:pPr>
                <a:defRPr/>
              </a:pPr>
              <a:t>10/4/2025</a:t>
            </a:fld>
            <a:endParaRPr lang="en-US" dirty="0"/>
          </a:p>
        </p:txBody>
      </p:sp>
      <p:sp>
        <p:nvSpPr>
          <p:cNvPr id="5" name="Footer Placeholder 2">
            <a:extLst>
              <a:ext uri="{FF2B5EF4-FFF2-40B4-BE49-F238E27FC236}">
                <a16:creationId xmlns:a16="http://schemas.microsoft.com/office/drawing/2014/main" id="{0A7DEBC0-4BDB-B81C-3DC8-C7BFBAE29D5A}"/>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BBBB7BC0-8B72-71BF-D846-5501ED346A88}"/>
              </a:ext>
            </a:extLst>
          </p:cNvPr>
          <p:cNvSpPr>
            <a:spLocks noGrp="1"/>
          </p:cNvSpPr>
          <p:nvPr>
            <p:ph type="sldNum" sz="quarter" idx="12"/>
          </p:nvPr>
        </p:nvSpPr>
        <p:spPr/>
        <p:txBody>
          <a:bodyPr/>
          <a:lstStyle>
            <a:lvl1pPr>
              <a:defRPr/>
            </a:lvl1pPr>
          </a:lstStyle>
          <a:p>
            <a:pPr>
              <a:defRPr/>
            </a:pPr>
            <a:fld id="{7BD2E0D0-5A0B-415F-B869-CE5BF8D86E0B}" type="slidenum">
              <a:rPr lang="en-US"/>
              <a:pPr>
                <a:defRPr/>
              </a:pPr>
              <a:t>‹#›</a:t>
            </a:fld>
            <a:endParaRPr lang="en-US" dirty="0"/>
          </a:p>
        </p:txBody>
      </p:sp>
    </p:spTree>
    <p:extLst>
      <p:ext uri="{BB962C8B-B14F-4D97-AF65-F5344CB8AC3E}">
        <p14:creationId xmlns:p14="http://schemas.microsoft.com/office/powerpoint/2010/main" val="23712157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3F0B6342-F3B5-A0CA-40EB-4A10E2509BD4}"/>
              </a:ext>
            </a:extLst>
          </p:cNvPr>
          <p:cNvSpPr>
            <a:spLocks noGrp="1"/>
          </p:cNvSpPr>
          <p:nvPr>
            <p:ph type="dt" sz="half" idx="10"/>
          </p:nvPr>
        </p:nvSpPr>
        <p:spPr/>
        <p:txBody>
          <a:bodyPr/>
          <a:lstStyle>
            <a:lvl1pPr>
              <a:defRPr smtClean="0"/>
            </a:lvl1pPr>
          </a:lstStyle>
          <a:p>
            <a:pPr>
              <a:defRPr/>
            </a:pPr>
            <a:fld id="{83A6CACF-EE64-4929-9768-38F8DCC2EBC4}" type="datetime1">
              <a:rPr lang="en-US"/>
              <a:pPr>
                <a:defRPr/>
              </a:pPr>
              <a:t>10/4/2025</a:t>
            </a:fld>
            <a:endParaRPr lang="en-US" dirty="0"/>
          </a:p>
        </p:txBody>
      </p:sp>
      <p:sp>
        <p:nvSpPr>
          <p:cNvPr id="5" name="Footer Placeholder 2">
            <a:extLst>
              <a:ext uri="{FF2B5EF4-FFF2-40B4-BE49-F238E27FC236}">
                <a16:creationId xmlns:a16="http://schemas.microsoft.com/office/drawing/2014/main" id="{485CD542-BA8D-1D09-D01D-D5FB0201CDD1}"/>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D53DEDED-BD36-A3C4-AB12-6B0768E6F646}"/>
              </a:ext>
            </a:extLst>
          </p:cNvPr>
          <p:cNvSpPr>
            <a:spLocks noGrp="1"/>
          </p:cNvSpPr>
          <p:nvPr>
            <p:ph type="sldNum" sz="quarter" idx="12"/>
          </p:nvPr>
        </p:nvSpPr>
        <p:spPr/>
        <p:txBody>
          <a:bodyPr/>
          <a:lstStyle>
            <a:lvl1pPr>
              <a:defRPr/>
            </a:lvl1pPr>
          </a:lstStyle>
          <a:p>
            <a:pPr>
              <a:defRPr/>
            </a:pPr>
            <a:fld id="{09CDCB8F-B69A-4A4A-B5C5-D6961081BC07}" type="slidenum">
              <a:rPr lang="en-US"/>
              <a:pPr>
                <a:defRPr/>
              </a:pPr>
              <a:t>‹#›</a:t>
            </a:fld>
            <a:endParaRPr lang="en-US" dirty="0"/>
          </a:p>
        </p:txBody>
      </p:sp>
    </p:spTree>
    <p:extLst>
      <p:ext uri="{BB962C8B-B14F-4D97-AF65-F5344CB8AC3E}">
        <p14:creationId xmlns:p14="http://schemas.microsoft.com/office/powerpoint/2010/main" val="36921541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8CC37F4C-0292-5E75-42AD-44F77B67CBD3}"/>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37289485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234743498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9659828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1106445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35338117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32514129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42310152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2190288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79237E9-EA19-C50E-E0BE-9DF7D9B797BD}"/>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E4629FB7-89ED-1F8D-7A97-AA0D96CDCC18}"/>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558466A6-B242-FD5A-FF2A-4E8EAA703AB9}"/>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077" name="Text Placeholder 12">
            <a:extLst>
              <a:ext uri="{FF2B5EF4-FFF2-40B4-BE49-F238E27FC236}">
                <a16:creationId xmlns:a16="http://schemas.microsoft.com/office/drawing/2014/main" id="{A7168143-A683-8AD3-3F34-72CB884A6025}"/>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B6671AAC-2A2D-2A89-6A00-B991F609113D}"/>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B4008626-BC69-490C-8CAB-D90609098E48}" type="datetime1">
              <a:rPr lang="en-US"/>
              <a:pPr>
                <a:defRPr/>
              </a:pPr>
              <a:t>10/4/2025</a:t>
            </a:fld>
            <a:endParaRPr lang="en-US" dirty="0"/>
          </a:p>
        </p:txBody>
      </p:sp>
      <p:sp>
        <p:nvSpPr>
          <p:cNvPr id="3" name="Footer Placeholder 2">
            <a:extLst>
              <a:ext uri="{FF2B5EF4-FFF2-40B4-BE49-F238E27FC236}">
                <a16:creationId xmlns:a16="http://schemas.microsoft.com/office/drawing/2014/main" id="{014F78C3-0D46-C3D5-FA65-D8952F5997B3}"/>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8C285225-DF5C-DEBD-9B0A-907FC32C37B4}"/>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FEF4D28-6513-4D78-BC50-C378AB1C9FFE}" type="slidenum">
              <a:rPr lang="en-US"/>
              <a:pPr>
                <a:defRPr/>
              </a:pPr>
              <a:t>‹#›</a:t>
            </a:fld>
            <a:endParaRPr lang="en-US" dirty="0"/>
          </a:p>
        </p:txBody>
      </p:sp>
    </p:spTree>
    <p:extLst>
      <p:ext uri="{BB962C8B-B14F-4D97-AF65-F5344CB8AC3E}">
        <p14:creationId xmlns:p14="http://schemas.microsoft.com/office/powerpoint/2010/main" val="904920765"/>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4546855-5A2A-901A-F9CB-1D8CCA51A7FE}"/>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768924DC-18A4-B812-6773-0925E2CB927E}"/>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52" name="Title Placeholder 21">
            <a:extLst>
              <a:ext uri="{FF2B5EF4-FFF2-40B4-BE49-F238E27FC236}">
                <a16:creationId xmlns:a16="http://schemas.microsoft.com/office/drawing/2014/main" id="{25698EBF-86B7-E47A-3C18-A10EA5B6E3F0}"/>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2053" name="Text Placeholder 12">
            <a:extLst>
              <a:ext uri="{FF2B5EF4-FFF2-40B4-BE49-F238E27FC236}">
                <a16:creationId xmlns:a16="http://schemas.microsoft.com/office/drawing/2014/main" id="{6E95D8BC-6557-DC12-FF85-225EFA47D83E}"/>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D15F4504-31BE-5531-9DA0-1E6F6C5F49B9}"/>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smtClean="0">
                <a:solidFill>
                  <a:schemeClr val="tx2"/>
                </a:solidFill>
                <a:latin typeface="+mn-lt"/>
                <a:cs typeface="+mn-cs"/>
              </a:defRPr>
            </a:lvl1pPr>
          </a:lstStyle>
          <a:p>
            <a:pPr>
              <a:defRPr/>
            </a:pPr>
            <a:fld id="{54F4D158-3D15-44B9-B4CD-31DBF070DB2F}" type="datetime1">
              <a:rPr lang="en-US"/>
              <a:pPr>
                <a:defRPr/>
              </a:pPr>
              <a:t>10/4/2025</a:t>
            </a:fld>
            <a:endParaRPr lang="en-US" dirty="0"/>
          </a:p>
        </p:txBody>
      </p:sp>
      <p:sp>
        <p:nvSpPr>
          <p:cNvPr id="3" name="Footer Placeholder 2">
            <a:extLst>
              <a:ext uri="{FF2B5EF4-FFF2-40B4-BE49-F238E27FC236}">
                <a16:creationId xmlns:a16="http://schemas.microsoft.com/office/drawing/2014/main" id="{BEEBBADE-AEDD-F5B2-9A83-5E73F4874A4F}"/>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574B5963-C7ED-86E3-69D0-C8A16E38B059}"/>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AD33D01-FB0C-4B77-98BE-7250A88D7322}" type="slidenum">
              <a:rPr lang="en-US"/>
              <a:pPr>
                <a:defRPr/>
              </a:pPr>
              <a:t>‹#›</a:t>
            </a:fld>
            <a:endParaRPr lang="en-US" dirty="0"/>
          </a:p>
        </p:txBody>
      </p:sp>
    </p:spTree>
    <p:extLst>
      <p:ext uri="{BB962C8B-B14F-4D97-AF65-F5344CB8AC3E}">
        <p14:creationId xmlns:p14="http://schemas.microsoft.com/office/powerpoint/2010/main" val="433503195"/>
      </p:ext>
    </p:extLst>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 id="2147484188"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1019575136"/>
      </p:ext>
    </p:extLst>
  </p:cSld>
  <p:clrMap bg1="lt1" tx1="dk1" bg2="lt2" tx2="dk2" accent1="accent1" accent2="accent2" accent3="accent3" accent4="accent4" accent5="accent5" accent6="accent6" hlink="hlink" folHlink="folHlink"/>
  <p:sldLayoutIdLst>
    <p:sldLayoutId id="2147484190" r:id="rId1"/>
    <p:sldLayoutId id="2147484191" r:id="rId2"/>
    <p:sldLayoutId id="2147484192" r:id="rId3"/>
    <p:sldLayoutId id="2147484193" r:id="rId4"/>
    <p:sldLayoutId id="2147484194" r:id="rId5"/>
    <p:sldLayoutId id="2147484195" r:id="rId6"/>
    <p:sldLayoutId id="2147484196" r:id="rId7"/>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bin"/><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b="1" dirty="0">
                <a:solidFill>
                  <a:srgbClr val="000099"/>
                </a:solidFill>
                <a:latin typeface="Cambria" panose="02040503050406030204" pitchFamily="18" charset="0"/>
                <a:ea typeface="Cambria" panose="02040503050406030204" pitchFamily="18" charset="0"/>
              </a:rPr>
              <a:t>CC-215</a:t>
            </a:r>
            <a:br>
              <a:rPr altLang="en-US" dirty="0">
                <a:solidFill>
                  <a:srgbClr val="000099"/>
                </a:solidFill>
                <a:latin typeface="Cambria" panose="02040503050406030204" pitchFamily="18" charset="0"/>
                <a:ea typeface="Cambria" panose="02040503050406030204" pitchFamily="18" charset="0"/>
              </a:rPr>
            </a:br>
            <a:r>
              <a:rPr altLang="en-US" b="1" dirty="0">
                <a:solidFill>
                  <a:srgbClr val="FFFF00"/>
                </a:solidFill>
                <a:latin typeface="Cambria" panose="02040503050406030204" pitchFamily="18" charset="0"/>
                <a:ea typeface="Cambria" panose="02040503050406030204" pitchFamily="18" charset="0"/>
              </a:rPr>
              <a:t>Database Systems</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j-cs"/>
              </a:rPr>
              <a:t>— Unit 6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Entity Relationship (ER) Model</a:t>
            </a:r>
            <a:endParaRPr kumimoji="0" lang="en-US" sz="2400" b="1" i="0" u="none" strike="noStrike" kern="120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5652120" y="4637620"/>
            <a:ext cx="3233199"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pic>
        <p:nvPicPr>
          <p:cNvPr id="4" name="Picture 10">
            <a:extLst>
              <a:ext uri="{FF2B5EF4-FFF2-40B4-BE49-F238E27FC236}">
                <a16:creationId xmlns:a16="http://schemas.microsoft.com/office/drawing/2014/main" id="{6B819144-AC91-20AF-4E39-1CC6743EA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917" y="295275"/>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a:extLst>
              <a:ext uri="{FF2B5EF4-FFF2-40B4-BE49-F238E27FC236}">
                <a16:creationId xmlns:a16="http://schemas.microsoft.com/office/drawing/2014/main" id="{7C24E2FC-DC72-6DE9-973D-DFAF2B2A7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95275"/>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CFC7106B-BDE5-751B-3CDA-7C878E45D349}"/>
              </a:ext>
            </a:extLst>
          </p:cNvPr>
          <p:cNvSpPr txBox="1">
            <a:spLocks noChangeArrowheads="1"/>
          </p:cNvSpPr>
          <p:nvPr/>
        </p:nvSpPr>
        <p:spPr bwMode="auto">
          <a:xfrm>
            <a:off x="323528" y="4653136"/>
            <a:ext cx="5069656"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br>
              <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endPar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Some slides and/or pictures are adapted from Lecture slides / Books of</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Peter Rob</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Jeffery. A. Hoffer</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Thomas M. Connolly</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Ramez Elmasri</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mn-cs"/>
              </a:rPr>
              <a:t>Silberschtaz</a:t>
            </a:r>
            <a:endPar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endParaRPr>
          </a:p>
          <a:p>
            <a:pPr marL="0" marR="0" lvl="0" indent="0" algn="l" defTabSz="914400" rtl="0" eaLnBrk="1" fontAlgn="base" latinLnBrk="0" hangingPunct="1">
              <a:lnSpc>
                <a:spcPct val="100000"/>
              </a:lnSpc>
              <a:spcBef>
                <a:spcPts val="1800"/>
              </a:spcBef>
              <a:spcAft>
                <a:spcPts val="60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49EDE-DD1F-152A-7DB8-193B120A3524}"/>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9D6BF03B-DF5B-B2A6-E978-5F4825490705}"/>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Outline</a:t>
            </a:r>
          </a:p>
        </p:txBody>
      </p:sp>
      <p:sp>
        <p:nvSpPr>
          <p:cNvPr id="10243" name="Rectangle 3">
            <a:extLst>
              <a:ext uri="{FF2B5EF4-FFF2-40B4-BE49-F238E27FC236}">
                <a16:creationId xmlns:a16="http://schemas.microsoft.com/office/drawing/2014/main" id="{DCD3B037-EE27-FED2-4D4F-E4E251F6B9B8}"/>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Introduction</a:t>
            </a:r>
          </a:p>
          <a:p>
            <a:pPr algn="just">
              <a:spcBef>
                <a:spcPts val="300"/>
              </a:spcBef>
              <a:defRPr/>
            </a:pPr>
            <a:r>
              <a:rPr lang="en-US" sz="2400" dirty="0">
                <a:latin typeface="Cambria" panose="02040503050406030204" pitchFamily="18" charset="0"/>
                <a:ea typeface="Cambria" panose="02040503050406030204" pitchFamily="18" charset="0"/>
              </a:rPr>
              <a:t>Basic Constructs and Notations</a:t>
            </a:r>
          </a:p>
          <a:p>
            <a:pPr algn="just">
              <a:spcBef>
                <a:spcPts val="300"/>
              </a:spcBef>
              <a:defRPr/>
            </a:pPr>
            <a:r>
              <a:rPr lang="en-US" sz="2400" dirty="0">
                <a:latin typeface="Cambria" panose="02040503050406030204" pitchFamily="18" charset="0"/>
                <a:ea typeface="Cambria" panose="02040503050406030204" pitchFamily="18" charset="0"/>
              </a:rPr>
              <a:t>Connectivity / Cardinality of a Relationship</a:t>
            </a:r>
          </a:p>
          <a:p>
            <a:pPr algn="just">
              <a:spcBef>
                <a:spcPts val="300"/>
              </a:spcBef>
              <a:defRPr/>
            </a:pPr>
            <a:r>
              <a:rPr lang="en-US" sz="2400" dirty="0">
                <a:latin typeface="Cambria" panose="02040503050406030204" pitchFamily="18" charset="0"/>
                <a:ea typeface="Cambria" panose="02040503050406030204" pitchFamily="18" charset="0"/>
              </a:rPr>
              <a:t>Degree of a Relationship</a:t>
            </a:r>
          </a:p>
          <a:p>
            <a:pPr algn="just">
              <a:spcBef>
                <a:spcPts val="300"/>
              </a:spcBef>
              <a:defRPr/>
            </a:pPr>
            <a:r>
              <a:rPr lang="en-US" sz="2400" dirty="0">
                <a:latin typeface="Cambria" panose="02040503050406030204" pitchFamily="18" charset="0"/>
                <a:ea typeface="Cambria" panose="02040503050406030204" pitchFamily="18" charset="0"/>
              </a:rPr>
              <a:t>Existence Dependency (Identifying Relationship)</a:t>
            </a:r>
          </a:p>
          <a:p>
            <a:pPr algn="just">
              <a:spcBef>
                <a:spcPts val="300"/>
              </a:spcBef>
              <a:defRPr/>
            </a:pPr>
            <a:r>
              <a:rPr lang="en-US" sz="2400" dirty="0">
                <a:latin typeface="Cambria" panose="02040503050406030204" pitchFamily="18" charset="0"/>
                <a:ea typeface="Cambria" panose="02040503050406030204" pitchFamily="18" charset="0"/>
              </a:rPr>
              <a:t>Associative Entity</a:t>
            </a:r>
          </a:p>
          <a:p>
            <a:pPr algn="just">
              <a:spcBef>
                <a:spcPts val="300"/>
              </a:spcBef>
              <a:defRPr/>
            </a:pPr>
            <a:r>
              <a:rPr lang="en-US" sz="2400" dirty="0">
                <a:latin typeface="Cambria" panose="02040503050406030204" pitchFamily="18" charset="0"/>
                <a:ea typeface="Cambria" panose="02040503050406030204" pitchFamily="18" charset="0"/>
              </a:rPr>
              <a:t>Modeling Multivalued Attribute</a:t>
            </a:r>
          </a:p>
          <a:p>
            <a:pPr algn="just">
              <a:spcBef>
                <a:spcPts val="300"/>
              </a:spcBef>
              <a:defRPr/>
            </a:pPr>
            <a:r>
              <a:rPr lang="en-US" sz="2400" dirty="0">
                <a:latin typeface="Cambria" panose="02040503050406030204" pitchFamily="18" charset="0"/>
                <a:ea typeface="Cambria" panose="02040503050406030204" pitchFamily="18" charset="0"/>
              </a:rPr>
              <a:t>Time dependent data</a:t>
            </a:r>
          </a:p>
          <a:p>
            <a:pPr algn="just">
              <a:spcBef>
                <a:spcPts val="300"/>
              </a:spcBef>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C54E5E57-077F-1C5D-890E-80F2DDADB65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4779A8F6-09E4-3CE0-05BF-E39B686C92C0}"/>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08621069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71A21-B8A5-931C-20C5-02A8BF4E1FD4}"/>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02907A9B-906F-A35C-11B7-85D1D03A3240}"/>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10243" name="Rectangle 3">
            <a:extLst>
              <a:ext uri="{FF2B5EF4-FFF2-40B4-BE49-F238E27FC236}">
                <a16:creationId xmlns:a16="http://schemas.microsoft.com/office/drawing/2014/main" id="{6DB555B7-BCB2-87A1-460B-58EB37DBEE57}"/>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ER Model is the mainstream approach for </a:t>
            </a:r>
            <a:r>
              <a:rPr lang="en-US" sz="2400" dirty="0">
                <a:solidFill>
                  <a:srgbClr val="0033CC"/>
                </a:solidFill>
                <a:latin typeface="Cambria" panose="02040503050406030204" pitchFamily="18" charset="0"/>
                <a:ea typeface="Cambria" panose="02040503050406030204" pitchFamily="18" charset="0"/>
              </a:rPr>
              <a:t>conceptual data modeling. </a:t>
            </a:r>
            <a:r>
              <a:rPr lang="en-US" sz="2400" dirty="0">
                <a:latin typeface="Cambria" panose="02040503050406030204" pitchFamily="18" charset="0"/>
                <a:ea typeface="Cambria" panose="02040503050406030204" pitchFamily="18" charset="0"/>
              </a:rPr>
              <a:t>An ER model is normally expressed as an </a:t>
            </a:r>
            <a:r>
              <a:rPr lang="en-US" sz="2400" dirty="0">
                <a:solidFill>
                  <a:srgbClr val="0033CC"/>
                </a:solidFill>
                <a:latin typeface="Cambria" panose="02040503050406030204" pitchFamily="18" charset="0"/>
                <a:ea typeface="Cambria" panose="02040503050406030204" pitchFamily="18" charset="0"/>
              </a:rPr>
              <a:t>entity-relationship diagram (ERD). </a:t>
            </a:r>
          </a:p>
          <a:p>
            <a:pPr algn="just">
              <a:spcBef>
                <a:spcPts val="300"/>
              </a:spcBef>
              <a:defRPr/>
            </a:pPr>
            <a:r>
              <a:rPr lang="en-US" sz="2400" dirty="0">
                <a:latin typeface="Cambria" panose="02040503050406030204" pitchFamily="18" charset="0"/>
                <a:ea typeface="Cambria" panose="02040503050406030204" pitchFamily="18" charset="0"/>
              </a:rPr>
              <a:t>It expresses logical representation for an organization in terms of Entities, Relationships among Entities and Attributes of Entities and Relationship.</a:t>
            </a:r>
          </a:p>
          <a:p>
            <a:pPr algn="just">
              <a:spcBef>
                <a:spcPts val="300"/>
              </a:spcBef>
              <a:defRPr/>
            </a:pPr>
            <a:r>
              <a:rPr lang="en-US" sz="2400" dirty="0">
                <a:latin typeface="Cambria" panose="02040503050406030204" pitchFamily="18" charset="0"/>
                <a:ea typeface="Cambria" panose="02040503050406030204" pitchFamily="18" charset="0"/>
              </a:rPr>
              <a:t>It is most often used as a communication tool between database designers and end users during analysis phase of database development.</a:t>
            </a:r>
          </a:p>
          <a:p>
            <a:pPr algn="just">
              <a:spcBef>
                <a:spcPts val="300"/>
              </a:spcBef>
              <a:defRPr/>
            </a:pPr>
            <a:r>
              <a:rPr lang="en-US" sz="2400" dirty="0">
                <a:latin typeface="Cambria" panose="02040503050406030204" pitchFamily="18" charset="0"/>
                <a:ea typeface="Cambria" panose="02040503050406030204" pitchFamily="18" charset="0"/>
              </a:rPr>
              <a:t>It was proposed by </a:t>
            </a:r>
            <a:r>
              <a:rPr lang="en-US" sz="2400" dirty="0">
                <a:solidFill>
                  <a:srgbClr val="0033CC"/>
                </a:solidFill>
                <a:latin typeface="Cambria" panose="02040503050406030204" pitchFamily="18" charset="0"/>
                <a:ea typeface="Cambria" panose="02040503050406030204" pitchFamily="18" charset="0"/>
              </a:rPr>
              <a:t>Peter Chen</a:t>
            </a:r>
            <a:r>
              <a:rPr lang="en-US" sz="2400" dirty="0">
                <a:latin typeface="Cambria" panose="02040503050406030204" pitchFamily="18" charset="0"/>
                <a:ea typeface="Cambria" panose="02040503050406030204" pitchFamily="18" charset="0"/>
              </a:rPr>
              <a:t> in 1976. Since then, the model has been subsequently extended in 1986 and 1991.</a:t>
            </a:r>
          </a:p>
          <a:p>
            <a:pPr algn="just">
              <a:spcBef>
                <a:spcPts val="300"/>
              </a:spcBef>
              <a:defRPr/>
            </a:pPr>
            <a:r>
              <a:rPr lang="en-US" sz="2400" dirty="0">
                <a:latin typeface="Cambria" panose="02040503050406030204" pitchFamily="18" charset="0"/>
                <a:ea typeface="Cambria" panose="02040503050406030204" pitchFamily="18" charset="0"/>
              </a:rPr>
              <a:t>The basic constructs of ER Model are:</a:t>
            </a:r>
          </a:p>
          <a:p>
            <a:pPr algn="just">
              <a:spcBef>
                <a:spcPts val="300"/>
              </a:spcBef>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085C3298-F422-60BF-8AD2-8B63CC0F35F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223A1903-8F43-647E-72E4-2EE0F7963B62}"/>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18540120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7FA2E-860B-B3C2-9A0E-AE77463A338B}"/>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956E3E62-3774-A58A-82FF-4EF524E00119}"/>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ER Model – Basic Constructs</a:t>
            </a:r>
          </a:p>
        </p:txBody>
      </p:sp>
      <p:sp>
        <p:nvSpPr>
          <p:cNvPr id="3" name="Footer Placeholder 2">
            <a:extLst>
              <a:ext uri="{FF2B5EF4-FFF2-40B4-BE49-F238E27FC236}">
                <a16:creationId xmlns:a16="http://schemas.microsoft.com/office/drawing/2014/main" id="{6DC40EDC-2409-4D38-5645-CCE0507D866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40088CE0-654D-5E03-F79B-A4F29FEF3B15}"/>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Rectangle 3">
            <a:extLst>
              <a:ext uri="{FF2B5EF4-FFF2-40B4-BE49-F238E27FC236}">
                <a16:creationId xmlns:a16="http://schemas.microsoft.com/office/drawing/2014/main" id="{6F6E8DB8-4BCE-5D0D-0C8C-383D46A8A081}"/>
              </a:ext>
            </a:extLst>
          </p:cNvPr>
          <p:cNvSpPr txBox="1">
            <a:spLocks noChangeArrowheads="1"/>
          </p:cNvSpPr>
          <p:nvPr/>
        </p:nvSpPr>
        <p:spPr bwMode="auto">
          <a:xfrm>
            <a:off x="395536" y="815853"/>
            <a:ext cx="86868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609600" indent="-609600">
              <a:buFontTx/>
              <a:buNone/>
            </a:pPr>
            <a:r>
              <a:rPr lang="en-US" altLang="en-US" dirty="0">
                <a:latin typeface="Cambria" panose="02040503050406030204" pitchFamily="18" charset="0"/>
                <a:ea typeface="Cambria" panose="02040503050406030204" pitchFamily="18" charset="0"/>
              </a:rPr>
              <a:t>Entity </a:t>
            </a:r>
          </a:p>
          <a:p>
            <a:pPr marL="609600" indent="-609600">
              <a:buFontTx/>
              <a:buNone/>
            </a:pPr>
            <a:endParaRPr lang="en-US" altLang="en-US" dirty="0">
              <a:latin typeface="Cambria" panose="02040503050406030204" pitchFamily="18" charset="0"/>
              <a:ea typeface="Cambria" panose="02040503050406030204" pitchFamily="18" charset="0"/>
            </a:endParaRPr>
          </a:p>
          <a:p>
            <a:pPr marL="609600" indent="-609600">
              <a:buFontTx/>
              <a:buNone/>
            </a:pPr>
            <a:endParaRPr lang="en-US" altLang="en-US" dirty="0">
              <a:latin typeface="Cambria" panose="02040503050406030204" pitchFamily="18" charset="0"/>
              <a:ea typeface="Cambria" panose="02040503050406030204" pitchFamily="18" charset="0"/>
            </a:endParaRPr>
          </a:p>
          <a:p>
            <a:pPr marL="609600" indent="-609600">
              <a:buFontTx/>
              <a:buNone/>
            </a:pPr>
            <a:r>
              <a:rPr lang="en-US" altLang="en-US" dirty="0">
                <a:latin typeface="Cambria" panose="02040503050406030204" pitchFamily="18" charset="0"/>
                <a:ea typeface="Cambria" panose="02040503050406030204" pitchFamily="18" charset="0"/>
              </a:rPr>
              <a:t>Relationship </a:t>
            </a:r>
          </a:p>
          <a:p>
            <a:pPr marL="609600" indent="-609600">
              <a:buFontTx/>
              <a:buNone/>
            </a:pPr>
            <a:endParaRPr lang="en-US" altLang="en-US" dirty="0">
              <a:latin typeface="Cambria" panose="02040503050406030204" pitchFamily="18" charset="0"/>
              <a:ea typeface="Cambria" panose="02040503050406030204" pitchFamily="18" charset="0"/>
            </a:endParaRPr>
          </a:p>
          <a:p>
            <a:pPr marL="609600" indent="-609600">
              <a:buFontTx/>
              <a:buNone/>
            </a:pPr>
            <a:r>
              <a:rPr lang="en-US" altLang="en-US" dirty="0">
                <a:latin typeface="Cambria" panose="02040503050406030204" pitchFamily="18" charset="0"/>
                <a:ea typeface="Cambria" panose="02040503050406030204" pitchFamily="18" charset="0"/>
              </a:rPr>
              <a:t>Attribute</a:t>
            </a:r>
          </a:p>
          <a:p>
            <a:pPr marL="609600" indent="-609600">
              <a:buFontTx/>
              <a:buNone/>
            </a:pPr>
            <a:r>
              <a:rPr lang="en-US" altLang="en-US" dirty="0">
                <a:latin typeface="Cambria" panose="02040503050406030204" pitchFamily="18" charset="0"/>
                <a:ea typeface="Cambria" panose="02040503050406030204" pitchFamily="18" charset="0"/>
              </a:rPr>
              <a:t>																</a:t>
            </a:r>
            <a:r>
              <a:rPr lang="en-US" altLang="en-US" sz="2400" dirty="0">
                <a:latin typeface="Cambria" panose="02040503050406030204" pitchFamily="18" charset="0"/>
                <a:ea typeface="Cambria" panose="02040503050406030204" pitchFamily="18" charset="0"/>
              </a:rPr>
              <a:t>Multi valued</a:t>
            </a:r>
          </a:p>
          <a:p>
            <a:pPr marL="609600" indent="-609600">
              <a:buFontTx/>
              <a:buNone/>
            </a:pPr>
            <a:endParaRPr lang="en-US" altLang="en-US" dirty="0">
              <a:latin typeface="Cambria" panose="02040503050406030204" pitchFamily="18" charset="0"/>
              <a:ea typeface="Cambria" panose="02040503050406030204" pitchFamily="18" charset="0"/>
            </a:endParaRPr>
          </a:p>
          <a:p>
            <a:pPr marL="609600" indent="-609600">
              <a:buFontTx/>
              <a:buNone/>
            </a:pPr>
            <a:r>
              <a:rPr lang="en-US" altLang="en-US" dirty="0">
                <a:latin typeface="Cambria" panose="02040503050406030204" pitchFamily="18" charset="0"/>
                <a:ea typeface="Cambria" panose="02040503050406030204" pitchFamily="18" charset="0"/>
              </a:rPr>
              <a:t>Associative </a:t>
            </a:r>
          </a:p>
          <a:p>
            <a:pPr marL="609600" indent="-609600">
              <a:buFontTx/>
              <a:buNone/>
            </a:pPr>
            <a:r>
              <a:rPr lang="en-US" altLang="en-US" dirty="0">
                <a:latin typeface="Cambria" panose="02040503050406030204" pitchFamily="18" charset="0"/>
                <a:ea typeface="Cambria" panose="02040503050406030204" pitchFamily="18" charset="0"/>
              </a:rPr>
              <a:t>Entity</a:t>
            </a:r>
          </a:p>
        </p:txBody>
      </p:sp>
      <p:sp>
        <p:nvSpPr>
          <p:cNvPr id="6" name="Rectangle 4">
            <a:extLst>
              <a:ext uri="{FF2B5EF4-FFF2-40B4-BE49-F238E27FC236}">
                <a16:creationId xmlns:a16="http://schemas.microsoft.com/office/drawing/2014/main" id="{2CF07CEF-6158-B7F2-9E25-1457D1AA7248}"/>
              </a:ext>
            </a:extLst>
          </p:cNvPr>
          <p:cNvSpPr>
            <a:spLocks noChangeArrowheads="1"/>
          </p:cNvSpPr>
          <p:nvPr/>
        </p:nvSpPr>
        <p:spPr bwMode="auto">
          <a:xfrm>
            <a:off x="2497559" y="766986"/>
            <a:ext cx="1752600" cy="685800"/>
          </a:xfrm>
          <a:prstGeom prst="rect">
            <a:avLst/>
          </a:prstGeom>
          <a:solidFill>
            <a:schemeClr val="accent1">
              <a:lumMod val="60000"/>
              <a:lumOff val="40000"/>
            </a:schemeClr>
          </a:solidFill>
          <a:ln w="12700">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dirty="0">
                <a:latin typeface="Times New Roman" panose="02020603050405020304" pitchFamily="18" charset="0"/>
              </a:rPr>
              <a:t>Strong</a:t>
            </a:r>
          </a:p>
        </p:txBody>
      </p:sp>
      <p:sp>
        <p:nvSpPr>
          <p:cNvPr id="7" name="AutoShape 5">
            <a:extLst>
              <a:ext uri="{FF2B5EF4-FFF2-40B4-BE49-F238E27FC236}">
                <a16:creationId xmlns:a16="http://schemas.microsoft.com/office/drawing/2014/main" id="{3F06165B-CC78-137F-71A4-5897FEBA7D88}"/>
              </a:ext>
            </a:extLst>
          </p:cNvPr>
          <p:cNvSpPr>
            <a:spLocks noChangeArrowheads="1"/>
          </p:cNvSpPr>
          <p:nvPr/>
        </p:nvSpPr>
        <p:spPr bwMode="auto">
          <a:xfrm>
            <a:off x="2411834" y="1830611"/>
            <a:ext cx="2590800" cy="1219200"/>
          </a:xfrm>
          <a:prstGeom prst="flowChartDecision">
            <a:avLst/>
          </a:prstGeom>
          <a:solidFill>
            <a:srgbClr val="00B0F0"/>
          </a:solidFill>
          <a:ln w="12700">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Oval 6">
            <a:extLst>
              <a:ext uri="{FF2B5EF4-FFF2-40B4-BE49-F238E27FC236}">
                <a16:creationId xmlns:a16="http://schemas.microsoft.com/office/drawing/2014/main" id="{F7D8AD4F-6BDE-556E-BD6A-E506DDB5946F}"/>
              </a:ext>
            </a:extLst>
          </p:cNvPr>
          <p:cNvSpPr>
            <a:spLocks noChangeArrowheads="1"/>
          </p:cNvSpPr>
          <p:nvPr/>
        </p:nvSpPr>
        <p:spPr bwMode="auto">
          <a:xfrm>
            <a:off x="2411834" y="3291111"/>
            <a:ext cx="2362200" cy="762000"/>
          </a:xfrm>
          <a:prstGeom prst="ellipse">
            <a:avLst/>
          </a:prstGeom>
          <a:solidFill>
            <a:schemeClr val="tx2">
              <a:lumMod val="60000"/>
              <a:lumOff val="40000"/>
            </a:schemeClr>
          </a:solidFill>
          <a:ln w="12700">
            <a:solidFill>
              <a:schemeClr val="tx1"/>
            </a:solidFill>
            <a:round/>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9" name="Oval 7">
            <a:extLst>
              <a:ext uri="{FF2B5EF4-FFF2-40B4-BE49-F238E27FC236}">
                <a16:creationId xmlns:a16="http://schemas.microsoft.com/office/drawing/2014/main" id="{436B4911-34E4-DBB5-A253-80F8C10A7616}"/>
              </a:ext>
            </a:extLst>
          </p:cNvPr>
          <p:cNvSpPr>
            <a:spLocks noChangeArrowheads="1"/>
          </p:cNvSpPr>
          <p:nvPr/>
        </p:nvSpPr>
        <p:spPr bwMode="auto">
          <a:xfrm>
            <a:off x="5393159" y="3291111"/>
            <a:ext cx="2209800" cy="838200"/>
          </a:xfrm>
          <a:prstGeom prst="ellipse">
            <a:avLst/>
          </a:prstGeom>
          <a:solidFill>
            <a:schemeClr val="tx2">
              <a:lumMod val="60000"/>
              <a:lumOff val="40000"/>
            </a:schemeClr>
          </a:solidFill>
          <a:ln w="12700">
            <a:solidFill>
              <a:schemeClr val="bg2"/>
            </a:solidFill>
            <a:round/>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0" name="Oval 8">
            <a:extLst>
              <a:ext uri="{FF2B5EF4-FFF2-40B4-BE49-F238E27FC236}">
                <a16:creationId xmlns:a16="http://schemas.microsoft.com/office/drawing/2014/main" id="{AAF9341B-C8B4-55B1-C173-8F7AB28CC322}"/>
              </a:ext>
            </a:extLst>
          </p:cNvPr>
          <p:cNvSpPr>
            <a:spLocks noChangeArrowheads="1"/>
          </p:cNvSpPr>
          <p:nvPr/>
        </p:nvSpPr>
        <p:spPr bwMode="auto">
          <a:xfrm>
            <a:off x="5621759" y="3443511"/>
            <a:ext cx="1828800" cy="533400"/>
          </a:xfrm>
          <a:prstGeom prst="ellipse">
            <a:avLst/>
          </a:prstGeom>
          <a:solidFill>
            <a:srgbClr val="FFFFCC"/>
          </a:solidFill>
          <a:ln w="12700">
            <a:solidFill>
              <a:srgbClr val="FFCC00"/>
            </a:solidFill>
            <a:round/>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9">
            <a:extLst>
              <a:ext uri="{FF2B5EF4-FFF2-40B4-BE49-F238E27FC236}">
                <a16:creationId xmlns:a16="http://schemas.microsoft.com/office/drawing/2014/main" id="{1EE54030-74B9-6FAD-4219-F472B1B3A635}"/>
              </a:ext>
            </a:extLst>
          </p:cNvPr>
          <p:cNvSpPr>
            <a:spLocks noChangeArrowheads="1"/>
          </p:cNvSpPr>
          <p:nvPr/>
        </p:nvSpPr>
        <p:spPr bwMode="auto">
          <a:xfrm>
            <a:off x="2663478" y="5030688"/>
            <a:ext cx="2057400" cy="990600"/>
          </a:xfrm>
          <a:prstGeom prst="rect">
            <a:avLst/>
          </a:prstGeom>
          <a:solidFill>
            <a:schemeClr val="accent1">
              <a:lumMod val="60000"/>
              <a:lumOff val="40000"/>
            </a:schemeClr>
          </a:solidFill>
          <a:ln w="12700">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2" name="AutoShape 10">
            <a:extLst>
              <a:ext uri="{FF2B5EF4-FFF2-40B4-BE49-F238E27FC236}">
                <a16:creationId xmlns:a16="http://schemas.microsoft.com/office/drawing/2014/main" id="{DCEA20A4-A863-D09B-7C60-49E36CB7744C}"/>
              </a:ext>
            </a:extLst>
          </p:cNvPr>
          <p:cNvSpPr>
            <a:spLocks noChangeArrowheads="1"/>
          </p:cNvSpPr>
          <p:nvPr/>
        </p:nvSpPr>
        <p:spPr bwMode="auto">
          <a:xfrm>
            <a:off x="2658616" y="5011638"/>
            <a:ext cx="2057400" cy="990600"/>
          </a:xfrm>
          <a:prstGeom prst="flowChartDecision">
            <a:avLst/>
          </a:prstGeom>
          <a:solidFill>
            <a:srgbClr val="00B0F0"/>
          </a:solidFill>
          <a:ln w="12700">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dirty="0"/>
          </a:p>
        </p:txBody>
      </p:sp>
      <p:sp>
        <p:nvSpPr>
          <p:cNvPr id="13" name="Rectangle 11">
            <a:extLst>
              <a:ext uri="{FF2B5EF4-FFF2-40B4-BE49-F238E27FC236}">
                <a16:creationId xmlns:a16="http://schemas.microsoft.com/office/drawing/2014/main" id="{23E98E07-044E-AFA7-AA2D-7025F83986D8}"/>
              </a:ext>
            </a:extLst>
          </p:cNvPr>
          <p:cNvSpPr>
            <a:spLocks noChangeArrowheads="1"/>
          </p:cNvSpPr>
          <p:nvPr/>
        </p:nvSpPr>
        <p:spPr bwMode="auto">
          <a:xfrm>
            <a:off x="5240759" y="766986"/>
            <a:ext cx="1563960" cy="698500"/>
          </a:xfrm>
          <a:prstGeom prst="rect">
            <a:avLst/>
          </a:prstGeom>
          <a:solidFill>
            <a:srgbClr val="99CCFF"/>
          </a:solidFill>
          <a:ln w="12700">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solidFill>
                  <a:schemeClr val="bg2"/>
                </a:solidFill>
                <a:latin typeface="Times New Roman" panose="02020603050405020304" pitchFamily="18" charset="0"/>
              </a:rPr>
              <a:t>Strong</a:t>
            </a:r>
          </a:p>
        </p:txBody>
      </p:sp>
      <p:sp>
        <p:nvSpPr>
          <p:cNvPr id="14" name="Rectangle 12">
            <a:extLst>
              <a:ext uri="{FF2B5EF4-FFF2-40B4-BE49-F238E27FC236}">
                <a16:creationId xmlns:a16="http://schemas.microsoft.com/office/drawing/2014/main" id="{1A16467A-398E-608E-37C7-F8E5D8A71FA1}"/>
              </a:ext>
            </a:extLst>
          </p:cNvPr>
          <p:cNvSpPr>
            <a:spLocks noChangeArrowheads="1"/>
          </p:cNvSpPr>
          <p:nvPr/>
        </p:nvSpPr>
        <p:spPr bwMode="auto">
          <a:xfrm>
            <a:off x="5361111" y="889248"/>
            <a:ext cx="1371600" cy="457200"/>
          </a:xfrm>
          <a:prstGeom prst="rect">
            <a:avLst/>
          </a:prstGeom>
          <a:solidFill>
            <a:schemeClr val="accent1">
              <a:lumMod val="60000"/>
              <a:lumOff val="40000"/>
            </a:schemeClr>
          </a:solidFill>
          <a:ln w="12700">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dirty="0">
                <a:solidFill>
                  <a:schemeClr val="bg2"/>
                </a:solidFill>
                <a:latin typeface="Times New Roman" panose="02020603050405020304" pitchFamily="18" charset="0"/>
              </a:rPr>
              <a:t>Weak</a:t>
            </a:r>
          </a:p>
        </p:txBody>
      </p:sp>
      <p:sp>
        <p:nvSpPr>
          <p:cNvPr id="15" name="AutoShape 13">
            <a:extLst>
              <a:ext uri="{FF2B5EF4-FFF2-40B4-BE49-F238E27FC236}">
                <a16:creationId xmlns:a16="http://schemas.microsoft.com/office/drawing/2014/main" id="{7AB9865A-267E-EF15-1B9E-396ACF806C4A}"/>
              </a:ext>
            </a:extLst>
          </p:cNvPr>
          <p:cNvSpPr>
            <a:spLocks noChangeArrowheads="1"/>
          </p:cNvSpPr>
          <p:nvPr/>
        </p:nvSpPr>
        <p:spPr bwMode="auto">
          <a:xfrm>
            <a:off x="5623520" y="5043388"/>
            <a:ext cx="1828800" cy="914400"/>
          </a:xfrm>
          <a:prstGeom prst="flowChartAlternateProcess">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dirty="0">
                <a:latin typeface="Times New Roman" panose="02020603050405020304" pitchFamily="18" charset="0"/>
              </a:rPr>
              <a:t>Associative</a:t>
            </a:r>
          </a:p>
          <a:p>
            <a:pPr algn="ctr" eaLnBrk="1" hangingPunct="1">
              <a:spcBef>
                <a:spcPct val="0"/>
              </a:spcBef>
              <a:buFontTx/>
              <a:buNone/>
            </a:pPr>
            <a:r>
              <a:rPr lang="en-US" altLang="en-US" sz="2400" dirty="0">
                <a:latin typeface="Times New Roman" panose="02020603050405020304" pitchFamily="18" charset="0"/>
              </a:rPr>
              <a:t>Entity</a:t>
            </a:r>
          </a:p>
        </p:txBody>
      </p:sp>
    </p:spTree>
    <p:extLst>
      <p:ext uri="{BB962C8B-B14F-4D97-AF65-F5344CB8AC3E}">
        <p14:creationId xmlns:p14="http://schemas.microsoft.com/office/powerpoint/2010/main" val="253817967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59B0E-9CEA-C1F3-E836-3FC69611AFF9}"/>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0EB27679-6B46-0CD6-8DCB-BB9F52F2453B}"/>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ER Model – Notations</a:t>
            </a:r>
          </a:p>
        </p:txBody>
      </p:sp>
      <p:sp>
        <p:nvSpPr>
          <p:cNvPr id="3" name="Footer Placeholder 2">
            <a:extLst>
              <a:ext uri="{FF2B5EF4-FFF2-40B4-BE49-F238E27FC236}">
                <a16:creationId xmlns:a16="http://schemas.microsoft.com/office/drawing/2014/main" id="{E1CF7C80-F8AE-DC80-396F-CE7F584094E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528B33DF-A44C-D673-2254-0236356BD44C}"/>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4" name="Picture 5">
            <a:extLst>
              <a:ext uri="{FF2B5EF4-FFF2-40B4-BE49-F238E27FC236}">
                <a16:creationId xmlns:a16="http://schemas.microsoft.com/office/drawing/2014/main" id="{754FBDAF-FEC1-1FD7-CF68-0F6B3329A5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268413"/>
            <a:ext cx="7924800" cy="232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6" name="Table 15">
            <a:extLst>
              <a:ext uri="{FF2B5EF4-FFF2-40B4-BE49-F238E27FC236}">
                <a16:creationId xmlns:a16="http://schemas.microsoft.com/office/drawing/2014/main" id="{88BE6B15-A00C-6E43-0E44-6692E43AF734}"/>
              </a:ext>
            </a:extLst>
          </p:cNvPr>
          <p:cNvGraphicFramePr>
            <a:graphicFrameLocks noGrp="1"/>
          </p:cNvGraphicFramePr>
          <p:nvPr>
            <p:extLst>
              <p:ext uri="{D42A27DB-BD31-4B8C-83A1-F6EECF244321}">
                <p14:modId xmlns:p14="http://schemas.microsoft.com/office/powerpoint/2010/main" val="560915746"/>
              </p:ext>
            </p:extLst>
          </p:nvPr>
        </p:nvGraphicFramePr>
        <p:xfrm>
          <a:off x="3132138" y="3860800"/>
          <a:ext cx="2232025" cy="2495527"/>
        </p:xfrm>
        <a:graphic>
          <a:graphicData uri="http://schemas.openxmlformats.org/drawingml/2006/table">
            <a:tbl>
              <a:tblPr firstRow="1" bandRow="1">
                <a:tableStyleId>{5C22544A-7EE6-4342-B048-85BDC9FD1C3A}</a:tableStyleId>
              </a:tblPr>
              <a:tblGrid>
                <a:gridCol w="2232025">
                  <a:extLst>
                    <a:ext uri="{9D8B030D-6E8A-4147-A177-3AD203B41FA5}">
                      <a16:colId xmlns:a16="http://schemas.microsoft.com/office/drawing/2014/main" val="20000"/>
                    </a:ext>
                  </a:extLst>
                </a:gridCol>
              </a:tblGrid>
              <a:tr h="368231">
                <a:tc>
                  <a:txBody>
                    <a:bodyPr/>
                    <a:lstStyle/>
                    <a:p>
                      <a:pPr algn="ctr"/>
                      <a:r>
                        <a:rPr lang="en-US" sz="2000" dirty="0">
                          <a:latin typeface="Cambria" panose="02040503050406030204" pitchFamily="18" charset="0"/>
                          <a:ea typeface="Cambria" panose="02040503050406030204" pitchFamily="18" charset="0"/>
                        </a:rPr>
                        <a:t>ENTITY NAME</a:t>
                      </a:r>
                    </a:p>
                  </a:txBody>
                  <a:tcPr marL="91431" marR="91431" marT="45730" marB="45730"/>
                </a:tc>
                <a:extLst>
                  <a:ext uri="{0D108BD9-81ED-4DB2-BD59-A6C34878D82A}">
                    <a16:rowId xmlns:a16="http://schemas.microsoft.com/office/drawing/2014/main" val="10000"/>
                  </a:ext>
                </a:extLst>
              </a:tr>
              <a:tr h="1798707">
                <a:tc>
                  <a:txBody>
                    <a:bodyPr/>
                    <a:lstStyle/>
                    <a:p>
                      <a:pPr algn="ctr"/>
                      <a:r>
                        <a:rPr lang="en-US" sz="2400" u="sng" dirty="0">
                          <a:latin typeface="Cambria" panose="02040503050406030204" pitchFamily="18" charset="0"/>
                          <a:ea typeface="Cambria" panose="02040503050406030204" pitchFamily="18" charset="0"/>
                        </a:rPr>
                        <a:t>Identifier</a:t>
                      </a:r>
                    </a:p>
                    <a:p>
                      <a:pPr algn="ctr"/>
                      <a:r>
                        <a:rPr lang="en-US" sz="2400" u="none" dirty="0">
                          <a:latin typeface="Cambria" panose="02040503050406030204" pitchFamily="18" charset="0"/>
                          <a:ea typeface="Cambria" panose="02040503050406030204" pitchFamily="18" charset="0"/>
                        </a:rPr>
                        <a:t>Attribute</a:t>
                      </a:r>
                    </a:p>
                    <a:p>
                      <a:pPr algn="ctr">
                        <a:lnSpc>
                          <a:spcPct val="120000"/>
                        </a:lnSpc>
                      </a:pPr>
                      <a:r>
                        <a:rPr lang="en-US" sz="2400" u="none" kern="1200" dirty="0">
                          <a:solidFill>
                            <a:srgbClr val="0033CC"/>
                          </a:solidFill>
                          <a:latin typeface="Cambria" panose="02040503050406030204" pitchFamily="18" charset="0"/>
                          <a:ea typeface="Cambria" panose="02040503050406030204" pitchFamily="18" charset="0"/>
                          <a:cs typeface="+mn-cs"/>
                        </a:rPr>
                        <a:t>[Derived]</a:t>
                      </a:r>
                    </a:p>
                    <a:p>
                      <a:pPr algn="ctr">
                        <a:lnSpc>
                          <a:spcPct val="120000"/>
                        </a:lnSpc>
                      </a:pPr>
                      <a:r>
                        <a:rPr lang="en-US" sz="2400" u="none" kern="1200" dirty="0">
                          <a:solidFill>
                            <a:srgbClr val="FF0000"/>
                          </a:solidFill>
                          <a:latin typeface="Cambria" panose="02040503050406030204" pitchFamily="18" charset="0"/>
                          <a:ea typeface="Cambria" panose="02040503050406030204" pitchFamily="18" charset="0"/>
                          <a:cs typeface="+mn-cs"/>
                        </a:rPr>
                        <a:t>{Multivalued}</a:t>
                      </a:r>
                    </a:p>
                    <a:p>
                      <a:pPr algn="ctr">
                        <a:lnSpc>
                          <a:spcPct val="120000"/>
                        </a:lnSpc>
                      </a:pPr>
                      <a:r>
                        <a:rPr lang="en-US" sz="2400" u="none" kern="1200" dirty="0">
                          <a:solidFill>
                            <a:srgbClr val="0033CC"/>
                          </a:solidFill>
                          <a:latin typeface="Cambria" panose="02040503050406030204" pitchFamily="18" charset="0"/>
                          <a:ea typeface="Cambria" panose="02040503050406030204" pitchFamily="18" charset="0"/>
                          <a:cs typeface="+mn-cs"/>
                        </a:rPr>
                        <a:t>Composite( , , )</a:t>
                      </a:r>
                    </a:p>
                  </a:txBody>
                  <a:tcPr marL="91431" marR="91431" marT="45730" marB="4573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9328039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66A93-CD90-A6A7-F259-8828A6C56D98}"/>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26693FCC-FB16-1E15-6574-4EA7CFC3F013}"/>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Naming Entity Type</a:t>
            </a:r>
          </a:p>
        </p:txBody>
      </p:sp>
      <p:sp>
        <p:nvSpPr>
          <p:cNvPr id="10243" name="Rectangle 3">
            <a:extLst>
              <a:ext uri="{FF2B5EF4-FFF2-40B4-BE49-F238E27FC236}">
                <a16:creationId xmlns:a16="http://schemas.microsoft.com/office/drawing/2014/main" id="{46F3C86E-AD0B-27D1-60D2-E1C27508FB0F}"/>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Use capital letter for names of entity types.</a:t>
            </a:r>
          </a:p>
          <a:p>
            <a:pPr algn="just">
              <a:spcBef>
                <a:spcPts val="300"/>
              </a:spcBef>
              <a:defRPr/>
            </a:pPr>
            <a:r>
              <a:rPr lang="en-US" sz="2400" dirty="0">
                <a:latin typeface="Cambria" panose="02040503050406030204" pitchFamily="18" charset="0"/>
                <a:ea typeface="Cambria" panose="02040503050406030204" pitchFamily="18" charset="0"/>
              </a:rPr>
              <a:t>An entity name </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Is a singular noun e.g. CUSTOMER</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Should be specific to the organization e.g. CUSTOMER, CLIENT</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Should be concise, using as few words as possible e.g. REGISTRATION is better than STUDENT REGISTRATION FOR CLASS</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Should be same for all E-R diagrams on which  the same entity type appears</a:t>
            </a:r>
          </a:p>
          <a:p>
            <a:pPr algn="just">
              <a:spcBef>
                <a:spcPts val="300"/>
              </a:spcBef>
              <a:defRPr/>
            </a:pPr>
            <a:r>
              <a:rPr lang="en-US" sz="2400" dirty="0">
                <a:latin typeface="Cambria" panose="02040503050406030204" pitchFamily="18" charset="0"/>
                <a:ea typeface="Cambria" panose="02040503050406030204" pitchFamily="18" charset="0"/>
              </a:rPr>
              <a:t>An attribute should be descriptive of the data represented by that attribute. </a:t>
            </a:r>
          </a:p>
          <a:p>
            <a:pPr algn="just">
              <a:spcBef>
                <a:spcPts val="300"/>
              </a:spcBef>
              <a:defRPr/>
            </a:pPr>
            <a:r>
              <a:rPr lang="en-US" sz="2400" dirty="0">
                <a:latin typeface="Cambria" panose="02040503050406030204" pitchFamily="18" charset="0"/>
                <a:ea typeface="Cambria" panose="02040503050406030204" pitchFamily="18" charset="0"/>
              </a:rPr>
              <a:t>It is a good practice to prefix the entity name (or its abbreviation) with the attribute name. For example, CUST_ADDRESS. </a:t>
            </a:r>
          </a:p>
          <a:p>
            <a:pPr algn="just">
              <a:spcBef>
                <a:spcPts val="300"/>
              </a:spcBef>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029F268E-A7E6-F221-3F66-98DDA85A90E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98F8B81A-72F2-E34B-A866-27E1D964FC56}"/>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05778557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F89CB-6AD6-5194-D644-29FD932A33A2}"/>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6720319B-2B5B-A1EE-5128-03C7D9D05928}"/>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Relationship</a:t>
            </a:r>
          </a:p>
        </p:txBody>
      </p:sp>
      <p:sp>
        <p:nvSpPr>
          <p:cNvPr id="10243" name="Rectangle 3">
            <a:extLst>
              <a:ext uri="{FF2B5EF4-FFF2-40B4-BE49-F238E27FC236}">
                <a16:creationId xmlns:a16="http://schemas.microsoft.com/office/drawing/2014/main" id="{E1B888C6-4266-457D-1ADD-82360061A0DB}"/>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 relationship is any association, linkage, or connection between the entities of interest to the business; it is a bi-directional, significant association between entities, or between an entity and itself. </a:t>
            </a:r>
          </a:p>
          <a:p>
            <a:pPr algn="just">
              <a:spcBef>
                <a:spcPts val="300"/>
              </a:spcBef>
              <a:defRPr/>
            </a:pPr>
            <a:r>
              <a:rPr lang="en-US" sz="2400" dirty="0">
                <a:latin typeface="Cambria" panose="02040503050406030204" pitchFamily="18" charset="0"/>
                <a:ea typeface="Cambria" panose="02040503050406030204" pitchFamily="18" charset="0"/>
              </a:rPr>
              <a:t>Relationship is a </a:t>
            </a:r>
            <a:r>
              <a:rPr lang="en-US" sz="2400" dirty="0">
                <a:solidFill>
                  <a:srgbClr val="0033CC"/>
                </a:solidFill>
                <a:latin typeface="Cambria" panose="02040503050406030204" pitchFamily="18" charset="0"/>
                <a:ea typeface="Cambria" panose="02040503050406030204" pitchFamily="18" charset="0"/>
              </a:rPr>
              <a:t>glue</a:t>
            </a:r>
            <a:r>
              <a:rPr lang="en-US" sz="2400" dirty="0">
                <a:latin typeface="Cambria" panose="02040503050406030204" pitchFamily="18" charset="0"/>
                <a:ea typeface="Cambria" panose="02040503050406030204" pitchFamily="18" charset="0"/>
              </a:rPr>
              <a:t> that holds the entities together.</a:t>
            </a:r>
          </a:p>
          <a:p>
            <a:pPr algn="just">
              <a:spcBef>
                <a:spcPts val="300"/>
              </a:spcBef>
              <a:defRPr/>
            </a:pPr>
            <a:r>
              <a:rPr lang="en-US" sz="2400" dirty="0">
                <a:latin typeface="Cambria" panose="02040503050406030204" pitchFamily="18" charset="0"/>
                <a:ea typeface="Cambria" panose="02040503050406030204" pitchFamily="18" charset="0"/>
              </a:rPr>
              <a:t>Entities enrolled in a relationship are called its </a:t>
            </a:r>
            <a:r>
              <a:rPr lang="en-US" sz="2400" dirty="0">
                <a:solidFill>
                  <a:srgbClr val="0033CC"/>
                </a:solidFill>
                <a:latin typeface="Cambria" panose="02040503050406030204" pitchFamily="18" charset="0"/>
                <a:ea typeface="Cambria" panose="02040503050406030204" pitchFamily="18" charset="0"/>
              </a:rPr>
              <a:t>participants.</a:t>
            </a:r>
          </a:p>
          <a:p>
            <a:pPr algn="just">
              <a:spcBef>
                <a:spcPts val="300"/>
              </a:spcBef>
              <a:defRPr/>
            </a:pPr>
            <a:r>
              <a:rPr lang="en-US" sz="2400" dirty="0">
                <a:latin typeface="Cambria" panose="02040503050406030204" pitchFamily="18" charset="0"/>
                <a:ea typeface="Cambria" panose="02040503050406030204" pitchFamily="18" charset="0"/>
              </a:rPr>
              <a:t>Example of a relationship would be:</a:t>
            </a:r>
          </a:p>
          <a:p>
            <a:pPr lvl="1" algn="just">
              <a:spcBef>
                <a:spcPts val="300"/>
              </a:spcBef>
              <a:defRPr/>
            </a:pPr>
            <a:r>
              <a:rPr lang="en-US" sz="2200" dirty="0">
                <a:latin typeface="Cambria" panose="02040503050406030204" pitchFamily="18" charset="0"/>
                <a:ea typeface="Cambria" panose="02040503050406030204" pitchFamily="18" charset="0"/>
              </a:rPr>
              <a:t> </a:t>
            </a:r>
            <a:r>
              <a:rPr lang="en-US" sz="2200" dirty="0">
                <a:solidFill>
                  <a:srgbClr val="FF0000"/>
                </a:solidFill>
                <a:latin typeface="Cambria" panose="02040503050406030204" pitchFamily="18" charset="0"/>
                <a:ea typeface="Cambria" panose="02040503050406030204" pitchFamily="18" charset="0"/>
              </a:rPr>
              <a:t>Employees are assigned to projects</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 Projects have subtasks</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 Departments manage one or more projects</a:t>
            </a:r>
          </a:p>
          <a:p>
            <a:pPr algn="just">
              <a:spcBef>
                <a:spcPts val="300"/>
              </a:spcBef>
              <a:defRPr/>
            </a:pPr>
            <a:r>
              <a:rPr lang="en-US" sz="2400" dirty="0">
                <a:latin typeface="Cambria" panose="02040503050406030204" pitchFamily="18" charset="0"/>
                <a:ea typeface="Cambria" panose="02040503050406030204" pitchFamily="18" charset="0"/>
              </a:rPr>
              <a:t>There are the following types of data associations:</a:t>
            </a:r>
          </a:p>
          <a:p>
            <a:pPr marL="628650" lvl="2" indent="-287338" algn="just">
              <a:spcBef>
                <a:spcPts val="300"/>
              </a:spcBef>
              <a:buClr>
                <a:srgbClr val="0033CC"/>
              </a:buClr>
              <a:buFont typeface="+mj-lt"/>
              <a:buAutoNum type="alphaLcParenR"/>
              <a:defRPr/>
            </a:pPr>
            <a:r>
              <a:rPr lang="en-US" sz="2200" dirty="0">
                <a:solidFill>
                  <a:srgbClr val="0033CC"/>
                </a:solidFill>
                <a:latin typeface="Cambria" panose="02040503050406030204" pitchFamily="18" charset="0"/>
                <a:ea typeface="Cambria" panose="02040503050406030204" pitchFamily="18" charset="0"/>
              </a:rPr>
              <a:t>One to One Association</a:t>
            </a:r>
          </a:p>
          <a:p>
            <a:pPr marL="628650" lvl="2" indent="-287338" algn="just">
              <a:spcBef>
                <a:spcPts val="300"/>
              </a:spcBef>
              <a:buClr>
                <a:srgbClr val="0033CC"/>
              </a:buClr>
              <a:buFont typeface="+mj-lt"/>
              <a:buAutoNum type="alphaLcParenR"/>
              <a:defRPr/>
            </a:pPr>
            <a:r>
              <a:rPr lang="en-US" sz="2200" dirty="0">
                <a:solidFill>
                  <a:srgbClr val="0033CC"/>
                </a:solidFill>
                <a:latin typeface="Cambria" panose="02040503050406030204" pitchFamily="18" charset="0"/>
                <a:ea typeface="Cambria" panose="02040503050406030204" pitchFamily="18" charset="0"/>
              </a:rPr>
              <a:t>One to Many Association</a:t>
            </a:r>
          </a:p>
          <a:p>
            <a:pPr marL="628650" lvl="2" indent="-287338" algn="just">
              <a:spcBef>
                <a:spcPts val="300"/>
              </a:spcBef>
              <a:buClr>
                <a:srgbClr val="0033CC"/>
              </a:buClr>
              <a:buFont typeface="+mj-lt"/>
              <a:buAutoNum type="alphaLcParenR"/>
              <a:defRPr/>
            </a:pPr>
            <a:r>
              <a:rPr lang="en-US" sz="2200" dirty="0">
                <a:solidFill>
                  <a:srgbClr val="0033CC"/>
                </a:solidFill>
                <a:latin typeface="Cambria" panose="02040503050406030204" pitchFamily="18" charset="0"/>
                <a:ea typeface="Cambria" panose="02040503050406030204" pitchFamily="18" charset="0"/>
              </a:rPr>
              <a:t>Many to Many Association </a:t>
            </a:r>
          </a:p>
          <a:p>
            <a:pPr lvl="1" algn="just">
              <a:spcBef>
                <a:spcPts val="300"/>
              </a:spcBef>
              <a:defRPr/>
            </a:pPr>
            <a:endParaRPr lang="en-US" sz="2200" dirty="0">
              <a:solidFill>
                <a:srgbClr val="FF0000"/>
              </a:solidFill>
              <a:latin typeface="Cambria" panose="02040503050406030204" pitchFamily="18" charset="0"/>
              <a:ea typeface="Cambria" panose="02040503050406030204" pitchFamily="18" charset="0"/>
            </a:endParaRPr>
          </a:p>
          <a:p>
            <a:pPr lvl="1" algn="just">
              <a:spcBef>
                <a:spcPts val="300"/>
              </a:spcBef>
              <a:defRPr/>
            </a:pPr>
            <a:endParaRPr lang="en-US" sz="22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DCED4445-32FA-E390-9394-50A8923317D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9049C9F6-C9BF-E944-5DDA-5B9747713988}"/>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41775722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5C41B-D5F6-2A43-CDDF-B8C510CEC5AB}"/>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34CCB80A-6D5C-DE5F-6B75-74B698E99128}"/>
              </a:ext>
            </a:extLst>
          </p:cNvPr>
          <p:cNvSpPr>
            <a:spLocks noGrp="1" noChangeArrowheads="1"/>
          </p:cNvSpPr>
          <p:nvPr>
            <p:ph type="title"/>
          </p:nvPr>
        </p:nvSpPr>
        <p:spPr>
          <a:xfrm>
            <a:off x="395536" y="261466"/>
            <a:ext cx="5040560" cy="503238"/>
          </a:xfrm>
        </p:spPr>
        <p:txBody>
          <a:bodyPr/>
          <a:lstStyle/>
          <a:p>
            <a:r>
              <a:rPr lang="en-US" altLang="en-US" sz="2800" b="1" u="sng" dirty="0" err="1">
                <a:solidFill>
                  <a:srgbClr val="D34817"/>
                </a:solidFill>
                <a:latin typeface="Cambria" panose="02040503050406030204" pitchFamily="18" charset="0"/>
                <a:ea typeface="Cambria" panose="02040503050406030204" pitchFamily="18" charset="0"/>
              </a:rPr>
              <a:t>Asscociation</a:t>
            </a:r>
            <a:r>
              <a:rPr lang="en-US" altLang="en-US" sz="2800" b="1" u="sng" dirty="0">
                <a:solidFill>
                  <a:srgbClr val="D34817"/>
                </a:solidFill>
                <a:latin typeface="Cambria" panose="02040503050406030204" pitchFamily="18" charset="0"/>
                <a:ea typeface="Cambria" panose="02040503050406030204" pitchFamily="18" charset="0"/>
              </a:rPr>
              <a:t> Types</a:t>
            </a:r>
          </a:p>
        </p:txBody>
      </p:sp>
      <p:sp>
        <p:nvSpPr>
          <p:cNvPr id="10243" name="Rectangle 3">
            <a:extLst>
              <a:ext uri="{FF2B5EF4-FFF2-40B4-BE49-F238E27FC236}">
                <a16:creationId xmlns:a16="http://schemas.microsoft.com/office/drawing/2014/main" id="{EF52AAED-6B7E-104F-4606-3B63813FAF27}"/>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 association or connectivity between entity A and entity B is determined by answering the following two questions:</a:t>
            </a:r>
          </a:p>
          <a:p>
            <a:pPr marL="731838" lvl="1" indent="-457200" algn="just">
              <a:spcBef>
                <a:spcPts val="300"/>
              </a:spcBef>
              <a:buFont typeface="+mj-lt"/>
              <a:buAutoNum type="arabicPeriod"/>
              <a:defRPr/>
            </a:pPr>
            <a:r>
              <a:rPr lang="en-US" sz="2200" dirty="0">
                <a:solidFill>
                  <a:srgbClr val="FF0000"/>
                </a:solidFill>
                <a:latin typeface="Cambria" panose="02040503050406030204" pitchFamily="18" charset="0"/>
                <a:ea typeface="Cambria" panose="02040503050406030204" pitchFamily="18" charset="0"/>
              </a:rPr>
              <a:t>How many instances of B are related to each instance of A? </a:t>
            </a:r>
          </a:p>
          <a:p>
            <a:pPr marL="731838" lvl="1" indent="-457200" algn="just">
              <a:spcBef>
                <a:spcPts val="300"/>
              </a:spcBef>
              <a:buFont typeface="+mj-lt"/>
              <a:buAutoNum type="arabicPeriod"/>
              <a:defRPr/>
            </a:pPr>
            <a:r>
              <a:rPr lang="en-US" sz="2200" dirty="0">
                <a:solidFill>
                  <a:srgbClr val="FF0000"/>
                </a:solidFill>
                <a:latin typeface="Cambria" panose="02040503050406030204" pitchFamily="18" charset="0"/>
                <a:ea typeface="Cambria" panose="02040503050406030204" pitchFamily="18" charset="0"/>
              </a:rPr>
              <a:t>How many instances of A are related to each instance of B? </a:t>
            </a:r>
          </a:p>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a) One to One Association</a:t>
            </a:r>
          </a:p>
          <a:p>
            <a:pPr algn="just">
              <a:spcBef>
                <a:spcPts val="300"/>
              </a:spcBef>
              <a:defRPr/>
            </a:pPr>
            <a:r>
              <a:rPr lang="en-US" sz="2400" dirty="0">
                <a:latin typeface="Cambria" panose="02040503050406030204" pitchFamily="18" charset="0"/>
                <a:ea typeface="Cambria" panose="02040503050406030204" pitchFamily="18" charset="0"/>
              </a:rPr>
              <a:t>For a given instance of entity A, there is one and only one instance of entity B. </a:t>
            </a:r>
            <a:r>
              <a:rPr lang="en-US" sz="2400" dirty="0">
                <a:solidFill>
                  <a:srgbClr val="FF0000"/>
                </a:solidFill>
                <a:latin typeface="Cambria" panose="02040503050406030204" pitchFamily="18" charset="0"/>
                <a:ea typeface="Cambria" panose="02040503050406030204" pitchFamily="18" charset="0"/>
              </a:rPr>
              <a:t>For Ex.,</a:t>
            </a:r>
            <a:r>
              <a:rPr lang="en-US" sz="2400" dirty="0">
                <a:latin typeface="Cambria" panose="02040503050406030204" pitchFamily="18" charset="0"/>
                <a:ea typeface="Cambria" panose="02040503050406030204" pitchFamily="18" charset="0"/>
              </a:rPr>
              <a:t> </a:t>
            </a:r>
            <a:r>
              <a:rPr lang="en-US" sz="2400" dirty="0">
                <a:solidFill>
                  <a:srgbClr val="0033CC"/>
                </a:solidFill>
                <a:latin typeface="Cambria" panose="02040503050406030204" pitchFamily="18" charset="0"/>
                <a:ea typeface="Cambria" panose="02040503050406030204" pitchFamily="18" charset="0"/>
              </a:rPr>
              <a:t>FACULTY - OFFICE</a:t>
            </a:r>
          </a:p>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b) One to Many Association</a:t>
            </a:r>
          </a:p>
          <a:p>
            <a:pPr algn="just">
              <a:spcBef>
                <a:spcPts val="300"/>
              </a:spcBef>
              <a:defRPr/>
            </a:pPr>
            <a:r>
              <a:rPr lang="en-US" sz="2400" dirty="0">
                <a:latin typeface="Cambria" panose="02040503050406030204" pitchFamily="18" charset="0"/>
                <a:ea typeface="Cambria" panose="02040503050406030204" pitchFamily="18" charset="0"/>
              </a:rPr>
              <a:t>For a given instance of entity A, there can be many or multiple instance of entity B. </a:t>
            </a:r>
            <a:r>
              <a:rPr lang="en-US" sz="2400" dirty="0">
                <a:solidFill>
                  <a:srgbClr val="FF0000"/>
                </a:solidFill>
                <a:latin typeface="Cambria" panose="02040503050406030204" pitchFamily="18" charset="0"/>
                <a:ea typeface="Cambria" panose="02040503050406030204" pitchFamily="18" charset="0"/>
              </a:rPr>
              <a:t>For Ex.,</a:t>
            </a:r>
            <a:r>
              <a:rPr lang="en-US" sz="2400" dirty="0">
                <a:latin typeface="Cambria" panose="02040503050406030204" pitchFamily="18" charset="0"/>
                <a:ea typeface="Cambria" panose="02040503050406030204" pitchFamily="18" charset="0"/>
              </a:rPr>
              <a:t> </a:t>
            </a:r>
            <a:r>
              <a:rPr lang="en-US" sz="2400" dirty="0">
                <a:solidFill>
                  <a:srgbClr val="0033CC"/>
                </a:solidFill>
                <a:latin typeface="Cambria" panose="02040503050406030204" pitchFamily="18" charset="0"/>
                <a:ea typeface="Cambria" panose="02040503050406030204" pitchFamily="18" charset="0"/>
              </a:rPr>
              <a:t>FACULTY - COURSE</a:t>
            </a:r>
            <a:endParaRPr lang="en-US" sz="2400" dirty="0">
              <a:latin typeface="Cambria" panose="02040503050406030204" pitchFamily="18" charset="0"/>
              <a:ea typeface="Cambria" panose="02040503050406030204" pitchFamily="18" charset="0"/>
            </a:endParaRPr>
          </a:p>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rPr>
              <a:t>c) Many to Many Association</a:t>
            </a:r>
          </a:p>
          <a:p>
            <a:pPr algn="just">
              <a:spcBef>
                <a:spcPts val="300"/>
              </a:spcBef>
              <a:defRPr/>
            </a:pPr>
            <a:r>
              <a:rPr lang="en-US" sz="2400" dirty="0">
                <a:latin typeface="Cambria" panose="02040503050406030204" pitchFamily="18" charset="0"/>
                <a:ea typeface="Cambria" panose="02040503050406030204" pitchFamily="18" charset="0"/>
              </a:rPr>
              <a:t>For a given instance of entity A, there can be many or multiple instance of entity B, and vice-versa. </a:t>
            </a:r>
            <a:r>
              <a:rPr lang="en-US" sz="2400" dirty="0">
                <a:solidFill>
                  <a:srgbClr val="FF0000"/>
                </a:solidFill>
                <a:latin typeface="Cambria" panose="02040503050406030204" pitchFamily="18" charset="0"/>
                <a:ea typeface="Cambria" panose="02040503050406030204" pitchFamily="18" charset="0"/>
              </a:rPr>
              <a:t>For Ex.,</a:t>
            </a:r>
            <a:r>
              <a:rPr lang="en-US" sz="2400" dirty="0">
                <a:latin typeface="Cambria" panose="02040503050406030204" pitchFamily="18" charset="0"/>
                <a:ea typeface="Cambria" panose="02040503050406030204" pitchFamily="18" charset="0"/>
              </a:rPr>
              <a:t> </a:t>
            </a:r>
            <a:r>
              <a:rPr lang="en-US" sz="2400" dirty="0">
                <a:solidFill>
                  <a:srgbClr val="0033CC"/>
                </a:solidFill>
                <a:latin typeface="Cambria" panose="02040503050406030204" pitchFamily="18" charset="0"/>
                <a:ea typeface="Cambria" panose="02040503050406030204" pitchFamily="18" charset="0"/>
              </a:rPr>
              <a:t>STUDNT - COURSE</a:t>
            </a: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319088" lvl="1" indent="0" algn="just">
              <a:spcBef>
                <a:spcPts val="300"/>
              </a:spcBef>
              <a:buNone/>
              <a:defRPr/>
            </a:pPr>
            <a:endParaRPr lang="en-US" sz="2200" dirty="0">
              <a:solidFill>
                <a:srgbClr val="FF0000"/>
              </a:solidFill>
              <a:latin typeface="Cambria" panose="02040503050406030204" pitchFamily="18" charset="0"/>
              <a:ea typeface="Cambria" panose="02040503050406030204" pitchFamily="18" charset="0"/>
            </a:endParaRPr>
          </a:p>
          <a:p>
            <a:pPr lvl="1" algn="just">
              <a:spcBef>
                <a:spcPts val="300"/>
              </a:spcBef>
              <a:defRPr/>
            </a:pPr>
            <a:endParaRPr lang="en-US" sz="22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2CEC012D-1186-8A73-3AE5-68AB1ECDEB0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5D6F6442-CC47-DC75-4C01-5D19AC7ADD23}"/>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1921753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895B0-E4AF-D868-DCE0-10FCF2CA57E0}"/>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4C139CAD-8560-48CF-47A0-BDAFED285AFE}"/>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Cardinality of a Relationship </a:t>
            </a:r>
          </a:p>
        </p:txBody>
      </p:sp>
      <p:sp>
        <p:nvSpPr>
          <p:cNvPr id="10243" name="Rectangle 3">
            <a:extLst>
              <a:ext uri="{FF2B5EF4-FFF2-40B4-BE49-F238E27FC236}">
                <a16:creationId xmlns:a16="http://schemas.microsoft.com/office/drawing/2014/main" id="{957B8E58-00F6-FFC7-EA6D-1EF10DECA406}"/>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It extends the scope of association by including minimum and maximum number of entity instances of one entity type that can be associated with the number of entity instances of the other entity or same entity type.</a:t>
            </a:r>
          </a:p>
          <a:p>
            <a:pPr algn="just">
              <a:spcBef>
                <a:spcPts val="300"/>
              </a:spcBef>
              <a:defRPr/>
            </a:pPr>
            <a:r>
              <a:rPr lang="en-US" sz="2400" dirty="0">
                <a:latin typeface="Cambria" panose="02040503050406030204" pitchFamily="18" charset="0"/>
                <a:ea typeface="Cambria" panose="02040503050406030204" pitchFamily="18" charset="0"/>
              </a:rPr>
              <a:t>It assigns a specific value to </a:t>
            </a:r>
            <a:r>
              <a:rPr lang="en-US" sz="2400" dirty="0">
                <a:solidFill>
                  <a:srgbClr val="0033CC"/>
                </a:solidFill>
                <a:latin typeface="Cambria" panose="02040503050406030204" pitchFamily="18" charset="0"/>
                <a:ea typeface="Cambria" panose="02040503050406030204" pitchFamily="18" charset="0"/>
              </a:rPr>
              <a:t>connectivity.</a:t>
            </a:r>
          </a:p>
          <a:p>
            <a:pPr algn="just">
              <a:spcBef>
                <a:spcPts val="300"/>
              </a:spcBef>
              <a:defRPr/>
            </a:pPr>
            <a:r>
              <a:rPr lang="en-US" sz="2400" dirty="0">
                <a:latin typeface="Cambria" panose="02040503050406030204" pitchFamily="18" charset="0"/>
                <a:ea typeface="Cambria" panose="02040503050406030204" pitchFamily="18" charset="0"/>
              </a:rPr>
              <a:t>There are two types of cardinality:</a:t>
            </a:r>
          </a:p>
          <a:p>
            <a:pPr marL="274638" lvl="1" indent="0" algn="just">
              <a:spcBef>
                <a:spcPts val="300"/>
              </a:spcBef>
              <a:buNone/>
              <a:defRPr/>
            </a:pPr>
            <a:r>
              <a:rPr lang="en-US" dirty="0">
                <a:solidFill>
                  <a:srgbClr val="0033CC"/>
                </a:solidFill>
                <a:latin typeface="Cambria" panose="02040503050406030204" pitchFamily="18" charset="0"/>
                <a:ea typeface="Cambria" panose="02040503050406030204" pitchFamily="18" charset="0"/>
              </a:rPr>
              <a:t>a) Minimum Cardinality</a:t>
            </a:r>
          </a:p>
          <a:p>
            <a:pPr marL="274638" lvl="1" indent="0" algn="just">
              <a:spcBef>
                <a:spcPts val="300"/>
              </a:spcBef>
              <a:buNone/>
              <a:defRPr/>
            </a:pPr>
            <a:r>
              <a:rPr lang="en-US" dirty="0">
                <a:solidFill>
                  <a:srgbClr val="0033CC"/>
                </a:solidFill>
                <a:latin typeface="Cambria" panose="02040503050406030204" pitchFamily="18" charset="0"/>
                <a:ea typeface="Cambria" panose="02040503050406030204" pitchFamily="18" charset="0"/>
              </a:rPr>
              <a:t>b) Maximum Cardinality </a:t>
            </a:r>
            <a:r>
              <a:rPr lang="en-US" dirty="0">
                <a:solidFill>
                  <a:srgbClr val="FF0000"/>
                </a:solidFill>
                <a:latin typeface="Cambria" panose="02040503050406030204" pitchFamily="18" charset="0"/>
                <a:ea typeface="Cambria" panose="02040503050406030204" pitchFamily="18" charset="0"/>
              </a:rPr>
              <a:t>(Cardinality Ratio)</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319088" lvl="1" indent="0" algn="just">
              <a:spcBef>
                <a:spcPts val="300"/>
              </a:spcBef>
              <a:buNone/>
              <a:defRPr/>
            </a:pPr>
            <a:endParaRPr lang="en-US" sz="2200" dirty="0">
              <a:solidFill>
                <a:srgbClr val="FF0000"/>
              </a:solidFill>
              <a:latin typeface="Cambria" panose="02040503050406030204" pitchFamily="18" charset="0"/>
              <a:ea typeface="Cambria" panose="02040503050406030204" pitchFamily="18" charset="0"/>
            </a:endParaRPr>
          </a:p>
          <a:p>
            <a:pPr lvl="1" algn="just">
              <a:spcBef>
                <a:spcPts val="300"/>
              </a:spcBef>
              <a:defRPr/>
            </a:pPr>
            <a:endParaRPr lang="en-US" sz="22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D27628F1-65EB-5BA2-4725-34A7AE8A0B1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8323E2DF-2A27-85BE-9748-ADBDA7BDB953}"/>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5" name="Picture 4">
            <a:extLst>
              <a:ext uri="{FF2B5EF4-FFF2-40B4-BE49-F238E27FC236}">
                <a16:creationId xmlns:a16="http://schemas.microsoft.com/office/drawing/2014/main" id="{8651628B-2171-A6E9-B666-F8EC43C1AB4F}"/>
              </a:ext>
            </a:extLst>
          </p:cNvPr>
          <p:cNvPicPr>
            <a:picLocks noChangeAspect="1"/>
          </p:cNvPicPr>
          <p:nvPr/>
        </p:nvPicPr>
        <p:blipFill>
          <a:blip r:embed="rId2"/>
          <a:stretch>
            <a:fillRect/>
          </a:stretch>
        </p:blipFill>
        <p:spPr>
          <a:xfrm>
            <a:off x="323528" y="3958896"/>
            <a:ext cx="4406999" cy="2229836"/>
          </a:xfrm>
          <a:prstGeom prst="rect">
            <a:avLst/>
          </a:prstGeom>
        </p:spPr>
      </p:pic>
      <p:pic>
        <p:nvPicPr>
          <p:cNvPr id="6" name="Picture 5">
            <a:extLst>
              <a:ext uri="{FF2B5EF4-FFF2-40B4-BE49-F238E27FC236}">
                <a16:creationId xmlns:a16="http://schemas.microsoft.com/office/drawing/2014/main" id="{966B477E-0EAF-5D31-CF04-CDF833519AB5}"/>
              </a:ext>
            </a:extLst>
          </p:cNvPr>
          <p:cNvPicPr>
            <a:picLocks noChangeAspect="1"/>
          </p:cNvPicPr>
          <p:nvPr/>
        </p:nvPicPr>
        <p:blipFill>
          <a:blip r:embed="rId3"/>
          <a:stretch>
            <a:fillRect/>
          </a:stretch>
        </p:blipFill>
        <p:spPr>
          <a:xfrm>
            <a:off x="4932040" y="3933056"/>
            <a:ext cx="4057600" cy="2229836"/>
          </a:xfrm>
          <a:prstGeom prst="rect">
            <a:avLst/>
          </a:prstGeom>
        </p:spPr>
      </p:pic>
    </p:spTree>
    <p:extLst>
      <p:ext uri="{BB962C8B-B14F-4D97-AF65-F5344CB8AC3E}">
        <p14:creationId xmlns:p14="http://schemas.microsoft.com/office/powerpoint/2010/main" val="411289378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2263C-1A88-DBF8-4CC4-A33C35E2CCFA}"/>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994158FB-F792-766F-8D25-5A46A9B79419}"/>
              </a:ext>
            </a:extLst>
          </p:cNvPr>
          <p:cNvSpPr>
            <a:spLocks noGrp="1" noChangeArrowheads="1"/>
          </p:cNvSpPr>
          <p:nvPr>
            <p:ph type="title"/>
          </p:nvPr>
        </p:nvSpPr>
        <p:spPr>
          <a:xfrm>
            <a:off x="323850" y="188640"/>
            <a:ext cx="8568630" cy="533400"/>
          </a:xfrm>
        </p:spPr>
        <p:txBody>
          <a:bodyPr/>
          <a:lstStyle/>
          <a:p>
            <a:pPr eaLnBrk="1" hangingPunct="1">
              <a:spcBef>
                <a:spcPct val="50000"/>
              </a:spcBef>
            </a:pPr>
            <a:r>
              <a:rPr lang="en-US" altLang="en-US" sz="2800" b="1" u="sng" dirty="0">
                <a:solidFill>
                  <a:srgbClr val="D34817"/>
                </a:solidFill>
                <a:latin typeface="Calibri" panose="020F0502020204030204" pitchFamily="34" charset="0"/>
              </a:rPr>
              <a:t>Relationship Participation</a:t>
            </a:r>
          </a:p>
        </p:txBody>
      </p:sp>
      <p:sp>
        <p:nvSpPr>
          <p:cNvPr id="24579" name="Rectangle 3">
            <a:extLst>
              <a:ext uri="{FF2B5EF4-FFF2-40B4-BE49-F238E27FC236}">
                <a16:creationId xmlns:a16="http://schemas.microsoft.com/office/drawing/2014/main" id="{197C2752-385E-26B7-F1A6-56FBF21EE1E2}"/>
              </a:ext>
            </a:extLst>
          </p:cNvPr>
          <p:cNvSpPr>
            <a:spLocks noGrp="1" noChangeArrowheads="1"/>
          </p:cNvSpPr>
          <p:nvPr>
            <p:ph type="body" idx="1"/>
          </p:nvPr>
        </p:nvSpPr>
        <p:spPr>
          <a:xfrm>
            <a:off x="354013" y="692150"/>
            <a:ext cx="8466137" cy="4343400"/>
          </a:xfrm>
        </p:spPr>
        <p:txBody>
          <a:bodyPr/>
          <a:lstStyle/>
          <a:p>
            <a:pPr algn="just" eaLnBrk="1" hangingPunct="1">
              <a:spcBef>
                <a:spcPts val="0"/>
              </a:spcBef>
              <a:spcAft>
                <a:spcPts val="300"/>
              </a:spcAft>
              <a:defRPr/>
            </a:pPr>
            <a:r>
              <a:rPr lang="en-US" sz="2400" dirty="0">
                <a:latin typeface="Calibri" panose="020F0502020204030204" pitchFamily="34" charset="0"/>
                <a:cs typeface="Calibri" panose="020F0502020204030204" pitchFamily="34" charset="0"/>
              </a:rPr>
              <a:t>Participation of an entity instance in a relationship can be of two types: </a:t>
            </a:r>
          </a:p>
          <a:p>
            <a:pPr marL="0" indent="0" algn="just" eaLnBrk="1" hangingPunct="1">
              <a:spcBef>
                <a:spcPts val="0"/>
              </a:spcBef>
              <a:spcAft>
                <a:spcPts val="300"/>
              </a:spcAft>
              <a:buNone/>
              <a:defRPr/>
            </a:pPr>
            <a:r>
              <a:rPr lang="en-US" sz="2400" dirty="0">
                <a:solidFill>
                  <a:srgbClr val="0033CC"/>
                </a:solidFill>
                <a:latin typeface="Calibri" panose="020F0502020204030204" pitchFamily="34" charset="0"/>
                <a:cs typeface="Calibri" panose="020F0502020204030204" pitchFamily="34" charset="0"/>
              </a:rPr>
              <a:t>1. Mandatory or Total Participation (Min Card=1,2,3,…  ): </a:t>
            </a:r>
          </a:p>
          <a:p>
            <a:pPr marL="0" indent="0" algn="just" eaLnBrk="1" hangingPunct="1">
              <a:spcBef>
                <a:spcPts val="0"/>
              </a:spcBef>
              <a:spcAft>
                <a:spcPts val="300"/>
              </a:spcAft>
              <a:buNone/>
              <a:defRPr/>
            </a:pPr>
            <a:r>
              <a:rPr lang="en-US" sz="2400" dirty="0">
                <a:latin typeface="Calibri" panose="020F0502020204030204" pitchFamily="34" charset="0"/>
                <a:cs typeface="Calibri" panose="020F0502020204030204" pitchFamily="34" charset="0"/>
              </a:rPr>
              <a:t>Every instance of an entity type must participate in a relationship </a:t>
            </a:r>
            <a:r>
              <a:rPr lang="en-US" sz="2400" dirty="0">
                <a:solidFill>
                  <a:srgbClr val="FF0000"/>
                </a:solidFill>
                <a:latin typeface="Calibri" panose="020F0502020204030204" pitchFamily="34" charset="0"/>
                <a:cs typeface="Calibri" panose="020F0502020204030204" pitchFamily="34" charset="0"/>
              </a:rPr>
              <a:t>(represented using double line).</a:t>
            </a:r>
            <a:r>
              <a:rPr lang="en-US" sz="2400" dirty="0">
                <a:latin typeface="Calibri" panose="020F0502020204030204" pitchFamily="34" charset="0"/>
                <a:cs typeface="Calibri" panose="020F0502020204030204" pitchFamily="34" charset="0"/>
              </a:rPr>
              <a:t>  </a:t>
            </a:r>
          </a:p>
          <a:p>
            <a:pPr marL="0" indent="0" algn="just" eaLnBrk="1" hangingPunct="1">
              <a:spcBef>
                <a:spcPts val="0"/>
              </a:spcBef>
              <a:spcAft>
                <a:spcPts val="300"/>
              </a:spcAft>
              <a:buNone/>
              <a:defRPr/>
            </a:pPr>
            <a:r>
              <a:rPr lang="en-US" sz="2400" dirty="0">
                <a:solidFill>
                  <a:srgbClr val="0033CC"/>
                </a:solidFill>
                <a:latin typeface="Calibri" panose="020F0502020204030204" pitchFamily="34" charset="0"/>
                <a:cs typeface="Calibri" panose="020F0502020204030204" pitchFamily="34" charset="0"/>
              </a:rPr>
              <a:t>2.  Optional or Partial Participation (Min Card=0): </a:t>
            </a:r>
            <a:r>
              <a:rPr lang="en-US" sz="2400" dirty="0">
                <a:latin typeface="Calibri" panose="020F0502020204030204" pitchFamily="34" charset="0"/>
                <a:cs typeface="Calibri" panose="020F0502020204030204" pitchFamily="34" charset="0"/>
              </a:rPr>
              <a:t>Some instance of an entity type may not participate in a relationship</a:t>
            </a:r>
          </a:p>
          <a:p>
            <a:pPr marL="228600" indent="-228600" eaLnBrk="1" hangingPunct="1">
              <a:spcBef>
                <a:spcPts val="0"/>
              </a:spcBef>
              <a:spcAft>
                <a:spcPts val="300"/>
              </a:spcAft>
              <a:defRPr/>
            </a:pPr>
            <a:endParaRPr lang="en-US" altLang="en-US" sz="2400" dirty="0">
              <a:latin typeface="Calibri" panose="020F0502020204030204" pitchFamily="34"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208D8171-1AC1-40C5-89E2-FE5F998D2A9B}"/>
              </a:ext>
            </a:extLst>
          </p:cNvPr>
          <p:cNvPicPr>
            <a:picLocks noChangeAspect="1"/>
          </p:cNvPicPr>
          <p:nvPr/>
        </p:nvPicPr>
        <p:blipFill>
          <a:blip r:embed="rId2"/>
          <a:stretch>
            <a:fillRect/>
          </a:stretch>
        </p:blipFill>
        <p:spPr>
          <a:xfrm>
            <a:off x="1068802" y="3573016"/>
            <a:ext cx="7036558" cy="1491453"/>
          </a:xfrm>
          <a:prstGeom prst="rect">
            <a:avLst/>
          </a:prstGeom>
        </p:spPr>
      </p:pic>
      <p:pic>
        <p:nvPicPr>
          <p:cNvPr id="5" name="Picture 4">
            <a:extLst>
              <a:ext uri="{FF2B5EF4-FFF2-40B4-BE49-F238E27FC236}">
                <a16:creationId xmlns:a16="http://schemas.microsoft.com/office/drawing/2014/main" id="{AF8F6E77-7F8B-742E-132E-DB81D7304692}"/>
              </a:ext>
            </a:extLst>
          </p:cNvPr>
          <p:cNvPicPr>
            <a:picLocks noChangeAspect="1"/>
          </p:cNvPicPr>
          <p:nvPr/>
        </p:nvPicPr>
        <p:blipFill>
          <a:blip r:embed="rId3"/>
          <a:stretch>
            <a:fillRect/>
          </a:stretch>
        </p:blipFill>
        <p:spPr>
          <a:xfrm>
            <a:off x="1043608" y="5186043"/>
            <a:ext cx="7076363" cy="1483317"/>
          </a:xfrm>
          <a:prstGeom prst="rect">
            <a:avLst/>
          </a:prstGeom>
        </p:spPr>
      </p:pic>
    </p:spTree>
    <p:extLst>
      <p:ext uri="{BB962C8B-B14F-4D97-AF65-F5344CB8AC3E}">
        <p14:creationId xmlns:p14="http://schemas.microsoft.com/office/powerpoint/2010/main" val="137871122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E2F2-1748-DD3E-3C7C-5C48D4DF500B}"/>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C846E7D5-70F2-8384-5986-6215A4966FB1}"/>
              </a:ext>
            </a:extLst>
          </p:cNvPr>
          <p:cNvSpPr>
            <a:spLocks noGrp="1" noChangeArrowheads="1"/>
          </p:cNvSpPr>
          <p:nvPr>
            <p:ph type="title"/>
          </p:nvPr>
        </p:nvSpPr>
        <p:spPr>
          <a:xfrm>
            <a:off x="323850" y="188640"/>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Relationship Participation</a:t>
            </a:r>
          </a:p>
        </p:txBody>
      </p:sp>
      <p:sp>
        <p:nvSpPr>
          <p:cNvPr id="4" name="Rectangle 3">
            <a:extLst>
              <a:ext uri="{FF2B5EF4-FFF2-40B4-BE49-F238E27FC236}">
                <a16:creationId xmlns:a16="http://schemas.microsoft.com/office/drawing/2014/main" id="{9A6AC4F8-4062-F1BC-2501-276BA40328A9}"/>
              </a:ext>
            </a:extLst>
          </p:cNvPr>
          <p:cNvSpPr txBox="1">
            <a:spLocks noChangeArrowheads="1"/>
          </p:cNvSpPr>
          <p:nvPr/>
        </p:nvSpPr>
        <p:spPr bwMode="auto">
          <a:xfrm>
            <a:off x="289693" y="722040"/>
            <a:ext cx="8386763"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just">
              <a:buFont typeface="Wingdings 2" panose="05020102010507070707" pitchFamily="18" charset="2"/>
              <a:buNone/>
              <a:defRPr/>
            </a:pPr>
            <a:r>
              <a:rPr lang="en-US" sz="2400" dirty="0">
                <a:latin typeface="Cambria" panose="02040503050406030204" pitchFamily="18" charset="0"/>
                <a:ea typeface="Cambria" panose="02040503050406030204" pitchFamily="18" charset="0"/>
                <a:cs typeface="Calibri" panose="020F0502020204030204" pitchFamily="34" charset="0"/>
              </a:rPr>
              <a:t>The combination of minimum and maximum cardinality generates the following combinations:</a:t>
            </a:r>
            <a:endParaRPr lang="en-US" dirty="0">
              <a:latin typeface="Cambria" panose="02040503050406030204" pitchFamily="18" charset="0"/>
              <a:ea typeface="Cambria" panose="02040503050406030204" pitchFamily="18" charset="0"/>
              <a:cs typeface="Calibri" panose="020F0502020204030204" pitchFamily="34" charset="0"/>
            </a:endParaRPr>
          </a:p>
          <a:p>
            <a:pPr marL="0" indent="0" algn="just">
              <a:spcBef>
                <a:spcPts val="1200"/>
              </a:spcBef>
              <a:buFontTx/>
              <a:buNone/>
              <a:defRPr/>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a) Mandatory One</a:t>
            </a:r>
          </a:p>
          <a:p>
            <a:pPr marL="0" indent="0" algn="just">
              <a:spcBef>
                <a:spcPts val="1200"/>
              </a:spcBef>
              <a:buFontTx/>
              <a:buNone/>
              <a:defRPr/>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(Min = 1, Max = 1)</a:t>
            </a:r>
          </a:p>
          <a:p>
            <a:pPr marL="0" indent="0" algn="just">
              <a:spcBef>
                <a:spcPts val="1200"/>
              </a:spcBef>
              <a:buFontTx/>
              <a:buNone/>
              <a:defRPr/>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b) Mandatory Many</a:t>
            </a:r>
          </a:p>
          <a:p>
            <a:pPr marL="0" indent="0" algn="just">
              <a:spcBef>
                <a:spcPts val="1200"/>
              </a:spcBef>
              <a:buFontTx/>
              <a:buNone/>
              <a:defRPr/>
            </a:pPr>
            <a:r>
              <a:rPr lang="en-US" altLang="en-US" sz="2400" dirty="0">
                <a:solidFill>
                  <a:srgbClr val="8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(Min = 1, Max = Many)</a:t>
            </a:r>
          </a:p>
          <a:p>
            <a:pPr marL="0" indent="0" algn="just">
              <a:spcBef>
                <a:spcPts val="1200"/>
              </a:spcBef>
              <a:buFontTx/>
              <a:buNone/>
              <a:defRPr/>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c) Optional One</a:t>
            </a:r>
          </a:p>
          <a:p>
            <a:pPr marL="0" indent="0" algn="just">
              <a:spcBef>
                <a:spcPts val="1200"/>
              </a:spcBef>
              <a:buFontTx/>
              <a:buNone/>
              <a:defRPr/>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(Min = 0, Max = 1)</a:t>
            </a:r>
          </a:p>
          <a:p>
            <a:pPr marL="0" indent="0" algn="just">
              <a:spcBef>
                <a:spcPts val="1200"/>
              </a:spcBef>
              <a:buFontTx/>
              <a:buNone/>
              <a:defRPr/>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d) Optional Many</a:t>
            </a:r>
          </a:p>
          <a:p>
            <a:pPr marL="0" indent="0" algn="just">
              <a:spcBef>
                <a:spcPts val="1200"/>
              </a:spcBef>
              <a:buFontTx/>
              <a:buNone/>
              <a:defRPr/>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(Min = 0, Max = Many)</a:t>
            </a:r>
          </a:p>
          <a:p>
            <a:pPr marL="231775" indent="-231775" algn="just">
              <a:defRPr/>
            </a:pPr>
            <a:endParaRPr lang="en-US" dirty="0">
              <a:solidFill>
                <a:srgbClr val="FFCC00"/>
              </a:solidFill>
              <a:latin typeface="Cambria" panose="02040503050406030204" pitchFamily="18" charset="0"/>
              <a:ea typeface="Cambria" panose="02040503050406030204" pitchFamily="18" charset="0"/>
              <a:cs typeface="Calibri" panose="020F0502020204030204" pitchFamily="34" charset="0"/>
            </a:endParaRPr>
          </a:p>
          <a:p>
            <a:pPr marL="609600" indent="-609600" algn="just">
              <a:buFontTx/>
              <a:buNone/>
              <a:defRPr/>
            </a:pPr>
            <a:endParaRPr lang="en-US" dirty="0">
              <a:solidFill>
                <a:srgbClr val="FFCC00"/>
              </a:solidFill>
              <a:latin typeface="Cambria" panose="02040503050406030204" pitchFamily="18" charset="0"/>
              <a:ea typeface="Cambria" panose="02040503050406030204" pitchFamily="18" charset="0"/>
              <a:cs typeface="Calibri" panose="020F0502020204030204" pitchFamily="34" charset="0"/>
            </a:endParaRPr>
          </a:p>
        </p:txBody>
      </p:sp>
      <p:pic>
        <p:nvPicPr>
          <p:cNvPr id="6" name="Picture 3" descr="part_c">
            <a:extLst>
              <a:ext uri="{FF2B5EF4-FFF2-40B4-BE49-F238E27FC236}">
                <a16:creationId xmlns:a16="http://schemas.microsoft.com/office/drawing/2014/main" id="{2A334F1E-2192-5915-5DD9-E7227A488D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1484784"/>
            <a:ext cx="5400600" cy="4161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2">
            <a:extLst>
              <a:ext uri="{FF2B5EF4-FFF2-40B4-BE49-F238E27FC236}">
                <a16:creationId xmlns:a16="http://schemas.microsoft.com/office/drawing/2014/main" id="{8CCB8268-D02B-8649-4AC8-1F4F912A94F9}"/>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82DD5A02-A698-8EE9-1390-509F7D5B00AC}"/>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75502229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FD660-411A-C921-E913-35B75675D248}"/>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E2B3D043-1F56-1740-AF1C-67133E78765F}"/>
              </a:ext>
            </a:extLst>
          </p:cNvPr>
          <p:cNvSpPr>
            <a:spLocks noGrp="1" noChangeArrowheads="1"/>
          </p:cNvSpPr>
          <p:nvPr>
            <p:ph type="title"/>
          </p:nvPr>
        </p:nvSpPr>
        <p:spPr>
          <a:xfrm>
            <a:off x="323850" y="188640"/>
            <a:ext cx="8568630" cy="533400"/>
          </a:xfrm>
        </p:spPr>
        <p:txBody>
          <a:bodyPr/>
          <a:lstStyle/>
          <a:p>
            <a:pPr eaLnBrk="1" hangingPunct="1">
              <a:spcBef>
                <a:spcPct val="50000"/>
              </a:spcBef>
            </a:pPr>
            <a:r>
              <a:rPr lang="en-US" altLang="en-US" sz="2800" b="1" u="sng" dirty="0">
                <a:solidFill>
                  <a:srgbClr val="D34817"/>
                </a:solidFill>
                <a:latin typeface="Calibri" panose="020F0502020204030204" pitchFamily="34" charset="0"/>
              </a:rPr>
              <a:t>Relationship Participation</a:t>
            </a:r>
          </a:p>
        </p:txBody>
      </p:sp>
      <p:pic>
        <p:nvPicPr>
          <p:cNvPr id="3" name="Picture 2">
            <a:extLst>
              <a:ext uri="{FF2B5EF4-FFF2-40B4-BE49-F238E27FC236}">
                <a16:creationId xmlns:a16="http://schemas.microsoft.com/office/drawing/2014/main" id="{AC985002-9E48-1AE4-E441-861F5B05B164}"/>
              </a:ext>
            </a:extLst>
          </p:cNvPr>
          <p:cNvPicPr>
            <a:picLocks noChangeAspect="1"/>
          </p:cNvPicPr>
          <p:nvPr/>
        </p:nvPicPr>
        <p:blipFill>
          <a:blip r:embed="rId2"/>
          <a:stretch>
            <a:fillRect/>
          </a:stretch>
        </p:blipFill>
        <p:spPr>
          <a:xfrm>
            <a:off x="154931" y="980728"/>
            <a:ext cx="8809557" cy="3427041"/>
          </a:xfrm>
          <a:prstGeom prst="rect">
            <a:avLst/>
          </a:prstGeom>
        </p:spPr>
      </p:pic>
      <p:sp>
        <p:nvSpPr>
          <p:cNvPr id="2" name="Footer Placeholder 2">
            <a:extLst>
              <a:ext uri="{FF2B5EF4-FFF2-40B4-BE49-F238E27FC236}">
                <a16:creationId xmlns:a16="http://schemas.microsoft.com/office/drawing/2014/main" id="{ADF48586-FB9A-3470-8946-47E3914C559A}"/>
              </a:ext>
            </a:extLst>
          </p:cNvPr>
          <p:cNvSpPr>
            <a:spLocks noGrp="1"/>
          </p:cNvSpPr>
          <p:nvPr>
            <p:ph type="ftr" sz="quarter" idx="11"/>
          </p:nvPr>
        </p:nvSpPr>
        <p:spPr>
          <a:xfrm>
            <a:off x="2555776" y="6356176"/>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7A02B03B-864C-F2F6-BD42-1D22C3792EBD}"/>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71929048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972B3-80BC-B5F2-A4AD-10D7E755C0BE}"/>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FD2F7148-E064-2B71-AE36-FB08FA3EB9A3}"/>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Sample ERD</a:t>
            </a:r>
          </a:p>
        </p:txBody>
      </p:sp>
      <p:sp>
        <p:nvSpPr>
          <p:cNvPr id="3" name="Footer Placeholder 2">
            <a:extLst>
              <a:ext uri="{FF2B5EF4-FFF2-40B4-BE49-F238E27FC236}">
                <a16:creationId xmlns:a16="http://schemas.microsoft.com/office/drawing/2014/main" id="{0CAE5F31-008A-A59B-1A74-86F1AC35E752}"/>
              </a:ext>
            </a:extLst>
          </p:cNvPr>
          <p:cNvSpPr>
            <a:spLocks noGrp="1"/>
          </p:cNvSpPr>
          <p:nvPr>
            <p:ph type="ftr" sz="quarter" idx="11"/>
          </p:nvPr>
        </p:nvSpPr>
        <p:spPr>
          <a:xfrm>
            <a:off x="2555776" y="6356176"/>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13F6A4C8-FBDC-928D-46F4-D966B5E05BBD}"/>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pic>
        <p:nvPicPr>
          <p:cNvPr id="5" name="Picture 3">
            <a:extLst>
              <a:ext uri="{FF2B5EF4-FFF2-40B4-BE49-F238E27FC236}">
                <a16:creationId xmlns:a16="http://schemas.microsoft.com/office/drawing/2014/main" id="{291ECE10-DDB2-4B95-C8DF-4655B9950CF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2588" y="908720"/>
            <a:ext cx="8328025" cy="501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353775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7136F-F7EA-D677-633A-472CABACC45E}"/>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C8E878CE-042C-9AC5-3027-3BB40FACD9AA}"/>
              </a:ext>
            </a:extLst>
          </p:cNvPr>
          <p:cNvSpPr>
            <a:spLocks noGrp="1" noChangeArrowheads="1"/>
          </p:cNvSpPr>
          <p:nvPr>
            <p:ph type="title"/>
          </p:nvPr>
        </p:nvSpPr>
        <p:spPr>
          <a:xfrm>
            <a:off x="395536" y="261466"/>
            <a:ext cx="504056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Sample ERD</a:t>
            </a:r>
          </a:p>
        </p:txBody>
      </p:sp>
      <p:sp>
        <p:nvSpPr>
          <p:cNvPr id="3" name="Footer Placeholder 2">
            <a:extLst>
              <a:ext uri="{FF2B5EF4-FFF2-40B4-BE49-F238E27FC236}">
                <a16:creationId xmlns:a16="http://schemas.microsoft.com/office/drawing/2014/main" id="{DD14A4A3-AA7A-E433-37A8-DBCF6E18AAE2}"/>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CB7ADC88-73DE-25F2-ED09-93B7D99D3BF4}"/>
              </a:ext>
            </a:extLst>
          </p:cNvPr>
          <p:cNvSpPr>
            <a:spLocks noGrp="1"/>
          </p:cNvSpPr>
          <p:nvPr>
            <p:ph type="sldNum" sz="quarter" idx="12"/>
          </p:nvPr>
        </p:nvSpPr>
        <p:spPr>
          <a:xfrm>
            <a:off x="8532440" y="621216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graphicFrame>
        <p:nvGraphicFramePr>
          <p:cNvPr id="4" name="Object 3">
            <a:extLst>
              <a:ext uri="{FF2B5EF4-FFF2-40B4-BE49-F238E27FC236}">
                <a16:creationId xmlns:a16="http://schemas.microsoft.com/office/drawing/2014/main" id="{C6CF5224-6022-8786-DD78-EFB87E66A1DA}"/>
              </a:ext>
            </a:extLst>
          </p:cNvPr>
          <p:cNvGraphicFramePr>
            <a:graphicFrameLocks noGrp="1" noChangeAspect="1"/>
          </p:cNvGraphicFramePr>
          <p:nvPr>
            <p:ph idx="1"/>
          </p:nvPr>
        </p:nvGraphicFramePr>
        <p:xfrm>
          <a:off x="683568" y="908844"/>
          <a:ext cx="7920037" cy="5040312"/>
        </p:xfrm>
        <a:graphic>
          <a:graphicData uri="http://schemas.openxmlformats.org/presentationml/2006/ole">
            <mc:AlternateContent xmlns:mc="http://schemas.openxmlformats.org/markup-compatibility/2006">
              <mc:Choice xmlns:v="urn:schemas-microsoft-com:vml" Requires="v">
                <p:oleObj name="VISIO" r:id="rId2" imgW="8599320" imgH="5690160" progId="Visio.Drawing.6">
                  <p:embed/>
                </p:oleObj>
              </mc:Choice>
              <mc:Fallback>
                <p:oleObj name="VISIO" r:id="rId2" imgW="8599320" imgH="5690160" progId="Visio.Drawing.6">
                  <p:embed/>
                  <p:pic>
                    <p:nvPicPr>
                      <p:cNvPr id="4" name="Object 3">
                        <a:extLst>
                          <a:ext uri="{FF2B5EF4-FFF2-40B4-BE49-F238E27FC236}">
                            <a16:creationId xmlns:a16="http://schemas.microsoft.com/office/drawing/2014/main" id="{C6CF5224-6022-8786-DD78-EFB87E66A1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908844"/>
                        <a:ext cx="7920037"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052053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CE131-ABDD-A797-1325-3A8CD8B19D6C}"/>
            </a:ext>
          </a:extLst>
        </p:cNvPr>
        <p:cNvGrpSpPr/>
        <p:nvPr/>
      </p:nvGrpSpPr>
      <p:grpSpPr>
        <a:xfrm>
          <a:off x="0" y="0"/>
          <a:ext cx="0" cy="0"/>
          <a:chOff x="0" y="0"/>
          <a:chExt cx="0" cy="0"/>
        </a:xfrm>
      </p:grpSpPr>
      <p:pic>
        <p:nvPicPr>
          <p:cNvPr id="24578" name="Picture 3" descr="C:\My Documents\Course Tech\Artwork\FINAL BMPS CH 04\fig 04-64.jpg">
            <a:extLst>
              <a:ext uri="{FF2B5EF4-FFF2-40B4-BE49-F238E27FC236}">
                <a16:creationId xmlns:a16="http://schemas.microsoft.com/office/drawing/2014/main" id="{BA7678F4-08D3-D376-E5E0-6548BB52A5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205" y="737211"/>
            <a:ext cx="7589366" cy="5560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30B753AD-808A-6C1B-9678-D6D574CFB51F}"/>
              </a:ext>
            </a:extLst>
          </p:cNvPr>
          <p:cNvSpPr>
            <a:spLocks noGrp="1" noChangeArrowheads="1"/>
          </p:cNvSpPr>
          <p:nvPr>
            <p:ph type="title"/>
          </p:nvPr>
        </p:nvSpPr>
        <p:spPr>
          <a:xfrm>
            <a:off x="539552" y="188640"/>
            <a:ext cx="3528392" cy="503238"/>
          </a:xfrm>
        </p:spPr>
        <p:txBody>
          <a:bodyPr/>
          <a:lstStyle/>
          <a:p>
            <a:pPr algn="l"/>
            <a:r>
              <a:rPr lang="en-US" altLang="en-US" sz="2800" b="1" u="sng" dirty="0">
                <a:solidFill>
                  <a:srgbClr val="D34817"/>
                </a:solidFill>
                <a:latin typeface="Cambria" panose="02040503050406030204" pitchFamily="18" charset="0"/>
                <a:ea typeface="Cambria" panose="02040503050406030204" pitchFamily="18" charset="0"/>
              </a:rPr>
              <a:t>Sample ERD</a:t>
            </a:r>
          </a:p>
        </p:txBody>
      </p:sp>
      <p:sp>
        <p:nvSpPr>
          <p:cNvPr id="3" name="Footer Placeholder 2">
            <a:extLst>
              <a:ext uri="{FF2B5EF4-FFF2-40B4-BE49-F238E27FC236}">
                <a16:creationId xmlns:a16="http://schemas.microsoft.com/office/drawing/2014/main" id="{771F2F98-7D96-B938-C3AA-4DF9E2DD2561}"/>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B24D15E9-830C-DE1D-5D2A-CB2629B683AC}"/>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629677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FCFF3-47F0-FF93-75B4-3AF3A9C01944}"/>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7B55F911-B38B-E7DE-94F2-7C1E2FDF1300}"/>
              </a:ext>
            </a:extLst>
          </p:cNvPr>
          <p:cNvSpPr>
            <a:spLocks noGrp="1" noChangeArrowheads="1"/>
          </p:cNvSpPr>
          <p:nvPr>
            <p:ph type="title"/>
          </p:nvPr>
        </p:nvSpPr>
        <p:spPr>
          <a:xfrm>
            <a:off x="323850" y="188640"/>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Roles in a Relationship</a:t>
            </a:r>
          </a:p>
        </p:txBody>
      </p:sp>
      <p:sp>
        <p:nvSpPr>
          <p:cNvPr id="24579" name="Rectangle 3">
            <a:extLst>
              <a:ext uri="{FF2B5EF4-FFF2-40B4-BE49-F238E27FC236}">
                <a16:creationId xmlns:a16="http://schemas.microsoft.com/office/drawing/2014/main" id="{4BF9888A-0C93-6968-0991-333B736A34C0}"/>
              </a:ext>
            </a:extLst>
          </p:cNvPr>
          <p:cNvSpPr>
            <a:spLocks noGrp="1" noChangeArrowheads="1"/>
          </p:cNvSpPr>
          <p:nvPr>
            <p:ph type="body" idx="1"/>
          </p:nvPr>
        </p:nvSpPr>
        <p:spPr>
          <a:xfrm>
            <a:off x="354013" y="692150"/>
            <a:ext cx="8466137" cy="4343400"/>
          </a:xfrm>
        </p:spPr>
        <p:txBody>
          <a:bodyPr/>
          <a:lstStyle/>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way an entity is involved in a relationship is called the role of the entity in the relationship. These details provide more semantics of the database. </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role is generally clear from the relationship, but in some cases, it is necessary to mention the role explicitly.</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Two situations to mention the role explicitly are: </a:t>
            </a:r>
          </a:p>
          <a:p>
            <a:pPr marL="731838" lvl="1" indent="-457200" algn="just" eaLnBrk="1" hangingPunct="1">
              <a:spcBef>
                <a:spcPts val="0"/>
              </a:spcBef>
              <a:spcAft>
                <a:spcPts val="300"/>
              </a:spcAft>
              <a:buFont typeface="+mj-lt"/>
              <a:buAutoNum type="alphaLcParenR"/>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Recursive or Self-Referencing Relationships</a:t>
            </a:r>
          </a:p>
          <a:p>
            <a:pPr marL="731838" lvl="1" indent="-457200" algn="just" eaLnBrk="1" hangingPunct="1">
              <a:spcBef>
                <a:spcPts val="0"/>
              </a:spcBef>
              <a:spcAft>
                <a:spcPts val="300"/>
              </a:spcAft>
              <a:buFont typeface="+mj-lt"/>
              <a:buAutoNum type="alphaLcParenR"/>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Multiple Relationships</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There exists multiple relationships between the same pair of entities. </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34E24D4E-AAE8-E42C-367F-D8E4FC4425EC}"/>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B201CCF3-B9BF-9973-E6FD-DF548AE72BDC}"/>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06765169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60957-5770-933D-BF02-B6706B9FD91C}"/>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F27E8A65-BAE2-8E75-A072-39AE210AC969}"/>
              </a:ext>
            </a:extLst>
          </p:cNvPr>
          <p:cNvSpPr>
            <a:spLocks noGrp="1" noChangeArrowheads="1"/>
          </p:cNvSpPr>
          <p:nvPr>
            <p:ph type="title"/>
          </p:nvPr>
        </p:nvSpPr>
        <p:spPr>
          <a:xfrm>
            <a:off x="323850" y="188640"/>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Roles in a Relationship</a:t>
            </a:r>
          </a:p>
        </p:txBody>
      </p:sp>
      <p:sp>
        <p:nvSpPr>
          <p:cNvPr id="3" name="Footer Placeholder 2">
            <a:extLst>
              <a:ext uri="{FF2B5EF4-FFF2-40B4-BE49-F238E27FC236}">
                <a16:creationId xmlns:a16="http://schemas.microsoft.com/office/drawing/2014/main" id="{AC995A9A-A549-CB4D-9781-B1E7F743CCA3}"/>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25DC8930-9A0A-FB41-BBB1-503CF13AAED8}"/>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5" name="Picture 5">
            <a:extLst>
              <a:ext uri="{FF2B5EF4-FFF2-40B4-BE49-F238E27FC236}">
                <a16:creationId xmlns:a16="http://schemas.microsoft.com/office/drawing/2014/main" id="{2D47EC58-8DA6-B632-C579-B2160ECE57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903" y="1196752"/>
            <a:ext cx="8466137"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7426007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9A581-790E-8613-5B1D-D3BC78404909}"/>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B20D06EC-2E1F-9631-73D4-90E634FAF35D}"/>
              </a:ext>
            </a:extLst>
          </p:cNvPr>
          <p:cNvSpPr>
            <a:spLocks noGrp="1" noChangeArrowheads="1"/>
          </p:cNvSpPr>
          <p:nvPr>
            <p:ph type="title"/>
          </p:nvPr>
        </p:nvSpPr>
        <p:spPr>
          <a:xfrm>
            <a:off x="323850" y="188640"/>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Attribute(s) of a Relationship</a:t>
            </a:r>
          </a:p>
        </p:txBody>
      </p:sp>
      <p:sp>
        <p:nvSpPr>
          <p:cNvPr id="24579" name="Rectangle 3">
            <a:extLst>
              <a:ext uri="{FF2B5EF4-FFF2-40B4-BE49-F238E27FC236}">
                <a16:creationId xmlns:a16="http://schemas.microsoft.com/office/drawing/2014/main" id="{41E94193-51E4-30DF-BECC-AB406F8BEA2F}"/>
              </a:ext>
            </a:extLst>
          </p:cNvPr>
          <p:cNvSpPr>
            <a:spLocks noGrp="1" noChangeArrowheads="1"/>
          </p:cNvSpPr>
          <p:nvPr>
            <p:ph type="body" idx="1"/>
          </p:nvPr>
        </p:nvSpPr>
        <p:spPr>
          <a:xfrm>
            <a:off x="354013" y="692150"/>
            <a:ext cx="8466137" cy="4343400"/>
          </a:xfrm>
        </p:spPr>
        <p:txBody>
          <a:bodyPr/>
          <a:lstStyle/>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Along with entities of an ERD, a relationship can also have its attribute(s) called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descriptive attribute(s).</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value of an attribute of a relationship is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jointly determined by the participants.</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6ED212B2-1A7D-F2A5-700F-F6FB479C05CA}"/>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43883350-4D35-348F-E5E7-094D0DBF9CE6}"/>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2" name="Picture 1">
            <a:extLst>
              <a:ext uri="{FF2B5EF4-FFF2-40B4-BE49-F238E27FC236}">
                <a16:creationId xmlns:a16="http://schemas.microsoft.com/office/drawing/2014/main" id="{4489CD32-90AE-20BD-6C18-C0576CF11987}"/>
              </a:ext>
            </a:extLst>
          </p:cNvPr>
          <p:cNvPicPr>
            <a:picLocks noChangeAspect="1"/>
          </p:cNvPicPr>
          <p:nvPr/>
        </p:nvPicPr>
        <p:blipFill>
          <a:blip r:embed="rId2"/>
          <a:stretch>
            <a:fillRect/>
          </a:stretch>
        </p:blipFill>
        <p:spPr>
          <a:xfrm>
            <a:off x="479764" y="4026768"/>
            <a:ext cx="8304396" cy="1303185"/>
          </a:xfrm>
          <a:prstGeom prst="rect">
            <a:avLst/>
          </a:prstGeom>
        </p:spPr>
      </p:pic>
      <p:sp>
        <p:nvSpPr>
          <p:cNvPr id="5" name="Oval 20">
            <a:extLst>
              <a:ext uri="{FF2B5EF4-FFF2-40B4-BE49-F238E27FC236}">
                <a16:creationId xmlns:a16="http://schemas.microsoft.com/office/drawing/2014/main" id="{E5514612-9337-52D1-FBE6-FEA3CD76EEA0}"/>
              </a:ext>
            </a:extLst>
          </p:cNvPr>
          <p:cNvSpPr>
            <a:spLocks noChangeArrowheads="1"/>
          </p:cNvSpPr>
          <p:nvPr/>
        </p:nvSpPr>
        <p:spPr bwMode="auto">
          <a:xfrm>
            <a:off x="3518483" y="2514600"/>
            <a:ext cx="1905000" cy="914400"/>
          </a:xfrm>
          <a:prstGeom prst="ellipse">
            <a:avLst/>
          </a:prstGeom>
          <a:solidFill>
            <a:srgbClr val="3399FF"/>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dirty="0"/>
              <a:t>Grade</a:t>
            </a:r>
          </a:p>
        </p:txBody>
      </p:sp>
      <p:cxnSp>
        <p:nvCxnSpPr>
          <p:cNvPr id="6" name="AutoShape 23">
            <a:extLst>
              <a:ext uri="{FF2B5EF4-FFF2-40B4-BE49-F238E27FC236}">
                <a16:creationId xmlns:a16="http://schemas.microsoft.com/office/drawing/2014/main" id="{A974EFD4-1D62-3B05-505B-4335A957A2EF}"/>
              </a:ext>
            </a:extLst>
          </p:cNvPr>
          <p:cNvCxnSpPr>
            <a:cxnSpLocks noChangeShapeType="1"/>
            <a:stCxn id="5" idx="4"/>
          </p:cNvCxnSpPr>
          <p:nvPr/>
        </p:nvCxnSpPr>
        <p:spPr bwMode="auto">
          <a:xfrm>
            <a:off x="4470983" y="3429000"/>
            <a:ext cx="0" cy="6096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31544563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E2B4D-5C8B-5474-6082-8DE64574DC8C}"/>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D58B0126-FBDE-7440-039F-2507FBCFB600}"/>
              </a:ext>
            </a:extLst>
          </p:cNvPr>
          <p:cNvSpPr>
            <a:spLocks noGrp="1" noChangeArrowheads="1"/>
          </p:cNvSpPr>
          <p:nvPr>
            <p:ph type="title"/>
          </p:nvPr>
        </p:nvSpPr>
        <p:spPr>
          <a:xfrm>
            <a:off x="323850" y="332656"/>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Existence Dependency (Weak Entity)</a:t>
            </a:r>
          </a:p>
        </p:txBody>
      </p:sp>
      <p:sp>
        <p:nvSpPr>
          <p:cNvPr id="24579" name="Rectangle 3">
            <a:extLst>
              <a:ext uri="{FF2B5EF4-FFF2-40B4-BE49-F238E27FC236}">
                <a16:creationId xmlns:a16="http://schemas.microsoft.com/office/drawing/2014/main" id="{CF91E068-CA4D-C86A-AE13-DEF7E411F5A5}"/>
              </a:ext>
            </a:extLst>
          </p:cNvPr>
          <p:cNvSpPr>
            <a:spLocks noGrp="1" noChangeArrowheads="1"/>
          </p:cNvSpPr>
          <p:nvPr>
            <p:ph type="body" idx="1"/>
          </p:nvPr>
        </p:nvSpPr>
        <p:spPr>
          <a:xfrm>
            <a:off x="354013" y="836712"/>
            <a:ext cx="8466137" cy="4343400"/>
          </a:xfrm>
        </p:spPr>
        <p:txBody>
          <a:bodyPr/>
          <a:lstStyle/>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An instance of one entity can’t exist without the existence of some other related entity. </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An entity having an existence dependency is referred as </a:t>
            </a:r>
            <a:r>
              <a:rPr lang="en-US" sz="2400" dirty="0">
                <a:solidFill>
                  <a:schemeClr val="accent6"/>
                </a:solidFill>
                <a:latin typeface="Cambria" panose="02040503050406030204" pitchFamily="18" charset="0"/>
                <a:ea typeface="Cambria" panose="02040503050406030204" pitchFamily="18" charset="0"/>
                <a:cs typeface="Calibri" panose="020F0502020204030204" pitchFamily="34" charset="0"/>
              </a:rPr>
              <a:t>Weak Entity</a:t>
            </a:r>
            <a:r>
              <a:rPr lang="en-US" sz="2400" dirty="0">
                <a:latin typeface="Cambria" panose="02040503050406030204" pitchFamily="18" charset="0"/>
                <a:ea typeface="Cambria" panose="02040503050406030204" pitchFamily="18" charset="0"/>
                <a:cs typeface="Calibri" panose="020F0502020204030204" pitchFamily="34" charset="0"/>
              </a:rPr>
              <a:t> (also called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child, dependent, or subordinate</a:t>
            </a:r>
            <a:r>
              <a:rPr lang="en-US" sz="2400" dirty="0">
                <a:latin typeface="Cambria" panose="02040503050406030204" pitchFamily="18" charset="0"/>
                <a:ea typeface="Cambria" panose="02040503050406030204" pitchFamily="18" charset="0"/>
                <a:cs typeface="Calibri" panose="020F0502020204030204" pitchFamily="34" charset="0"/>
              </a:rPr>
              <a:t> entity) and it may optionally be represented  by double rectangle.</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An entity without an existence dependency is referred as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Strong Entity</a:t>
            </a:r>
            <a:r>
              <a:rPr lang="en-US" sz="2400" dirty="0">
                <a:solidFill>
                  <a:schemeClr val="accent6"/>
                </a:solidFill>
                <a:latin typeface="Cambria" panose="02040503050406030204" pitchFamily="18" charset="0"/>
                <a:ea typeface="Cambria" panose="02040503050406030204" pitchFamily="18" charset="0"/>
                <a:cs typeface="Calibri" panose="020F0502020204030204" pitchFamily="34" charset="0"/>
              </a:rPr>
              <a:t> </a:t>
            </a:r>
            <a:r>
              <a:rPr lang="en-US" sz="2400" dirty="0">
                <a:latin typeface="Cambria" panose="02040503050406030204" pitchFamily="18" charset="0"/>
                <a:ea typeface="Cambria" panose="02040503050406030204" pitchFamily="18" charset="0"/>
                <a:cs typeface="Calibri" panose="020F0502020204030204" pitchFamily="34" charset="0"/>
              </a:rPr>
              <a:t>(also called</a:t>
            </a:r>
            <a:r>
              <a:rPr lang="en-US" sz="2400" dirty="0">
                <a:solidFill>
                  <a:schemeClr val="accent6"/>
                </a:solidFill>
                <a:latin typeface="Cambria" panose="02040503050406030204" pitchFamily="18" charset="0"/>
                <a:ea typeface="Cambria" panose="02040503050406030204" pitchFamily="18" charset="0"/>
                <a:cs typeface="Calibri" panose="020F0502020204030204" pitchFamily="34" charset="0"/>
              </a:rPr>
              <a:t>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parent, owner, regular, or dominant entity).</a:t>
            </a:r>
            <a:r>
              <a:rPr lang="en-US" sz="2400" dirty="0">
                <a:latin typeface="Cambria" panose="02040503050406030204" pitchFamily="18" charset="0"/>
                <a:ea typeface="Cambria" panose="02040503050406030204" pitchFamily="18" charset="0"/>
                <a:cs typeface="Calibri" panose="020F0502020204030204" pitchFamily="34" charset="0"/>
              </a:rPr>
              <a:t> </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8EDDE491-C98C-D585-2804-FBCF0E64C0E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05E5BBD3-477A-4EF4-08BB-94450E56A6EC}"/>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0" name="Rectangle 11">
            <a:extLst>
              <a:ext uri="{FF2B5EF4-FFF2-40B4-BE49-F238E27FC236}">
                <a16:creationId xmlns:a16="http://schemas.microsoft.com/office/drawing/2014/main" id="{9E038634-E39D-6520-E3AB-4119F5E0EFAF}"/>
              </a:ext>
            </a:extLst>
          </p:cNvPr>
          <p:cNvSpPr>
            <a:spLocks noChangeArrowheads="1"/>
          </p:cNvSpPr>
          <p:nvPr/>
        </p:nvSpPr>
        <p:spPr bwMode="auto">
          <a:xfrm>
            <a:off x="6984178" y="128146"/>
            <a:ext cx="1620269" cy="698500"/>
          </a:xfrm>
          <a:prstGeom prst="rect">
            <a:avLst/>
          </a:prstGeom>
          <a:solidFill>
            <a:srgbClr val="99CCFF"/>
          </a:solidFill>
          <a:ln w="12700">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a:solidFill>
                  <a:schemeClr val="bg2"/>
                </a:solidFill>
                <a:latin typeface="Times New Roman" panose="02020603050405020304" pitchFamily="18" charset="0"/>
              </a:rPr>
              <a:t>Strong</a:t>
            </a:r>
          </a:p>
        </p:txBody>
      </p:sp>
      <p:sp>
        <p:nvSpPr>
          <p:cNvPr id="11" name="Rectangle 12">
            <a:extLst>
              <a:ext uri="{FF2B5EF4-FFF2-40B4-BE49-F238E27FC236}">
                <a16:creationId xmlns:a16="http://schemas.microsoft.com/office/drawing/2014/main" id="{3D68B126-E740-880F-6C67-A5C3DC0AE7CF}"/>
              </a:ext>
            </a:extLst>
          </p:cNvPr>
          <p:cNvSpPr>
            <a:spLocks noChangeArrowheads="1"/>
          </p:cNvSpPr>
          <p:nvPr/>
        </p:nvSpPr>
        <p:spPr bwMode="auto">
          <a:xfrm>
            <a:off x="7104531" y="250408"/>
            <a:ext cx="1371600" cy="457200"/>
          </a:xfrm>
          <a:prstGeom prst="rect">
            <a:avLst/>
          </a:prstGeom>
          <a:solidFill>
            <a:schemeClr val="accent1">
              <a:lumMod val="60000"/>
              <a:lumOff val="40000"/>
            </a:schemeClr>
          </a:solidFill>
          <a:ln w="12700">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000" dirty="0">
                <a:latin typeface="Cambria" panose="02040503050406030204" pitchFamily="18" charset="0"/>
                <a:ea typeface="Cambria" panose="02040503050406030204" pitchFamily="18" charset="0"/>
              </a:rPr>
              <a:t>Weak Entity</a:t>
            </a:r>
          </a:p>
        </p:txBody>
      </p:sp>
    </p:spTree>
    <p:extLst>
      <p:ext uri="{BB962C8B-B14F-4D97-AF65-F5344CB8AC3E}">
        <p14:creationId xmlns:p14="http://schemas.microsoft.com/office/powerpoint/2010/main" val="61933441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62405-318A-0F92-60C0-F88D3C0FECA7}"/>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284CCA14-C84A-FE15-ECBB-8C04F8AF5997}"/>
              </a:ext>
            </a:extLst>
          </p:cNvPr>
          <p:cNvSpPr>
            <a:spLocks noGrp="1" noChangeArrowheads="1"/>
          </p:cNvSpPr>
          <p:nvPr>
            <p:ph type="title"/>
          </p:nvPr>
        </p:nvSpPr>
        <p:spPr>
          <a:xfrm>
            <a:off x="323850" y="332656"/>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Relationship Strength</a:t>
            </a:r>
          </a:p>
        </p:txBody>
      </p:sp>
      <p:sp>
        <p:nvSpPr>
          <p:cNvPr id="24579" name="Rectangle 3">
            <a:extLst>
              <a:ext uri="{FF2B5EF4-FFF2-40B4-BE49-F238E27FC236}">
                <a16:creationId xmlns:a16="http://schemas.microsoft.com/office/drawing/2014/main" id="{BA0B24F3-4548-C0E2-0801-F0188E4D56F8}"/>
              </a:ext>
            </a:extLst>
          </p:cNvPr>
          <p:cNvSpPr>
            <a:spLocks noGrp="1" noChangeArrowheads="1"/>
          </p:cNvSpPr>
          <p:nvPr>
            <p:ph type="body" idx="1"/>
          </p:nvPr>
        </p:nvSpPr>
        <p:spPr>
          <a:xfrm>
            <a:off x="354013" y="836712"/>
            <a:ext cx="8466137" cy="4343400"/>
          </a:xfrm>
        </p:spPr>
        <p:txBody>
          <a:bodyPr/>
          <a:lstStyle/>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a) Strong or Identifying Relationships</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Weak entities often don’t have its own primary key, and it is unique only in reference to its relationship to its owner.</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However, a weak entity has a partial key, also called a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discriminator</a:t>
            </a:r>
            <a:r>
              <a:rPr lang="en-US" sz="2400" dirty="0">
                <a:latin typeface="Cambria" panose="02040503050406030204" pitchFamily="18" charset="0"/>
                <a:ea typeface="Cambria" panose="02040503050406030204" pitchFamily="18" charset="0"/>
                <a:cs typeface="Calibri" panose="020F0502020204030204" pitchFamily="34" charset="0"/>
              </a:rPr>
              <a:t> and the PK of the parent entity is used as part of the PK of the weak (child) entity. </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9BA2CE56-4FC1-15C2-4349-F0F4DF9A4CB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844F0F73-C331-96D8-1606-FBA69F65CE6E}"/>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2" name="Picture 1">
            <a:extLst>
              <a:ext uri="{FF2B5EF4-FFF2-40B4-BE49-F238E27FC236}">
                <a16:creationId xmlns:a16="http://schemas.microsoft.com/office/drawing/2014/main" id="{FD9445A9-E968-0B7B-8D64-F340C1E58A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6713" y="3212976"/>
            <a:ext cx="8410575" cy="294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8">
            <a:extLst>
              <a:ext uri="{FF2B5EF4-FFF2-40B4-BE49-F238E27FC236}">
                <a16:creationId xmlns:a16="http://schemas.microsoft.com/office/drawing/2014/main" id="{E6F79713-CF6F-1FC0-91EC-818F39C71E56}"/>
              </a:ext>
            </a:extLst>
          </p:cNvPr>
          <p:cNvSpPr>
            <a:spLocks noChangeArrowheads="1"/>
          </p:cNvSpPr>
          <p:nvPr/>
        </p:nvSpPr>
        <p:spPr bwMode="auto">
          <a:xfrm>
            <a:off x="6804248" y="137319"/>
            <a:ext cx="1295400" cy="1109662"/>
          </a:xfrm>
          <a:prstGeom prst="diamond">
            <a:avLst/>
          </a:prstGeom>
          <a:solidFill>
            <a:srgbClr val="00B0F0"/>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 name="AutoShape 9">
            <a:extLst>
              <a:ext uri="{FF2B5EF4-FFF2-40B4-BE49-F238E27FC236}">
                <a16:creationId xmlns:a16="http://schemas.microsoft.com/office/drawing/2014/main" id="{0F10918B-28FF-C3A5-000B-6D5A496DC71A}"/>
              </a:ext>
            </a:extLst>
          </p:cNvPr>
          <p:cNvSpPr>
            <a:spLocks noChangeArrowheads="1"/>
          </p:cNvSpPr>
          <p:nvPr/>
        </p:nvSpPr>
        <p:spPr bwMode="auto">
          <a:xfrm>
            <a:off x="6915373" y="234156"/>
            <a:ext cx="1066800" cy="914400"/>
          </a:xfrm>
          <a:prstGeom prst="diamond">
            <a:avLst/>
          </a:prstGeom>
          <a:solidFill>
            <a:srgbClr val="FFFF00"/>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endParaRPr lang="en-US" altLang="en-US" sz="1800" dirty="0"/>
          </a:p>
        </p:txBody>
      </p:sp>
    </p:spTree>
    <p:extLst>
      <p:ext uri="{BB962C8B-B14F-4D97-AF65-F5344CB8AC3E}">
        <p14:creationId xmlns:p14="http://schemas.microsoft.com/office/powerpoint/2010/main" val="275152613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E5753-0A74-7977-6E1E-AE8F38234CE7}"/>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67178D34-7B1D-65E7-49EA-EE4EB8BB530C}"/>
              </a:ext>
            </a:extLst>
          </p:cNvPr>
          <p:cNvSpPr>
            <a:spLocks noGrp="1" noChangeArrowheads="1"/>
          </p:cNvSpPr>
          <p:nvPr>
            <p:ph type="title"/>
          </p:nvPr>
        </p:nvSpPr>
        <p:spPr>
          <a:xfrm>
            <a:off x="323850" y="332656"/>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Relationship Strength</a:t>
            </a:r>
          </a:p>
        </p:txBody>
      </p:sp>
      <p:sp>
        <p:nvSpPr>
          <p:cNvPr id="24579" name="Rectangle 3">
            <a:extLst>
              <a:ext uri="{FF2B5EF4-FFF2-40B4-BE49-F238E27FC236}">
                <a16:creationId xmlns:a16="http://schemas.microsoft.com/office/drawing/2014/main" id="{D92ADFCC-2BC2-A41A-D1F5-DF9B1CB12E7E}"/>
              </a:ext>
            </a:extLst>
          </p:cNvPr>
          <p:cNvSpPr>
            <a:spLocks noGrp="1" noChangeArrowheads="1"/>
          </p:cNvSpPr>
          <p:nvPr>
            <p:ph type="body" idx="1"/>
          </p:nvPr>
        </p:nvSpPr>
        <p:spPr>
          <a:xfrm>
            <a:off x="354013" y="836712"/>
            <a:ext cx="8466137" cy="4343400"/>
          </a:xfrm>
        </p:spPr>
        <p:txBody>
          <a:bodyPr/>
          <a:lstStyle/>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b) Weak or Non-Identifying Relationships</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It is a relationship between two regular entities, where primary keys of the related entities are disjoint. </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6D33C7CA-CB42-9F08-119F-356BE1DB9548}"/>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F09A9A67-CA9B-F6F7-3F8A-B42EE9FD28F3}"/>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7" name="Picture 1">
            <a:extLst>
              <a:ext uri="{FF2B5EF4-FFF2-40B4-BE49-F238E27FC236}">
                <a16:creationId xmlns:a16="http://schemas.microsoft.com/office/drawing/2014/main" id="{568A5C67-42A4-8D5E-B1D4-4191BE256E3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9575" y="2145828"/>
            <a:ext cx="8410575" cy="322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814785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0B27F-9B89-8CDA-D6DB-BCCB1CB9A952}"/>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2F11EC57-FAF7-203F-D40A-5797CD028C96}"/>
              </a:ext>
            </a:extLst>
          </p:cNvPr>
          <p:cNvSpPr>
            <a:spLocks noGrp="1" noChangeArrowheads="1"/>
          </p:cNvSpPr>
          <p:nvPr>
            <p:ph type="title"/>
          </p:nvPr>
        </p:nvSpPr>
        <p:spPr>
          <a:xfrm>
            <a:off x="323528" y="188640"/>
            <a:ext cx="6466857"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Weak Entity, Identifying Relationship</a:t>
            </a:r>
          </a:p>
        </p:txBody>
      </p:sp>
      <p:sp>
        <p:nvSpPr>
          <p:cNvPr id="2" name="Rectangle 3">
            <a:extLst>
              <a:ext uri="{FF2B5EF4-FFF2-40B4-BE49-F238E27FC236}">
                <a16:creationId xmlns:a16="http://schemas.microsoft.com/office/drawing/2014/main" id="{79AF3B07-A69F-E417-89BD-CC0EE29427E4}"/>
              </a:ext>
            </a:extLst>
          </p:cNvPr>
          <p:cNvSpPr>
            <a:spLocks noChangeArrowheads="1"/>
          </p:cNvSpPr>
          <p:nvPr/>
        </p:nvSpPr>
        <p:spPr bwMode="auto">
          <a:xfrm>
            <a:off x="582488" y="2200151"/>
            <a:ext cx="1828800" cy="838200"/>
          </a:xfrm>
          <a:prstGeom prst="rect">
            <a:avLst/>
          </a:prstGeom>
          <a:solidFill>
            <a:srgbClr val="00B0F0"/>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EMPLOYEE</a:t>
            </a:r>
          </a:p>
        </p:txBody>
      </p:sp>
      <p:grpSp>
        <p:nvGrpSpPr>
          <p:cNvPr id="3" name="Group 4">
            <a:extLst>
              <a:ext uri="{FF2B5EF4-FFF2-40B4-BE49-F238E27FC236}">
                <a16:creationId xmlns:a16="http://schemas.microsoft.com/office/drawing/2014/main" id="{5F45DCC4-2FCE-32E0-7CFD-88045AEBBBA1}"/>
              </a:ext>
            </a:extLst>
          </p:cNvPr>
          <p:cNvGrpSpPr>
            <a:grpSpLocks/>
          </p:cNvGrpSpPr>
          <p:nvPr/>
        </p:nvGrpSpPr>
        <p:grpSpPr bwMode="auto">
          <a:xfrm>
            <a:off x="6145088" y="2181101"/>
            <a:ext cx="1905000" cy="933450"/>
            <a:chOff x="3360" y="3492"/>
            <a:chExt cx="1200" cy="588"/>
          </a:xfrm>
          <a:solidFill>
            <a:schemeClr val="bg1">
              <a:lumMod val="65000"/>
            </a:schemeClr>
          </a:solidFill>
        </p:grpSpPr>
        <p:sp>
          <p:nvSpPr>
            <p:cNvPr id="6" name="Rectangle 5">
              <a:extLst>
                <a:ext uri="{FF2B5EF4-FFF2-40B4-BE49-F238E27FC236}">
                  <a16:creationId xmlns:a16="http://schemas.microsoft.com/office/drawing/2014/main" id="{8E9BC036-B5CB-BC08-D7FB-4D3F09C228A3}"/>
                </a:ext>
              </a:extLst>
            </p:cNvPr>
            <p:cNvSpPr>
              <a:spLocks noChangeArrowheads="1"/>
            </p:cNvSpPr>
            <p:nvPr/>
          </p:nvSpPr>
          <p:spPr bwMode="auto">
            <a:xfrm>
              <a:off x="3360" y="3492"/>
              <a:ext cx="1200" cy="588"/>
            </a:xfrm>
            <a:prstGeom prst="rect">
              <a:avLst/>
            </a:prstGeom>
            <a:grp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ENTITY</a:t>
              </a:r>
            </a:p>
          </p:txBody>
        </p:sp>
        <p:sp>
          <p:nvSpPr>
            <p:cNvPr id="7" name="Rectangle 6">
              <a:extLst>
                <a:ext uri="{FF2B5EF4-FFF2-40B4-BE49-F238E27FC236}">
                  <a16:creationId xmlns:a16="http://schemas.microsoft.com/office/drawing/2014/main" id="{0DE3DCD2-BDC5-51B2-E71B-904F0696E535}"/>
                </a:ext>
              </a:extLst>
            </p:cNvPr>
            <p:cNvSpPr>
              <a:spLocks noChangeArrowheads="1"/>
            </p:cNvSpPr>
            <p:nvPr/>
          </p:nvSpPr>
          <p:spPr bwMode="auto">
            <a:xfrm>
              <a:off x="3408" y="3539"/>
              <a:ext cx="1104" cy="480"/>
            </a:xfrm>
            <a:prstGeom prst="rect">
              <a:avLst/>
            </a:prstGeom>
            <a:grp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dirty="0"/>
                <a:t>DEPENDENT</a:t>
              </a:r>
            </a:p>
          </p:txBody>
        </p:sp>
      </p:grpSp>
      <p:cxnSp>
        <p:nvCxnSpPr>
          <p:cNvPr id="8" name="AutoShape 7">
            <a:extLst>
              <a:ext uri="{FF2B5EF4-FFF2-40B4-BE49-F238E27FC236}">
                <a16:creationId xmlns:a16="http://schemas.microsoft.com/office/drawing/2014/main" id="{810C1F14-8B03-E575-4B91-BB5DF5801C90}"/>
              </a:ext>
            </a:extLst>
          </p:cNvPr>
          <p:cNvCxnSpPr>
            <a:cxnSpLocks noChangeShapeType="1"/>
            <a:stCxn id="2" idx="3"/>
            <a:endCxn id="7" idx="1"/>
          </p:cNvCxnSpPr>
          <p:nvPr/>
        </p:nvCxnSpPr>
        <p:spPr bwMode="auto">
          <a:xfrm>
            <a:off x="2411288" y="2619251"/>
            <a:ext cx="3810000" cy="1746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9" name="AutoShape 8">
            <a:extLst>
              <a:ext uri="{FF2B5EF4-FFF2-40B4-BE49-F238E27FC236}">
                <a16:creationId xmlns:a16="http://schemas.microsoft.com/office/drawing/2014/main" id="{1770C0AD-27EC-12BD-409E-E4B29562406A}"/>
              </a:ext>
            </a:extLst>
          </p:cNvPr>
          <p:cNvSpPr>
            <a:spLocks noChangeArrowheads="1"/>
          </p:cNvSpPr>
          <p:nvPr/>
        </p:nvSpPr>
        <p:spPr bwMode="auto">
          <a:xfrm>
            <a:off x="3519363" y="2103314"/>
            <a:ext cx="1295400" cy="1109662"/>
          </a:xfrm>
          <a:prstGeom prst="diamond">
            <a:avLst/>
          </a:prstGeom>
          <a:solidFill>
            <a:srgbClr val="FF66FF"/>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0" name="AutoShape 9">
            <a:extLst>
              <a:ext uri="{FF2B5EF4-FFF2-40B4-BE49-F238E27FC236}">
                <a16:creationId xmlns:a16="http://schemas.microsoft.com/office/drawing/2014/main" id="{621B74BF-2478-22A3-769B-AB34B920A9D6}"/>
              </a:ext>
            </a:extLst>
          </p:cNvPr>
          <p:cNvSpPr>
            <a:spLocks noChangeArrowheads="1"/>
          </p:cNvSpPr>
          <p:nvPr/>
        </p:nvSpPr>
        <p:spPr bwMode="auto">
          <a:xfrm>
            <a:off x="3630488" y="2200151"/>
            <a:ext cx="1066800" cy="914400"/>
          </a:xfrm>
          <a:prstGeom prst="diamond">
            <a:avLst/>
          </a:prstGeom>
          <a:solidFill>
            <a:srgbClr val="FF66FF"/>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Has</a:t>
            </a:r>
          </a:p>
        </p:txBody>
      </p:sp>
      <p:sp>
        <p:nvSpPr>
          <p:cNvPr id="11" name="Oval 10">
            <a:extLst>
              <a:ext uri="{FF2B5EF4-FFF2-40B4-BE49-F238E27FC236}">
                <a16:creationId xmlns:a16="http://schemas.microsoft.com/office/drawing/2014/main" id="{B4DAAF55-6528-8B58-D4F5-05A254200749}"/>
              </a:ext>
            </a:extLst>
          </p:cNvPr>
          <p:cNvSpPr>
            <a:spLocks noChangeArrowheads="1"/>
          </p:cNvSpPr>
          <p:nvPr/>
        </p:nvSpPr>
        <p:spPr bwMode="auto">
          <a:xfrm>
            <a:off x="468188" y="904751"/>
            <a:ext cx="1409700" cy="457200"/>
          </a:xfrm>
          <a:prstGeom prst="ellipse">
            <a:avLst/>
          </a:prstGeom>
          <a:solidFill>
            <a:schemeClr val="accent1">
              <a:lumMod val="60000"/>
              <a:lumOff val="40000"/>
            </a:schemeClr>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u="sng" dirty="0" err="1"/>
              <a:t>Empno</a:t>
            </a:r>
            <a:endParaRPr lang="en-US" altLang="en-US" sz="1800" u="sng" dirty="0"/>
          </a:p>
        </p:txBody>
      </p:sp>
      <p:sp>
        <p:nvSpPr>
          <p:cNvPr id="12" name="Oval 11">
            <a:extLst>
              <a:ext uri="{FF2B5EF4-FFF2-40B4-BE49-F238E27FC236}">
                <a16:creationId xmlns:a16="http://schemas.microsoft.com/office/drawing/2014/main" id="{CA10ACA1-DD11-CA8A-19C4-85A60013660F}"/>
              </a:ext>
            </a:extLst>
          </p:cNvPr>
          <p:cNvSpPr>
            <a:spLocks noChangeArrowheads="1"/>
          </p:cNvSpPr>
          <p:nvPr/>
        </p:nvSpPr>
        <p:spPr bwMode="auto">
          <a:xfrm>
            <a:off x="2140836" y="905297"/>
            <a:ext cx="1409700" cy="477837"/>
          </a:xfrm>
          <a:prstGeom prst="ellipse">
            <a:avLst/>
          </a:prstGeom>
          <a:solidFill>
            <a:schemeClr val="accent1">
              <a:lumMod val="60000"/>
              <a:lumOff val="40000"/>
            </a:schemeClr>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dirty="0" err="1"/>
              <a:t>Ename</a:t>
            </a:r>
            <a:endParaRPr lang="en-US" altLang="en-US" sz="1800" dirty="0"/>
          </a:p>
        </p:txBody>
      </p:sp>
      <p:sp>
        <p:nvSpPr>
          <p:cNvPr id="13" name="Oval 12">
            <a:extLst>
              <a:ext uri="{FF2B5EF4-FFF2-40B4-BE49-F238E27FC236}">
                <a16:creationId xmlns:a16="http://schemas.microsoft.com/office/drawing/2014/main" id="{118BE4A7-F281-9BE1-6089-630DBD1F6A0D}"/>
              </a:ext>
            </a:extLst>
          </p:cNvPr>
          <p:cNvSpPr>
            <a:spLocks noChangeArrowheads="1"/>
          </p:cNvSpPr>
          <p:nvPr/>
        </p:nvSpPr>
        <p:spPr bwMode="auto">
          <a:xfrm>
            <a:off x="7059488" y="904751"/>
            <a:ext cx="1905000" cy="554038"/>
          </a:xfrm>
          <a:prstGeom prst="ellipse">
            <a:avLst/>
          </a:prstGeom>
          <a:solidFill>
            <a:schemeClr val="accent1">
              <a:lumMod val="60000"/>
              <a:lumOff val="40000"/>
            </a:schemeClr>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dirty="0" err="1"/>
              <a:t>Date_of_Birth</a:t>
            </a:r>
            <a:endParaRPr lang="en-US" altLang="en-US" sz="1800" dirty="0"/>
          </a:p>
        </p:txBody>
      </p:sp>
      <p:sp>
        <p:nvSpPr>
          <p:cNvPr id="14" name="Oval 13">
            <a:extLst>
              <a:ext uri="{FF2B5EF4-FFF2-40B4-BE49-F238E27FC236}">
                <a16:creationId xmlns:a16="http://schemas.microsoft.com/office/drawing/2014/main" id="{CBFAA43F-7CC3-4E1D-BF51-84055537EF24}"/>
              </a:ext>
            </a:extLst>
          </p:cNvPr>
          <p:cNvSpPr>
            <a:spLocks noChangeArrowheads="1"/>
          </p:cNvSpPr>
          <p:nvPr/>
        </p:nvSpPr>
        <p:spPr bwMode="auto">
          <a:xfrm>
            <a:off x="4316288" y="904751"/>
            <a:ext cx="2286000" cy="650875"/>
          </a:xfrm>
          <a:prstGeom prst="ellipse">
            <a:avLst/>
          </a:prstGeom>
          <a:solidFill>
            <a:schemeClr val="accent1">
              <a:lumMod val="60000"/>
              <a:lumOff val="40000"/>
            </a:schemeClr>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u="sng" dirty="0" err="1"/>
              <a:t>Dependent_Name</a:t>
            </a:r>
            <a:endParaRPr lang="en-US" altLang="en-US" sz="1800" u="sng" dirty="0"/>
          </a:p>
        </p:txBody>
      </p:sp>
      <p:sp>
        <p:nvSpPr>
          <p:cNvPr id="15" name="Line 14">
            <a:extLst>
              <a:ext uri="{FF2B5EF4-FFF2-40B4-BE49-F238E27FC236}">
                <a16:creationId xmlns:a16="http://schemas.microsoft.com/office/drawing/2014/main" id="{3C0387A3-F3F4-440C-9BF6-3A99F67AA4C9}"/>
              </a:ext>
            </a:extLst>
          </p:cNvPr>
          <p:cNvSpPr>
            <a:spLocks noChangeShapeType="1"/>
          </p:cNvSpPr>
          <p:nvPr/>
        </p:nvSpPr>
        <p:spPr bwMode="auto">
          <a:xfrm>
            <a:off x="4612704" y="1408807"/>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16" name="AutoShape 15">
            <a:extLst>
              <a:ext uri="{FF2B5EF4-FFF2-40B4-BE49-F238E27FC236}">
                <a16:creationId xmlns:a16="http://schemas.microsoft.com/office/drawing/2014/main" id="{45DFCD45-07C5-829A-214E-70640EC9DAE1}"/>
              </a:ext>
            </a:extLst>
          </p:cNvPr>
          <p:cNvCxnSpPr>
            <a:cxnSpLocks noChangeShapeType="1"/>
            <a:stCxn id="2" idx="0"/>
            <a:endCxn id="12" idx="4"/>
          </p:cNvCxnSpPr>
          <p:nvPr/>
        </p:nvCxnSpPr>
        <p:spPr bwMode="auto">
          <a:xfrm flipV="1">
            <a:off x="1496888" y="1383134"/>
            <a:ext cx="1348798" cy="81701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7" name="AutoShape 16">
            <a:extLst>
              <a:ext uri="{FF2B5EF4-FFF2-40B4-BE49-F238E27FC236}">
                <a16:creationId xmlns:a16="http://schemas.microsoft.com/office/drawing/2014/main" id="{DB77D0D5-98B5-03CE-9DAF-F9B5CE9CB48D}"/>
              </a:ext>
            </a:extLst>
          </p:cNvPr>
          <p:cNvCxnSpPr>
            <a:cxnSpLocks noChangeShapeType="1"/>
            <a:stCxn id="2" idx="0"/>
            <a:endCxn id="11" idx="4"/>
          </p:cNvCxnSpPr>
          <p:nvPr/>
        </p:nvCxnSpPr>
        <p:spPr bwMode="auto">
          <a:xfrm flipH="1" flipV="1">
            <a:off x="1173038" y="1361951"/>
            <a:ext cx="323850" cy="8382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02258701-F9E3-5413-F5E6-F39F65ADD89A}"/>
              </a:ext>
            </a:extLst>
          </p:cNvPr>
          <p:cNvCxnSpPr>
            <a:cxnSpLocks noChangeShapeType="1"/>
            <a:stCxn id="7" idx="0"/>
            <a:endCxn id="14" idx="4"/>
          </p:cNvCxnSpPr>
          <p:nvPr/>
        </p:nvCxnSpPr>
        <p:spPr bwMode="auto">
          <a:xfrm flipH="1" flipV="1">
            <a:off x="5459288" y="1555626"/>
            <a:ext cx="1638300" cy="7000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9" name="AutoShape 18">
            <a:extLst>
              <a:ext uri="{FF2B5EF4-FFF2-40B4-BE49-F238E27FC236}">
                <a16:creationId xmlns:a16="http://schemas.microsoft.com/office/drawing/2014/main" id="{F1B3A05E-AF72-C956-22D8-02633F98CB6D}"/>
              </a:ext>
            </a:extLst>
          </p:cNvPr>
          <p:cNvCxnSpPr>
            <a:cxnSpLocks noChangeShapeType="1"/>
            <a:stCxn id="7" idx="0"/>
            <a:endCxn id="13" idx="4"/>
          </p:cNvCxnSpPr>
          <p:nvPr/>
        </p:nvCxnSpPr>
        <p:spPr bwMode="auto">
          <a:xfrm flipV="1">
            <a:off x="7097588" y="1458789"/>
            <a:ext cx="914400" cy="796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pic>
        <p:nvPicPr>
          <p:cNvPr id="20" name="Picture 19">
            <a:extLst>
              <a:ext uri="{FF2B5EF4-FFF2-40B4-BE49-F238E27FC236}">
                <a16:creationId xmlns:a16="http://schemas.microsoft.com/office/drawing/2014/main" id="{20285B8B-F137-5673-6185-1B8094D91809}"/>
              </a:ext>
            </a:extLst>
          </p:cNvPr>
          <p:cNvPicPr>
            <a:picLocks noChangeAspect="1"/>
          </p:cNvPicPr>
          <p:nvPr/>
        </p:nvPicPr>
        <p:blipFill>
          <a:blip r:embed="rId2"/>
          <a:stretch>
            <a:fillRect/>
          </a:stretch>
        </p:blipFill>
        <p:spPr>
          <a:xfrm>
            <a:off x="467544" y="3429000"/>
            <a:ext cx="8035472" cy="2723129"/>
          </a:xfrm>
          <a:prstGeom prst="rect">
            <a:avLst/>
          </a:prstGeom>
        </p:spPr>
      </p:pic>
      <p:sp>
        <p:nvSpPr>
          <p:cNvPr id="4" name="Footer Placeholder 2">
            <a:extLst>
              <a:ext uri="{FF2B5EF4-FFF2-40B4-BE49-F238E27FC236}">
                <a16:creationId xmlns:a16="http://schemas.microsoft.com/office/drawing/2014/main" id="{FC6FD6F1-252C-13DE-4CC9-969B90A73B5C}"/>
              </a:ext>
            </a:extLst>
          </p:cNvPr>
          <p:cNvSpPr>
            <a:spLocks noGrp="1"/>
          </p:cNvSpPr>
          <p:nvPr>
            <p:ph type="ftr" sz="quarter" idx="11"/>
          </p:nvPr>
        </p:nvSpPr>
        <p:spPr>
          <a:xfrm>
            <a:off x="2503512"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62748162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C8E4E-268F-D471-C557-2989957A02A5}"/>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C35C1128-D0EC-F2C5-D244-576B2E0DABB5}"/>
              </a:ext>
            </a:extLst>
          </p:cNvPr>
          <p:cNvSpPr>
            <a:spLocks noGrp="1" noChangeArrowheads="1"/>
          </p:cNvSpPr>
          <p:nvPr>
            <p:ph type="title"/>
          </p:nvPr>
        </p:nvSpPr>
        <p:spPr>
          <a:xfrm>
            <a:off x="323528" y="116632"/>
            <a:ext cx="6466857"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ERD segment for class scheduling</a:t>
            </a:r>
          </a:p>
        </p:txBody>
      </p:sp>
      <p:sp>
        <p:nvSpPr>
          <p:cNvPr id="4" name="Footer Placeholder 2">
            <a:extLst>
              <a:ext uri="{FF2B5EF4-FFF2-40B4-BE49-F238E27FC236}">
                <a16:creationId xmlns:a16="http://schemas.microsoft.com/office/drawing/2014/main" id="{882785C3-3197-F082-46E3-A8660A2BAE0B}"/>
              </a:ext>
            </a:extLst>
          </p:cNvPr>
          <p:cNvSpPr>
            <a:spLocks noGrp="1"/>
          </p:cNvSpPr>
          <p:nvPr>
            <p:ph type="ftr" sz="quarter" idx="11"/>
          </p:nvPr>
        </p:nvSpPr>
        <p:spPr>
          <a:xfrm>
            <a:off x="2503512"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pic>
        <p:nvPicPr>
          <p:cNvPr id="5" name="Picture 2" descr="FIG4-16">
            <a:extLst>
              <a:ext uri="{FF2B5EF4-FFF2-40B4-BE49-F238E27FC236}">
                <a16:creationId xmlns:a16="http://schemas.microsoft.com/office/drawing/2014/main" id="{B9800D50-A5ED-6002-D9C9-646CA078B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692696"/>
            <a:ext cx="8382000" cy="577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545353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FCE86-A02D-32B3-4465-E79678D0322C}"/>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0002C421-CA68-6EA9-09FE-8A211553D5D9}"/>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Degree of a Relationship</a:t>
            </a:r>
          </a:p>
        </p:txBody>
      </p:sp>
      <p:sp>
        <p:nvSpPr>
          <p:cNvPr id="24579" name="Rectangle 3">
            <a:extLst>
              <a:ext uri="{FF2B5EF4-FFF2-40B4-BE49-F238E27FC236}">
                <a16:creationId xmlns:a16="http://schemas.microsoft.com/office/drawing/2014/main" id="{E134F496-CE6C-848C-3F38-32F2B511E471}"/>
              </a:ext>
            </a:extLst>
          </p:cNvPr>
          <p:cNvSpPr>
            <a:spLocks noGrp="1" noChangeArrowheads="1"/>
          </p:cNvSpPr>
          <p:nvPr>
            <p:ph type="body" idx="1"/>
          </p:nvPr>
        </p:nvSpPr>
        <p:spPr>
          <a:xfrm>
            <a:off x="354013" y="620688"/>
            <a:ext cx="8466137" cy="4343400"/>
          </a:xfrm>
        </p:spPr>
        <p:txBody>
          <a:bodyPr/>
          <a:lstStyle/>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It refers to the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number of entities</a:t>
            </a:r>
            <a:r>
              <a:rPr lang="en-US" sz="2400" dirty="0">
                <a:latin typeface="Cambria" panose="02040503050406030204" pitchFamily="18" charset="0"/>
                <a:ea typeface="Cambria" panose="02040503050406030204" pitchFamily="18" charset="0"/>
                <a:cs typeface="Calibri" panose="020F0502020204030204" pitchFamily="34" charset="0"/>
              </a:rPr>
              <a:t> participating in a relationship. </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There can be following types of relationships on the basis of degree:</a:t>
            </a:r>
          </a:p>
          <a:p>
            <a:pPr marL="731838" lvl="1" indent="-457200" algn="just">
              <a:spcBef>
                <a:spcPts val="300"/>
              </a:spcBef>
              <a:buFont typeface="+mj-lt"/>
              <a:buAutoNum type="alphaLcParenR"/>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Unary or Recursive Relationship </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(relationship between the instances of a single entity type)</a:t>
            </a: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 </a:t>
            </a:r>
          </a:p>
          <a:p>
            <a:pPr marL="731838" lvl="1" indent="-457200" algn="just">
              <a:spcBef>
                <a:spcPts val="300"/>
              </a:spcBef>
              <a:buFont typeface="+mj-lt"/>
              <a:buAutoNum type="alphaLcParenR"/>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Binary Relationship </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 Two----)</a:t>
            </a:r>
          </a:p>
          <a:p>
            <a:pPr marL="731838" lvl="1" indent="-457200" algn="just">
              <a:spcBef>
                <a:spcPts val="300"/>
              </a:spcBef>
              <a:buFont typeface="+mj-lt"/>
              <a:buAutoNum type="alphaLcParenR"/>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Ternary Relationship </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 Three ----)</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916D5F6F-1018-5D42-A58A-406DD7E38ECD}"/>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162E32EC-21A3-47C9-7BF1-4DD82627C852}"/>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16201736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0C156-23BB-14F1-2916-9044F1E1D890}"/>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E476286F-E25A-6BA1-4EF5-8FC9AC16DA9F}"/>
              </a:ext>
            </a:extLst>
          </p:cNvPr>
          <p:cNvSpPr>
            <a:spLocks noGrp="1" noChangeArrowheads="1"/>
          </p:cNvSpPr>
          <p:nvPr>
            <p:ph type="title"/>
          </p:nvPr>
        </p:nvSpPr>
        <p:spPr>
          <a:xfrm>
            <a:off x="323528" y="116632"/>
            <a:ext cx="6466857"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Degree of a Relationship</a:t>
            </a:r>
          </a:p>
        </p:txBody>
      </p:sp>
      <p:sp>
        <p:nvSpPr>
          <p:cNvPr id="4" name="Footer Placeholder 2">
            <a:extLst>
              <a:ext uri="{FF2B5EF4-FFF2-40B4-BE49-F238E27FC236}">
                <a16:creationId xmlns:a16="http://schemas.microsoft.com/office/drawing/2014/main" id="{64140A42-EA07-BDA1-484F-3E00BD3C47F0}"/>
              </a:ext>
            </a:extLst>
          </p:cNvPr>
          <p:cNvSpPr>
            <a:spLocks noGrp="1"/>
          </p:cNvSpPr>
          <p:nvPr>
            <p:ph type="ftr" sz="quarter" idx="11"/>
          </p:nvPr>
        </p:nvSpPr>
        <p:spPr>
          <a:xfrm>
            <a:off x="2503512"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pic>
        <p:nvPicPr>
          <p:cNvPr id="2" name="Picture 1">
            <a:extLst>
              <a:ext uri="{FF2B5EF4-FFF2-40B4-BE49-F238E27FC236}">
                <a16:creationId xmlns:a16="http://schemas.microsoft.com/office/drawing/2014/main" id="{1A5C9922-093D-F6C0-4889-A8B7B507E57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6713" y="136103"/>
            <a:ext cx="8410575" cy="624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000048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0B65-E48E-592B-1D3B-093A1CAFC84B}"/>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EC55EC60-499D-444A-9747-E8282285453E}"/>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Degree of a Relationship</a:t>
            </a:r>
          </a:p>
        </p:txBody>
      </p:sp>
      <p:sp>
        <p:nvSpPr>
          <p:cNvPr id="24579" name="Rectangle 3">
            <a:extLst>
              <a:ext uri="{FF2B5EF4-FFF2-40B4-BE49-F238E27FC236}">
                <a16:creationId xmlns:a16="http://schemas.microsoft.com/office/drawing/2014/main" id="{30A06668-886B-4A1B-240E-9CE84F77FA0E}"/>
              </a:ext>
            </a:extLst>
          </p:cNvPr>
          <p:cNvSpPr>
            <a:spLocks noGrp="1" noChangeArrowheads="1"/>
          </p:cNvSpPr>
          <p:nvPr>
            <p:ph type="body" idx="1"/>
          </p:nvPr>
        </p:nvSpPr>
        <p:spPr>
          <a:xfrm>
            <a:off x="354013" y="620688"/>
            <a:ext cx="8466137" cy="4343400"/>
          </a:xfrm>
        </p:spPr>
        <p:txBody>
          <a:bodyPr/>
          <a:lstStyle/>
          <a:p>
            <a:pPr marL="0" lvl="1" indent="0" algn="just">
              <a:spcBef>
                <a:spcPts val="300"/>
              </a:spcBef>
              <a:buNone/>
              <a:defRPr/>
            </a:pPr>
            <a:r>
              <a:rPr lang="en-US" b="1" dirty="0">
                <a:solidFill>
                  <a:srgbClr val="0033CC"/>
                </a:solidFill>
                <a:latin typeface="Cambria" panose="02040503050406030204" pitchFamily="18" charset="0"/>
                <a:ea typeface="Cambria" panose="02040503050406030204" pitchFamily="18" charset="0"/>
                <a:cs typeface="Calibri" panose="020F0502020204030204" pitchFamily="34" charset="0"/>
              </a:rPr>
              <a:t>a) Unary or Recursive Relationship</a:t>
            </a:r>
            <a:endParaRPr lang="en-US" altLang="en-US" sz="2400" b="1"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29C4D097-F6E9-8AF6-ADEF-754227EC799B}"/>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C56159CA-4FC8-6CFE-936C-9CA0A460565A}"/>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2" name="Picture 2" descr="FIG03-23">
            <a:extLst>
              <a:ext uri="{FF2B5EF4-FFF2-40B4-BE49-F238E27FC236}">
                <a16:creationId xmlns:a16="http://schemas.microsoft.com/office/drawing/2014/main" id="{9BDE0108-7C0B-5550-A111-F9C6E017C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196752"/>
            <a:ext cx="7488237" cy="505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993634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7C925A1-1253-01D0-CBDC-E595DA03DE31}"/>
              </a:ext>
            </a:extLst>
          </p:cNvPr>
          <p:cNvSpPr>
            <a:spLocks noGrp="1" noChangeArrowheads="1"/>
          </p:cNvSpPr>
          <p:nvPr>
            <p:ph type="title"/>
          </p:nvPr>
        </p:nvSpPr>
        <p:spPr>
          <a:xfrm>
            <a:off x="442228" y="159296"/>
            <a:ext cx="4449467" cy="533400"/>
          </a:xfrm>
        </p:spPr>
        <p:txBody>
          <a:bodyPr/>
          <a:lstStyle/>
          <a:p>
            <a:pPr eaLnBrk="1" hangingPunct="1">
              <a:spcBef>
                <a:spcPct val="50000"/>
              </a:spcBef>
            </a:pPr>
            <a:r>
              <a:rPr lang="en-US" altLang="en-US" sz="2400" b="1" u="sng" dirty="0">
                <a:solidFill>
                  <a:srgbClr val="0033CC"/>
                </a:solidFill>
                <a:latin typeface="Cambria" panose="02040503050406030204" pitchFamily="18" charset="0"/>
                <a:ea typeface="Cambria" panose="02040503050406030204" pitchFamily="18" charset="0"/>
              </a:rPr>
              <a:t>c) Ternary Relationship</a:t>
            </a:r>
          </a:p>
        </p:txBody>
      </p:sp>
      <p:pic>
        <p:nvPicPr>
          <p:cNvPr id="5" name="Picture 4">
            <a:extLst>
              <a:ext uri="{FF2B5EF4-FFF2-40B4-BE49-F238E27FC236}">
                <a16:creationId xmlns:a16="http://schemas.microsoft.com/office/drawing/2014/main" id="{CFD30196-E5E1-A8A2-3076-6FCA73E4056F}"/>
              </a:ext>
            </a:extLst>
          </p:cNvPr>
          <p:cNvPicPr>
            <a:picLocks noChangeAspect="1"/>
          </p:cNvPicPr>
          <p:nvPr/>
        </p:nvPicPr>
        <p:blipFill>
          <a:blip r:embed="rId2"/>
          <a:stretch>
            <a:fillRect/>
          </a:stretch>
        </p:blipFill>
        <p:spPr>
          <a:xfrm>
            <a:off x="2411408" y="692696"/>
            <a:ext cx="4960574" cy="3024336"/>
          </a:xfrm>
          <a:prstGeom prst="rect">
            <a:avLst/>
          </a:prstGeom>
          <a:ln>
            <a:solidFill>
              <a:schemeClr val="tx1"/>
            </a:solidFill>
          </a:ln>
        </p:spPr>
      </p:pic>
      <p:pic>
        <p:nvPicPr>
          <p:cNvPr id="4" name="Picture 3">
            <a:extLst>
              <a:ext uri="{FF2B5EF4-FFF2-40B4-BE49-F238E27FC236}">
                <a16:creationId xmlns:a16="http://schemas.microsoft.com/office/drawing/2014/main" id="{20A98B72-923A-1410-6A54-B3930DB7BBA1}"/>
              </a:ext>
            </a:extLst>
          </p:cNvPr>
          <p:cNvPicPr>
            <a:picLocks noChangeAspect="1"/>
          </p:cNvPicPr>
          <p:nvPr/>
        </p:nvPicPr>
        <p:blipFill>
          <a:blip r:embed="rId3"/>
          <a:stretch>
            <a:fillRect/>
          </a:stretch>
        </p:blipFill>
        <p:spPr>
          <a:xfrm>
            <a:off x="1403648" y="3861048"/>
            <a:ext cx="6466858" cy="2664296"/>
          </a:xfrm>
          <a:prstGeom prst="rect">
            <a:avLst/>
          </a:prstGeom>
          <a:ln>
            <a:solidFill>
              <a:schemeClr val="tx1"/>
            </a:solidFill>
          </a:ln>
        </p:spPr>
      </p:pic>
    </p:spTree>
    <p:extLst>
      <p:ext uri="{BB962C8B-B14F-4D97-AF65-F5344CB8AC3E}">
        <p14:creationId xmlns:p14="http://schemas.microsoft.com/office/powerpoint/2010/main" val="388447941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A1B6A3D-5C02-624C-0E8F-0BA23EDA70FA}"/>
              </a:ext>
            </a:extLst>
          </p:cNvPr>
          <p:cNvSpPr>
            <a:spLocks noGrp="1" noChangeArrowheads="1"/>
          </p:cNvSpPr>
          <p:nvPr>
            <p:ph type="title"/>
          </p:nvPr>
        </p:nvSpPr>
        <p:spPr>
          <a:xfrm>
            <a:off x="323850" y="188640"/>
            <a:ext cx="8568630"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Ternary Relationship</a:t>
            </a:r>
            <a:r>
              <a:rPr lang="en-US" altLang="en-US" sz="2400" b="1" dirty="0">
                <a:solidFill>
                  <a:srgbClr val="D34817"/>
                </a:solidFill>
                <a:latin typeface="Cambria" panose="02040503050406030204" pitchFamily="18" charset="0"/>
                <a:ea typeface="Cambria" panose="02040503050406030204" pitchFamily="18" charset="0"/>
              </a:rPr>
              <a:t> </a:t>
            </a:r>
            <a:r>
              <a:rPr lang="en-US" altLang="en-US" sz="2400" b="1" dirty="0">
                <a:solidFill>
                  <a:srgbClr val="0033CC"/>
                </a:solidFill>
                <a:latin typeface="Cambria" panose="02040503050406030204" pitchFamily="18" charset="0"/>
                <a:ea typeface="Cambria" panose="02040503050406030204" pitchFamily="18" charset="0"/>
              </a:rPr>
              <a:t>=</a:t>
            </a:r>
            <a:r>
              <a:rPr lang="en-US" altLang="en-US" sz="2400" b="1" dirty="0">
                <a:solidFill>
                  <a:srgbClr val="D34817"/>
                </a:solidFill>
                <a:latin typeface="Cambria" panose="02040503050406030204" pitchFamily="18" charset="0"/>
                <a:ea typeface="Cambria" panose="02040503050406030204" pitchFamily="18" charset="0"/>
              </a:rPr>
              <a:t> </a:t>
            </a:r>
            <a:r>
              <a:rPr lang="en-US" altLang="en-US" sz="2400" b="1" u="sng" dirty="0">
                <a:solidFill>
                  <a:srgbClr val="D34817"/>
                </a:solidFill>
                <a:latin typeface="Cambria" panose="02040503050406030204" pitchFamily="18" charset="0"/>
                <a:ea typeface="Cambria" panose="02040503050406030204" pitchFamily="18" charset="0"/>
              </a:rPr>
              <a:t>Three Binary Relationships?</a:t>
            </a:r>
          </a:p>
        </p:txBody>
      </p:sp>
      <p:sp>
        <p:nvSpPr>
          <p:cNvPr id="24579" name="Rectangle 3">
            <a:extLst>
              <a:ext uri="{FF2B5EF4-FFF2-40B4-BE49-F238E27FC236}">
                <a16:creationId xmlns:a16="http://schemas.microsoft.com/office/drawing/2014/main" id="{29D815EE-0668-C3BA-CC86-3CBD4FC6DC5A}"/>
              </a:ext>
            </a:extLst>
          </p:cNvPr>
          <p:cNvSpPr>
            <a:spLocks noGrp="1" noChangeArrowheads="1"/>
          </p:cNvSpPr>
          <p:nvPr>
            <p:ph type="body" idx="1"/>
          </p:nvPr>
        </p:nvSpPr>
        <p:spPr>
          <a:xfrm>
            <a:off x="354013" y="692150"/>
            <a:ext cx="8466137" cy="4343400"/>
          </a:xfrm>
        </p:spPr>
        <p:txBody>
          <a:bodyPr/>
          <a:lstStyle/>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In general, a ternary relationship type represents different information than do three binary relationship types.</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Let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the</a:t>
            </a:r>
            <a:r>
              <a:rPr lang="en-US" sz="2400" dirty="0">
                <a:latin typeface="Cambria" panose="02040503050406030204" pitchFamily="18" charset="0"/>
                <a:ea typeface="Cambria" panose="02040503050406030204" pitchFamily="18" charset="0"/>
                <a:cs typeface="Calibri" panose="020F0502020204030204" pitchFamily="34" charset="0"/>
              </a:rPr>
              <a:t> instance of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SUPPLIER, PRODUCT, </a:t>
            </a:r>
            <a:r>
              <a:rPr lang="en-US" sz="2400" dirty="0">
                <a:latin typeface="Cambria" panose="02040503050406030204" pitchFamily="18" charset="0"/>
                <a:ea typeface="Cambria" panose="02040503050406030204" pitchFamily="18" charset="0"/>
                <a:cs typeface="Calibri" panose="020F0502020204030204" pitchFamily="34" charset="0"/>
              </a:rPr>
              <a:t>and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PROJECT</a:t>
            </a:r>
            <a:r>
              <a:rPr lang="en-US" sz="2400" dirty="0">
                <a:latin typeface="Cambria" panose="02040503050406030204" pitchFamily="18" charset="0"/>
                <a:ea typeface="Cambria" panose="02040503050406030204" pitchFamily="18" charset="0"/>
                <a:cs typeface="Calibri" panose="020F0502020204030204" pitchFamily="34" charset="0"/>
              </a:rPr>
              <a:t> entity types (last slide) are represented by </a:t>
            </a:r>
            <a:r>
              <a:rPr lang="en-US" sz="2400" i="1" dirty="0">
                <a:solidFill>
                  <a:srgbClr val="FF0000"/>
                </a:solidFill>
                <a:latin typeface="Cambria" panose="02040503050406030204" pitchFamily="18" charset="0"/>
                <a:ea typeface="Cambria" panose="02040503050406030204" pitchFamily="18" charset="0"/>
                <a:cs typeface="Calibri" panose="020F0502020204030204" pitchFamily="34" charset="0"/>
              </a:rPr>
              <a:t>s, p,</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i="1" dirty="0">
                <a:solidFill>
                  <a:srgbClr val="FF0000"/>
                </a:solidFill>
                <a:latin typeface="Cambria" panose="02040503050406030204" pitchFamily="18" charset="0"/>
                <a:ea typeface="Cambria" panose="02040503050406030204" pitchFamily="18" charset="0"/>
                <a:cs typeface="Calibri" panose="020F0502020204030204" pitchFamily="34" charset="0"/>
              </a:rPr>
              <a:t>j</a:t>
            </a:r>
            <a:r>
              <a:rPr lang="en-US" sz="2400" dirty="0">
                <a:latin typeface="Cambria" panose="02040503050406030204" pitchFamily="18" charset="0"/>
                <a:ea typeface="Cambria" panose="02040503050406030204" pitchFamily="18" charset="0"/>
                <a:cs typeface="Calibri" panose="020F0502020204030204" pitchFamily="34" charset="0"/>
              </a:rPr>
              <a:t> respectively. The following diagram maintaining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s,p</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s,j</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j,p</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doesn’t necessarily imply</a:t>
            </a:r>
            <a:r>
              <a:rPr lang="en-US" sz="2400" dirty="0">
                <a:latin typeface="Cambria" panose="02040503050406030204" pitchFamily="18" charset="0"/>
                <a:ea typeface="Cambria" panose="02040503050406030204" pitchFamily="18" charset="0"/>
                <a:cs typeface="Calibri" panose="020F0502020204030204" pitchFamily="34" charset="0"/>
              </a:rPr>
              <a:t> an instance of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s,j,p</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sz="2400" dirty="0">
                <a:latin typeface="Cambria" panose="02040503050406030204" pitchFamily="18" charset="0"/>
                <a:ea typeface="Cambria" panose="02040503050406030204" pitchFamily="18" charset="0"/>
                <a:cs typeface="Calibri" panose="020F0502020204030204" pitchFamily="34" charset="0"/>
              </a:rPr>
              <a:t> exists in a ternary relationship. </a:t>
            </a:r>
          </a:p>
          <a:p>
            <a:pPr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pic>
        <p:nvPicPr>
          <p:cNvPr id="3" name="Picture 2">
            <a:extLst>
              <a:ext uri="{FF2B5EF4-FFF2-40B4-BE49-F238E27FC236}">
                <a16:creationId xmlns:a16="http://schemas.microsoft.com/office/drawing/2014/main" id="{48ABFEB6-DD9E-8F76-C1F7-4068331F1BE5}"/>
              </a:ext>
            </a:extLst>
          </p:cNvPr>
          <p:cNvPicPr>
            <a:picLocks noChangeAspect="1"/>
          </p:cNvPicPr>
          <p:nvPr/>
        </p:nvPicPr>
        <p:blipFill>
          <a:blip r:embed="rId2"/>
          <a:stretch>
            <a:fillRect/>
          </a:stretch>
        </p:blipFill>
        <p:spPr>
          <a:xfrm>
            <a:off x="1403648" y="3415370"/>
            <a:ext cx="6450893" cy="324036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0F37-1D99-C688-D32F-9F84687A63BC}"/>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1E6D64E2-23E0-DBDF-1DCF-B1B895AF185B}"/>
              </a:ext>
            </a:extLst>
          </p:cNvPr>
          <p:cNvSpPr>
            <a:spLocks noGrp="1" noChangeArrowheads="1"/>
          </p:cNvSpPr>
          <p:nvPr>
            <p:ph type="title"/>
          </p:nvPr>
        </p:nvSpPr>
        <p:spPr>
          <a:xfrm>
            <a:off x="323850" y="188640"/>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Ternary Relationship + Binary Relationships</a:t>
            </a:r>
          </a:p>
        </p:txBody>
      </p:sp>
      <p:sp>
        <p:nvSpPr>
          <p:cNvPr id="24579" name="Rectangle 3">
            <a:extLst>
              <a:ext uri="{FF2B5EF4-FFF2-40B4-BE49-F238E27FC236}">
                <a16:creationId xmlns:a16="http://schemas.microsoft.com/office/drawing/2014/main" id="{89AB58A2-88F6-BB0B-C350-10D6E6F624E8}"/>
              </a:ext>
            </a:extLst>
          </p:cNvPr>
          <p:cNvSpPr>
            <a:spLocks noGrp="1" noChangeArrowheads="1"/>
          </p:cNvSpPr>
          <p:nvPr>
            <p:ph type="body" idx="1"/>
          </p:nvPr>
        </p:nvSpPr>
        <p:spPr>
          <a:xfrm>
            <a:off x="354013" y="692150"/>
            <a:ext cx="8466137" cy="4343400"/>
          </a:xfrm>
        </p:spPr>
        <p:txBody>
          <a:bodyPr/>
          <a:lstStyle/>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A ternary relationship plus one or more of the binary relationships can be used in an ERD, if they represent different meanings and if all are needed by the application.</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pic>
        <p:nvPicPr>
          <p:cNvPr id="4" name="Picture 3">
            <a:extLst>
              <a:ext uri="{FF2B5EF4-FFF2-40B4-BE49-F238E27FC236}">
                <a16:creationId xmlns:a16="http://schemas.microsoft.com/office/drawing/2014/main" id="{4B4CCB18-6F00-8FFA-8FAE-9B4C4016576D}"/>
              </a:ext>
            </a:extLst>
          </p:cNvPr>
          <p:cNvPicPr>
            <a:picLocks noChangeAspect="1"/>
          </p:cNvPicPr>
          <p:nvPr/>
        </p:nvPicPr>
        <p:blipFill>
          <a:blip r:embed="rId2"/>
          <a:stretch>
            <a:fillRect/>
          </a:stretch>
        </p:blipFill>
        <p:spPr>
          <a:xfrm>
            <a:off x="899592" y="2132856"/>
            <a:ext cx="7538581" cy="4456201"/>
          </a:xfrm>
          <a:prstGeom prst="rect">
            <a:avLst/>
          </a:prstGeom>
          <a:ln>
            <a:solidFill>
              <a:schemeClr val="tx1"/>
            </a:solidFill>
          </a:ln>
        </p:spPr>
      </p:pic>
    </p:spTree>
    <p:extLst>
      <p:ext uri="{BB962C8B-B14F-4D97-AF65-F5344CB8AC3E}">
        <p14:creationId xmlns:p14="http://schemas.microsoft.com/office/powerpoint/2010/main" val="380944125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96530-AEBA-D84F-EFFF-12A4A9E85359}"/>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F4029C9E-628D-F105-47E9-20139477412F}"/>
              </a:ext>
            </a:extLst>
          </p:cNvPr>
          <p:cNvSpPr>
            <a:spLocks noGrp="1" noChangeArrowheads="1"/>
          </p:cNvSpPr>
          <p:nvPr>
            <p:ph type="title"/>
          </p:nvPr>
        </p:nvSpPr>
        <p:spPr>
          <a:xfrm>
            <a:off x="323850" y="44624"/>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Weak Entity in a Ternary Relationship</a:t>
            </a:r>
          </a:p>
        </p:txBody>
      </p:sp>
      <p:sp>
        <p:nvSpPr>
          <p:cNvPr id="24579" name="Rectangle 3">
            <a:extLst>
              <a:ext uri="{FF2B5EF4-FFF2-40B4-BE49-F238E27FC236}">
                <a16:creationId xmlns:a16="http://schemas.microsoft.com/office/drawing/2014/main" id="{7D1C2F7C-60E7-57A9-3320-EFAEB661FD76}"/>
              </a:ext>
            </a:extLst>
          </p:cNvPr>
          <p:cNvSpPr>
            <a:spLocks noGrp="1" noChangeArrowheads="1"/>
          </p:cNvSpPr>
          <p:nvPr>
            <p:ph type="body" idx="1"/>
          </p:nvPr>
        </p:nvSpPr>
        <p:spPr>
          <a:xfrm>
            <a:off x="354013" y="476672"/>
            <a:ext cx="8466137" cy="4343400"/>
          </a:xfrm>
        </p:spPr>
        <p:txBody>
          <a:bodyPr/>
          <a:lstStyle/>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Weak entity with several owners.</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INTERVIEW has two owners (CANDIDATE and COMPANY).</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ERD that keeps track of candidates interviewing for jobs at various companies. A candidate can have multiple interviews with the same company but a job offer is made based on one of the interviews.</a:t>
            </a: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algn="just"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pic>
        <p:nvPicPr>
          <p:cNvPr id="2" name="Picture 1">
            <a:extLst>
              <a:ext uri="{FF2B5EF4-FFF2-40B4-BE49-F238E27FC236}">
                <a16:creationId xmlns:a16="http://schemas.microsoft.com/office/drawing/2014/main" id="{9CA181FC-A5EA-70F8-1F87-C6B645BC0C65}"/>
              </a:ext>
            </a:extLst>
          </p:cNvPr>
          <p:cNvPicPr>
            <a:picLocks noChangeAspect="1"/>
          </p:cNvPicPr>
          <p:nvPr/>
        </p:nvPicPr>
        <p:blipFill>
          <a:blip r:embed="rId2"/>
          <a:stretch>
            <a:fillRect/>
          </a:stretch>
        </p:blipFill>
        <p:spPr>
          <a:xfrm>
            <a:off x="484758" y="2852936"/>
            <a:ext cx="8191698" cy="3881232"/>
          </a:xfrm>
          <a:prstGeom prst="rect">
            <a:avLst/>
          </a:prstGeom>
          <a:ln>
            <a:solidFill>
              <a:schemeClr val="tx1"/>
            </a:solidFill>
          </a:ln>
        </p:spPr>
      </p:pic>
    </p:spTree>
    <p:extLst>
      <p:ext uri="{BB962C8B-B14F-4D97-AF65-F5344CB8AC3E}">
        <p14:creationId xmlns:p14="http://schemas.microsoft.com/office/powerpoint/2010/main" val="42732740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A2DD4-B3D5-08CA-CE24-5DC4453049BE}"/>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9D38AB8C-FCA5-F3BF-FFB4-0A3DAE7CDF66}"/>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Associative Entity</a:t>
            </a:r>
          </a:p>
        </p:txBody>
      </p:sp>
      <p:sp>
        <p:nvSpPr>
          <p:cNvPr id="24579" name="Rectangle 3">
            <a:extLst>
              <a:ext uri="{FF2B5EF4-FFF2-40B4-BE49-F238E27FC236}">
                <a16:creationId xmlns:a16="http://schemas.microsoft.com/office/drawing/2014/main" id="{B1596D1F-68FB-FCCC-F35A-5D2CD6346655}"/>
              </a:ext>
            </a:extLst>
          </p:cNvPr>
          <p:cNvSpPr>
            <a:spLocks noGrp="1" noChangeArrowheads="1"/>
          </p:cNvSpPr>
          <p:nvPr>
            <p:ph type="body" idx="1"/>
          </p:nvPr>
        </p:nvSpPr>
        <p:spPr>
          <a:xfrm>
            <a:off x="354013" y="525760"/>
            <a:ext cx="8466137" cy="4343400"/>
          </a:xfrm>
        </p:spPr>
        <p:txBody>
          <a:bodyPr/>
          <a:lstStyle/>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An associative entity is a many to many relationship that is represented as an entity type. It is also called an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entity in disguise</a:t>
            </a:r>
            <a:r>
              <a:rPr lang="en-US" sz="2400" dirty="0">
                <a:latin typeface="Cambria" panose="02040503050406030204" pitchFamily="18" charset="0"/>
                <a:ea typeface="Cambria" panose="02040503050406030204" pitchFamily="18" charset="0"/>
                <a:cs typeface="Calibri" panose="020F0502020204030204" pitchFamily="34" charset="0"/>
              </a:rPr>
              <a:t> or a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Composite</a:t>
            </a:r>
            <a:r>
              <a:rPr lang="en-US" sz="2400" dirty="0">
                <a:latin typeface="Cambria" panose="02040503050406030204" pitchFamily="18" charset="0"/>
                <a:ea typeface="Cambria" panose="02040503050406030204" pitchFamily="18" charset="0"/>
                <a:cs typeface="Calibri" panose="020F0502020204030204" pitchFamily="34" charset="0"/>
              </a:rPr>
              <a:t> or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Bridge Entity.</a:t>
            </a:r>
            <a:r>
              <a:rPr lang="en-US" sz="2400" dirty="0">
                <a:latin typeface="Cambria" panose="02040503050406030204" pitchFamily="18" charset="0"/>
                <a:ea typeface="Cambria" panose="02040503050406030204" pitchFamily="18" charset="0"/>
                <a:cs typeface="Calibri" panose="020F0502020204030204" pitchFamily="34" charset="0"/>
              </a:rPr>
              <a:t> </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Associative entity is an entity derived from a relationship.</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47DEED1F-A1D0-9234-1C1B-14B031D215A6}"/>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53893246-6C43-182F-D361-E7ADD0122D64}"/>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2" name="Picture 2">
            <a:extLst>
              <a:ext uri="{FF2B5EF4-FFF2-40B4-BE49-F238E27FC236}">
                <a16:creationId xmlns:a16="http://schemas.microsoft.com/office/drawing/2014/main" id="{010007D4-A3E8-B613-D7CA-DFA638D4C6C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2123206"/>
            <a:ext cx="3973513"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a:extLst>
              <a:ext uri="{FF2B5EF4-FFF2-40B4-BE49-F238E27FC236}">
                <a16:creationId xmlns:a16="http://schemas.microsoft.com/office/drawing/2014/main" id="{605F174F-EC56-6A26-2F8F-238DE74888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3779291"/>
            <a:ext cx="8953500"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070605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C89E6-DD4E-3768-062F-CC39AAD02BC8}"/>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8F0918F0-EE58-7EBA-2ADF-ABEF834B1D37}"/>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Associative Entity</a:t>
            </a:r>
          </a:p>
        </p:txBody>
      </p:sp>
      <p:sp>
        <p:nvSpPr>
          <p:cNvPr id="3" name="Footer Placeholder 2">
            <a:extLst>
              <a:ext uri="{FF2B5EF4-FFF2-40B4-BE49-F238E27FC236}">
                <a16:creationId xmlns:a16="http://schemas.microsoft.com/office/drawing/2014/main" id="{8F5E41B0-45A8-8D03-14B2-6B859994CEB0}"/>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36FAAA32-A110-558B-15D3-BB35F62D4F0C}"/>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7" name="Rectangle 3">
            <a:extLst>
              <a:ext uri="{FF2B5EF4-FFF2-40B4-BE49-F238E27FC236}">
                <a16:creationId xmlns:a16="http://schemas.microsoft.com/office/drawing/2014/main" id="{855153EC-3E0F-9E05-5EF3-9A8D06C4F60B}"/>
              </a:ext>
            </a:extLst>
          </p:cNvPr>
          <p:cNvSpPr>
            <a:spLocks noChangeArrowheads="1"/>
          </p:cNvSpPr>
          <p:nvPr/>
        </p:nvSpPr>
        <p:spPr bwMode="auto">
          <a:xfrm>
            <a:off x="838200" y="3237135"/>
            <a:ext cx="1905000"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400"/>
              <a:t>EMPLOYEE</a:t>
            </a:r>
          </a:p>
        </p:txBody>
      </p:sp>
      <p:sp>
        <p:nvSpPr>
          <p:cNvPr id="8" name="Rectangle 4">
            <a:extLst>
              <a:ext uri="{FF2B5EF4-FFF2-40B4-BE49-F238E27FC236}">
                <a16:creationId xmlns:a16="http://schemas.microsoft.com/office/drawing/2014/main" id="{4BF8A4D0-7DF1-6968-B92C-27DA24577B3D}"/>
              </a:ext>
            </a:extLst>
          </p:cNvPr>
          <p:cNvSpPr>
            <a:spLocks noChangeArrowheads="1"/>
          </p:cNvSpPr>
          <p:nvPr/>
        </p:nvSpPr>
        <p:spPr bwMode="auto">
          <a:xfrm>
            <a:off x="6400800" y="3160935"/>
            <a:ext cx="1905000"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400"/>
              <a:t>COURSE</a:t>
            </a:r>
          </a:p>
        </p:txBody>
      </p:sp>
      <p:sp>
        <p:nvSpPr>
          <p:cNvPr id="9" name="Oval 5">
            <a:extLst>
              <a:ext uri="{FF2B5EF4-FFF2-40B4-BE49-F238E27FC236}">
                <a16:creationId xmlns:a16="http://schemas.microsoft.com/office/drawing/2014/main" id="{97F7602D-3FE8-111B-CF78-C5B851ECE6C4}"/>
              </a:ext>
            </a:extLst>
          </p:cNvPr>
          <p:cNvSpPr>
            <a:spLocks noChangeArrowheads="1"/>
          </p:cNvSpPr>
          <p:nvPr/>
        </p:nvSpPr>
        <p:spPr bwMode="auto">
          <a:xfrm>
            <a:off x="2133600" y="1713135"/>
            <a:ext cx="1905000" cy="838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Employee_Name</a:t>
            </a:r>
          </a:p>
        </p:txBody>
      </p:sp>
      <p:sp>
        <p:nvSpPr>
          <p:cNvPr id="10" name="Oval 6">
            <a:extLst>
              <a:ext uri="{FF2B5EF4-FFF2-40B4-BE49-F238E27FC236}">
                <a16:creationId xmlns:a16="http://schemas.microsoft.com/office/drawing/2014/main" id="{77B9DEA2-CE4F-1F60-888C-C6621BE424B8}"/>
              </a:ext>
            </a:extLst>
          </p:cNvPr>
          <p:cNvSpPr>
            <a:spLocks noChangeArrowheads="1"/>
          </p:cNvSpPr>
          <p:nvPr/>
        </p:nvSpPr>
        <p:spPr bwMode="auto">
          <a:xfrm>
            <a:off x="304800" y="4532535"/>
            <a:ext cx="1905000" cy="838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Birth_Date</a:t>
            </a:r>
          </a:p>
        </p:txBody>
      </p:sp>
      <p:sp>
        <p:nvSpPr>
          <p:cNvPr id="11" name="Oval 7">
            <a:extLst>
              <a:ext uri="{FF2B5EF4-FFF2-40B4-BE49-F238E27FC236}">
                <a16:creationId xmlns:a16="http://schemas.microsoft.com/office/drawing/2014/main" id="{AC0AAB1E-0049-9E86-AFC8-B5EB2E44AA32}"/>
              </a:ext>
            </a:extLst>
          </p:cNvPr>
          <p:cNvSpPr>
            <a:spLocks noChangeArrowheads="1"/>
          </p:cNvSpPr>
          <p:nvPr/>
        </p:nvSpPr>
        <p:spPr bwMode="auto">
          <a:xfrm>
            <a:off x="7162800" y="1560735"/>
            <a:ext cx="1905000" cy="838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Course_ID</a:t>
            </a:r>
          </a:p>
        </p:txBody>
      </p:sp>
      <p:sp>
        <p:nvSpPr>
          <p:cNvPr id="12" name="Oval 8">
            <a:extLst>
              <a:ext uri="{FF2B5EF4-FFF2-40B4-BE49-F238E27FC236}">
                <a16:creationId xmlns:a16="http://schemas.microsoft.com/office/drawing/2014/main" id="{0E68F21F-F513-09EF-5771-B8962FD6B317}"/>
              </a:ext>
            </a:extLst>
          </p:cNvPr>
          <p:cNvSpPr>
            <a:spLocks noChangeArrowheads="1"/>
          </p:cNvSpPr>
          <p:nvPr/>
        </p:nvSpPr>
        <p:spPr bwMode="auto">
          <a:xfrm>
            <a:off x="7239000" y="4227735"/>
            <a:ext cx="1905000" cy="838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Topic</a:t>
            </a:r>
          </a:p>
        </p:txBody>
      </p:sp>
      <p:sp>
        <p:nvSpPr>
          <p:cNvPr id="13" name="Oval 9">
            <a:extLst>
              <a:ext uri="{FF2B5EF4-FFF2-40B4-BE49-F238E27FC236}">
                <a16:creationId xmlns:a16="http://schemas.microsoft.com/office/drawing/2014/main" id="{E03A34ED-580A-19FB-37FC-E0585ECD09FF}"/>
              </a:ext>
            </a:extLst>
          </p:cNvPr>
          <p:cNvSpPr>
            <a:spLocks noChangeArrowheads="1"/>
          </p:cNvSpPr>
          <p:nvPr/>
        </p:nvSpPr>
        <p:spPr bwMode="auto">
          <a:xfrm>
            <a:off x="4800600" y="4303935"/>
            <a:ext cx="1905000" cy="838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Course_Title</a:t>
            </a:r>
          </a:p>
        </p:txBody>
      </p:sp>
      <p:cxnSp>
        <p:nvCxnSpPr>
          <p:cNvPr id="14" name="AutoShape 10">
            <a:extLst>
              <a:ext uri="{FF2B5EF4-FFF2-40B4-BE49-F238E27FC236}">
                <a16:creationId xmlns:a16="http://schemas.microsoft.com/office/drawing/2014/main" id="{C24156D0-23B2-52BE-EF1C-70E23EDE1A07}"/>
              </a:ext>
            </a:extLst>
          </p:cNvPr>
          <p:cNvCxnSpPr>
            <a:cxnSpLocks noChangeShapeType="1"/>
            <a:stCxn id="7" idx="0"/>
            <a:endCxn id="29" idx="4"/>
          </p:cNvCxnSpPr>
          <p:nvPr/>
        </p:nvCxnSpPr>
        <p:spPr bwMode="auto">
          <a:xfrm flipH="1" flipV="1">
            <a:off x="1104900" y="2627535"/>
            <a:ext cx="685800" cy="6096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 name="AutoShape 11">
            <a:extLst>
              <a:ext uri="{FF2B5EF4-FFF2-40B4-BE49-F238E27FC236}">
                <a16:creationId xmlns:a16="http://schemas.microsoft.com/office/drawing/2014/main" id="{4B5685EA-9358-6433-F396-B749810C1241}"/>
              </a:ext>
            </a:extLst>
          </p:cNvPr>
          <p:cNvCxnSpPr>
            <a:cxnSpLocks noChangeShapeType="1"/>
            <a:stCxn id="7" idx="0"/>
            <a:endCxn id="9" idx="4"/>
          </p:cNvCxnSpPr>
          <p:nvPr/>
        </p:nvCxnSpPr>
        <p:spPr bwMode="auto">
          <a:xfrm flipV="1">
            <a:off x="1790700" y="2551335"/>
            <a:ext cx="1295400" cy="685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 name="AutoShape 12">
            <a:extLst>
              <a:ext uri="{FF2B5EF4-FFF2-40B4-BE49-F238E27FC236}">
                <a16:creationId xmlns:a16="http://schemas.microsoft.com/office/drawing/2014/main" id="{1931ED01-CC08-5ED8-25BC-A348E27E52DD}"/>
              </a:ext>
            </a:extLst>
          </p:cNvPr>
          <p:cNvCxnSpPr>
            <a:cxnSpLocks noChangeShapeType="1"/>
            <a:stCxn id="7" idx="2"/>
            <a:endCxn id="10" idx="0"/>
          </p:cNvCxnSpPr>
          <p:nvPr/>
        </p:nvCxnSpPr>
        <p:spPr bwMode="auto">
          <a:xfrm flipH="1">
            <a:off x="1257300" y="3999135"/>
            <a:ext cx="533400" cy="5334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7" name="AutoShape 13">
            <a:extLst>
              <a:ext uri="{FF2B5EF4-FFF2-40B4-BE49-F238E27FC236}">
                <a16:creationId xmlns:a16="http://schemas.microsoft.com/office/drawing/2014/main" id="{D2FD2BF5-D415-7E1F-E334-787C3A1BF4CF}"/>
              </a:ext>
            </a:extLst>
          </p:cNvPr>
          <p:cNvCxnSpPr>
            <a:cxnSpLocks noChangeShapeType="1"/>
            <a:stCxn id="8" idx="0"/>
            <a:endCxn id="11" idx="4"/>
          </p:cNvCxnSpPr>
          <p:nvPr/>
        </p:nvCxnSpPr>
        <p:spPr bwMode="auto">
          <a:xfrm flipV="1">
            <a:off x="7353300" y="2398935"/>
            <a:ext cx="762000" cy="7620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 name="AutoShape 14">
            <a:extLst>
              <a:ext uri="{FF2B5EF4-FFF2-40B4-BE49-F238E27FC236}">
                <a16:creationId xmlns:a16="http://schemas.microsoft.com/office/drawing/2014/main" id="{48B89161-05DC-18B8-0ADB-B940ABFE955E}"/>
              </a:ext>
            </a:extLst>
          </p:cNvPr>
          <p:cNvCxnSpPr>
            <a:cxnSpLocks noChangeShapeType="1"/>
            <a:stCxn id="8" idx="2"/>
            <a:endCxn id="13" idx="0"/>
          </p:cNvCxnSpPr>
          <p:nvPr/>
        </p:nvCxnSpPr>
        <p:spPr bwMode="auto">
          <a:xfrm flipH="1">
            <a:off x="5753100" y="3922935"/>
            <a:ext cx="1600200" cy="3810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9" name="AutoShape 15">
            <a:extLst>
              <a:ext uri="{FF2B5EF4-FFF2-40B4-BE49-F238E27FC236}">
                <a16:creationId xmlns:a16="http://schemas.microsoft.com/office/drawing/2014/main" id="{B5DD336C-F877-3713-8CC0-173167F50EBF}"/>
              </a:ext>
            </a:extLst>
          </p:cNvPr>
          <p:cNvCxnSpPr>
            <a:cxnSpLocks noChangeShapeType="1"/>
            <a:stCxn id="8" idx="2"/>
            <a:endCxn id="12" idx="0"/>
          </p:cNvCxnSpPr>
          <p:nvPr/>
        </p:nvCxnSpPr>
        <p:spPr bwMode="auto">
          <a:xfrm>
            <a:off x="7353300" y="3922935"/>
            <a:ext cx="83820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0" name="AutoShape 16">
            <a:extLst>
              <a:ext uri="{FF2B5EF4-FFF2-40B4-BE49-F238E27FC236}">
                <a16:creationId xmlns:a16="http://schemas.microsoft.com/office/drawing/2014/main" id="{E3ECD924-83C5-F2E0-50F1-19E9757CD3EB}"/>
              </a:ext>
            </a:extLst>
          </p:cNvPr>
          <p:cNvSpPr>
            <a:spLocks noChangeArrowheads="1"/>
          </p:cNvSpPr>
          <p:nvPr/>
        </p:nvSpPr>
        <p:spPr bwMode="auto">
          <a:xfrm>
            <a:off x="3810000" y="3160935"/>
            <a:ext cx="1676400" cy="838200"/>
          </a:xfrm>
          <a:prstGeom prst="diamond">
            <a:avLst/>
          </a:prstGeom>
          <a:solidFill>
            <a:srgbClr val="00B0F0"/>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400"/>
              <a:t>CERTIFICATE</a:t>
            </a:r>
          </a:p>
        </p:txBody>
      </p:sp>
      <p:cxnSp>
        <p:nvCxnSpPr>
          <p:cNvPr id="21" name="AutoShape 17">
            <a:extLst>
              <a:ext uri="{FF2B5EF4-FFF2-40B4-BE49-F238E27FC236}">
                <a16:creationId xmlns:a16="http://schemas.microsoft.com/office/drawing/2014/main" id="{62C1DAFB-7EA6-5068-9F07-2FF2BBDE0F14}"/>
              </a:ext>
            </a:extLst>
          </p:cNvPr>
          <p:cNvCxnSpPr>
            <a:cxnSpLocks noChangeShapeType="1"/>
            <a:stCxn id="7" idx="3"/>
            <a:endCxn id="30" idx="1"/>
          </p:cNvCxnSpPr>
          <p:nvPr/>
        </p:nvCxnSpPr>
        <p:spPr bwMode="auto">
          <a:xfrm flipV="1">
            <a:off x="2743200" y="3580035"/>
            <a:ext cx="1122363" cy="381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 name="AutoShape 18">
            <a:extLst>
              <a:ext uri="{FF2B5EF4-FFF2-40B4-BE49-F238E27FC236}">
                <a16:creationId xmlns:a16="http://schemas.microsoft.com/office/drawing/2014/main" id="{780BC2E2-494A-D4BF-054E-60CD456349D5}"/>
              </a:ext>
            </a:extLst>
          </p:cNvPr>
          <p:cNvCxnSpPr>
            <a:cxnSpLocks noChangeShapeType="1"/>
            <a:stCxn id="30" idx="3"/>
            <a:endCxn id="8" idx="1"/>
          </p:cNvCxnSpPr>
          <p:nvPr/>
        </p:nvCxnSpPr>
        <p:spPr bwMode="auto">
          <a:xfrm flipV="1">
            <a:off x="5465763" y="3541935"/>
            <a:ext cx="935037" cy="381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3" name="Line 19">
            <a:extLst>
              <a:ext uri="{FF2B5EF4-FFF2-40B4-BE49-F238E27FC236}">
                <a16:creationId xmlns:a16="http://schemas.microsoft.com/office/drawing/2014/main" id="{1EA7E997-102A-EBE7-44C7-D6C520756E49}"/>
              </a:ext>
            </a:extLst>
          </p:cNvPr>
          <p:cNvSpPr>
            <a:spLocks noChangeShapeType="1"/>
          </p:cNvSpPr>
          <p:nvPr/>
        </p:nvSpPr>
        <p:spPr bwMode="auto">
          <a:xfrm>
            <a:off x="5486400" y="3389535"/>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20">
            <a:extLst>
              <a:ext uri="{FF2B5EF4-FFF2-40B4-BE49-F238E27FC236}">
                <a16:creationId xmlns:a16="http://schemas.microsoft.com/office/drawing/2014/main" id="{22408C46-08FB-1AF9-9F78-FF49F96C36F7}"/>
              </a:ext>
            </a:extLst>
          </p:cNvPr>
          <p:cNvSpPr>
            <a:spLocks noChangeShapeType="1"/>
          </p:cNvSpPr>
          <p:nvPr/>
        </p:nvSpPr>
        <p:spPr bwMode="auto">
          <a:xfrm flipH="1">
            <a:off x="5486400" y="3618135"/>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21">
            <a:extLst>
              <a:ext uri="{FF2B5EF4-FFF2-40B4-BE49-F238E27FC236}">
                <a16:creationId xmlns:a16="http://schemas.microsoft.com/office/drawing/2014/main" id="{F29E153F-6EF0-D974-C330-3F8CF589EF61}"/>
              </a:ext>
            </a:extLst>
          </p:cNvPr>
          <p:cNvSpPr>
            <a:spLocks noChangeShapeType="1"/>
          </p:cNvSpPr>
          <p:nvPr/>
        </p:nvSpPr>
        <p:spPr bwMode="auto">
          <a:xfrm flipV="1">
            <a:off x="3657600" y="3389535"/>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22">
            <a:extLst>
              <a:ext uri="{FF2B5EF4-FFF2-40B4-BE49-F238E27FC236}">
                <a16:creationId xmlns:a16="http://schemas.microsoft.com/office/drawing/2014/main" id="{71DDC286-1275-69A6-FF50-8F57E997DA77}"/>
              </a:ext>
            </a:extLst>
          </p:cNvPr>
          <p:cNvSpPr>
            <a:spLocks noChangeShapeType="1"/>
          </p:cNvSpPr>
          <p:nvPr/>
        </p:nvSpPr>
        <p:spPr bwMode="auto">
          <a:xfrm>
            <a:off x="3657600" y="3618135"/>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Oval 23">
            <a:extLst>
              <a:ext uri="{FF2B5EF4-FFF2-40B4-BE49-F238E27FC236}">
                <a16:creationId xmlns:a16="http://schemas.microsoft.com/office/drawing/2014/main" id="{8456015B-543C-A284-7444-0CD5C6C751A2}"/>
              </a:ext>
            </a:extLst>
          </p:cNvPr>
          <p:cNvSpPr>
            <a:spLocks noChangeArrowheads="1"/>
          </p:cNvSpPr>
          <p:nvPr/>
        </p:nvSpPr>
        <p:spPr bwMode="auto">
          <a:xfrm>
            <a:off x="5181600" y="874935"/>
            <a:ext cx="1905000" cy="838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Date_Completed</a:t>
            </a:r>
          </a:p>
        </p:txBody>
      </p:sp>
      <p:cxnSp>
        <p:nvCxnSpPr>
          <p:cNvPr id="28" name="AutoShape 24">
            <a:extLst>
              <a:ext uri="{FF2B5EF4-FFF2-40B4-BE49-F238E27FC236}">
                <a16:creationId xmlns:a16="http://schemas.microsoft.com/office/drawing/2014/main" id="{8A9F19EC-0610-DCFC-4403-FAFDBF16D2C6}"/>
              </a:ext>
            </a:extLst>
          </p:cNvPr>
          <p:cNvCxnSpPr>
            <a:cxnSpLocks noChangeShapeType="1"/>
            <a:stCxn id="27" idx="4"/>
            <a:endCxn id="20" idx="0"/>
          </p:cNvCxnSpPr>
          <p:nvPr/>
        </p:nvCxnSpPr>
        <p:spPr bwMode="auto">
          <a:xfrm flipH="1">
            <a:off x="4648200" y="1713135"/>
            <a:ext cx="1485900" cy="1447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9" name="Oval 25">
            <a:extLst>
              <a:ext uri="{FF2B5EF4-FFF2-40B4-BE49-F238E27FC236}">
                <a16:creationId xmlns:a16="http://schemas.microsoft.com/office/drawing/2014/main" id="{0D351B96-28CA-7021-2622-C66213BEAB21}"/>
              </a:ext>
            </a:extLst>
          </p:cNvPr>
          <p:cNvSpPr>
            <a:spLocks noChangeArrowheads="1"/>
          </p:cNvSpPr>
          <p:nvPr/>
        </p:nvSpPr>
        <p:spPr bwMode="auto">
          <a:xfrm>
            <a:off x="152400" y="1789335"/>
            <a:ext cx="1905000" cy="838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Emploee_ID</a:t>
            </a:r>
          </a:p>
        </p:txBody>
      </p:sp>
      <p:sp>
        <p:nvSpPr>
          <p:cNvPr id="30" name="Rectangle 26">
            <a:extLst>
              <a:ext uri="{FF2B5EF4-FFF2-40B4-BE49-F238E27FC236}">
                <a16:creationId xmlns:a16="http://schemas.microsoft.com/office/drawing/2014/main" id="{C7BB2716-FECA-05F7-18F4-2FF4811CF698}"/>
              </a:ext>
            </a:extLst>
          </p:cNvPr>
          <p:cNvSpPr>
            <a:spLocks noChangeArrowheads="1"/>
          </p:cNvSpPr>
          <p:nvPr/>
        </p:nvSpPr>
        <p:spPr bwMode="auto">
          <a:xfrm>
            <a:off x="3865563" y="3160935"/>
            <a:ext cx="16002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endParaRPr lang="en-US" altLang="en-US" sz="1400"/>
          </a:p>
        </p:txBody>
      </p:sp>
      <p:sp>
        <p:nvSpPr>
          <p:cNvPr id="31" name="Oval 27">
            <a:extLst>
              <a:ext uri="{FF2B5EF4-FFF2-40B4-BE49-F238E27FC236}">
                <a16:creationId xmlns:a16="http://schemas.microsoft.com/office/drawing/2014/main" id="{DED5B7B5-1809-7D18-19BA-D9B1E1F8118F}"/>
              </a:ext>
            </a:extLst>
          </p:cNvPr>
          <p:cNvSpPr>
            <a:spLocks noChangeArrowheads="1"/>
          </p:cNvSpPr>
          <p:nvPr/>
        </p:nvSpPr>
        <p:spPr bwMode="auto">
          <a:xfrm>
            <a:off x="3124200" y="874935"/>
            <a:ext cx="1905000" cy="838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800"/>
              <a:t>Certificate_Number</a:t>
            </a:r>
          </a:p>
        </p:txBody>
      </p:sp>
      <p:cxnSp>
        <p:nvCxnSpPr>
          <p:cNvPr id="24576" name="AutoShape 28">
            <a:extLst>
              <a:ext uri="{FF2B5EF4-FFF2-40B4-BE49-F238E27FC236}">
                <a16:creationId xmlns:a16="http://schemas.microsoft.com/office/drawing/2014/main" id="{51C7EE26-3F5B-C617-D73E-8A7A28374904}"/>
              </a:ext>
            </a:extLst>
          </p:cNvPr>
          <p:cNvCxnSpPr>
            <a:cxnSpLocks noChangeShapeType="1"/>
            <a:stCxn id="31" idx="4"/>
            <a:endCxn id="30" idx="0"/>
          </p:cNvCxnSpPr>
          <p:nvPr/>
        </p:nvCxnSpPr>
        <p:spPr bwMode="auto">
          <a:xfrm>
            <a:off x="4076700" y="1713135"/>
            <a:ext cx="588963" cy="1447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577" name="Text Box 29">
            <a:extLst>
              <a:ext uri="{FF2B5EF4-FFF2-40B4-BE49-F238E27FC236}">
                <a16:creationId xmlns:a16="http://schemas.microsoft.com/office/drawing/2014/main" id="{2C657643-1159-ACA7-61B8-DCB62D7D153E}"/>
              </a:ext>
            </a:extLst>
          </p:cNvPr>
          <p:cNvSpPr txBox="1">
            <a:spLocks noChangeArrowheads="1"/>
          </p:cNvSpPr>
          <p:nvPr/>
        </p:nvSpPr>
        <p:spPr bwMode="auto">
          <a:xfrm>
            <a:off x="2743200" y="5294535"/>
            <a:ext cx="2286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dirty="0">
                <a:solidFill>
                  <a:srgbClr val="FF0000"/>
                </a:solidFill>
                <a:latin typeface="Cambria" panose="02040503050406030204" pitchFamily="18" charset="0"/>
                <a:ea typeface="Cambria" panose="02040503050406030204" pitchFamily="18" charset="0"/>
              </a:rPr>
              <a:t>Associative Entity</a:t>
            </a:r>
          </a:p>
        </p:txBody>
      </p:sp>
      <p:sp>
        <p:nvSpPr>
          <p:cNvPr id="24578" name="Line 30">
            <a:extLst>
              <a:ext uri="{FF2B5EF4-FFF2-40B4-BE49-F238E27FC236}">
                <a16:creationId xmlns:a16="http://schemas.microsoft.com/office/drawing/2014/main" id="{17F45E70-E6F9-FAC8-B3D8-FCF33F67D7FF}"/>
              </a:ext>
            </a:extLst>
          </p:cNvPr>
          <p:cNvSpPr>
            <a:spLocks noChangeShapeType="1"/>
          </p:cNvSpPr>
          <p:nvPr/>
        </p:nvSpPr>
        <p:spPr bwMode="auto">
          <a:xfrm flipV="1">
            <a:off x="3657600" y="4075335"/>
            <a:ext cx="685800" cy="12192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7464899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BFE73-5EA6-669C-7CB3-3B0B9DAC2860}"/>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80058252-6AA6-8F25-08DA-1A43FF813228}"/>
              </a:ext>
            </a:extLst>
          </p:cNvPr>
          <p:cNvSpPr>
            <a:spLocks noGrp="1" noChangeArrowheads="1"/>
          </p:cNvSpPr>
          <p:nvPr>
            <p:ph type="title"/>
          </p:nvPr>
        </p:nvSpPr>
        <p:spPr>
          <a:xfrm>
            <a:off x="323528" y="332656"/>
            <a:ext cx="7689828"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Associative Entity / Ternary Relationship</a:t>
            </a:r>
          </a:p>
        </p:txBody>
      </p:sp>
      <p:pic>
        <p:nvPicPr>
          <p:cNvPr id="3" name="Picture 3">
            <a:extLst>
              <a:ext uri="{FF2B5EF4-FFF2-40B4-BE49-F238E27FC236}">
                <a16:creationId xmlns:a16="http://schemas.microsoft.com/office/drawing/2014/main" id="{067012E0-C779-2D02-1F60-826DB5636A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3978" y="1124744"/>
            <a:ext cx="8656043" cy="417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2">
            <a:extLst>
              <a:ext uri="{FF2B5EF4-FFF2-40B4-BE49-F238E27FC236}">
                <a16:creationId xmlns:a16="http://schemas.microsoft.com/office/drawing/2014/main" id="{67F0F055-18EF-351C-C4B6-83616E9CB5A8}"/>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94025358-99E0-F323-E746-DB56DA4EF559}"/>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0104895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41BE-41F9-74D2-8796-FB41713829D9}"/>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E1E40F55-ED4B-40C9-17DD-F0FDBFF27689}"/>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Converting Relationship to an Associative Entity</a:t>
            </a:r>
          </a:p>
        </p:txBody>
      </p:sp>
      <p:sp>
        <p:nvSpPr>
          <p:cNvPr id="24579" name="Rectangle 3">
            <a:extLst>
              <a:ext uri="{FF2B5EF4-FFF2-40B4-BE49-F238E27FC236}">
                <a16:creationId xmlns:a16="http://schemas.microsoft.com/office/drawing/2014/main" id="{745E9A83-F705-B42F-AE2C-9EA906B6BE0A}"/>
              </a:ext>
            </a:extLst>
          </p:cNvPr>
          <p:cNvSpPr>
            <a:spLocks noGrp="1" noChangeArrowheads="1"/>
          </p:cNvSpPr>
          <p:nvPr>
            <p:ph type="body" idx="1"/>
          </p:nvPr>
        </p:nvSpPr>
        <p:spPr>
          <a:xfrm>
            <a:off x="354013" y="597768"/>
            <a:ext cx="8466137" cy="4343400"/>
          </a:xfrm>
        </p:spPr>
        <p:txBody>
          <a:bodyPr/>
          <a:lstStyle/>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The following situations urge the conversion of a relationship to an Associative Entity.</a:t>
            </a:r>
          </a:p>
          <a:p>
            <a:pPr algn="just">
              <a:spcBef>
                <a:spcPts val="300"/>
              </a:spcBef>
              <a:defRPr/>
            </a:pPr>
            <a:r>
              <a:rPr lang="en-US" altLang="en-US" sz="2400" dirty="0">
                <a:latin typeface="Cambria" panose="02040503050406030204" pitchFamily="18" charset="0"/>
                <a:ea typeface="Cambria" panose="02040503050406030204" pitchFamily="18" charset="0"/>
                <a:cs typeface="Calibri" panose="020F0502020204030204" pitchFamily="34" charset="0"/>
              </a:rPr>
              <a:t>All of the relationships for the participating entity types are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“many”</a:t>
            </a:r>
            <a:r>
              <a:rPr lang="en-US" altLang="en-US" sz="2400" dirty="0">
                <a:latin typeface="Cambria" panose="02040503050406030204" pitchFamily="18" charset="0"/>
                <a:ea typeface="Cambria" panose="02040503050406030204" pitchFamily="18" charset="0"/>
                <a:cs typeface="Calibri" panose="020F0502020204030204" pitchFamily="34" charset="0"/>
              </a:rPr>
              <a:t> relationships</a:t>
            </a:r>
          </a:p>
          <a:p>
            <a:pPr algn="just">
              <a:spcBef>
                <a:spcPts val="300"/>
              </a:spcBef>
              <a:defRPr/>
            </a:pPr>
            <a:r>
              <a:rPr lang="en-US" altLang="en-US" sz="2400" dirty="0">
                <a:latin typeface="Cambria" panose="02040503050406030204" pitchFamily="18" charset="0"/>
                <a:ea typeface="Cambria" panose="02040503050406030204" pitchFamily="18" charset="0"/>
                <a:cs typeface="Calibri" panose="020F0502020204030204" pitchFamily="34" charset="0"/>
              </a:rPr>
              <a:t>The resulting associative entity has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independent meaning</a:t>
            </a:r>
            <a:r>
              <a:rPr lang="en-US" altLang="en-US" sz="2400" dirty="0">
                <a:latin typeface="Cambria" panose="02040503050406030204" pitchFamily="18" charset="0"/>
                <a:ea typeface="Cambria" panose="02040503050406030204" pitchFamily="18" charset="0"/>
                <a:cs typeface="Calibri" panose="020F0502020204030204" pitchFamily="34" charset="0"/>
              </a:rPr>
              <a:t> to end users, &amp; preferably can be identified with a single-attribute identifier</a:t>
            </a:r>
          </a:p>
          <a:p>
            <a:pPr algn="just">
              <a:spcBef>
                <a:spcPts val="300"/>
              </a:spcBef>
              <a:defRPr/>
            </a:pPr>
            <a:r>
              <a:rPr lang="en-US" altLang="en-US" sz="2400" dirty="0">
                <a:latin typeface="Cambria" panose="02040503050406030204" pitchFamily="18" charset="0"/>
                <a:ea typeface="Cambria" panose="02040503050406030204" pitchFamily="18" charset="0"/>
                <a:cs typeface="Calibri" panose="020F0502020204030204" pitchFamily="34" charset="0"/>
              </a:rPr>
              <a:t>The associative entity has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one or more attributes</a:t>
            </a:r>
            <a:r>
              <a:rPr lang="en-US" altLang="en-US" sz="2400" dirty="0">
                <a:latin typeface="Cambria" panose="02040503050406030204" pitchFamily="18" charset="0"/>
                <a:ea typeface="Cambria" panose="02040503050406030204" pitchFamily="18" charset="0"/>
                <a:cs typeface="Calibri" panose="020F0502020204030204" pitchFamily="34" charset="0"/>
              </a:rPr>
              <a:t> in addition to the identifier</a:t>
            </a:r>
          </a:p>
          <a:p>
            <a:pPr algn="just">
              <a:spcBef>
                <a:spcPts val="300"/>
              </a:spcBef>
              <a:defRPr/>
            </a:pPr>
            <a:r>
              <a:rPr lang="en-US" altLang="en-US" sz="2400" dirty="0">
                <a:latin typeface="Cambria" panose="02040503050406030204" pitchFamily="18" charset="0"/>
                <a:ea typeface="Cambria" panose="02040503050406030204" pitchFamily="18" charset="0"/>
                <a:cs typeface="Calibri" panose="020F0502020204030204" pitchFamily="34" charset="0"/>
              </a:rPr>
              <a:t>The associative entity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participates in one or more relationships</a:t>
            </a:r>
            <a:r>
              <a:rPr lang="en-US" altLang="en-US" sz="2400" dirty="0">
                <a:latin typeface="Cambria" panose="02040503050406030204" pitchFamily="18" charset="0"/>
                <a:ea typeface="Cambria" panose="02040503050406030204" pitchFamily="18" charset="0"/>
                <a:cs typeface="Calibri" panose="020F0502020204030204" pitchFamily="34" charset="0"/>
              </a:rPr>
              <a:t> independent of the entities related in associated relationship</a:t>
            </a:r>
          </a:p>
          <a:p>
            <a:pPr algn="just">
              <a:spcBef>
                <a:spcPts val="300"/>
              </a:spcBef>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42B005C5-3C9D-2878-5132-2D8AE40F86E0}"/>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8B94DCCA-A94F-6A72-0C5E-4FFD44E8D8A2}"/>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53811240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341F0-714F-5E1A-24BA-1FFE521B5FA8}"/>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8093CA3D-A719-9650-4B95-4AA23C21D791}"/>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Modeling Repeating Groups</a:t>
            </a:r>
          </a:p>
        </p:txBody>
      </p:sp>
      <p:sp>
        <p:nvSpPr>
          <p:cNvPr id="24579" name="Rectangle 3">
            <a:extLst>
              <a:ext uri="{FF2B5EF4-FFF2-40B4-BE49-F238E27FC236}">
                <a16:creationId xmlns:a16="http://schemas.microsoft.com/office/drawing/2014/main" id="{5E263601-7022-F286-47AE-3811AE3ABA64}"/>
              </a:ext>
            </a:extLst>
          </p:cNvPr>
          <p:cNvSpPr>
            <a:spLocks noGrp="1" noChangeArrowheads="1"/>
          </p:cNvSpPr>
          <p:nvPr>
            <p:ph type="body" idx="1"/>
          </p:nvPr>
        </p:nvSpPr>
        <p:spPr>
          <a:xfrm>
            <a:off x="354013" y="597768"/>
            <a:ext cx="8466137" cy="4343400"/>
          </a:xfrm>
        </p:spPr>
        <p:txBody>
          <a:bodyPr/>
          <a:lstStyle/>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repeating group</a:t>
            </a:r>
            <a:r>
              <a:rPr lang="en-US" sz="2400" dirty="0">
                <a:latin typeface="Cambria" panose="02040503050406030204" pitchFamily="18" charset="0"/>
                <a:ea typeface="Cambria" panose="02040503050406030204" pitchFamily="18" charset="0"/>
                <a:cs typeface="Calibri" panose="020F0502020204030204" pitchFamily="34" charset="0"/>
              </a:rPr>
              <a:t> is a set of two or more multivalued attributes that are logically related. </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 repeating group is converted to a separate entity, and a  relationship is introduced between the new entity and the entity from which it is removed. </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Examples</a:t>
            </a:r>
          </a:p>
          <a:p>
            <a:pPr marL="274638" lvl="1" indent="0" algn="just">
              <a:spcBef>
                <a:spcPts val="300"/>
              </a:spcBef>
              <a:buNone/>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Emp (</a:t>
            </a:r>
            <a:r>
              <a:rPr lang="en-US" dirty="0" err="1">
                <a:solidFill>
                  <a:srgbClr val="FF0000"/>
                </a:solidFill>
                <a:latin typeface="Cambria" panose="02040503050406030204" pitchFamily="18" charset="0"/>
                <a:ea typeface="Cambria" panose="02040503050406030204" pitchFamily="18" charset="0"/>
                <a:cs typeface="Calibri" panose="020F0502020204030204" pitchFamily="34" charset="0"/>
              </a:rPr>
              <a:t>empno</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 </a:t>
            </a:r>
            <a:r>
              <a:rPr lang="en-US" dirty="0" err="1">
                <a:solidFill>
                  <a:srgbClr val="FF0000"/>
                </a:solidFill>
                <a:latin typeface="Cambria" panose="02040503050406030204" pitchFamily="18" charset="0"/>
                <a:ea typeface="Cambria" panose="02040503050406030204" pitchFamily="18" charset="0"/>
                <a:cs typeface="Calibri" panose="020F0502020204030204" pitchFamily="34" charset="0"/>
              </a:rPr>
              <a:t>ename</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 job, …, </a:t>
            </a: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skill#*, skill-name*, s-level*</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a:t>
            </a:r>
          </a:p>
          <a:p>
            <a:pPr marL="274638" lvl="1" indent="0" algn="just">
              <a:spcBef>
                <a:spcPts val="300"/>
              </a:spcBef>
              <a:buNone/>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Student (Regno, </a:t>
            </a:r>
            <a:r>
              <a:rPr lang="en-US" dirty="0" err="1">
                <a:solidFill>
                  <a:srgbClr val="FF0000"/>
                </a:solidFill>
                <a:latin typeface="Cambria" panose="02040503050406030204" pitchFamily="18" charset="0"/>
                <a:ea typeface="Cambria" panose="02040503050406030204" pitchFamily="18" charset="0"/>
                <a:cs typeface="Calibri" panose="020F0502020204030204" pitchFamily="34" charset="0"/>
              </a:rPr>
              <a:t>sname</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 …, </a:t>
            </a: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c-code*, c-title*, c-grade*</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The idea behind introducing the new entity is that the new entity is of independent interest to the organization, rather than just an attribute of other entity types.</a:t>
            </a:r>
          </a:p>
          <a:p>
            <a:pPr algn="just">
              <a:spcBef>
                <a:spcPts val="300"/>
              </a:spcBef>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30C03C5D-6FE4-3139-EBF9-E0D890656BD6}"/>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D0A79C4D-7A3A-2340-326B-D46C0C467B4F}"/>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56694282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7FE1-D152-1041-CD08-2E8DDB51CB3E}"/>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5B461EDF-89C9-3021-564B-AF05B2DFE864}"/>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Modeling Time Variant Data</a:t>
            </a:r>
          </a:p>
        </p:txBody>
      </p:sp>
      <p:sp>
        <p:nvSpPr>
          <p:cNvPr id="24579" name="Rectangle 3">
            <a:extLst>
              <a:ext uri="{FF2B5EF4-FFF2-40B4-BE49-F238E27FC236}">
                <a16:creationId xmlns:a16="http://schemas.microsoft.com/office/drawing/2014/main" id="{AAA2A091-BDDC-0DE3-C060-17A4E2920A42}"/>
              </a:ext>
            </a:extLst>
          </p:cNvPr>
          <p:cNvSpPr>
            <a:spLocks noGrp="1" noChangeArrowheads="1"/>
          </p:cNvSpPr>
          <p:nvPr>
            <p:ph type="body" idx="1"/>
          </p:nvPr>
        </p:nvSpPr>
        <p:spPr>
          <a:xfrm>
            <a:off x="354013" y="597768"/>
            <a:ext cx="8466137" cy="4343400"/>
          </a:xfrm>
        </p:spPr>
        <p:txBody>
          <a:bodyPr/>
          <a:lstStyle/>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time variant data</a:t>
            </a:r>
            <a:r>
              <a:rPr lang="en-US" sz="2400" dirty="0">
                <a:latin typeface="Cambria" panose="02040503050406030204" pitchFamily="18" charset="0"/>
                <a:ea typeface="Cambria" panose="02040503050406030204" pitchFamily="18" charset="0"/>
                <a:cs typeface="Calibri" panose="020F0502020204030204" pitchFamily="34" charset="0"/>
              </a:rPr>
              <a:t> is a data whose values change over time. For Example: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Price of a Product</a:t>
            </a:r>
          </a:p>
          <a:p>
            <a:pPr marL="274638" lvl="1" indent="0" algn="just">
              <a:spcBef>
                <a:spcPts val="300"/>
              </a:spcBef>
              <a:buNone/>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Product (P#, P-name, …, </a:t>
            </a: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price</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a:t>
            </a:r>
          </a:p>
          <a:p>
            <a:pPr marL="274638" lvl="1" indent="0" algn="just">
              <a:spcBef>
                <a:spcPts val="300"/>
              </a:spcBef>
              <a:buNone/>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Product (P#, P-name, …, </a:t>
            </a: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price*, eff-date*</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Each value of the attribute price is time stamped with its effective data.</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 Time Stamp is a time value associated with any data value.</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 time stamp is used when we need to maintain a history of data values that change over time.</a:t>
            </a:r>
          </a:p>
          <a:p>
            <a:pPr algn="just">
              <a:spcBef>
                <a:spcPts val="300"/>
              </a:spcBef>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95AF776D-590A-6D28-1E7B-131BF95AD736}"/>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0189644B-F84C-7C8E-00C2-06C02313C0A5}"/>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3004174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98586-5D20-C2B1-6AEB-509C732CCF18}"/>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F948A434-3271-4C71-178E-BA5B515526AC}"/>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ER Traps or Connection Traps</a:t>
            </a:r>
          </a:p>
        </p:txBody>
      </p:sp>
      <p:sp>
        <p:nvSpPr>
          <p:cNvPr id="24579" name="Rectangle 3">
            <a:extLst>
              <a:ext uri="{FF2B5EF4-FFF2-40B4-BE49-F238E27FC236}">
                <a16:creationId xmlns:a16="http://schemas.microsoft.com/office/drawing/2014/main" id="{6EBA5A6F-8EC1-A37F-5B5C-4370F290DD22}"/>
              </a:ext>
            </a:extLst>
          </p:cNvPr>
          <p:cNvSpPr>
            <a:spLocks noGrp="1" noChangeArrowheads="1"/>
          </p:cNvSpPr>
          <p:nvPr>
            <p:ph type="body" idx="1"/>
          </p:nvPr>
        </p:nvSpPr>
        <p:spPr>
          <a:xfrm>
            <a:off x="354013" y="597768"/>
            <a:ext cx="8466137" cy="4343400"/>
          </a:xfrm>
        </p:spPr>
        <p:txBody>
          <a:bodyPr/>
          <a:lstStyle/>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Following two problems or issues that may arise due to misinterpretation of the meaning of certain relationships.</a:t>
            </a:r>
          </a:p>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a) Fan Trap:</a:t>
            </a:r>
            <a:r>
              <a:rPr lang="en-US" sz="2400" dirty="0">
                <a:latin typeface="Cambria" panose="02040503050406030204" pitchFamily="18" charset="0"/>
                <a:ea typeface="Cambria" panose="02040503050406030204" pitchFamily="18" charset="0"/>
                <a:cs typeface="Calibri" panose="020F0502020204030204" pitchFamily="34" charset="0"/>
              </a:rPr>
              <a:t> </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 model represents a relationship between entity types, but the pathway between certain entity occurrences is ambiguous.</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 fan trap may exist where two or more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1:*</a:t>
            </a:r>
            <a:r>
              <a:rPr lang="en-US" sz="2400" dirty="0">
                <a:latin typeface="Cambria" panose="02040503050406030204" pitchFamily="18" charset="0"/>
                <a:ea typeface="Cambria" panose="02040503050406030204" pitchFamily="18" charset="0"/>
                <a:cs typeface="Calibri" panose="020F0502020204030204" pitchFamily="34" charset="0"/>
              </a:rPr>
              <a:t> relationships fan out from the same entity.</a:t>
            </a:r>
          </a:p>
          <a:p>
            <a:pPr marL="0" indent="0" algn="just">
              <a:spcBef>
                <a:spcPts val="300"/>
              </a:spcBef>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b) Chasm Trap:</a:t>
            </a:r>
            <a:r>
              <a:rPr lang="en-US" sz="2400" dirty="0">
                <a:latin typeface="Cambria" panose="02040503050406030204" pitchFamily="18" charset="0"/>
                <a:ea typeface="Cambria" panose="02040503050406030204" pitchFamily="18" charset="0"/>
                <a:cs typeface="Calibri" panose="020F0502020204030204" pitchFamily="34" charset="0"/>
              </a:rPr>
              <a:t> </a:t>
            </a: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A model suggests the existence of a relationship between entity</a:t>
            </a:r>
          </a:p>
          <a:p>
            <a:pPr algn="just">
              <a:spcBef>
                <a:spcPts val="300"/>
              </a:spcBef>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210C4191-805B-01F3-FD8D-74F5A89C6748}"/>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1B56F2DC-EF80-5BAB-7A4C-A56C7025E373}"/>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98223687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A13A7-3B9E-4F21-01F4-AD2611081210}"/>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E5B3F5C3-0767-7731-A19B-FB2328483915}"/>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Fan Trap</a:t>
            </a:r>
          </a:p>
        </p:txBody>
      </p:sp>
      <p:sp>
        <p:nvSpPr>
          <p:cNvPr id="24579" name="Rectangle 3">
            <a:extLst>
              <a:ext uri="{FF2B5EF4-FFF2-40B4-BE49-F238E27FC236}">
                <a16:creationId xmlns:a16="http://schemas.microsoft.com/office/drawing/2014/main" id="{FF4CA4EC-D91A-610F-96E5-9CB0F27114B0}"/>
              </a:ext>
            </a:extLst>
          </p:cNvPr>
          <p:cNvSpPr>
            <a:spLocks noGrp="1" noChangeArrowheads="1"/>
          </p:cNvSpPr>
          <p:nvPr>
            <p:ph type="body" idx="1"/>
          </p:nvPr>
        </p:nvSpPr>
        <p:spPr>
          <a:xfrm>
            <a:off x="354013" y="597768"/>
            <a:ext cx="8466137" cy="4343400"/>
          </a:xfrm>
        </p:spPr>
        <p:txBody>
          <a:bodyPr/>
          <a:lstStyle/>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Which members of staff work at a particular branch cannot be answered using ERD shown below.</a:t>
            </a:r>
          </a:p>
          <a:p>
            <a:pPr algn="just">
              <a:spcBef>
                <a:spcPts val="300"/>
              </a:spcBef>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The following ERD resolves the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fan trap.</a:t>
            </a:r>
            <a:r>
              <a:rPr lang="en-US" sz="2400" dirty="0">
                <a:latin typeface="Cambria" panose="02040503050406030204" pitchFamily="18" charset="0"/>
                <a:ea typeface="Cambria" panose="02040503050406030204" pitchFamily="18" charset="0"/>
                <a:cs typeface="Calibri" panose="020F0502020204030204" pitchFamily="34" charset="0"/>
              </a:rPr>
              <a:t> </a:t>
            </a:r>
          </a:p>
          <a:p>
            <a:pPr algn="just">
              <a:spcBef>
                <a:spcPts val="300"/>
              </a:spcBef>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B5B4B127-D7A5-81B3-15BE-3BDD29FCD2CB}"/>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D63F0061-8AD1-A82D-6178-97ADC761A983}"/>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2" name="Picture 1">
            <a:extLst>
              <a:ext uri="{FF2B5EF4-FFF2-40B4-BE49-F238E27FC236}">
                <a16:creationId xmlns:a16="http://schemas.microsoft.com/office/drawing/2014/main" id="{7989EBFF-63AC-3B5D-54D6-8BF56B9884D7}"/>
              </a:ext>
            </a:extLst>
          </p:cNvPr>
          <p:cNvPicPr>
            <a:picLocks noChangeAspect="1"/>
          </p:cNvPicPr>
          <p:nvPr/>
        </p:nvPicPr>
        <p:blipFill>
          <a:blip r:embed="rId2"/>
          <a:stretch>
            <a:fillRect/>
          </a:stretch>
        </p:blipFill>
        <p:spPr>
          <a:xfrm>
            <a:off x="302665" y="1412776"/>
            <a:ext cx="8661823" cy="1152128"/>
          </a:xfrm>
          <a:prstGeom prst="rect">
            <a:avLst/>
          </a:prstGeom>
        </p:spPr>
      </p:pic>
      <p:pic>
        <p:nvPicPr>
          <p:cNvPr id="5" name="Picture 4">
            <a:extLst>
              <a:ext uri="{FF2B5EF4-FFF2-40B4-BE49-F238E27FC236}">
                <a16:creationId xmlns:a16="http://schemas.microsoft.com/office/drawing/2014/main" id="{F6FC9D3E-1AE6-F586-A8FF-3BAED9CFA6A4}"/>
              </a:ext>
            </a:extLst>
          </p:cNvPr>
          <p:cNvPicPr>
            <a:picLocks noChangeAspect="1"/>
          </p:cNvPicPr>
          <p:nvPr/>
        </p:nvPicPr>
        <p:blipFill>
          <a:blip r:embed="rId3"/>
          <a:stretch>
            <a:fillRect/>
          </a:stretch>
        </p:blipFill>
        <p:spPr>
          <a:xfrm>
            <a:off x="179512" y="3140968"/>
            <a:ext cx="8856984" cy="2509753"/>
          </a:xfrm>
          <a:prstGeom prst="rect">
            <a:avLst/>
          </a:prstGeom>
        </p:spPr>
      </p:pic>
    </p:spTree>
    <p:extLst>
      <p:ext uri="{BB962C8B-B14F-4D97-AF65-F5344CB8AC3E}">
        <p14:creationId xmlns:p14="http://schemas.microsoft.com/office/powerpoint/2010/main" val="305520952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C9055-3102-DD47-4C31-303A4B0F0547}"/>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07953AFA-B316-80EA-35E8-A8E7F1DD211A}"/>
              </a:ext>
            </a:extLst>
          </p:cNvPr>
          <p:cNvSpPr>
            <a:spLocks noGrp="1" noChangeArrowheads="1"/>
          </p:cNvSpPr>
          <p:nvPr>
            <p:ph type="title"/>
          </p:nvPr>
        </p:nvSpPr>
        <p:spPr>
          <a:xfrm>
            <a:off x="323850" y="116632"/>
            <a:ext cx="856863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Chasm Trap</a:t>
            </a:r>
          </a:p>
        </p:txBody>
      </p:sp>
      <p:sp>
        <p:nvSpPr>
          <p:cNvPr id="24579" name="Rectangle 3">
            <a:extLst>
              <a:ext uri="{FF2B5EF4-FFF2-40B4-BE49-F238E27FC236}">
                <a16:creationId xmlns:a16="http://schemas.microsoft.com/office/drawing/2014/main" id="{3643D47E-0F07-A9DE-83AD-150CD91B1F92}"/>
              </a:ext>
            </a:extLst>
          </p:cNvPr>
          <p:cNvSpPr>
            <a:spLocks noGrp="1" noChangeArrowheads="1"/>
          </p:cNvSpPr>
          <p:nvPr>
            <p:ph type="body" idx="1"/>
          </p:nvPr>
        </p:nvSpPr>
        <p:spPr>
          <a:xfrm>
            <a:off x="354013" y="597768"/>
            <a:ext cx="8466137" cy="4343400"/>
          </a:xfrm>
        </p:spPr>
        <p:txBody>
          <a:bodyPr/>
          <a:lstStyle/>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Which properties are available at each branch cannot be answered using ERD shown below.</a:t>
            </a:r>
          </a:p>
          <a:p>
            <a:pPr algn="just">
              <a:spcBef>
                <a:spcPts val="300"/>
              </a:spcBef>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defRPr/>
            </a:pPr>
            <a:r>
              <a:rPr lang="en-US" sz="2400" dirty="0">
                <a:latin typeface="Cambria" panose="02040503050406030204" pitchFamily="18" charset="0"/>
                <a:ea typeface="Cambria" panose="02040503050406030204" pitchFamily="18" charset="0"/>
                <a:cs typeface="Calibri" panose="020F0502020204030204" pitchFamily="34" charset="0"/>
              </a:rPr>
              <a:t>The following ERD resolves the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chasm trap.</a:t>
            </a:r>
            <a:r>
              <a:rPr lang="en-US" sz="2400" dirty="0">
                <a:latin typeface="Cambria" panose="02040503050406030204" pitchFamily="18" charset="0"/>
                <a:ea typeface="Cambria" panose="02040503050406030204" pitchFamily="18" charset="0"/>
                <a:cs typeface="Calibri" panose="020F0502020204030204" pitchFamily="34" charset="0"/>
              </a:rPr>
              <a:t> </a:t>
            </a:r>
          </a:p>
          <a:p>
            <a:pPr algn="just">
              <a:spcBef>
                <a:spcPts val="300"/>
              </a:spcBef>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F51037AD-9B58-8BA4-7422-718A9B798B4C}"/>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19C97560-C5D8-A575-BDC8-CDCF76477DF0}"/>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6" name="Picture 5">
            <a:extLst>
              <a:ext uri="{FF2B5EF4-FFF2-40B4-BE49-F238E27FC236}">
                <a16:creationId xmlns:a16="http://schemas.microsoft.com/office/drawing/2014/main" id="{DC56E336-09BA-EB0C-7397-6861792D4B5A}"/>
              </a:ext>
            </a:extLst>
          </p:cNvPr>
          <p:cNvPicPr>
            <a:picLocks noChangeAspect="1"/>
          </p:cNvPicPr>
          <p:nvPr/>
        </p:nvPicPr>
        <p:blipFill>
          <a:blip r:embed="rId2"/>
          <a:stretch>
            <a:fillRect/>
          </a:stretch>
        </p:blipFill>
        <p:spPr>
          <a:xfrm>
            <a:off x="341966" y="1484784"/>
            <a:ext cx="8676455" cy="974622"/>
          </a:xfrm>
          <a:prstGeom prst="rect">
            <a:avLst/>
          </a:prstGeom>
        </p:spPr>
      </p:pic>
      <p:pic>
        <p:nvPicPr>
          <p:cNvPr id="7" name="Picture 6">
            <a:extLst>
              <a:ext uri="{FF2B5EF4-FFF2-40B4-BE49-F238E27FC236}">
                <a16:creationId xmlns:a16="http://schemas.microsoft.com/office/drawing/2014/main" id="{1F40DFC1-1AFD-15E2-06A9-B93CD08DFD9A}"/>
              </a:ext>
            </a:extLst>
          </p:cNvPr>
          <p:cNvPicPr>
            <a:picLocks noChangeAspect="1"/>
          </p:cNvPicPr>
          <p:nvPr/>
        </p:nvPicPr>
        <p:blipFill>
          <a:blip r:embed="rId3"/>
          <a:stretch>
            <a:fillRect/>
          </a:stretch>
        </p:blipFill>
        <p:spPr>
          <a:xfrm>
            <a:off x="74318" y="3135037"/>
            <a:ext cx="8818162" cy="1446091"/>
          </a:xfrm>
          <a:prstGeom prst="rect">
            <a:avLst/>
          </a:prstGeom>
        </p:spPr>
      </p:pic>
    </p:spTree>
    <p:extLst>
      <p:ext uri="{BB962C8B-B14F-4D97-AF65-F5344CB8AC3E}">
        <p14:creationId xmlns:p14="http://schemas.microsoft.com/office/powerpoint/2010/main" val="27752208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5904A93-CB81-221B-5F0A-AB1BC4FDABD4}"/>
              </a:ext>
            </a:extLst>
          </p:cNvPr>
          <p:cNvSpPr>
            <a:spLocks noGrp="1" noChangeArrowheads="1"/>
          </p:cNvSpPr>
          <p:nvPr>
            <p:ph type="title"/>
          </p:nvPr>
        </p:nvSpPr>
        <p:spPr>
          <a:xfrm>
            <a:off x="373062" y="91480"/>
            <a:ext cx="6886575" cy="457200"/>
          </a:xfrm>
        </p:spPr>
        <p:txBody>
          <a:bodyPr/>
          <a:lstStyle/>
          <a:p>
            <a:pPr eaLnBrk="1" hangingPunct="1"/>
            <a:r>
              <a:rPr lang="en-US" altLang="en-US" sz="2400" b="1" u="sng" dirty="0">
                <a:solidFill>
                  <a:srgbClr val="D34817"/>
                </a:solidFill>
                <a:latin typeface="Cambria" panose="02040503050406030204" pitchFamily="18" charset="0"/>
                <a:ea typeface="Cambria" panose="02040503050406030204" pitchFamily="18" charset="0"/>
              </a:rPr>
              <a:t>Reading Material</a:t>
            </a:r>
          </a:p>
        </p:txBody>
      </p:sp>
      <p:sp>
        <p:nvSpPr>
          <p:cNvPr id="33795" name="Rectangle 3">
            <a:extLst>
              <a:ext uri="{FF2B5EF4-FFF2-40B4-BE49-F238E27FC236}">
                <a16:creationId xmlns:a16="http://schemas.microsoft.com/office/drawing/2014/main" id="{87B319E3-B4CB-9CFB-2694-5EE6DD035BEF}"/>
              </a:ext>
            </a:extLst>
          </p:cNvPr>
          <p:cNvSpPr txBox="1">
            <a:spLocks noChangeArrowheads="1"/>
          </p:cNvSpPr>
          <p:nvPr/>
        </p:nvSpPr>
        <p:spPr bwMode="auto">
          <a:xfrm>
            <a:off x="266700" y="404664"/>
            <a:ext cx="8610600" cy="306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914400" indent="-4572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822325"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096963"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1371600" indent="-228600">
              <a:spcBef>
                <a:spcPts val="375"/>
              </a:spcBef>
              <a:buClr>
                <a:srgbClr val="A28E6A"/>
              </a:buClr>
              <a:buChar char="o"/>
              <a:defRPr sz="2000">
                <a:solidFill>
                  <a:schemeClr val="tx1"/>
                </a:solidFill>
                <a:latin typeface="Perpetua" panose="02020502060401020303" pitchFamily="18" charset="0"/>
              </a:defRPr>
            </a:lvl5pPr>
            <a:lvl6pPr marL="1828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286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2743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2004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457200" marR="0" lvl="0" indent="-457200" algn="l" defTabSz="914400" rtl="0" eaLnBrk="1" fontAlgn="base" latinLnBrk="0" hangingPunct="1">
              <a:lnSpc>
                <a:spcPct val="100000"/>
              </a:lnSpc>
              <a:spcBef>
                <a:spcPts val="575"/>
              </a:spcBef>
              <a:spcAft>
                <a:spcPct val="0"/>
              </a:spcAft>
              <a:buClr>
                <a:srgbClr val="D34817"/>
              </a:buClr>
              <a:buSzPct val="85000"/>
              <a:buFont typeface="+mj-lt"/>
              <a:buAutoNum type="alphaUcPeriod"/>
              <a:tabLst/>
              <a:defRPr/>
            </a:pPr>
            <a:r>
              <a:rPr kumimoji="0" lang="en-US" altLang="en-US" sz="2400" b="0" i="0" u="none" strike="noStrike" kern="1200" cap="none" spc="0" normalizeH="0" baseline="0" noProof="0" dirty="0">
                <a:ln>
                  <a:noFill/>
                </a:ln>
                <a:solidFill>
                  <a:prstClr val="black"/>
                </a:solidFill>
                <a:effectLst/>
                <a:uLnTx/>
                <a:uFillTx/>
                <a:latin typeface="Perpetua" panose="02020502060401020303" pitchFamily="18" charset="0"/>
                <a:ea typeface="+mn-ea"/>
                <a:cs typeface="+mn-cs"/>
              </a:rPr>
              <a:t>Database Systems – Design, Implementation and Management: </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Carlos Coronel, Steven Morris (13</a:t>
            </a:r>
            <a:r>
              <a:rPr kumimoji="0" lang="en-US" altLang="en-US" sz="2400" b="0" i="0" u="none" strike="noStrike" kern="1200" cap="none" spc="0" normalizeH="0" baseline="30000" noProof="0" dirty="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mj-lt"/>
              <a:buAutoNum type="alphaUcPeriod"/>
              <a:tabLst/>
              <a:defRPr/>
            </a:pPr>
            <a:r>
              <a:rPr kumimoji="0" lang="en-US" altLang="en-US" sz="2400" b="0" i="0" u="none" strike="noStrike" kern="1200" cap="none" spc="0" normalizeH="0" baseline="0" noProof="0" dirty="0">
                <a:ln>
                  <a:noFill/>
                </a:ln>
                <a:solidFill>
                  <a:prstClr val="black"/>
                </a:solidFill>
                <a:effectLst/>
                <a:uLnTx/>
                <a:uFillTx/>
                <a:latin typeface="Perpetua" panose="02020502060401020303" pitchFamily="18" charset="0"/>
                <a:ea typeface="+mn-ea"/>
                <a:cs typeface="+mn-cs"/>
              </a:rPr>
              <a:t>Modern Database Management: </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Jeffery. A. Hoffer (12</a:t>
            </a:r>
            <a:r>
              <a:rPr kumimoji="0" lang="en-US" altLang="en-US" sz="2400" b="0" i="0" u="none" strike="noStrike" kern="1200" cap="none" spc="0" normalizeH="0" baseline="30000" noProof="0" dirty="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mj-lt"/>
              <a:buAutoNum type="alphaUcPeriod"/>
              <a:tabLst/>
              <a:defRPr/>
            </a:pPr>
            <a:r>
              <a:rPr kumimoji="0" lang="en-US" altLang="en-US" sz="2400" b="0" i="0" u="none" strike="noStrike" kern="1200" cap="none" spc="0" normalizeH="0" baseline="0" noProof="0" dirty="0">
                <a:ln>
                  <a:noFill/>
                </a:ln>
                <a:solidFill>
                  <a:prstClr val="black"/>
                </a:solidFill>
                <a:effectLst/>
                <a:uLnTx/>
                <a:uFillTx/>
                <a:latin typeface="Perpetua" panose="02020502060401020303" pitchFamily="18" charset="0"/>
                <a:ea typeface="+mn-ea"/>
                <a:cs typeface="+mn-cs"/>
              </a:rPr>
              <a:t>Database Systems: </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Thomas M. Connolly (6</a:t>
            </a:r>
            <a:r>
              <a:rPr kumimoji="0" lang="en-US" altLang="en-US" sz="2400" b="0" i="0" u="none" strike="noStrike" kern="1200" cap="none" spc="0" normalizeH="0" baseline="30000" noProof="0" dirty="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mj-lt"/>
              <a:buAutoNum type="alphaUcPeriod"/>
              <a:tabLst/>
              <a:defRPr/>
            </a:pPr>
            <a:r>
              <a:rPr kumimoji="0" lang="en-US" altLang="en-US" sz="2400" b="0" i="0" u="none" strike="noStrike" kern="1200" cap="none" spc="0" normalizeH="0" baseline="0" noProof="0" dirty="0">
                <a:ln>
                  <a:noFill/>
                </a:ln>
                <a:solidFill>
                  <a:prstClr val="black"/>
                </a:solidFill>
                <a:effectLst/>
                <a:uLnTx/>
                <a:uFillTx/>
                <a:latin typeface="Perpetua" panose="02020502060401020303" pitchFamily="18" charset="0"/>
                <a:ea typeface="+mn-ea"/>
                <a:cs typeface="+mn-cs"/>
              </a:rPr>
              <a:t>Fundamentals of Database Systems: </a:t>
            </a:r>
            <a:r>
              <a:rPr kumimoji="0" lang="en-US" altLang="en-US" sz="2400" b="0" i="0" u="none" strike="noStrike" kern="1200" cap="none" spc="0" normalizeH="0" baseline="0" noProof="0" dirty="0" err="1">
                <a:ln>
                  <a:noFill/>
                </a:ln>
                <a:solidFill>
                  <a:srgbClr val="0000FF"/>
                </a:solidFill>
                <a:effectLst/>
                <a:uLnTx/>
                <a:uFillTx/>
                <a:latin typeface="Perpetua" panose="02020502060401020303" pitchFamily="18" charset="0"/>
                <a:ea typeface="+mn-ea"/>
                <a:cs typeface="+mn-cs"/>
              </a:rPr>
              <a:t>Elmasri</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(7</a:t>
            </a:r>
            <a:r>
              <a:rPr kumimoji="0" lang="en-US" altLang="en-US" sz="2400" b="0" i="0" u="none" strike="noStrike" kern="1200" cap="none" spc="0" normalizeH="0" baseline="30000" noProof="0" dirty="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Ed.)</a:t>
            </a:r>
            <a:r>
              <a:rPr kumimoji="0" lang="en-US" altLang="en-US" sz="2400" b="0" i="0" u="none" strike="noStrike" kern="1200" cap="none" spc="0" normalizeH="0" baseline="0" noProof="0" dirty="0">
                <a:ln>
                  <a:noFill/>
                </a:ln>
                <a:solidFill>
                  <a:srgbClr val="9B2D1F"/>
                </a:solidFill>
                <a:effectLst/>
                <a:uLnTx/>
                <a:uFillTx/>
                <a:latin typeface="Perpetua" panose="02020502060401020303" pitchFamily="18" charset="0"/>
                <a:ea typeface="+mn-ea"/>
                <a:cs typeface="+mn-cs"/>
              </a:rPr>
              <a:t> </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mj-lt"/>
              <a:buAutoNum type="alphaUcPeriod"/>
              <a:tabLst/>
              <a:defRPr/>
            </a:pPr>
            <a:r>
              <a:rPr kumimoji="0" lang="en-US" altLang="en-US" sz="2400" b="0" i="0" u="none" strike="noStrike" kern="1200" cap="none" spc="0" normalizeH="0" baseline="0" noProof="0" dirty="0">
                <a:ln>
                  <a:noFill/>
                </a:ln>
                <a:solidFill>
                  <a:prstClr val="black"/>
                </a:solidFill>
                <a:effectLst/>
                <a:uLnTx/>
                <a:uFillTx/>
                <a:latin typeface="Perpetua" panose="02020502060401020303" pitchFamily="18" charset="0"/>
                <a:ea typeface="+mn-ea"/>
                <a:cs typeface="+mn-cs"/>
              </a:rPr>
              <a:t>Database System Concepts: </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Abraham </a:t>
            </a:r>
            <a:r>
              <a:rPr kumimoji="0" lang="en-US" altLang="en-US" sz="2400" b="0" i="0" u="none" strike="noStrike" kern="1200" cap="none" spc="0" normalizeH="0" baseline="0" noProof="0" dirty="0" err="1">
                <a:ln>
                  <a:noFill/>
                </a:ln>
                <a:solidFill>
                  <a:srgbClr val="0000FF"/>
                </a:solidFill>
                <a:effectLst/>
                <a:uLnTx/>
                <a:uFillTx/>
                <a:latin typeface="Perpetua" panose="02020502060401020303" pitchFamily="18" charset="0"/>
                <a:ea typeface="+mn-ea"/>
                <a:cs typeface="+mn-cs"/>
              </a:rPr>
              <a:t>Silberschatz</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(7</a:t>
            </a:r>
            <a:r>
              <a:rPr kumimoji="0" lang="en-US" altLang="en-US" sz="2400" b="0" i="0" u="none" strike="noStrike" kern="1200" cap="none" spc="0" normalizeH="0" baseline="30000" noProof="0" dirty="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mj-lt"/>
              <a:buAutoNum type="alphaUcPeriod"/>
              <a:tabLst/>
              <a:defRPr/>
            </a:pPr>
            <a:r>
              <a:rPr kumimoji="0" lang="en-US" altLang="en-US" sz="2400" b="0" i="0" u="none" strike="noStrike" kern="1200" cap="none" spc="0" normalizeH="0" baseline="0" noProof="0" dirty="0">
                <a:ln>
                  <a:noFill/>
                </a:ln>
                <a:solidFill>
                  <a:prstClr val="black"/>
                </a:solidFill>
                <a:effectLst/>
                <a:uLnTx/>
                <a:uFillTx/>
                <a:latin typeface="Perpetua" panose="02020502060401020303" pitchFamily="18" charset="0"/>
                <a:ea typeface="+mn-ea"/>
                <a:cs typeface="+mn-cs"/>
              </a:rPr>
              <a:t>Databases Illuminated: </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Catherine M. Ricardo (3rd Ed.)</a:t>
            </a:r>
            <a:endParaRPr kumimoji="0" lang="en-US" altLang="en-US" sz="2400" b="0" i="0" u="none" strike="noStrike" kern="1200" cap="none" spc="0" normalizeH="0" baseline="0" noProof="0" dirty="0">
              <a:ln>
                <a:noFill/>
              </a:ln>
              <a:solidFill>
                <a:srgbClr val="9B2D1F"/>
              </a:solidFill>
              <a:effectLst/>
              <a:uLnTx/>
              <a:uFillTx/>
              <a:latin typeface="Perpetua" panose="02020502060401020303" pitchFamily="18" charset="0"/>
              <a:ea typeface="+mn-ea"/>
              <a:cs typeface="+mn-cs"/>
            </a:endParaRPr>
          </a:p>
        </p:txBody>
      </p:sp>
      <p:graphicFrame>
        <p:nvGraphicFramePr>
          <p:cNvPr id="2" name="Table 1">
            <a:extLst>
              <a:ext uri="{FF2B5EF4-FFF2-40B4-BE49-F238E27FC236}">
                <a16:creationId xmlns:a16="http://schemas.microsoft.com/office/drawing/2014/main" id="{6D1B749A-3943-494C-697C-1066ED1569D9}"/>
              </a:ext>
            </a:extLst>
          </p:cNvPr>
          <p:cNvGraphicFramePr>
            <a:graphicFrameLocks noGrp="1"/>
          </p:cNvGraphicFramePr>
          <p:nvPr>
            <p:extLst>
              <p:ext uri="{D42A27DB-BD31-4B8C-83A1-F6EECF244321}">
                <p14:modId xmlns:p14="http://schemas.microsoft.com/office/powerpoint/2010/main" val="3132611229"/>
              </p:ext>
            </p:extLst>
          </p:nvPr>
        </p:nvGraphicFramePr>
        <p:xfrm>
          <a:off x="1547664" y="3429000"/>
          <a:ext cx="5832648" cy="32004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3534379763"/>
                    </a:ext>
                  </a:extLst>
                </a:gridCol>
                <a:gridCol w="4824536">
                  <a:extLst>
                    <a:ext uri="{9D8B030D-6E8A-4147-A177-3AD203B41FA5}">
                      <a16:colId xmlns:a16="http://schemas.microsoft.com/office/drawing/2014/main" val="947663522"/>
                    </a:ext>
                  </a:extLst>
                </a:gridCol>
              </a:tblGrid>
              <a:tr h="431970">
                <a:tc>
                  <a:txBody>
                    <a:bodyPr/>
                    <a:lstStyle/>
                    <a:p>
                      <a:pPr algn="ctr"/>
                      <a:r>
                        <a:rPr lang="en-US" sz="2400" dirty="0">
                          <a:solidFill>
                            <a:srgbClr val="FFFF00"/>
                          </a:solidFill>
                        </a:rPr>
                        <a:t>Book</a:t>
                      </a:r>
                    </a:p>
                  </a:txBody>
                  <a:tcPr/>
                </a:tc>
                <a:tc>
                  <a:txBody>
                    <a:bodyPr/>
                    <a:lstStyle/>
                    <a:p>
                      <a:pPr algn="ctr"/>
                      <a:r>
                        <a:rPr lang="en-US" sz="2400" dirty="0">
                          <a:solidFill>
                            <a:srgbClr val="FFFF00"/>
                          </a:solidFill>
                        </a:rPr>
                        <a:t>Section(s) / Chapter</a:t>
                      </a:r>
                    </a:p>
                  </a:txBody>
                  <a:tcPr/>
                </a:tc>
                <a:extLst>
                  <a:ext uri="{0D108BD9-81ED-4DB2-BD59-A6C34878D82A}">
                    <a16:rowId xmlns:a16="http://schemas.microsoft.com/office/drawing/2014/main" val="663931968"/>
                  </a:ext>
                </a:extLst>
              </a:tr>
              <a:tr h="431970">
                <a:tc>
                  <a:txBody>
                    <a:bodyPr/>
                    <a:lstStyle/>
                    <a:p>
                      <a:pPr algn="ctr"/>
                      <a:r>
                        <a:rPr lang="en-US" sz="2400" b="0" dirty="0">
                          <a:solidFill>
                            <a:schemeClr val="tx1"/>
                          </a:solidFill>
                        </a:rPr>
                        <a:t>A</a:t>
                      </a:r>
                    </a:p>
                  </a:txBody>
                  <a:tcPr/>
                </a:tc>
                <a:tc>
                  <a:txBody>
                    <a:bodyPr/>
                    <a:lstStyle/>
                    <a:p>
                      <a:pPr algn="l"/>
                      <a:r>
                        <a:rPr lang="en-US" sz="2400" b="0" dirty="0">
                          <a:solidFill>
                            <a:schemeClr val="tx1"/>
                          </a:solidFill>
                        </a:rPr>
                        <a:t>4.1, 4.2</a:t>
                      </a:r>
                    </a:p>
                  </a:txBody>
                  <a:tcPr/>
                </a:tc>
                <a:extLst>
                  <a:ext uri="{0D108BD9-81ED-4DB2-BD59-A6C34878D82A}">
                    <a16:rowId xmlns:a16="http://schemas.microsoft.com/office/drawing/2014/main" val="4150253150"/>
                  </a:ext>
                </a:extLst>
              </a:tr>
              <a:tr h="431970">
                <a:tc>
                  <a:txBody>
                    <a:bodyPr/>
                    <a:lstStyle/>
                    <a:p>
                      <a:pPr algn="ctr"/>
                      <a:r>
                        <a:rPr lang="en-US" sz="2400" dirty="0"/>
                        <a:t>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Chapter 2 (Page 56 to 91)</a:t>
                      </a:r>
                    </a:p>
                  </a:txBody>
                  <a:tcPr/>
                </a:tc>
                <a:extLst>
                  <a:ext uri="{0D108BD9-81ED-4DB2-BD59-A6C34878D82A}">
                    <a16:rowId xmlns:a16="http://schemas.microsoft.com/office/drawing/2014/main" val="2825555299"/>
                  </a:ext>
                </a:extLst>
              </a:tr>
              <a:tr h="431970">
                <a:tc>
                  <a:txBody>
                    <a:bodyPr/>
                    <a:lstStyle/>
                    <a:p>
                      <a:pPr algn="ctr"/>
                      <a:r>
                        <a:rPr lang="en-US" sz="2400" dirty="0"/>
                        <a:t>C</a:t>
                      </a:r>
                    </a:p>
                  </a:txBody>
                  <a:tcPr/>
                </a:tc>
                <a:tc>
                  <a:txBody>
                    <a:bodyPr/>
                    <a:lstStyle/>
                    <a:p>
                      <a:pPr algn="l"/>
                      <a:r>
                        <a:rPr lang="en-US" sz="2400" dirty="0"/>
                        <a:t>12.1, 12.2, to 12.4 to 12.6</a:t>
                      </a:r>
                    </a:p>
                  </a:txBody>
                  <a:tcPr/>
                </a:tc>
                <a:extLst>
                  <a:ext uri="{0D108BD9-81ED-4DB2-BD59-A6C34878D82A}">
                    <a16:rowId xmlns:a16="http://schemas.microsoft.com/office/drawing/2014/main" val="2113190129"/>
                  </a:ext>
                </a:extLst>
              </a:tr>
              <a:tr h="431970">
                <a:tc>
                  <a:txBody>
                    <a:bodyPr/>
                    <a:lstStyle/>
                    <a:p>
                      <a:pPr algn="ctr"/>
                      <a:r>
                        <a:rPr lang="en-US" sz="2400" dirty="0"/>
                        <a:t>D</a:t>
                      </a:r>
                    </a:p>
                  </a:txBody>
                  <a:tcPr/>
                </a:tc>
                <a:tc>
                  <a:txBody>
                    <a:bodyPr/>
                    <a:lstStyle/>
                    <a:p>
                      <a:pPr algn="l"/>
                      <a:r>
                        <a:rPr lang="en-US" sz="2400" dirty="0"/>
                        <a:t>Chapter 3</a:t>
                      </a:r>
                    </a:p>
                  </a:txBody>
                  <a:tcPr/>
                </a:tc>
                <a:extLst>
                  <a:ext uri="{0D108BD9-81ED-4DB2-BD59-A6C34878D82A}">
                    <a16:rowId xmlns:a16="http://schemas.microsoft.com/office/drawing/2014/main" val="1687612469"/>
                  </a:ext>
                </a:extLst>
              </a:tr>
              <a:tr h="431970">
                <a:tc>
                  <a:txBody>
                    <a:bodyPr/>
                    <a:lstStyle/>
                    <a:p>
                      <a:pPr algn="ctr"/>
                      <a:r>
                        <a:rPr lang="en-US" sz="2400" dirty="0"/>
                        <a:t>E</a:t>
                      </a:r>
                    </a:p>
                  </a:txBody>
                  <a:tcPr/>
                </a:tc>
                <a:tc>
                  <a:txBody>
                    <a:bodyPr/>
                    <a:lstStyle/>
                    <a:p>
                      <a:pPr algn="l"/>
                      <a:r>
                        <a:rPr lang="en-US" sz="2400" dirty="0"/>
                        <a:t>6.1, 6.2, 6.4 to 6.6</a:t>
                      </a:r>
                    </a:p>
                  </a:txBody>
                  <a:tcPr/>
                </a:tc>
                <a:extLst>
                  <a:ext uri="{0D108BD9-81ED-4DB2-BD59-A6C34878D82A}">
                    <a16:rowId xmlns:a16="http://schemas.microsoft.com/office/drawing/2014/main" val="2229971778"/>
                  </a:ext>
                </a:extLst>
              </a:tr>
              <a:tr h="431970">
                <a:tc>
                  <a:txBody>
                    <a:bodyPr/>
                    <a:lstStyle/>
                    <a:p>
                      <a:pPr algn="ctr"/>
                      <a:r>
                        <a:rPr lang="en-US" sz="2400" dirty="0"/>
                        <a:t>F</a:t>
                      </a:r>
                    </a:p>
                  </a:txBody>
                  <a:tcPr/>
                </a:tc>
                <a:tc>
                  <a:txBody>
                    <a:bodyPr/>
                    <a:lstStyle/>
                    <a:p>
                      <a:pPr algn="l"/>
                      <a:r>
                        <a:rPr lang="en-US" sz="2400" dirty="0"/>
                        <a:t>3.1, 3.2, 3.5 to 3.8</a:t>
                      </a:r>
                    </a:p>
                  </a:txBody>
                  <a:tcPr/>
                </a:tc>
                <a:extLst>
                  <a:ext uri="{0D108BD9-81ED-4DB2-BD59-A6C34878D82A}">
                    <a16:rowId xmlns:a16="http://schemas.microsoft.com/office/drawing/2014/main" val="1533964198"/>
                  </a:ext>
                </a:extLst>
              </a:tr>
            </a:tbl>
          </a:graphicData>
        </a:graphic>
      </p:graphicFrame>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2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23593</TotalTime>
  <Words>2550</Words>
  <Application>Microsoft Office PowerPoint</Application>
  <PresentationFormat>On-screen Show (4:3)</PresentationFormat>
  <Paragraphs>308</Paragraphs>
  <Slides>40</Slides>
  <Notes>1</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40</vt:i4>
      </vt:variant>
    </vt:vector>
  </HeadingPairs>
  <TitlesOfParts>
    <vt:vector size="51" baseType="lpstr">
      <vt:lpstr>Arial</vt:lpstr>
      <vt:lpstr>Calibri</vt:lpstr>
      <vt:lpstr>Cambria</vt:lpstr>
      <vt:lpstr>Franklin Gothic Book</vt:lpstr>
      <vt:lpstr>Perpetua</vt:lpstr>
      <vt:lpstr>Times New Roman</vt:lpstr>
      <vt:lpstr>Wingdings 2</vt:lpstr>
      <vt:lpstr>1_Equity</vt:lpstr>
      <vt:lpstr>Equity</vt:lpstr>
      <vt:lpstr>2_Equity</vt:lpstr>
      <vt:lpstr>VISIO</vt:lpstr>
      <vt:lpstr>CC-215 Database Systems</vt:lpstr>
      <vt:lpstr>Outline</vt:lpstr>
      <vt:lpstr>Introduction</vt:lpstr>
      <vt:lpstr>ER Model – Basic Constructs</vt:lpstr>
      <vt:lpstr>ER Model – Notations</vt:lpstr>
      <vt:lpstr>Naming Entity Type</vt:lpstr>
      <vt:lpstr>Relationship</vt:lpstr>
      <vt:lpstr>Asscociation Types</vt:lpstr>
      <vt:lpstr>Cardinality of a Relationship </vt:lpstr>
      <vt:lpstr>Relationship Participation</vt:lpstr>
      <vt:lpstr>Relationship Participation</vt:lpstr>
      <vt:lpstr>Relationship Participation</vt:lpstr>
      <vt:lpstr>Sample ERD</vt:lpstr>
      <vt:lpstr>Sample ERD</vt:lpstr>
      <vt:lpstr>Sample ERD</vt:lpstr>
      <vt:lpstr>Roles in a Relationship</vt:lpstr>
      <vt:lpstr>Roles in a Relationship</vt:lpstr>
      <vt:lpstr>Attribute(s) of a Relationship</vt:lpstr>
      <vt:lpstr>Existence Dependency (Weak Entity)</vt:lpstr>
      <vt:lpstr>Relationship Strength</vt:lpstr>
      <vt:lpstr>Relationship Strength</vt:lpstr>
      <vt:lpstr>Weak Entity, Identifying Relationship</vt:lpstr>
      <vt:lpstr>ERD segment for class scheduling</vt:lpstr>
      <vt:lpstr>Degree of a Relationship</vt:lpstr>
      <vt:lpstr>Degree of a Relationship</vt:lpstr>
      <vt:lpstr>Degree of a Relationship</vt:lpstr>
      <vt:lpstr>c) Ternary Relationship</vt:lpstr>
      <vt:lpstr>Ternary Relationship = Three Binary Relationships?</vt:lpstr>
      <vt:lpstr>Ternary Relationship + Binary Relationships</vt:lpstr>
      <vt:lpstr>Weak Entity in a Ternary Relationship</vt:lpstr>
      <vt:lpstr>Associative Entity</vt:lpstr>
      <vt:lpstr>Associative Entity</vt:lpstr>
      <vt:lpstr>Associative Entity / Ternary Relationship</vt:lpstr>
      <vt:lpstr>Converting Relationship to an Associative Entity</vt:lpstr>
      <vt:lpstr>Modeling Repeating Groups</vt:lpstr>
      <vt:lpstr>Modeling Time Variant Data</vt:lpstr>
      <vt:lpstr>ER Traps or Connection Traps</vt:lpstr>
      <vt:lpstr>Fan Trap</vt:lpstr>
      <vt:lpstr>Chasm Trap</vt:lpstr>
      <vt:lpstr>Reading Material</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775</cp:revision>
  <dcterms:created xsi:type="dcterms:W3CDTF">2006-05-17T12:38:56Z</dcterms:created>
  <dcterms:modified xsi:type="dcterms:W3CDTF">2025-10-04T08:15:49Z</dcterms:modified>
</cp:coreProperties>
</file>