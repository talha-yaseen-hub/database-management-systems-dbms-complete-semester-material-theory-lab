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2" r:id="rId1"/>
  </p:sldMasterIdLst>
  <p:notesMasterIdLst>
    <p:notesMasterId r:id="rId36"/>
  </p:notesMasterIdLst>
  <p:handoutMasterIdLst>
    <p:handoutMasterId r:id="rId37"/>
  </p:handoutMasterIdLst>
  <p:sldIdLst>
    <p:sldId id="495" r:id="rId2"/>
    <p:sldId id="506" r:id="rId3"/>
    <p:sldId id="507" r:id="rId4"/>
    <p:sldId id="508" r:id="rId5"/>
    <p:sldId id="509" r:id="rId6"/>
    <p:sldId id="510" r:id="rId7"/>
    <p:sldId id="511" r:id="rId8"/>
    <p:sldId id="512" r:id="rId9"/>
    <p:sldId id="513" r:id="rId10"/>
    <p:sldId id="514" r:id="rId11"/>
    <p:sldId id="515" r:id="rId12"/>
    <p:sldId id="517" r:id="rId13"/>
    <p:sldId id="516" r:id="rId14"/>
    <p:sldId id="518" r:id="rId15"/>
    <p:sldId id="519" r:id="rId16"/>
    <p:sldId id="520" r:id="rId17"/>
    <p:sldId id="521" r:id="rId18"/>
    <p:sldId id="522" r:id="rId19"/>
    <p:sldId id="523" r:id="rId20"/>
    <p:sldId id="524" r:id="rId21"/>
    <p:sldId id="525" r:id="rId22"/>
    <p:sldId id="526" r:id="rId23"/>
    <p:sldId id="527" r:id="rId24"/>
    <p:sldId id="528" r:id="rId25"/>
    <p:sldId id="529" r:id="rId26"/>
    <p:sldId id="530" r:id="rId27"/>
    <p:sldId id="531" r:id="rId28"/>
    <p:sldId id="532" r:id="rId29"/>
    <p:sldId id="533" r:id="rId30"/>
    <p:sldId id="535" r:id="rId31"/>
    <p:sldId id="534" r:id="rId32"/>
    <p:sldId id="536" r:id="rId33"/>
    <p:sldId id="537" r:id="rId34"/>
    <p:sldId id="538" r:id="rId35"/>
  </p:sldIdLst>
  <p:sldSz cx="9144000" cy="6858000" type="screen4x3"/>
  <p:notesSz cx="6858000" cy="9296400"/>
  <p:defaultTex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FFFCC"/>
    <a:srgbClr val="FF0000"/>
    <a:srgbClr val="006600"/>
    <a:srgbClr val="FFFF66"/>
    <a:srgbClr val="00FF00"/>
    <a:srgbClr val="99CCFF"/>
    <a:srgbClr val="3399FF"/>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630" autoAdjust="0"/>
    <p:restoredTop sz="85572" autoAdjust="0"/>
  </p:normalViewPr>
  <p:slideViewPr>
    <p:cSldViewPr>
      <p:cViewPr varScale="1">
        <p:scale>
          <a:sx n="83" d="100"/>
          <a:sy n="83" d="100"/>
        </p:scale>
        <p:origin x="1099"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0EB5BCB3-6E38-2AC3-60BB-69517156C31C}"/>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A80D0CFD-569A-E994-C518-CC4E7D911069}"/>
              </a:ext>
            </a:extLst>
          </p:cNvPr>
          <p:cNvSpPr>
            <a:spLocks noGrp="1" noChangeArrowheads="1"/>
          </p:cNvSpPr>
          <p:nvPr>
            <p:ph type="dt" sz="quarter" idx="1"/>
          </p:nvPr>
        </p:nvSpPr>
        <p:spPr bwMode="auto">
          <a:xfrm>
            <a:off x="3884613" y="0"/>
            <a:ext cx="2973387"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9AC98A21-D7E9-B872-31F3-AD0D90A4C1F8}"/>
              </a:ext>
            </a:extLst>
          </p:cNvPr>
          <p:cNvSpPr>
            <a:spLocks noGrp="1" noChangeArrowheads="1"/>
          </p:cNvSpPr>
          <p:nvPr>
            <p:ph type="ftr" sz="quarter" idx="2"/>
          </p:nvPr>
        </p:nvSpPr>
        <p:spPr bwMode="auto">
          <a:xfrm>
            <a:off x="0" y="8831263"/>
            <a:ext cx="2973388"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4A8F8E53-5C0A-A157-37C1-CE122BF9DEA1}"/>
              </a:ext>
            </a:extLst>
          </p:cNvPr>
          <p:cNvSpPr>
            <a:spLocks noGrp="1" noChangeArrowheads="1"/>
          </p:cNvSpPr>
          <p:nvPr>
            <p:ph type="sldNum" sz="quarter" idx="3"/>
          </p:nvPr>
        </p:nvSpPr>
        <p:spPr bwMode="auto">
          <a:xfrm>
            <a:off x="3884613" y="8831263"/>
            <a:ext cx="2973387" cy="465137"/>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C6754DC0-CE16-410D-B0F9-8ED4C706B7E8}" type="slidenum">
              <a:rPr lang="en-GB" altLang="en-US"/>
              <a:pPr>
                <a:defRPr/>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0EC19E9F-973B-7388-EBBC-4091FDE8EACB}"/>
              </a:ext>
            </a:extLst>
          </p:cNvPr>
          <p:cNvSpPr>
            <a:spLocks noGrp="1" noChangeArrowheads="1"/>
          </p:cNvSpPr>
          <p:nvPr>
            <p:ph type="hdr" sz="quarter"/>
          </p:nvPr>
        </p:nvSpPr>
        <p:spPr bwMode="auto">
          <a:xfrm>
            <a:off x="0"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8B63CB7C-3292-1302-6D87-EAE5EEB686C1}"/>
              </a:ext>
            </a:extLst>
          </p:cNvPr>
          <p:cNvSpPr>
            <a:spLocks noGrp="1" noChangeArrowheads="1"/>
          </p:cNvSpPr>
          <p:nvPr>
            <p:ph type="dt" idx="1"/>
          </p:nvPr>
        </p:nvSpPr>
        <p:spPr bwMode="auto">
          <a:xfrm>
            <a:off x="3883025" y="0"/>
            <a:ext cx="2973388" cy="465138"/>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de-AT"/>
          </a:p>
        </p:txBody>
      </p:sp>
      <p:sp>
        <p:nvSpPr>
          <p:cNvPr id="2052" name="Rectangle 4">
            <a:extLst>
              <a:ext uri="{FF2B5EF4-FFF2-40B4-BE49-F238E27FC236}">
                <a16:creationId xmlns:a16="http://schemas.microsoft.com/office/drawing/2014/main" id="{456D1AD4-A474-722E-4750-CC4319E95AB0}"/>
              </a:ext>
            </a:extLst>
          </p:cNvPr>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20B3F7FC-E3D4-1608-A352-01E79BF97923}"/>
              </a:ext>
            </a:extLst>
          </p:cNvPr>
          <p:cNvSpPr>
            <a:spLocks noGrp="1" noChangeArrowheads="1"/>
          </p:cNvSpPr>
          <p:nvPr>
            <p:ph type="body" sz="quarter" idx="3"/>
          </p:nvPr>
        </p:nvSpPr>
        <p:spPr bwMode="auto">
          <a:xfrm>
            <a:off x="685800" y="4416425"/>
            <a:ext cx="5486400" cy="41830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91DD0294-77C2-A68B-A96D-B6D896DA46A0}"/>
              </a:ext>
            </a:extLst>
          </p:cNvPr>
          <p:cNvSpPr>
            <a:spLocks noGrp="1" noChangeArrowheads="1"/>
          </p:cNvSpPr>
          <p:nvPr>
            <p:ph type="ftr" sz="quarter" idx="4"/>
          </p:nvPr>
        </p:nvSpPr>
        <p:spPr bwMode="auto">
          <a:xfrm>
            <a:off x="0"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0DF885E0-8A18-EF61-01F1-02AFE2F28F13}"/>
              </a:ext>
            </a:extLst>
          </p:cNvPr>
          <p:cNvSpPr>
            <a:spLocks noGrp="1" noChangeArrowheads="1"/>
          </p:cNvSpPr>
          <p:nvPr>
            <p:ph type="sldNum" sz="quarter" idx="5"/>
          </p:nvPr>
        </p:nvSpPr>
        <p:spPr bwMode="auto">
          <a:xfrm>
            <a:off x="3883025" y="8829675"/>
            <a:ext cx="2973388" cy="465138"/>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350A18B0-A384-4461-A62A-ECE580065CD1}" type="slidenum">
              <a:rPr lang="de-AT" altLang="en-US"/>
              <a:pPr>
                <a:defRPr/>
              </a:pPr>
              <a:t>‹#›</a:t>
            </a:fld>
            <a:endParaRPr lang="de-A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5853C4-58D4-E12E-F9D3-6DFE43E741A7}"/>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A0D65C4C-8978-E965-904E-825D91967615}"/>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23136D3B-1E38-B128-44B3-6A013A7071FF}"/>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9D193835-2205-D195-3A01-FB691AD2829B}"/>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E83FC762-605F-3A7B-E754-8B8554C5378A}"/>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dirty="0"/>
              <a:t>Click to edit Master title style</a:t>
            </a:r>
          </a:p>
        </p:txBody>
      </p:sp>
      <p:sp>
        <p:nvSpPr>
          <p:cNvPr id="10" name="Footer Placeholder 16">
            <a:extLst>
              <a:ext uri="{FF2B5EF4-FFF2-40B4-BE49-F238E27FC236}">
                <a16:creationId xmlns:a16="http://schemas.microsoft.com/office/drawing/2014/main" id="{5A97B514-3D2A-02CC-4EBE-220DF49B070A}"/>
              </a:ext>
            </a:extLst>
          </p:cNvPr>
          <p:cNvSpPr>
            <a:spLocks noGrp="1"/>
          </p:cNvSpPr>
          <p:nvPr>
            <p:ph type="ftr" sz="quarter" idx="11"/>
          </p:nvPr>
        </p:nvSpPr>
        <p:spPr>
          <a:xfrm>
            <a:off x="2483768" y="6428184"/>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1" name="Slide Number Placeholder 28">
            <a:extLst>
              <a:ext uri="{FF2B5EF4-FFF2-40B4-BE49-F238E27FC236}">
                <a16:creationId xmlns:a16="http://schemas.microsoft.com/office/drawing/2014/main" id="{A7231800-4E93-AC45-26C7-F83BA69F8A74}"/>
              </a:ext>
            </a:extLst>
          </p:cNvPr>
          <p:cNvSpPr>
            <a:spLocks noGrp="1"/>
          </p:cNvSpPr>
          <p:nvPr>
            <p:ph type="sldNum" sz="quarter" idx="12"/>
          </p:nvPr>
        </p:nvSpPr>
        <p:spPr/>
        <p:txBody>
          <a:bodyPr/>
          <a:lstStyle>
            <a:lvl1pPr>
              <a:defRPr sz="1400">
                <a:solidFill>
                  <a:srgbClr val="FFFFFF"/>
                </a:solidFill>
              </a:defRPr>
            </a:lvl1pPr>
          </a:lstStyle>
          <a:p>
            <a:pPr>
              <a:defRPr/>
            </a:pPr>
            <a:fld id="{5E4C22A4-67DC-44A8-A4FC-CE49B2567C98}" type="slidenum">
              <a:rPr lang="en-US"/>
              <a:pPr>
                <a:defRPr/>
              </a:pPr>
              <a:t>‹#›</a:t>
            </a:fld>
            <a:endParaRPr lang="en-US" dirty="0"/>
          </a:p>
        </p:txBody>
      </p:sp>
    </p:spTree>
    <p:extLst>
      <p:ext uri="{BB962C8B-B14F-4D97-AF65-F5344CB8AC3E}">
        <p14:creationId xmlns:p14="http://schemas.microsoft.com/office/powerpoint/2010/main" val="39884280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BD19D621-57AE-DF6C-3CB8-DA450630DD65}"/>
              </a:ext>
            </a:extLst>
          </p:cNvPr>
          <p:cNvSpPr>
            <a:spLocks noGrp="1"/>
          </p:cNvSpPr>
          <p:nvPr>
            <p:ph type="ftr" sz="quarter" idx="11"/>
          </p:nvPr>
        </p:nvSpPr>
        <p:spPr>
          <a:xfrm>
            <a:off x="2555776" y="6500192"/>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0AA46312-DD6F-C5AE-2F1E-907F31E829E1}"/>
              </a:ext>
            </a:extLst>
          </p:cNvPr>
          <p:cNvSpPr>
            <a:spLocks noGrp="1"/>
          </p:cNvSpPr>
          <p:nvPr>
            <p:ph type="sldNum" sz="quarter" idx="12"/>
          </p:nvPr>
        </p:nvSpPr>
        <p:spPr/>
        <p:txBody>
          <a:bodyPr/>
          <a:lstStyle>
            <a:lvl1pPr>
              <a:defRPr/>
            </a:lvl1pPr>
          </a:lstStyle>
          <a:p>
            <a:pPr>
              <a:defRPr/>
            </a:pPr>
            <a:fld id="{83AC8CC2-3150-4BDA-BDF0-6D695CA2D84D}" type="slidenum">
              <a:rPr lang="en-US"/>
              <a:pPr>
                <a:defRPr/>
              </a:pPr>
              <a:t>‹#›</a:t>
            </a:fld>
            <a:endParaRPr lang="en-US" dirty="0"/>
          </a:p>
        </p:txBody>
      </p:sp>
    </p:spTree>
    <p:extLst>
      <p:ext uri="{BB962C8B-B14F-4D97-AF65-F5344CB8AC3E}">
        <p14:creationId xmlns:p14="http://schemas.microsoft.com/office/powerpoint/2010/main" val="2290552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a:extLst>
              <a:ext uri="{FF2B5EF4-FFF2-40B4-BE49-F238E27FC236}">
                <a16:creationId xmlns:a16="http://schemas.microsoft.com/office/drawing/2014/main" id="{0679A2C8-7DC8-AD37-9652-ABC5705D59FA}"/>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8D45CD1B-92F4-C034-40EE-43ED7BDDC965}"/>
              </a:ext>
            </a:extLst>
          </p:cNvPr>
          <p:cNvSpPr>
            <a:spLocks noGrp="1"/>
          </p:cNvSpPr>
          <p:nvPr>
            <p:ph type="sldNum" sz="quarter" idx="12"/>
          </p:nvPr>
        </p:nvSpPr>
        <p:spPr/>
        <p:txBody>
          <a:bodyPr/>
          <a:lstStyle>
            <a:lvl1pPr>
              <a:defRPr/>
            </a:lvl1pPr>
          </a:lstStyle>
          <a:p>
            <a:pPr>
              <a:defRPr/>
            </a:pPr>
            <a:fld id="{A6BCF859-27D9-4B15-909C-5A9275A8D5B1}" type="slidenum">
              <a:rPr lang="en-US"/>
              <a:pPr>
                <a:defRPr/>
              </a:pPr>
              <a:t>‹#›</a:t>
            </a:fld>
            <a:endParaRPr lang="en-US" dirty="0"/>
          </a:p>
        </p:txBody>
      </p:sp>
    </p:spTree>
    <p:extLst>
      <p:ext uri="{BB962C8B-B14F-4D97-AF65-F5344CB8AC3E}">
        <p14:creationId xmlns:p14="http://schemas.microsoft.com/office/powerpoint/2010/main" val="2502994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B13B5C1E-CA92-F658-DEB4-E6BCB21E8297}"/>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3" name="Footer Placeholder 2">
            <a:extLst>
              <a:ext uri="{FF2B5EF4-FFF2-40B4-BE49-F238E27FC236}">
                <a16:creationId xmlns:a16="http://schemas.microsoft.com/office/drawing/2014/main" id="{135B8D15-F384-5726-1DB0-82AA26D5A7C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4" name="Slide Number Placeholder 22">
            <a:extLst>
              <a:ext uri="{FF2B5EF4-FFF2-40B4-BE49-F238E27FC236}">
                <a16:creationId xmlns:a16="http://schemas.microsoft.com/office/drawing/2014/main" id="{7465CA12-935B-2EC7-0FD8-A29FFD9FDF20}"/>
              </a:ext>
            </a:extLst>
          </p:cNvPr>
          <p:cNvSpPr>
            <a:spLocks noGrp="1"/>
          </p:cNvSpPr>
          <p:nvPr>
            <p:ph type="sldNum" sz="quarter" idx="12"/>
          </p:nvPr>
        </p:nvSpPr>
        <p:spPr/>
        <p:txBody>
          <a:bodyPr/>
          <a:lstStyle>
            <a:lvl1pPr>
              <a:defRPr/>
            </a:lvl1pPr>
          </a:lstStyle>
          <a:p>
            <a:pPr>
              <a:defRPr/>
            </a:pPr>
            <a:fld id="{B60D0497-D7DF-42C1-83D6-B069BC9C71F9}" type="slidenum">
              <a:rPr lang="en-US"/>
              <a:pPr>
                <a:defRPr/>
              </a:pPr>
              <a:t>‹#›</a:t>
            </a:fld>
            <a:endParaRPr lang="en-US" dirty="0"/>
          </a:p>
        </p:txBody>
      </p:sp>
    </p:spTree>
    <p:extLst>
      <p:ext uri="{BB962C8B-B14F-4D97-AF65-F5344CB8AC3E}">
        <p14:creationId xmlns:p14="http://schemas.microsoft.com/office/powerpoint/2010/main" val="180579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C7B262-B703-0618-42D2-9A058F2E459A}"/>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2FF425DD-7DE3-3B8E-5719-78BCA9A8DE51}"/>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786D1F94-4295-F397-8F57-1D0E383BD25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7" name="Footer Placeholder 5">
            <a:extLst>
              <a:ext uri="{FF2B5EF4-FFF2-40B4-BE49-F238E27FC236}">
                <a16:creationId xmlns:a16="http://schemas.microsoft.com/office/drawing/2014/main" id="{6B009F90-231B-A3B6-5380-34C6E1C7CB21}"/>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8" name="Slide Number Placeholder 6">
            <a:extLst>
              <a:ext uri="{FF2B5EF4-FFF2-40B4-BE49-F238E27FC236}">
                <a16:creationId xmlns:a16="http://schemas.microsoft.com/office/drawing/2014/main" id="{7CCDB2AA-14FD-D925-D8FA-266FCFE64152}"/>
              </a:ext>
            </a:extLst>
          </p:cNvPr>
          <p:cNvSpPr>
            <a:spLocks noGrp="1"/>
          </p:cNvSpPr>
          <p:nvPr>
            <p:ph type="sldNum" sz="quarter" idx="12"/>
          </p:nvPr>
        </p:nvSpPr>
        <p:spPr/>
        <p:txBody>
          <a:bodyPr/>
          <a:lstStyle>
            <a:lvl1pPr>
              <a:defRPr/>
            </a:lvl1pPr>
          </a:lstStyle>
          <a:p>
            <a:pPr>
              <a:defRPr/>
            </a:pPr>
            <a:fld id="{2C82827D-15A4-4A3F-A005-421DE1CEC59D}" type="slidenum">
              <a:rPr lang="en-US"/>
              <a:pPr>
                <a:defRPr/>
              </a:pPr>
              <a:t>‹#›</a:t>
            </a:fld>
            <a:endParaRPr lang="en-US"/>
          </a:p>
        </p:txBody>
      </p:sp>
    </p:spTree>
    <p:extLst>
      <p:ext uri="{BB962C8B-B14F-4D97-AF65-F5344CB8AC3E}">
        <p14:creationId xmlns:p14="http://schemas.microsoft.com/office/powerpoint/2010/main" val="2956744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2E54CA-1402-D265-65C1-CAA477A5FCEF}"/>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937FA26-21AA-4604-50B9-4AF1C1E5953D}"/>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B548A5EB-ECFF-0D60-907E-B4566654DEA1}"/>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dirty="0"/>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dirty="0"/>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03D557F4-1C10-84D5-70B1-B3F6002D602F}"/>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9" name="Footer Placeholder 5">
            <a:extLst>
              <a:ext uri="{FF2B5EF4-FFF2-40B4-BE49-F238E27FC236}">
                <a16:creationId xmlns:a16="http://schemas.microsoft.com/office/drawing/2014/main" id="{1D25602D-131F-6FC6-D193-E0E3803E1E51}"/>
              </a:ext>
            </a:extLst>
          </p:cNvPr>
          <p:cNvSpPr>
            <a:spLocks noGrp="1"/>
          </p:cNvSpPr>
          <p:nvPr>
            <p:ph type="ftr" sz="quarter" idx="11"/>
          </p:nvPr>
        </p:nvSpPr>
        <p:spPr>
          <a:xfrm>
            <a:off x="914400" y="6172200"/>
            <a:ext cx="38862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0" name="Slide Number Placeholder 6">
            <a:extLst>
              <a:ext uri="{FF2B5EF4-FFF2-40B4-BE49-F238E27FC236}">
                <a16:creationId xmlns:a16="http://schemas.microsoft.com/office/drawing/2014/main" id="{D0109AE1-27A9-8EB7-803F-D676F48820DA}"/>
              </a:ext>
            </a:extLst>
          </p:cNvPr>
          <p:cNvSpPr>
            <a:spLocks noGrp="1"/>
          </p:cNvSpPr>
          <p:nvPr>
            <p:ph type="sldNum" sz="quarter" idx="12"/>
          </p:nvPr>
        </p:nvSpPr>
        <p:spPr>
          <a:xfrm>
            <a:off x="146050" y="6208713"/>
            <a:ext cx="457200" cy="457200"/>
          </a:xfrm>
        </p:spPr>
        <p:txBody>
          <a:bodyPr/>
          <a:lstStyle>
            <a:lvl1pPr>
              <a:defRPr/>
            </a:lvl1pPr>
          </a:lstStyle>
          <a:p>
            <a:pPr>
              <a:defRPr/>
            </a:pPr>
            <a:fld id="{F7562DC6-6DC9-45E2-AAC4-454004E6E023}" type="slidenum">
              <a:rPr lang="en-US"/>
              <a:pPr>
                <a:defRPr/>
              </a:pPr>
              <a:t>‹#›</a:t>
            </a:fld>
            <a:endParaRPr lang="en-US" dirty="0"/>
          </a:p>
        </p:txBody>
      </p:sp>
    </p:spTree>
    <p:extLst>
      <p:ext uri="{BB962C8B-B14F-4D97-AF65-F5344CB8AC3E}">
        <p14:creationId xmlns:p14="http://schemas.microsoft.com/office/powerpoint/2010/main" val="2553803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DF2C48B0-ABFE-CE4D-6188-9A9EAD773F6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5" name="Footer Placeholder 2">
            <a:extLst>
              <a:ext uri="{FF2B5EF4-FFF2-40B4-BE49-F238E27FC236}">
                <a16:creationId xmlns:a16="http://schemas.microsoft.com/office/drawing/2014/main" id="{2618189D-098F-74CA-DD3F-C7F3B7D6831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6" name="Slide Number Placeholder 22">
            <a:extLst>
              <a:ext uri="{FF2B5EF4-FFF2-40B4-BE49-F238E27FC236}">
                <a16:creationId xmlns:a16="http://schemas.microsoft.com/office/drawing/2014/main" id="{06CD0044-3E35-3EB6-7892-259BA5B8A6D9}"/>
              </a:ext>
            </a:extLst>
          </p:cNvPr>
          <p:cNvSpPr>
            <a:spLocks noGrp="1"/>
          </p:cNvSpPr>
          <p:nvPr>
            <p:ph type="sldNum" sz="quarter" idx="12"/>
          </p:nvPr>
        </p:nvSpPr>
        <p:spPr/>
        <p:txBody>
          <a:bodyPr/>
          <a:lstStyle>
            <a:lvl1pPr>
              <a:defRPr/>
            </a:lvl1pPr>
          </a:lstStyle>
          <a:p>
            <a:pPr>
              <a:defRPr/>
            </a:pPr>
            <a:fld id="{C65D5C55-6BCA-4DBD-BE3B-26D0EAB7959A}" type="slidenum">
              <a:rPr lang="en-US"/>
              <a:pPr>
                <a:defRPr/>
              </a:pPr>
              <a:t>‹#›</a:t>
            </a:fld>
            <a:endParaRPr lang="en-US" dirty="0"/>
          </a:p>
        </p:txBody>
      </p:sp>
    </p:spTree>
    <p:extLst>
      <p:ext uri="{BB962C8B-B14F-4D97-AF65-F5344CB8AC3E}">
        <p14:creationId xmlns:p14="http://schemas.microsoft.com/office/powerpoint/2010/main" val="4225070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CEB16-177C-11F3-6488-15217609B1F8}"/>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41EAD4DD-9D27-1FFD-AF29-68BC36D3A352}"/>
              </a:ext>
            </a:extLst>
          </p:cNvPr>
          <p:cNvSpPr/>
          <p:nvPr/>
        </p:nvSpPr>
        <p:spPr>
          <a:xfrm>
            <a:off x="112590" y="16510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2B8B0024-D6D1-A70C-46F3-E369B45B67D1}"/>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dirty="0"/>
              <a:t>Click to edit Master title style</a:t>
            </a:r>
          </a:p>
        </p:txBody>
      </p:sp>
      <p:sp>
        <p:nvSpPr>
          <p:cNvPr id="3077" name="Text Placeholder 12">
            <a:extLst>
              <a:ext uri="{FF2B5EF4-FFF2-40B4-BE49-F238E27FC236}">
                <a16:creationId xmlns:a16="http://schemas.microsoft.com/office/drawing/2014/main" id="{3488A6D1-71AB-0EF0-882A-8AEDA58A8733}"/>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3" name="Footer Placeholder 2">
            <a:extLst>
              <a:ext uri="{FF2B5EF4-FFF2-40B4-BE49-F238E27FC236}">
                <a16:creationId xmlns:a16="http://schemas.microsoft.com/office/drawing/2014/main" id="{F37FCC0C-B39C-DCE5-066A-B9F6AFE491FC}"/>
              </a:ext>
            </a:extLst>
          </p:cNvPr>
          <p:cNvSpPr>
            <a:spLocks noGrp="1"/>
          </p:cNvSpPr>
          <p:nvPr>
            <p:ph type="ftr" sz="quarter" idx="3"/>
          </p:nvPr>
        </p:nvSpPr>
        <p:spPr>
          <a:xfrm>
            <a:off x="2555776" y="6500192"/>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23" name="Slide Number Placeholder 22">
            <a:extLst>
              <a:ext uri="{FF2B5EF4-FFF2-40B4-BE49-F238E27FC236}">
                <a16:creationId xmlns:a16="http://schemas.microsoft.com/office/drawing/2014/main" id="{7CCC2D68-25F4-B5E2-90AE-129685EECD21}"/>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688D1139-B686-4DC4-A8B1-655130D02E34}" type="slidenum">
              <a:rPr lang="en-US"/>
              <a:pPr>
                <a:defRPr/>
              </a:pPr>
              <a:t>‹#›</a:t>
            </a:fld>
            <a:endParaRPr lang="en-US" dirty="0"/>
          </a:p>
        </p:txBody>
      </p:sp>
    </p:spTree>
    <p:extLst>
      <p:ext uri="{BB962C8B-B14F-4D97-AF65-F5344CB8AC3E}">
        <p14:creationId xmlns:p14="http://schemas.microsoft.com/office/powerpoint/2010/main" val="47200543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2">
            <a:extLst>
              <a:ext uri="{FF2B5EF4-FFF2-40B4-BE49-F238E27FC236}">
                <a16:creationId xmlns:a16="http://schemas.microsoft.com/office/drawing/2014/main" id="{6E223CA5-28DF-4EB8-9015-D48A747CA2F9}"/>
              </a:ext>
            </a:extLst>
          </p:cNvPr>
          <p:cNvSpPr>
            <a:spLocks noGrp="1" noChangeArrowheads="1"/>
          </p:cNvSpPr>
          <p:nvPr>
            <p:ph type="ctrTitle"/>
          </p:nvPr>
        </p:nvSpPr>
        <p:spPr>
          <a:xfrm>
            <a:off x="457200" y="1506538"/>
            <a:ext cx="8229600" cy="1470025"/>
          </a:xfrm>
        </p:spPr>
        <p:txBody>
          <a:bodyPr/>
          <a:lstStyle/>
          <a:p>
            <a:pPr eaLnBrk="1" hangingPunct="1"/>
            <a:r>
              <a:rPr altLang="en-US" dirty="0">
                <a:solidFill>
                  <a:srgbClr val="000099"/>
                </a:solidFill>
                <a:latin typeface="Cambria" panose="02040503050406030204" pitchFamily="18" charset="0"/>
                <a:ea typeface="Cambria" panose="02040503050406030204" pitchFamily="18" charset="0"/>
              </a:rPr>
              <a:t>CC-215-L</a:t>
            </a:r>
            <a:br>
              <a:rPr altLang="en-US" dirty="0">
                <a:solidFill>
                  <a:srgbClr val="000099"/>
                </a:solidFill>
                <a:latin typeface="Cambria" panose="02040503050406030204" pitchFamily="18" charset="0"/>
                <a:ea typeface="Cambria" panose="02040503050406030204" pitchFamily="18" charset="0"/>
              </a:rPr>
            </a:br>
            <a:r>
              <a:rPr altLang="en-US" dirty="0">
                <a:solidFill>
                  <a:srgbClr val="FFFF00"/>
                </a:solidFill>
                <a:latin typeface="Cambria" panose="02040503050406030204" pitchFamily="18" charset="0"/>
                <a:ea typeface="Cambria" panose="02040503050406030204" pitchFamily="18" charset="0"/>
              </a:rPr>
              <a:t>Database Systems Lab</a:t>
            </a:r>
          </a:p>
        </p:txBody>
      </p:sp>
      <p:sp>
        <p:nvSpPr>
          <p:cNvPr id="2" name="Rectangle 2">
            <a:extLst>
              <a:ext uri="{FF2B5EF4-FFF2-40B4-BE49-F238E27FC236}">
                <a16:creationId xmlns:a16="http://schemas.microsoft.com/office/drawing/2014/main" id="{BE4B3138-A767-7D60-38B3-56978D7D4200}"/>
              </a:ext>
            </a:extLst>
          </p:cNvPr>
          <p:cNvSpPr txBox="1">
            <a:spLocks noChangeArrowheads="1"/>
          </p:cNvSpPr>
          <p:nvPr/>
        </p:nvSpPr>
        <p:spPr bwMode="auto">
          <a:xfrm>
            <a:off x="1256191" y="3171999"/>
            <a:ext cx="6477000" cy="1470024"/>
          </a:xfrm>
          <a:prstGeom prst="rect">
            <a:avLst/>
          </a:prstGeom>
          <a:noFill/>
          <a:ln w="19050">
            <a:solidFill>
              <a:schemeClr val="tx1"/>
            </a:solidFill>
          </a:ln>
        </p:spPr>
        <p:txBody>
          <a:bodyPr tIns="274320" bIns="182880"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200"/>
              </a:spcBef>
              <a:spcAft>
                <a:spcPts val="0"/>
              </a:spcAft>
              <a:buClrTx/>
              <a:buSzTx/>
              <a:buFontTx/>
              <a:buNone/>
              <a:tabLst/>
              <a:defRPr/>
            </a:pPr>
            <a:r>
              <a:rPr kumimoji="0" lang="en-US" sz="3200" b="1" i="0" u="none" strike="noStrike" kern="0" cap="none" spc="0" normalizeH="0" baseline="0" noProof="0" dirty="0">
                <a:ln>
                  <a:noFill/>
                </a:ln>
                <a:solidFill>
                  <a:srgbClr val="0033CC"/>
                </a:solidFill>
                <a:effectLst/>
                <a:uLnTx/>
                <a:uFillTx/>
                <a:latin typeface="Cambria" panose="02040503050406030204" pitchFamily="18" charset="0"/>
                <a:ea typeface="Cambria" panose="02040503050406030204" pitchFamily="18" charset="0"/>
                <a:cs typeface="+mj-cs"/>
              </a:rPr>
              <a:t>— Unit 5 —</a:t>
            </a:r>
            <a:br>
              <a:rPr kumimoji="0" lang="en-US" sz="3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t>Displaying Data </a:t>
            </a:r>
            <a:b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br>
            <a: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t>from Multiple Tables </a:t>
            </a:r>
            <a:endParaRPr kumimoji="0" lang="en-US" sz="2400" b="1" i="0" u="none" strike="noStrike" kern="120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
        <p:nvSpPr>
          <p:cNvPr id="7" name="Rectangle 2">
            <a:extLst>
              <a:ext uri="{FF2B5EF4-FFF2-40B4-BE49-F238E27FC236}">
                <a16:creationId xmlns:a16="http://schemas.microsoft.com/office/drawing/2014/main" id="{157297BE-EE28-F676-BE56-7D8A7B565F16}"/>
              </a:ext>
            </a:extLst>
          </p:cNvPr>
          <p:cNvSpPr txBox="1">
            <a:spLocks noChangeArrowheads="1"/>
          </p:cNvSpPr>
          <p:nvPr/>
        </p:nvSpPr>
        <p:spPr bwMode="auto">
          <a:xfrm>
            <a:off x="1256191" y="4828183"/>
            <a:ext cx="6477000" cy="1481137"/>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800"/>
              </a:spcBef>
              <a:spcAft>
                <a:spcPts val="600"/>
              </a:spcAft>
              <a:buClrTx/>
              <a:buSzTx/>
              <a:buFontTx/>
              <a:buNone/>
              <a:tabLst/>
              <a:defRPr/>
            </a:pPr>
            <a:b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br>
            <a: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t>Dr. Asif Sohail</a:t>
            </a:r>
            <a:b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br>
              <a:rPr kumimoji="0" lang="en-US" sz="1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t>University of the Punjab</a:t>
            </a:r>
            <a:b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t>Department of Information Technology, FCIT</a:t>
            </a:r>
            <a:br>
              <a:rPr kumimoji="0" lang="de-AT" altLang="en-US" sz="18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endParaRPr kumimoji="0" lang="en-US" sz="3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
        <p:nvSpPr>
          <p:cNvPr id="3" name="TextBox 2">
            <a:extLst>
              <a:ext uri="{FF2B5EF4-FFF2-40B4-BE49-F238E27FC236}">
                <a16:creationId xmlns:a16="http://schemas.microsoft.com/office/drawing/2014/main" id="{EE45C58E-0F41-E365-5874-2471AB0F60B5}"/>
              </a:ext>
            </a:extLst>
          </p:cNvPr>
          <p:cNvSpPr txBox="1"/>
          <p:nvPr/>
        </p:nvSpPr>
        <p:spPr>
          <a:xfrm>
            <a:off x="438448" y="6309320"/>
            <a:ext cx="7712703"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n-cs"/>
              </a:rPr>
              <a:t>Some of the slides are adapted from </a:t>
            </a:r>
            <a:r>
              <a:rPr kumimoji="0" lang="en-US" sz="1600" b="1" i="0" u="none" strike="noStrike" kern="1200" cap="none" spc="0" normalizeH="0" baseline="0" noProof="0" dirty="0">
                <a:ln>
                  <a:noFill/>
                </a:ln>
                <a:solidFill>
                  <a:srgbClr val="0000FF"/>
                </a:solidFill>
                <a:effectLst/>
                <a:uLnTx/>
                <a:uFillTx/>
                <a:latin typeface="Cambria" panose="02040503050406030204" pitchFamily="18" charset="0"/>
                <a:ea typeface="Cambria" panose="02040503050406030204" pitchFamily="18" charset="0"/>
                <a:cs typeface="+mn-cs"/>
              </a:rPr>
              <a:t>Oracle Corporation.</a:t>
            </a:r>
            <a:endParaRPr kumimoji="0" lang="en-US" sz="16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Cambria" panose="02040503050406030204" pitchFamily="18" charset="0"/>
              <a:ea typeface="Cambria" panose="02040503050406030204" pitchFamily="18" charset="0"/>
              <a:cs typeface="+mn-cs"/>
            </a:endParaRPr>
          </a:p>
        </p:txBody>
      </p:sp>
      <p:pic>
        <p:nvPicPr>
          <p:cNvPr id="4" name="Picture 11">
            <a:extLst>
              <a:ext uri="{FF2B5EF4-FFF2-40B4-BE49-F238E27FC236}">
                <a16:creationId xmlns:a16="http://schemas.microsoft.com/office/drawing/2014/main" id="{52263002-B443-FA9E-DD31-44571C4582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8353" y="191419"/>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9">
            <a:extLst>
              <a:ext uri="{FF2B5EF4-FFF2-40B4-BE49-F238E27FC236}">
                <a16:creationId xmlns:a16="http://schemas.microsoft.com/office/drawing/2014/main" id="{0664FCA6-02D3-5FBE-852B-E0830F9F3F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18864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4CDE5-8CEB-6306-5128-BD54D671D811}"/>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A534064B-3E40-563C-2696-66817025F61A}"/>
              </a:ext>
            </a:extLst>
          </p:cNvPr>
          <p:cNvSpPr>
            <a:spLocks noGrp="1" noChangeArrowheads="1"/>
          </p:cNvSpPr>
          <p:nvPr>
            <p:ph type="title"/>
          </p:nvPr>
        </p:nvSpPr>
        <p:spPr>
          <a:xfrm>
            <a:off x="3238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Objectives</a:t>
            </a:r>
          </a:p>
        </p:txBody>
      </p:sp>
      <p:sp>
        <p:nvSpPr>
          <p:cNvPr id="38915" name="Rectangle 3">
            <a:extLst>
              <a:ext uri="{FF2B5EF4-FFF2-40B4-BE49-F238E27FC236}">
                <a16:creationId xmlns:a16="http://schemas.microsoft.com/office/drawing/2014/main" id="{B1C558E5-3E01-40E8-39CA-C4F3AD91421B}"/>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ADE869F4-E99A-619C-7F5F-47E781AF04F2}"/>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37DF64AE-8206-58A3-C136-D6EB491B1012}"/>
              </a:ext>
            </a:extLst>
          </p:cNvPr>
          <p:cNvSpPr txBox="1">
            <a:spLocks noChangeArrowheads="1"/>
          </p:cNvSpPr>
          <p:nvPr/>
        </p:nvSpPr>
        <p:spPr bwMode="auto">
          <a:xfrm>
            <a:off x="394866" y="741784"/>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After completing this lesson, you should be able to do the following:</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Write SELECT statements to access data from more than one table using </a:t>
            </a:r>
            <a:r>
              <a:rPr kumimoji="0" lang="en-US" altLang="en-US" sz="2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equality</a:t>
            </a: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and </a:t>
            </a:r>
            <a:r>
              <a:rPr kumimoji="0" lang="en-US" altLang="en-US" sz="2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non-equality</a:t>
            </a: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joins</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View data that generally does not meet a join condition by using </a:t>
            </a:r>
            <a:r>
              <a:rPr kumimoji="0" lang="en-US" altLang="en-US" sz="2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outer joins</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Join a table to itself by using a </a:t>
            </a:r>
            <a:r>
              <a:rPr kumimoji="0" lang="en-US" altLang="en-US" sz="2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self join</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7DB45F60-1BDF-53C9-36BB-34F42C0828E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341997850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6126D-2FBD-1189-CBF3-7B611C27DA59}"/>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0816D2CF-A9DD-F91D-C4EB-BFB7A6083677}"/>
              </a:ext>
            </a:extLst>
          </p:cNvPr>
          <p:cNvSpPr>
            <a:spLocks noGrp="1" noChangeArrowheads="1"/>
          </p:cNvSpPr>
          <p:nvPr>
            <p:ph type="title"/>
          </p:nvPr>
        </p:nvSpPr>
        <p:spPr>
          <a:xfrm>
            <a:off x="394866" y="332656"/>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Obtaining Data from Multiple Tables</a:t>
            </a:r>
          </a:p>
        </p:txBody>
      </p:sp>
      <p:sp>
        <p:nvSpPr>
          <p:cNvPr id="38915" name="Rectangle 3">
            <a:extLst>
              <a:ext uri="{FF2B5EF4-FFF2-40B4-BE49-F238E27FC236}">
                <a16:creationId xmlns:a16="http://schemas.microsoft.com/office/drawing/2014/main" id="{AD7A402A-7399-191D-7D08-78E4DC9084AB}"/>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D55F0E81-6581-502B-F1EA-65A92C126262}"/>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51D681A5-03C3-D51E-748B-9DDCFF0F5926}"/>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2">
            <a:extLst>
              <a:ext uri="{FF2B5EF4-FFF2-40B4-BE49-F238E27FC236}">
                <a16:creationId xmlns:a16="http://schemas.microsoft.com/office/drawing/2014/main" id="{5E8CC376-701E-E8B5-B5CF-EF960DC2235F}"/>
              </a:ext>
            </a:extLst>
          </p:cNvPr>
          <p:cNvSpPr>
            <a:spLocks noChangeArrowheads="1"/>
          </p:cNvSpPr>
          <p:nvPr/>
        </p:nvSpPr>
        <p:spPr bwMode="blackWhite">
          <a:xfrm>
            <a:off x="831850" y="1265907"/>
            <a:ext cx="3505200" cy="16795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5" name="Rectangle 3">
            <a:extLst>
              <a:ext uri="{FF2B5EF4-FFF2-40B4-BE49-F238E27FC236}">
                <a16:creationId xmlns:a16="http://schemas.microsoft.com/office/drawing/2014/main" id="{55C374FD-ABF2-522D-219A-621852E8E26E}"/>
              </a:ext>
            </a:extLst>
          </p:cNvPr>
          <p:cNvSpPr>
            <a:spLocks noChangeArrowheads="1"/>
          </p:cNvSpPr>
          <p:nvPr/>
        </p:nvSpPr>
        <p:spPr bwMode="blackWhite">
          <a:xfrm>
            <a:off x="4506913" y="1272257"/>
            <a:ext cx="3862387" cy="16795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6" name="Rectangle 4">
            <a:extLst>
              <a:ext uri="{FF2B5EF4-FFF2-40B4-BE49-F238E27FC236}">
                <a16:creationId xmlns:a16="http://schemas.microsoft.com/office/drawing/2014/main" id="{C0879B0B-B4AE-82C3-DD0D-0B41BDE94DD6}"/>
              </a:ext>
            </a:extLst>
          </p:cNvPr>
          <p:cNvSpPr>
            <a:spLocks noChangeArrowheads="1"/>
          </p:cNvSpPr>
          <p:nvPr/>
        </p:nvSpPr>
        <p:spPr bwMode="blackWhite">
          <a:xfrm>
            <a:off x="2357438" y="3529682"/>
            <a:ext cx="4113212" cy="2451100"/>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54463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54463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54463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54463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54463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54463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54463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54463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544638" algn="l"/>
                <a:tab pos="1885950" algn="l"/>
                <a:tab pos="2457450" algn="l"/>
              </a:tabLst>
              <a:defRPr sz="2000">
                <a:solidFill>
                  <a:schemeClr val="tx1"/>
                </a:solidFill>
                <a:latin typeface="Arial" panose="020B0604020202020204" pitchFamily="34" charset="0"/>
              </a:defRPr>
            </a:lvl9pPr>
          </a:lstStyle>
          <a:p>
            <a:pPr>
              <a:lnSpc>
                <a:spcPct val="85000"/>
              </a:lnSpc>
              <a:spcBef>
                <a:spcPct val="0"/>
              </a:spcBef>
              <a:buFontTx/>
              <a:buNone/>
            </a:pPr>
            <a:r>
              <a:rPr lang="en-US" altLang="en-US" sz="1800" b="1">
                <a:solidFill>
                  <a:srgbClr val="000000"/>
                </a:solidFill>
                <a:latin typeface="Courier New" panose="02070309020205020404" pitchFamily="49" charset="0"/>
              </a:rPr>
              <a:t>EMPNO 	DEPTNO 	LOC</a:t>
            </a:r>
          </a:p>
          <a:p>
            <a:pPr>
              <a:lnSpc>
                <a:spcPct val="85000"/>
              </a:lnSpc>
              <a:spcBef>
                <a:spcPct val="0"/>
              </a:spcBef>
              <a:buFontTx/>
              <a:buNone/>
            </a:pPr>
            <a:r>
              <a:rPr lang="en-US" altLang="en-US" sz="1800" b="1">
                <a:solidFill>
                  <a:srgbClr val="000000"/>
                </a:solidFill>
                <a:latin typeface="Courier New" panose="02070309020205020404" pitchFamily="49" charset="0"/>
              </a:rPr>
              <a:t>----- ------- -------- </a:t>
            </a:r>
          </a:p>
          <a:p>
            <a:pPr>
              <a:lnSpc>
                <a:spcPct val="85000"/>
              </a:lnSpc>
              <a:spcBef>
                <a:spcPct val="0"/>
              </a:spcBef>
              <a:buFontTx/>
              <a:buNone/>
            </a:pPr>
            <a:r>
              <a:rPr lang="en-US" altLang="en-US" sz="1800" b="1">
                <a:solidFill>
                  <a:srgbClr val="000000"/>
                </a:solidFill>
                <a:latin typeface="Courier New" panose="02070309020205020404" pitchFamily="49" charset="0"/>
              </a:rPr>
              <a:t> 7839      	10 NEW YORK</a:t>
            </a:r>
          </a:p>
          <a:p>
            <a:pPr>
              <a:lnSpc>
                <a:spcPct val="85000"/>
              </a:lnSpc>
              <a:spcBef>
                <a:spcPct val="0"/>
              </a:spcBef>
              <a:buFontTx/>
              <a:buNone/>
            </a:pPr>
            <a:r>
              <a:rPr lang="en-US" altLang="en-US" sz="1800" b="1">
                <a:solidFill>
                  <a:srgbClr val="000000"/>
                </a:solidFill>
                <a:latin typeface="Courier New" panose="02070309020205020404" pitchFamily="49" charset="0"/>
              </a:rPr>
              <a:t> 7698 	    	30 CHICAGO</a:t>
            </a:r>
          </a:p>
          <a:p>
            <a:pPr>
              <a:lnSpc>
                <a:spcPct val="85000"/>
              </a:lnSpc>
              <a:spcBef>
                <a:spcPct val="0"/>
              </a:spcBef>
              <a:buFontTx/>
              <a:buNone/>
            </a:pPr>
            <a:r>
              <a:rPr lang="en-US" altLang="en-US" sz="1800" b="1">
                <a:solidFill>
                  <a:srgbClr val="000000"/>
                </a:solidFill>
                <a:latin typeface="Courier New" panose="02070309020205020404" pitchFamily="49" charset="0"/>
              </a:rPr>
              <a:t> 7782  	10 NEW YORK</a:t>
            </a:r>
          </a:p>
          <a:p>
            <a:pPr>
              <a:lnSpc>
                <a:spcPct val="85000"/>
              </a:lnSpc>
              <a:spcBef>
                <a:spcPct val="0"/>
              </a:spcBef>
              <a:buFontTx/>
              <a:buNone/>
            </a:pPr>
            <a:r>
              <a:rPr lang="en-US" altLang="en-US" sz="1800" b="1">
                <a:solidFill>
                  <a:srgbClr val="000000"/>
                </a:solidFill>
                <a:latin typeface="Courier New" panose="02070309020205020404" pitchFamily="49" charset="0"/>
              </a:rPr>
              <a:t> 7566  	20 DALLAS</a:t>
            </a:r>
          </a:p>
          <a:p>
            <a:pPr>
              <a:lnSpc>
                <a:spcPct val="85000"/>
              </a:lnSpc>
              <a:spcBef>
                <a:spcPct val="0"/>
              </a:spcBef>
              <a:buFontTx/>
              <a:buNone/>
            </a:pPr>
            <a:r>
              <a:rPr lang="en-US" altLang="en-US" sz="1800" b="1">
                <a:solidFill>
                  <a:srgbClr val="000000"/>
                </a:solidFill>
                <a:latin typeface="Courier New" panose="02070309020205020404" pitchFamily="49" charset="0"/>
              </a:rPr>
              <a:t> 7654 	    	30 CHICAGO</a:t>
            </a:r>
          </a:p>
          <a:p>
            <a:pPr>
              <a:lnSpc>
                <a:spcPct val="85000"/>
              </a:lnSpc>
              <a:spcBef>
                <a:spcPct val="0"/>
              </a:spcBef>
              <a:buFontTx/>
              <a:buNone/>
            </a:pPr>
            <a:r>
              <a:rPr lang="en-US" altLang="en-US" sz="1800" b="1">
                <a:solidFill>
                  <a:srgbClr val="000000"/>
                </a:solidFill>
                <a:latin typeface="Courier New" panose="02070309020205020404" pitchFamily="49" charset="0"/>
              </a:rPr>
              <a:t> 7499  	30 CHICAGO</a:t>
            </a:r>
          </a:p>
          <a:p>
            <a:pPr>
              <a:lnSpc>
                <a:spcPct val="85000"/>
              </a:lnSpc>
              <a:spcBef>
                <a:spcPct val="0"/>
              </a:spcBef>
              <a:buFontTx/>
              <a:buNone/>
            </a:pPr>
            <a:r>
              <a:rPr lang="en-US" altLang="en-US" sz="1800" b="1">
                <a:solidFill>
                  <a:srgbClr val="000000"/>
                </a:solidFill>
                <a:latin typeface="Courier New" panose="02070309020205020404" pitchFamily="49" charset="0"/>
              </a:rPr>
              <a:t>...</a:t>
            </a:r>
          </a:p>
          <a:p>
            <a:pPr>
              <a:lnSpc>
                <a:spcPct val="85000"/>
              </a:lnSpc>
              <a:spcBef>
                <a:spcPct val="0"/>
              </a:spcBef>
              <a:buFontTx/>
              <a:buNone/>
            </a:pPr>
            <a:r>
              <a:rPr lang="en-US" altLang="en-US" sz="1800" b="1">
                <a:solidFill>
                  <a:srgbClr val="000000"/>
                </a:solidFill>
                <a:latin typeface="Courier New" panose="02070309020205020404" pitchFamily="49" charset="0"/>
              </a:rPr>
              <a:t>14 rows selected.</a:t>
            </a:r>
          </a:p>
        </p:txBody>
      </p:sp>
      <p:sp>
        <p:nvSpPr>
          <p:cNvPr id="7" name="Rectangle 6">
            <a:extLst>
              <a:ext uri="{FF2B5EF4-FFF2-40B4-BE49-F238E27FC236}">
                <a16:creationId xmlns:a16="http://schemas.microsoft.com/office/drawing/2014/main" id="{8FD82789-88AD-5309-0417-D7CF2DF2216A}"/>
              </a:ext>
            </a:extLst>
          </p:cNvPr>
          <p:cNvSpPr>
            <a:spLocks noChangeArrowheads="1"/>
          </p:cNvSpPr>
          <p:nvPr/>
        </p:nvSpPr>
        <p:spPr bwMode="auto">
          <a:xfrm>
            <a:off x="742950" y="908720"/>
            <a:ext cx="763029" cy="400752"/>
          </a:xfrm>
          <a:prstGeom prst="rect">
            <a:avLst/>
          </a:prstGeom>
          <a:noFill/>
          <a:ln w="9525">
            <a:noFill/>
            <a:miter lim="800000"/>
            <a:headEnd/>
            <a:tailEnd/>
          </a:ln>
          <a:effectLst/>
        </p:spPr>
        <p:txBody>
          <a:bodyPr wrap="none" lIns="92075" tIns="46038" rIns="92075" bIns="46038">
            <a:spAutoFit/>
          </a:bodyPr>
          <a:lstStyle/>
          <a:p>
            <a:pPr>
              <a:defRPr/>
            </a:pPr>
            <a:r>
              <a:rPr lang="en-US" sz="2000" b="1">
                <a:solidFill>
                  <a:srgbClr val="0000CC"/>
                </a:solidFill>
                <a:latin typeface="Cambria" panose="02040503050406030204" pitchFamily="18" charset="0"/>
                <a:ea typeface="Cambria" panose="02040503050406030204" pitchFamily="18" charset="0"/>
              </a:rPr>
              <a:t>EMP </a:t>
            </a:r>
          </a:p>
        </p:txBody>
      </p:sp>
      <p:sp>
        <p:nvSpPr>
          <p:cNvPr id="8" name="Rectangle 7">
            <a:extLst>
              <a:ext uri="{FF2B5EF4-FFF2-40B4-BE49-F238E27FC236}">
                <a16:creationId xmlns:a16="http://schemas.microsoft.com/office/drawing/2014/main" id="{F415A84F-4924-2AFC-293F-58504F2FB42F}"/>
              </a:ext>
            </a:extLst>
          </p:cNvPr>
          <p:cNvSpPr>
            <a:spLocks noChangeArrowheads="1"/>
          </p:cNvSpPr>
          <p:nvPr/>
        </p:nvSpPr>
        <p:spPr bwMode="auto">
          <a:xfrm>
            <a:off x="4419600" y="908720"/>
            <a:ext cx="891270" cy="400752"/>
          </a:xfrm>
          <a:prstGeom prst="rect">
            <a:avLst/>
          </a:prstGeom>
          <a:noFill/>
          <a:ln w="9525">
            <a:noFill/>
            <a:miter lim="800000"/>
            <a:headEnd/>
            <a:tailEnd/>
          </a:ln>
          <a:effectLst/>
        </p:spPr>
        <p:txBody>
          <a:bodyPr wrap="none" lIns="92075" tIns="46038" rIns="92075" bIns="46038">
            <a:spAutoFit/>
          </a:bodyPr>
          <a:lstStyle/>
          <a:p>
            <a:pPr>
              <a:defRPr/>
            </a:pPr>
            <a:r>
              <a:rPr lang="en-US" sz="2000" b="1">
                <a:solidFill>
                  <a:srgbClr val="0000CC"/>
                </a:solidFill>
                <a:latin typeface="Cambria" panose="02040503050406030204" pitchFamily="18" charset="0"/>
                <a:ea typeface="Cambria" panose="02040503050406030204" pitchFamily="18" charset="0"/>
              </a:rPr>
              <a:t>DEPT </a:t>
            </a:r>
          </a:p>
        </p:txBody>
      </p:sp>
      <p:grpSp>
        <p:nvGrpSpPr>
          <p:cNvPr id="9" name="Group 8">
            <a:extLst>
              <a:ext uri="{FF2B5EF4-FFF2-40B4-BE49-F238E27FC236}">
                <a16:creationId xmlns:a16="http://schemas.microsoft.com/office/drawing/2014/main" id="{F11072D3-7CF6-8E3F-E4AA-C984233AFF5A}"/>
              </a:ext>
            </a:extLst>
          </p:cNvPr>
          <p:cNvGrpSpPr>
            <a:grpSpLocks/>
          </p:cNvGrpSpPr>
          <p:nvPr/>
        </p:nvGrpSpPr>
        <p:grpSpPr bwMode="auto">
          <a:xfrm>
            <a:off x="895350" y="1326232"/>
            <a:ext cx="7313613" cy="1573213"/>
            <a:chOff x="564" y="948"/>
            <a:chExt cx="4607" cy="991"/>
          </a:xfrm>
        </p:grpSpPr>
        <p:sp>
          <p:nvSpPr>
            <p:cNvPr id="10" name="Rectangle 9">
              <a:extLst>
                <a:ext uri="{FF2B5EF4-FFF2-40B4-BE49-F238E27FC236}">
                  <a16:creationId xmlns:a16="http://schemas.microsoft.com/office/drawing/2014/main" id="{9405901D-02EE-09C5-B808-2ABF1CB95ECD}"/>
                </a:ext>
              </a:extLst>
            </p:cNvPr>
            <p:cNvSpPr>
              <a:spLocks noChangeArrowheads="1"/>
            </p:cNvSpPr>
            <p:nvPr/>
          </p:nvSpPr>
          <p:spPr bwMode="ltGray">
            <a:xfrm>
              <a:off x="564" y="948"/>
              <a:ext cx="562" cy="991"/>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 name="Rectangle 10">
              <a:extLst>
                <a:ext uri="{FF2B5EF4-FFF2-40B4-BE49-F238E27FC236}">
                  <a16:creationId xmlns:a16="http://schemas.microsoft.com/office/drawing/2014/main" id="{2F11B7D4-72F9-5EE3-8889-D03C569E5C16}"/>
                </a:ext>
              </a:extLst>
            </p:cNvPr>
            <p:cNvSpPr>
              <a:spLocks noChangeArrowheads="1"/>
            </p:cNvSpPr>
            <p:nvPr/>
          </p:nvSpPr>
          <p:spPr bwMode="ltGray">
            <a:xfrm>
              <a:off x="2110" y="948"/>
              <a:ext cx="562" cy="991"/>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2" name="Rectangle 11">
              <a:extLst>
                <a:ext uri="{FF2B5EF4-FFF2-40B4-BE49-F238E27FC236}">
                  <a16:creationId xmlns:a16="http://schemas.microsoft.com/office/drawing/2014/main" id="{D89D8A46-1290-D31A-03C4-FF36667C01CF}"/>
                </a:ext>
              </a:extLst>
            </p:cNvPr>
            <p:cNvSpPr>
              <a:spLocks noChangeArrowheads="1"/>
            </p:cNvSpPr>
            <p:nvPr/>
          </p:nvSpPr>
          <p:spPr bwMode="ltGray">
            <a:xfrm>
              <a:off x="4419" y="948"/>
              <a:ext cx="752" cy="991"/>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grpSp>
        <p:nvGrpSpPr>
          <p:cNvPr id="13" name="Group 12">
            <a:extLst>
              <a:ext uri="{FF2B5EF4-FFF2-40B4-BE49-F238E27FC236}">
                <a16:creationId xmlns:a16="http://schemas.microsoft.com/office/drawing/2014/main" id="{4EA76ACB-1B60-C5D4-F6AD-A65628D73BA9}"/>
              </a:ext>
            </a:extLst>
          </p:cNvPr>
          <p:cNvGrpSpPr>
            <a:grpSpLocks/>
          </p:cNvGrpSpPr>
          <p:nvPr/>
        </p:nvGrpSpPr>
        <p:grpSpPr bwMode="auto">
          <a:xfrm>
            <a:off x="3937000" y="3034382"/>
            <a:ext cx="966788" cy="473075"/>
            <a:chOff x="2480" y="2024"/>
            <a:chExt cx="609" cy="298"/>
          </a:xfrm>
        </p:grpSpPr>
        <p:sp>
          <p:nvSpPr>
            <p:cNvPr id="14" name="Line 13">
              <a:extLst>
                <a:ext uri="{FF2B5EF4-FFF2-40B4-BE49-F238E27FC236}">
                  <a16:creationId xmlns:a16="http://schemas.microsoft.com/office/drawing/2014/main" id="{F293C0A7-0ADE-0104-D318-48EE9052E1AF}"/>
                </a:ext>
              </a:extLst>
            </p:cNvPr>
            <p:cNvSpPr>
              <a:spLocks noChangeShapeType="1"/>
            </p:cNvSpPr>
            <p:nvPr/>
          </p:nvSpPr>
          <p:spPr bwMode="auto">
            <a:xfrm flipV="1">
              <a:off x="2480" y="2024"/>
              <a:ext cx="0" cy="298"/>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15" name="Line 14">
              <a:extLst>
                <a:ext uri="{FF2B5EF4-FFF2-40B4-BE49-F238E27FC236}">
                  <a16:creationId xmlns:a16="http://schemas.microsoft.com/office/drawing/2014/main" id="{A384AD34-CC7A-C63B-F101-5D75586EE0EF}"/>
                </a:ext>
              </a:extLst>
            </p:cNvPr>
            <p:cNvSpPr>
              <a:spLocks noChangeShapeType="1"/>
            </p:cNvSpPr>
            <p:nvPr/>
          </p:nvSpPr>
          <p:spPr bwMode="auto">
            <a:xfrm flipV="1">
              <a:off x="3089" y="2024"/>
              <a:ext cx="0" cy="298"/>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
        <p:nvSpPr>
          <p:cNvPr id="16" name="Rectangle 15">
            <a:extLst>
              <a:ext uri="{FF2B5EF4-FFF2-40B4-BE49-F238E27FC236}">
                <a16:creationId xmlns:a16="http://schemas.microsoft.com/office/drawing/2014/main" id="{FF542685-F64E-0807-5223-A8DD617843B2}"/>
              </a:ext>
            </a:extLst>
          </p:cNvPr>
          <p:cNvSpPr>
            <a:spLocks noChangeArrowheads="1"/>
          </p:cNvSpPr>
          <p:nvPr/>
        </p:nvSpPr>
        <p:spPr bwMode="blackWhite">
          <a:xfrm>
            <a:off x="844550" y="1297657"/>
            <a:ext cx="3479800"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EMPNO	ENAME	...	DEPTNO</a:t>
            </a:r>
            <a:br>
              <a:rPr lang="en-US" altLang="en-US" sz="1800" b="1">
                <a:solidFill>
                  <a:srgbClr val="000000"/>
                </a:solidFill>
                <a:latin typeface="Courier New" panose="02070309020205020404" pitchFamily="49" charset="0"/>
              </a:rPr>
            </a:br>
            <a:r>
              <a:rPr lang="en-US" altLang="en-US" sz="1800" b="1">
                <a:solidFill>
                  <a:srgbClr val="000000"/>
                </a:solidFill>
                <a:latin typeface="Courier New" panose="02070309020205020404" pitchFamily="49" charset="0"/>
              </a:rPr>
              <a:t>------	-----	...	------</a:t>
            </a:r>
            <a:br>
              <a:rPr lang="en-US" altLang="en-US" sz="1800" b="1">
                <a:solidFill>
                  <a:srgbClr val="000000"/>
                </a:solidFill>
                <a:latin typeface="Courier New" panose="02070309020205020404" pitchFamily="49" charset="0"/>
              </a:rPr>
            </a:br>
            <a:r>
              <a:rPr lang="en-US" altLang="en-US" sz="1800" b="1">
                <a:solidFill>
                  <a:srgbClr val="000000"/>
                </a:solidFill>
                <a:latin typeface="Courier New" panose="02070309020205020404" pitchFamily="49" charset="0"/>
              </a:rPr>
              <a:t>  7839	KING	...	    10</a:t>
            </a:r>
          </a:p>
          <a:p>
            <a:pPr>
              <a:lnSpc>
                <a:spcPct val="95000"/>
              </a:lnSpc>
              <a:spcBef>
                <a:spcPct val="0"/>
              </a:spcBef>
              <a:buFontTx/>
              <a:buNone/>
            </a:pPr>
            <a:r>
              <a:rPr lang="en-US" altLang="en-US" sz="1800" b="1">
                <a:solidFill>
                  <a:srgbClr val="000000"/>
                </a:solidFill>
                <a:latin typeface="Courier New" panose="02070309020205020404" pitchFamily="49" charset="0"/>
              </a:rPr>
              <a:t>  7698	BLAKE	...	    30</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7934	MILLER	...	    10</a:t>
            </a:r>
          </a:p>
        </p:txBody>
      </p:sp>
      <p:sp>
        <p:nvSpPr>
          <p:cNvPr id="17" name="Rectangle 16">
            <a:extLst>
              <a:ext uri="{FF2B5EF4-FFF2-40B4-BE49-F238E27FC236}">
                <a16:creationId xmlns:a16="http://schemas.microsoft.com/office/drawing/2014/main" id="{FB8B490E-6412-A0E0-F534-1C946E2A25F5}"/>
              </a:ext>
            </a:extLst>
          </p:cNvPr>
          <p:cNvSpPr>
            <a:spLocks noChangeArrowheads="1"/>
          </p:cNvSpPr>
          <p:nvPr/>
        </p:nvSpPr>
        <p:spPr bwMode="blackWhite">
          <a:xfrm>
            <a:off x="4519613" y="1304007"/>
            <a:ext cx="3836987"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DEPTNO DNAME     	LOC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10	ACCOUNTING	NEW YORK</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40	OPERATIONS	BOSTON</a:t>
            </a:r>
          </a:p>
        </p:txBody>
      </p:sp>
    </p:spTree>
    <p:extLst>
      <p:ext uri="{BB962C8B-B14F-4D97-AF65-F5344CB8AC3E}">
        <p14:creationId xmlns:p14="http://schemas.microsoft.com/office/powerpoint/2010/main" val="33032936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EE9BD-B58F-300D-9AE9-66DC47FCC4C9}"/>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F4139E65-75EB-E033-CBFE-26A28796AEF9}"/>
              </a:ext>
            </a:extLst>
          </p:cNvPr>
          <p:cNvSpPr>
            <a:spLocks noGrp="1" noChangeArrowheads="1"/>
          </p:cNvSpPr>
          <p:nvPr>
            <p:ph type="title"/>
          </p:nvPr>
        </p:nvSpPr>
        <p:spPr>
          <a:xfrm>
            <a:off x="4254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Join Syntax</a:t>
            </a:r>
          </a:p>
        </p:txBody>
      </p:sp>
      <p:sp>
        <p:nvSpPr>
          <p:cNvPr id="38915" name="Rectangle 3">
            <a:extLst>
              <a:ext uri="{FF2B5EF4-FFF2-40B4-BE49-F238E27FC236}">
                <a16:creationId xmlns:a16="http://schemas.microsoft.com/office/drawing/2014/main" id="{036ED60C-6207-D54E-59B6-CC65183ACB4E}"/>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0ED4667B-E5E2-B2AB-FA1E-C4BE82B3059A}"/>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30872A2F-3FFB-1CFD-924A-E89EE76095CE}"/>
              </a:ext>
            </a:extLst>
          </p:cNvPr>
          <p:cNvSpPr txBox="1">
            <a:spLocks noChangeArrowheads="1"/>
          </p:cNvSpPr>
          <p:nvPr/>
        </p:nvSpPr>
        <p:spPr bwMode="auto">
          <a:xfrm>
            <a:off x="394866" y="741784"/>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indent="-285750" algn="just">
              <a:buClr>
                <a:srgbClr val="D34817"/>
              </a:buClr>
              <a:buSzPct val="50000"/>
              <a:buFont typeface="Wingdings" panose="05000000000000000000" pitchFamily="2" charset="2"/>
              <a:buChar char="l"/>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Write the join condition in the WHERE clause.</a:t>
            </a:r>
          </a:p>
          <a:p>
            <a:pPr marL="285750" indent="-285750" algn="just">
              <a:buClr>
                <a:srgbClr val="D34817"/>
              </a:buClr>
              <a:buSzPct val="50000"/>
              <a:buFont typeface="Wingdings" panose="05000000000000000000" pitchFamily="2" charset="2"/>
              <a:buChar char="l"/>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Prefix the column name with the table name when the same column name appears in more than one table.</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An alternate syntax for join operation introduced with </a:t>
            </a: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oracle 9i (ANSI syntax):</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Join type can be </a:t>
            </a: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INNNER (EQUI), LEFT, RIGHT, FULL OUTER…</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A036FB68-C993-E671-1662-0A75D9B4F125}"/>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4">
            <a:extLst>
              <a:ext uri="{FF2B5EF4-FFF2-40B4-BE49-F238E27FC236}">
                <a16:creationId xmlns:a16="http://schemas.microsoft.com/office/drawing/2014/main" id="{3BF7BE17-5FAC-0FE4-3FA3-06B7D2B3D06B}"/>
              </a:ext>
            </a:extLst>
          </p:cNvPr>
          <p:cNvSpPr>
            <a:spLocks noChangeArrowheads="1"/>
          </p:cNvSpPr>
          <p:nvPr/>
        </p:nvSpPr>
        <p:spPr bwMode="blackWhite">
          <a:xfrm>
            <a:off x="1026319" y="801390"/>
            <a:ext cx="7091362" cy="11874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a:t>
            </a:r>
            <a:r>
              <a:rPr lang="en-US" altLang="en-US" sz="1800" b="1" i="1" dirty="0">
                <a:solidFill>
                  <a:srgbClr val="000000"/>
                </a:solidFill>
                <a:latin typeface="Courier New" panose="02070309020205020404" pitchFamily="49" charset="0"/>
              </a:rPr>
              <a:t>table1.column, table2.column</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FROM	</a:t>
            </a:r>
            <a:r>
              <a:rPr lang="en-US" altLang="en-US" sz="1800" b="1" i="1" dirty="0">
                <a:solidFill>
                  <a:srgbClr val="000000"/>
                </a:solidFill>
                <a:latin typeface="Courier New" panose="02070309020205020404" pitchFamily="49" charset="0"/>
              </a:rPr>
              <a:t>table1, table2</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WHERE	</a:t>
            </a:r>
            <a:r>
              <a:rPr lang="en-US" altLang="en-US" sz="1800" b="1" i="1" dirty="0">
                <a:solidFill>
                  <a:srgbClr val="000000"/>
                </a:solidFill>
                <a:latin typeface="Courier New" panose="02070309020205020404" pitchFamily="49" charset="0"/>
              </a:rPr>
              <a:t> table1.JoinColumn </a:t>
            </a:r>
            <a:r>
              <a:rPr lang="en-US" altLang="en-US" sz="1800" b="1" dirty="0">
                <a:solidFill>
                  <a:srgbClr val="000000"/>
                </a:solidFill>
                <a:latin typeface="Courier New" panose="02070309020205020404" pitchFamily="49" charset="0"/>
              </a:rPr>
              <a:t>=</a:t>
            </a:r>
            <a:r>
              <a:rPr lang="en-US" altLang="en-US" sz="1800" b="1" i="1" dirty="0">
                <a:solidFill>
                  <a:srgbClr val="000000"/>
                </a:solidFill>
                <a:latin typeface="Courier New" panose="02070309020205020404" pitchFamily="49" charset="0"/>
              </a:rPr>
              <a:t> table2.JoinColumn</a:t>
            </a:r>
            <a:r>
              <a:rPr lang="en-US" altLang="en-US" sz="1800" b="1" dirty="0">
                <a:solidFill>
                  <a:srgbClr val="000000"/>
                </a:solidFill>
                <a:latin typeface="Courier New" panose="02070309020205020404" pitchFamily="49" charset="0"/>
              </a:rPr>
              <a:t>;</a:t>
            </a:r>
          </a:p>
        </p:txBody>
      </p:sp>
      <p:sp>
        <p:nvSpPr>
          <p:cNvPr id="5" name="Rectangle 4">
            <a:extLst>
              <a:ext uri="{FF2B5EF4-FFF2-40B4-BE49-F238E27FC236}">
                <a16:creationId xmlns:a16="http://schemas.microsoft.com/office/drawing/2014/main" id="{B7021BCA-CF3B-24B2-A643-506FCA0022BC}"/>
              </a:ext>
            </a:extLst>
          </p:cNvPr>
          <p:cNvSpPr>
            <a:spLocks noChangeArrowheads="1"/>
          </p:cNvSpPr>
          <p:nvPr/>
        </p:nvSpPr>
        <p:spPr bwMode="blackWhite">
          <a:xfrm>
            <a:off x="1026318" y="4127147"/>
            <a:ext cx="7091363" cy="11874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a:t>
            </a:r>
            <a:r>
              <a:rPr lang="en-US" altLang="en-US" sz="1800" b="1" i="1" dirty="0">
                <a:solidFill>
                  <a:srgbClr val="000000"/>
                </a:solidFill>
                <a:latin typeface="Courier New" panose="02070309020205020404" pitchFamily="49" charset="0"/>
              </a:rPr>
              <a:t>table1.column, table2.column</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FROM	</a:t>
            </a:r>
            <a:r>
              <a:rPr lang="en-US" altLang="en-US" sz="1800" b="1" i="1" dirty="0">
                <a:solidFill>
                  <a:srgbClr val="000000"/>
                </a:solidFill>
                <a:latin typeface="Courier New" panose="02070309020205020404" pitchFamily="49" charset="0"/>
              </a:rPr>
              <a:t>table1 </a:t>
            </a:r>
            <a:r>
              <a:rPr lang="en-US" altLang="en-US" sz="1800" b="1" i="1" dirty="0">
                <a:solidFill>
                  <a:srgbClr val="0000CC"/>
                </a:solidFill>
                <a:latin typeface="Courier New" panose="02070309020205020404" pitchFamily="49" charset="0"/>
              </a:rPr>
              <a:t>{join type} JOIN</a:t>
            </a:r>
            <a:r>
              <a:rPr lang="en-US" altLang="en-US" sz="1800" b="1" i="1" dirty="0">
                <a:solidFill>
                  <a:schemeClr val="accent2"/>
                </a:solidFill>
                <a:latin typeface="Courier New" panose="02070309020205020404" pitchFamily="49" charset="0"/>
              </a:rPr>
              <a:t> </a:t>
            </a:r>
            <a:r>
              <a:rPr lang="en-US" altLang="en-US" sz="1800" b="1" i="1" dirty="0">
                <a:solidFill>
                  <a:srgbClr val="000000"/>
                </a:solidFill>
                <a:latin typeface="Courier New" panose="02070309020205020404" pitchFamily="49" charset="0"/>
              </a:rPr>
              <a:t>table2</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[ON 	</a:t>
            </a:r>
            <a:r>
              <a:rPr lang="en-US" altLang="en-US" sz="1800" b="1" i="1" dirty="0">
                <a:solidFill>
                  <a:srgbClr val="000000"/>
                </a:solidFill>
                <a:latin typeface="Courier New" panose="02070309020205020404" pitchFamily="49" charset="0"/>
              </a:rPr>
              <a:t>table1.JoinColumn </a:t>
            </a:r>
            <a:r>
              <a:rPr lang="en-US" altLang="en-US" sz="1800" b="1" dirty="0">
                <a:solidFill>
                  <a:srgbClr val="000000"/>
                </a:solidFill>
                <a:latin typeface="Courier New" panose="02070309020205020404" pitchFamily="49" charset="0"/>
              </a:rPr>
              <a:t>=</a:t>
            </a:r>
            <a:r>
              <a:rPr lang="en-US" altLang="en-US" sz="1800" b="1" i="1" dirty="0">
                <a:solidFill>
                  <a:srgbClr val="000000"/>
                </a:solidFill>
                <a:latin typeface="Courier New" panose="02070309020205020404" pitchFamily="49" charset="0"/>
              </a:rPr>
              <a:t> table2.JoinColumn]</a:t>
            </a:r>
            <a:r>
              <a:rPr lang="en-US" altLang="en-US" sz="1800" b="1" dirty="0">
                <a:solidFill>
                  <a:srgbClr val="000000"/>
                </a:solidFill>
                <a:latin typeface="Courier New" panose="02070309020205020404" pitchFamily="49" charset="0"/>
              </a:rPr>
              <a:t>;</a:t>
            </a:r>
          </a:p>
        </p:txBody>
      </p:sp>
    </p:spTree>
    <p:extLst>
      <p:ext uri="{BB962C8B-B14F-4D97-AF65-F5344CB8AC3E}">
        <p14:creationId xmlns:p14="http://schemas.microsoft.com/office/powerpoint/2010/main" val="344173389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618AB-3E35-014E-11EB-BD5EC7266CC4}"/>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AE8DD091-8399-4EFB-EF8E-15CB71339B61}"/>
              </a:ext>
            </a:extLst>
          </p:cNvPr>
          <p:cNvSpPr>
            <a:spLocks noGrp="1" noChangeArrowheads="1"/>
          </p:cNvSpPr>
          <p:nvPr>
            <p:ph type="title"/>
          </p:nvPr>
        </p:nvSpPr>
        <p:spPr>
          <a:xfrm>
            <a:off x="4254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Join Types</a:t>
            </a:r>
          </a:p>
        </p:txBody>
      </p:sp>
      <p:sp>
        <p:nvSpPr>
          <p:cNvPr id="38915" name="Rectangle 3">
            <a:extLst>
              <a:ext uri="{FF2B5EF4-FFF2-40B4-BE49-F238E27FC236}">
                <a16:creationId xmlns:a16="http://schemas.microsoft.com/office/drawing/2014/main" id="{7BD86937-B2A1-F90B-F6A5-4DCF318D4924}"/>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D5515907-F888-498E-B5FE-EA4C54F95378}"/>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31278E98-A1BA-3115-4C20-49B2FC2573A1}"/>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graphicFrame>
        <p:nvGraphicFramePr>
          <p:cNvPr id="7" name="Table 2">
            <a:extLst>
              <a:ext uri="{FF2B5EF4-FFF2-40B4-BE49-F238E27FC236}">
                <a16:creationId xmlns:a16="http://schemas.microsoft.com/office/drawing/2014/main" id="{4D393CCC-1D34-E99E-8BAB-C9EA2113944C}"/>
              </a:ext>
            </a:extLst>
          </p:cNvPr>
          <p:cNvGraphicFramePr>
            <a:graphicFrameLocks noGrp="1"/>
          </p:cNvGraphicFramePr>
          <p:nvPr>
            <p:extLst>
              <p:ext uri="{D42A27DB-BD31-4B8C-83A1-F6EECF244321}">
                <p14:modId xmlns:p14="http://schemas.microsoft.com/office/powerpoint/2010/main" val="18729077"/>
              </p:ext>
            </p:extLst>
          </p:nvPr>
        </p:nvGraphicFramePr>
        <p:xfrm>
          <a:off x="757796" y="949877"/>
          <a:ext cx="7224712" cy="5184774"/>
        </p:xfrm>
        <a:graphic>
          <a:graphicData uri="http://schemas.openxmlformats.org/drawingml/2006/table">
            <a:tbl>
              <a:tblPr firstRow="1" bandRow="1">
                <a:tableStyleId>{5C22544A-7EE6-4342-B048-85BDC9FD1C3A}</a:tableStyleId>
              </a:tblPr>
              <a:tblGrid>
                <a:gridCol w="3612356">
                  <a:extLst>
                    <a:ext uri="{9D8B030D-6E8A-4147-A177-3AD203B41FA5}">
                      <a16:colId xmlns:a16="http://schemas.microsoft.com/office/drawing/2014/main" val="20000"/>
                    </a:ext>
                  </a:extLst>
                </a:gridCol>
                <a:gridCol w="3612356">
                  <a:extLst>
                    <a:ext uri="{9D8B030D-6E8A-4147-A177-3AD203B41FA5}">
                      <a16:colId xmlns:a16="http://schemas.microsoft.com/office/drawing/2014/main" val="20001"/>
                    </a:ext>
                  </a:extLst>
                </a:gridCol>
              </a:tblGrid>
              <a:tr h="864129">
                <a:tc>
                  <a:txBody>
                    <a:bodyPr/>
                    <a:lstStyle/>
                    <a:p>
                      <a:pPr algn="ctr"/>
                      <a:r>
                        <a:rPr lang="en-US" sz="2800" b="0" dirty="0">
                          <a:solidFill>
                            <a:srgbClr val="FF0000"/>
                          </a:solidFill>
                        </a:rPr>
                        <a:t>Cartesian</a:t>
                      </a:r>
                      <a:r>
                        <a:rPr lang="en-US" sz="2800" b="0" dirty="0">
                          <a:solidFill>
                            <a:schemeClr val="tx1"/>
                          </a:solidFill>
                        </a:rPr>
                        <a:t> Join</a:t>
                      </a:r>
                      <a:endParaRPr lang="en-US" sz="1800" b="0" dirty="0">
                        <a:solidFill>
                          <a:schemeClr val="tx1"/>
                        </a:solidFill>
                      </a:endParaRPr>
                    </a:p>
                  </a:txBody>
                  <a:tcPr marL="91443" marR="91443"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800" dirty="0"/>
                    </a:p>
                  </a:txBody>
                  <a:tcPr marL="91443" marR="91443"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8641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kern="1200" dirty="0">
                          <a:solidFill>
                            <a:srgbClr val="FF0000"/>
                          </a:solidFill>
                          <a:latin typeface="+mn-lt"/>
                          <a:ea typeface="+mn-ea"/>
                          <a:cs typeface="+mn-cs"/>
                        </a:rPr>
                        <a:t>Natural</a:t>
                      </a:r>
                      <a:r>
                        <a:rPr lang="en-US" sz="2800" b="0" kern="1200" dirty="0">
                          <a:solidFill>
                            <a:schemeClr val="tx1"/>
                          </a:solidFill>
                          <a:latin typeface="+mn-lt"/>
                          <a:ea typeface="+mn-ea"/>
                          <a:cs typeface="+mn-cs"/>
                        </a:rPr>
                        <a:t> Join</a:t>
                      </a:r>
                      <a:endParaRPr lang="en-US" sz="2400" dirty="0"/>
                    </a:p>
                  </a:txBody>
                  <a:tcPr marL="91443" marR="91443"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800" dirty="0"/>
                    </a:p>
                  </a:txBody>
                  <a:tcPr marL="91443" marR="91443"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8641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kern="1200" dirty="0" err="1">
                          <a:solidFill>
                            <a:srgbClr val="FF0000"/>
                          </a:solidFill>
                          <a:latin typeface="+mn-lt"/>
                          <a:ea typeface="+mn-ea"/>
                          <a:cs typeface="+mn-cs"/>
                        </a:rPr>
                        <a:t>Equi</a:t>
                      </a:r>
                      <a:r>
                        <a:rPr lang="en-US" sz="2800" b="0" kern="1200" dirty="0">
                          <a:solidFill>
                            <a:schemeClr val="tx1"/>
                          </a:solidFill>
                          <a:latin typeface="+mn-lt"/>
                          <a:ea typeface="+mn-ea"/>
                          <a:cs typeface="+mn-cs"/>
                        </a:rPr>
                        <a:t> or </a:t>
                      </a:r>
                      <a:r>
                        <a:rPr lang="en-US" sz="2800" b="0" kern="1200" dirty="0">
                          <a:solidFill>
                            <a:srgbClr val="FF0000"/>
                          </a:solidFill>
                          <a:latin typeface="+mn-lt"/>
                          <a:ea typeface="+mn-ea"/>
                          <a:cs typeface="+mn-cs"/>
                        </a:rPr>
                        <a:t>Inner</a:t>
                      </a:r>
                      <a:r>
                        <a:rPr lang="en-US" sz="2800" b="0" kern="1200" dirty="0">
                          <a:solidFill>
                            <a:schemeClr val="tx1"/>
                          </a:solidFill>
                          <a:latin typeface="+mn-lt"/>
                          <a:ea typeface="+mn-ea"/>
                          <a:cs typeface="+mn-cs"/>
                        </a:rPr>
                        <a:t> Join</a:t>
                      </a:r>
                      <a:endParaRPr lang="en-US" sz="1800" dirty="0"/>
                    </a:p>
                  </a:txBody>
                  <a:tcPr marL="91443" marR="91443"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800" dirty="0"/>
                    </a:p>
                  </a:txBody>
                  <a:tcPr marL="91443" marR="91443"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8641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a:solidFill>
                            <a:srgbClr val="FF0000"/>
                          </a:solidFill>
                        </a:rPr>
                        <a:t>Outer</a:t>
                      </a:r>
                      <a:r>
                        <a:rPr lang="en-US" sz="2800" b="0" dirty="0">
                          <a:solidFill>
                            <a:schemeClr val="tx1"/>
                          </a:solidFill>
                        </a:rPr>
                        <a:t> Join</a:t>
                      </a:r>
                      <a:endParaRPr lang="en-US" sz="2800" dirty="0"/>
                    </a:p>
                  </a:txBody>
                  <a:tcPr marL="91443" marR="91443"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800"/>
                    </a:p>
                  </a:txBody>
                  <a:tcPr marL="91443" marR="91443"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8641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kern="1200" dirty="0">
                          <a:solidFill>
                            <a:srgbClr val="FF0000"/>
                          </a:solidFill>
                          <a:latin typeface="+mn-lt"/>
                          <a:ea typeface="+mn-ea"/>
                          <a:cs typeface="+mn-cs"/>
                        </a:rPr>
                        <a:t>Non-</a:t>
                      </a:r>
                      <a:r>
                        <a:rPr lang="en-US" sz="2800" b="0" kern="1200" dirty="0" err="1">
                          <a:solidFill>
                            <a:srgbClr val="FF0000"/>
                          </a:solidFill>
                          <a:latin typeface="+mn-lt"/>
                          <a:ea typeface="+mn-ea"/>
                          <a:cs typeface="+mn-cs"/>
                        </a:rPr>
                        <a:t>Equi</a:t>
                      </a:r>
                      <a:r>
                        <a:rPr lang="en-US" sz="2800" b="0" dirty="0">
                          <a:solidFill>
                            <a:schemeClr val="tx1"/>
                          </a:solidFill>
                        </a:rPr>
                        <a:t> Join</a:t>
                      </a:r>
                      <a:endParaRPr lang="en-US" sz="2800" dirty="0"/>
                    </a:p>
                  </a:txBody>
                  <a:tcPr marL="91443" marR="91443"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800" dirty="0"/>
                    </a:p>
                  </a:txBody>
                  <a:tcPr marL="91443" marR="91443"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86412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a:solidFill>
                            <a:srgbClr val="FF0000"/>
                          </a:solidFill>
                        </a:rPr>
                        <a:t>Self</a:t>
                      </a:r>
                      <a:r>
                        <a:rPr lang="en-US" sz="2800" b="0" dirty="0">
                          <a:solidFill>
                            <a:schemeClr val="tx1"/>
                          </a:solidFill>
                        </a:rPr>
                        <a:t> Join</a:t>
                      </a:r>
                      <a:endParaRPr lang="en-US" sz="2800" dirty="0"/>
                    </a:p>
                  </a:txBody>
                  <a:tcPr marL="91443" marR="91443" marT="45722" marB="45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800" dirty="0"/>
                    </a:p>
                  </a:txBody>
                  <a:tcPr marL="91443" marR="91443"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grpSp>
        <p:nvGrpSpPr>
          <p:cNvPr id="8" name="Group 1">
            <a:extLst>
              <a:ext uri="{FF2B5EF4-FFF2-40B4-BE49-F238E27FC236}">
                <a16:creationId xmlns:a16="http://schemas.microsoft.com/office/drawing/2014/main" id="{4B22BAA9-3F09-F0A4-6B9C-5F25C4D57ED7}"/>
              </a:ext>
            </a:extLst>
          </p:cNvPr>
          <p:cNvGrpSpPr>
            <a:grpSpLocks/>
          </p:cNvGrpSpPr>
          <p:nvPr/>
        </p:nvGrpSpPr>
        <p:grpSpPr bwMode="auto">
          <a:xfrm>
            <a:off x="5294871" y="1007027"/>
            <a:ext cx="1701800" cy="638175"/>
            <a:chOff x="773113" y="3726929"/>
            <a:chExt cx="1701800" cy="638175"/>
          </a:xfrm>
        </p:grpSpPr>
        <p:sp>
          <p:nvSpPr>
            <p:cNvPr id="9" name="Rectangle 11">
              <a:extLst>
                <a:ext uri="{FF2B5EF4-FFF2-40B4-BE49-F238E27FC236}">
                  <a16:creationId xmlns:a16="http://schemas.microsoft.com/office/drawing/2014/main" id="{BE35B320-8E93-B369-DFB6-7C7761731F33}"/>
                </a:ext>
              </a:extLst>
            </p:cNvPr>
            <p:cNvSpPr>
              <a:spLocks noChangeArrowheads="1"/>
            </p:cNvSpPr>
            <p:nvPr/>
          </p:nvSpPr>
          <p:spPr bwMode="blackWhite">
            <a:xfrm>
              <a:off x="773113" y="3726929"/>
              <a:ext cx="777875" cy="638175"/>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10" name="Rectangle 12">
              <a:extLst>
                <a:ext uri="{FF2B5EF4-FFF2-40B4-BE49-F238E27FC236}">
                  <a16:creationId xmlns:a16="http://schemas.microsoft.com/office/drawing/2014/main" id="{793942C6-B18E-C063-94BF-46F8125AA1DF}"/>
                </a:ext>
              </a:extLst>
            </p:cNvPr>
            <p:cNvSpPr>
              <a:spLocks noChangeArrowheads="1"/>
            </p:cNvSpPr>
            <p:nvPr/>
          </p:nvSpPr>
          <p:spPr bwMode="blackWhite">
            <a:xfrm>
              <a:off x="1697038" y="3726929"/>
              <a:ext cx="777875" cy="638175"/>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11" name="Line 15">
              <a:extLst>
                <a:ext uri="{FF2B5EF4-FFF2-40B4-BE49-F238E27FC236}">
                  <a16:creationId xmlns:a16="http://schemas.microsoft.com/office/drawing/2014/main" id="{2C93B7E7-191D-E37C-A9BC-ECEE59F6043C}"/>
                </a:ext>
              </a:extLst>
            </p:cNvPr>
            <p:cNvSpPr>
              <a:spLocks noChangeShapeType="1"/>
            </p:cNvSpPr>
            <p:nvPr/>
          </p:nvSpPr>
          <p:spPr bwMode="blackWhite">
            <a:xfrm>
              <a:off x="1290638" y="4060304"/>
              <a:ext cx="650875"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latin typeface="Cambria" panose="02040503050406030204" pitchFamily="18" charset="0"/>
                <a:ea typeface="Cambria" panose="02040503050406030204" pitchFamily="18" charset="0"/>
              </a:endParaRPr>
            </a:p>
          </p:txBody>
        </p:sp>
      </p:grpSp>
      <p:grpSp>
        <p:nvGrpSpPr>
          <p:cNvPr id="12" name="Group 10">
            <a:extLst>
              <a:ext uri="{FF2B5EF4-FFF2-40B4-BE49-F238E27FC236}">
                <a16:creationId xmlns:a16="http://schemas.microsoft.com/office/drawing/2014/main" id="{37B4C273-D000-6A59-A2D5-D150D19DAC4A}"/>
              </a:ext>
            </a:extLst>
          </p:cNvPr>
          <p:cNvGrpSpPr>
            <a:grpSpLocks/>
          </p:cNvGrpSpPr>
          <p:nvPr/>
        </p:nvGrpSpPr>
        <p:grpSpPr bwMode="auto">
          <a:xfrm>
            <a:off x="5286933" y="2759627"/>
            <a:ext cx="1701800" cy="638175"/>
            <a:chOff x="391" y="1632"/>
            <a:chExt cx="1072" cy="402"/>
          </a:xfrm>
        </p:grpSpPr>
        <p:sp>
          <p:nvSpPr>
            <p:cNvPr id="13" name="Rectangle 11">
              <a:extLst>
                <a:ext uri="{FF2B5EF4-FFF2-40B4-BE49-F238E27FC236}">
                  <a16:creationId xmlns:a16="http://schemas.microsoft.com/office/drawing/2014/main" id="{477EBDD1-9C41-08EE-B22A-ED271A0A6E51}"/>
                </a:ext>
              </a:extLst>
            </p:cNvPr>
            <p:cNvSpPr>
              <a:spLocks noChangeArrowheads="1"/>
            </p:cNvSpPr>
            <p:nvPr/>
          </p:nvSpPr>
          <p:spPr bwMode="blackWhite">
            <a:xfrm>
              <a:off x="391" y="1632"/>
              <a:ext cx="490"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14" name="Rectangle 12">
              <a:extLst>
                <a:ext uri="{FF2B5EF4-FFF2-40B4-BE49-F238E27FC236}">
                  <a16:creationId xmlns:a16="http://schemas.microsoft.com/office/drawing/2014/main" id="{66BA02A8-1564-209E-F989-6C66ED34D37B}"/>
                </a:ext>
              </a:extLst>
            </p:cNvPr>
            <p:cNvSpPr>
              <a:spLocks noChangeArrowheads="1"/>
            </p:cNvSpPr>
            <p:nvPr/>
          </p:nvSpPr>
          <p:spPr bwMode="blackWhite">
            <a:xfrm>
              <a:off x="973" y="1632"/>
              <a:ext cx="490"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15" name="Oval 13">
              <a:extLst>
                <a:ext uri="{FF2B5EF4-FFF2-40B4-BE49-F238E27FC236}">
                  <a16:creationId xmlns:a16="http://schemas.microsoft.com/office/drawing/2014/main" id="{57339FD7-7CE8-9790-842E-819BF2493ED0}"/>
                </a:ext>
              </a:extLst>
            </p:cNvPr>
            <p:cNvSpPr>
              <a:spLocks noChangeArrowheads="1"/>
            </p:cNvSpPr>
            <p:nvPr/>
          </p:nvSpPr>
          <p:spPr bwMode="blackWhite">
            <a:xfrm>
              <a:off x="586" y="1800"/>
              <a:ext cx="87" cy="88"/>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16" name="Oval 14">
              <a:extLst>
                <a:ext uri="{FF2B5EF4-FFF2-40B4-BE49-F238E27FC236}">
                  <a16:creationId xmlns:a16="http://schemas.microsoft.com/office/drawing/2014/main" id="{3F7FBC30-00A5-80F2-D3CC-29A6C83E7D29}"/>
                </a:ext>
              </a:extLst>
            </p:cNvPr>
            <p:cNvSpPr>
              <a:spLocks noChangeArrowheads="1"/>
            </p:cNvSpPr>
            <p:nvPr/>
          </p:nvSpPr>
          <p:spPr bwMode="blackWhite">
            <a:xfrm>
              <a:off x="1159" y="1800"/>
              <a:ext cx="87" cy="88"/>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17" name="Line 15">
              <a:extLst>
                <a:ext uri="{FF2B5EF4-FFF2-40B4-BE49-F238E27FC236}">
                  <a16:creationId xmlns:a16="http://schemas.microsoft.com/office/drawing/2014/main" id="{64CA9E3C-37C6-AE98-4511-8463771F017E}"/>
                </a:ext>
              </a:extLst>
            </p:cNvPr>
            <p:cNvSpPr>
              <a:spLocks noChangeShapeType="1"/>
            </p:cNvSpPr>
            <p:nvPr/>
          </p:nvSpPr>
          <p:spPr bwMode="blackWhite">
            <a:xfrm>
              <a:off x="717" y="1842"/>
              <a:ext cx="410"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latin typeface="Cambria" panose="02040503050406030204" pitchFamily="18" charset="0"/>
                <a:ea typeface="Cambria" panose="02040503050406030204" pitchFamily="18" charset="0"/>
              </a:endParaRPr>
            </a:p>
          </p:txBody>
        </p:sp>
      </p:grpSp>
      <p:grpSp>
        <p:nvGrpSpPr>
          <p:cNvPr id="18" name="Group 16">
            <a:extLst>
              <a:ext uri="{FF2B5EF4-FFF2-40B4-BE49-F238E27FC236}">
                <a16:creationId xmlns:a16="http://schemas.microsoft.com/office/drawing/2014/main" id="{84AD4891-90AC-6E6E-6F42-1BD2354111AA}"/>
              </a:ext>
            </a:extLst>
          </p:cNvPr>
          <p:cNvGrpSpPr>
            <a:grpSpLocks/>
          </p:cNvGrpSpPr>
          <p:nvPr/>
        </p:nvGrpSpPr>
        <p:grpSpPr bwMode="auto">
          <a:xfrm>
            <a:off x="5294871" y="3624814"/>
            <a:ext cx="1701800" cy="638175"/>
            <a:chOff x="3135" y="1632"/>
            <a:chExt cx="1072" cy="402"/>
          </a:xfrm>
        </p:grpSpPr>
        <p:sp>
          <p:nvSpPr>
            <p:cNvPr id="19" name="Rectangle 17">
              <a:extLst>
                <a:ext uri="{FF2B5EF4-FFF2-40B4-BE49-F238E27FC236}">
                  <a16:creationId xmlns:a16="http://schemas.microsoft.com/office/drawing/2014/main" id="{B0ECF408-9FE9-FFFC-E665-5671AD073B2C}"/>
                </a:ext>
              </a:extLst>
            </p:cNvPr>
            <p:cNvSpPr>
              <a:spLocks noChangeArrowheads="1"/>
            </p:cNvSpPr>
            <p:nvPr/>
          </p:nvSpPr>
          <p:spPr bwMode="blackWhite">
            <a:xfrm>
              <a:off x="3135" y="1632"/>
              <a:ext cx="490"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21" name="Rectangle 18">
              <a:extLst>
                <a:ext uri="{FF2B5EF4-FFF2-40B4-BE49-F238E27FC236}">
                  <a16:creationId xmlns:a16="http://schemas.microsoft.com/office/drawing/2014/main" id="{C495BFFA-4466-E96E-F3F7-37FF94806645}"/>
                </a:ext>
              </a:extLst>
            </p:cNvPr>
            <p:cNvSpPr>
              <a:spLocks noChangeArrowheads="1"/>
            </p:cNvSpPr>
            <p:nvPr/>
          </p:nvSpPr>
          <p:spPr bwMode="blackWhite">
            <a:xfrm>
              <a:off x="3717" y="1632"/>
              <a:ext cx="490"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22" name="Oval 19">
              <a:extLst>
                <a:ext uri="{FF2B5EF4-FFF2-40B4-BE49-F238E27FC236}">
                  <a16:creationId xmlns:a16="http://schemas.microsoft.com/office/drawing/2014/main" id="{685A4684-AFD3-8272-5E5C-CE83732E9AAB}"/>
                </a:ext>
              </a:extLst>
            </p:cNvPr>
            <p:cNvSpPr>
              <a:spLocks noChangeArrowheads="1"/>
            </p:cNvSpPr>
            <p:nvPr/>
          </p:nvSpPr>
          <p:spPr bwMode="blackWhite">
            <a:xfrm>
              <a:off x="3325" y="1785"/>
              <a:ext cx="87" cy="88"/>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23" name="Oval 20">
              <a:extLst>
                <a:ext uri="{FF2B5EF4-FFF2-40B4-BE49-F238E27FC236}">
                  <a16:creationId xmlns:a16="http://schemas.microsoft.com/office/drawing/2014/main" id="{38D59FEA-A5F0-24C7-8B41-5EEDF39ABC85}"/>
                </a:ext>
              </a:extLst>
            </p:cNvPr>
            <p:cNvSpPr>
              <a:spLocks noChangeArrowheads="1"/>
            </p:cNvSpPr>
            <p:nvPr/>
          </p:nvSpPr>
          <p:spPr bwMode="blackWhite">
            <a:xfrm>
              <a:off x="3912" y="1785"/>
              <a:ext cx="88" cy="88"/>
            </a:xfrm>
            <a:prstGeom prst="ellipse">
              <a:avLst/>
            </a:prstGeom>
            <a:gradFill rotWithShape="0">
              <a:gsLst>
                <a:gs pos="0">
                  <a:srgbClr val="002EB7"/>
                </a:gs>
                <a:gs pos="50000">
                  <a:srgbClr val="0033CC"/>
                </a:gs>
                <a:gs pos="100000">
                  <a:srgbClr val="002EB7"/>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24" name="Line 21">
              <a:extLst>
                <a:ext uri="{FF2B5EF4-FFF2-40B4-BE49-F238E27FC236}">
                  <a16:creationId xmlns:a16="http://schemas.microsoft.com/office/drawing/2014/main" id="{E8113E8A-A408-2A5D-6368-1FB8970FF395}"/>
                </a:ext>
              </a:extLst>
            </p:cNvPr>
            <p:cNvSpPr>
              <a:spLocks noChangeShapeType="1"/>
            </p:cNvSpPr>
            <p:nvPr/>
          </p:nvSpPr>
          <p:spPr bwMode="blackWhite">
            <a:xfrm>
              <a:off x="3461" y="1832"/>
              <a:ext cx="410"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latin typeface="Cambria" panose="02040503050406030204" pitchFamily="18" charset="0"/>
                <a:ea typeface="Cambria" panose="02040503050406030204" pitchFamily="18" charset="0"/>
              </a:endParaRPr>
            </a:p>
          </p:txBody>
        </p:sp>
      </p:grpSp>
      <p:grpSp>
        <p:nvGrpSpPr>
          <p:cNvPr id="25" name="Group 4">
            <a:extLst>
              <a:ext uri="{FF2B5EF4-FFF2-40B4-BE49-F238E27FC236}">
                <a16:creationId xmlns:a16="http://schemas.microsoft.com/office/drawing/2014/main" id="{0488D676-0AA5-021F-1886-F6D721D80574}"/>
              </a:ext>
            </a:extLst>
          </p:cNvPr>
          <p:cNvGrpSpPr>
            <a:grpSpLocks/>
          </p:cNvGrpSpPr>
          <p:nvPr/>
        </p:nvGrpSpPr>
        <p:grpSpPr bwMode="auto">
          <a:xfrm>
            <a:off x="5323446" y="4486827"/>
            <a:ext cx="1701800" cy="639762"/>
            <a:chOff x="1752" y="1632"/>
            <a:chExt cx="1072" cy="403"/>
          </a:xfrm>
        </p:grpSpPr>
        <p:sp>
          <p:nvSpPr>
            <p:cNvPr id="26" name="Rectangle 5">
              <a:extLst>
                <a:ext uri="{FF2B5EF4-FFF2-40B4-BE49-F238E27FC236}">
                  <a16:creationId xmlns:a16="http://schemas.microsoft.com/office/drawing/2014/main" id="{42176A94-4E47-83CE-2D91-82FAF8CA769C}"/>
                </a:ext>
              </a:extLst>
            </p:cNvPr>
            <p:cNvSpPr>
              <a:spLocks noChangeArrowheads="1"/>
            </p:cNvSpPr>
            <p:nvPr/>
          </p:nvSpPr>
          <p:spPr bwMode="blackWhite">
            <a:xfrm>
              <a:off x="1752" y="1632"/>
              <a:ext cx="490" cy="403"/>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27" name="Rectangle 6">
              <a:extLst>
                <a:ext uri="{FF2B5EF4-FFF2-40B4-BE49-F238E27FC236}">
                  <a16:creationId xmlns:a16="http://schemas.microsoft.com/office/drawing/2014/main" id="{14CC6977-884C-CDF0-8F84-C7CD40521556}"/>
                </a:ext>
              </a:extLst>
            </p:cNvPr>
            <p:cNvSpPr>
              <a:spLocks noChangeArrowheads="1"/>
            </p:cNvSpPr>
            <p:nvPr/>
          </p:nvSpPr>
          <p:spPr bwMode="blackWhite">
            <a:xfrm>
              <a:off x="2334" y="1632"/>
              <a:ext cx="490" cy="403"/>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28" name="Oval 7">
              <a:extLst>
                <a:ext uri="{FF2B5EF4-FFF2-40B4-BE49-F238E27FC236}">
                  <a16:creationId xmlns:a16="http://schemas.microsoft.com/office/drawing/2014/main" id="{3E1B5DB4-92FF-00EA-293A-AD0E2F409868}"/>
                </a:ext>
              </a:extLst>
            </p:cNvPr>
            <p:cNvSpPr>
              <a:spLocks noChangeArrowheads="1"/>
            </p:cNvSpPr>
            <p:nvPr/>
          </p:nvSpPr>
          <p:spPr bwMode="blackWhite">
            <a:xfrm>
              <a:off x="1947" y="1794"/>
              <a:ext cx="87" cy="87"/>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29" name="Line 8">
              <a:extLst>
                <a:ext uri="{FF2B5EF4-FFF2-40B4-BE49-F238E27FC236}">
                  <a16:creationId xmlns:a16="http://schemas.microsoft.com/office/drawing/2014/main" id="{E9679619-C8D4-EE6E-9E78-F5723408C0FF}"/>
                </a:ext>
              </a:extLst>
            </p:cNvPr>
            <p:cNvSpPr>
              <a:spLocks noChangeShapeType="1"/>
            </p:cNvSpPr>
            <p:nvPr/>
          </p:nvSpPr>
          <p:spPr bwMode="blackWhite">
            <a:xfrm>
              <a:off x="2078" y="1838"/>
              <a:ext cx="410"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latin typeface="Cambria" panose="02040503050406030204" pitchFamily="18" charset="0"/>
                <a:ea typeface="Cambria" panose="02040503050406030204" pitchFamily="18" charset="0"/>
              </a:endParaRPr>
            </a:p>
          </p:txBody>
        </p:sp>
        <p:sp>
          <p:nvSpPr>
            <p:cNvPr id="30" name="Rectangle 9">
              <a:extLst>
                <a:ext uri="{FF2B5EF4-FFF2-40B4-BE49-F238E27FC236}">
                  <a16:creationId xmlns:a16="http://schemas.microsoft.com/office/drawing/2014/main" id="{D771155E-0943-725F-75A4-5E05ABE7420B}"/>
                </a:ext>
              </a:extLst>
            </p:cNvPr>
            <p:cNvSpPr>
              <a:spLocks noChangeArrowheads="1"/>
            </p:cNvSpPr>
            <p:nvPr/>
          </p:nvSpPr>
          <p:spPr bwMode="blackWhite">
            <a:xfrm>
              <a:off x="2520" y="1794"/>
              <a:ext cx="87" cy="87"/>
            </a:xfrm>
            <a:prstGeom prst="rect">
              <a:avLst/>
            </a:prstGeom>
            <a:solidFill>
              <a:srgbClr val="0099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grpSp>
      <p:grpSp>
        <p:nvGrpSpPr>
          <p:cNvPr id="31" name="Group 22">
            <a:extLst>
              <a:ext uri="{FF2B5EF4-FFF2-40B4-BE49-F238E27FC236}">
                <a16:creationId xmlns:a16="http://schemas.microsoft.com/office/drawing/2014/main" id="{7F054D04-E44E-B56F-3EB8-3CA78E64747E}"/>
              </a:ext>
            </a:extLst>
          </p:cNvPr>
          <p:cNvGrpSpPr>
            <a:grpSpLocks/>
          </p:cNvGrpSpPr>
          <p:nvPr/>
        </p:nvGrpSpPr>
        <p:grpSpPr bwMode="auto">
          <a:xfrm>
            <a:off x="5596496" y="5352014"/>
            <a:ext cx="1200150" cy="638175"/>
            <a:chOff x="4477" y="1632"/>
            <a:chExt cx="756" cy="402"/>
          </a:xfrm>
        </p:grpSpPr>
        <p:sp>
          <p:nvSpPr>
            <p:cNvPr id="38912" name="Rectangle 23">
              <a:extLst>
                <a:ext uri="{FF2B5EF4-FFF2-40B4-BE49-F238E27FC236}">
                  <a16:creationId xmlns:a16="http://schemas.microsoft.com/office/drawing/2014/main" id="{C9D1B30B-1ED2-BF78-7237-7ADA6DBB76B5}"/>
                </a:ext>
              </a:extLst>
            </p:cNvPr>
            <p:cNvSpPr>
              <a:spLocks noChangeArrowheads="1"/>
            </p:cNvSpPr>
            <p:nvPr/>
          </p:nvSpPr>
          <p:spPr bwMode="blackWhite">
            <a:xfrm>
              <a:off x="4477" y="1632"/>
              <a:ext cx="756"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38913" name="Oval 24">
              <a:extLst>
                <a:ext uri="{FF2B5EF4-FFF2-40B4-BE49-F238E27FC236}">
                  <a16:creationId xmlns:a16="http://schemas.microsoft.com/office/drawing/2014/main" id="{01E89300-A4FF-4681-07E0-DB3739564B50}"/>
                </a:ext>
              </a:extLst>
            </p:cNvPr>
            <p:cNvSpPr>
              <a:spLocks noChangeArrowheads="1"/>
            </p:cNvSpPr>
            <p:nvPr/>
          </p:nvSpPr>
          <p:spPr bwMode="blackWhite">
            <a:xfrm>
              <a:off x="5104" y="1785"/>
              <a:ext cx="87" cy="87"/>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38916" name="Oval 25">
              <a:extLst>
                <a:ext uri="{FF2B5EF4-FFF2-40B4-BE49-F238E27FC236}">
                  <a16:creationId xmlns:a16="http://schemas.microsoft.com/office/drawing/2014/main" id="{653420D1-5D9F-B94F-AE1F-94FFB147B211}"/>
                </a:ext>
              </a:extLst>
            </p:cNvPr>
            <p:cNvSpPr>
              <a:spLocks noChangeArrowheads="1"/>
            </p:cNvSpPr>
            <p:nvPr/>
          </p:nvSpPr>
          <p:spPr bwMode="blackWhite">
            <a:xfrm>
              <a:off x="4515" y="1783"/>
              <a:ext cx="87" cy="88"/>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38917" name="Line 26">
              <a:extLst>
                <a:ext uri="{FF2B5EF4-FFF2-40B4-BE49-F238E27FC236}">
                  <a16:creationId xmlns:a16="http://schemas.microsoft.com/office/drawing/2014/main" id="{E5AFBF59-1D5E-23E3-96B2-A1268E03CBD7}"/>
                </a:ext>
              </a:extLst>
            </p:cNvPr>
            <p:cNvSpPr>
              <a:spLocks noChangeShapeType="1"/>
            </p:cNvSpPr>
            <p:nvPr/>
          </p:nvSpPr>
          <p:spPr bwMode="blackWhite">
            <a:xfrm>
              <a:off x="4651" y="1830"/>
              <a:ext cx="410"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latin typeface="Cambria" panose="02040503050406030204" pitchFamily="18" charset="0"/>
                <a:ea typeface="Cambria" panose="02040503050406030204" pitchFamily="18" charset="0"/>
              </a:endParaRPr>
            </a:p>
          </p:txBody>
        </p:sp>
      </p:grpSp>
      <p:grpSp>
        <p:nvGrpSpPr>
          <p:cNvPr id="38918" name="Group 10">
            <a:extLst>
              <a:ext uri="{FF2B5EF4-FFF2-40B4-BE49-F238E27FC236}">
                <a16:creationId xmlns:a16="http://schemas.microsoft.com/office/drawing/2014/main" id="{A247D131-AD71-B1FA-FDEB-96F40FEBD36F}"/>
              </a:ext>
            </a:extLst>
          </p:cNvPr>
          <p:cNvGrpSpPr>
            <a:grpSpLocks/>
          </p:cNvGrpSpPr>
          <p:nvPr/>
        </p:nvGrpSpPr>
        <p:grpSpPr bwMode="auto">
          <a:xfrm>
            <a:off x="5294871" y="1886502"/>
            <a:ext cx="1701800" cy="638175"/>
            <a:chOff x="391" y="1632"/>
            <a:chExt cx="1072" cy="402"/>
          </a:xfrm>
        </p:grpSpPr>
        <p:sp>
          <p:nvSpPr>
            <p:cNvPr id="38919" name="Rectangle 11">
              <a:extLst>
                <a:ext uri="{FF2B5EF4-FFF2-40B4-BE49-F238E27FC236}">
                  <a16:creationId xmlns:a16="http://schemas.microsoft.com/office/drawing/2014/main" id="{8BDDEACA-1392-FC73-66DD-4825E3AB9603}"/>
                </a:ext>
              </a:extLst>
            </p:cNvPr>
            <p:cNvSpPr>
              <a:spLocks noChangeArrowheads="1"/>
            </p:cNvSpPr>
            <p:nvPr/>
          </p:nvSpPr>
          <p:spPr bwMode="blackWhite">
            <a:xfrm>
              <a:off x="391" y="1632"/>
              <a:ext cx="490"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38920" name="Rectangle 12">
              <a:extLst>
                <a:ext uri="{FF2B5EF4-FFF2-40B4-BE49-F238E27FC236}">
                  <a16:creationId xmlns:a16="http://schemas.microsoft.com/office/drawing/2014/main" id="{6D5C4D78-4794-F789-D3A4-AA39DC63C77B}"/>
                </a:ext>
              </a:extLst>
            </p:cNvPr>
            <p:cNvSpPr>
              <a:spLocks noChangeArrowheads="1"/>
            </p:cNvSpPr>
            <p:nvPr/>
          </p:nvSpPr>
          <p:spPr bwMode="blackWhite">
            <a:xfrm>
              <a:off x="973" y="1632"/>
              <a:ext cx="490"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38921" name="Oval 13">
              <a:extLst>
                <a:ext uri="{FF2B5EF4-FFF2-40B4-BE49-F238E27FC236}">
                  <a16:creationId xmlns:a16="http://schemas.microsoft.com/office/drawing/2014/main" id="{2C7A07DB-7A0E-C66E-36DD-4031547B11BC}"/>
                </a:ext>
              </a:extLst>
            </p:cNvPr>
            <p:cNvSpPr>
              <a:spLocks noChangeArrowheads="1"/>
            </p:cNvSpPr>
            <p:nvPr/>
          </p:nvSpPr>
          <p:spPr bwMode="blackWhite">
            <a:xfrm>
              <a:off x="586" y="1800"/>
              <a:ext cx="87" cy="88"/>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38922" name="Oval 14">
              <a:extLst>
                <a:ext uri="{FF2B5EF4-FFF2-40B4-BE49-F238E27FC236}">
                  <a16:creationId xmlns:a16="http://schemas.microsoft.com/office/drawing/2014/main" id="{F6786A9C-D33B-2339-2176-9C9A6A27CEC4}"/>
                </a:ext>
              </a:extLst>
            </p:cNvPr>
            <p:cNvSpPr>
              <a:spLocks noChangeArrowheads="1"/>
            </p:cNvSpPr>
            <p:nvPr/>
          </p:nvSpPr>
          <p:spPr bwMode="blackWhite">
            <a:xfrm>
              <a:off x="1159" y="1800"/>
              <a:ext cx="87" cy="88"/>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latin typeface="Cambria" panose="02040503050406030204" pitchFamily="18" charset="0"/>
                <a:ea typeface="Cambria" panose="02040503050406030204" pitchFamily="18" charset="0"/>
              </a:endParaRPr>
            </a:p>
          </p:txBody>
        </p:sp>
        <p:sp>
          <p:nvSpPr>
            <p:cNvPr id="38923" name="Line 15">
              <a:extLst>
                <a:ext uri="{FF2B5EF4-FFF2-40B4-BE49-F238E27FC236}">
                  <a16:creationId xmlns:a16="http://schemas.microsoft.com/office/drawing/2014/main" id="{33399627-67F8-DC55-7086-4F3A5C37E468}"/>
                </a:ext>
              </a:extLst>
            </p:cNvPr>
            <p:cNvSpPr>
              <a:spLocks noChangeShapeType="1"/>
            </p:cNvSpPr>
            <p:nvPr/>
          </p:nvSpPr>
          <p:spPr bwMode="blackWhite">
            <a:xfrm>
              <a:off x="717" y="1842"/>
              <a:ext cx="410"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latin typeface="Cambria" panose="02040503050406030204" pitchFamily="18" charset="0"/>
                <a:ea typeface="Cambria" panose="02040503050406030204" pitchFamily="18" charset="0"/>
              </a:endParaRPr>
            </a:p>
          </p:txBody>
        </p:sp>
      </p:grpSp>
    </p:spTree>
    <p:extLst>
      <p:ext uri="{BB962C8B-B14F-4D97-AF65-F5344CB8AC3E}">
        <p14:creationId xmlns:p14="http://schemas.microsoft.com/office/powerpoint/2010/main" val="64743256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7006-FA27-67CA-90D6-FBCCFFF37A53}"/>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F1CD50E9-D124-A6AB-05A6-7C76249FAA89}"/>
              </a:ext>
            </a:extLst>
          </p:cNvPr>
          <p:cNvSpPr>
            <a:spLocks noGrp="1" noChangeArrowheads="1"/>
          </p:cNvSpPr>
          <p:nvPr>
            <p:ph type="title"/>
          </p:nvPr>
        </p:nvSpPr>
        <p:spPr>
          <a:xfrm>
            <a:off x="4254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1. Cross Join or Cartesian Product</a:t>
            </a:r>
          </a:p>
        </p:txBody>
      </p:sp>
      <p:sp>
        <p:nvSpPr>
          <p:cNvPr id="38915" name="Rectangle 3">
            <a:extLst>
              <a:ext uri="{FF2B5EF4-FFF2-40B4-BE49-F238E27FC236}">
                <a16:creationId xmlns:a16="http://schemas.microsoft.com/office/drawing/2014/main" id="{88B2A1E3-7F20-79BB-D70E-009D858CA859}"/>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3477685A-566B-00C1-2D87-DC3D7FBF7600}"/>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ED2ADBC6-283A-5DE3-35A4-90D42CA28A31}"/>
              </a:ext>
            </a:extLst>
          </p:cNvPr>
          <p:cNvSpPr txBox="1">
            <a:spLocks noChangeArrowheads="1"/>
          </p:cNvSpPr>
          <p:nvPr/>
        </p:nvSpPr>
        <p:spPr bwMode="auto">
          <a:xfrm>
            <a:off x="394866" y="741784"/>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Clr>
                <a:srgbClr val="D34817"/>
              </a:buClr>
              <a:buSzPct val="50000"/>
              <a:buFont typeface="Wingdings" panose="05000000000000000000" pitchFamily="2" charset="2"/>
              <a:buChar char="l"/>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 Cartesian product is formed when:</a:t>
            </a:r>
          </a:p>
          <a:p>
            <a:pPr marL="560388" lvl="1" indent="-285750" algn="just">
              <a:buClr>
                <a:srgbClr val="D34817"/>
              </a:buClr>
              <a:buSzPct val="50000"/>
              <a:buFont typeface="Wingdings" panose="05000000000000000000" pitchFamily="2" charset="2"/>
              <a:buChar char="l"/>
            </a:pPr>
            <a:r>
              <a:rPr kumimoji="0" lang="en-US" altLang="en-US" sz="22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A join condition is omitted</a:t>
            </a:r>
          </a:p>
          <a:p>
            <a:pPr marL="560388" lvl="1" indent="-285750" algn="just">
              <a:buClr>
                <a:srgbClr val="D34817"/>
              </a:buClr>
              <a:buSzPct val="50000"/>
              <a:buFont typeface="Wingdings" panose="05000000000000000000" pitchFamily="2" charset="2"/>
              <a:buChar char="l"/>
            </a:pPr>
            <a:r>
              <a:rPr kumimoji="0" lang="en-US" altLang="en-US" sz="22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A join condition is invalid</a:t>
            </a:r>
          </a:p>
          <a:p>
            <a:pPr marL="285750" indent="-285750" algn="just">
              <a:buClr>
                <a:srgbClr val="D34817"/>
              </a:buClr>
              <a:buSzPct val="50000"/>
              <a:buFont typeface="Wingdings" panose="05000000000000000000" pitchFamily="2" charset="2"/>
              <a:buChar char="l"/>
            </a:pP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Select </a:t>
            </a:r>
            <a:r>
              <a:rPr kumimoji="0" lang="en-US" altLang="en-US" sz="2400" b="0" i="0" u="none" strike="noStrike" kern="1200" cap="none" spc="0" normalizeH="0" baseline="0" noProof="0" dirty="0" err="1">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ename</a:t>
            </a: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 </a:t>
            </a:r>
            <a:r>
              <a:rPr kumimoji="0" lang="en-US" altLang="en-US" sz="2400" b="0" i="0" u="none" strike="noStrike" kern="1200" cap="none" spc="0" normalizeH="0" baseline="0" noProof="0" dirty="0" err="1">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dname</a:t>
            </a: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 from </a:t>
            </a:r>
            <a:r>
              <a:rPr kumimoji="0" lang="en-US" altLang="en-US" sz="2400" b="0" i="0" u="none" strike="noStrike" kern="1200" cap="none" spc="0" normalizeH="0" baseline="0" noProof="0" dirty="0" err="1">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emp,dept</a:t>
            </a: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	</a:t>
            </a:r>
          </a:p>
          <a:p>
            <a:pPr marL="285750" indent="-285750" algn="just">
              <a:buClr>
                <a:srgbClr val="D34817"/>
              </a:buClr>
              <a:buSzPct val="50000"/>
              <a:buFont typeface="Wingdings" panose="05000000000000000000" pitchFamily="2" charset="2"/>
              <a:buChar char="l"/>
            </a:pP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Select </a:t>
            </a:r>
            <a:r>
              <a:rPr kumimoji="0" lang="en-US" altLang="en-US" sz="2400" b="0" i="0" u="none" strike="noStrike" kern="1200" cap="none" spc="0" normalizeH="0" baseline="0" noProof="0" dirty="0" err="1">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ename</a:t>
            </a: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 </a:t>
            </a:r>
            <a:r>
              <a:rPr kumimoji="0" lang="en-US" altLang="en-US" sz="2400" b="0" i="0" u="none" strike="noStrike" kern="1200" cap="none" spc="0" normalizeH="0" baseline="0" noProof="0" dirty="0" err="1">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dname</a:t>
            </a: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 from emp </a:t>
            </a:r>
            <a:r>
              <a:rPr kumimoji="0" lang="en-US" altLang="en-US" sz="2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cross join </a:t>
            </a:r>
            <a:r>
              <a:rPr kumimoji="0" lang="en-US" altLang="en-US" sz="24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Calibri" panose="020F0502020204030204" pitchFamily="34" charset="0"/>
              </a:rPr>
              <a:t>dept;	</a:t>
            </a:r>
          </a:p>
          <a:p>
            <a:pPr marL="285750" indent="-285750" algn="just">
              <a:buClr>
                <a:srgbClr val="D34817"/>
              </a:buClr>
              <a:buSzPct val="50000"/>
              <a:buFont typeface="Wingdings" panose="05000000000000000000" pitchFamily="2" charset="2"/>
              <a:buChar char="l"/>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All rows in the first table are joined to all rows in the second table</a:t>
            </a:r>
          </a:p>
          <a:p>
            <a:pPr marL="285750" indent="-285750" algn="just">
              <a:buClr>
                <a:srgbClr val="D34817"/>
              </a:buClr>
              <a:buSzPct val="50000"/>
              <a:buFont typeface="Wingdings" panose="05000000000000000000" pitchFamily="2" charset="2"/>
              <a:buChar char="l"/>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 number of rows returned by cross join is the product of the number of rows in each table.</a:t>
            </a:r>
          </a:p>
          <a:p>
            <a:pPr marL="285750" indent="-285750" algn="just">
              <a:buClr>
                <a:srgbClr val="D34817"/>
              </a:buClr>
              <a:buSzPct val="50000"/>
              <a:buFont typeface="Wingdings" panose="05000000000000000000" pitchFamily="2" charset="2"/>
              <a:buChar char="l"/>
            </a:pPr>
            <a:r>
              <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To avoid a Cartesian product, always include a valid join condition in a WHERE clause.</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C83FE9C3-7618-193E-AA09-FCDCB4FF7C45}"/>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grpSp>
        <p:nvGrpSpPr>
          <p:cNvPr id="6" name="Group 3">
            <a:extLst>
              <a:ext uri="{FF2B5EF4-FFF2-40B4-BE49-F238E27FC236}">
                <a16:creationId xmlns:a16="http://schemas.microsoft.com/office/drawing/2014/main" id="{84D1F36A-1DA2-646F-1792-8549EA0A7A3F}"/>
              </a:ext>
            </a:extLst>
          </p:cNvPr>
          <p:cNvGrpSpPr>
            <a:grpSpLocks/>
          </p:cNvGrpSpPr>
          <p:nvPr/>
        </p:nvGrpSpPr>
        <p:grpSpPr bwMode="auto">
          <a:xfrm>
            <a:off x="6581676" y="1130200"/>
            <a:ext cx="1701800" cy="638175"/>
            <a:chOff x="773113" y="3726929"/>
            <a:chExt cx="1701800" cy="638175"/>
          </a:xfrm>
        </p:grpSpPr>
        <p:sp>
          <p:nvSpPr>
            <p:cNvPr id="7" name="Rectangle 11">
              <a:extLst>
                <a:ext uri="{FF2B5EF4-FFF2-40B4-BE49-F238E27FC236}">
                  <a16:creationId xmlns:a16="http://schemas.microsoft.com/office/drawing/2014/main" id="{5E27E61A-81D0-ADC9-1040-0BF38A22E57B}"/>
                </a:ext>
              </a:extLst>
            </p:cNvPr>
            <p:cNvSpPr>
              <a:spLocks noChangeArrowheads="1"/>
            </p:cNvSpPr>
            <p:nvPr/>
          </p:nvSpPr>
          <p:spPr bwMode="blackWhite">
            <a:xfrm>
              <a:off x="773113" y="3726929"/>
              <a:ext cx="777875" cy="638175"/>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 name="Rectangle 12">
              <a:extLst>
                <a:ext uri="{FF2B5EF4-FFF2-40B4-BE49-F238E27FC236}">
                  <a16:creationId xmlns:a16="http://schemas.microsoft.com/office/drawing/2014/main" id="{89294EB7-958D-913C-A315-5D21B822D944}"/>
                </a:ext>
              </a:extLst>
            </p:cNvPr>
            <p:cNvSpPr>
              <a:spLocks noChangeArrowheads="1"/>
            </p:cNvSpPr>
            <p:nvPr/>
          </p:nvSpPr>
          <p:spPr bwMode="blackWhite">
            <a:xfrm>
              <a:off x="1697038" y="3726929"/>
              <a:ext cx="777875" cy="638175"/>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9" name="Line 15">
              <a:extLst>
                <a:ext uri="{FF2B5EF4-FFF2-40B4-BE49-F238E27FC236}">
                  <a16:creationId xmlns:a16="http://schemas.microsoft.com/office/drawing/2014/main" id="{514C5512-72BE-4767-097D-CB6A30E22F5F}"/>
                </a:ext>
              </a:extLst>
            </p:cNvPr>
            <p:cNvSpPr>
              <a:spLocks noChangeShapeType="1"/>
            </p:cNvSpPr>
            <p:nvPr/>
          </p:nvSpPr>
          <p:spPr bwMode="blackWhite">
            <a:xfrm>
              <a:off x="1290638" y="4060304"/>
              <a:ext cx="650875"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404857740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02FC5-F6A7-42C0-5049-F4013E132A5D}"/>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018E5F43-F2E4-307E-B734-41D6FB7E90E2}"/>
              </a:ext>
            </a:extLst>
          </p:cNvPr>
          <p:cNvSpPr>
            <a:spLocks noGrp="1" noChangeArrowheads="1"/>
          </p:cNvSpPr>
          <p:nvPr>
            <p:ph type="title"/>
          </p:nvPr>
        </p:nvSpPr>
        <p:spPr>
          <a:xfrm>
            <a:off x="4254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1. Cross Join or Cartesian Product</a:t>
            </a:r>
          </a:p>
        </p:txBody>
      </p:sp>
      <p:sp>
        <p:nvSpPr>
          <p:cNvPr id="38915" name="Rectangle 3">
            <a:extLst>
              <a:ext uri="{FF2B5EF4-FFF2-40B4-BE49-F238E27FC236}">
                <a16:creationId xmlns:a16="http://schemas.microsoft.com/office/drawing/2014/main" id="{6837C190-FFD3-6547-C6B5-9F3E087AE32F}"/>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EC77A79F-E01F-45D1-4F8E-E0BB2A370ECD}"/>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EFA86114-DD8C-B42B-1200-A742ED10CF0F}"/>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3">
            <a:extLst>
              <a:ext uri="{FF2B5EF4-FFF2-40B4-BE49-F238E27FC236}">
                <a16:creationId xmlns:a16="http://schemas.microsoft.com/office/drawing/2014/main" id="{844F5B23-AC08-759C-6C2D-0E23CB7DA37D}"/>
              </a:ext>
            </a:extLst>
          </p:cNvPr>
          <p:cNvSpPr>
            <a:spLocks noChangeArrowheads="1"/>
          </p:cNvSpPr>
          <p:nvPr/>
        </p:nvSpPr>
        <p:spPr bwMode="blackWhite">
          <a:xfrm>
            <a:off x="3081338" y="3416647"/>
            <a:ext cx="2849562" cy="24606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25730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25730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25730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25730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25730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25730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25730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25730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25730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ENAME    	DNAME</a:t>
            </a:r>
          </a:p>
          <a:p>
            <a:pPr>
              <a:lnSpc>
                <a:spcPct val="95000"/>
              </a:lnSpc>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 	----------</a:t>
            </a:r>
          </a:p>
          <a:p>
            <a:pPr>
              <a:lnSpc>
                <a:spcPct val="95000"/>
              </a:lnSpc>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KING		ACCOUNTING</a:t>
            </a:r>
          </a:p>
          <a:p>
            <a:pPr>
              <a:lnSpc>
                <a:spcPct val="95000"/>
              </a:lnSpc>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BLAKE	  	ACCOUNTING </a:t>
            </a:r>
          </a:p>
          <a:p>
            <a:pPr>
              <a:lnSpc>
                <a:spcPct val="95000"/>
              </a:lnSpc>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a:t>
            </a:r>
          </a:p>
          <a:p>
            <a:pPr>
              <a:lnSpc>
                <a:spcPct val="95000"/>
              </a:lnSpc>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KING		RESEARCH</a:t>
            </a:r>
          </a:p>
          <a:p>
            <a:pPr>
              <a:lnSpc>
                <a:spcPct val="95000"/>
              </a:lnSpc>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BLAKE	  	RESEARCH</a:t>
            </a:r>
          </a:p>
          <a:p>
            <a:pPr>
              <a:lnSpc>
                <a:spcPct val="95000"/>
              </a:lnSpc>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a:t>
            </a:r>
          </a:p>
          <a:p>
            <a:pPr>
              <a:lnSpc>
                <a:spcPct val="95000"/>
              </a:lnSpc>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56 rows selected.</a:t>
            </a:r>
          </a:p>
        </p:txBody>
      </p:sp>
      <p:sp>
        <p:nvSpPr>
          <p:cNvPr id="5" name="Rectangle 4">
            <a:extLst>
              <a:ext uri="{FF2B5EF4-FFF2-40B4-BE49-F238E27FC236}">
                <a16:creationId xmlns:a16="http://schemas.microsoft.com/office/drawing/2014/main" id="{B4E46AB7-F538-7FE4-1120-32B878459529}"/>
              </a:ext>
            </a:extLst>
          </p:cNvPr>
          <p:cNvSpPr>
            <a:spLocks noChangeArrowheads="1"/>
          </p:cNvSpPr>
          <p:nvPr/>
        </p:nvSpPr>
        <p:spPr bwMode="auto">
          <a:xfrm>
            <a:off x="757238" y="789335"/>
            <a:ext cx="1962332" cy="400752"/>
          </a:xfrm>
          <a:prstGeom prst="rect">
            <a:avLst/>
          </a:prstGeom>
          <a:noFill/>
          <a:ln w="9525">
            <a:noFill/>
            <a:miter lim="800000"/>
            <a:headEnd/>
            <a:tailEnd/>
          </a:ln>
          <a:effectLst/>
        </p:spPr>
        <p:txBody>
          <a:bodyPr wrap="none" lIns="92075" tIns="46038" rIns="92075" bIns="46038">
            <a:spAutoFit/>
          </a:bodyPr>
          <a:lstStyle/>
          <a:p>
            <a:pPr>
              <a:defRPr/>
            </a:pPr>
            <a:r>
              <a:rPr lang="en-US" sz="2000" b="1">
                <a:solidFill>
                  <a:srgbClr val="0000CC"/>
                </a:solidFill>
                <a:latin typeface="Cambria" panose="02040503050406030204" pitchFamily="18" charset="0"/>
                <a:ea typeface="Cambria" panose="02040503050406030204" pitchFamily="18" charset="0"/>
              </a:rPr>
              <a:t>EMP (14 rows) </a:t>
            </a:r>
          </a:p>
        </p:txBody>
      </p:sp>
      <p:sp>
        <p:nvSpPr>
          <p:cNvPr id="10" name="Rectangle 5">
            <a:extLst>
              <a:ext uri="{FF2B5EF4-FFF2-40B4-BE49-F238E27FC236}">
                <a16:creationId xmlns:a16="http://schemas.microsoft.com/office/drawing/2014/main" id="{E0943072-80FE-0190-602C-B880E7C299E3}"/>
              </a:ext>
            </a:extLst>
          </p:cNvPr>
          <p:cNvSpPr>
            <a:spLocks noChangeArrowheads="1"/>
          </p:cNvSpPr>
          <p:nvPr/>
        </p:nvSpPr>
        <p:spPr bwMode="auto">
          <a:xfrm>
            <a:off x="4433888" y="789335"/>
            <a:ext cx="1938288" cy="400752"/>
          </a:xfrm>
          <a:prstGeom prst="rect">
            <a:avLst/>
          </a:prstGeom>
          <a:noFill/>
          <a:ln w="9525">
            <a:noFill/>
            <a:miter lim="800000"/>
            <a:headEnd/>
            <a:tailEnd/>
          </a:ln>
          <a:effectLst/>
        </p:spPr>
        <p:txBody>
          <a:bodyPr wrap="none" lIns="92075" tIns="46038" rIns="92075" bIns="46038">
            <a:spAutoFit/>
          </a:bodyPr>
          <a:lstStyle/>
          <a:p>
            <a:pPr>
              <a:defRPr/>
            </a:pPr>
            <a:r>
              <a:rPr lang="en-US" sz="2000" b="1">
                <a:solidFill>
                  <a:srgbClr val="0000CC"/>
                </a:solidFill>
                <a:latin typeface="Cambria" panose="02040503050406030204" pitchFamily="18" charset="0"/>
                <a:ea typeface="Cambria" panose="02040503050406030204" pitchFamily="18" charset="0"/>
              </a:rPr>
              <a:t>DEPT (4 rows) </a:t>
            </a:r>
          </a:p>
        </p:txBody>
      </p:sp>
      <p:sp>
        <p:nvSpPr>
          <p:cNvPr id="11" name="Rectangle 6">
            <a:extLst>
              <a:ext uri="{FF2B5EF4-FFF2-40B4-BE49-F238E27FC236}">
                <a16:creationId xmlns:a16="http://schemas.microsoft.com/office/drawing/2014/main" id="{1CD9724F-A962-7BB0-46A2-11EB6CBEB21B}"/>
              </a:ext>
            </a:extLst>
          </p:cNvPr>
          <p:cNvSpPr>
            <a:spLocks noChangeArrowheads="1"/>
          </p:cNvSpPr>
          <p:nvPr/>
        </p:nvSpPr>
        <p:spPr bwMode="blackWhite">
          <a:xfrm>
            <a:off x="831850" y="1194147"/>
            <a:ext cx="3505200" cy="1935018"/>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 EMPNO	ENAME	...	DEPTNO</a:t>
            </a:r>
            <a:br>
              <a:rPr lang="en-US" altLang="en-US" sz="1800" b="1">
                <a:solidFill>
                  <a:srgbClr val="000000"/>
                </a:solidFill>
                <a:latin typeface="Cambria" panose="02040503050406030204" pitchFamily="18" charset="0"/>
                <a:ea typeface="Cambria" panose="02040503050406030204" pitchFamily="18" charset="0"/>
              </a:rPr>
            </a:br>
            <a:r>
              <a:rPr lang="en-US" altLang="en-US" sz="1800" b="1">
                <a:solidFill>
                  <a:srgbClr val="000000"/>
                </a:solidFill>
                <a:latin typeface="Cambria" panose="02040503050406030204" pitchFamily="18" charset="0"/>
                <a:ea typeface="Cambria" panose="02040503050406030204" pitchFamily="18" charset="0"/>
              </a:rPr>
              <a:t>------	-----	...	------</a:t>
            </a:r>
            <a:br>
              <a:rPr lang="en-US" altLang="en-US" sz="1800" b="1">
                <a:solidFill>
                  <a:srgbClr val="000000"/>
                </a:solidFill>
                <a:latin typeface="Cambria" panose="02040503050406030204" pitchFamily="18" charset="0"/>
                <a:ea typeface="Cambria" panose="02040503050406030204" pitchFamily="18" charset="0"/>
              </a:rPr>
            </a:br>
            <a:r>
              <a:rPr lang="en-US" altLang="en-US" sz="1800" b="1">
                <a:solidFill>
                  <a:srgbClr val="000000"/>
                </a:solidFill>
                <a:latin typeface="Cambria" panose="02040503050406030204" pitchFamily="18" charset="0"/>
                <a:ea typeface="Cambria" panose="02040503050406030204" pitchFamily="18" charset="0"/>
              </a:rPr>
              <a:t>  7839	KING	...	    10</a:t>
            </a:r>
          </a:p>
          <a:p>
            <a:pPr>
              <a:lnSpc>
                <a:spcPct val="95000"/>
              </a:lnSpc>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  7698	BLAKE	...	    30</a:t>
            </a:r>
          </a:p>
          <a:p>
            <a:pPr>
              <a:lnSpc>
                <a:spcPct val="95000"/>
              </a:lnSpc>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   ...	</a:t>
            </a:r>
          </a:p>
          <a:p>
            <a:pPr>
              <a:lnSpc>
                <a:spcPct val="95000"/>
              </a:lnSpc>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  7934	MILLER	...	    10</a:t>
            </a:r>
          </a:p>
        </p:txBody>
      </p:sp>
      <p:sp>
        <p:nvSpPr>
          <p:cNvPr id="12" name="Rectangle 7">
            <a:extLst>
              <a:ext uri="{FF2B5EF4-FFF2-40B4-BE49-F238E27FC236}">
                <a16:creationId xmlns:a16="http://schemas.microsoft.com/office/drawing/2014/main" id="{7435F4E5-B997-B398-6925-C3841EBCC7D1}"/>
              </a:ext>
            </a:extLst>
          </p:cNvPr>
          <p:cNvSpPr>
            <a:spLocks noChangeArrowheads="1"/>
          </p:cNvSpPr>
          <p:nvPr/>
        </p:nvSpPr>
        <p:spPr bwMode="blackWhite">
          <a:xfrm>
            <a:off x="4506913" y="1200497"/>
            <a:ext cx="3862387" cy="16795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66788"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66788"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66788"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66788"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DEPTNO DNAME     	LOC     </a:t>
            </a:r>
          </a:p>
          <a:p>
            <a:pPr>
              <a:lnSpc>
                <a:spcPct val="95000"/>
              </a:lnSpc>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 ----------	--------</a:t>
            </a:r>
          </a:p>
          <a:p>
            <a:pPr>
              <a:lnSpc>
                <a:spcPct val="95000"/>
              </a:lnSpc>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    10	ACCOUNTING	NEW YORK</a:t>
            </a:r>
          </a:p>
          <a:p>
            <a:pPr>
              <a:lnSpc>
                <a:spcPct val="95000"/>
              </a:lnSpc>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    20	RESEARCH	DALLAS</a:t>
            </a:r>
          </a:p>
          <a:p>
            <a:pPr>
              <a:lnSpc>
                <a:spcPct val="95000"/>
              </a:lnSpc>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    30	SALES		CHICAGO</a:t>
            </a:r>
          </a:p>
          <a:p>
            <a:pPr>
              <a:lnSpc>
                <a:spcPct val="95000"/>
              </a:lnSpc>
              <a:spcBef>
                <a:spcPct val="0"/>
              </a:spcBef>
              <a:buFontTx/>
              <a:buNone/>
            </a:pPr>
            <a:r>
              <a:rPr lang="en-US" altLang="en-US" sz="1800" b="1">
                <a:solidFill>
                  <a:srgbClr val="000000"/>
                </a:solidFill>
                <a:latin typeface="Cambria" panose="02040503050406030204" pitchFamily="18" charset="0"/>
                <a:ea typeface="Cambria" panose="02040503050406030204" pitchFamily="18" charset="0"/>
              </a:rPr>
              <a:t>    40	OPERATIONS	BOSTON</a:t>
            </a:r>
          </a:p>
        </p:txBody>
      </p:sp>
      <p:grpSp>
        <p:nvGrpSpPr>
          <p:cNvPr id="13" name="Group 8">
            <a:extLst>
              <a:ext uri="{FF2B5EF4-FFF2-40B4-BE49-F238E27FC236}">
                <a16:creationId xmlns:a16="http://schemas.microsoft.com/office/drawing/2014/main" id="{B97C2CDF-1A23-63A3-7C72-DC32C95AC807}"/>
              </a:ext>
            </a:extLst>
          </p:cNvPr>
          <p:cNvGrpSpPr>
            <a:grpSpLocks/>
          </p:cNvGrpSpPr>
          <p:nvPr/>
        </p:nvGrpSpPr>
        <p:grpSpPr bwMode="auto">
          <a:xfrm>
            <a:off x="3937000" y="2943572"/>
            <a:ext cx="966788" cy="473075"/>
            <a:chOff x="2480" y="2024"/>
            <a:chExt cx="609" cy="298"/>
          </a:xfrm>
        </p:grpSpPr>
        <p:sp>
          <p:nvSpPr>
            <p:cNvPr id="14" name="Line 9">
              <a:extLst>
                <a:ext uri="{FF2B5EF4-FFF2-40B4-BE49-F238E27FC236}">
                  <a16:creationId xmlns:a16="http://schemas.microsoft.com/office/drawing/2014/main" id="{13E6F479-77D4-7DA8-43A1-EE1EB92E6E25}"/>
                </a:ext>
              </a:extLst>
            </p:cNvPr>
            <p:cNvSpPr>
              <a:spLocks noChangeShapeType="1"/>
            </p:cNvSpPr>
            <p:nvPr/>
          </p:nvSpPr>
          <p:spPr bwMode="auto">
            <a:xfrm flipV="1">
              <a:off x="2480" y="2024"/>
              <a:ext cx="0" cy="298"/>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latin typeface="Cambria" panose="02040503050406030204" pitchFamily="18" charset="0"/>
                <a:ea typeface="Cambria" panose="02040503050406030204" pitchFamily="18" charset="0"/>
              </a:endParaRPr>
            </a:p>
          </p:txBody>
        </p:sp>
        <p:sp>
          <p:nvSpPr>
            <p:cNvPr id="15" name="Line 10">
              <a:extLst>
                <a:ext uri="{FF2B5EF4-FFF2-40B4-BE49-F238E27FC236}">
                  <a16:creationId xmlns:a16="http://schemas.microsoft.com/office/drawing/2014/main" id="{280652B3-C348-473C-D1CD-D05328FF35A3}"/>
                </a:ext>
              </a:extLst>
            </p:cNvPr>
            <p:cNvSpPr>
              <a:spLocks noChangeShapeType="1"/>
            </p:cNvSpPr>
            <p:nvPr/>
          </p:nvSpPr>
          <p:spPr bwMode="auto">
            <a:xfrm flipV="1">
              <a:off x="3089" y="2024"/>
              <a:ext cx="0" cy="298"/>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latin typeface="Cambria" panose="02040503050406030204" pitchFamily="18" charset="0"/>
                <a:ea typeface="Cambria" panose="02040503050406030204" pitchFamily="18" charset="0"/>
              </a:endParaRPr>
            </a:p>
          </p:txBody>
        </p:sp>
      </p:grpSp>
      <p:grpSp>
        <p:nvGrpSpPr>
          <p:cNvPr id="16" name="Group 11">
            <a:extLst>
              <a:ext uri="{FF2B5EF4-FFF2-40B4-BE49-F238E27FC236}">
                <a16:creationId xmlns:a16="http://schemas.microsoft.com/office/drawing/2014/main" id="{6F7881EE-D615-4EA0-832D-F68911BE97B0}"/>
              </a:ext>
            </a:extLst>
          </p:cNvPr>
          <p:cNvGrpSpPr>
            <a:grpSpLocks/>
          </p:cNvGrpSpPr>
          <p:nvPr/>
        </p:nvGrpSpPr>
        <p:grpSpPr bwMode="auto">
          <a:xfrm>
            <a:off x="415925" y="4137372"/>
            <a:ext cx="2611438" cy="1096963"/>
            <a:chOff x="262" y="2776"/>
            <a:chExt cx="1645" cy="691"/>
          </a:xfrm>
        </p:grpSpPr>
        <p:sp>
          <p:nvSpPr>
            <p:cNvPr id="17" name="Rectangle 12">
              <a:extLst>
                <a:ext uri="{FF2B5EF4-FFF2-40B4-BE49-F238E27FC236}">
                  <a16:creationId xmlns:a16="http://schemas.microsoft.com/office/drawing/2014/main" id="{4B901E91-64F9-4F3E-F69F-1FF840FD89E5}"/>
                </a:ext>
              </a:extLst>
            </p:cNvPr>
            <p:cNvSpPr>
              <a:spLocks noChangeArrowheads="1"/>
            </p:cNvSpPr>
            <p:nvPr/>
          </p:nvSpPr>
          <p:spPr bwMode="auto">
            <a:xfrm>
              <a:off x="262" y="2776"/>
              <a:ext cx="1350" cy="691"/>
            </a:xfrm>
            <a:prstGeom prst="rect">
              <a:avLst/>
            </a:prstGeom>
            <a:noFill/>
            <a:ln w="9525">
              <a:noFill/>
              <a:miter lim="800000"/>
              <a:headEnd/>
              <a:tailEnd/>
            </a:ln>
            <a:effectLst/>
          </p:spPr>
          <p:txBody>
            <a:bodyPr lIns="92075" tIns="46038" rIns="92075" bIns="46038">
              <a:spAutoFit/>
            </a:bodyPr>
            <a:lstStyle/>
            <a:p>
              <a:pPr algn="r">
                <a:lnSpc>
                  <a:spcPct val="110000"/>
                </a:lnSpc>
                <a:defRPr/>
              </a:pPr>
              <a:r>
                <a:rPr lang="en-US" sz="2000" b="1" dirty="0">
                  <a:solidFill>
                    <a:srgbClr val="0000CC"/>
                  </a:solidFill>
                  <a:latin typeface="Cambria" panose="02040503050406030204" pitchFamily="18" charset="0"/>
                  <a:ea typeface="Cambria" panose="02040503050406030204" pitchFamily="18" charset="0"/>
                </a:rPr>
                <a:t>“Cartesian</a:t>
              </a:r>
              <a:br>
                <a:rPr lang="en-US" sz="2000" b="1" dirty="0">
                  <a:solidFill>
                    <a:srgbClr val="0000CC"/>
                  </a:solidFill>
                  <a:latin typeface="Cambria" panose="02040503050406030204" pitchFamily="18" charset="0"/>
                  <a:ea typeface="Cambria" panose="02040503050406030204" pitchFamily="18" charset="0"/>
                </a:rPr>
              </a:br>
              <a:r>
                <a:rPr lang="en-US" sz="2000" b="1" dirty="0">
                  <a:solidFill>
                    <a:srgbClr val="0000CC"/>
                  </a:solidFill>
                  <a:latin typeface="Cambria" panose="02040503050406030204" pitchFamily="18" charset="0"/>
                  <a:ea typeface="Cambria" panose="02040503050406030204" pitchFamily="18" charset="0"/>
                </a:rPr>
                <a:t>product: </a:t>
              </a:r>
              <a:br>
                <a:rPr lang="en-US" sz="2000" b="1" dirty="0">
                  <a:solidFill>
                    <a:srgbClr val="0000CC"/>
                  </a:solidFill>
                  <a:latin typeface="Cambria" panose="02040503050406030204" pitchFamily="18" charset="0"/>
                  <a:ea typeface="Cambria" panose="02040503050406030204" pitchFamily="18" charset="0"/>
                </a:rPr>
              </a:br>
              <a:r>
                <a:rPr lang="en-US" sz="2000" b="1" dirty="0">
                  <a:solidFill>
                    <a:srgbClr val="0000CC"/>
                  </a:solidFill>
                  <a:latin typeface="Cambria" panose="02040503050406030204" pitchFamily="18" charset="0"/>
                  <a:ea typeface="Cambria" panose="02040503050406030204" pitchFamily="18" charset="0"/>
                </a:rPr>
                <a:t>14*4=56 rows”</a:t>
              </a:r>
            </a:p>
          </p:txBody>
        </p:sp>
        <p:sp>
          <p:nvSpPr>
            <p:cNvPr id="18" name="Line 13">
              <a:extLst>
                <a:ext uri="{FF2B5EF4-FFF2-40B4-BE49-F238E27FC236}">
                  <a16:creationId xmlns:a16="http://schemas.microsoft.com/office/drawing/2014/main" id="{B1F44DA1-03DC-327B-D463-80B6C8F54CC0}"/>
                </a:ext>
              </a:extLst>
            </p:cNvPr>
            <p:cNvSpPr>
              <a:spLocks noChangeShapeType="1"/>
            </p:cNvSpPr>
            <p:nvPr/>
          </p:nvSpPr>
          <p:spPr bwMode="auto">
            <a:xfrm flipH="1">
              <a:off x="1609" y="3133"/>
              <a:ext cx="298" cy="0"/>
            </a:xfrm>
            <a:prstGeom prst="line">
              <a:avLst/>
            </a:prstGeom>
            <a:noFill/>
            <a:ln w="50800">
              <a:solidFill>
                <a:srgbClr val="FFCC00"/>
              </a:solidFill>
              <a:round/>
              <a:headEnd type="stealth" w="med" len="lg"/>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solidFill>
                  <a:srgbClr val="0000CC"/>
                </a:solidFill>
                <a:latin typeface="Cambria" panose="02040503050406030204" pitchFamily="18" charset="0"/>
                <a:ea typeface="Cambria" panose="02040503050406030204" pitchFamily="18" charset="0"/>
              </a:endParaRPr>
            </a:p>
          </p:txBody>
        </p:sp>
      </p:grpSp>
    </p:spTree>
    <p:extLst>
      <p:ext uri="{BB962C8B-B14F-4D97-AF65-F5344CB8AC3E}">
        <p14:creationId xmlns:p14="http://schemas.microsoft.com/office/powerpoint/2010/main" val="40516954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0-#ppt_w/2"/>
                                          </p:val>
                                        </p:tav>
                                        <p:tav tm="100000">
                                          <p:val>
                                            <p:strVal val="#ppt_x"/>
                                          </p:val>
                                        </p:tav>
                                      </p:tavLst>
                                    </p:anim>
                                    <p:anim calcmode="lin" valueType="num">
                                      <p:cBhvr additive="base">
                                        <p:cTn id="12"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BB8A3-B8FD-3DE9-062F-35DCFDD0A7A9}"/>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E492522E-9978-E334-0B8E-BFF29533692B}"/>
              </a:ext>
            </a:extLst>
          </p:cNvPr>
          <p:cNvSpPr>
            <a:spLocks noGrp="1" noChangeArrowheads="1"/>
          </p:cNvSpPr>
          <p:nvPr>
            <p:ph type="title"/>
          </p:nvPr>
        </p:nvSpPr>
        <p:spPr>
          <a:xfrm>
            <a:off x="4254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Joining Tables with Common Columns</a:t>
            </a:r>
          </a:p>
        </p:txBody>
      </p:sp>
      <p:sp>
        <p:nvSpPr>
          <p:cNvPr id="2" name="Slide Number Placeholder 23">
            <a:extLst>
              <a:ext uri="{FF2B5EF4-FFF2-40B4-BE49-F238E27FC236}">
                <a16:creationId xmlns:a16="http://schemas.microsoft.com/office/drawing/2014/main" id="{01074DA8-88D9-CFB0-9A0E-4CAE8F788FEE}"/>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C66FEE20-D559-745E-8F55-2EA10145BF51}"/>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Content Placeholder 3">
            <a:extLst>
              <a:ext uri="{FF2B5EF4-FFF2-40B4-BE49-F238E27FC236}">
                <a16:creationId xmlns:a16="http://schemas.microsoft.com/office/drawing/2014/main" id="{1C4429B4-4EE8-45C5-EE81-73BC010470E1}"/>
              </a:ext>
            </a:extLst>
          </p:cNvPr>
          <p:cNvSpPr>
            <a:spLocks noGrp="1"/>
          </p:cNvSpPr>
          <p:nvPr>
            <p:ph sz="quarter" idx="1"/>
          </p:nvPr>
        </p:nvSpPr>
        <p:spPr/>
        <p:txBody>
          <a:bodyPr/>
          <a:lstStyle/>
          <a:p>
            <a:endParaRPr lang="en-US"/>
          </a:p>
        </p:txBody>
      </p:sp>
      <p:sp>
        <p:nvSpPr>
          <p:cNvPr id="6" name="Rectangle 2">
            <a:extLst>
              <a:ext uri="{FF2B5EF4-FFF2-40B4-BE49-F238E27FC236}">
                <a16:creationId xmlns:a16="http://schemas.microsoft.com/office/drawing/2014/main" id="{A24DA4E2-37C2-64E6-A744-A3B88489F69E}"/>
              </a:ext>
            </a:extLst>
          </p:cNvPr>
          <p:cNvSpPr>
            <a:spLocks noChangeArrowheads="1"/>
          </p:cNvSpPr>
          <p:nvPr/>
        </p:nvSpPr>
        <p:spPr bwMode="blackWhite">
          <a:xfrm>
            <a:off x="759048" y="1388476"/>
            <a:ext cx="3384550" cy="40227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7" name="Rectangle 3">
            <a:extLst>
              <a:ext uri="{FF2B5EF4-FFF2-40B4-BE49-F238E27FC236}">
                <a16:creationId xmlns:a16="http://schemas.microsoft.com/office/drawing/2014/main" id="{087CAFBE-B2CC-67BF-AD52-294EE5363078}"/>
              </a:ext>
            </a:extLst>
          </p:cNvPr>
          <p:cNvSpPr>
            <a:spLocks noChangeArrowheads="1"/>
          </p:cNvSpPr>
          <p:nvPr/>
        </p:nvSpPr>
        <p:spPr bwMode="blackWhite">
          <a:xfrm>
            <a:off x="4248373" y="1399589"/>
            <a:ext cx="3978275" cy="40227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885950" algn="l"/>
                <a:tab pos="2627313"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627313"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627313"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627313"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6273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6273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6273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6273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627313"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8" name="Rectangle 5">
            <a:extLst>
              <a:ext uri="{FF2B5EF4-FFF2-40B4-BE49-F238E27FC236}">
                <a16:creationId xmlns:a16="http://schemas.microsoft.com/office/drawing/2014/main" id="{449B30BC-D515-4643-8697-37A82DB3784B}"/>
              </a:ext>
            </a:extLst>
          </p:cNvPr>
          <p:cNvSpPr>
            <a:spLocks noChangeArrowheads="1"/>
          </p:cNvSpPr>
          <p:nvPr/>
        </p:nvSpPr>
        <p:spPr bwMode="auto">
          <a:xfrm>
            <a:off x="744760" y="878889"/>
            <a:ext cx="808106" cy="400752"/>
          </a:xfrm>
          <a:prstGeom prst="rect">
            <a:avLst/>
          </a:prstGeom>
          <a:noFill/>
          <a:ln w="9525">
            <a:noFill/>
            <a:miter lim="800000"/>
            <a:headEnd/>
            <a:tailEnd/>
          </a:ln>
          <a:effectLst/>
        </p:spPr>
        <p:txBody>
          <a:bodyPr wrap="none" lIns="92075" tIns="46038" rIns="92075" bIns="46038">
            <a:spAutoFit/>
          </a:bodyPr>
          <a:lstStyle/>
          <a:p>
            <a:pPr>
              <a:defRPr/>
            </a:pPr>
            <a:r>
              <a:rPr lang="en-US" sz="2000" b="1" dirty="0">
                <a:solidFill>
                  <a:srgbClr val="0000CC"/>
                </a:solidFill>
              </a:rPr>
              <a:t>EMP </a:t>
            </a:r>
          </a:p>
        </p:txBody>
      </p:sp>
      <p:sp>
        <p:nvSpPr>
          <p:cNvPr id="9" name="Rectangle 6">
            <a:extLst>
              <a:ext uri="{FF2B5EF4-FFF2-40B4-BE49-F238E27FC236}">
                <a16:creationId xmlns:a16="http://schemas.microsoft.com/office/drawing/2014/main" id="{F0302902-2826-F4FA-18BE-DB467A3F9E07}"/>
              </a:ext>
            </a:extLst>
          </p:cNvPr>
          <p:cNvSpPr>
            <a:spLocks noChangeArrowheads="1"/>
          </p:cNvSpPr>
          <p:nvPr/>
        </p:nvSpPr>
        <p:spPr bwMode="auto">
          <a:xfrm>
            <a:off x="4440460" y="923339"/>
            <a:ext cx="863600" cy="401637"/>
          </a:xfrm>
          <a:prstGeom prst="rect">
            <a:avLst/>
          </a:prstGeom>
          <a:noFill/>
          <a:ln w="9525">
            <a:noFill/>
            <a:miter lim="800000"/>
            <a:headEnd/>
            <a:tailEnd/>
          </a:ln>
          <a:effectLst/>
        </p:spPr>
        <p:txBody>
          <a:bodyPr lIns="92075" tIns="46038" rIns="92075" bIns="46038">
            <a:spAutoFit/>
          </a:bodyPr>
          <a:lstStyle/>
          <a:p>
            <a:pPr>
              <a:defRPr/>
            </a:pPr>
            <a:r>
              <a:rPr lang="en-US" sz="2000" b="1" dirty="0">
                <a:solidFill>
                  <a:srgbClr val="0000CC"/>
                </a:solidFill>
              </a:rPr>
              <a:t>DEPT </a:t>
            </a:r>
          </a:p>
        </p:txBody>
      </p:sp>
      <p:grpSp>
        <p:nvGrpSpPr>
          <p:cNvPr id="19" name="Group 7">
            <a:extLst>
              <a:ext uri="{FF2B5EF4-FFF2-40B4-BE49-F238E27FC236}">
                <a16:creationId xmlns:a16="http://schemas.microsoft.com/office/drawing/2014/main" id="{3D1BDF38-82BC-4A51-BC34-DB894817034A}"/>
              </a:ext>
            </a:extLst>
          </p:cNvPr>
          <p:cNvGrpSpPr>
            <a:grpSpLocks/>
          </p:cNvGrpSpPr>
          <p:nvPr/>
        </p:nvGrpSpPr>
        <p:grpSpPr bwMode="auto">
          <a:xfrm>
            <a:off x="2924398" y="1445626"/>
            <a:ext cx="2601912" cy="3405188"/>
            <a:chOff x="1865" y="1060"/>
            <a:chExt cx="1639" cy="2145"/>
          </a:xfrm>
        </p:grpSpPr>
        <p:sp>
          <p:nvSpPr>
            <p:cNvPr id="21" name="Rectangle 8">
              <a:extLst>
                <a:ext uri="{FF2B5EF4-FFF2-40B4-BE49-F238E27FC236}">
                  <a16:creationId xmlns:a16="http://schemas.microsoft.com/office/drawing/2014/main" id="{2590E22F-D6CA-6537-749D-B7DEE03B1340}"/>
                </a:ext>
              </a:extLst>
            </p:cNvPr>
            <p:cNvSpPr>
              <a:spLocks noChangeArrowheads="1"/>
            </p:cNvSpPr>
            <p:nvPr/>
          </p:nvSpPr>
          <p:spPr bwMode="ltGray">
            <a:xfrm>
              <a:off x="1865" y="1060"/>
              <a:ext cx="684" cy="2145"/>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2" name="Rectangle 9">
              <a:extLst>
                <a:ext uri="{FF2B5EF4-FFF2-40B4-BE49-F238E27FC236}">
                  <a16:creationId xmlns:a16="http://schemas.microsoft.com/office/drawing/2014/main" id="{AF95BD15-4A49-3BF0-C86B-5A6FD50F699E}"/>
                </a:ext>
              </a:extLst>
            </p:cNvPr>
            <p:cNvSpPr>
              <a:spLocks noChangeArrowheads="1"/>
            </p:cNvSpPr>
            <p:nvPr/>
          </p:nvSpPr>
          <p:spPr bwMode="ltGray">
            <a:xfrm>
              <a:off x="2820" y="1060"/>
              <a:ext cx="684" cy="2145"/>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23" name="Rectangle 10">
            <a:extLst>
              <a:ext uri="{FF2B5EF4-FFF2-40B4-BE49-F238E27FC236}">
                <a16:creationId xmlns:a16="http://schemas.microsoft.com/office/drawing/2014/main" id="{58011D1D-C472-2A36-7A20-8A7687308CE2}"/>
              </a:ext>
            </a:extLst>
          </p:cNvPr>
          <p:cNvSpPr>
            <a:spLocks noChangeArrowheads="1"/>
          </p:cNvSpPr>
          <p:nvPr/>
        </p:nvSpPr>
        <p:spPr bwMode="blackWhite">
          <a:xfrm>
            <a:off x="771748" y="1382126"/>
            <a:ext cx="3359150" cy="399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EMPNO ENAME    DEPTNO</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7839 KING         10</a:t>
            </a:r>
          </a:p>
          <a:p>
            <a:pPr>
              <a:lnSpc>
                <a:spcPct val="95000"/>
              </a:lnSpc>
              <a:spcBef>
                <a:spcPct val="0"/>
              </a:spcBef>
              <a:buFontTx/>
              <a:buNone/>
            </a:pPr>
            <a:r>
              <a:rPr lang="en-US" altLang="en-US" sz="1800" b="1">
                <a:solidFill>
                  <a:srgbClr val="000000"/>
                </a:solidFill>
                <a:latin typeface="Courier New" panose="02070309020205020404" pitchFamily="49" charset="0"/>
              </a:rPr>
              <a:t>  7698 BLAKE        30</a:t>
            </a:r>
          </a:p>
          <a:p>
            <a:pPr>
              <a:lnSpc>
                <a:spcPct val="95000"/>
              </a:lnSpc>
              <a:spcBef>
                <a:spcPct val="0"/>
              </a:spcBef>
              <a:buFontTx/>
              <a:buNone/>
            </a:pPr>
            <a:r>
              <a:rPr lang="en-US" altLang="en-US" sz="1800" b="1">
                <a:solidFill>
                  <a:srgbClr val="000000"/>
                </a:solidFill>
                <a:latin typeface="Courier New" panose="02070309020205020404" pitchFamily="49" charset="0"/>
              </a:rPr>
              <a:t>  7782 CLARK        10</a:t>
            </a:r>
          </a:p>
          <a:p>
            <a:pPr>
              <a:lnSpc>
                <a:spcPct val="95000"/>
              </a:lnSpc>
              <a:spcBef>
                <a:spcPct val="0"/>
              </a:spcBef>
              <a:buFontTx/>
              <a:buNone/>
            </a:pPr>
            <a:r>
              <a:rPr lang="en-US" altLang="en-US" sz="1800" b="1">
                <a:solidFill>
                  <a:srgbClr val="000000"/>
                </a:solidFill>
                <a:latin typeface="Courier New" panose="02070309020205020404" pitchFamily="49" charset="0"/>
              </a:rPr>
              <a:t>  7566 JONES        20</a:t>
            </a:r>
          </a:p>
          <a:p>
            <a:pPr>
              <a:lnSpc>
                <a:spcPct val="95000"/>
              </a:lnSpc>
              <a:spcBef>
                <a:spcPct val="0"/>
              </a:spcBef>
              <a:buFontTx/>
              <a:buNone/>
            </a:pPr>
            <a:r>
              <a:rPr lang="en-US" altLang="en-US" sz="1800" b="1">
                <a:solidFill>
                  <a:srgbClr val="000000"/>
                </a:solidFill>
                <a:latin typeface="Courier New" panose="02070309020205020404" pitchFamily="49" charset="0"/>
              </a:rPr>
              <a:t>  7654 MARTIN       30</a:t>
            </a:r>
          </a:p>
          <a:p>
            <a:pPr>
              <a:lnSpc>
                <a:spcPct val="95000"/>
              </a:lnSpc>
              <a:spcBef>
                <a:spcPct val="0"/>
              </a:spcBef>
              <a:buFontTx/>
              <a:buNone/>
            </a:pPr>
            <a:r>
              <a:rPr lang="en-US" altLang="en-US" sz="1800" b="1">
                <a:solidFill>
                  <a:srgbClr val="000000"/>
                </a:solidFill>
                <a:latin typeface="Courier New" panose="02070309020205020404" pitchFamily="49" charset="0"/>
              </a:rPr>
              <a:t>  7499 ALLEN        30</a:t>
            </a:r>
          </a:p>
          <a:p>
            <a:pPr>
              <a:lnSpc>
                <a:spcPct val="95000"/>
              </a:lnSpc>
              <a:spcBef>
                <a:spcPct val="0"/>
              </a:spcBef>
              <a:buFontTx/>
              <a:buNone/>
            </a:pPr>
            <a:r>
              <a:rPr lang="en-US" altLang="en-US" sz="1800" b="1">
                <a:solidFill>
                  <a:srgbClr val="000000"/>
                </a:solidFill>
                <a:latin typeface="Courier New" panose="02070309020205020404" pitchFamily="49" charset="0"/>
              </a:rPr>
              <a:t>  7844 TURNER       30</a:t>
            </a:r>
          </a:p>
          <a:p>
            <a:pPr>
              <a:lnSpc>
                <a:spcPct val="95000"/>
              </a:lnSpc>
              <a:spcBef>
                <a:spcPct val="0"/>
              </a:spcBef>
              <a:buFontTx/>
              <a:buNone/>
            </a:pPr>
            <a:r>
              <a:rPr lang="en-US" altLang="en-US" sz="1800" b="1">
                <a:solidFill>
                  <a:srgbClr val="000000"/>
                </a:solidFill>
                <a:latin typeface="Courier New" panose="02070309020205020404" pitchFamily="49" charset="0"/>
              </a:rPr>
              <a:t>  7900 JAMES        30</a:t>
            </a:r>
          </a:p>
          <a:p>
            <a:pPr>
              <a:lnSpc>
                <a:spcPct val="95000"/>
              </a:lnSpc>
              <a:spcBef>
                <a:spcPct val="0"/>
              </a:spcBef>
              <a:buFontTx/>
              <a:buNone/>
            </a:pPr>
            <a:r>
              <a:rPr lang="en-US" altLang="en-US" sz="1800" b="1">
                <a:solidFill>
                  <a:srgbClr val="000000"/>
                </a:solidFill>
                <a:latin typeface="Courier New" panose="02070309020205020404" pitchFamily="49" charset="0"/>
              </a:rPr>
              <a:t>  7521 WARD         30</a:t>
            </a:r>
          </a:p>
          <a:p>
            <a:pPr>
              <a:lnSpc>
                <a:spcPct val="95000"/>
              </a:lnSpc>
              <a:spcBef>
                <a:spcPct val="0"/>
              </a:spcBef>
              <a:buFontTx/>
              <a:buNone/>
            </a:pPr>
            <a:r>
              <a:rPr lang="en-US" altLang="en-US" sz="1800" b="1">
                <a:solidFill>
                  <a:srgbClr val="000000"/>
                </a:solidFill>
                <a:latin typeface="Courier New" panose="02070309020205020404" pitchFamily="49" charset="0"/>
              </a:rPr>
              <a:t>  7902 FORD         20</a:t>
            </a:r>
          </a:p>
          <a:p>
            <a:pPr>
              <a:lnSpc>
                <a:spcPct val="95000"/>
              </a:lnSpc>
              <a:spcBef>
                <a:spcPct val="0"/>
              </a:spcBef>
              <a:buFontTx/>
              <a:buNone/>
            </a:pPr>
            <a:r>
              <a:rPr lang="en-US" altLang="en-US" sz="1800" b="1">
                <a:solidFill>
                  <a:srgbClr val="000000"/>
                </a:solidFill>
                <a:latin typeface="Courier New" panose="02070309020205020404" pitchFamily="49" charset="0"/>
              </a:rPr>
              <a:t>  7369 SMITH        20</a:t>
            </a:r>
          </a:p>
          <a:p>
            <a:pPr>
              <a:lnSpc>
                <a:spcPct val="95000"/>
              </a:lnSpc>
              <a:spcBef>
                <a:spcPct val="0"/>
              </a:spcBef>
              <a:buFontTx/>
              <a:buNone/>
            </a:pPr>
            <a:r>
              <a:rPr lang="en-US" altLang="en-US" sz="1800" b="1">
                <a:solidFill>
                  <a:srgbClr val="000000"/>
                </a:solidFill>
                <a:latin typeface="Courier New" panose="02070309020205020404" pitchFamily="49" charset="0"/>
              </a:rPr>
              <a:t>...</a:t>
            </a:r>
          </a:p>
          <a:p>
            <a:pPr>
              <a:lnSpc>
                <a:spcPct val="95000"/>
              </a:lnSpc>
              <a:spcBef>
                <a:spcPct val="0"/>
              </a:spcBef>
              <a:buFontTx/>
              <a:buNone/>
            </a:pPr>
            <a:r>
              <a:rPr lang="en-US" altLang="en-US" sz="1800" b="1">
                <a:solidFill>
                  <a:srgbClr val="000000"/>
                </a:solidFill>
                <a:latin typeface="Courier New" panose="02070309020205020404" pitchFamily="49" charset="0"/>
              </a:rPr>
              <a:t>14 rows selected.</a:t>
            </a:r>
          </a:p>
        </p:txBody>
      </p:sp>
      <p:sp>
        <p:nvSpPr>
          <p:cNvPr id="24" name="Rectangle 11">
            <a:extLst>
              <a:ext uri="{FF2B5EF4-FFF2-40B4-BE49-F238E27FC236}">
                <a16:creationId xmlns:a16="http://schemas.microsoft.com/office/drawing/2014/main" id="{6E591218-4358-53B8-EEC4-8D15F5ADEEE8}"/>
              </a:ext>
            </a:extLst>
          </p:cNvPr>
          <p:cNvSpPr>
            <a:spLocks noChangeArrowheads="1"/>
          </p:cNvSpPr>
          <p:nvPr/>
        </p:nvSpPr>
        <p:spPr bwMode="blackWhite">
          <a:xfrm>
            <a:off x="4261073" y="1393239"/>
            <a:ext cx="3952875" cy="399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14400" algn="l"/>
                <a:tab pos="1885950" algn="l"/>
                <a:tab pos="2627313"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627313"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627313"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627313"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6273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6273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6273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6273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627313"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DEPTNO DNAME      LOC     </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     10 ACCOUNTING NEW YORK</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10 ACCOUNTING	NEW YORK </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30 SALES	    	CHICAGO</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     20 RESEARCH	DALLAS</a:t>
            </a:r>
          </a:p>
          <a:p>
            <a:pPr>
              <a:lnSpc>
                <a:spcPct val="95000"/>
              </a:lnSpc>
              <a:spcBef>
                <a:spcPct val="0"/>
              </a:spcBef>
              <a:buFontTx/>
              <a:buNone/>
            </a:pPr>
            <a:r>
              <a:rPr lang="en-US" altLang="en-US" sz="1800" b="1">
                <a:solidFill>
                  <a:srgbClr val="000000"/>
                </a:solidFill>
                <a:latin typeface="Courier New" panose="02070309020205020404" pitchFamily="49" charset="0"/>
              </a:rPr>
              <a:t>...</a:t>
            </a:r>
          </a:p>
          <a:p>
            <a:pPr>
              <a:lnSpc>
                <a:spcPct val="95000"/>
              </a:lnSpc>
              <a:spcBef>
                <a:spcPct val="0"/>
              </a:spcBef>
              <a:buFontTx/>
              <a:buNone/>
            </a:pPr>
            <a:r>
              <a:rPr lang="en-US" altLang="en-US" sz="1800" b="1">
                <a:solidFill>
                  <a:srgbClr val="000000"/>
                </a:solidFill>
                <a:latin typeface="Courier New" panose="02070309020205020404" pitchFamily="49" charset="0"/>
              </a:rPr>
              <a:t>14 rows selected.</a:t>
            </a:r>
          </a:p>
        </p:txBody>
      </p:sp>
      <p:grpSp>
        <p:nvGrpSpPr>
          <p:cNvPr id="25" name="Group 12">
            <a:extLst>
              <a:ext uri="{FF2B5EF4-FFF2-40B4-BE49-F238E27FC236}">
                <a16:creationId xmlns:a16="http://schemas.microsoft.com/office/drawing/2014/main" id="{9C19ADB1-69A3-F82B-A448-4A9F3381BA89}"/>
              </a:ext>
            </a:extLst>
          </p:cNvPr>
          <p:cNvGrpSpPr>
            <a:grpSpLocks/>
          </p:cNvGrpSpPr>
          <p:nvPr/>
        </p:nvGrpSpPr>
        <p:grpSpPr bwMode="auto">
          <a:xfrm>
            <a:off x="2706911" y="4896851"/>
            <a:ext cx="3349626" cy="1066800"/>
            <a:chOff x="1728" y="3234"/>
            <a:chExt cx="2110" cy="672"/>
          </a:xfrm>
        </p:grpSpPr>
        <p:sp>
          <p:nvSpPr>
            <p:cNvPr id="26" name="Rectangle 13">
              <a:extLst>
                <a:ext uri="{FF2B5EF4-FFF2-40B4-BE49-F238E27FC236}">
                  <a16:creationId xmlns:a16="http://schemas.microsoft.com/office/drawing/2014/main" id="{1796FB3E-2124-F9FD-361E-7954CF7B4A93}"/>
                </a:ext>
              </a:extLst>
            </p:cNvPr>
            <p:cNvSpPr>
              <a:spLocks noChangeArrowheads="1"/>
            </p:cNvSpPr>
            <p:nvPr/>
          </p:nvSpPr>
          <p:spPr bwMode="auto">
            <a:xfrm>
              <a:off x="1728" y="3651"/>
              <a:ext cx="1024" cy="255"/>
            </a:xfrm>
            <a:prstGeom prst="rect">
              <a:avLst/>
            </a:prstGeom>
            <a:noFill/>
            <a:ln w="9525">
              <a:noFill/>
              <a:miter lim="800000"/>
              <a:headEnd/>
              <a:tailEnd/>
            </a:ln>
            <a:effectLst/>
          </p:spPr>
          <p:txBody>
            <a:bodyPr wrap="none" lIns="92075" tIns="46038" rIns="92075" bIns="46038">
              <a:spAutoFit/>
            </a:bodyPr>
            <a:lstStyle/>
            <a:p>
              <a:pPr algn="ctr">
                <a:lnSpc>
                  <a:spcPct val="110000"/>
                </a:lnSpc>
                <a:defRPr/>
              </a:pPr>
              <a:r>
                <a:rPr lang="en-US" sz="2000" b="1" dirty="0">
                  <a:solidFill>
                    <a:srgbClr val="0000CC"/>
                  </a:solidFill>
                </a:rPr>
                <a:t>Foreign key</a:t>
              </a:r>
            </a:p>
          </p:txBody>
        </p:sp>
        <p:sp>
          <p:nvSpPr>
            <p:cNvPr id="27" name="Line 14">
              <a:extLst>
                <a:ext uri="{FF2B5EF4-FFF2-40B4-BE49-F238E27FC236}">
                  <a16:creationId xmlns:a16="http://schemas.microsoft.com/office/drawing/2014/main" id="{A1D25E6E-C950-5902-3D89-8C9E94DD8CD6}"/>
                </a:ext>
              </a:extLst>
            </p:cNvPr>
            <p:cNvSpPr>
              <a:spLocks noChangeShapeType="1"/>
            </p:cNvSpPr>
            <p:nvPr/>
          </p:nvSpPr>
          <p:spPr bwMode="auto">
            <a:xfrm flipH="1" flipV="1">
              <a:off x="2230" y="3234"/>
              <a:ext cx="2" cy="414"/>
            </a:xfrm>
            <a:prstGeom prst="line">
              <a:avLst/>
            </a:prstGeom>
            <a:noFill/>
            <a:ln w="50800">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28" name="Rectangle 15">
              <a:extLst>
                <a:ext uri="{FF2B5EF4-FFF2-40B4-BE49-F238E27FC236}">
                  <a16:creationId xmlns:a16="http://schemas.microsoft.com/office/drawing/2014/main" id="{7CE147DD-3C99-2114-A8E2-5A5C357A651C}"/>
                </a:ext>
              </a:extLst>
            </p:cNvPr>
            <p:cNvSpPr>
              <a:spLocks noChangeArrowheads="1"/>
            </p:cNvSpPr>
            <p:nvPr/>
          </p:nvSpPr>
          <p:spPr bwMode="auto">
            <a:xfrm>
              <a:off x="2806" y="3651"/>
              <a:ext cx="1032" cy="255"/>
            </a:xfrm>
            <a:prstGeom prst="rect">
              <a:avLst/>
            </a:prstGeom>
            <a:noFill/>
            <a:ln w="9525">
              <a:noFill/>
              <a:miter lim="800000"/>
              <a:headEnd/>
              <a:tailEnd/>
            </a:ln>
            <a:effectLst/>
          </p:spPr>
          <p:txBody>
            <a:bodyPr wrap="none" lIns="92075" tIns="46038" rIns="92075" bIns="46038">
              <a:spAutoFit/>
            </a:bodyPr>
            <a:lstStyle/>
            <a:p>
              <a:pPr algn="ctr">
                <a:lnSpc>
                  <a:spcPct val="110000"/>
                </a:lnSpc>
                <a:defRPr/>
              </a:pPr>
              <a:r>
                <a:rPr lang="en-US" sz="2000" b="1" dirty="0">
                  <a:solidFill>
                    <a:srgbClr val="FF0000"/>
                  </a:solidFill>
                </a:rPr>
                <a:t>Primary key</a:t>
              </a:r>
            </a:p>
          </p:txBody>
        </p:sp>
        <p:sp>
          <p:nvSpPr>
            <p:cNvPr id="29" name="Line 16">
              <a:extLst>
                <a:ext uri="{FF2B5EF4-FFF2-40B4-BE49-F238E27FC236}">
                  <a16:creationId xmlns:a16="http://schemas.microsoft.com/office/drawing/2014/main" id="{1080875A-C51B-92E5-EB52-C9384DADD2C7}"/>
                </a:ext>
              </a:extLst>
            </p:cNvPr>
            <p:cNvSpPr>
              <a:spLocks noChangeShapeType="1"/>
            </p:cNvSpPr>
            <p:nvPr/>
          </p:nvSpPr>
          <p:spPr bwMode="auto">
            <a:xfrm flipH="1" flipV="1">
              <a:off x="3298" y="3234"/>
              <a:ext cx="2" cy="414"/>
            </a:xfrm>
            <a:prstGeom prst="line">
              <a:avLst/>
            </a:prstGeom>
            <a:noFill/>
            <a:ln w="50800">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grpSp>
        <p:nvGrpSpPr>
          <p:cNvPr id="30" name="Group 10">
            <a:extLst>
              <a:ext uri="{FF2B5EF4-FFF2-40B4-BE49-F238E27FC236}">
                <a16:creationId xmlns:a16="http://schemas.microsoft.com/office/drawing/2014/main" id="{51CB42D8-726E-40BD-20B3-248DAF69A6EF}"/>
              </a:ext>
            </a:extLst>
          </p:cNvPr>
          <p:cNvGrpSpPr>
            <a:grpSpLocks/>
          </p:cNvGrpSpPr>
          <p:nvPr/>
        </p:nvGrpSpPr>
        <p:grpSpPr bwMode="auto">
          <a:xfrm>
            <a:off x="6974656" y="548680"/>
            <a:ext cx="1701800" cy="638175"/>
            <a:chOff x="391" y="1632"/>
            <a:chExt cx="1072" cy="402"/>
          </a:xfrm>
        </p:grpSpPr>
        <p:sp>
          <p:nvSpPr>
            <p:cNvPr id="31" name="Rectangle 11">
              <a:extLst>
                <a:ext uri="{FF2B5EF4-FFF2-40B4-BE49-F238E27FC236}">
                  <a16:creationId xmlns:a16="http://schemas.microsoft.com/office/drawing/2014/main" id="{9C8ABE21-3DA5-68FD-D213-EE87794DF129}"/>
                </a:ext>
              </a:extLst>
            </p:cNvPr>
            <p:cNvSpPr>
              <a:spLocks noChangeArrowheads="1"/>
            </p:cNvSpPr>
            <p:nvPr/>
          </p:nvSpPr>
          <p:spPr bwMode="blackWhite">
            <a:xfrm>
              <a:off x="391" y="1632"/>
              <a:ext cx="490"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8912" name="Rectangle 12">
              <a:extLst>
                <a:ext uri="{FF2B5EF4-FFF2-40B4-BE49-F238E27FC236}">
                  <a16:creationId xmlns:a16="http://schemas.microsoft.com/office/drawing/2014/main" id="{39A7380A-CB78-F8E1-C22E-2FE0A7271EB5}"/>
                </a:ext>
              </a:extLst>
            </p:cNvPr>
            <p:cNvSpPr>
              <a:spLocks noChangeArrowheads="1"/>
            </p:cNvSpPr>
            <p:nvPr/>
          </p:nvSpPr>
          <p:spPr bwMode="blackWhite">
            <a:xfrm>
              <a:off x="973" y="1632"/>
              <a:ext cx="490"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8913" name="Oval 13">
              <a:extLst>
                <a:ext uri="{FF2B5EF4-FFF2-40B4-BE49-F238E27FC236}">
                  <a16:creationId xmlns:a16="http://schemas.microsoft.com/office/drawing/2014/main" id="{CD13992C-028B-5153-580B-7571DB0A73FB}"/>
                </a:ext>
              </a:extLst>
            </p:cNvPr>
            <p:cNvSpPr>
              <a:spLocks noChangeArrowheads="1"/>
            </p:cNvSpPr>
            <p:nvPr/>
          </p:nvSpPr>
          <p:spPr bwMode="blackWhite">
            <a:xfrm>
              <a:off x="586" y="1800"/>
              <a:ext cx="87" cy="88"/>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8916" name="Oval 14">
              <a:extLst>
                <a:ext uri="{FF2B5EF4-FFF2-40B4-BE49-F238E27FC236}">
                  <a16:creationId xmlns:a16="http://schemas.microsoft.com/office/drawing/2014/main" id="{6FBB975E-F0C1-3C62-8736-FD8793EB1C81}"/>
                </a:ext>
              </a:extLst>
            </p:cNvPr>
            <p:cNvSpPr>
              <a:spLocks noChangeArrowheads="1"/>
            </p:cNvSpPr>
            <p:nvPr/>
          </p:nvSpPr>
          <p:spPr bwMode="blackWhite">
            <a:xfrm>
              <a:off x="1159" y="1800"/>
              <a:ext cx="87" cy="88"/>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8917" name="Line 15">
              <a:extLst>
                <a:ext uri="{FF2B5EF4-FFF2-40B4-BE49-F238E27FC236}">
                  <a16:creationId xmlns:a16="http://schemas.microsoft.com/office/drawing/2014/main" id="{3982F77A-C16F-1FDA-4EED-9AA4DDA153F1}"/>
                </a:ext>
              </a:extLst>
            </p:cNvPr>
            <p:cNvSpPr>
              <a:spLocks noChangeShapeType="1"/>
            </p:cNvSpPr>
            <p:nvPr/>
          </p:nvSpPr>
          <p:spPr bwMode="blackWhite">
            <a:xfrm>
              <a:off x="717" y="1842"/>
              <a:ext cx="410"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25627648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up)">
                                      <p:cBhvr>
                                        <p:cTn id="7" dur="500"/>
                                        <p:tgtEl>
                                          <p:spTgt spid="19"/>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36ED7-D89F-3A9B-DC1D-59282A406182}"/>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4B21B538-E84B-9D6E-316A-E80118B68863}"/>
              </a:ext>
            </a:extLst>
          </p:cNvPr>
          <p:cNvSpPr>
            <a:spLocks noGrp="1" noChangeArrowheads="1"/>
          </p:cNvSpPr>
          <p:nvPr>
            <p:ph type="title"/>
          </p:nvPr>
        </p:nvSpPr>
        <p:spPr>
          <a:xfrm>
            <a:off x="4254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2. Natural Join</a:t>
            </a:r>
          </a:p>
        </p:txBody>
      </p:sp>
      <p:sp>
        <p:nvSpPr>
          <p:cNvPr id="38915" name="Rectangle 3">
            <a:extLst>
              <a:ext uri="{FF2B5EF4-FFF2-40B4-BE49-F238E27FC236}">
                <a16:creationId xmlns:a16="http://schemas.microsoft.com/office/drawing/2014/main" id="{3C5ABBE6-1C6B-3603-A19B-20552EF94BDC}"/>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193C1F5B-5D81-ED8F-ADE0-0F33466CF439}"/>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5C026601-0BAE-0338-63B9-5402422A33D6}"/>
              </a:ext>
            </a:extLst>
          </p:cNvPr>
          <p:cNvSpPr txBox="1">
            <a:spLocks noChangeArrowheads="1"/>
          </p:cNvSpPr>
          <p:nvPr/>
        </p:nvSpPr>
        <p:spPr bwMode="auto">
          <a:xfrm>
            <a:off x="394866" y="741784"/>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285750" indent="-285750" algn="just">
              <a:buClr>
                <a:srgbClr val="D34817"/>
              </a:buClr>
              <a:buSzPct val="50000"/>
              <a:buFont typeface="Wingdings" panose="05000000000000000000" pitchFamily="2" charset="2"/>
              <a:buChar char="l"/>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 join is based on all columns that have same name in both tables. </a:t>
            </a:r>
          </a:p>
          <a:p>
            <a:pPr marL="285750" indent="-285750" algn="just">
              <a:buClr>
                <a:srgbClr val="D34817"/>
              </a:buClr>
              <a:buSzPct val="50000"/>
              <a:buFont typeface="Wingdings" panose="05000000000000000000" pitchFamily="2" charset="2"/>
              <a:buChar char="l"/>
            </a:pP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The join condition </a:t>
            </a:r>
            <a:r>
              <a:rPr kumimoji="0" lang="en-US" altLang="en-US" sz="28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Calibri" panose="020F0502020204030204" pitchFamily="34" charset="0"/>
              </a:rPr>
              <a:t>should NOT be specified.</a:t>
            </a:r>
            <a:r>
              <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rPr>
              <a:t> </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6D15EDA6-F2CC-688C-BDC5-536E2B1A436A}"/>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graphicFrame>
        <p:nvGraphicFramePr>
          <p:cNvPr id="12" name="Table 11">
            <a:extLst>
              <a:ext uri="{FF2B5EF4-FFF2-40B4-BE49-F238E27FC236}">
                <a16:creationId xmlns:a16="http://schemas.microsoft.com/office/drawing/2014/main" id="{520A0801-FF80-EC48-AEAC-F5C4782F9611}"/>
              </a:ext>
            </a:extLst>
          </p:cNvPr>
          <p:cNvGraphicFramePr>
            <a:graphicFrameLocks noGrp="1"/>
          </p:cNvGraphicFramePr>
          <p:nvPr>
            <p:extLst>
              <p:ext uri="{D42A27DB-BD31-4B8C-83A1-F6EECF244321}">
                <p14:modId xmlns:p14="http://schemas.microsoft.com/office/powerpoint/2010/main" val="3825314208"/>
              </p:ext>
            </p:extLst>
          </p:nvPr>
        </p:nvGraphicFramePr>
        <p:xfrm>
          <a:off x="792162" y="2318359"/>
          <a:ext cx="7559675" cy="966625"/>
        </p:xfrm>
        <a:graphic>
          <a:graphicData uri="http://schemas.openxmlformats.org/drawingml/2006/table">
            <a:tbl>
              <a:tblPr firstRow="1" bandRow="1">
                <a:tableStyleId>{5C22544A-7EE6-4342-B048-85BDC9FD1C3A}</a:tableStyleId>
              </a:tblPr>
              <a:tblGrid>
                <a:gridCol w="7559675">
                  <a:extLst>
                    <a:ext uri="{9D8B030D-6E8A-4147-A177-3AD203B41FA5}">
                      <a16:colId xmlns:a16="http://schemas.microsoft.com/office/drawing/2014/main" val="20000"/>
                    </a:ext>
                  </a:extLst>
                </a:gridCol>
              </a:tblGrid>
              <a:tr h="966625">
                <a:tc>
                  <a:txBody>
                    <a:bodyPr/>
                    <a:lstStyle/>
                    <a:p>
                      <a:pPr marL="119063" lvl="1" indent="0">
                        <a:spcBef>
                          <a:spcPts val="600"/>
                        </a:spcBef>
                        <a:defRPr/>
                      </a:pPr>
                      <a:r>
                        <a:rPr lang="en-US" sz="2400" b="0" dirty="0">
                          <a:solidFill>
                            <a:srgbClr val="0000CC"/>
                          </a:solidFill>
                          <a:latin typeface="Cambria" panose="02040503050406030204" pitchFamily="18" charset="0"/>
                          <a:ea typeface="Cambria" panose="02040503050406030204" pitchFamily="18" charset="0"/>
                        </a:rPr>
                        <a:t>SELECT</a:t>
                      </a:r>
                      <a:r>
                        <a:rPr lang="en-US" sz="2400" b="0" dirty="0">
                          <a:solidFill>
                            <a:schemeClr val="accent2"/>
                          </a:solidFill>
                          <a:latin typeface="Cambria" panose="02040503050406030204" pitchFamily="18" charset="0"/>
                          <a:ea typeface="Cambria" panose="02040503050406030204" pitchFamily="18" charset="0"/>
                        </a:rPr>
                        <a:t> </a:t>
                      </a:r>
                      <a:r>
                        <a:rPr lang="en-US" sz="2400" b="0" dirty="0">
                          <a:solidFill>
                            <a:schemeClr val="tx1"/>
                          </a:solidFill>
                          <a:latin typeface="Cambria" panose="02040503050406030204" pitchFamily="18" charset="0"/>
                          <a:ea typeface="Cambria" panose="02040503050406030204" pitchFamily="18" charset="0"/>
                        </a:rPr>
                        <a:t>col-1, col-2, ….</a:t>
                      </a:r>
                    </a:p>
                    <a:p>
                      <a:pPr marL="119063" lvl="1" indent="0">
                        <a:spcBef>
                          <a:spcPts val="600"/>
                        </a:spcBef>
                        <a:buNone/>
                        <a:defRPr/>
                      </a:pPr>
                      <a:r>
                        <a:rPr lang="en-US" sz="2400" b="0" dirty="0">
                          <a:solidFill>
                            <a:srgbClr val="0000CC"/>
                          </a:solidFill>
                          <a:latin typeface="Cambria" panose="02040503050406030204" pitchFamily="18" charset="0"/>
                          <a:ea typeface="Cambria" panose="02040503050406030204" pitchFamily="18" charset="0"/>
                        </a:rPr>
                        <a:t>FROM</a:t>
                      </a:r>
                      <a:r>
                        <a:rPr lang="en-US" sz="2400" b="0" dirty="0">
                          <a:solidFill>
                            <a:schemeClr val="tx1"/>
                          </a:solidFill>
                          <a:latin typeface="Cambria" panose="02040503050406030204" pitchFamily="18" charset="0"/>
                          <a:ea typeface="Cambria" panose="02040503050406030204" pitchFamily="18" charset="0"/>
                        </a:rPr>
                        <a:t> table-1 </a:t>
                      </a:r>
                      <a:r>
                        <a:rPr lang="en-US" sz="2400" b="0" dirty="0">
                          <a:solidFill>
                            <a:srgbClr val="0000CC"/>
                          </a:solidFill>
                          <a:latin typeface="Cambria" panose="02040503050406030204" pitchFamily="18" charset="0"/>
                          <a:ea typeface="Cambria" panose="02040503050406030204" pitchFamily="18" charset="0"/>
                        </a:rPr>
                        <a:t>NATURAL [INNER]</a:t>
                      </a:r>
                      <a:r>
                        <a:rPr lang="en-US" sz="2400" b="0" baseline="0" dirty="0">
                          <a:solidFill>
                            <a:srgbClr val="0000CC"/>
                          </a:solidFill>
                          <a:latin typeface="Cambria" panose="02040503050406030204" pitchFamily="18" charset="0"/>
                          <a:ea typeface="Cambria" panose="02040503050406030204" pitchFamily="18" charset="0"/>
                        </a:rPr>
                        <a:t> JOIN</a:t>
                      </a:r>
                      <a:r>
                        <a:rPr lang="en-US" sz="2400" b="0" dirty="0">
                          <a:solidFill>
                            <a:schemeClr val="tx1"/>
                          </a:solidFill>
                          <a:latin typeface="Cambria" panose="02040503050406030204" pitchFamily="18" charset="0"/>
                          <a:ea typeface="Cambria" panose="02040503050406030204" pitchFamily="18" charset="0"/>
                        </a:rPr>
                        <a:t> table-2 </a:t>
                      </a:r>
                    </a:p>
                  </a:txBody>
                  <a:tcPr marL="91426" marR="91426" marT="45722" marB="4572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3" name="Table 12">
            <a:extLst>
              <a:ext uri="{FF2B5EF4-FFF2-40B4-BE49-F238E27FC236}">
                <a16:creationId xmlns:a16="http://schemas.microsoft.com/office/drawing/2014/main" id="{E66E5D49-2C6F-6AFE-6554-0398930C01E0}"/>
              </a:ext>
            </a:extLst>
          </p:cNvPr>
          <p:cNvGraphicFramePr>
            <a:graphicFrameLocks noGrp="1"/>
          </p:cNvGraphicFramePr>
          <p:nvPr>
            <p:extLst>
              <p:ext uri="{D42A27DB-BD31-4B8C-83A1-F6EECF244321}">
                <p14:modId xmlns:p14="http://schemas.microsoft.com/office/powerpoint/2010/main" val="1238895330"/>
              </p:ext>
            </p:extLst>
          </p:nvPr>
        </p:nvGraphicFramePr>
        <p:xfrm>
          <a:off x="792162" y="3501008"/>
          <a:ext cx="7559675" cy="899190"/>
        </p:xfrm>
        <a:graphic>
          <a:graphicData uri="http://schemas.openxmlformats.org/drawingml/2006/table">
            <a:tbl>
              <a:tblPr firstRow="1" bandRow="1">
                <a:tableStyleId>{5C22544A-7EE6-4342-B048-85BDC9FD1C3A}</a:tableStyleId>
              </a:tblPr>
              <a:tblGrid>
                <a:gridCol w="7559675">
                  <a:extLst>
                    <a:ext uri="{9D8B030D-6E8A-4147-A177-3AD203B41FA5}">
                      <a16:colId xmlns:a16="http://schemas.microsoft.com/office/drawing/2014/main" val="20000"/>
                    </a:ext>
                  </a:extLst>
                </a:gridCol>
              </a:tblGrid>
              <a:tr h="777875">
                <a:tc>
                  <a:txBody>
                    <a:bodyPr/>
                    <a:lstStyle/>
                    <a:p>
                      <a:pPr marL="119063" lvl="1" indent="0">
                        <a:spcBef>
                          <a:spcPts val="600"/>
                        </a:spcBef>
                        <a:defRPr/>
                      </a:pPr>
                      <a:r>
                        <a:rPr lang="en-US" sz="2400" b="0" dirty="0">
                          <a:solidFill>
                            <a:srgbClr val="0000CC"/>
                          </a:solidFill>
                          <a:latin typeface="Cambria" panose="02040503050406030204" pitchFamily="18" charset="0"/>
                          <a:ea typeface="Cambria" panose="02040503050406030204" pitchFamily="18" charset="0"/>
                        </a:rPr>
                        <a:t>SELECT</a:t>
                      </a:r>
                      <a:r>
                        <a:rPr lang="en-US" sz="2400" b="0" dirty="0">
                          <a:solidFill>
                            <a:schemeClr val="accent2"/>
                          </a:solidFill>
                          <a:latin typeface="Cambria" panose="02040503050406030204" pitchFamily="18" charset="0"/>
                          <a:ea typeface="Cambria" panose="02040503050406030204" pitchFamily="18" charset="0"/>
                        </a:rPr>
                        <a:t> </a:t>
                      </a:r>
                      <a:r>
                        <a:rPr lang="en-US" sz="2400" b="0" dirty="0" err="1">
                          <a:solidFill>
                            <a:schemeClr val="tx1"/>
                          </a:solidFill>
                          <a:latin typeface="Cambria" panose="02040503050406030204" pitchFamily="18" charset="0"/>
                          <a:ea typeface="Cambria" panose="02040503050406030204" pitchFamily="18" charset="0"/>
                        </a:rPr>
                        <a:t>ename,dname</a:t>
                      </a:r>
                      <a:endParaRPr lang="en-US" sz="2400" b="0" dirty="0">
                        <a:solidFill>
                          <a:schemeClr val="tx1"/>
                        </a:solidFill>
                        <a:latin typeface="Cambria" panose="02040503050406030204" pitchFamily="18" charset="0"/>
                        <a:ea typeface="Cambria" panose="02040503050406030204" pitchFamily="18" charset="0"/>
                      </a:endParaRPr>
                    </a:p>
                    <a:p>
                      <a:pPr marL="119063" lvl="1" indent="0">
                        <a:spcBef>
                          <a:spcPts val="600"/>
                        </a:spcBef>
                        <a:buNone/>
                        <a:defRPr/>
                      </a:pPr>
                      <a:r>
                        <a:rPr lang="en-US" sz="2400" b="0" dirty="0">
                          <a:solidFill>
                            <a:srgbClr val="0000CC"/>
                          </a:solidFill>
                          <a:latin typeface="Cambria" panose="02040503050406030204" pitchFamily="18" charset="0"/>
                          <a:ea typeface="Cambria" panose="02040503050406030204" pitchFamily="18" charset="0"/>
                        </a:rPr>
                        <a:t>FROM</a:t>
                      </a:r>
                      <a:r>
                        <a:rPr lang="en-US" sz="2400" b="0" dirty="0">
                          <a:solidFill>
                            <a:schemeClr val="tx1"/>
                          </a:solidFill>
                          <a:latin typeface="Cambria" panose="02040503050406030204" pitchFamily="18" charset="0"/>
                          <a:ea typeface="Cambria" panose="02040503050406030204" pitchFamily="18" charset="0"/>
                        </a:rPr>
                        <a:t> emp </a:t>
                      </a:r>
                      <a:r>
                        <a:rPr lang="en-US" sz="2400" b="0" dirty="0">
                          <a:solidFill>
                            <a:srgbClr val="0000CC"/>
                          </a:solidFill>
                          <a:latin typeface="Cambria" panose="02040503050406030204" pitchFamily="18" charset="0"/>
                          <a:ea typeface="Cambria" panose="02040503050406030204" pitchFamily="18" charset="0"/>
                        </a:rPr>
                        <a:t>NATURAL </a:t>
                      </a:r>
                      <a:r>
                        <a:rPr lang="en-US" sz="2400" b="0" baseline="0" dirty="0">
                          <a:solidFill>
                            <a:srgbClr val="0000CC"/>
                          </a:solidFill>
                          <a:latin typeface="Cambria" panose="02040503050406030204" pitchFamily="18" charset="0"/>
                          <a:ea typeface="Cambria" panose="02040503050406030204" pitchFamily="18" charset="0"/>
                        </a:rPr>
                        <a:t>JOIN</a:t>
                      </a:r>
                      <a:r>
                        <a:rPr lang="en-US" sz="2400" b="0" dirty="0">
                          <a:solidFill>
                            <a:schemeClr val="tx1"/>
                          </a:solidFill>
                          <a:latin typeface="Cambria" panose="02040503050406030204" pitchFamily="18" charset="0"/>
                          <a:ea typeface="Cambria" panose="02040503050406030204" pitchFamily="18" charset="0"/>
                        </a:rPr>
                        <a:t> dept </a:t>
                      </a:r>
                      <a:endParaRPr lang="en-US" sz="2400" b="0" dirty="0">
                        <a:solidFill>
                          <a:schemeClr val="accent2"/>
                        </a:solidFill>
                        <a:latin typeface="Cambria" panose="02040503050406030204" pitchFamily="18" charset="0"/>
                        <a:ea typeface="Cambria" panose="02040503050406030204" pitchFamily="18" charset="0"/>
                      </a:endParaRPr>
                    </a:p>
                  </a:txBody>
                  <a:tcPr marL="91426" marR="91426" marT="45735" marB="4573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00FBD030-BF1E-452D-B68E-868042288C8C}"/>
              </a:ext>
            </a:extLst>
          </p:cNvPr>
          <p:cNvGraphicFramePr>
            <a:graphicFrameLocks noGrp="1"/>
          </p:cNvGraphicFramePr>
          <p:nvPr>
            <p:extLst>
              <p:ext uri="{D42A27DB-BD31-4B8C-83A1-F6EECF244321}">
                <p14:modId xmlns:p14="http://schemas.microsoft.com/office/powerpoint/2010/main" val="3382296795"/>
              </p:ext>
            </p:extLst>
          </p:nvPr>
        </p:nvGraphicFramePr>
        <p:xfrm>
          <a:off x="792162" y="4811365"/>
          <a:ext cx="7559675" cy="899096"/>
        </p:xfrm>
        <a:graphic>
          <a:graphicData uri="http://schemas.openxmlformats.org/drawingml/2006/table">
            <a:tbl>
              <a:tblPr firstRow="1" bandRow="1">
                <a:tableStyleId>{5C22544A-7EE6-4342-B048-85BDC9FD1C3A}</a:tableStyleId>
              </a:tblPr>
              <a:tblGrid>
                <a:gridCol w="7559675">
                  <a:extLst>
                    <a:ext uri="{9D8B030D-6E8A-4147-A177-3AD203B41FA5}">
                      <a16:colId xmlns:a16="http://schemas.microsoft.com/office/drawing/2014/main" val="20000"/>
                    </a:ext>
                  </a:extLst>
                </a:gridCol>
              </a:tblGrid>
              <a:tr h="777875">
                <a:tc>
                  <a:txBody>
                    <a:bodyPr/>
                    <a:lstStyle/>
                    <a:p>
                      <a:pPr marL="119063" lvl="1" indent="0">
                        <a:spcBef>
                          <a:spcPts val="600"/>
                        </a:spcBef>
                        <a:defRPr/>
                      </a:pPr>
                      <a:r>
                        <a:rPr lang="en-US" sz="2400" b="0" dirty="0">
                          <a:solidFill>
                            <a:srgbClr val="0000CC"/>
                          </a:solidFill>
                          <a:latin typeface="Cambria" panose="02040503050406030204" pitchFamily="18" charset="0"/>
                          <a:ea typeface="Cambria" panose="02040503050406030204" pitchFamily="18" charset="0"/>
                        </a:rPr>
                        <a:t>SELECT</a:t>
                      </a:r>
                      <a:r>
                        <a:rPr lang="en-US" sz="2400" b="0" dirty="0">
                          <a:solidFill>
                            <a:schemeClr val="accent2"/>
                          </a:solidFill>
                          <a:latin typeface="Cambria" panose="02040503050406030204" pitchFamily="18" charset="0"/>
                          <a:ea typeface="Cambria" panose="02040503050406030204" pitchFamily="18" charset="0"/>
                        </a:rPr>
                        <a:t> </a:t>
                      </a:r>
                      <a:r>
                        <a:rPr lang="en-US" sz="2400" b="0" dirty="0" err="1">
                          <a:solidFill>
                            <a:schemeClr val="tx1"/>
                          </a:solidFill>
                          <a:latin typeface="Cambria" panose="02040503050406030204" pitchFamily="18" charset="0"/>
                          <a:ea typeface="Cambria" panose="02040503050406030204" pitchFamily="18" charset="0"/>
                        </a:rPr>
                        <a:t>ename,dname</a:t>
                      </a:r>
                      <a:endParaRPr lang="en-US" sz="2400" b="0" dirty="0">
                        <a:solidFill>
                          <a:schemeClr val="tx1"/>
                        </a:solidFill>
                        <a:latin typeface="Cambria" panose="02040503050406030204" pitchFamily="18" charset="0"/>
                        <a:ea typeface="Cambria" panose="02040503050406030204" pitchFamily="18" charset="0"/>
                      </a:endParaRPr>
                    </a:p>
                    <a:p>
                      <a:pPr marL="119063" lvl="1" indent="0">
                        <a:spcBef>
                          <a:spcPts val="600"/>
                        </a:spcBef>
                        <a:buNone/>
                        <a:defRPr/>
                      </a:pPr>
                      <a:r>
                        <a:rPr lang="en-US" sz="2400" b="0" dirty="0">
                          <a:solidFill>
                            <a:srgbClr val="0000CC"/>
                          </a:solidFill>
                          <a:latin typeface="Cambria" panose="02040503050406030204" pitchFamily="18" charset="0"/>
                          <a:ea typeface="Cambria" panose="02040503050406030204" pitchFamily="18" charset="0"/>
                        </a:rPr>
                        <a:t>FROM</a:t>
                      </a:r>
                      <a:r>
                        <a:rPr lang="en-US" sz="2400" b="0" dirty="0">
                          <a:solidFill>
                            <a:schemeClr val="tx1"/>
                          </a:solidFill>
                          <a:latin typeface="Cambria" panose="02040503050406030204" pitchFamily="18" charset="0"/>
                          <a:ea typeface="Cambria" panose="02040503050406030204" pitchFamily="18" charset="0"/>
                        </a:rPr>
                        <a:t> emp </a:t>
                      </a:r>
                      <a:r>
                        <a:rPr lang="en-US" sz="2400" b="0" dirty="0">
                          <a:solidFill>
                            <a:srgbClr val="0000CC"/>
                          </a:solidFill>
                          <a:latin typeface="Cambria" panose="02040503050406030204" pitchFamily="18" charset="0"/>
                          <a:ea typeface="Cambria" panose="02040503050406030204" pitchFamily="18" charset="0"/>
                        </a:rPr>
                        <a:t>NATURAL</a:t>
                      </a:r>
                      <a:r>
                        <a:rPr lang="en-US" sz="2400" b="0" dirty="0">
                          <a:solidFill>
                            <a:schemeClr val="accent2"/>
                          </a:solidFill>
                          <a:latin typeface="Cambria" panose="02040503050406030204" pitchFamily="18" charset="0"/>
                          <a:ea typeface="Cambria" panose="02040503050406030204" pitchFamily="18" charset="0"/>
                        </a:rPr>
                        <a:t> </a:t>
                      </a:r>
                      <a:r>
                        <a:rPr lang="en-US" sz="2400" b="0" dirty="0">
                          <a:solidFill>
                            <a:srgbClr val="FF0000"/>
                          </a:solidFill>
                          <a:latin typeface="Cambria" panose="02040503050406030204" pitchFamily="18" charset="0"/>
                          <a:ea typeface="Cambria" panose="02040503050406030204" pitchFamily="18" charset="0"/>
                        </a:rPr>
                        <a:t>INNER</a:t>
                      </a:r>
                      <a:r>
                        <a:rPr lang="en-US" sz="2400" b="0" dirty="0">
                          <a:solidFill>
                            <a:schemeClr val="accent2"/>
                          </a:solidFill>
                          <a:latin typeface="Cambria" panose="02040503050406030204" pitchFamily="18" charset="0"/>
                          <a:ea typeface="Cambria" panose="02040503050406030204" pitchFamily="18" charset="0"/>
                        </a:rPr>
                        <a:t> </a:t>
                      </a:r>
                      <a:r>
                        <a:rPr lang="en-US" sz="2400" b="0" baseline="0" dirty="0">
                          <a:solidFill>
                            <a:srgbClr val="0000CC"/>
                          </a:solidFill>
                          <a:latin typeface="Cambria" panose="02040503050406030204" pitchFamily="18" charset="0"/>
                          <a:ea typeface="Cambria" panose="02040503050406030204" pitchFamily="18" charset="0"/>
                        </a:rPr>
                        <a:t>JOIN</a:t>
                      </a:r>
                      <a:r>
                        <a:rPr lang="en-US" sz="2400" b="0" dirty="0">
                          <a:solidFill>
                            <a:schemeClr val="tx1"/>
                          </a:solidFill>
                          <a:latin typeface="Cambria" panose="02040503050406030204" pitchFamily="18" charset="0"/>
                          <a:ea typeface="Cambria" panose="02040503050406030204" pitchFamily="18" charset="0"/>
                        </a:rPr>
                        <a:t> dept </a:t>
                      </a:r>
                      <a:endParaRPr lang="en-US" sz="2400" b="0" dirty="0">
                        <a:solidFill>
                          <a:schemeClr val="accent2"/>
                        </a:solidFill>
                        <a:latin typeface="Cambria" panose="02040503050406030204" pitchFamily="18" charset="0"/>
                        <a:ea typeface="Cambria" panose="02040503050406030204" pitchFamily="18" charset="0"/>
                      </a:endParaRPr>
                    </a:p>
                  </a:txBody>
                  <a:tcPr marL="91426" marR="91426"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96467542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31DA4-4F4F-CDB7-C780-69D70107C808}"/>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D81B656B-48E2-486C-0A29-D086082C9592}"/>
              </a:ext>
            </a:extLst>
          </p:cNvPr>
          <p:cNvSpPr>
            <a:spLocks noGrp="1" noChangeArrowheads="1"/>
          </p:cNvSpPr>
          <p:nvPr>
            <p:ph type="title"/>
          </p:nvPr>
        </p:nvSpPr>
        <p:spPr>
          <a:xfrm>
            <a:off x="4254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3. Eui-join / Inner Join</a:t>
            </a:r>
          </a:p>
        </p:txBody>
      </p:sp>
      <p:sp>
        <p:nvSpPr>
          <p:cNvPr id="38915" name="Rectangle 3">
            <a:extLst>
              <a:ext uri="{FF2B5EF4-FFF2-40B4-BE49-F238E27FC236}">
                <a16:creationId xmlns:a16="http://schemas.microsoft.com/office/drawing/2014/main" id="{F0DC6BC9-9E7B-C0A7-D85D-A5255A73BBE2}"/>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A8552824-EE36-C003-0CA9-367BD9730DB7}"/>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3C2D56BB-3EEF-4EBA-5634-60A98C16EEB4}"/>
              </a:ext>
            </a:extLst>
          </p:cNvPr>
          <p:cNvSpPr txBox="1">
            <a:spLocks noChangeArrowheads="1"/>
          </p:cNvSpPr>
          <p:nvPr/>
        </p:nvSpPr>
        <p:spPr bwMode="auto">
          <a:xfrm>
            <a:off x="394866" y="741784"/>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gn="just"/>
            <a:r>
              <a:rPr lang="en-US" altLang="en-US" sz="2400" dirty="0">
                <a:latin typeface="Cambria" panose="02040503050406030204" pitchFamily="18" charset="0"/>
                <a:ea typeface="Cambria" panose="02040503050406030204" pitchFamily="18" charset="0"/>
              </a:rPr>
              <a:t>Inner joins are the most commonly used joins. For this reason, the term </a:t>
            </a:r>
            <a:r>
              <a:rPr lang="en-US" altLang="en-US" sz="2400" dirty="0">
                <a:solidFill>
                  <a:srgbClr val="0000CC"/>
                </a:solidFill>
                <a:latin typeface="Cambria" panose="02040503050406030204" pitchFamily="18" charset="0"/>
                <a:ea typeface="Cambria" panose="02040503050406030204" pitchFamily="18" charset="0"/>
              </a:rPr>
              <a:t>join defaults to "inner join".</a:t>
            </a:r>
          </a:p>
          <a:p>
            <a:pPr algn="just"/>
            <a:r>
              <a:rPr lang="en-US" altLang="en-US" sz="2400" dirty="0">
                <a:latin typeface="Cambria" panose="02040503050406030204" pitchFamily="18" charset="0"/>
                <a:ea typeface="Cambria" panose="02040503050406030204" pitchFamily="18" charset="0"/>
              </a:rPr>
              <a:t>The </a:t>
            </a:r>
            <a:r>
              <a:rPr lang="en-US" altLang="en-US" sz="2400" dirty="0">
                <a:solidFill>
                  <a:srgbClr val="0000CC"/>
                </a:solidFill>
                <a:latin typeface="Cambria" panose="02040503050406030204" pitchFamily="18" charset="0"/>
                <a:ea typeface="Cambria" panose="02040503050406030204" pitchFamily="18" charset="0"/>
              </a:rPr>
              <a:t>pre-requisite</a:t>
            </a:r>
            <a:r>
              <a:rPr lang="en-US" altLang="en-US" sz="2400" dirty="0">
                <a:latin typeface="Cambria" panose="02040503050406030204" pitchFamily="18" charset="0"/>
                <a:ea typeface="Cambria" panose="02040503050406030204" pitchFamily="18" charset="0"/>
              </a:rPr>
              <a:t> for inner join is that its participating tables must have </a:t>
            </a:r>
            <a:r>
              <a:rPr lang="en-US" altLang="en-US" sz="2400" dirty="0">
                <a:solidFill>
                  <a:srgbClr val="0000CC"/>
                </a:solidFill>
                <a:latin typeface="Cambria" panose="02040503050406030204" pitchFamily="18" charset="0"/>
                <a:ea typeface="Cambria" panose="02040503050406030204" pitchFamily="18" charset="0"/>
              </a:rPr>
              <a:t>at least one common attribute</a:t>
            </a:r>
            <a:r>
              <a:rPr lang="en-US" altLang="en-US" sz="2400" dirty="0">
                <a:latin typeface="Cambria" panose="02040503050406030204" pitchFamily="18" charset="0"/>
                <a:ea typeface="Cambria" panose="02040503050406030204" pitchFamily="18" charset="0"/>
              </a:rPr>
              <a:t> between them. </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B7EE25BF-8A6E-F6BF-332E-90B2A71600D7}"/>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graphicFrame>
        <p:nvGraphicFramePr>
          <p:cNvPr id="3" name="Table 2">
            <a:extLst>
              <a:ext uri="{FF2B5EF4-FFF2-40B4-BE49-F238E27FC236}">
                <a16:creationId xmlns:a16="http://schemas.microsoft.com/office/drawing/2014/main" id="{B6472400-8D00-81F1-143E-C152A923E1D6}"/>
              </a:ext>
            </a:extLst>
          </p:cNvPr>
          <p:cNvGraphicFramePr>
            <a:graphicFrameLocks noGrp="1"/>
          </p:cNvGraphicFramePr>
          <p:nvPr>
            <p:extLst>
              <p:ext uri="{D42A27DB-BD31-4B8C-83A1-F6EECF244321}">
                <p14:modId xmlns:p14="http://schemas.microsoft.com/office/powerpoint/2010/main" val="3834961502"/>
              </p:ext>
            </p:extLst>
          </p:nvPr>
        </p:nvGraphicFramePr>
        <p:xfrm>
          <a:off x="527372" y="2465905"/>
          <a:ext cx="8293100" cy="3124048"/>
        </p:xfrm>
        <a:graphic>
          <a:graphicData uri="http://schemas.openxmlformats.org/drawingml/2006/table">
            <a:tbl>
              <a:tblPr firstRow="1" bandRow="1">
                <a:tableStyleId>{5C22544A-7EE6-4342-B048-85BDC9FD1C3A}</a:tableStyleId>
              </a:tblPr>
              <a:tblGrid>
                <a:gridCol w="8293100">
                  <a:extLst>
                    <a:ext uri="{9D8B030D-6E8A-4147-A177-3AD203B41FA5}">
                      <a16:colId xmlns:a16="http://schemas.microsoft.com/office/drawing/2014/main" val="20000"/>
                    </a:ext>
                  </a:extLst>
                </a:gridCol>
              </a:tblGrid>
              <a:tr h="1158094">
                <a:tc>
                  <a:txBody>
                    <a:bodyPr/>
                    <a:lstStyle/>
                    <a:p>
                      <a:pPr marL="119063" lvl="1" indent="0">
                        <a:spcBef>
                          <a:spcPts val="600"/>
                        </a:spcBef>
                        <a:defRPr/>
                      </a:pPr>
                      <a:r>
                        <a:rPr lang="en-US" sz="2400" b="0" dirty="0">
                          <a:solidFill>
                            <a:srgbClr val="0000CC"/>
                          </a:solidFill>
                          <a:latin typeface="Cambria" panose="02040503050406030204" pitchFamily="18" charset="0"/>
                          <a:ea typeface="Cambria" panose="02040503050406030204" pitchFamily="18" charset="0"/>
                        </a:rPr>
                        <a:t>SELECT</a:t>
                      </a:r>
                      <a:r>
                        <a:rPr lang="en-US" sz="2400" b="0" dirty="0">
                          <a:solidFill>
                            <a:schemeClr val="accent2"/>
                          </a:solidFill>
                          <a:latin typeface="Cambria" panose="02040503050406030204" pitchFamily="18" charset="0"/>
                          <a:ea typeface="Cambria" panose="02040503050406030204" pitchFamily="18" charset="0"/>
                        </a:rPr>
                        <a:t> </a:t>
                      </a:r>
                      <a:r>
                        <a:rPr lang="en-US" sz="2400" b="0" dirty="0">
                          <a:solidFill>
                            <a:schemeClr val="tx1"/>
                          </a:solidFill>
                          <a:latin typeface="Cambria" panose="02040503050406030204" pitchFamily="18" charset="0"/>
                          <a:ea typeface="Cambria" panose="02040503050406030204" pitchFamily="18" charset="0"/>
                        </a:rPr>
                        <a:t>col1, col2, ….</a:t>
                      </a:r>
                    </a:p>
                    <a:p>
                      <a:pPr marL="119063" lvl="1" indent="0">
                        <a:spcBef>
                          <a:spcPts val="600"/>
                        </a:spcBef>
                        <a:buNone/>
                        <a:defRPr/>
                      </a:pPr>
                      <a:r>
                        <a:rPr lang="en-US" sz="2400" b="0" dirty="0">
                          <a:solidFill>
                            <a:srgbClr val="0000CC"/>
                          </a:solidFill>
                          <a:latin typeface="Cambria" panose="02040503050406030204" pitchFamily="18" charset="0"/>
                          <a:ea typeface="Cambria" panose="02040503050406030204" pitchFamily="18" charset="0"/>
                        </a:rPr>
                        <a:t>FROM</a:t>
                      </a:r>
                      <a:r>
                        <a:rPr lang="en-US" sz="2400" b="0" dirty="0">
                          <a:solidFill>
                            <a:schemeClr val="tx1"/>
                          </a:solidFill>
                          <a:latin typeface="Cambria" panose="02040503050406030204" pitchFamily="18" charset="0"/>
                          <a:ea typeface="Cambria" panose="02040503050406030204" pitchFamily="18" charset="0"/>
                        </a:rPr>
                        <a:t> table1, table2, …</a:t>
                      </a:r>
                    </a:p>
                    <a:p>
                      <a:pPr marL="119063" lvl="1" indent="0">
                        <a:spcBef>
                          <a:spcPts val="600"/>
                        </a:spcBef>
                        <a:buNone/>
                        <a:defRPr/>
                      </a:pPr>
                      <a:r>
                        <a:rPr lang="en-US" sz="2400" b="0" dirty="0">
                          <a:solidFill>
                            <a:srgbClr val="0000CC"/>
                          </a:solidFill>
                          <a:latin typeface="Cambria" panose="02040503050406030204" pitchFamily="18" charset="0"/>
                          <a:ea typeface="Cambria" panose="02040503050406030204" pitchFamily="18" charset="0"/>
                        </a:rPr>
                        <a:t>WHERE</a:t>
                      </a:r>
                      <a:r>
                        <a:rPr lang="en-US" sz="2400" b="0" dirty="0">
                          <a:solidFill>
                            <a:schemeClr val="accent2"/>
                          </a:solidFill>
                          <a:latin typeface="Cambria" panose="02040503050406030204" pitchFamily="18" charset="0"/>
                          <a:ea typeface="Cambria" panose="02040503050406030204" pitchFamily="18" charset="0"/>
                        </a:rPr>
                        <a:t> </a:t>
                      </a:r>
                      <a:r>
                        <a:rPr lang="en-US" sz="2400" b="0" dirty="0">
                          <a:solidFill>
                            <a:srgbClr val="FF0000"/>
                          </a:solidFill>
                          <a:latin typeface="Cambria" panose="02040503050406030204" pitchFamily="18" charset="0"/>
                          <a:ea typeface="Cambria" panose="02040503050406030204" pitchFamily="18" charset="0"/>
                        </a:rPr>
                        <a:t>table1.JoinCol = table2. </a:t>
                      </a:r>
                      <a:r>
                        <a:rPr lang="en-US" sz="2400" b="0" dirty="0" err="1">
                          <a:solidFill>
                            <a:srgbClr val="FF0000"/>
                          </a:solidFill>
                          <a:latin typeface="Cambria" panose="02040503050406030204" pitchFamily="18" charset="0"/>
                          <a:ea typeface="Cambria" panose="02040503050406030204" pitchFamily="18" charset="0"/>
                        </a:rPr>
                        <a:t>JoinCol</a:t>
                      </a:r>
                      <a:r>
                        <a:rPr lang="en-US" sz="2400" b="0" dirty="0">
                          <a:solidFill>
                            <a:srgbClr val="FF0000"/>
                          </a:solidFill>
                          <a:latin typeface="Cambria" panose="02040503050406030204" pitchFamily="18" charset="0"/>
                          <a:ea typeface="Cambria" panose="02040503050406030204" pitchFamily="18" charset="0"/>
                        </a:rPr>
                        <a:t> …</a:t>
                      </a:r>
                      <a:endParaRPr lang="en-US" sz="2400" b="0" dirty="0">
                        <a:solidFill>
                          <a:schemeClr val="tx1"/>
                        </a:solidFill>
                        <a:latin typeface="Cambria" panose="02040503050406030204" pitchFamily="18" charset="0"/>
                        <a:ea typeface="Cambria" panose="02040503050406030204" pitchFamily="18" charset="0"/>
                      </a:endParaRPr>
                    </a:p>
                  </a:txBody>
                  <a:tcPr marL="91426" marR="91426"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539069">
                <a:tc>
                  <a:txBody>
                    <a:bodyPr/>
                    <a:lstStyle/>
                    <a:p>
                      <a:pPr marL="119063" lvl="1" indent="0">
                        <a:spcBef>
                          <a:spcPts val="600"/>
                        </a:spcBef>
                        <a:defRPr/>
                      </a:pPr>
                      <a:r>
                        <a:rPr lang="en-US" sz="2400" b="0" dirty="0">
                          <a:solidFill>
                            <a:srgbClr val="0000CC"/>
                          </a:solidFill>
                          <a:latin typeface="Cambria" panose="02040503050406030204" pitchFamily="18" charset="0"/>
                          <a:ea typeface="Cambria" panose="02040503050406030204" pitchFamily="18" charset="0"/>
                        </a:rPr>
                        <a:t>SELECT</a:t>
                      </a:r>
                      <a:r>
                        <a:rPr lang="en-US" sz="2400" b="0" dirty="0">
                          <a:solidFill>
                            <a:schemeClr val="accent2"/>
                          </a:solidFill>
                          <a:latin typeface="Cambria" panose="02040503050406030204" pitchFamily="18" charset="0"/>
                          <a:ea typeface="Cambria" panose="02040503050406030204" pitchFamily="18" charset="0"/>
                        </a:rPr>
                        <a:t> </a:t>
                      </a:r>
                      <a:r>
                        <a:rPr lang="en-US" sz="2400" b="0" dirty="0">
                          <a:solidFill>
                            <a:schemeClr val="tx1"/>
                          </a:solidFill>
                          <a:latin typeface="Cambria" panose="02040503050406030204" pitchFamily="18" charset="0"/>
                          <a:ea typeface="Cambria" panose="02040503050406030204" pitchFamily="18" charset="0"/>
                        </a:rPr>
                        <a:t>col1, col2, ….</a:t>
                      </a:r>
                    </a:p>
                    <a:p>
                      <a:pPr marL="119063" lvl="1" indent="0">
                        <a:spcBef>
                          <a:spcPts val="600"/>
                        </a:spcBef>
                        <a:buNone/>
                        <a:defRPr/>
                      </a:pPr>
                      <a:r>
                        <a:rPr lang="en-US" sz="2400" b="0" dirty="0">
                          <a:solidFill>
                            <a:srgbClr val="0000CC"/>
                          </a:solidFill>
                          <a:latin typeface="Cambria" panose="02040503050406030204" pitchFamily="18" charset="0"/>
                          <a:ea typeface="Cambria" panose="02040503050406030204" pitchFamily="18" charset="0"/>
                        </a:rPr>
                        <a:t>FROM</a:t>
                      </a:r>
                      <a:r>
                        <a:rPr lang="en-US" sz="2400" b="0" dirty="0">
                          <a:solidFill>
                            <a:schemeClr val="tx1"/>
                          </a:solidFill>
                          <a:latin typeface="Cambria" panose="02040503050406030204" pitchFamily="18" charset="0"/>
                          <a:ea typeface="Cambria" panose="02040503050406030204" pitchFamily="18" charset="0"/>
                        </a:rPr>
                        <a:t> table1 </a:t>
                      </a:r>
                      <a:r>
                        <a:rPr lang="en-US" sz="2400" b="0" dirty="0">
                          <a:solidFill>
                            <a:srgbClr val="FF0000"/>
                          </a:solidFill>
                          <a:latin typeface="Cambria" panose="02040503050406030204" pitchFamily="18" charset="0"/>
                          <a:ea typeface="Cambria" panose="02040503050406030204" pitchFamily="18" charset="0"/>
                        </a:rPr>
                        <a:t>[INNER</a:t>
                      </a:r>
                      <a:r>
                        <a:rPr lang="en-US" sz="2400" b="0" baseline="0" dirty="0">
                          <a:solidFill>
                            <a:srgbClr val="FF0000"/>
                          </a:solidFill>
                          <a:latin typeface="Cambria" panose="02040503050406030204" pitchFamily="18" charset="0"/>
                          <a:ea typeface="Cambria" panose="02040503050406030204" pitchFamily="18" charset="0"/>
                        </a:rPr>
                        <a:t>]</a:t>
                      </a:r>
                      <a:r>
                        <a:rPr lang="en-US" sz="2400" b="0" baseline="0" dirty="0">
                          <a:solidFill>
                            <a:schemeClr val="accent2"/>
                          </a:solidFill>
                          <a:latin typeface="Cambria" panose="02040503050406030204" pitchFamily="18" charset="0"/>
                          <a:ea typeface="Cambria" panose="02040503050406030204" pitchFamily="18" charset="0"/>
                        </a:rPr>
                        <a:t> </a:t>
                      </a:r>
                      <a:r>
                        <a:rPr lang="en-US" sz="2400" b="0" baseline="0" dirty="0">
                          <a:solidFill>
                            <a:srgbClr val="0000CC"/>
                          </a:solidFill>
                          <a:latin typeface="Cambria" panose="02040503050406030204" pitchFamily="18" charset="0"/>
                          <a:ea typeface="Cambria" panose="02040503050406030204" pitchFamily="18" charset="0"/>
                        </a:rPr>
                        <a:t>JOIN</a:t>
                      </a:r>
                      <a:r>
                        <a:rPr lang="en-US" sz="2400" b="0" dirty="0">
                          <a:solidFill>
                            <a:schemeClr val="tx1"/>
                          </a:solidFill>
                          <a:latin typeface="Cambria" panose="02040503050406030204" pitchFamily="18" charset="0"/>
                          <a:ea typeface="Cambria" panose="02040503050406030204" pitchFamily="18" charset="0"/>
                        </a:rPr>
                        <a:t> table2, …</a:t>
                      </a:r>
                    </a:p>
                    <a:p>
                      <a:pPr marL="119063" marR="0" lvl="1" indent="0" algn="l" defTabSz="914400" rtl="0" eaLnBrk="1" fontAlgn="auto" latinLnBrk="0" hangingPunct="1">
                        <a:lnSpc>
                          <a:spcPct val="100000"/>
                        </a:lnSpc>
                        <a:spcBef>
                          <a:spcPts val="600"/>
                        </a:spcBef>
                        <a:spcAft>
                          <a:spcPts val="0"/>
                        </a:spcAft>
                        <a:buClrTx/>
                        <a:buSzTx/>
                        <a:buFontTx/>
                        <a:buNone/>
                        <a:tabLst/>
                        <a:defRPr/>
                      </a:pPr>
                      <a:r>
                        <a:rPr lang="en-US" sz="2400" b="0" dirty="0">
                          <a:solidFill>
                            <a:schemeClr val="accent2"/>
                          </a:solidFill>
                          <a:latin typeface="Cambria" panose="02040503050406030204" pitchFamily="18" charset="0"/>
                          <a:ea typeface="Cambria" panose="02040503050406030204" pitchFamily="18" charset="0"/>
                        </a:rPr>
                        <a:t>{</a:t>
                      </a:r>
                      <a:r>
                        <a:rPr lang="en-US" sz="2400" b="0" dirty="0">
                          <a:solidFill>
                            <a:srgbClr val="0000CC"/>
                          </a:solidFill>
                          <a:latin typeface="Cambria" panose="02040503050406030204" pitchFamily="18" charset="0"/>
                          <a:ea typeface="Cambria" panose="02040503050406030204" pitchFamily="18" charset="0"/>
                        </a:rPr>
                        <a:t>ON</a:t>
                      </a:r>
                      <a:r>
                        <a:rPr lang="en-US" sz="2400" b="0" dirty="0">
                          <a:solidFill>
                            <a:schemeClr val="accent2"/>
                          </a:solidFill>
                          <a:latin typeface="Cambria" panose="02040503050406030204" pitchFamily="18" charset="0"/>
                          <a:ea typeface="Cambria" panose="02040503050406030204" pitchFamily="18" charset="0"/>
                        </a:rPr>
                        <a:t> </a:t>
                      </a:r>
                      <a:r>
                        <a:rPr lang="en-US" sz="2400" b="0" dirty="0">
                          <a:solidFill>
                            <a:srgbClr val="FF0000"/>
                          </a:solidFill>
                          <a:latin typeface="Cambria" panose="02040503050406030204" pitchFamily="18" charset="0"/>
                          <a:ea typeface="Cambria" panose="02040503050406030204" pitchFamily="18" charset="0"/>
                        </a:rPr>
                        <a:t>table1. </a:t>
                      </a:r>
                      <a:r>
                        <a:rPr lang="en-US" sz="2400" b="0" dirty="0" err="1">
                          <a:solidFill>
                            <a:srgbClr val="FF0000"/>
                          </a:solidFill>
                          <a:latin typeface="Cambria" panose="02040503050406030204" pitchFamily="18" charset="0"/>
                          <a:ea typeface="Cambria" panose="02040503050406030204" pitchFamily="18" charset="0"/>
                        </a:rPr>
                        <a:t>JoinCol</a:t>
                      </a:r>
                      <a:r>
                        <a:rPr lang="en-US" sz="2400" b="0" dirty="0">
                          <a:solidFill>
                            <a:srgbClr val="FF0000"/>
                          </a:solidFill>
                          <a:latin typeface="Cambria" panose="02040503050406030204" pitchFamily="18" charset="0"/>
                          <a:ea typeface="Cambria" panose="02040503050406030204" pitchFamily="18" charset="0"/>
                        </a:rPr>
                        <a:t> = table2. </a:t>
                      </a:r>
                      <a:r>
                        <a:rPr lang="en-US" sz="2400" b="0" dirty="0" err="1">
                          <a:solidFill>
                            <a:srgbClr val="FF0000"/>
                          </a:solidFill>
                          <a:latin typeface="Cambria" panose="02040503050406030204" pitchFamily="18" charset="0"/>
                          <a:ea typeface="Cambria" panose="02040503050406030204" pitchFamily="18" charset="0"/>
                        </a:rPr>
                        <a:t>JoinCol</a:t>
                      </a:r>
                      <a:r>
                        <a:rPr lang="en-US" sz="2400" b="0" dirty="0">
                          <a:solidFill>
                            <a:srgbClr val="FF0000"/>
                          </a:solidFill>
                          <a:latin typeface="Cambria" panose="02040503050406030204" pitchFamily="18" charset="0"/>
                          <a:ea typeface="Cambria" panose="02040503050406030204" pitchFamily="18" charset="0"/>
                        </a:rPr>
                        <a:t> … </a:t>
                      </a:r>
                      <a:r>
                        <a:rPr lang="en-US" sz="2400" b="0" dirty="0">
                          <a:solidFill>
                            <a:srgbClr val="0000CC"/>
                          </a:solidFill>
                          <a:latin typeface="Cambria" panose="02040503050406030204" pitchFamily="18" charset="0"/>
                          <a:ea typeface="Cambria" panose="02040503050406030204" pitchFamily="18" charset="0"/>
                        </a:rPr>
                        <a:t>|USING</a:t>
                      </a:r>
                      <a:r>
                        <a:rPr lang="en-US" sz="2400" b="0" baseline="0" dirty="0">
                          <a:solidFill>
                            <a:srgbClr val="0000CC"/>
                          </a:solidFill>
                          <a:latin typeface="Cambria" panose="02040503050406030204" pitchFamily="18" charset="0"/>
                          <a:ea typeface="Cambria" panose="02040503050406030204" pitchFamily="18" charset="0"/>
                        </a:rPr>
                        <a:t> (</a:t>
                      </a:r>
                      <a:r>
                        <a:rPr lang="en-US" sz="2400" b="0" dirty="0" err="1">
                          <a:solidFill>
                            <a:srgbClr val="0000CC"/>
                          </a:solidFill>
                          <a:latin typeface="Cambria" panose="02040503050406030204" pitchFamily="18" charset="0"/>
                          <a:ea typeface="Cambria" panose="02040503050406030204" pitchFamily="18" charset="0"/>
                        </a:rPr>
                        <a:t>Join_Col</a:t>
                      </a:r>
                      <a:r>
                        <a:rPr lang="en-US" sz="2400" b="0" baseline="0" dirty="0">
                          <a:solidFill>
                            <a:srgbClr val="0000CC"/>
                          </a:solidFill>
                          <a:latin typeface="Cambria" panose="02040503050406030204" pitchFamily="18" charset="0"/>
                          <a:ea typeface="Cambria" panose="02040503050406030204" pitchFamily="18" charset="0"/>
                        </a:rPr>
                        <a:t>)</a:t>
                      </a:r>
                      <a:r>
                        <a:rPr lang="en-US" sz="2400" b="0" baseline="0" dirty="0">
                          <a:solidFill>
                            <a:srgbClr val="FF0000"/>
                          </a:solidFill>
                          <a:latin typeface="Cambria" panose="02040503050406030204" pitchFamily="18" charset="0"/>
                          <a:ea typeface="Cambria" panose="02040503050406030204" pitchFamily="18" charset="0"/>
                        </a:rPr>
                        <a:t>}</a:t>
                      </a:r>
                    </a:p>
                    <a:p>
                      <a:pPr marL="119063" marR="0" lvl="1" indent="0" algn="l" defTabSz="914400" rtl="0" eaLnBrk="1" fontAlgn="auto" latinLnBrk="0" hangingPunct="1">
                        <a:lnSpc>
                          <a:spcPct val="100000"/>
                        </a:lnSpc>
                        <a:spcBef>
                          <a:spcPts val="600"/>
                        </a:spcBef>
                        <a:spcAft>
                          <a:spcPts val="0"/>
                        </a:spcAft>
                        <a:buClrTx/>
                        <a:buSzTx/>
                        <a:buFontTx/>
                        <a:buNone/>
                        <a:tabLst/>
                        <a:defRPr/>
                      </a:pPr>
                      <a:r>
                        <a:rPr lang="en-US" sz="2400" b="0" baseline="0" dirty="0">
                          <a:solidFill>
                            <a:srgbClr val="FF0000"/>
                          </a:solidFill>
                          <a:latin typeface="Cambria" panose="02040503050406030204" pitchFamily="18" charset="0"/>
                          <a:ea typeface="Cambria" panose="02040503050406030204" pitchFamily="18" charset="0"/>
                        </a:rPr>
                        <a:t>[WHERE clause]</a:t>
                      </a:r>
                      <a:endParaRPr lang="en-US" sz="2400" b="0" dirty="0">
                        <a:solidFill>
                          <a:schemeClr val="accent2"/>
                        </a:solidFill>
                        <a:latin typeface="Cambria" panose="02040503050406030204" pitchFamily="18" charset="0"/>
                        <a:ea typeface="Cambria" panose="02040503050406030204" pitchFamily="18" charset="0"/>
                      </a:endParaRPr>
                    </a:p>
                  </a:txBody>
                  <a:tcPr marL="91426" marR="91426" marT="45682" marB="456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23554791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C6CE6-D506-9A44-2307-C419C48C314C}"/>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164D7641-7484-DADC-B54F-64B7853CDCD7}"/>
              </a:ext>
            </a:extLst>
          </p:cNvPr>
          <p:cNvSpPr>
            <a:spLocks noGrp="1" noChangeArrowheads="1"/>
          </p:cNvSpPr>
          <p:nvPr>
            <p:ph type="title"/>
          </p:nvPr>
        </p:nvSpPr>
        <p:spPr>
          <a:xfrm>
            <a:off x="4254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3. Eui-join / Inner Join</a:t>
            </a:r>
          </a:p>
        </p:txBody>
      </p:sp>
      <p:sp>
        <p:nvSpPr>
          <p:cNvPr id="38915" name="Rectangle 3">
            <a:extLst>
              <a:ext uri="{FF2B5EF4-FFF2-40B4-BE49-F238E27FC236}">
                <a16:creationId xmlns:a16="http://schemas.microsoft.com/office/drawing/2014/main" id="{15D3F9C5-C03E-AA83-F71C-965644F5887F}"/>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BAFA79FE-41FC-9103-EF75-A8EA9455BEA5}"/>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2AC7806B-7875-C936-6E8D-E0762C276A6B}"/>
              </a:ext>
            </a:extLst>
          </p:cNvPr>
          <p:cNvSpPr txBox="1">
            <a:spLocks noChangeArrowheads="1"/>
          </p:cNvSpPr>
          <p:nvPr/>
        </p:nvSpPr>
        <p:spPr bwMode="auto">
          <a:xfrm>
            <a:off x="394866" y="741784"/>
            <a:ext cx="8641630" cy="5374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lvl="1">
              <a:defRPr/>
            </a:pPr>
            <a:r>
              <a:rPr lang="en-US" dirty="0">
                <a:latin typeface="Cambria" panose="02040503050406030204" pitchFamily="18" charset="0"/>
                <a:ea typeface="Cambria" panose="02040503050406030204" pitchFamily="18" charset="0"/>
              </a:rPr>
              <a:t>SELECT </a:t>
            </a:r>
            <a:r>
              <a:rPr lang="en-US" dirty="0" err="1">
                <a:latin typeface="Cambria" panose="02040503050406030204" pitchFamily="18" charset="0"/>
                <a:ea typeface="Cambria" panose="02040503050406030204" pitchFamily="18" charset="0"/>
              </a:rPr>
              <a:t>ename</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dname</a:t>
            </a:r>
            <a:r>
              <a:rPr lang="en-US" dirty="0">
                <a:latin typeface="Cambria" panose="02040503050406030204" pitchFamily="18" charset="0"/>
                <a:ea typeface="Cambria" panose="02040503050406030204" pitchFamily="18" charset="0"/>
              </a:rPr>
              <a:t> from emp, dept</a:t>
            </a:r>
          </a:p>
          <a:p>
            <a:pPr marL="457200" lvl="1" indent="0">
              <a:buFontTx/>
              <a:buNone/>
              <a:defRPr/>
            </a:pPr>
            <a:r>
              <a:rPr lang="en-US" dirty="0">
                <a:latin typeface="Cambria" panose="02040503050406030204" pitchFamily="18" charset="0"/>
                <a:ea typeface="Cambria" panose="02040503050406030204" pitchFamily="18" charset="0"/>
              </a:rPr>
              <a:t>  WHERE </a:t>
            </a:r>
            <a:r>
              <a:rPr lang="en-US" dirty="0" err="1">
                <a:solidFill>
                  <a:srgbClr val="0000CC"/>
                </a:solidFill>
                <a:latin typeface="Cambria" panose="02040503050406030204" pitchFamily="18" charset="0"/>
                <a:ea typeface="Cambria" panose="02040503050406030204" pitchFamily="18" charset="0"/>
              </a:rPr>
              <a:t>emp.deptno</a:t>
            </a:r>
            <a:r>
              <a:rPr lang="en-US" dirty="0">
                <a:solidFill>
                  <a:srgbClr val="0000CC"/>
                </a:solidFill>
                <a:latin typeface="Cambria" panose="02040503050406030204" pitchFamily="18" charset="0"/>
                <a:ea typeface="Cambria" panose="02040503050406030204" pitchFamily="18" charset="0"/>
              </a:rPr>
              <a:t> = </a:t>
            </a:r>
            <a:r>
              <a:rPr lang="en-US" dirty="0" err="1">
                <a:solidFill>
                  <a:srgbClr val="0000CC"/>
                </a:solidFill>
                <a:latin typeface="Cambria" panose="02040503050406030204" pitchFamily="18" charset="0"/>
                <a:ea typeface="Cambria" panose="02040503050406030204" pitchFamily="18" charset="0"/>
              </a:rPr>
              <a:t>dept.deptno</a:t>
            </a:r>
            <a:r>
              <a:rPr lang="en-US" dirty="0">
                <a:solidFill>
                  <a:srgbClr val="0000CC"/>
                </a:solidFill>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a:t>
            </a:r>
          </a:p>
          <a:p>
            <a:pPr marL="457200" lvl="1" indent="0">
              <a:buFontTx/>
              <a:buNone/>
              <a:defRPr/>
            </a:pPr>
            <a:endParaRPr lang="en-US" sz="800" dirty="0">
              <a:latin typeface="Cambria" panose="02040503050406030204" pitchFamily="18" charset="0"/>
              <a:ea typeface="Cambria" panose="02040503050406030204" pitchFamily="18" charset="0"/>
            </a:endParaRPr>
          </a:p>
          <a:p>
            <a:pPr lvl="1">
              <a:defRPr/>
            </a:pPr>
            <a:r>
              <a:rPr lang="en-US" dirty="0">
                <a:latin typeface="Cambria" panose="02040503050406030204" pitchFamily="18" charset="0"/>
                <a:ea typeface="Cambria" panose="02040503050406030204" pitchFamily="18" charset="0"/>
              </a:rPr>
              <a:t>SELECT </a:t>
            </a:r>
            <a:r>
              <a:rPr lang="en-US" dirty="0" err="1">
                <a:latin typeface="Cambria" panose="02040503050406030204" pitchFamily="18" charset="0"/>
                <a:ea typeface="Cambria" panose="02040503050406030204" pitchFamily="18" charset="0"/>
              </a:rPr>
              <a:t>ename</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dptno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dname</a:t>
            </a:r>
            <a:r>
              <a:rPr lang="en-US" dirty="0">
                <a:latin typeface="Cambria" panose="02040503050406030204" pitchFamily="18" charset="0"/>
                <a:ea typeface="Cambria" panose="02040503050406030204" pitchFamily="18" charset="0"/>
              </a:rPr>
              <a:t> </a:t>
            </a:r>
          </a:p>
          <a:p>
            <a:pPr marL="457200" lvl="1" indent="0">
              <a:buFontTx/>
              <a:buNone/>
              <a:defRPr/>
            </a:pPr>
            <a:r>
              <a:rPr lang="en-US" dirty="0">
                <a:latin typeface="Cambria" panose="02040503050406030204" pitchFamily="18" charset="0"/>
                <a:ea typeface="Cambria" panose="02040503050406030204" pitchFamily="18" charset="0"/>
              </a:rPr>
              <a:t>    from emp </a:t>
            </a:r>
            <a:r>
              <a:rPr lang="en-US" dirty="0">
                <a:solidFill>
                  <a:srgbClr val="FF0000"/>
                </a:solidFill>
                <a:highlight>
                  <a:srgbClr val="00FF00"/>
                </a:highlight>
                <a:latin typeface="Cambria" panose="02040503050406030204" pitchFamily="18" charset="0"/>
                <a:ea typeface="Cambria" panose="02040503050406030204" pitchFamily="18" charset="0"/>
              </a:rPr>
              <a:t>INNER JOIN</a:t>
            </a:r>
            <a:r>
              <a:rPr lang="en-US" dirty="0">
                <a:latin typeface="Cambria" panose="02040503050406030204" pitchFamily="18" charset="0"/>
                <a:ea typeface="Cambria" panose="02040503050406030204" pitchFamily="18" charset="0"/>
              </a:rPr>
              <a:t> dept</a:t>
            </a:r>
          </a:p>
          <a:p>
            <a:pPr marL="457200" lvl="1" indent="0">
              <a:buFontTx/>
              <a:buNone/>
              <a:defRPr/>
            </a:pPr>
            <a:r>
              <a:rPr lang="en-US" dirty="0">
                <a:latin typeface="Cambria" panose="02040503050406030204" pitchFamily="18" charset="0"/>
                <a:ea typeface="Cambria" panose="02040503050406030204" pitchFamily="18" charset="0"/>
              </a:rPr>
              <a:t>    ON </a:t>
            </a:r>
            <a:r>
              <a:rPr lang="en-US" dirty="0" err="1">
                <a:latin typeface="Cambria" panose="02040503050406030204" pitchFamily="18" charset="0"/>
                <a:ea typeface="Cambria" panose="02040503050406030204" pitchFamily="18" charset="0"/>
              </a:rPr>
              <a:t>emp.deptno</a:t>
            </a:r>
            <a:r>
              <a:rPr lang="en-US" dirty="0">
                <a:latin typeface="Cambria" panose="02040503050406030204" pitchFamily="18" charset="0"/>
                <a:ea typeface="Cambria" panose="02040503050406030204" pitchFamily="18" charset="0"/>
              </a:rPr>
              <a:t> = </a:t>
            </a:r>
            <a:r>
              <a:rPr lang="en-US" dirty="0" err="1">
                <a:latin typeface="Cambria" panose="02040503050406030204" pitchFamily="18" charset="0"/>
                <a:ea typeface="Cambria" panose="02040503050406030204" pitchFamily="18" charset="0"/>
              </a:rPr>
              <a:t>dept.deptno</a:t>
            </a:r>
            <a:r>
              <a:rPr lang="en-US" dirty="0">
                <a:latin typeface="Cambria" panose="02040503050406030204" pitchFamily="18" charset="0"/>
                <a:ea typeface="Cambria" panose="02040503050406030204" pitchFamily="18" charset="0"/>
              </a:rPr>
              <a:t>;	</a:t>
            </a:r>
          </a:p>
          <a:p>
            <a:pPr marL="457200" lvl="1" indent="0">
              <a:buFontTx/>
              <a:buNone/>
              <a:defRPr/>
            </a:pPr>
            <a:endParaRPr lang="en-US" sz="800" dirty="0">
              <a:latin typeface="Cambria" panose="02040503050406030204" pitchFamily="18" charset="0"/>
              <a:ea typeface="Cambria" panose="02040503050406030204" pitchFamily="18" charset="0"/>
            </a:endParaRPr>
          </a:p>
          <a:p>
            <a:pPr lvl="1">
              <a:defRPr/>
            </a:pPr>
            <a:r>
              <a:rPr lang="en-US" dirty="0">
                <a:latin typeface="Cambria" panose="02040503050406030204" pitchFamily="18" charset="0"/>
                <a:ea typeface="Cambria" panose="02040503050406030204" pitchFamily="18" charset="0"/>
              </a:rPr>
              <a:t>SELECT </a:t>
            </a:r>
            <a:r>
              <a:rPr lang="en-US" dirty="0" err="1">
                <a:latin typeface="Cambria" panose="02040503050406030204" pitchFamily="18" charset="0"/>
                <a:ea typeface="Cambria" panose="02040503050406030204" pitchFamily="18" charset="0"/>
              </a:rPr>
              <a:t>ename</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dname</a:t>
            </a:r>
            <a:r>
              <a:rPr lang="en-US" dirty="0">
                <a:latin typeface="Cambria" panose="02040503050406030204" pitchFamily="18" charset="0"/>
                <a:ea typeface="Cambria" panose="02040503050406030204" pitchFamily="18" charset="0"/>
              </a:rPr>
              <a:t> from emp </a:t>
            </a:r>
            <a:r>
              <a:rPr lang="en-US" dirty="0">
                <a:solidFill>
                  <a:srgbClr val="FF0000"/>
                </a:solidFill>
                <a:highlight>
                  <a:srgbClr val="00FF00"/>
                </a:highlight>
                <a:latin typeface="Cambria" panose="02040503050406030204" pitchFamily="18" charset="0"/>
                <a:ea typeface="Cambria" panose="02040503050406030204" pitchFamily="18" charset="0"/>
              </a:rPr>
              <a:t>JOIN</a:t>
            </a:r>
            <a:r>
              <a:rPr lang="en-US" dirty="0">
                <a:latin typeface="Cambria" panose="02040503050406030204" pitchFamily="18" charset="0"/>
                <a:ea typeface="Cambria" panose="02040503050406030204" pitchFamily="18" charset="0"/>
              </a:rPr>
              <a:t> dept</a:t>
            </a:r>
          </a:p>
          <a:p>
            <a:pPr marL="457200" lvl="1" indent="0">
              <a:buFontTx/>
              <a:buNone/>
              <a:defRPr/>
            </a:pPr>
            <a:r>
              <a:rPr lang="en-US" dirty="0">
                <a:latin typeface="Cambria" panose="02040503050406030204" pitchFamily="18" charset="0"/>
                <a:ea typeface="Cambria" panose="02040503050406030204" pitchFamily="18" charset="0"/>
              </a:rPr>
              <a:t>    ON </a:t>
            </a:r>
            <a:r>
              <a:rPr lang="en-US" dirty="0" err="1">
                <a:solidFill>
                  <a:srgbClr val="0000CC"/>
                </a:solidFill>
                <a:latin typeface="Cambria" panose="02040503050406030204" pitchFamily="18" charset="0"/>
                <a:ea typeface="Cambria" panose="02040503050406030204" pitchFamily="18" charset="0"/>
              </a:rPr>
              <a:t>emp.deptno</a:t>
            </a:r>
            <a:r>
              <a:rPr lang="en-US" dirty="0">
                <a:solidFill>
                  <a:srgbClr val="0000CC"/>
                </a:solidFill>
                <a:latin typeface="Cambria" panose="02040503050406030204" pitchFamily="18" charset="0"/>
                <a:ea typeface="Cambria" panose="02040503050406030204" pitchFamily="18" charset="0"/>
              </a:rPr>
              <a:t> = </a:t>
            </a:r>
            <a:r>
              <a:rPr lang="en-US" dirty="0" err="1">
                <a:solidFill>
                  <a:srgbClr val="0000CC"/>
                </a:solidFill>
                <a:latin typeface="Cambria" panose="02040503050406030204" pitchFamily="18" charset="0"/>
                <a:ea typeface="Cambria" panose="02040503050406030204" pitchFamily="18" charset="0"/>
              </a:rPr>
              <a:t>dept.deptno</a:t>
            </a:r>
            <a:r>
              <a:rPr lang="en-US" dirty="0">
                <a:solidFill>
                  <a:srgbClr val="0000CC"/>
                </a:solidFill>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a:t>
            </a:r>
          </a:p>
          <a:p>
            <a:pPr lvl="1">
              <a:defRPr/>
            </a:pPr>
            <a:r>
              <a:rPr lang="en-US" dirty="0">
                <a:latin typeface="Cambria" panose="02040503050406030204" pitchFamily="18" charset="0"/>
                <a:ea typeface="Cambria" panose="02040503050406030204" pitchFamily="18" charset="0"/>
              </a:rPr>
              <a:t>SELECT </a:t>
            </a:r>
            <a:r>
              <a:rPr lang="en-US" dirty="0" err="1">
                <a:latin typeface="Cambria" panose="02040503050406030204" pitchFamily="18" charset="0"/>
                <a:ea typeface="Cambria" panose="02040503050406030204" pitchFamily="18" charset="0"/>
              </a:rPr>
              <a:t>ename</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dname</a:t>
            </a:r>
            <a:r>
              <a:rPr lang="en-US" dirty="0">
                <a:latin typeface="Cambria" panose="02040503050406030204" pitchFamily="18" charset="0"/>
                <a:ea typeface="Cambria" panose="02040503050406030204" pitchFamily="18" charset="0"/>
              </a:rPr>
              <a:t> from emp </a:t>
            </a:r>
            <a:r>
              <a:rPr lang="en-US" dirty="0">
                <a:solidFill>
                  <a:srgbClr val="FF0000"/>
                </a:solidFill>
                <a:highlight>
                  <a:srgbClr val="00FF00"/>
                </a:highlight>
                <a:latin typeface="Cambria" panose="02040503050406030204" pitchFamily="18" charset="0"/>
                <a:ea typeface="Cambria" panose="02040503050406030204" pitchFamily="18" charset="0"/>
              </a:rPr>
              <a:t>JOIN</a:t>
            </a:r>
            <a:r>
              <a:rPr lang="en-US" dirty="0">
                <a:latin typeface="Cambria" panose="02040503050406030204" pitchFamily="18" charset="0"/>
                <a:ea typeface="Cambria" panose="02040503050406030204" pitchFamily="18" charset="0"/>
              </a:rPr>
              <a:t> dept</a:t>
            </a:r>
          </a:p>
          <a:p>
            <a:pPr marL="457200" lvl="1" indent="0">
              <a:buFontTx/>
              <a:buNone/>
              <a:defRPr/>
            </a:pPr>
            <a:r>
              <a:rPr lang="en-US" dirty="0">
                <a:latin typeface="Cambria" panose="02040503050406030204" pitchFamily="18" charset="0"/>
                <a:ea typeface="Cambria" panose="02040503050406030204" pitchFamily="18" charset="0"/>
              </a:rPr>
              <a:t>    </a:t>
            </a:r>
            <a:r>
              <a:rPr lang="en-US" dirty="0">
                <a:solidFill>
                  <a:srgbClr val="FF0000"/>
                </a:solidFill>
                <a:highlight>
                  <a:srgbClr val="00FF00"/>
                </a:highlight>
                <a:latin typeface="Cambria" panose="02040503050406030204" pitchFamily="18" charset="0"/>
                <a:ea typeface="Cambria" panose="02040503050406030204" pitchFamily="18" charset="0"/>
              </a:rPr>
              <a:t>USING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deptno</a:t>
            </a:r>
            <a:r>
              <a:rPr lang="en-US" dirty="0">
                <a:latin typeface="Cambria" panose="02040503050406030204" pitchFamily="18" charset="0"/>
                <a:ea typeface="Cambria" panose="02040503050406030204" pitchFamily="18" charset="0"/>
              </a:rPr>
              <a:t>);</a:t>
            </a:r>
          </a:p>
          <a:p>
            <a:pPr marL="457200" lvl="1" indent="0">
              <a:buFontTx/>
              <a:buNone/>
              <a:defRPr/>
            </a:pPr>
            <a:endParaRPr lang="en-US" sz="800" dirty="0">
              <a:latin typeface="Cambria" panose="02040503050406030204" pitchFamily="18" charset="0"/>
              <a:ea typeface="Cambria" panose="02040503050406030204" pitchFamily="18" charset="0"/>
            </a:endParaRPr>
          </a:p>
          <a:p>
            <a:pPr lvl="1">
              <a:defRPr/>
            </a:pPr>
            <a:r>
              <a:rPr lang="en-US" dirty="0">
                <a:latin typeface="Cambria" panose="02040503050406030204" pitchFamily="18" charset="0"/>
                <a:ea typeface="Cambria" panose="02040503050406030204" pitchFamily="18" charset="0"/>
              </a:rPr>
              <a:t>SELECT </a:t>
            </a:r>
            <a:r>
              <a:rPr lang="en-US" dirty="0" err="1">
                <a:latin typeface="Cambria" panose="02040503050406030204" pitchFamily="18" charset="0"/>
                <a:ea typeface="Cambria" panose="02040503050406030204" pitchFamily="18" charset="0"/>
              </a:rPr>
              <a:t>e.empno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e.ename</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d.deptno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d.dname</a:t>
            </a:r>
            <a:endParaRPr lang="en-US" dirty="0">
              <a:latin typeface="Cambria" panose="02040503050406030204" pitchFamily="18" charset="0"/>
              <a:ea typeface="Cambria" panose="02040503050406030204" pitchFamily="18" charset="0"/>
            </a:endParaRPr>
          </a:p>
          <a:p>
            <a:pPr marL="457200" lvl="1" indent="4763">
              <a:buFontTx/>
              <a:buNone/>
              <a:defRPr/>
            </a:pPr>
            <a:r>
              <a:rPr lang="en-US" dirty="0">
                <a:latin typeface="Cambria" panose="02040503050406030204" pitchFamily="18" charset="0"/>
                <a:ea typeface="Cambria" panose="02040503050406030204" pitchFamily="18" charset="0"/>
              </a:rPr>
              <a:t>    from </a:t>
            </a:r>
            <a:r>
              <a:rPr lang="en-US" dirty="0">
                <a:solidFill>
                  <a:srgbClr val="0000CC"/>
                </a:solidFill>
                <a:latin typeface="Cambria" panose="02040503050406030204" pitchFamily="18" charset="0"/>
                <a:ea typeface="Cambria" panose="02040503050406030204" pitchFamily="18" charset="0"/>
              </a:rPr>
              <a:t>emp e JOIN dept d</a:t>
            </a:r>
          </a:p>
          <a:p>
            <a:pPr marL="457200" lvl="1" indent="0">
              <a:buFontTx/>
              <a:buNone/>
              <a:defRPr/>
            </a:pPr>
            <a:r>
              <a:rPr lang="en-US" dirty="0">
                <a:latin typeface="Cambria" panose="02040503050406030204" pitchFamily="18" charset="0"/>
                <a:ea typeface="Cambria" panose="02040503050406030204" pitchFamily="18" charset="0"/>
              </a:rPr>
              <a:t>    ON </a:t>
            </a:r>
            <a:r>
              <a:rPr lang="en-US" dirty="0" err="1">
                <a:solidFill>
                  <a:srgbClr val="0000CC"/>
                </a:solidFill>
                <a:latin typeface="Cambria" panose="02040503050406030204" pitchFamily="18" charset="0"/>
                <a:ea typeface="Cambria" panose="02040503050406030204" pitchFamily="18" charset="0"/>
              </a:rPr>
              <a:t>e.deptno</a:t>
            </a:r>
            <a:r>
              <a:rPr lang="en-US" dirty="0">
                <a:solidFill>
                  <a:srgbClr val="0000CC"/>
                </a:solidFill>
                <a:latin typeface="Cambria" panose="02040503050406030204" pitchFamily="18" charset="0"/>
                <a:ea typeface="Cambria" panose="02040503050406030204" pitchFamily="18" charset="0"/>
              </a:rPr>
              <a:t> = </a:t>
            </a:r>
            <a:r>
              <a:rPr lang="en-US" dirty="0" err="1">
                <a:solidFill>
                  <a:srgbClr val="0000CC"/>
                </a:solidFill>
                <a:latin typeface="Cambria" panose="02040503050406030204" pitchFamily="18" charset="0"/>
                <a:ea typeface="Cambria" panose="02040503050406030204" pitchFamily="18" charset="0"/>
              </a:rPr>
              <a:t>d.deptno</a:t>
            </a:r>
            <a:r>
              <a:rPr lang="en-US" dirty="0">
                <a:solidFill>
                  <a:srgbClr val="0000CC"/>
                </a:solidFill>
                <a:latin typeface="Cambria" panose="02040503050406030204" pitchFamily="18" charset="0"/>
                <a:ea typeface="Cambria" panose="02040503050406030204" pitchFamily="18" charset="0"/>
              </a:rPr>
              <a:t>;	</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154D095A-B542-D1E7-D306-363170CD8C86}"/>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115133349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9579E-48B1-3990-15B3-E9B7FA8DD84A}"/>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145DF130-56AE-C62B-080E-49033A34C2E5}"/>
              </a:ext>
            </a:extLst>
          </p:cNvPr>
          <p:cNvSpPr>
            <a:spLocks noGrp="1" noChangeArrowheads="1"/>
          </p:cNvSpPr>
          <p:nvPr>
            <p:ph type="title"/>
          </p:nvPr>
        </p:nvSpPr>
        <p:spPr>
          <a:xfrm>
            <a:off x="4254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Ambiguous Column Names</a:t>
            </a:r>
          </a:p>
        </p:txBody>
      </p:sp>
      <p:sp>
        <p:nvSpPr>
          <p:cNvPr id="38915" name="Rectangle 3">
            <a:extLst>
              <a:ext uri="{FF2B5EF4-FFF2-40B4-BE49-F238E27FC236}">
                <a16:creationId xmlns:a16="http://schemas.microsoft.com/office/drawing/2014/main" id="{62255FFE-9047-465F-097A-C2523CDD2E35}"/>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01C3B912-D2A0-0CEB-D401-AF019489F957}"/>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6E529C1F-AEC9-C553-25CF-9FACE65869EB}"/>
              </a:ext>
            </a:extLst>
          </p:cNvPr>
          <p:cNvSpPr txBox="1">
            <a:spLocks noChangeArrowheads="1"/>
          </p:cNvSpPr>
          <p:nvPr/>
        </p:nvSpPr>
        <p:spPr bwMode="auto">
          <a:xfrm>
            <a:off x="351656" y="3725230"/>
            <a:ext cx="8394700" cy="815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gn="just"/>
            <a:r>
              <a:rPr lang="en-US" altLang="en-US" sz="2400" dirty="0">
                <a:latin typeface="Cambria" panose="02040503050406030204" pitchFamily="18" charset="0"/>
                <a:ea typeface="Cambria" panose="02040503050406030204" pitchFamily="18" charset="0"/>
              </a:rPr>
              <a:t>Use table prefixes to qualify column names that are in multiple tables.</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16208EA6-387C-A8F9-E662-9B2BBEF7793B}"/>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Rectangle 5">
            <a:extLst>
              <a:ext uri="{FF2B5EF4-FFF2-40B4-BE49-F238E27FC236}">
                <a16:creationId xmlns:a16="http://schemas.microsoft.com/office/drawing/2014/main" id="{13491874-7F40-20CA-2CCD-5286899F3941}"/>
              </a:ext>
            </a:extLst>
          </p:cNvPr>
          <p:cNvSpPr>
            <a:spLocks noChangeArrowheads="1"/>
          </p:cNvSpPr>
          <p:nvPr/>
        </p:nvSpPr>
        <p:spPr bwMode="blackWhite">
          <a:xfrm>
            <a:off x="712788" y="2253134"/>
            <a:ext cx="7137400" cy="1346200"/>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empno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dname</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       *</a:t>
            </a:r>
          </a:p>
          <a:p>
            <a:pPr>
              <a:spcBef>
                <a:spcPct val="0"/>
              </a:spcBef>
              <a:buFontTx/>
              <a:buNone/>
            </a:pPr>
            <a:r>
              <a:rPr lang="en-US" altLang="en-US" sz="1800" b="1" dirty="0">
                <a:solidFill>
                  <a:srgbClr val="000000"/>
                </a:solidFill>
                <a:latin typeface="Courier New" panose="02070309020205020404" pitchFamily="49" charset="0"/>
              </a:rPr>
              <a:t>ERROR at line 1:</a:t>
            </a:r>
          </a:p>
          <a:p>
            <a:pPr>
              <a:spcBef>
                <a:spcPct val="0"/>
              </a:spcBef>
              <a:buFontTx/>
              <a:buNone/>
            </a:pPr>
            <a:r>
              <a:rPr lang="en-US" altLang="en-US" sz="1800" b="1" dirty="0">
                <a:solidFill>
                  <a:srgbClr val="000000"/>
                </a:solidFill>
                <a:latin typeface="Courier New" panose="02070309020205020404" pitchFamily="49" charset="0"/>
              </a:rPr>
              <a:t>ORA-00918: column ambiguously define</a:t>
            </a:r>
          </a:p>
        </p:txBody>
      </p:sp>
      <p:sp>
        <p:nvSpPr>
          <p:cNvPr id="6" name="Rectangle 2">
            <a:extLst>
              <a:ext uri="{FF2B5EF4-FFF2-40B4-BE49-F238E27FC236}">
                <a16:creationId xmlns:a16="http://schemas.microsoft.com/office/drawing/2014/main" id="{157C935B-4D4A-AA25-9D2D-B37963DEFB00}"/>
              </a:ext>
            </a:extLst>
          </p:cNvPr>
          <p:cNvSpPr>
            <a:spLocks noChangeArrowheads="1"/>
          </p:cNvSpPr>
          <p:nvPr/>
        </p:nvSpPr>
        <p:spPr bwMode="blackWhite">
          <a:xfrm>
            <a:off x="684213" y="790104"/>
            <a:ext cx="7289800" cy="12795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7" name="Rectangle 8">
            <a:extLst>
              <a:ext uri="{FF2B5EF4-FFF2-40B4-BE49-F238E27FC236}">
                <a16:creationId xmlns:a16="http://schemas.microsoft.com/office/drawing/2014/main" id="{64B87289-2C74-AC22-3E37-6D089E2DDF00}"/>
              </a:ext>
            </a:extLst>
          </p:cNvPr>
          <p:cNvSpPr>
            <a:spLocks noChangeArrowheads="1"/>
          </p:cNvSpPr>
          <p:nvPr/>
        </p:nvSpPr>
        <p:spPr bwMode="blackWhite">
          <a:xfrm>
            <a:off x="690563" y="764704"/>
            <a:ext cx="731520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empno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dname</a:t>
            </a:r>
            <a:br>
              <a:rPr lang="en-US" altLang="en-US" sz="1800" b="1" dirty="0">
                <a:solidFill>
                  <a:srgbClr val="000000"/>
                </a:solidFill>
                <a:latin typeface="Courier New" panose="02070309020205020404" pitchFamily="49" charset="0"/>
              </a:rPr>
            </a:br>
            <a:r>
              <a:rPr lang="en-US" altLang="en-US" sz="1800" b="1" dirty="0">
                <a:solidFill>
                  <a:srgbClr val="000000"/>
                </a:solidFill>
                <a:latin typeface="Courier New" panose="02070309020205020404" pitchFamily="49" charset="0"/>
              </a:rPr>
              <a:t>	FROM  emp INNER JOIN dept</a:t>
            </a:r>
          </a:p>
          <a:p>
            <a:pPr>
              <a:spcBef>
                <a:spcPct val="0"/>
              </a:spcBef>
              <a:buFontTx/>
              <a:buNone/>
            </a:pPr>
            <a:r>
              <a:rPr lang="en-US" altLang="en-US" sz="1800" b="1" dirty="0">
                <a:solidFill>
                  <a:srgbClr val="000000"/>
                </a:solidFill>
                <a:latin typeface="Courier New" panose="02070309020205020404" pitchFamily="49" charset="0"/>
              </a:rPr>
              <a:t>ON  	</a:t>
            </a:r>
            <a:r>
              <a:rPr lang="en-US" altLang="en-US" sz="1800" b="1" dirty="0" err="1">
                <a:solidFill>
                  <a:srgbClr val="000000"/>
                </a:solidFill>
                <a:latin typeface="Courier New" panose="02070309020205020404" pitchFamily="49" charset="0"/>
              </a:rPr>
              <a:t>emp.deptno</a:t>
            </a:r>
            <a:r>
              <a:rPr lang="en-US" altLang="en-US" sz="1800" b="1" dirty="0">
                <a:solidFill>
                  <a:srgbClr val="000000"/>
                </a:solidFill>
                <a:latin typeface="Courier New" panose="02070309020205020404" pitchFamily="49" charset="0"/>
              </a:rPr>
              <a:t> = </a:t>
            </a:r>
            <a:r>
              <a:rPr lang="en-US" altLang="en-US" sz="1800" b="1" dirty="0" err="1">
                <a:solidFill>
                  <a:srgbClr val="000000"/>
                </a:solidFill>
                <a:latin typeface="Courier New" panose="02070309020205020404" pitchFamily="49" charset="0"/>
              </a:rPr>
              <a:t>dept.deptno</a:t>
            </a:r>
            <a:r>
              <a:rPr lang="en-US" altLang="en-US" sz="1800" b="1" dirty="0">
                <a:solidFill>
                  <a:srgbClr val="000000"/>
                </a:solidFill>
                <a:latin typeface="Courier New" panose="02070309020205020404" pitchFamily="49" charset="0"/>
              </a:rPr>
              <a:t>;</a:t>
            </a:r>
          </a:p>
        </p:txBody>
      </p:sp>
      <p:sp>
        <p:nvSpPr>
          <p:cNvPr id="8" name="Rectangle 6">
            <a:extLst>
              <a:ext uri="{FF2B5EF4-FFF2-40B4-BE49-F238E27FC236}">
                <a16:creationId xmlns:a16="http://schemas.microsoft.com/office/drawing/2014/main" id="{054CED6C-782F-90DC-0534-5ECFC767F0B2}"/>
              </a:ext>
            </a:extLst>
          </p:cNvPr>
          <p:cNvSpPr>
            <a:spLocks noChangeArrowheads="1"/>
          </p:cNvSpPr>
          <p:nvPr/>
        </p:nvSpPr>
        <p:spPr bwMode="ltGray">
          <a:xfrm>
            <a:off x="1990725" y="1583854"/>
            <a:ext cx="3455988" cy="280988"/>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 name="Rectangle 10">
            <a:extLst>
              <a:ext uri="{FF2B5EF4-FFF2-40B4-BE49-F238E27FC236}">
                <a16:creationId xmlns:a16="http://schemas.microsoft.com/office/drawing/2014/main" id="{EC6791BB-1C82-998F-5C09-AA6B551E2D65}"/>
              </a:ext>
            </a:extLst>
          </p:cNvPr>
          <p:cNvSpPr>
            <a:spLocks noChangeArrowheads="1"/>
          </p:cNvSpPr>
          <p:nvPr/>
        </p:nvSpPr>
        <p:spPr bwMode="blackWhite">
          <a:xfrm>
            <a:off x="827088" y="4582443"/>
            <a:ext cx="7289800" cy="12795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12" name="Rectangle 8">
            <a:extLst>
              <a:ext uri="{FF2B5EF4-FFF2-40B4-BE49-F238E27FC236}">
                <a16:creationId xmlns:a16="http://schemas.microsoft.com/office/drawing/2014/main" id="{530131BB-76C8-3E4D-A2DD-5BD6F5C0A4B9}"/>
              </a:ext>
            </a:extLst>
          </p:cNvPr>
          <p:cNvSpPr>
            <a:spLocks noChangeArrowheads="1"/>
          </p:cNvSpPr>
          <p:nvPr/>
        </p:nvSpPr>
        <p:spPr bwMode="blackWhite">
          <a:xfrm>
            <a:off x="833438" y="4557043"/>
            <a:ext cx="731520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empno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emp.deptno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dname</a:t>
            </a:r>
            <a:br>
              <a:rPr lang="en-US" altLang="en-US" sz="1800" b="1" dirty="0">
                <a:solidFill>
                  <a:srgbClr val="000000"/>
                </a:solidFill>
                <a:latin typeface="Courier New" panose="02070309020205020404" pitchFamily="49" charset="0"/>
              </a:rPr>
            </a:br>
            <a:r>
              <a:rPr lang="en-US" altLang="en-US" sz="1800" b="1" dirty="0">
                <a:solidFill>
                  <a:srgbClr val="000000"/>
                </a:solidFill>
                <a:latin typeface="Courier New" panose="02070309020205020404" pitchFamily="49" charset="0"/>
              </a:rPr>
              <a:t>	 FROM  emp INNER JOIN dept</a:t>
            </a:r>
          </a:p>
          <a:p>
            <a:pPr>
              <a:spcBef>
                <a:spcPct val="0"/>
              </a:spcBef>
              <a:buFontTx/>
              <a:buNone/>
            </a:pPr>
            <a:r>
              <a:rPr lang="en-US" altLang="en-US" sz="1800" b="1" dirty="0">
                <a:solidFill>
                  <a:srgbClr val="000000"/>
                </a:solidFill>
                <a:latin typeface="Courier New" panose="02070309020205020404" pitchFamily="49" charset="0"/>
              </a:rPr>
              <a:t>ON  	</a:t>
            </a:r>
            <a:r>
              <a:rPr lang="en-US" altLang="en-US" sz="1800" b="1" dirty="0" err="1">
                <a:solidFill>
                  <a:srgbClr val="000000"/>
                </a:solidFill>
                <a:latin typeface="Courier New" panose="02070309020205020404" pitchFamily="49" charset="0"/>
              </a:rPr>
              <a:t>emp.deptno</a:t>
            </a:r>
            <a:r>
              <a:rPr lang="en-US" altLang="en-US" sz="1800" b="1" dirty="0">
                <a:solidFill>
                  <a:srgbClr val="000000"/>
                </a:solidFill>
                <a:latin typeface="Courier New" panose="02070309020205020404" pitchFamily="49" charset="0"/>
              </a:rPr>
              <a:t> = </a:t>
            </a:r>
            <a:r>
              <a:rPr lang="en-US" altLang="en-US" sz="1800" b="1" dirty="0" err="1">
                <a:solidFill>
                  <a:srgbClr val="000000"/>
                </a:solidFill>
                <a:latin typeface="Courier New" panose="02070309020205020404" pitchFamily="49" charset="0"/>
              </a:rPr>
              <a:t>dept.deptno</a:t>
            </a:r>
            <a:r>
              <a:rPr lang="en-US" altLang="en-US" sz="1800" b="1" dirty="0">
                <a:solidFill>
                  <a:srgbClr val="000000"/>
                </a:solidFill>
                <a:latin typeface="Courier New" panose="02070309020205020404" pitchFamily="49" charset="0"/>
              </a:rPr>
              <a:t>;</a:t>
            </a:r>
          </a:p>
        </p:txBody>
      </p:sp>
      <p:sp>
        <p:nvSpPr>
          <p:cNvPr id="13" name="Rectangle 6">
            <a:extLst>
              <a:ext uri="{FF2B5EF4-FFF2-40B4-BE49-F238E27FC236}">
                <a16:creationId xmlns:a16="http://schemas.microsoft.com/office/drawing/2014/main" id="{CAB79403-C3D7-1880-402F-F3203FA3DEAD}"/>
              </a:ext>
            </a:extLst>
          </p:cNvPr>
          <p:cNvSpPr>
            <a:spLocks noChangeArrowheads="1"/>
          </p:cNvSpPr>
          <p:nvPr/>
        </p:nvSpPr>
        <p:spPr bwMode="ltGray">
          <a:xfrm>
            <a:off x="2133600" y="5376193"/>
            <a:ext cx="3455988" cy="280988"/>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4" name="Rectangle 13">
            <a:extLst>
              <a:ext uri="{FF2B5EF4-FFF2-40B4-BE49-F238E27FC236}">
                <a16:creationId xmlns:a16="http://schemas.microsoft.com/office/drawing/2014/main" id="{D8D91280-C958-89CC-8B02-4AFEAB844308}"/>
              </a:ext>
            </a:extLst>
          </p:cNvPr>
          <p:cNvSpPr>
            <a:spLocks noChangeArrowheads="1"/>
          </p:cNvSpPr>
          <p:nvPr/>
        </p:nvSpPr>
        <p:spPr bwMode="auto">
          <a:xfrm rot="20203771">
            <a:off x="4004684" y="2031655"/>
            <a:ext cx="4223957" cy="400752"/>
          </a:xfrm>
          <a:prstGeom prst="rect">
            <a:avLst/>
          </a:prstGeom>
          <a:noFill/>
          <a:ln w="9525">
            <a:noFill/>
            <a:miter lim="800000"/>
            <a:headEnd/>
            <a:tailEnd/>
          </a:ln>
          <a:effectLst/>
        </p:spPr>
        <p:txBody>
          <a:bodyPr wrap="square" lIns="92075" tIns="46038" rIns="92075" bIns="46038">
            <a:spAutoFit/>
          </a:bodyPr>
          <a:lstStyle/>
          <a:p>
            <a:pPr>
              <a:defRPr/>
            </a:pPr>
            <a:r>
              <a:rPr lang="en-US" sz="2000" b="1" dirty="0">
                <a:solidFill>
                  <a:srgbClr val="0000CC"/>
                </a:solidFill>
                <a:latin typeface="Comic Sans MS" panose="030F0702030302020204" pitchFamily="66" charset="0"/>
                <a:ea typeface="Cambria" panose="02040503050406030204" pitchFamily="18" charset="0"/>
              </a:rPr>
              <a:t>same column name in two tables</a:t>
            </a:r>
          </a:p>
        </p:txBody>
      </p:sp>
    </p:spTree>
    <p:extLst>
      <p:ext uri="{BB962C8B-B14F-4D97-AF65-F5344CB8AC3E}">
        <p14:creationId xmlns:p14="http://schemas.microsoft.com/office/powerpoint/2010/main" val="42220174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ppt_x"/>
                                          </p:val>
                                        </p:tav>
                                        <p:tav tm="100000">
                                          <p:val>
                                            <p:strVal val="#ppt_x"/>
                                          </p:val>
                                        </p:tav>
                                      </p:tavLst>
                                    </p:anim>
                                    <p:anim calcmode="lin" valueType="num">
                                      <p:cBhvr additive="base">
                                        <p:cTn id="17" dur="500" fill="hold"/>
                                        <p:tgtEl>
                                          <p:spTgt spid="11"/>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ppt_x"/>
                                          </p:val>
                                        </p:tav>
                                        <p:tav tm="100000">
                                          <p:val>
                                            <p:strVal val="#ppt_x"/>
                                          </p:val>
                                        </p:tav>
                                      </p:tavLst>
                                    </p:anim>
                                    <p:anim calcmode="lin" valueType="num">
                                      <p:cBhvr additive="base">
                                        <p:cTn id="21" dur="500" fill="hold"/>
                                        <p:tgtEl>
                                          <p:spTgt spid="12"/>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additive="base">
                                        <p:cTn id="24" dur="500" fill="hold"/>
                                        <p:tgtEl>
                                          <p:spTgt spid="13"/>
                                        </p:tgtEl>
                                        <p:attrNameLst>
                                          <p:attrName>ppt_x</p:attrName>
                                        </p:attrNameLst>
                                      </p:cBhvr>
                                      <p:tavLst>
                                        <p:tav tm="0">
                                          <p:val>
                                            <p:strVal val="#ppt_x"/>
                                          </p:val>
                                        </p:tav>
                                        <p:tav tm="100000">
                                          <p:val>
                                            <p:strVal val="#ppt_x"/>
                                          </p:val>
                                        </p:tav>
                                      </p:tavLst>
                                    </p:anim>
                                    <p:anim calcmode="lin" valueType="num">
                                      <p:cBhvr additive="base">
                                        <p:cTn id="2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animBg="1"/>
      <p:bldP spid="12" grpId="0"/>
      <p:bldP spid="13" grpId="0" animBg="1"/>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94D46-F43A-31DD-0EAA-A3D9FAF41177}"/>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8D80BA0A-D5F5-B38F-FCF2-7A801E5908CA}"/>
              </a:ext>
            </a:extLst>
          </p:cNvPr>
          <p:cNvSpPr>
            <a:spLocks noGrp="1" noChangeArrowheads="1"/>
          </p:cNvSpPr>
          <p:nvPr>
            <p:ph type="title"/>
          </p:nvPr>
        </p:nvSpPr>
        <p:spPr>
          <a:xfrm>
            <a:off x="4254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Table Aliases</a:t>
            </a:r>
          </a:p>
        </p:txBody>
      </p:sp>
      <p:sp>
        <p:nvSpPr>
          <p:cNvPr id="38915" name="Rectangle 3">
            <a:extLst>
              <a:ext uri="{FF2B5EF4-FFF2-40B4-BE49-F238E27FC236}">
                <a16:creationId xmlns:a16="http://schemas.microsoft.com/office/drawing/2014/main" id="{18AAA203-4CFC-5340-C4EB-303F6AC3C559}"/>
              </a:ext>
            </a:extLst>
          </p:cNvPr>
          <p:cNvSpPr>
            <a:spLocks noGrp="1" noChangeArrowheads="1"/>
          </p:cNvSpPr>
          <p:nvPr>
            <p:ph sz="quarter" idx="1"/>
          </p:nvPr>
        </p:nvSpPr>
        <p:spPr>
          <a:xfrm>
            <a:off x="425450" y="692696"/>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3BDAD9D4-6E3E-66A9-9D1B-CBE7BCF77515}"/>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45FEFA75-E6AB-CEC8-004A-14D125C3C4F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2">
            <a:extLst>
              <a:ext uri="{FF2B5EF4-FFF2-40B4-BE49-F238E27FC236}">
                <a16:creationId xmlns:a16="http://schemas.microsoft.com/office/drawing/2014/main" id="{BFD5C907-24F0-2EE8-B466-1635BC960E2C}"/>
              </a:ext>
            </a:extLst>
          </p:cNvPr>
          <p:cNvSpPr>
            <a:spLocks noChangeArrowheads="1"/>
          </p:cNvSpPr>
          <p:nvPr/>
        </p:nvSpPr>
        <p:spPr bwMode="blackWhite">
          <a:xfrm>
            <a:off x="889000" y="872977"/>
            <a:ext cx="7289800" cy="12795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5" name="Rectangle 3">
            <a:extLst>
              <a:ext uri="{FF2B5EF4-FFF2-40B4-BE49-F238E27FC236}">
                <a16:creationId xmlns:a16="http://schemas.microsoft.com/office/drawing/2014/main" id="{A40D445C-B8BA-2DC6-C361-21ECE5C768E1}"/>
              </a:ext>
            </a:extLst>
          </p:cNvPr>
          <p:cNvSpPr>
            <a:spLocks noChangeArrowheads="1"/>
          </p:cNvSpPr>
          <p:nvPr/>
        </p:nvSpPr>
        <p:spPr bwMode="blackWhite">
          <a:xfrm>
            <a:off x="887413" y="2433489"/>
            <a:ext cx="7304087" cy="2314575"/>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tabLst>
                <a:tab pos="18288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3086100" algn="l"/>
                <a:tab pos="4229100" algn="l"/>
              </a:tabLst>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6" name="Rectangle 7">
            <a:extLst>
              <a:ext uri="{FF2B5EF4-FFF2-40B4-BE49-F238E27FC236}">
                <a16:creationId xmlns:a16="http://schemas.microsoft.com/office/drawing/2014/main" id="{F2B6E0FB-C9B1-EC91-F0CC-9799FB981E76}"/>
              </a:ext>
            </a:extLst>
          </p:cNvPr>
          <p:cNvSpPr>
            <a:spLocks noChangeArrowheads="1"/>
          </p:cNvSpPr>
          <p:nvPr/>
        </p:nvSpPr>
        <p:spPr bwMode="ltGray">
          <a:xfrm>
            <a:off x="2762250" y="2503339"/>
            <a:ext cx="1944688" cy="1668463"/>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7" name="Rectangle 8">
            <a:extLst>
              <a:ext uri="{FF2B5EF4-FFF2-40B4-BE49-F238E27FC236}">
                <a16:creationId xmlns:a16="http://schemas.microsoft.com/office/drawing/2014/main" id="{5AF99437-B37E-E60C-AF81-FF150D93237E}"/>
              </a:ext>
            </a:extLst>
          </p:cNvPr>
          <p:cNvSpPr>
            <a:spLocks noChangeArrowheads="1"/>
          </p:cNvSpPr>
          <p:nvPr/>
        </p:nvSpPr>
        <p:spPr bwMode="blackWhite">
          <a:xfrm>
            <a:off x="895350" y="847577"/>
            <a:ext cx="731520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CC"/>
                </a:solidFill>
                <a:latin typeface="Courier New" panose="02070309020205020404" pitchFamily="49" charset="0"/>
              </a:rPr>
              <a:t>e.</a:t>
            </a:r>
            <a:r>
              <a:rPr lang="en-US" altLang="en-US" sz="1800" b="1" dirty="0" err="1">
                <a:solidFill>
                  <a:srgbClr val="000000"/>
                </a:solidFill>
                <a:latin typeface="Courier New" panose="02070309020205020404" pitchFamily="49" charset="0"/>
              </a:rPr>
              <a:t>empno</a:t>
            </a:r>
            <a:r>
              <a:rPr lang="en-US" altLang="en-US" sz="1800" b="1" dirty="0">
                <a:solidFill>
                  <a:srgbClr val="000000"/>
                </a:solidFill>
                <a:latin typeface="Courier New" panose="02070309020205020404" pitchFamily="49" charset="0"/>
              </a:rPr>
              <a:t>, </a:t>
            </a:r>
            <a:r>
              <a:rPr lang="en-US" altLang="en-US" sz="1800" b="1" dirty="0" err="1">
                <a:solidFill>
                  <a:srgbClr val="0000CC"/>
                </a:solidFill>
                <a:latin typeface="Courier New" panose="02070309020205020404" pitchFamily="49" charset="0"/>
              </a:rPr>
              <a:t>e.</a:t>
            </a:r>
            <a:r>
              <a:rPr lang="en-US" altLang="en-US" sz="1800" b="1" dirty="0" err="1">
                <a:solidFill>
                  <a:srgbClr val="000000"/>
                </a:solidFill>
                <a:latin typeface="Courier New" panose="02070309020205020404" pitchFamily="49" charset="0"/>
              </a:rPr>
              <a:t>ename</a:t>
            </a:r>
            <a:r>
              <a:rPr lang="en-US" altLang="en-US" sz="1800" b="1" dirty="0">
                <a:solidFill>
                  <a:srgbClr val="000000"/>
                </a:solidFill>
                <a:latin typeface="Courier New" panose="02070309020205020404" pitchFamily="49" charset="0"/>
              </a:rPr>
              <a:t>, </a:t>
            </a:r>
            <a:r>
              <a:rPr lang="en-US" altLang="en-US" sz="1800" b="1" dirty="0" err="1">
                <a:solidFill>
                  <a:srgbClr val="0000CC"/>
                </a:solidFill>
                <a:latin typeface="Courier New" panose="02070309020205020404" pitchFamily="49" charset="0"/>
              </a:rPr>
              <a:t>e.</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a:t>
            </a:r>
            <a:br>
              <a:rPr lang="en-US" altLang="en-US" sz="1800" b="1" dirty="0">
                <a:solidFill>
                  <a:srgbClr val="000000"/>
                </a:solidFill>
                <a:latin typeface="Courier New" panose="02070309020205020404" pitchFamily="49" charset="0"/>
              </a:rPr>
            </a:br>
            <a:r>
              <a:rPr lang="en-US" altLang="en-US" sz="1800" b="1" dirty="0">
                <a:solidFill>
                  <a:srgbClr val="000000"/>
                </a:solidFill>
                <a:latin typeface="Courier New" panose="02070309020205020404" pitchFamily="49" charset="0"/>
              </a:rPr>
              <a:t>	</a:t>
            </a:r>
            <a:r>
              <a:rPr lang="en-US" altLang="en-US" sz="1800" b="1" dirty="0" err="1">
                <a:solidFill>
                  <a:srgbClr val="0000CC"/>
                </a:solidFill>
                <a:latin typeface="Courier New" panose="02070309020205020404" pitchFamily="49" charset="0"/>
              </a:rPr>
              <a:t>d.</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 </a:t>
            </a:r>
            <a:r>
              <a:rPr lang="en-US" altLang="en-US" sz="1800" b="1" dirty="0" err="1">
                <a:solidFill>
                  <a:srgbClr val="0000CC"/>
                </a:solidFill>
                <a:latin typeface="Courier New" panose="02070309020205020404" pitchFamily="49" charset="0"/>
              </a:rPr>
              <a:t>d.</a:t>
            </a:r>
            <a:r>
              <a:rPr lang="en-US" altLang="en-US" sz="1800" b="1" dirty="0" err="1">
                <a:solidFill>
                  <a:srgbClr val="000000"/>
                </a:solidFill>
                <a:latin typeface="Courier New" panose="02070309020205020404" pitchFamily="49" charset="0"/>
              </a:rPr>
              <a:t>loc</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FROM   	emp </a:t>
            </a:r>
            <a:r>
              <a:rPr lang="en-US" altLang="en-US" sz="1800" b="1" dirty="0">
                <a:solidFill>
                  <a:srgbClr val="0000CC"/>
                </a:solidFill>
                <a:latin typeface="Courier New" panose="02070309020205020404" pitchFamily="49" charset="0"/>
              </a:rPr>
              <a:t>e</a:t>
            </a:r>
            <a:r>
              <a:rPr lang="en-US" altLang="en-US" sz="1800" b="1" dirty="0">
                <a:solidFill>
                  <a:srgbClr val="000000"/>
                </a:solidFill>
                <a:latin typeface="Courier New" panose="02070309020205020404" pitchFamily="49" charset="0"/>
              </a:rPr>
              <a:t> INNER JOIN dept </a:t>
            </a:r>
            <a:r>
              <a:rPr lang="en-US" altLang="en-US" sz="1800" b="1" dirty="0">
                <a:solidFill>
                  <a:srgbClr val="0000CC"/>
                </a:solidFill>
                <a:latin typeface="Courier New" panose="02070309020205020404" pitchFamily="49" charset="0"/>
              </a:rPr>
              <a:t>d</a:t>
            </a:r>
          </a:p>
          <a:p>
            <a:pPr>
              <a:spcBef>
                <a:spcPct val="0"/>
              </a:spcBef>
              <a:buFontTx/>
              <a:buNone/>
            </a:pPr>
            <a:r>
              <a:rPr lang="en-US" altLang="en-US" sz="1800" b="1" dirty="0">
                <a:solidFill>
                  <a:srgbClr val="000000"/>
                </a:solidFill>
                <a:latin typeface="Courier New" panose="02070309020205020404" pitchFamily="49" charset="0"/>
              </a:rPr>
              <a:t>ON  	</a:t>
            </a:r>
            <a:r>
              <a:rPr lang="en-US" altLang="en-US" sz="1800" b="1" dirty="0" err="1">
                <a:solidFill>
                  <a:srgbClr val="0000CC"/>
                </a:solidFill>
                <a:latin typeface="Courier New" panose="02070309020205020404" pitchFamily="49" charset="0"/>
              </a:rPr>
              <a:t>e</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 = </a:t>
            </a:r>
            <a:r>
              <a:rPr lang="en-US" altLang="en-US" sz="1800" b="1" dirty="0" err="1">
                <a:solidFill>
                  <a:srgbClr val="0000CC"/>
                </a:solidFill>
                <a:latin typeface="Courier New" panose="02070309020205020404" pitchFamily="49" charset="0"/>
              </a:rPr>
              <a:t>d</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a:t>
            </a:r>
          </a:p>
        </p:txBody>
      </p:sp>
      <p:sp>
        <p:nvSpPr>
          <p:cNvPr id="8" name="Rectangle 9">
            <a:extLst>
              <a:ext uri="{FF2B5EF4-FFF2-40B4-BE49-F238E27FC236}">
                <a16:creationId xmlns:a16="http://schemas.microsoft.com/office/drawing/2014/main" id="{B82B7633-4D47-3CAA-61D1-CBB7415FDA33}"/>
              </a:ext>
            </a:extLst>
          </p:cNvPr>
          <p:cNvSpPr>
            <a:spLocks noChangeArrowheads="1"/>
          </p:cNvSpPr>
          <p:nvPr/>
        </p:nvSpPr>
        <p:spPr bwMode="blackWhite">
          <a:xfrm>
            <a:off x="919163" y="2446189"/>
            <a:ext cx="7278687"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1828800" algn="l"/>
                <a:tab pos="2400300" algn="l"/>
                <a:tab pos="3086100" algn="l"/>
                <a:tab pos="4229100" algn="l"/>
              </a:tabLst>
              <a:defRPr sz="2800">
                <a:solidFill>
                  <a:schemeClr val="tx1"/>
                </a:solidFill>
                <a:latin typeface="Arial" panose="020B0604020202020204" pitchFamily="34" charset="0"/>
              </a:defRPr>
            </a:lvl1pPr>
            <a:lvl2pPr marL="742950" indent="-285750">
              <a:spcBef>
                <a:spcPct val="20000"/>
              </a:spcBef>
              <a:buChar char="–"/>
              <a:tabLst>
                <a:tab pos="1828800" algn="l"/>
                <a:tab pos="2400300" algn="l"/>
                <a:tab pos="3086100" algn="l"/>
                <a:tab pos="4229100" algn="l"/>
              </a:tabLst>
              <a:defRPr sz="2400">
                <a:solidFill>
                  <a:schemeClr val="tx1"/>
                </a:solidFill>
                <a:latin typeface="Arial" panose="020B0604020202020204" pitchFamily="34" charset="0"/>
              </a:defRPr>
            </a:lvl2pPr>
            <a:lvl3pPr marL="1143000" indent="-228600">
              <a:spcBef>
                <a:spcPct val="20000"/>
              </a:spcBef>
              <a:buChar char="•"/>
              <a:tabLst>
                <a:tab pos="1828800" algn="l"/>
                <a:tab pos="2400300" algn="l"/>
                <a:tab pos="3086100" algn="l"/>
                <a:tab pos="4229100" algn="l"/>
              </a:tabLst>
              <a:defRPr sz="2000">
                <a:solidFill>
                  <a:schemeClr val="tx1"/>
                </a:solidFill>
                <a:latin typeface="Arial" panose="020B0604020202020204" pitchFamily="34" charset="0"/>
              </a:defRPr>
            </a:lvl3pPr>
            <a:lvl4pPr marL="1600200" indent="-228600">
              <a:spcBef>
                <a:spcPct val="20000"/>
              </a:spcBef>
              <a:buChar char="–"/>
              <a:tabLst>
                <a:tab pos="1828800" algn="l"/>
                <a:tab pos="2400300" algn="l"/>
                <a:tab pos="3086100" algn="l"/>
                <a:tab pos="4229100" algn="l"/>
              </a:tabLst>
              <a:defRPr sz="2000">
                <a:solidFill>
                  <a:schemeClr val="tx1"/>
                </a:solidFill>
                <a:latin typeface="Arial" panose="020B0604020202020204" pitchFamily="34" charset="0"/>
              </a:defRPr>
            </a:lvl4pPr>
            <a:lvl5pPr marL="2057400" indent="-228600">
              <a:spcBef>
                <a:spcPct val="20000"/>
              </a:spcBef>
              <a:buChar char="»"/>
              <a:tabLst>
                <a:tab pos="1828800" algn="l"/>
                <a:tab pos="2400300" algn="l"/>
                <a:tab pos="3086100" algn="l"/>
                <a:tab pos="4229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828800" algn="l"/>
                <a:tab pos="2400300" algn="l"/>
                <a:tab pos="3086100" algn="l"/>
                <a:tab pos="4229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828800" algn="l"/>
                <a:tab pos="2400300" algn="l"/>
                <a:tab pos="3086100" algn="l"/>
                <a:tab pos="4229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828800" algn="l"/>
                <a:tab pos="2400300" algn="l"/>
                <a:tab pos="3086100" algn="l"/>
                <a:tab pos="4229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828800" algn="l"/>
                <a:tab pos="2400300" algn="l"/>
                <a:tab pos="3086100" algn="l"/>
                <a:tab pos="422910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EMPNO ENAME 	DEPTNO </a:t>
            </a:r>
            <a:r>
              <a:rPr lang="en-US" altLang="en-US" sz="1800" b="1" dirty="0" err="1">
                <a:solidFill>
                  <a:srgbClr val="000000"/>
                </a:solidFill>
                <a:latin typeface="Courier New" panose="02070309020205020404" pitchFamily="49" charset="0"/>
              </a:rPr>
              <a:t>DEPTNO</a:t>
            </a:r>
            <a:r>
              <a:rPr lang="en-US" altLang="en-US" sz="1800" b="1" dirty="0">
                <a:solidFill>
                  <a:srgbClr val="000000"/>
                </a:solidFill>
                <a:latin typeface="Courier New" panose="02070309020205020404" pitchFamily="49" charset="0"/>
              </a:rPr>
              <a:t> LOC</a:t>
            </a:r>
          </a:p>
          <a:p>
            <a:pPr>
              <a:spcBef>
                <a:spcPct val="0"/>
              </a:spcBef>
              <a:buFontTx/>
              <a:buNone/>
            </a:pPr>
            <a:r>
              <a:rPr lang="en-US" altLang="en-US" sz="1800" b="1" dirty="0">
                <a:solidFill>
                  <a:srgbClr val="000000"/>
                </a:solidFill>
                <a:latin typeface="Courier New" panose="02070309020205020404" pitchFamily="49" charset="0"/>
              </a:rPr>
              <a:t>----- ------ ------ ------ ---------</a:t>
            </a:r>
          </a:p>
          <a:p>
            <a:pPr>
              <a:spcBef>
                <a:spcPct val="0"/>
              </a:spcBef>
              <a:buFontTx/>
              <a:buNone/>
            </a:pPr>
            <a:r>
              <a:rPr lang="en-US" altLang="en-US" sz="1800" b="1" dirty="0">
                <a:solidFill>
                  <a:srgbClr val="000000"/>
                </a:solidFill>
                <a:latin typeface="Courier New" panose="02070309020205020404" pitchFamily="49" charset="0"/>
              </a:rPr>
              <a:t> 7839 KING	    	10     10 NEW YORK</a:t>
            </a:r>
          </a:p>
          <a:p>
            <a:pPr>
              <a:spcBef>
                <a:spcPct val="0"/>
              </a:spcBef>
              <a:buFontTx/>
              <a:buNone/>
            </a:pPr>
            <a:r>
              <a:rPr lang="en-US" altLang="en-US" sz="1800" b="1" dirty="0">
                <a:solidFill>
                  <a:srgbClr val="000000"/>
                </a:solidFill>
                <a:latin typeface="Courier New" panose="02070309020205020404" pitchFamily="49" charset="0"/>
              </a:rPr>
              <a:t> 7698 BLAKE  	    	30     30 CHICAGO</a:t>
            </a:r>
          </a:p>
          <a:p>
            <a:pPr>
              <a:spcBef>
                <a:spcPct val="0"/>
              </a:spcBef>
              <a:buFontTx/>
              <a:buNone/>
            </a:pPr>
            <a:r>
              <a:rPr lang="en-US" altLang="en-US" sz="1800" b="1" dirty="0">
                <a:solidFill>
                  <a:srgbClr val="000000"/>
                </a:solidFill>
                <a:latin typeface="Courier New" panose="02070309020205020404" pitchFamily="49" charset="0"/>
              </a:rPr>
              <a:t> 7782 CLARK	    	10     10 NEW YORK</a:t>
            </a:r>
          </a:p>
          <a:p>
            <a:pPr>
              <a:spcBef>
                <a:spcPct val="0"/>
              </a:spcBef>
              <a:buFontTx/>
              <a:buNone/>
            </a:pPr>
            <a:r>
              <a:rPr lang="en-US" altLang="en-US" sz="1800" b="1" dirty="0">
                <a:solidFill>
                  <a:srgbClr val="000000"/>
                </a:solidFill>
                <a:latin typeface="Courier New" panose="02070309020205020404" pitchFamily="49" charset="0"/>
              </a:rPr>
              <a:t> 7566 JONES      	20     20 DALLAS</a:t>
            </a:r>
          </a:p>
          <a:p>
            <a:pPr>
              <a:spcBef>
                <a:spcPct val="0"/>
              </a:spcBef>
              <a:buFontTx/>
              <a:buNone/>
            </a:pPr>
            <a:r>
              <a:rPr lang="en-US" altLang="en-US" sz="1800" b="1" dirty="0">
                <a:solidFill>
                  <a:srgbClr val="000000"/>
                </a:solidFill>
                <a:latin typeface="Courier New" panose="02070309020205020404" pitchFamily="49" charset="0"/>
              </a:rPr>
              <a:t>...</a:t>
            </a:r>
          </a:p>
          <a:p>
            <a:pPr>
              <a:spcBef>
                <a:spcPct val="0"/>
              </a:spcBef>
              <a:buFontTx/>
              <a:buNone/>
            </a:pPr>
            <a:r>
              <a:rPr lang="en-US" altLang="en-US" sz="1800" b="1" dirty="0">
                <a:solidFill>
                  <a:srgbClr val="000000"/>
                </a:solidFill>
                <a:latin typeface="Courier New" panose="02070309020205020404" pitchFamily="49" charset="0"/>
              </a:rPr>
              <a:t>14 rows selected.</a:t>
            </a:r>
          </a:p>
        </p:txBody>
      </p:sp>
      <p:sp>
        <p:nvSpPr>
          <p:cNvPr id="9" name="Rectangle 6">
            <a:extLst>
              <a:ext uri="{FF2B5EF4-FFF2-40B4-BE49-F238E27FC236}">
                <a16:creationId xmlns:a16="http://schemas.microsoft.com/office/drawing/2014/main" id="{B44DDE2C-72E3-BC38-6396-D79FBFFC1685}"/>
              </a:ext>
            </a:extLst>
          </p:cNvPr>
          <p:cNvSpPr>
            <a:spLocks noChangeArrowheads="1"/>
          </p:cNvSpPr>
          <p:nvPr/>
        </p:nvSpPr>
        <p:spPr bwMode="ltGray">
          <a:xfrm>
            <a:off x="2123505" y="1725463"/>
            <a:ext cx="2952551" cy="335385"/>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Tree>
    <p:extLst>
      <p:ext uri="{BB962C8B-B14F-4D97-AF65-F5344CB8AC3E}">
        <p14:creationId xmlns:p14="http://schemas.microsoft.com/office/powerpoint/2010/main" val="36450936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60CF0-9AAF-AA4D-7E8E-AD4591FB0CE2}"/>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BE8D9F90-0686-1C91-5D50-3626250CB905}"/>
              </a:ext>
            </a:extLst>
          </p:cNvPr>
          <p:cNvSpPr>
            <a:spLocks noGrp="1" noChangeArrowheads="1"/>
          </p:cNvSpPr>
          <p:nvPr>
            <p:ph type="title"/>
          </p:nvPr>
        </p:nvSpPr>
        <p:spPr>
          <a:xfrm>
            <a:off x="425449" y="208384"/>
            <a:ext cx="7580313"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Ambiguous Column Names – </a:t>
            </a:r>
            <a:r>
              <a:rPr lang="en-US" altLang="en-US" sz="2800" b="1" u="sng" dirty="0">
                <a:solidFill>
                  <a:srgbClr val="0000CC"/>
                </a:solidFill>
                <a:latin typeface="Cambria" panose="02040503050406030204" pitchFamily="18" charset="0"/>
                <a:ea typeface="Cambria" panose="02040503050406030204" pitchFamily="18" charset="0"/>
              </a:rPr>
              <a:t>Natural Join</a:t>
            </a:r>
          </a:p>
        </p:txBody>
      </p:sp>
      <p:sp>
        <p:nvSpPr>
          <p:cNvPr id="38915" name="Rectangle 3">
            <a:extLst>
              <a:ext uri="{FF2B5EF4-FFF2-40B4-BE49-F238E27FC236}">
                <a16:creationId xmlns:a16="http://schemas.microsoft.com/office/drawing/2014/main" id="{E0D69D1B-2B0F-36AB-D30A-CCBA80A9382A}"/>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B269DFB4-5E99-BD57-AAE1-A5EB1F0D36C5}"/>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DCF9D8AD-1D9B-67C7-B990-62122B5F88F1}"/>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5">
            <a:extLst>
              <a:ext uri="{FF2B5EF4-FFF2-40B4-BE49-F238E27FC236}">
                <a16:creationId xmlns:a16="http://schemas.microsoft.com/office/drawing/2014/main" id="{2470747C-7520-89AA-F6D0-68519C952EF7}"/>
              </a:ext>
            </a:extLst>
          </p:cNvPr>
          <p:cNvSpPr>
            <a:spLocks noChangeArrowheads="1"/>
          </p:cNvSpPr>
          <p:nvPr/>
        </p:nvSpPr>
        <p:spPr bwMode="blackWhite">
          <a:xfrm>
            <a:off x="712788" y="2181895"/>
            <a:ext cx="7292975" cy="1346200"/>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empno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emp.deptno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dname</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       *</a:t>
            </a:r>
          </a:p>
          <a:p>
            <a:pPr>
              <a:spcBef>
                <a:spcPct val="0"/>
              </a:spcBef>
              <a:buFontTx/>
              <a:buNone/>
            </a:pPr>
            <a:r>
              <a:rPr lang="en-US" altLang="en-US" sz="1800" b="1" dirty="0">
                <a:solidFill>
                  <a:srgbClr val="000000"/>
                </a:solidFill>
                <a:latin typeface="Courier New" panose="02070309020205020404" pitchFamily="49" charset="0"/>
              </a:rPr>
              <a:t>ERROR at line 1:</a:t>
            </a:r>
          </a:p>
          <a:p>
            <a:pPr>
              <a:spcBef>
                <a:spcPct val="0"/>
              </a:spcBef>
              <a:buFontTx/>
              <a:buNone/>
            </a:pPr>
            <a:r>
              <a:rPr lang="en-US" altLang="en-US" sz="1800" b="1" dirty="0">
                <a:solidFill>
                  <a:srgbClr val="000000"/>
                </a:solidFill>
                <a:latin typeface="Courier New" panose="02070309020205020404" pitchFamily="49" charset="0"/>
              </a:rPr>
              <a:t>ORA-25155: </a:t>
            </a:r>
            <a:r>
              <a:rPr lang="en-US" altLang="en-US" sz="1800" b="1" dirty="0">
                <a:solidFill>
                  <a:srgbClr val="FF0000"/>
                </a:solidFill>
                <a:latin typeface="Courier New" panose="02070309020205020404" pitchFamily="49" charset="0"/>
              </a:rPr>
              <a:t>column used in NATURAL JOIN </a:t>
            </a:r>
          </a:p>
          <a:p>
            <a:pPr>
              <a:spcBef>
                <a:spcPct val="0"/>
              </a:spcBef>
              <a:buFontTx/>
              <a:buNone/>
            </a:pPr>
            <a:r>
              <a:rPr lang="en-US" altLang="en-US" sz="1800" b="1" dirty="0">
                <a:solidFill>
                  <a:srgbClr val="FF0000"/>
                </a:solidFill>
                <a:latin typeface="Courier New" panose="02070309020205020404" pitchFamily="49" charset="0"/>
              </a:rPr>
              <a:t>cannot have qualifier</a:t>
            </a:r>
          </a:p>
        </p:txBody>
      </p:sp>
      <p:sp>
        <p:nvSpPr>
          <p:cNvPr id="9" name="Rectangle 2">
            <a:extLst>
              <a:ext uri="{FF2B5EF4-FFF2-40B4-BE49-F238E27FC236}">
                <a16:creationId xmlns:a16="http://schemas.microsoft.com/office/drawing/2014/main" id="{EDE0E4C3-1699-A04A-BB47-B5C81615E391}"/>
              </a:ext>
            </a:extLst>
          </p:cNvPr>
          <p:cNvSpPr>
            <a:spLocks noChangeArrowheads="1"/>
          </p:cNvSpPr>
          <p:nvPr/>
        </p:nvSpPr>
        <p:spPr bwMode="blackWhite">
          <a:xfrm>
            <a:off x="684213" y="934120"/>
            <a:ext cx="7289800" cy="9366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10" name="Rectangle 8">
            <a:extLst>
              <a:ext uri="{FF2B5EF4-FFF2-40B4-BE49-F238E27FC236}">
                <a16:creationId xmlns:a16="http://schemas.microsoft.com/office/drawing/2014/main" id="{177B5AC0-E53B-EA40-A29F-ECBE7F1FE271}"/>
              </a:ext>
            </a:extLst>
          </p:cNvPr>
          <p:cNvSpPr>
            <a:spLocks noChangeArrowheads="1"/>
          </p:cNvSpPr>
          <p:nvPr/>
        </p:nvSpPr>
        <p:spPr bwMode="blackWhite">
          <a:xfrm>
            <a:off x="690563" y="908720"/>
            <a:ext cx="731520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400" b="1" dirty="0">
                <a:solidFill>
                  <a:srgbClr val="000000"/>
                </a:solidFill>
                <a:latin typeface="Courier New" panose="02070309020205020404" pitchFamily="49" charset="0"/>
              </a:rPr>
              <a:t>SELECT </a:t>
            </a:r>
            <a:r>
              <a:rPr lang="en-US" altLang="en-US" sz="2400" b="1" dirty="0" err="1">
                <a:solidFill>
                  <a:srgbClr val="000000"/>
                </a:solidFill>
                <a:latin typeface="Courier New" panose="02070309020205020404" pitchFamily="49" charset="0"/>
              </a:rPr>
              <a:t>empno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emp.deptno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dname</a:t>
            </a:r>
            <a:br>
              <a:rPr lang="en-US" altLang="en-US" sz="2400" b="1" dirty="0">
                <a:solidFill>
                  <a:srgbClr val="000000"/>
                </a:solidFill>
                <a:latin typeface="Courier New" panose="02070309020205020404" pitchFamily="49" charset="0"/>
              </a:rPr>
            </a:br>
            <a:r>
              <a:rPr lang="en-US" altLang="en-US" sz="2400" b="1" dirty="0">
                <a:solidFill>
                  <a:srgbClr val="000000"/>
                </a:solidFill>
                <a:latin typeface="Courier New" panose="02070309020205020404" pitchFamily="49" charset="0"/>
              </a:rPr>
              <a:t>FROM   emp </a:t>
            </a:r>
            <a:r>
              <a:rPr lang="en-US" altLang="en-US" sz="2400" b="1" dirty="0">
                <a:solidFill>
                  <a:srgbClr val="0000CC"/>
                </a:solidFill>
                <a:latin typeface="Courier New" panose="02070309020205020404" pitchFamily="49" charset="0"/>
              </a:rPr>
              <a:t>NATURAL JOIN</a:t>
            </a:r>
            <a:r>
              <a:rPr lang="en-US" altLang="en-US" sz="2400" b="1" dirty="0">
                <a:solidFill>
                  <a:srgbClr val="000000"/>
                </a:solidFill>
                <a:latin typeface="Courier New" panose="02070309020205020404" pitchFamily="49" charset="0"/>
              </a:rPr>
              <a:t> dept</a:t>
            </a:r>
          </a:p>
        </p:txBody>
      </p:sp>
      <p:sp>
        <p:nvSpPr>
          <p:cNvPr id="15" name="Rectangle 2">
            <a:extLst>
              <a:ext uri="{FF2B5EF4-FFF2-40B4-BE49-F238E27FC236}">
                <a16:creationId xmlns:a16="http://schemas.microsoft.com/office/drawing/2014/main" id="{A445D323-5F27-8DFC-93C6-B8FF02636549}"/>
              </a:ext>
            </a:extLst>
          </p:cNvPr>
          <p:cNvSpPr>
            <a:spLocks noChangeArrowheads="1"/>
          </p:cNvSpPr>
          <p:nvPr/>
        </p:nvSpPr>
        <p:spPr bwMode="blackWhite">
          <a:xfrm>
            <a:off x="677863" y="3764633"/>
            <a:ext cx="7289800" cy="93821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16" name="Rectangle 8">
            <a:extLst>
              <a:ext uri="{FF2B5EF4-FFF2-40B4-BE49-F238E27FC236}">
                <a16:creationId xmlns:a16="http://schemas.microsoft.com/office/drawing/2014/main" id="{D0A3A642-D190-EEA2-3097-620800D912A2}"/>
              </a:ext>
            </a:extLst>
          </p:cNvPr>
          <p:cNvSpPr>
            <a:spLocks noChangeArrowheads="1"/>
          </p:cNvSpPr>
          <p:nvPr/>
        </p:nvSpPr>
        <p:spPr bwMode="blackWhite">
          <a:xfrm>
            <a:off x="684213" y="3739233"/>
            <a:ext cx="731520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400" b="1" dirty="0">
                <a:solidFill>
                  <a:srgbClr val="000000"/>
                </a:solidFill>
                <a:latin typeface="Courier New" panose="02070309020205020404" pitchFamily="49" charset="0"/>
              </a:rPr>
              <a:t>SELECT </a:t>
            </a:r>
            <a:r>
              <a:rPr lang="en-US" altLang="en-US" sz="2400" b="1" dirty="0" err="1">
                <a:solidFill>
                  <a:srgbClr val="000000"/>
                </a:solidFill>
                <a:latin typeface="Courier New" panose="02070309020205020404" pitchFamily="49" charset="0"/>
              </a:rPr>
              <a:t>empno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deptno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dname</a:t>
            </a:r>
            <a:br>
              <a:rPr lang="en-US" altLang="en-US" sz="2400" b="1" dirty="0">
                <a:solidFill>
                  <a:srgbClr val="000000"/>
                </a:solidFill>
                <a:latin typeface="Courier New" panose="02070309020205020404" pitchFamily="49" charset="0"/>
              </a:rPr>
            </a:br>
            <a:r>
              <a:rPr lang="en-US" altLang="en-US" sz="2400" b="1" dirty="0">
                <a:solidFill>
                  <a:srgbClr val="000000"/>
                </a:solidFill>
                <a:latin typeface="Courier New" panose="02070309020205020404" pitchFamily="49" charset="0"/>
              </a:rPr>
              <a:t>FROM   emp </a:t>
            </a:r>
            <a:r>
              <a:rPr lang="en-US" altLang="en-US" sz="2400" b="1" dirty="0">
                <a:solidFill>
                  <a:srgbClr val="0000CC"/>
                </a:solidFill>
                <a:latin typeface="Courier New" panose="02070309020205020404" pitchFamily="49" charset="0"/>
              </a:rPr>
              <a:t>NATURAL JOIN</a:t>
            </a:r>
            <a:r>
              <a:rPr lang="en-US" altLang="en-US" sz="2400" b="1" dirty="0">
                <a:solidFill>
                  <a:srgbClr val="000000"/>
                </a:solidFill>
                <a:latin typeface="Courier New" panose="02070309020205020404" pitchFamily="49" charset="0"/>
              </a:rPr>
              <a:t> dept</a:t>
            </a:r>
          </a:p>
        </p:txBody>
      </p:sp>
      <p:sp>
        <p:nvSpPr>
          <p:cNvPr id="17" name="Rectangle 2">
            <a:extLst>
              <a:ext uri="{FF2B5EF4-FFF2-40B4-BE49-F238E27FC236}">
                <a16:creationId xmlns:a16="http://schemas.microsoft.com/office/drawing/2014/main" id="{71BAAD60-CA77-5839-5DAC-5FCA06183BB2}"/>
              </a:ext>
            </a:extLst>
          </p:cNvPr>
          <p:cNvSpPr>
            <a:spLocks noChangeArrowheads="1"/>
          </p:cNvSpPr>
          <p:nvPr/>
        </p:nvSpPr>
        <p:spPr bwMode="blackWhite">
          <a:xfrm>
            <a:off x="677863" y="4979070"/>
            <a:ext cx="7289800" cy="93821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18" name="Rectangle 8">
            <a:extLst>
              <a:ext uri="{FF2B5EF4-FFF2-40B4-BE49-F238E27FC236}">
                <a16:creationId xmlns:a16="http://schemas.microsoft.com/office/drawing/2014/main" id="{EFFD8B08-BE2C-AB91-711A-75B35E0C89D3}"/>
              </a:ext>
            </a:extLst>
          </p:cNvPr>
          <p:cNvSpPr>
            <a:spLocks noChangeArrowheads="1"/>
          </p:cNvSpPr>
          <p:nvPr/>
        </p:nvSpPr>
        <p:spPr bwMode="blackWhite">
          <a:xfrm>
            <a:off x="684213" y="4953670"/>
            <a:ext cx="731520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400" b="1" dirty="0">
                <a:solidFill>
                  <a:srgbClr val="000000"/>
                </a:solidFill>
                <a:latin typeface="Courier New" panose="02070309020205020404" pitchFamily="49" charset="0"/>
              </a:rPr>
              <a:t>SELECT </a:t>
            </a:r>
            <a:r>
              <a:rPr lang="en-US" altLang="en-US" sz="2400" b="1" dirty="0" err="1">
                <a:solidFill>
                  <a:srgbClr val="000000"/>
                </a:solidFill>
                <a:latin typeface="Courier New" panose="02070309020205020404" pitchFamily="49" charset="0"/>
              </a:rPr>
              <a:t>e.empno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deptno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d.dname</a:t>
            </a:r>
            <a:br>
              <a:rPr lang="en-US" altLang="en-US" sz="2400" b="1" dirty="0">
                <a:solidFill>
                  <a:srgbClr val="000000"/>
                </a:solidFill>
                <a:latin typeface="Courier New" panose="02070309020205020404" pitchFamily="49" charset="0"/>
              </a:rPr>
            </a:br>
            <a:r>
              <a:rPr lang="en-US" altLang="en-US" sz="2400" b="1" dirty="0">
                <a:solidFill>
                  <a:srgbClr val="000000"/>
                </a:solidFill>
                <a:latin typeface="Courier New" panose="02070309020205020404" pitchFamily="49" charset="0"/>
              </a:rPr>
              <a:t>FROM   emp e </a:t>
            </a:r>
            <a:r>
              <a:rPr lang="en-US" altLang="en-US" sz="2400" b="1" dirty="0">
                <a:solidFill>
                  <a:srgbClr val="0000CC"/>
                </a:solidFill>
                <a:latin typeface="Courier New" panose="02070309020205020404" pitchFamily="49" charset="0"/>
              </a:rPr>
              <a:t>NATURAL JOIN</a:t>
            </a:r>
            <a:r>
              <a:rPr lang="en-US" altLang="en-US" sz="2400" b="1" dirty="0">
                <a:solidFill>
                  <a:srgbClr val="000000"/>
                </a:solidFill>
                <a:latin typeface="Courier New" panose="02070309020205020404" pitchFamily="49" charset="0"/>
              </a:rPr>
              <a:t> dept d</a:t>
            </a:r>
          </a:p>
        </p:txBody>
      </p:sp>
    </p:spTree>
    <p:extLst>
      <p:ext uri="{BB962C8B-B14F-4D97-AF65-F5344CB8AC3E}">
        <p14:creationId xmlns:p14="http://schemas.microsoft.com/office/powerpoint/2010/main" val="135633929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8B414-8B2A-A3C3-C637-A8BFD4A01690}"/>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768EB241-FE0C-73F9-DBC9-F5CEDA84294A}"/>
              </a:ext>
            </a:extLst>
          </p:cNvPr>
          <p:cNvSpPr>
            <a:spLocks noGrp="1" noChangeArrowheads="1"/>
          </p:cNvSpPr>
          <p:nvPr>
            <p:ph type="title"/>
          </p:nvPr>
        </p:nvSpPr>
        <p:spPr>
          <a:xfrm>
            <a:off x="425449" y="208384"/>
            <a:ext cx="7580313"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Ambiguous Column Names – </a:t>
            </a:r>
            <a:r>
              <a:rPr lang="en-US" altLang="en-US" sz="2800" b="1" u="sng" dirty="0">
                <a:solidFill>
                  <a:srgbClr val="0000CC"/>
                </a:solidFill>
                <a:latin typeface="Cambria" panose="02040503050406030204" pitchFamily="18" charset="0"/>
                <a:ea typeface="Cambria" panose="02040503050406030204" pitchFamily="18" charset="0"/>
              </a:rPr>
              <a:t>Using Clause </a:t>
            </a:r>
          </a:p>
        </p:txBody>
      </p:sp>
      <p:sp>
        <p:nvSpPr>
          <p:cNvPr id="38915" name="Rectangle 3">
            <a:extLst>
              <a:ext uri="{FF2B5EF4-FFF2-40B4-BE49-F238E27FC236}">
                <a16:creationId xmlns:a16="http://schemas.microsoft.com/office/drawing/2014/main" id="{9366B6C8-106C-8496-F6C1-9208D003103F}"/>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C46AA4C6-9D9D-559F-885A-99D3D6A2B6EC}"/>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5D48D5E9-65C3-CB72-826E-83004582CD4E}"/>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Rectangle 5">
            <a:extLst>
              <a:ext uri="{FF2B5EF4-FFF2-40B4-BE49-F238E27FC236}">
                <a16:creationId xmlns:a16="http://schemas.microsoft.com/office/drawing/2014/main" id="{9159F3B0-B05E-7A9C-E470-38F2753412C5}"/>
              </a:ext>
            </a:extLst>
          </p:cNvPr>
          <p:cNvSpPr>
            <a:spLocks noChangeArrowheads="1"/>
          </p:cNvSpPr>
          <p:nvPr/>
        </p:nvSpPr>
        <p:spPr bwMode="blackWhite">
          <a:xfrm>
            <a:off x="712788" y="2181895"/>
            <a:ext cx="7292975" cy="1346200"/>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682625" algn="l"/>
                <a:tab pos="1833563" algn="l"/>
              </a:tabLst>
              <a:defRPr sz="2800">
                <a:solidFill>
                  <a:schemeClr val="tx1"/>
                </a:solidFill>
                <a:latin typeface="Arial" panose="020B0604020202020204" pitchFamily="34" charset="0"/>
              </a:defRPr>
            </a:lvl1pPr>
            <a:lvl2pPr marL="742950" indent="-285750">
              <a:spcBef>
                <a:spcPct val="20000"/>
              </a:spcBef>
              <a:buChar char="–"/>
              <a:tabLst>
                <a:tab pos="682625" algn="l"/>
                <a:tab pos="1833563" algn="l"/>
              </a:tabLst>
              <a:defRPr sz="2400">
                <a:solidFill>
                  <a:schemeClr val="tx1"/>
                </a:solidFill>
                <a:latin typeface="Arial" panose="020B0604020202020204" pitchFamily="34" charset="0"/>
              </a:defRPr>
            </a:lvl2pPr>
            <a:lvl3pPr marL="1143000" indent="-228600">
              <a:spcBef>
                <a:spcPct val="20000"/>
              </a:spcBef>
              <a:buChar char="•"/>
              <a:tabLst>
                <a:tab pos="682625" algn="l"/>
                <a:tab pos="1833563" algn="l"/>
              </a:tabLst>
              <a:defRPr sz="2000">
                <a:solidFill>
                  <a:schemeClr val="tx1"/>
                </a:solidFill>
                <a:latin typeface="Arial" panose="020B0604020202020204" pitchFamily="34" charset="0"/>
              </a:defRPr>
            </a:lvl3pPr>
            <a:lvl4pPr marL="1600200" indent="-228600">
              <a:spcBef>
                <a:spcPct val="20000"/>
              </a:spcBef>
              <a:buChar char="–"/>
              <a:tabLst>
                <a:tab pos="682625" algn="l"/>
                <a:tab pos="1833563" algn="l"/>
              </a:tabLst>
              <a:defRPr sz="2000">
                <a:solidFill>
                  <a:schemeClr val="tx1"/>
                </a:solidFill>
                <a:latin typeface="Arial" panose="020B0604020202020204" pitchFamily="34" charset="0"/>
              </a:defRPr>
            </a:lvl4pPr>
            <a:lvl5pPr marL="2057400" indent="-228600">
              <a:spcBef>
                <a:spcPct val="20000"/>
              </a:spcBef>
              <a:buChar char="»"/>
              <a:tabLst>
                <a:tab pos="682625" algn="l"/>
                <a:tab pos="18335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682625" algn="l"/>
                <a:tab pos="1833563"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empno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emp.deptno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dname</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       *</a:t>
            </a:r>
          </a:p>
          <a:p>
            <a:pPr>
              <a:spcBef>
                <a:spcPct val="0"/>
              </a:spcBef>
              <a:buFontTx/>
              <a:buNone/>
            </a:pPr>
            <a:r>
              <a:rPr lang="en-US" altLang="en-US" sz="1800" b="1" dirty="0">
                <a:solidFill>
                  <a:srgbClr val="000000"/>
                </a:solidFill>
                <a:latin typeface="Courier New" panose="02070309020205020404" pitchFamily="49" charset="0"/>
              </a:rPr>
              <a:t>ERROR at line 1:</a:t>
            </a:r>
          </a:p>
          <a:p>
            <a:pPr>
              <a:spcBef>
                <a:spcPct val="0"/>
              </a:spcBef>
              <a:buFontTx/>
              <a:buNone/>
            </a:pPr>
            <a:r>
              <a:rPr lang="en-US" altLang="en-US" sz="1800" b="1" dirty="0">
                <a:solidFill>
                  <a:srgbClr val="000000"/>
                </a:solidFill>
                <a:latin typeface="Courier New" panose="02070309020205020404" pitchFamily="49" charset="0"/>
              </a:rPr>
              <a:t>ORA-25154: </a:t>
            </a:r>
            <a:r>
              <a:rPr lang="en-US" altLang="en-US" sz="1800" b="1" dirty="0">
                <a:solidFill>
                  <a:srgbClr val="FF0000"/>
                </a:solidFill>
                <a:latin typeface="Courier New" panose="02070309020205020404" pitchFamily="49" charset="0"/>
              </a:rPr>
              <a:t>column part of USING clause </a:t>
            </a:r>
          </a:p>
          <a:p>
            <a:pPr>
              <a:spcBef>
                <a:spcPct val="0"/>
              </a:spcBef>
              <a:buFontTx/>
              <a:buNone/>
            </a:pPr>
            <a:r>
              <a:rPr lang="en-US" altLang="en-US" sz="1800" b="1" dirty="0">
                <a:solidFill>
                  <a:srgbClr val="FF0000"/>
                </a:solidFill>
                <a:latin typeface="Courier New" panose="02070309020205020404" pitchFamily="49" charset="0"/>
              </a:rPr>
              <a:t>cannot have qualifier</a:t>
            </a:r>
          </a:p>
        </p:txBody>
      </p:sp>
      <p:sp>
        <p:nvSpPr>
          <p:cNvPr id="5" name="Rectangle 2">
            <a:extLst>
              <a:ext uri="{FF2B5EF4-FFF2-40B4-BE49-F238E27FC236}">
                <a16:creationId xmlns:a16="http://schemas.microsoft.com/office/drawing/2014/main" id="{BD3AA9B6-FEBB-DD93-FA02-ADF3F8F18643}"/>
              </a:ext>
            </a:extLst>
          </p:cNvPr>
          <p:cNvSpPr>
            <a:spLocks noChangeArrowheads="1"/>
          </p:cNvSpPr>
          <p:nvPr/>
        </p:nvSpPr>
        <p:spPr bwMode="blackWhite">
          <a:xfrm>
            <a:off x="684213" y="934120"/>
            <a:ext cx="7289800" cy="93662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6" name="Rectangle 8">
            <a:extLst>
              <a:ext uri="{FF2B5EF4-FFF2-40B4-BE49-F238E27FC236}">
                <a16:creationId xmlns:a16="http://schemas.microsoft.com/office/drawing/2014/main" id="{F1274009-AD57-4BFF-F16E-A61D2BD530CC}"/>
              </a:ext>
            </a:extLst>
          </p:cNvPr>
          <p:cNvSpPr>
            <a:spLocks noChangeArrowheads="1"/>
          </p:cNvSpPr>
          <p:nvPr/>
        </p:nvSpPr>
        <p:spPr bwMode="blackWhite">
          <a:xfrm>
            <a:off x="690563" y="908720"/>
            <a:ext cx="731520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400" b="1" dirty="0">
                <a:solidFill>
                  <a:srgbClr val="000000"/>
                </a:solidFill>
                <a:latin typeface="Courier New" panose="02070309020205020404" pitchFamily="49" charset="0"/>
              </a:rPr>
              <a:t>SELECT </a:t>
            </a:r>
            <a:r>
              <a:rPr lang="en-US" altLang="en-US" sz="2400" b="1" dirty="0" err="1">
                <a:solidFill>
                  <a:srgbClr val="000000"/>
                </a:solidFill>
                <a:latin typeface="Courier New" panose="02070309020205020404" pitchFamily="49" charset="0"/>
              </a:rPr>
              <a:t>empno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emp.deptno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dname</a:t>
            </a:r>
            <a:br>
              <a:rPr lang="en-US" altLang="en-US" sz="2400" b="1" dirty="0">
                <a:solidFill>
                  <a:srgbClr val="000000"/>
                </a:solidFill>
                <a:latin typeface="Courier New" panose="02070309020205020404" pitchFamily="49" charset="0"/>
              </a:rPr>
            </a:br>
            <a:r>
              <a:rPr lang="en-US" altLang="en-US" sz="2400" b="1" dirty="0">
                <a:solidFill>
                  <a:srgbClr val="000000"/>
                </a:solidFill>
                <a:latin typeface="Courier New" panose="02070309020205020404" pitchFamily="49" charset="0"/>
              </a:rPr>
              <a:t>FROM  	emp </a:t>
            </a:r>
            <a:r>
              <a:rPr lang="en-US" altLang="en-US" sz="2400" b="1" dirty="0">
                <a:solidFill>
                  <a:srgbClr val="0000CC"/>
                </a:solidFill>
                <a:latin typeface="Courier New" panose="02070309020205020404" pitchFamily="49" charset="0"/>
              </a:rPr>
              <a:t>JOIN</a:t>
            </a:r>
            <a:r>
              <a:rPr lang="en-US" altLang="en-US" sz="2400" b="1" dirty="0">
                <a:solidFill>
                  <a:srgbClr val="000000"/>
                </a:solidFill>
                <a:latin typeface="Courier New" panose="02070309020205020404" pitchFamily="49" charset="0"/>
              </a:rPr>
              <a:t> dept </a:t>
            </a:r>
            <a:r>
              <a:rPr lang="en-US" altLang="en-US" sz="2400" b="1" dirty="0">
                <a:solidFill>
                  <a:srgbClr val="0000CC"/>
                </a:solidFill>
                <a:latin typeface="Courier New" panose="02070309020205020404" pitchFamily="49" charset="0"/>
              </a:rPr>
              <a:t>USING</a:t>
            </a:r>
            <a:r>
              <a:rPr lang="en-US" altLang="en-US" sz="2400" b="1" dirty="0">
                <a:solidFill>
                  <a:srgbClr val="000000"/>
                </a:solidFill>
                <a:latin typeface="Courier New" panose="02070309020205020404" pitchFamily="49" charset="0"/>
              </a:rPr>
              <a:t>(</a:t>
            </a:r>
            <a:r>
              <a:rPr lang="en-US" altLang="en-US" sz="2400" b="1" dirty="0" err="1">
                <a:solidFill>
                  <a:srgbClr val="000000"/>
                </a:solidFill>
                <a:latin typeface="Courier New" panose="02070309020205020404" pitchFamily="49" charset="0"/>
              </a:rPr>
              <a:t>deptno</a:t>
            </a:r>
            <a:r>
              <a:rPr lang="en-US" altLang="en-US" sz="2400" b="1" dirty="0">
                <a:solidFill>
                  <a:srgbClr val="000000"/>
                </a:solidFill>
                <a:latin typeface="Courier New" panose="02070309020205020404" pitchFamily="49" charset="0"/>
              </a:rPr>
              <a:t>)</a:t>
            </a:r>
          </a:p>
        </p:txBody>
      </p:sp>
      <p:sp>
        <p:nvSpPr>
          <p:cNvPr id="7" name="Rectangle 2">
            <a:extLst>
              <a:ext uri="{FF2B5EF4-FFF2-40B4-BE49-F238E27FC236}">
                <a16:creationId xmlns:a16="http://schemas.microsoft.com/office/drawing/2014/main" id="{220CAE5D-5AB2-46A5-B38D-1BE905C4CA66}"/>
              </a:ext>
            </a:extLst>
          </p:cNvPr>
          <p:cNvSpPr>
            <a:spLocks noChangeArrowheads="1"/>
          </p:cNvSpPr>
          <p:nvPr/>
        </p:nvSpPr>
        <p:spPr bwMode="blackWhite">
          <a:xfrm>
            <a:off x="677863" y="3764633"/>
            <a:ext cx="7289800" cy="93821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8" name="Rectangle 8">
            <a:extLst>
              <a:ext uri="{FF2B5EF4-FFF2-40B4-BE49-F238E27FC236}">
                <a16:creationId xmlns:a16="http://schemas.microsoft.com/office/drawing/2014/main" id="{164BE1F9-01C8-4DFB-CE60-3524DA2BC477}"/>
              </a:ext>
            </a:extLst>
          </p:cNvPr>
          <p:cNvSpPr>
            <a:spLocks noChangeArrowheads="1"/>
          </p:cNvSpPr>
          <p:nvPr/>
        </p:nvSpPr>
        <p:spPr bwMode="blackWhite">
          <a:xfrm>
            <a:off x="684213" y="3739233"/>
            <a:ext cx="731520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400" b="1" dirty="0">
                <a:solidFill>
                  <a:srgbClr val="000000"/>
                </a:solidFill>
                <a:latin typeface="Courier New" panose="02070309020205020404" pitchFamily="49" charset="0"/>
              </a:rPr>
              <a:t>SELECT </a:t>
            </a:r>
            <a:r>
              <a:rPr lang="en-US" altLang="en-US" sz="2400" b="1" dirty="0" err="1">
                <a:solidFill>
                  <a:srgbClr val="000000"/>
                </a:solidFill>
                <a:latin typeface="Courier New" panose="02070309020205020404" pitchFamily="49" charset="0"/>
              </a:rPr>
              <a:t>empno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deptno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dname</a:t>
            </a:r>
            <a:br>
              <a:rPr lang="en-US" altLang="en-US" sz="2400" b="1" dirty="0">
                <a:solidFill>
                  <a:srgbClr val="000000"/>
                </a:solidFill>
                <a:latin typeface="Courier New" panose="02070309020205020404" pitchFamily="49" charset="0"/>
              </a:rPr>
            </a:br>
            <a:r>
              <a:rPr lang="en-US" altLang="en-US" sz="2400" b="1" dirty="0">
                <a:solidFill>
                  <a:srgbClr val="000000"/>
                </a:solidFill>
                <a:latin typeface="Courier New" panose="02070309020205020404" pitchFamily="49" charset="0"/>
              </a:rPr>
              <a:t>FROM   emp </a:t>
            </a:r>
            <a:r>
              <a:rPr lang="en-US" altLang="en-US" sz="2400" b="1" dirty="0">
                <a:solidFill>
                  <a:srgbClr val="0000CC"/>
                </a:solidFill>
                <a:latin typeface="Courier New" panose="02070309020205020404" pitchFamily="49" charset="0"/>
              </a:rPr>
              <a:t>JOIN</a:t>
            </a:r>
            <a:r>
              <a:rPr lang="en-US" altLang="en-US" sz="2400" b="1" dirty="0">
                <a:solidFill>
                  <a:srgbClr val="000000"/>
                </a:solidFill>
                <a:latin typeface="Courier New" panose="02070309020205020404" pitchFamily="49" charset="0"/>
              </a:rPr>
              <a:t> dept </a:t>
            </a:r>
            <a:r>
              <a:rPr lang="en-US" altLang="en-US" sz="2400" b="1" dirty="0">
                <a:solidFill>
                  <a:srgbClr val="0000CC"/>
                </a:solidFill>
                <a:latin typeface="Courier New" panose="02070309020205020404" pitchFamily="49" charset="0"/>
              </a:rPr>
              <a:t>USING</a:t>
            </a:r>
            <a:r>
              <a:rPr lang="en-US" altLang="en-US" sz="2400" b="1" dirty="0">
                <a:solidFill>
                  <a:srgbClr val="000000"/>
                </a:solidFill>
                <a:latin typeface="Courier New" panose="02070309020205020404" pitchFamily="49" charset="0"/>
              </a:rPr>
              <a:t>(</a:t>
            </a:r>
            <a:r>
              <a:rPr lang="en-US" altLang="en-US" sz="2400" b="1" dirty="0" err="1">
                <a:solidFill>
                  <a:srgbClr val="000000"/>
                </a:solidFill>
                <a:latin typeface="Courier New" panose="02070309020205020404" pitchFamily="49" charset="0"/>
              </a:rPr>
              <a:t>deptno</a:t>
            </a:r>
            <a:r>
              <a:rPr lang="en-US" altLang="en-US" sz="2400" b="1" dirty="0">
                <a:solidFill>
                  <a:srgbClr val="000000"/>
                </a:solidFill>
                <a:latin typeface="Courier New" panose="02070309020205020404" pitchFamily="49" charset="0"/>
              </a:rPr>
              <a:t>)</a:t>
            </a:r>
          </a:p>
        </p:txBody>
      </p:sp>
      <p:sp>
        <p:nvSpPr>
          <p:cNvPr id="11" name="Rectangle 2">
            <a:extLst>
              <a:ext uri="{FF2B5EF4-FFF2-40B4-BE49-F238E27FC236}">
                <a16:creationId xmlns:a16="http://schemas.microsoft.com/office/drawing/2014/main" id="{A9F16B13-B51C-0DE6-0B9A-583759888213}"/>
              </a:ext>
            </a:extLst>
          </p:cNvPr>
          <p:cNvSpPr>
            <a:spLocks noChangeArrowheads="1"/>
          </p:cNvSpPr>
          <p:nvPr/>
        </p:nvSpPr>
        <p:spPr bwMode="blackWhite">
          <a:xfrm>
            <a:off x="677863" y="4979070"/>
            <a:ext cx="7289800" cy="938213"/>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12" name="Rectangle 8">
            <a:extLst>
              <a:ext uri="{FF2B5EF4-FFF2-40B4-BE49-F238E27FC236}">
                <a16:creationId xmlns:a16="http://schemas.microsoft.com/office/drawing/2014/main" id="{C59A4A6A-C78F-CFBE-2F70-1EF6813EAAAA}"/>
              </a:ext>
            </a:extLst>
          </p:cNvPr>
          <p:cNvSpPr>
            <a:spLocks noChangeArrowheads="1"/>
          </p:cNvSpPr>
          <p:nvPr/>
        </p:nvSpPr>
        <p:spPr bwMode="blackWhite">
          <a:xfrm>
            <a:off x="684213" y="4953670"/>
            <a:ext cx="731520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400" b="1" dirty="0">
                <a:solidFill>
                  <a:srgbClr val="000000"/>
                </a:solidFill>
                <a:latin typeface="Courier New" panose="02070309020205020404" pitchFamily="49" charset="0"/>
              </a:rPr>
              <a:t>SELECT </a:t>
            </a:r>
            <a:r>
              <a:rPr lang="en-US" altLang="en-US" sz="2400" b="1" dirty="0" err="1">
                <a:solidFill>
                  <a:srgbClr val="000000"/>
                </a:solidFill>
                <a:latin typeface="Courier New" panose="02070309020205020404" pitchFamily="49" charset="0"/>
              </a:rPr>
              <a:t>e.empno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deptno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d.dname</a:t>
            </a:r>
            <a:br>
              <a:rPr lang="en-US" altLang="en-US" sz="2400" b="1" dirty="0">
                <a:solidFill>
                  <a:srgbClr val="000000"/>
                </a:solidFill>
                <a:latin typeface="Courier New" panose="02070309020205020404" pitchFamily="49" charset="0"/>
              </a:rPr>
            </a:br>
            <a:r>
              <a:rPr lang="en-US" altLang="en-US" sz="2400" b="1" dirty="0">
                <a:solidFill>
                  <a:srgbClr val="000000"/>
                </a:solidFill>
                <a:latin typeface="Courier New" panose="02070309020205020404" pitchFamily="49" charset="0"/>
              </a:rPr>
              <a:t>FROM   emp e </a:t>
            </a:r>
            <a:r>
              <a:rPr lang="en-US" altLang="en-US" sz="2400" b="1" dirty="0">
                <a:solidFill>
                  <a:srgbClr val="0000CC"/>
                </a:solidFill>
                <a:latin typeface="Courier New" panose="02070309020205020404" pitchFamily="49" charset="0"/>
              </a:rPr>
              <a:t>JOIN</a:t>
            </a:r>
            <a:r>
              <a:rPr lang="en-US" altLang="en-US" sz="2400" b="1" dirty="0">
                <a:solidFill>
                  <a:srgbClr val="000000"/>
                </a:solidFill>
                <a:latin typeface="Courier New" panose="02070309020205020404" pitchFamily="49" charset="0"/>
              </a:rPr>
              <a:t> dept d </a:t>
            </a:r>
            <a:r>
              <a:rPr lang="en-US" altLang="en-US" sz="2400" b="1" dirty="0">
                <a:solidFill>
                  <a:srgbClr val="0000CC"/>
                </a:solidFill>
                <a:latin typeface="Courier New" panose="02070309020205020404" pitchFamily="49" charset="0"/>
              </a:rPr>
              <a:t>USING</a:t>
            </a:r>
            <a:r>
              <a:rPr lang="en-US" altLang="en-US" sz="2400" b="1" dirty="0">
                <a:solidFill>
                  <a:srgbClr val="000000"/>
                </a:solidFill>
                <a:latin typeface="Courier New" panose="02070309020205020404" pitchFamily="49" charset="0"/>
              </a:rPr>
              <a:t>(</a:t>
            </a:r>
            <a:r>
              <a:rPr lang="en-US" altLang="en-US" sz="2400" b="1" dirty="0" err="1">
                <a:solidFill>
                  <a:srgbClr val="000000"/>
                </a:solidFill>
                <a:latin typeface="Courier New" panose="02070309020205020404" pitchFamily="49" charset="0"/>
              </a:rPr>
              <a:t>deptno</a:t>
            </a:r>
            <a:r>
              <a:rPr lang="en-US" altLang="en-US" sz="2400" b="1" dirty="0">
                <a:solidFill>
                  <a:srgbClr val="000000"/>
                </a:solidFill>
                <a:latin typeface="Courier New" panose="02070309020205020404" pitchFamily="49" charset="0"/>
              </a:rPr>
              <a:t>)</a:t>
            </a:r>
          </a:p>
        </p:txBody>
      </p:sp>
    </p:spTree>
    <p:extLst>
      <p:ext uri="{BB962C8B-B14F-4D97-AF65-F5344CB8AC3E}">
        <p14:creationId xmlns:p14="http://schemas.microsoft.com/office/powerpoint/2010/main" val="356261083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DE797-920E-7D91-8159-3A5FA2CDDF34}"/>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2082E42C-78EB-1187-AC3E-67F9D48A57B1}"/>
              </a:ext>
            </a:extLst>
          </p:cNvPr>
          <p:cNvSpPr>
            <a:spLocks noGrp="1" noChangeArrowheads="1"/>
          </p:cNvSpPr>
          <p:nvPr>
            <p:ph type="title"/>
          </p:nvPr>
        </p:nvSpPr>
        <p:spPr>
          <a:xfrm>
            <a:off x="425449" y="208384"/>
            <a:ext cx="7580313"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Additional Conditions with Joins</a:t>
            </a:r>
            <a:endParaRPr lang="en-US" altLang="en-US" sz="2800" b="1" u="sng" dirty="0">
              <a:solidFill>
                <a:srgbClr val="0000CC"/>
              </a:solidFill>
              <a:latin typeface="Cambria" panose="02040503050406030204" pitchFamily="18" charset="0"/>
              <a:ea typeface="Cambria" panose="02040503050406030204" pitchFamily="18" charset="0"/>
            </a:endParaRPr>
          </a:p>
        </p:txBody>
      </p:sp>
      <p:sp>
        <p:nvSpPr>
          <p:cNvPr id="38915" name="Rectangle 3">
            <a:extLst>
              <a:ext uri="{FF2B5EF4-FFF2-40B4-BE49-F238E27FC236}">
                <a16:creationId xmlns:a16="http://schemas.microsoft.com/office/drawing/2014/main" id="{7C5C657E-2002-BF6A-D648-7CF80EAD06F2}"/>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08249EAF-7797-14E8-F168-9A17DA49B490}"/>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66CE89A3-77ED-D137-DCFB-D9D23A272EF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Rectangle 2">
            <a:extLst>
              <a:ext uri="{FF2B5EF4-FFF2-40B4-BE49-F238E27FC236}">
                <a16:creationId xmlns:a16="http://schemas.microsoft.com/office/drawing/2014/main" id="{BE713A06-CD1F-8189-6FB4-1A18E3C5D84E}"/>
              </a:ext>
            </a:extLst>
          </p:cNvPr>
          <p:cNvSpPr>
            <a:spLocks noChangeArrowheads="1"/>
          </p:cNvSpPr>
          <p:nvPr/>
        </p:nvSpPr>
        <p:spPr bwMode="blackWhite">
          <a:xfrm>
            <a:off x="684213" y="764704"/>
            <a:ext cx="7289800" cy="1392088"/>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6" name="Rectangle 8">
            <a:extLst>
              <a:ext uri="{FF2B5EF4-FFF2-40B4-BE49-F238E27FC236}">
                <a16:creationId xmlns:a16="http://schemas.microsoft.com/office/drawing/2014/main" id="{2788A316-F15D-8683-0EDC-B99512D76651}"/>
              </a:ext>
            </a:extLst>
          </p:cNvPr>
          <p:cNvSpPr>
            <a:spLocks noChangeArrowheads="1"/>
          </p:cNvSpPr>
          <p:nvPr/>
        </p:nvSpPr>
        <p:spPr bwMode="blackWhite">
          <a:xfrm>
            <a:off x="690563" y="908720"/>
            <a:ext cx="731520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400" b="1" dirty="0">
                <a:solidFill>
                  <a:srgbClr val="000000"/>
                </a:solidFill>
                <a:latin typeface="Courier New" panose="02070309020205020404" pitchFamily="49" charset="0"/>
              </a:rPr>
              <a:t>SELECT </a:t>
            </a:r>
            <a:r>
              <a:rPr lang="en-US" altLang="en-US" sz="2400" b="1" dirty="0" err="1">
                <a:solidFill>
                  <a:srgbClr val="000000"/>
                </a:solidFill>
                <a:latin typeface="Courier New" panose="02070309020205020404" pitchFamily="49" charset="0"/>
              </a:rPr>
              <a:t>empno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ename</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deptno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dname</a:t>
            </a:r>
            <a:br>
              <a:rPr lang="en-US" altLang="en-US" sz="2400" b="1" dirty="0">
                <a:solidFill>
                  <a:srgbClr val="000000"/>
                </a:solidFill>
                <a:latin typeface="Courier New" panose="02070309020205020404" pitchFamily="49" charset="0"/>
              </a:rPr>
            </a:br>
            <a:r>
              <a:rPr lang="en-US" altLang="en-US" sz="2400" b="1" dirty="0">
                <a:solidFill>
                  <a:srgbClr val="000000"/>
                </a:solidFill>
                <a:latin typeface="Courier New" panose="02070309020205020404" pitchFamily="49" charset="0"/>
              </a:rPr>
              <a:t>FROM  	emp </a:t>
            </a:r>
            <a:r>
              <a:rPr lang="en-US" altLang="en-US" sz="2400" b="1" dirty="0">
                <a:solidFill>
                  <a:srgbClr val="0000CC"/>
                </a:solidFill>
                <a:latin typeface="Courier New" panose="02070309020205020404" pitchFamily="49" charset="0"/>
              </a:rPr>
              <a:t>JOIN</a:t>
            </a:r>
            <a:r>
              <a:rPr lang="en-US" altLang="en-US" sz="2400" b="1" dirty="0">
                <a:solidFill>
                  <a:srgbClr val="000000"/>
                </a:solidFill>
                <a:latin typeface="Courier New" panose="02070309020205020404" pitchFamily="49" charset="0"/>
              </a:rPr>
              <a:t> dept </a:t>
            </a:r>
            <a:r>
              <a:rPr lang="en-US" altLang="en-US" sz="2400" b="1" dirty="0">
                <a:solidFill>
                  <a:srgbClr val="0000CC"/>
                </a:solidFill>
                <a:latin typeface="Courier New" panose="02070309020205020404" pitchFamily="49" charset="0"/>
              </a:rPr>
              <a:t>USING</a:t>
            </a:r>
            <a:r>
              <a:rPr lang="en-US" altLang="en-US" sz="2400" b="1" dirty="0">
                <a:solidFill>
                  <a:srgbClr val="000000"/>
                </a:solidFill>
                <a:latin typeface="Courier New" panose="02070309020205020404" pitchFamily="49" charset="0"/>
              </a:rPr>
              <a:t>(</a:t>
            </a:r>
            <a:r>
              <a:rPr lang="en-US" altLang="en-US" sz="2400" b="1" dirty="0" err="1">
                <a:solidFill>
                  <a:srgbClr val="000000"/>
                </a:solidFill>
                <a:latin typeface="Courier New" panose="02070309020205020404" pitchFamily="49" charset="0"/>
              </a:rPr>
              <a:t>deptno</a:t>
            </a:r>
            <a:r>
              <a:rPr lang="en-US" altLang="en-US" sz="2400" b="1" dirty="0">
                <a:solidFill>
                  <a:srgbClr val="000000"/>
                </a:solidFill>
                <a:latin typeface="Courier New" panose="02070309020205020404" pitchFamily="49" charset="0"/>
              </a:rPr>
              <a:t>)</a:t>
            </a:r>
          </a:p>
          <a:p>
            <a:pPr>
              <a:spcBef>
                <a:spcPct val="0"/>
              </a:spcBef>
              <a:buFontTx/>
              <a:buNone/>
            </a:pPr>
            <a:r>
              <a:rPr lang="en-US" altLang="en-US" sz="2400" b="1" dirty="0">
                <a:solidFill>
                  <a:srgbClr val="000000"/>
                </a:solidFill>
                <a:latin typeface="Courier New" panose="02070309020205020404" pitchFamily="49" charset="0"/>
              </a:rPr>
              <a:t>WHERE  </a:t>
            </a:r>
            <a:r>
              <a:rPr lang="en-US" altLang="en-US" sz="2400" b="1" dirty="0" err="1">
                <a:solidFill>
                  <a:srgbClr val="000000"/>
                </a:solidFill>
                <a:latin typeface="Courier New" panose="02070309020205020404" pitchFamily="49" charset="0"/>
              </a:rPr>
              <a:t>dept.dname</a:t>
            </a:r>
            <a:r>
              <a:rPr lang="en-US" altLang="en-US" sz="2400" b="1" dirty="0">
                <a:solidFill>
                  <a:srgbClr val="000000"/>
                </a:solidFill>
                <a:latin typeface="Courier New" panose="02070309020205020404" pitchFamily="49" charset="0"/>
              </a:rPr>
              <a:t> like 'SALES';</a:t>
            </a:r>
          </a:p>
        </p:txBody>
      </p:sp>
      <p:sp>
        <p:nvSpPr>
          <p:cNvPr id="9" name="Rectangle 2">
            <a:extLst>
              <a:ext uri="{FF2B5EF4-FFF2-40B4-BE49-F238E27FC236}">
                <a16:creationId xmlns:a16="http://schemas.microsoft.com/office/drawing/2014/main" id="{32EBAE44-D332-1899-EC48-87629D097AD7}"/>
              </a:ext>
            </a:extLst>
          </p:cNvPr>
          <p:cNvSpPr>
            <a:spLocks noChangeArrowheads="1"/>
          </p:cNvSpPr>
          <p:nvPr/>
        </p:nvSpPr>
        <p:spPr bwMode="blackWhite">
          <a:xfrm>
            <a:off x="684213" y="2461540"/>
            <a:ext cx="7289800" cy="1687539"/>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 </a:t>
            </a:r>
          </a:p>
        </p:txBody>
      </p:sp>
      <p:sp>
        <p:nvSpPr>
          <p:cNvPr id="10" name="Rectangle 8">
            <a:extLst>
              <a:ext uri="{FF2B5EF4-FFF2-40B4-BE49-F238E27FC236}">
                <a16:creationId xmlns:a16="http://schemas.microsoft.com/office/drawing/2014/main" id="{5D4D8B7A-89FD-0AC8-A7A4-61504C95522A}"/>
              </a:ext>
            </a:extLst>
          </p:cNvPr>
          <p:cNvSpPr>
            <a:spLocks noChangeArrowheads="1"/>
          </p:cNvSpPr>
          <p:nvPr/>
        </p:nvSpPr>
        <p:spPr bwMode="blackWhite">
          <a:xfrm>
            <a:off x="690563" y="2753990"/>
            <a:ext cx="7315200"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2400" b="1" dirty="0">
                <a:solidFill>
                  <a:srgbClr val="000000"/>
                </a:solidFill>
                <a:latin typeface="Courier New" panose="02070309020205020404" pitchFamily="49" charset="0"/>
              </a:rPr>
              <a:t>SELECT </a:t>
            </a:r>
            <a:r>
              <a:rPr lang="en-US" altLang="en-US" sz="2400" b="1" dirty="0" err="1">
                <a:solidFill>
                  <a:srgbClr val="000000"/>
                </a:solidFill>
                <a:latin typeface="Courier New" panose="02070309020205020404" pitchFamily="49" charset="0"/>
              </a:rPr>
              <a:t>empno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ename</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deptno</a:t>
            </a: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dname</a:t>
            </a:r>
            <a:br>
              <a:rPr lang="en-US" altLang="en-US" sz="2400" b="1" dirty="0">
                <a:solidFill>
                  <a:srgbClr val="000000"/>
                </a:solidFill>
                <a:latin typeface="Courier New" panose="02070309020205020404" pitchFamily="49" charset="0"/>
              </a:rPr>
            </a:br>
            <a:r>
              <a:rPr lang="en-US" altLang="en-US" sz="2400" b="1" dirty="0">
                <a:solidFill>
                  <a:srgbClr val="000000"/>
                </a:solidFill>
                <a:latin typeface="Courier New" panose="02070309020205020404" pitchFamily="49" charset="0"/>
              </a:rPr>
              <a:t>FROM  	emp </a:t>
            </a:r>
            <a:r>
              <a:rPr lang="en-US" altLang="en-US" sz="2400" b="1" dirty="0">
                <a:solidFill>
                  <a:srgbClr val="0000CC"/>
                </a:solidFill>
                <a:latin typeface="Courier New" panose="02070309020205020404" pitchFamily="49" charset="0"/>
              </a:rPr>
              <a:t>JOIN</a:t>
            </a:r>
            <a:r>
              <a:rPr lang="en-US" altLang="en-US" sz="2400" b="1" dirty="0">
                <a:solidFill>
                  <a:srgbClr val="000000"/>
                </a:solidFill>
                <a:latin typeface="Courier New" panose="02070309020205020404" pitchFamily="49" charset="0"/>
              </a:rPr>
              <a:t> dept </a:t>
            </a:r>
            <a:r>
              <a:rPr lang="en-US" altLang="en-US" sz="2400" b="1" dirty="0">
                <a:solidFill>
                  <a:srgbClr val="0000CC"/>
                </a:solidFill>
                <a:latin typeface="Courier New" panose="02070309020205020404" pitchFamily="49" charset="0"/>
              </a:rPr>
              <a:t>USING</a:t>
            </a:r>
            <a:r>
              <a:rPr lang="en-US" altLang="en-US" sz="2400" b="1" dirty="0">
                <a:solidFill>
                  <a:srgbClr val="000000"/>
                </a:solidFill>
                <a:latin typeface="Courier New" panose="02070309020205020404" pitchFamily="49" charset="0"/>
              </a:rPr>
              <a:t>(</a:t>
            </a:r>
            <a:r>
              <a:rPr lang="en-US" altLang="en-US" sz="2400" b="1" dirty="0" err="1">
                <a:solidFill>
                  <a:srgbClr val="000000"/>
                </a:solidFill>
                <a:latin typeface="Courier New" panose="02070309020205020404" pitchFamily="49" charset="0"/>
              </a:rPr>
              <a:t>deptno</a:t>
            </a:r>
            <a:r>
              <a:rPr lang="en-US" altLang="en-US" sz="2400" b="1" dirty="0">
                <a:solidFill>
                  <a:srgbClr val="000000"/>
                </a:solidFill>
                <a:latin typeface="Courier New" panose="02070309020205020404" pitchFamily="49" charset="0"/>
              </a:rPr>
              <a:t>)</a:t>
            </a:r>
          </a:p>
          <a:p>
            <a:pPr>
              <a:spcBef>
                <a:spcPct val="0"/>
              </a:spcBef>
              <a:buFontTx/>
              <a:buNone/>
            </a:pPr>
            <a:r>
              <a:rPr lang="en-US" altLang="en-US" sz="2400" b="1" dirty="0">
                <a:solidFill>
                  <a:srgbClr val="000000"/>
                </a:solidFill>
                <a:latin typeface="Courier New" panose="02070309020205020404" pitchFamily="49" charset="0"/>
              </a:rPr>
              <a:t>WHERE  job like 'MANAGER'</a:t>
            </a:r>
          </a:p>
          <a:p>
            <a:pPr>
              <a:spcBef>
                <a:spcPct val="0"/>
              </a:spcBef>
              <a:buFontTx/>
              <a:buNone/>
            </a:pPr>
            <a:r>
              <a:rPr lang="en-US" altLang="en-US" sz="2400" b="1" dirty="0">
                <a:solidFill>
                  <a:srgbClr val="000000"/>
                </a:solidFill>
                <a:latin typeface="Courier New" panose="02070309020205020404" pitchFamily="49" charset="0"/>
              </a:rPr>
              <a:t>AND </a:t>
            </a:r>
            <a:r>
              <a:rPr lang="en-US" altLang="en-US" sz="2400" b="1" dirty="0" err="1">
                <a:solidFill>
                  <a:srgbClr val="000000"/>
                </a:solidFill>
                <a:latin typeface="Courier New" panose="02070309020205020404" pitchFamily="49" charset="0"/>
              </a:rPr>
              <a:t>sal</a:t>
            </a:r>
            <a:r>
              <a:rPr lang="en-US" altLang="en-US" sz="2400" b="1" dirty="0">
                <a:solidFill>
                  <a:srgbClr val="000000"/>
                </a:solidFill>
                <a:latin typeface="Courier New" panose="02070309020205020404" pitchFamily="49" charset="0"/>
              </a:rPr>
              <a:t> BETWEEN 2000 AND 3000;</a:t>
            </a:r>
          </a:p>
        </p:txBody>
      </p:sp>
    </p:spTree>
    <p:extLst>
      <p:ext uri="{BB962C8B-B14F-4D97-AF65-F5344CB8AC3E}">
        <p14:creationId xmlns:p14="http://schemas.microsoft.com/office/powerpoint/2010/main" val="247705890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AF8E5-7DBC-7A74-64E3-126EC066E872}"/>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6AA6D76F-C0CB-B00D-E303-789FFA4F11DD}"/>
              </a:ext>
            </a:extLst>
          </p:cNvPr>
          <p:cNvSpPr>
            <a:spLocks noGrp="1" noChangeArrowheads="1"/>
          </p:cNvSpPr>
          <p:nvPr>
            <p:ph type="title"/>
          </p:nvPr>
        </p:nvSpPr>
        <p:spPr>
          <a:xfrm>
            <a:off x="4254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4. Outer Join</a:t>
            </a:r>
          </a:p>
        </p:txBody>
      </p:sp>
      <p:sp>
        <p:nvSpPr>
          <p:cNvPr id="38915" name="Rectangle 3">
            <a:extLst>
              <a:ext uri="{FF2B5EF4-FFF2-40B4-BE49-F238E27FC236}">
                <a16:creationId xmlns:a16="http://schemas.microsoft.com/office/drawing/2014/main" id="{7DD5B32D-02BA-2CD8-E4BF-F91FA2214077}"/>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F87B79FA-D22E-DEC5-7C24-4732A3247D94}"/>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846C6D33-F072-1D4F-FF0F-3577C552C41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Rectangle 2">
            <a:extLst>
              <a:ext uri="{FF2B5EF4-FFF2-40B4-BE49-F238E27FC236}">
                <a16:creationId xmlns:a16="http://schemas.microsoft.com/office/drawing/2014/main" id="{B8FE3552-297E-F2CB-F2DF-61DE67B945D1}"/>
              </a:ext>
            </a:extLst>
          </p:cNvPr>
          <p:cNvSpPr>
            <a:spLocks noChangeArrowheads="1"/>
          </p:cNvSpPr>
          <p:nvPr/>
        </p:nvSpPr>
        <p:spPr bwMode="blackWhite">
          <a:xfrm>
            <a:off x="2012652" y="1845791"/>
            <a:ext cx="1955800" cy="22002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6" name="Rectangle 3">
            <a:extLst>
              <a:ext uri="{FF2B5EF4-FFF2-40B4-BE49-F238E27FC236}">
                <a16:creationId xmlns:a16="http://schemas.microsoft.com/office/drawing/2014/main" id="{5F487EAB-ABD9-9F5F-175E-3871761ACA64}"/>
              </a:ext>
            </a:extLst>
          </p:cNvPr>
          <p:cNvSpPr>
            <a:spLocks noChangeArrowheads="1"/>
          </p:cNvSpPr>
          <p:nvPr/>
        </p:nvSpPr>
        <p:spPr bwMode="blackWhite">
          <a:xfrm>
            <a:off x="4525665" y="1839441"/>
            <a:ext cx="2586037" cy="22002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7" name="Rectangle 5">
            <a:extLst>
              <a:ext uri="{FF2B5EF4-FFF2-40B4-BE49-F238E27FC236}">
                <a16:creationId xmlns:a16="http://schemas.microsoft.com/office/drawing/2014/main" id="{D9DD4D4B-C749-192B-5943-ADB370299415}"/>
              </a:ext>
            </a:extLst>
          </p:cNvPr>
          <p:cNvSpPr>
            <a:spLocks noChangeArrowheads="1"/>
          </p:cNvSpPr>
          <p:nvPr/>
        </p:nvSpPr>
        <p:spPr bwMode="auto">
          <a:xfrm>
            <a:off x="1911052" y="1469554"/>
            <a:ext cx="763029" cy="400752"/>
          </a:xfrm>
          <a:prstGeom prst="rect">
            <a:avLst/>
          </a:prstGeom>
          <a:noFill/>
          <a:ln w="9525">
            <a:noFill/>
            <a:miter lim="800000"/>
            <a:headEnd/>
            <a:tailEnd/>
          </a:ln>
          <a:effectLst/>
        </p:spPr>
        <p:txBody>
          <a:bodyPr wrap="none" lIns="92075" tIns="46038" rIns="92075" bIns="46038">
            <a:spAutoFit/>
          </a:bodyPr>
          <a:lstStyle/>
          <a:p>
            <a:pPr>
              <a:defRPr/>
            </a:pPr>
            <a:r>
              <a:rPr lang="en-US" sz="2000" b="1" dirty="0">
                <a:solidFill>
                  <a:srgbClr val="0000CC"/>
                </a:solidFill>
                <a:effectLst>
                  <a:outerShdw blurRad="38100" dist="38100" dir="2700000" algn="tl">
                    <a:srgbClr val="FFFFFF"/>
                  </a:outerShdw>
                </a:effectLst>
                <a:latin typeface="Cambria" panose="02040503050406030204" pitchFamily="18" charset="0"/>
                <a:ea typeface="Cambria" panose="02040503050406030204" pitchFamily="18" charset="0"/>
              </a:rPr>
              <a:t>EMP </a:t>
            </a:r>
          </a:p>
        </p:txBody>
      </p:sp>
      <p:sp>
        <p:nvSpPr>
          <p:cNvPr id="8" name="Rectangle 6">
            <a:extLst>
              <a:ext uri="{FF2B5EF4-FFF2-40B4-BE49-F238E27FC236}">
                <a16:creationId xmlns:a16="http://schemas.microsoft.com/office/drawing/2014/main" id="{9A37E38D-1855-7264-63EE-6877F8D84E28}"/>
              </a:ext>
            </a:extLst>
          </p:cNvPr>
          <p:cNvSpPr>
            <a:spLocks noChangeArrowheads="1"/>
          </p:cNvSpPr>
          <p:nvPr/>
        </p:nvSpPr>
        <p:spPr bwMode="auto">
          <a:xfrm>
            <a:off x="4425652" y="1474316"/>
            <a:ext cx="931863" cy="400752"/>
          </a:xfrm>
          <a:prstGeom prst="rect">
            <a:avLst/>
          </a:prstGeom>
          <a:noFill/>
          <a:ln w="9525">
            <a:noFill/>
            <a:miter lim="800000"/>
            <a:headEnd/>
            <a:tailEnd/>
          </a:ln>
          <a:effectLst/>
        </p:spPr>
        <p:txBody>
          <a:bodyPr lIns="92075" tIns="46038" rIns="92075" bIns="46038">
            <a:spAutoFit/>
          </a:bodyPr>
          <a:lstStyle/>
          <a:p>
            <a:pPr>
              <a:defRPr/>
            </a:pPr>
            <a:r>
              <a:rPr lang="en-US" sz="2000" b="1">
                <a:solidFill>
                  <a:srgbClr val="0000CC"/>
                </a:solidFill>
                <a:effectLst>
                  <a:outerShdw blurRad="38100" dist="38100" dir="2700000" algn="tl">
                    <a:srgbClr val="FFFFFF"/>
                  </a:outerShdw>
                </a:effectLst>
                <a:latin typeface="Cambria" panose="02040503050406030204" pitchFamily="18" charset="0"/>
                <a:ea typeface="Cambria" panose="02040503050406030204" pitchFamily="18" charset="0"/>
              </a:rPr>
              <a:t>DEPT </a:t>
            </a:r>
          </a:p>
        </p:txBody>
      </p:sp>
      <p:sp>
        <p:nvSpPr>
          <p:cNvPr id="9" name="Rectangle 7">
            <a:extLst>
              <a:ext uri="{FF2B5EF4-FFF2-40B4-BE49-F238E27FC236}">
                <a16:creationId xmlns:a16="http://schemas.microsoft.com/office/drawing/2014/main" id="{22BA59D7-BE9A-AB01-B434-458DA3050225}"/>
              </a:ext>
            </a:extLst>
          </p:cNvPr>
          <p:cNvSpPr>
            <a:spLocks noChangeArrowheads="1"/>
          </p:cNvSpPr>
          <p:nvPr/>
        </p:nvSpPr>
        <p:spPr bwMode="ltGray">
          <a:xfrm>
            <a:off x="2920702" y="1858491"/>
            <a:ext cx="2552700" cy="2176463"/>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0" name="Rectangle 8">
            <a:extLst>
              <a:ext uri="{FF2B5EF4-FFF2-40B4-BE49-F238E27FC236}">
                <a16:creationId xmlns:a16="http://schemas.microsoft.com/office/drawing/2014/main" id="{CE9F110E-131C-B0ED-EBE6-535608CD3C18}"/>
              </a:ext>
            </a:extLst>
          </p:cNvPr>
          <p:cNvSpPr>
            <a:spLocks noChangeArrowheads="1"/>
          </p:cNvSpPr>
          <p:nvPr/>
        </p:nvSpPr>
        <p:spPr bwMode="ltGray">
          <a:xfrm>
            <a:off x="2015827" y="3725391"/>
            <a:ext cx="5067300" cy="314325"/>
          </a:xfrm>
          <a:prstGeom prst="rect">
            <a:avLst/>
          </a:prstGeom>
          <a:solidFill>
            <a:srgbClr val="0099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nvGrpSpPr>
          <p:cNvPr id="11" name="Group 9">
            <a:extLst>
              <a:ext uri="{FF2B5EF4-FFF2-40B4-BE49-F238E27FC236}">
                <a16:creationId xmlns:a16="http://schemas.microsoft.com/office/drawing/2014/main" id="{02AD9977-C27D-C16F-4D00-9D7A83080E03}"/>
              </a:ext>
            </a:extLst>
          </p:cNvPr>
          <p:cNvGrpSpPr>
            <a:grpSpLocks/>
          </p:cNvGrpSpPr>
          <p:nvPr/>
        </p:nvGrpSpPr>
        <p:grpSpPr bwMode="auto">
          <a:xfrm>
            <a:off x="2292052" y="3915891"/>
            <a:ext cx="5448300" cy="1457325"/>
            <a:chOff x="1476" y="2388"/>
            <a:chExt cx="3432" cy="918"/>
          </a:xfrm>
        </p:grpSpPr>
        <p:sp>
          <p:nvSpPr>
            <p:cNvPr id="12" name="Rectangle 10">
              <a:extLst>
                <a:ext uri="{FF2B5EF4-FFF2-40B4-BE49-F238E27FC236}">
                  <a16:creationId xmlns:a16="http://schemas.microsoft.com/office/drawing/2014/main" id="{C0397909-3A12-F938-8935-9274D9601DED}"/>
                </a:ext>
              </a:extLst>
            </p:cNvPr>
            <p:cNvSpPr>
              <a:spLocks noChangeArrowheads="1"/>
            </p:cNvSpPr>
            <p:nvPr/>
          </p:nvSpPr>
          <p:spPr bwMode="auto">
            <a:xfrm>
              <a:off x="1973" y="2782"/>
              <a:ext cx="2935" cy="524"/>
            </a:xfrm>
            <a:prstGeom prst="rect">
              <a:avLst/>
            </a:prstGeom>
            <a:noFill/>
            <a:ln w="9525">
              <a:noFill/>
              <a:miter lim="800000"/>
              <a:headEnd/>
              <a:tailEnd/>
            </a:ln>
            <a:effectLst/>
          </p:spPr>
          <p:txBody>
            <a:bodyPr lIns="92075" tIns="46038" rIns="92075" bIns="46038">
              <a:spAutoFit/>
            </a:bodyPr>
            <a:lstStyle/>
            <a:p>
              <a:pPr>
                <a:defRPr/>
              </a:pPr>
              <a:r>
                <a:rPr lang="en-US" dirty="0">
                  <a:solidFill>
                    <a:srgbClr val="FF0000"/>
                  </a:solidFill>
                  <a:latin typeface="Cambria" panose="02040503050406030204" pitchFamily="18" charset="0"/>
                  <a:ea typeface="Cambria" panose="02040503050406030204" pitchFamily="18" charset="0"/>
                </a:rPr>
                <a:t>No employee in the</a:t>
              </a:r>
              <a:br>
                <a:rPr lang="en-US" dirty="0">
                  <a:solidFill>
                    <a:srgbClr val="FF0000"/>
                  </a:solidFill>
                  <a:latin typeface="Cambria" panose="02040503050406030204" pitchFamily="18" charset="0"/>
                  <a:ea typeface="Cambria" panose="02040503050406030204" pitchFamily="18" charset="0"/>
                </a:rPr>
              </a:br>
              <a:r>
                <a:rPr lang="en-US" dirty="0">
                  <a:solidFill>
                    <a:srgbClr val="FF0000"/>
                  </a:solidFill>
                  <a:latin typeface="Cambria" panose="02040503050406030204" pitchFamily="18" charset="0"/>
                  <a:ea typeface="Cambria" panose="02040503050406030204" pitchFamily="18" charset="0"/>
                </a:rPr>
                <a:t>OPERATIONS department</a:t>
              </a:r>
            </a:p>
          </p:txBody>
        </p:sp>
        <p:sp>
          <p:nvSpPr>
            <p:cNvPr id="13" name="Freeform 11">
              <a:extLst>
                <a:ext uri="{FF2B5EF4-FFF2-40B4-BE49-F238E27FC236}">
                  <a16:creationId xmlns:a16="http://schemas.microsoft.com/office/drawing/2014/main" id="{B5960342-FB09-5D47-2FFB-27F8FDB0B2EB}"/>
                </a:ext>
              </a:extLst>
            </p:cNvPr>
            <p:cNvSpPr>
              <a:spLocks/>
            </p:cNvSpPr>
            <p:nvPr/>
          </p:nvSpPr>
          <p:spPr bwMode="auto">
            <a:xfrm>
              <a:off x="1476" y="2388"/>
              <a:ext cx="458" cy="529"/>
            </a:xfrm>
            <a:custGeom>
              <a:avLst/>
              <a:gdLst>
                <a:gd name="T0" fmla="*/ 457 w 458"/>
                <a:gd name="T1" fmla="*/ 528 h 529"/>
                <a:gd name="T2" fmla="*/ 0 w 458"/>
                <a:gd name="T3" fmla="*/ 528 h 529"/>
                <a:gd name="T4" fmla="*/ 0 w 458"/>
                <a:gd name="T5" fmla="*/ 480 h 529"/>
                <a:gd name="T6" fmla="*/ 0 w 458"/>
                <a:gd name="T7" fmla="*/ 408 h 529"/>
                <a:gd name="T8" fmla="*/ 0 w 458"/>
                <a:gd name="T9" fmla="*/ 0 h 5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8" h="529">
                  <a:moveTo>
                    <a:pt x="457" y="528"/>
                  </a:moveTo>
                  <a:lnTo>
                    <a:pt x="0" y="528"/>
                  </a:lnTo>
                  <a:lnTo>
                    <a:pt x="0" y="480"/>
                  </a:lnTo>
                  <a:lnTo>
                    <a:pt x="0" y="408"/>
                  </a:lnTo>
                  <a:lnTo>
                    <a:pt x="0" y="0"/>
                  </a:lnTo>
                </a:path>
              </a:pathLst>
            </a:custGeom>
            <a:noFill/>
            <a:ln w="50800" cap="rnd" cmpd="sng">
              <a:solidFill>
                <a:srgbClr val="FFCC00"/>
              </a:solidFill>
              <a:prstDash val="solid"/>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4" name="Rectangle 12">
            <a:extLst>
              <a:ext uri="{FF2B5EF4-FFF2-40B4-BE49-F238E27FC236}">
                <a16:creationId xmlns:a16="http://schemas.microsoft.com/office/drawing/2014/main" id="{6B5800E2-450A-DC04-127B-1256FDD77D99}"/>
              </a:ext>
            </a:extLst>
          </p:cNvPr>
          <p:cNvSpPr>
            <a:spLocks noChangeArrowheads="1"/>
          </p:cNvSpPr>
          <p:nvPr/>
        </p:nvSpPr>
        <p:spPr bwMode="blackWhite">
          <a:xfrm>
            <a:off x="1987252" y="1845791"/>
            <a:ext cx="1981200"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ENAME	DEPTNO</a:t>
            </a:r>
            <a:br>
              <a:rPr lang="en-US" altLang="en-US" sz="1800" b="1">
                <a:solidFill>
                  <a:srgbClr val="000000"/>
                </a:solidFill>
                <a:latin typeface="Courier New" panose="02070309020205020404" pitchFamily="49" charset="0"/>
              </a:rPr>
            </a:br>
            <a:r>
              <a:rPr lang="en-US" altLang="en-US" sz="1800" b="1">
                <a:solidFill>
                  <a:srgbClr val="000000"/>
                </a:solidFill>
                <a:latin typeface="Courier New" panose="02070309020205020404" pitchFamily="49" charset="0"/>
              </a:rPr>
              <a:t>-----	------</a:t>
            </a:r>
            <a:br>
              <a:rPr lang="en-US" altLang="en-US" sz="1800" b="1">
                <a:solidFill>
                  <a:srgbClr val="000000"/>
                </a:solidFill>
                <a:latin typeface="Courier New" panose="02070309020205020404" pitchFamily="49" charset="0"/>
              </a:rPr>
            </a:br>
            <a:r>
              <a:rPr lang="en-US" altLang="en-US" sz="1800" b="1">
                <a:solidFill>
                  <a:srgbClr val="000000"/>
                </a:solidFill>
                <a:latin typeface="Courier New" panose="02070309020205020404" pitchFamily="49" charset="0"/>
              </a:rPr>
              <a:t>KING	10</a:t>
            </a:r>
          </a:p>
          <a:p>
            <a:pPr>
              <a:lnSpc>
                <a:spcPct val="95000"/>
              </a:lnSpc>
              <a:spcBef>
                <a:spcPct val="0"/>
              </a:spcBef>
              <a:buFontTx/>
              <a:buNone/>
            </a:pPr>
            <a:r>
              <a:rPr lang="en-US" altLang="en-US" sz="1800" b="1">
                <a:solidFill>
                  <a:srgbClr val="000000"/>
                </a:solidFill>
                <a:latin typeface="Courier New" panose="02070309020205020404" pitchFamily="49" charset="0"/>
              </a:rPr>
              <a:t>BLAKE	30</a:t>
            </a:r>
          </a:p>
          <a:p>
            <a:pPr>
              <a:lnSpc>
                <a:spcPct val="95000"/>
              </a:lnSpc>
              <a:spcBef>
                <a:spcPct val="0"/>
              </a:spcBef>
              <a:buFontTx/>
              <a:buNone/>
            </a:pPr>
            <a:r>
              <a:rPr lang="en-US" altLang="en-US" sz="1800" b="1">
                <a:solidFill>
                  <a:srgbClr val="000000"/>
                </a:solidFill>
                <a:latin typeface="Courier New" panose="02070309020205020404" pitchFamily="49" charset="0"/>
              </a:rPr>
              <a:t>CLARK	10</a:t>
            </a:r>
          </a:p>
          <a:p>
            <a:pPr>
              <a:lnSpc>
                <a:spcPct val="95000"/>
              </a:lnSpc>
              <a:spcBef>
                <a:spcPct val="0"/>
              </a:spcBef>
              <a:buFontTx/>
              <a:buNone/>
            </a:pPr>
            <a:r>
              <a:rPr lang="en-US" altLang="en-US" sz="1800" b="1">
                <a:solidFill>
                  <a:srgbClr val="000000"/>
                </a:solidFill>
                <a:latin typeface="Courier New" panose="02070309020205020404" pitchFamily="49" charset="0"/>
              </a:rPr>
              <a:t>JONES	20</a:t>
            </a: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15" name="Rectangle 13">
            <a:extLst>
              <a:ext uri="{FF2B5EF4-FFF2-40B4-BE49-F238E27FC236}">
                <a16:creationId xmlns:a16="http://schemas.microsoft.com/office/drawing/2014/main" id="{AD3DC2F6-0E86-BB3D-B46F-941750E2DD20}"/>
              </a:ext>
            </a:extLst>
          </p:cNvPr>
          <p:cNvSpPr>
            <a:spLocks noChangeArrowheads="1"/>
          </p:cNvSpPr>
          <p:nvPr/>
        </p:nvSpPr>
        <p:spPr bwMode="blackWhite">
          <a:xfrm>
            <a:off x="4525665" y="1864841"/>
            <a:ext cx="2560637"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9144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9144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9144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DEPTNO DNAME</a:t>
            </a: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r>
              <a:rPr lang="en-US" altLang="en-US" sz="1800" b="1">
                <a:solidFill>
                  <a:srgbClr val="000000"/>
                </a:solidFill>
                <a:latin typeface="Courier New" panose="02070309020205020404" pitchFamily="49" charset="0"/>
              </a:rPr>
              <a:t>10 	ACCOUNTING</a:t>
            </a:r>
          </a:p>
          <a:p>
            <a:pPr>
              <a:lnSpc>
                <a:spcPct val="95000"/>
              </a:lnSpc>
              <a:spcBef>
                <a:spcPct val="0"/>
              </a:spcBef>
              <a:buFontTx/>
              <a:buNone/>
            </a:pPr>
            <a:r>
              <a:rPr lang="en-US" altLang="en-US" sz="1800" b="1">
                <a:solidFill>
                  <a:srgbClr val="000000"/>
                </a:solidFill>
                <a:latin typeface="Courier New" panose="02070309020205020404" pitchFamily="49" charset="0"/>
              </a:rPr>
              <a:t>30 	SALES</a:t>
            </a:r>
          </a:p>
          <a:p>
            <a:pPr>
              <a:lnSpc>
                <a:spcPct val="95000"/>
              </a:lnSpc>
              <a:spcBef>
                <a:spcPct val="0"/>
              </a:spcBef>
              <a:buFontTx/>
              <a:buNone/>
            </a:pPr>
            <a:r>
              <a:rPr lang="en-US" altLang="en-US" sz="1800" b="1">
                <a:solidFill>
                  <a:srgbClr val="000000"/>
                </a:solidFill>
                <a:latin typeface="Courier New" panose="02070309020205020404" pitchFamily="49" charset="0"/>
              </a:rPr>
              <a:t>10 	ACCOUNTING</a:t>
            </a:r>
          </a:p>
          <a:p>
            <a:pPr>
              <a:lnSpc>
                <a:spcPct val="95000"/>
              </a:lnSpc>
              <a:spcBef>
                <a:spcPct val="0"/>
              </a:spcBef>
              <a:buFontTx/>
              <a:buNone/>
            </a:pPr>
            <a:r>
              <a:rPr lang="en-US" altLang="en-US" sz="1800" b="1">
                <a:solidFill>
                  <a:srgbClr val="000000"/>
                </a:solidFill>
                <a:latin typeface="Courier New" panose="02070309020205020404" pitchFamily="49" charset="0"/>
              </a:rPr>
              <a:t>20	RESEARCH</a:t>
            </a: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r>
              <a:rPr lang="en-US" altLang="en-US" sz="1800" b="1">
                <a:solidFill>
                  <a:srgbClr val="000000"/>
                </a:solidFill>
                <a:latin typeface="Courier New" panose="02070309020205020404" pitchFamily="49" charset="0"/>
              </a:rPr>
              <a:t>40	OPERATIONS</a:t>
            </a:r>
          </a:p>
        </p:txBody>
      </p:sp>
      <p:grpSp>
        <p:nvGrpSpPr>
          <p:cNvPr id="16" name="Group 16">
            <a:extLst>
              <a:ext uri="{FF2B5EF4-FFF2-40B4-BE49-F238E27FC236}">
                <a16:creationId xmlns:a16="http://schemas.microsoft.com/office/drawing/2014/main" id="{3CB4D781-C902-F05D-19B8-FD535BE09626}"/>
              </a:ext>
            </a:extLst>
          </p:cNvPr>
          <p:cNvGrpSpPr>
            <a:grpSpLocks/>
          </p:cNvGrpSpPr>
          <p:nvPr/>
        </p:nvGrpSpPr>
        <p:grpSpPr bwMode="auto">
          <a:xfrm>
            <a:off x="3346152" y="394415"/>
            <a:ext cx="1701800" cy="638175"/>
            <a:chOff x="3135" y="1632"/>
            <a:chExt cx="1072" cy="402"/>
          </a:xfrm>
        </p:grpSpPr>
        <p:sp>
          <p:nvSpPr>
            <p:cNvPr id="17" name="Rectangle 17">
              <a:extLst>
                <a:ext uri="{FF2B5EF4-FFF2-40B4-BE49-F238E27FC236}">
                  <a16:creationId xmlns:a16="http://schemas.microsoft.com/office/drawing/2014/main" id="{0D33B984-2710-2AF8-A908-B31C746FD88D}"/>
                </a:ext>
              </a:extLst>
            </p:cNvPr>
            <p:cNvSpPr>
              <a:spLocks noChangeArrowheads="1"/>
            </p:cNvSpPr>
            <p:nvPr/>
          </p:nvSpPr>
          <p:spPr bwMode="blackWhite">
            <a:xfrm>
              <a:off x="3135" y="1632"/>
              <a:ext cx="490"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8" name="Rectangle 18">
              <a:extLst>
                <a:ext uri="{FF2B5EF4-FFF2-40B4-BE49-F238E27FC236}">
                  <a16:creationId xmlns:a16="http://schemas.microsoft.com/office/drawing/2014/main" id="{22736DB2-BCF4-46C1-7BDF-BAF2167ED281}"/>
                </a:ext>
              </a:extLst>
            </p:cNvPr>
            <p:cNvSpPr>
              <a:spLocks noChangeArrowheads="1"/>
            </p:cNvSpPr>
            <p:nvPr/>
          </p:nvSpPr>
          <p:spPr bwMode="blackWhite">
            <a:xfrm>
              <a:off x="3717" y="1632"/>
              <a:ext cx="490"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9" name="Oval 19">
              <a:extLst>
                <a:ext uri="{FF2B5EF4-FFF2-40B4-BE49-F238E27FC236}">
                  <a16:creationId xmlns:a16="http://schemas.microsoft.com/office/drawing/2014/main" id="{79BDB27F-8B32-12C0-2588-1C5704FFECED}"/>
                </a:ext>
              </a:extLst>
            </p:cNvPr>
            <p:cNvSpPr>
              <a:spLocks noChangeArrowheads="1"/>
            </p:cNvSpPr>
            <p:nvPr/>
          </p:nvSpPr>
          <p:spPr bwMode="blackWhite">
            <a:xfrm>
              <a:off x="3325" y="1785"/>
              <a:ext cx="87" cy="88"/>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1" name="Oval 20">
              <a:extLst>
                <a:ext uri="{FF2B5EF4-FFF2-40B4-BE49-F238E27FC236}">
                  <a16:creationId xmlns:a16="http://schemas.microsoft.com/office/drawing/2014/main" id="{40C24079-CC0B-7874-E447-026A0A3598AC}"/>
                </a:ext>
              </a:extLst>
            </p:cNvPr>
            <p:cNvSpPr>
              <a:spLocks noChangeArrowheads="1"/>
            </p:cNvSpPr>
            <p:nvPr/>
          </p:nvSpPr>
          <p:spPr bwMode="blackWhite">
            <a:xfrm>
              <a:off x="3912" y="1785"/>
              <a:ext cx="88" cy="88"/>
            </a:xfrm>
            <a:prstGeom prst="ellipse">
              <a:avLst/>
            </a:prstGeom>
            <a:gradFill rotWithShape="0">
              <a:gsLst>
                <a:gs pos="0">
                  <a:srgbClr val="002EB7"/>
                </a:gs>
                <a:gs pos="50000">
                  <a:srgbClr val="0033CC"/>
                </a:gs>
                <a:gs pos="100000">
                  <a:srgbClr val="002EB7"/>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2" name="Line 21">
              <a:extLst>
                <a:ext uri="{FF2B5EF4-FFF2-40B4-BE49-F238E27FC236}">
                  <a16:creationId xmlns:a16="http://schemas.microsoft.com/office/drawing/2014/main" id="{8FC05C40-28E2-EC94-C548-90215608179B}"/>
                </a:ext>
              </a:extLst>
            </p:cNvPr>
            <p:cNvSpPr>
              <a:spLocks noChangeShapeType="1"/>
            </p:cNvSpPr>
            <p:nvPr/>
          </p:nvSpPr>
          <p:spPr bwMode="blackWhite">
            <a:xfrm>
              <a:off x="3461" y="1832"/>
              <a:ext cx="410"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278048304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par>
                          <p:cTn id="13" fill="hold">
                            <p:stCondLst>
                              <p:cond delay="500"/>
                            </p:stCondLst>
                            <p:childTnLst>
                              <p:par>
                                <p:cTn id="14" presetID="2" presetClass="entr" presetSubtype="4"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ppt_x"/>
                                          </p:val>
                                        </p:tav>
                                        <p:tav tm="100000">
                                          <p:val>
                                            <p:strVal val="#ppt_x"/>
                                          </p:val>
                                        </p:tav>
                                      </p:tavLst>
                                    </p:anim>
                                    <p:anim calcmode="lin" valueType="num">
                                      <p:cBhvr additive="base">
                                        <p:cTn id="1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EB137-1AA7-60C2-DD6E-4539F1DFA2CF}"/>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D1165CEB-D999-2EA5-CA66-87C38C755BA5}"/>
              </a:ext>
            </a:extLst>
          </p:cNvPr>
          <p:cNvSpPr>
            <a:spLocks noGrp="1" noChangeArrowheads="1"/>
          </p:cNvSpPr>
          <p:nvPr>
            <p:ph type="title"/>
          </p:nvPr>
        </p:nvSpPr>
        <p:spPr>
          <a:xfrm>
            <a:off x="4254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4. Outer Join</a:t>
            </a:r>
          </a:p>
        </p:txBody>
      </p:sp>
      <p:sp>
        <p:nvSpPr>
          <p:cNvPr id="38915" name="Rectangle 3">
            <a:extLst>
              <a:ext uri="{FF2B5EF4-FFF2-40B4-BE49-F238E27FC236}">
                <a16:creationId xmlns:a16="http://schemas.microsoft.com/office/drawing/2014/main" id="{1FC6B877-F67B-676B-4660-FC2774DA79AF}"/>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CFC0EC08-2D43-78F8-C2E0-FB4344D82FC2}"/>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C8DF3B92-2F27-0E56-5FE8-64C3BF5253D9}"/>
              </a:ext>
            </a:extLst>
          </p:cNvPr>
          <p:cNvSpPr txBox="1">
            <a:spLocks noChangeArrowheads="1"/>
          </p:cNvSpPr>
          <p:nvPr/>
        </p:nvSpPr>
        <p:spPr bwMode="auto">
          <a:xfrm>
            <a:off x="394866" y="741784"/>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gn="just"/>
            <a:r>
              <a:rPr lang="en-US" altLang="en-US" sz="2400" dirty="0">
                <a:latin typeface="Cambria" panose="02040503050406030204" pitchFamily="18" charset="0"/>
                <a:ea typeface="Cambria" panose="02040503050406030204" pitchFamily="18" charset="0"/>
              </a:rPr>
              <a:t>Sometimes, while performing a join between two tables, you need to return all the rows from one table even when there are </a:t>
            </a:r>
            <a:r>
              <a:rPr lang="en-US" altLang="en-US" sz="2400" dirty="0">
                <a:solidFill>
                  <a:srgbClr val="FF0000"/>
                </a:solidFill>
                <a:latin typeface="Cambria" panose="02040503050406030204" pitchFamily="18" charset="0"/>
                <a:ea typeface="Cambria" panose="02040503050406030204" pitchFamily="18" charset="0"/>
              </a:rPr>
              <a:t>no corresponding matching rows</a:t>
            </a:r>
            <a:r>
              <a:rPr lang="en-US" altLang="en-US" sz="2400" dirty="0">
                <a:latin typeface="Cambria" panose="02040503050406030204" pitchFamily="18" charset="0"/>
                <a:ea typeface="Cambria" panose="02040503050406030204" pitchFamily="18" charset="0"/>
              </a:rPr>
              <a:t> in the other table.</a:t>
            </a:r>
          </a:p>
          <a:p>
            <a:pPr algn="just"/>
            <a:r>
              <a:rPr lang="en-US" altLang="en-US" sz="2400" dirty="0">
                <a:latin typeface="Cambria" panose="02040503050406030204" pitchFamily="18" charset="0"/>
                <a:ea typeface="Cambria" panose="02040503050406030204" pitchFamily="18" charset="0"/>
              </a:rPr>
              <a:t>The inner join returns only those rows from the two tables that satisfy the join condition. Thus, equijoin will not return the departments that don’t have any employee or employees whose department is NULL.</a:t>
            </a:r>
          </a:p>
          <a:p>
            <a:pPr algn="just"/>
            <a:r>
              <a:rPr lang="en-US" altLang="en-US" sz="2400" dirty="0">
                <a:latin typeface="Cambria" panose="02040503050406030204" pitchFamily="18" charset="0"/>
                <a:ea typeface="Cambria" panose="02040503050406030204" pitchFamily="18" charset="0"/>
              </a:rPr>
              <a:t>Outer join is used to retrieve </a:t>
            </a:r>
            <a:r>
              <a:rPr lang="en-US" altLang="en-US" sz="2400" dirty="0">
                <a:solidFill>
                  <a:srgbClr val="FF0000"/>
                </a:solidFill>
                <a:latin typeface="Cambria" panose="02040503050406030204" pitchFamily="18" charset="0"/>
                <a:ea typeface="Cambria" panose="02040503050406030204" pitchFamily="18" charset="0"/>
              </a:rPr>
              <a:t>matching</a:t>
            </a:r>
            <a:r>
              <a:rPr lang="en-US" altLang="en-US" sz="2400" dirty="0">
                <a:latin typeface="Cambria" panose="02040503050406030204" pitchFamily="18" charset="0"/>
                <a:ea typeface="Cambria" panose="02040503050406030204" pitchFamily="18" charset="0"/>
              </a:rPr>
              <a:t> as well as </a:t>
            </a:r>
            <a:r>
              <a:rPr lang="en-US" altLang="en-US" sz="2400" dirty="0">
                <a:solidFill>
                  <a:srgbClr val="FF0000"/>
                </a:solidFill>
                <a:latin typeface="Cambria" panose="02040503050406030204" pitchFamily="18" charset="0"/>
                <a:ea typeface="Cambria" panose="02040503050406030204" pitchFamily="18" charset="0"/>
              </a:rPr>
              <a:t>non-matching rows.</a:t>
            </a:r>
            <a:r>
              <a:rPr lang="en-US" altLang="en-US" sz="2400" dirty="0">
                <a:latin typeface="Cambria" panose="02040503050406030204" pitchFamily="18" charset="0"/>
                <a:ea typeface="Cambria" panose="02040503050406030204" pitchFamily="18" charset="0"/>
              </a:rPr>
              <a:t> </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A9E4B16D-A25E-E467-AEC7-8C46E0F39AFD}"/>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Rectangle 4">
            <a:extLst>
              <a:ext uri="{FF2B5EF4-FFF2-40B4-BE49-F238E27FC236}">
                <a16:creationId xmlns:a16="http://schemas.microsoft.com/office/drawing/2014/main" id="{B064A959-F294-1DA9-B076-E02AF517ADC9}"/>
              </a:ext>
            </a:extLst>
          </p:cNvPr>
          <p:cNvSpPr>
            <a:spLocks noChangeArrowheads="1"/>
          </p:cNvSpPr>
          <p:nvPr/>
        </p:nvSpPr>
        <p:spPr bwMode="blackWhite">
          <a:xfrm>
            <a:off x="1026318" y="4438310"/>
            <a:ext cx="7091363" cy="1677906"/>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1200150" algn="l"/>
              </a:tabLst>
              <a:defRPr sz="2800">
                <a:solidFill>
                  <a:schemeClr val="tx1"/>
                </a:solidFill>
                <a:latin typeface="Arial" panose="020B0604020202020204" pitchFamily="34" charset="0"/>
              </a:defRPr>
            </a:lvl1pPr>
            <a:lvl2pPr marL="742950" indent="-285750">
              <a:spcBef>
                <a:spcPct val="20000"/>
              </a:spcBef>
              <a:buChar char="–"/>
              <a:tabLst>
                <a:tab pos="1200150" algn="l"/>
              </a:tabLst>
              <a:defRPr sz="2400">
                <a:solidFill>
                  <a:schemeClr val="tx1"/>
                </a:solidFill>
                <a:latin typeface="Arial" panose="020B0604020202020204" pitchFamily="34" charset="0"/>
              </a:defRPr>
            </a:lvl2pPr>
            <a:lvl3pPr marL="1143000" indent="-228600">
              <a:spcBef>
                <a:spcPct val="20000"/>
              </a:spcBef>
              <a:buChar char="•"/>
              <a:tabLst>
                <a:tab pos="1200150" algn="l"/>
              </a:tabLst>
              <a:defRPr sz="2000">
                <a:solidFill>
                  <a:schemeClr val="tx1"/>
                </a:solidFill>
                <a:latin typeface="Arial" panose="020B0604020202020204" pitchFamily="34" charset="0"/>
              </a:defRPr>
            </a:lvl3pPr>
            <a:lvl4pPr marL="1600200" indent="-228600">
              <a:spcBef>
                <a:spcPct val="20000"/>
              </a:spcBef>
              <a:buChar char="–"/>
              <a:tabLst>
                <a:tab pos="1200150" algn="l"/>
              </a:tabLst>
              <a:defRPr sz="2000">
                <a:solidFill>
                  <a:schemeClr val="tx1"/>
                </a:solidFill>
                <a:latin typeface="Arial" panose="020B0604020202020204" pitchFamily="34" charset="0"/>
              </a:defRPr>
            </a:lvl4pPr>
            <a:lvl5pPr marL="2057400" indent="-228600">
              <a:spcBef>
                <a:spcPct val="20000"/>
              </a:spcBef>
              <a:buChar char="»"/>
              <a:tabLst>
                <a:tab pos="12001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200150" algn="l"/>
              </a:tabLst>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SELECT	</a:t>
            </a:r>
            <a:r>
              <a:rPr lang="en-US" altLang="en-US" sz="1800" b="1" i="1" dirty="0">
                <a:solidFill>
                  <a:srgbClr val="000000"/>
                </a:solidFill>
                <a:latin typeface="Courier New" panose="02070309020205020404" pitchFamily="49" charset="0"/>
              </a:rPr>
              <a:t>table1.column, table2.column</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FROM	</a:t>
            </a:r>
            <a:r>
              <a:rPr lang="en-US" altLang="en-US" sz="1800" b="1" i="1" dirty="0">
                <a:solidFill>
                  <a:srgbClr val="000000"/>
                </a:solidFill>
                <a:latin typeface="Courier New" panose="02070309020205020404" pitchFamily="49" charset="0"/>
              </a:rPr>
              <a:t>table1 </a:t>
            </a:r>
            <a:r>
              <a:rPr lang="en-US" altLang="en-US" sz="1800" b="1" i="1" dirty="0">
                <a:solidFill>
                  <a:srgbClr val="0000CC"/>
                </a:solidFill>
                <a:latin typeface="Courier New" panose="02070309020205020404" pitchFamily="49" charset="0"/>
              </a:rPr>
              <a:t>{join type} JOIN</a:t>
            </a:r>
            <a:r>
              <a:rPr lang="en-US" altLang="en-US" sz="1800" b="1" i="1" dirty="0">
                <a:solidFill>
                  <a:schemeClr val="accent2"/>
                </a:solidFill>
                <a:latin typeface="Courier New" panose="02070309020205020404" pitchFamily="49" charset="0"/>
              </a:rPr>
              <a:t> </a:t>
            </a:r>
            <a:r>
              <a:rPr lang="en-US" altLang="en-US" sz="1800" b="1" i="1" dirty="0">
                <a:solidFill>
                  <a:srgbClr val="000000"/>
                </a:solidFill>
                <a:latin typeface="Courier New" panose="02070309020205020404" pitchFamily="49" charset="0"/>
              </a:rPr>
              <a:t>table2</a:t>
            </a:r>
            <a:endParaRPr lang="en-US" altLang="en-US" sz="1800" b="1" dirty="0">
              <a:solidFill>
                <a:srgbClr val="000000"/>
              </a:solidFill>
              <a:latin typeface="Courier New" panose="02070309020205020404" pitchFamily="49" charset="0"/>
            </a:endParaRPr>
          </a:p>
          <a:p>
            <a:pPr>
              <a:spcBef>
                <a:spcPct val="0"/>
              </a:spcBef>
              <a:buFontTx/>
              <a:buNone/>
            </a:pPr>
            <a:r>
              <a:rPr lang="en-US" altLang="en-US" sz="1800" b="1" dirty="0">
                <a:solidFill>
                  <a:srgbClr val="000000"/>
                </a:solidFill>
                <a:latin typeface="Courier New" panose="02070309020205020404" pitchFamily="49" charset="0"/>
              </a:rPr>
              <a:t>FROM table1 </a:t>
            </a:r>
            <a:r>
              <a:rPr lang="en-US" altLang="en-US" sz="1800" b="1" dirty="0">
                <a:solidFill>
                  <a:srgbClr val="FF0000"/>
                </a:solidFill>
                <a:latin typeface="Courier New" panose="02070309020205020404" pitchFamily="49" charset="0"/>
              </a:rPr>
              <a:t>{LEFT | RIGHT | FULL } [OUTER]</a:t>
            </a:r>
            <a:r>
              <a:rPr lang="en-US" altLang="en-US" sz="1800" b="1" dirty="0">
                <a:solidFill>
                  <a:srgbClr val="000000"/>
                </a:solidFill>
                <a:latin typeface="Courier New" panose="02070309020205020404" pitchFamily="49" charset="0"/>
              </a:rPr>
              <a:t> </a:t>
            </a:r>
          </a:p>
          <a:p>
            <a:pPr>
              <a:spcBef>
                <a:spcPct val="0"/>
              </a:spcBef>
              <a:buFontTx/>
              <a:buNone/>
            </a:pPr>
            <a:r>
              <a:rPr lang="en-US" altLang="en-US" sz="1800" b="1" dirty="0">
                <a:solidFill>
                  <a:srgbClr val="000000"/>
                </a:solidFill>
                <a:latin typeface="Courier New" panose="02070309020205020404" pitchFamily="49" charset="0"/>
              </a:rPr>
              <a:t>JOIN table2</a:t>
            </a:r>
          </a:p>
          <a:p>
            <a:pPr>
              <a:spcBef>
                <a:spcPct val="0"/>
              </a:spcBef>
              <a:buFontTx/>
              <a:buNone/>
            </a:pPr>
            <a:r>
              <a:rPr lang="en-US" altLang="en-US" sz="1800" b="1" dirty="0">
                <a:solidFill>
                  <a:srgbClr val="000000"/>
                </a:solidFill>
                <a:latin typeface="Courier New" panose="02070309020205020404" pitchFamily="49" charset="0"/>
              </a:rPr>
              <a:t>ON </a:t>
            </a:r>
            <a:r>
              <a:rPr lang="en-US" altLang="en-US" sz="1800" b="1" dirty="0">
                <a:solidFill>
                  <a:srgbClr val="FF0000"/>
                </a:solidFill>
                <a:latin typeface="Courier New" panose="02070309020205020404" pitchFamily="49" charset="0"/>
              </a:rPr>
              <a:t>table1. </a:t>
            </a:r>
            <a:r>
              <a:rPr lang="en-US" altLang="en-US" sz="1800" b="1" dirty="0" err="1">
                <a:solidFill>
                  <a:srgbClr val="FF0000"/>
                </a:solidFill>
                <a:latin typeface="Courier New" panose="02070309020205020404" pitchFamily="49" charset="0"/>
              </a:rPr>
              <a:t>JoinCol</a:t>
            </a:r>
            <a:r>
              <a:rPr lang="en-US" altLang="en-US" sz="1800" b="1" dirty="0">
                <a:solidFill>
                  <a:srgbClr val="FF0000"/>
                </a:solidFill>
                <a:latin typeface="Courier New" panose="02070309020205020404" pitchFamily="49" charset="0"/>
              </a:rPr>
              <a:t> = table2. </a:t>
            </a:r>
            <a:r>
              <a:rPr lang="en-US" altLang="en-US" sz="1800" b="1" dirty="0" err="1">
                <a:solidFill>
                  <a:srgbClr val="FF0000"/>
                </a:solidFill>
                <a:latin typeface="Courier New" panose="02070309020205020404" pitchFamily="49" charset="0"/>
              </a:rPr>
              <a:t>JoinCol</a:t>
            </a:r>
            <a:r>
              <a:rPr lang="en-US" altLang="en-US" sz="1800" b="1" dirty="0">
                <a:solidFill>
                  <a:srgbClr val="FF0000"/>
                </a:solidFill>
                <a:latin typeface="Courier New" panose="02070309020205020404" pitchFamily="49" charset="0"/>
              </a:rPr>
              <a:t>;</a:t>
            </a:r>
          </a:p>
        </p:txBody>
      </p:sp>
    </p:spTree>
    <p:extLst>
      <p:ext uri="{BB962C8B-B14F-4D97-AF65-F5344CB8AC3E}">
        <p14:creationId xmlns:p14="http://schemas.microsoft.com/office/powerpoint/2010/main" val="254540259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0A39E-877F-1364-6D6D-0917AFC78032}"/>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B5917BA2-25A1-ACE5-2350-C449DC4C0E41}"/>
              </a:ext>
            </a:extLst>
          </p:cNvPr>
          <p:cNvSpPr>
            <a:spLocks noGrp="1" noChangeArrowheads="1"/>
          </p:cNvSpPr>
          <p:nvPr>
            <p:ph type="title"/>
          </p:nvPr>
        </p:nvSpPr>
        <p:spPr>
          <a:xfrm>
            <a:off x="4254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4. Outer Join</a:t>
            </a:r>
          </a:p>
        </p:txBody>
      </p:sp>
      <p:sp>
        <p:nvSpPr>
          <p:cNvPr id="38915" name="Rectangle 3">
            <a:extLst>
              <a:ext uri="{FF2B5EF4-FFF2-40B4-BE49-F238E27FC236}">
                <a16:creationId xmlns:a16="http://schemas.microsoft.com/office/drawing/2014/main" id="{0AFD306F-FA9A-ECE4-D575-574677A3BAA3}"/>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63985093-271C-69E1-748D-E4A423B600DD}"/>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CB187F74-7CEC-6619-CFF7-7CF630FBDFB8}"/>
              </a:ext>
            </a:extLst>
          </p:cNvPr>
          <p:cNvSpPr txBox="1">
            <a:spLocks noChangeArrowheads="1"/>
          </p:cNvSpPr>
          <p:nvPr/>
        </p:nvSpPr>
        <p:spPr bwMode="auto">
          <a:xfrm>
            <a:off x="394866" y="646451"/>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algn="just">
              <a:spcBef>
                <a:spcPts val="0"/>
              </a:spcBef>
              <a:buNone/>
            </a:pPr>
            <a:r>
              <a:rPr lang="en-US" altLang="en-US" sz="2000" b="1" dirty="0">
                <a:solidFill>
                  <a:srgbClr val="0000CC"/>
                </a:solidFill>
                <a:latin typeface="Cambria" panose="02040503050406030204" pitchFamily="18" charset="0"/>
                <a:ea typeface="Cambria" panose="02040503050406030204" pitchFamily="18" charset="0"/>
              </a:rPr>
              <a:t>LEFT</a:t>
            </a:r>
          </a:p>
          <a:p>
            <a:pPr algn="just">
              <a:spcBef>
                <a:spcPts val="0"/>
              </a:spcBef>
            </a:pPr>
            <a:r>
              <a:rPr lang="en-US" altLang="en-US" sz="2000" dirty="0">
                <a:latin typeface="Cambria" panose="02040503050406030204" pitchFamily="18" charset="0"/>
                <a:ea typeface="Cambria" panose="02040503050406030204" pitchFamily="18" charset="0"/>
              </a:rPr>
              <a:t>Specifies that the results be generated using all rows from table1. For those rows in table1 that don't have corresponding rows in table2, NULLs are returned in the result set for the table2 columns.</a:t>
            </a:r>
          </a:p>
          <a:p>
            <a:pPr marL="0" indent="0" algn="just">
              <a:spcBef>
                <a:spcPts val="600"/>
              </a:spcBef>
              <a:buNone/>
            </a:pPr>
            <a:r>
              <a:rPr lang="en-US" altLang="en-US" sz="2000" b="1" dirty="0">
                <a:solidFill>
                  <a:srgbClr val="0000CC"/>
                </a:solidFill>
                <a:latin typeface="Cambria" panose="02040503050406030204" pitchFamily="18" charset="0"/>
                <a:ea typeface="Cambria" panose="02040503050406030204" pitchFamily="18" charset="0"/>
              </a:rPr>
              <a:t>RIGHT</a:t>
            </a:r>
          </a:p>
          <a:p>
            <a:pPr algn="just">
              <a:spcBef>
                <a:spcPts val="0"/>
              </a:spcBef>
            </a:pPr>
            <a:r>
              <a:rPr lang="en-US" altLang="en-US" sz="2000" dirty="0">
                <a:latin typeface="Cambria" panose="02040503050406030204" pitchFamily="18" charset="0"/>
                <a:ea typeface="Cambria" panose="02040503050406030204" pitchFamily="18" charset="0"/>
              </a:rPr>
              <a:t>Specifies that the results be generated using all rows from table2. For those rows in table2 that don't have corresponding rows in table1, NULLs are returned in the result set for the table1 columns.</a:t>
            </a:r>
          </a:p>
          <a:p>
            <a:pPr marL="0" indent="0" algn="just">
              <a:spcBef>
                <a:spcPts val="600"/>
              </a:spcBef>
              <a:buNone/>
            </a:pPr>
            <a:r>
              <a:rPr lang="en-US" altLang="en-US" sz="2000" b="1" dirty="0">
                <a:solidFill>
                  <a:srgbClr val="0000CC"/>
                </a:solidFill>
                <a:latin typeface="Cambria" panose="02040503050406030204" pitchFamily="18" charset="0"/>
                <a:ea typeface="Cambria" panose="02040503050406030204" pitchFamily="18" charset="0"/>
              </a:rPr>
              <a:t>FULL</a:t>
            </a:r>
          </a:p>
          <a:p>
            <a:pPr algn="just">
              <a:spcBef>
                <a:spcPts val="0"/>
              </a:spcBef>
            </a:pPr>
            <a:r>
              <a:rPr lang="en-US" altLang="en-US" sz="2000" dirty="0">
                <a:latin typeface="Cambria" panose="02040503050406030204" pitchFamily="18" charset="0"/>
                <a:ea typeface="Cambria" panose="02040503050406030204" pitchFamily="18" charset="0"/>
              </a:rPr>
              <a:t>Specifies that the results be generated using all rows from table1 and table2. For those rows in table1 that don't have corresponding rows in table2, NULLs are returned in the result set for the table2 columns and vice-versa. </a:t>
            </a:r>
          </a:p>
          <a:p>
            <a:pPr marL="0" indent="0" algn="just">
              <a:spcBef>
                <a:spcPts val="600"/>
              </a:spcBef>
              <a:buNone/>
            </a:pPr>
            <a:r>
              <a:rPr lang="en-US" altLang="en-US" sz="2000" b="1" dirty="0">
                <a:solidFill>
                  <a:srgbClr val="0000CC"/>
                </a:solidFill>
                <a:latin typeface="Cambria" panose="02040503050406030204" pitchFamily="18" charset="0"/>
                <a:ea typeface="Cambria" panose="02040503050406030204" pitchFamily="18" charset="0"/>
              </a:rPr>
              <a:t>OUTER</a:t>
            </a:r>
          </a:p>
          <a:p>
            <a:pPr algn="just">
              <a:spcBef>
                <a:spcPts val="0"/>
              </a:spcBef>
            </a:pPr>
            <a:r>
              <a:rPr lang="en-US" altLang="en-US" sz="2000" dirty="0">
                <a:latin typeface="Cambria" panose="02040503050406030204" pitchFamily="18" charset="0"/>
                <a:ea typeface="Cambria" panose="02040503050406030204" pitchFamily="18" charset="0"/>
              </a:rPr>
              <a:t>Specifies that you are performing an OUTER join. This keyword is optional. If you use LEFT, RIGHT, or FULL, Oracle automatically assumes an outer join. The OUTER keyword is for completeness' sake, and complements the INNER keyword.</a:t>
            </a: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66D0A17F-E897-6C82-2941-85AA39A17621}"/>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Tree>
    <p:extLst>
      <p:ext uri="{BB962C8B-B14F-4D97-AF65-F5344CB8AC3E}">
        <p14:creationId xmlns:p14="http://schemas.microsoft.com/office/powerpoint/2010/main" val="18952757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98214-9EF8-84AB-8446-8DF38255633D}"/>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D2D64685-949C-8017-75DA-3C29635E5635}"/>
              </a:ext>
            </a:extLst>
          </p:cNvPr>
          <p:cNvSpPr>
            <a:spLocks noGrp="1" noChangeArrowheads="1"/>
          </p:cNvSpPr>
          <p:nvPr>
            <p:ph type="title"/>
          </p:nvPr>
        </p:nvSpPr>
        <p:spPr>
          <a:xfrm>
            <a:off x="4254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4. Outer Join</a:t>
            </a:r>
          </a:p>
        </p:txBody>
      </p:sp>
      <p:sp>
        <p:nvSpPr>
          <p:cNvPr id="38915" name="Rectangle 3">
            <a:extLst>
              <a:ext uri="{FF2B5EF4-FFF2-40B4-BE49-F238E27FC236}">
                <a16:creationId xmlns:a16="http://schemas.microsoft.com/office/drawing/2014/main" id="{712CA131-C6B0-75AC-8F64-92A8C3E78642}"/>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84DB8839-0A26-B19B-7A4C-2252DE06C5E5}"/>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9DC29E83-4159-44ED-740A-FAC023EC606D}"/>
              </a:ext>
            </a:extLst>
          </p:cNvPr>
          <p:cNvSpPr txBox="1">
            <a:spLocks noChangeArrowheads="1"/>
          </p:cNvSpPr>
          <p:nvPr/>
        </p:nvSpPr>
        <p:spPr bwMode="auto">
          <a:xfrm>
            <a:off x="394866" y="646451"/>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algn="just">
              <a:spcBef>
                <a:spcPts val="0"/>
              </a:spcBef>
              <a:buNone/>
            </a:pPr>
            <a:r>
              <a:rPr lang="en-US" altLang="en-US" sz="2000" b="1" dirty="0">
                <a:solidFill>
                  <a:srgbClr val="0000CC"/>
                </a:solidFill>
                <a:latin typeface="Cambria" panose="02040503050406030204" pitchFamily="18" charset="0"/>
                <a:ea typeface="Cambria" panose="02040503050406030204" pitchFamily="18" charset="0"/>
              </a:rPr>
              <a:t>LEFT</a:t>
            </a:r>
          </a:p>
          <a:p>
            <a:pPr algn="just">
              <a:spcBef>
                <a:spcPts val="0"/>
              </a:spcBef>
            </a:pPr>
            <a:r>
              <a:rPr lang="en-US" altLang="en-US" sz="2000" dirty="0">
                <a:latin typeface="Cambria" panose="02040503050406030204" pitchFamily="18" charset="0"/>
                <a:ea typeface="Cambria" panose="02040503050406030204" pitchFamily="18" charset="0"/>
              </a:rPr>
              <a:t>List all the employees including the employees who are not assigned to a particular department.</a:t>
            </a: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B1718C69-2EFB-BECD-1F3D-6F2A0382AC2E}"/>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Rectangle 2">
            <a:extLst>
              <a:ext uri="{FF2B5EF4-FFF2-40B4-BE49-F238E27FC236}">
                <a16:creationId xmlns:a16="http://schemas.microsoft.com/office/drawing/2014/main" id="{B8EF503F-73B0-1D45-9283-B8D10AAD079D}"/>
              </a:ext>
            </a:extLst>
          </p:cNvPr>
          <p:cNvSpPr>
            <a:spLocks noChangeArrowheads="1"/>
          </p:cNvSpPr>
          <p:nvPr/>
        </p:nvSpPr>
        <p:spPr bwMode="blackWhite">
          <a:xfrm>
            <a:off x="889000" y="1700213"/>
            <a:ext cx="7366000" cy="12239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6" name="Rectangle 3">
            <a:extLst>
              <a:ext uri="{FF2B5EF4-FFF2-40B4-BE49-F238E27FC236}">
                <a16:creationId xmlns:a16="http://schemas.microsoft.com/office/drawing/2014/main" id="{152D8BDF-45F4-8618-5557-CD936A8B0B4A}"/>
              </a:ext>
            </a:extLst>
          </p:cNvPr>
          <p:cNvSpPr>
            <a:spLocks noChangeArrowheads="1"/>
          </p:cNvSpPr>
          <p:nvPr/>
        </p:nvSpPr>
        <p:spPr bwMode="blackWhite">
          <a:xfrm>
            <a:off x="900113" y="4403725"/>
            <a:ext cx="7359650" cy="2039938"/>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7" name="Rectangle 6">
            <a:extLst>
              <a:ext uri="{FF2B5EF4-FFF2-40B4-BE49-F238E27FC236}">
                <a16:creationId xmlns:a16="http://schemas.microsoft.com/office/drawing/2014/main" id="{FD26F4C8-A0C4-81F8-690E-10AD285FCB02}"/>
              </a:ext>
            </a:extLst>
          </p:cNvPr>
          <p:cNvSpPr>
            <a:spLocks noChangeArrowheads="1"/>
          </p:cNvSpPr>
          <p:nvPr/>
        </p:nvSpPr>
        <p:spPr bwMode="ltGray">
          <a:xfrm>
            <a:off x="2700338" y="2420938"/>
            <a:ext cx="3311525" cy="287337"/>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 name="Rectangle 8">
            <a:extLst>
              <a:ext uri="{FF2B5EF4-FFF2-40B4-BE49-F238E27FC236}">
                <a16:creationId xmlns:a16="http://schemas.microsoft.com/office/drawing/2014/main" id="{B1DE2FF3-3EC4-2D64-DD73-8F289D3D9478}"/>
              </a:ext>
            </a:extLst>
          </p:cNvPr>
          <p:cNvSpPr>
            <a:spLocks noChangeArrowheads="1"/>
          </p:cNvSpPr>
          <p:nvPr/>
        </p:nvSpPr>
        <p:spPr bwMode="blackWhite">
          <a:xfrm>
            <a:off x="895350" y="1628775"/>
            <a:ext cx="7391400"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dirty="0">
                <a:solidFill>
                  <a:srgbClr val="000000"/>
                </a:solidFill>
                <a:latin typeface="Courier New" panose="02070309020205020404" pitchFamily="49" charset="0"/>
              </a:rPr>
              <a:t>SQL&gt; SELECT	</a:t>
            </a:r>
            <a:r>
              <a:rPr lang="en-US" altLang="en-US" sz="1800" b="1" dirty="0" err="1">
                <a:solidFill>
                  <a:srgbClr val="000000"/>
                </a:solidFill>
                <a:latin typeface="Courier New" panose="02070309020205020404" pitchFamily="49" charset="0"/>
              </a:rPr>
              <a:t>e.ename</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d.deptno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d.dname</a:t>
            </a:r>
            <a:endParaRPr lang="en-US" altLang="en-US" sz="1800" b="1" dirty="0">
              <a:solidFill>
                <a:srgbClr val="000000"/>
              </a:solidFill>
              <a:latin typeface="Courier New" panose="02070309020205020404" pitchFamily="49" charset="0"/>
            </a:endParaRPr>
          </a:p>
          <a:p>
            <a:pPr>
              <a:lnSpc>
                <a:spcPct val="120000"/>
              </a:lnSpc>
              <a:spcBef>
                <a:spcPct val="0"/>
              </a:spcBef>
              <a:buFontTx/>
              <a:buNone/>
            </a:pPr>
            <a:r>
              <a:rPr lang="en-US" altLang="en-US" sz="1800" b="1" dirty="0">
                <a:solidFill>
                  <a:srgbClr val="000000"/>
                </a:solidFill>
                <a:latin typeface="Courier New" panose="02070309020205020404" pitchFamily="49" charset="0"/>
              </a:rPr>
              <a:t>  2  FROM	emp e, dept d</a:t>
            </a:r>
          </a:p>
          <a:p>
            <a:pPr>
              <a:lnSpc>
                <a:spcPct val="120000"/>
              </a:lnSpc>
              <a:spcBef>
                <a:spcPct val="0"/>
              </a:spcBef>
              <a:buFontTx/>
              <a:buNone/>
            </a:pPr>
            <a:r>
              <a:rPr lang="en-US" altLang="en-US" sz="1800" b="1" dirty="0">
                <a:solidFill>
                  <a:srgbClr val="000000"/>
                </a:solidFill>
                <a:latin typeface="Courier New" panose="02070309020205020404" pitchFamily="49" charset="0"/>
              </a:rPr>
              <a:t>  3  WHERE	</a:t>
            </a:r>
            <a:r>
              <a:rPr lang="en-US" altLang="en-US" sz="1800" b="1" dirty="0" err="1">
                <a:solidFill>
                  <a:srgbClr val="000000"/>
                </a:solidFill>
                <a:latin typeface="Courier New" panose="02070309020205020404" pitchFamily="49" charset="0"/>
              </a:rPr>
              <a:t>e.deptno</a:t>
            </a:r>
            <a:r>
              <a:rPr lang="en-US" altLang="en-US" sz="1800" b="1" dirty="0">
                <a:solidFill>
                  <a:srgbClr val="000000"/>
                </a:solidFill>
                <a:latin typeface="Courier New" panose="02070309020205020404" pitchFamily="49" charset="0"/>
              </a:rPr>
              <a:t> = </a:t>
            </a:r>
            <a:r>
              <a:rPr lang="en-US" altLang="en-US" sz="1800" b="1" dirty="0" err="1">
                <a:solidFill>
                  <a:srgbClr val="000000"/>
                </a:solidFill>
                <a:latin typeface="Courier New" panose="02070309020205020404" pitchFamily="49" charset="0"/>
              </a:rPr>
              <a:t>d.deptno</a:t>
            </a:r>
            <a:r>
              <a:rPr lang="en-US" altLang="en-US" sz="1800" b="1" dirty="0">
                <a:solidFill>
                  <a:srgbClr val="000000"/>
                </a:solidFill>
                <a:latin typeface="Courier New" panose="02070309020205020404" pitchFamily="49" charset="0"/>
              </a:rPr>
              <a:t>(+)</a:t>
            </a:r>
          </a:p>
          <a:p>
            <a:pPr>
              <a:lnSpc>
                <a:spcPct val="120000"/>
              </a:lnSpc>
              <a:spcBef>
                <a:spcPct val="0"/>
              </a:spcBef>
              <a:buFontTx/>
              <a:buNone/>
            </a:pPr>
            <a:r>
              <a:rPr lang="en-US" altLang="en-US" sz="1800" b="1" dirty="0">
                <a:solidFill>
                  <a:srgbClr val="000000"/>
                </a:solidFill>
                <a:latin typeface="Courier New" panose="02070309020205020404" pitchFamily="49" charset="0"/>
              </a:rPr>
              <a:t>  </a:t>
            </a:r>
          </a:p>
        </p:txBody>
      </p:sp>
      <p:sp>
        <p:nvSpPr>
          <p:cNvPr id="9" name="Rectangle 9">
            <a:extLst>
              <a:ext uri="{FF2B5EF4-FFF2-40B4-BE49-F238E27FC236}">
                <a16:creationId xmlns:a16="http://schemas.microsoft.com/office/drawing/2014/main" id="{7A38800D-6B0D-90DE-AD87-F3DB1EAA9FC7}"/>
              </a:ext>
            </a:extLst>
          </p:cNvPr>
          <p:cNvSpPr>
            <a:spLocks noChangeArrowheads="1"/>
          </p:cNvSpPr>
          <p:nvPr/>
        </p:nvSpPr>
        <p:spPr bwMode="blackWhite">
          <a:xfrm>
            <a:off x="931863" y="4438650"/>
            <a:ext cx="7334250"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ENAME         DEPTNO DNAME</a:t>
            </a:r>
          </a:p>
          <a:p>
            <a:pPr>
              <a:spcBef>
                <a:spcPct val="0"/>
              </a:spcBef>
              <a:buFontTx/>
              <a:buNone/>
            </a:pPr>
            <a:r>
              <a:rPr lang="en-US" altLang="en-US" sz="1800" b="1">
                <a:solidFill>
                  <a:srgbClr val="000000"/>
                </a:solidFill>
                <a:latin typeface="Courier New" panose="02070309020205020404" pitchFamily="49" charset="0"/>
              </a:rPr>
              <a:t>---------- --------- -------------</a:t>
            </a:r>
          </a:p>
          <a:p>
            <a:pPr>
              <a:spcBef>
                <a:spcPct val="0"/>
              </a:spcBef>
              <a:buFontTx/>
              <a:buNone/>
            </a:pPr>
            <a:r>
              <a:rPr lang="en-US" altLang="en-US" sz="1800" b="1">
                <a:solidFill>
                  <a:srgbClr val="000000"/>
                </a:solidFill>
                <a:latin typeface="Courier New" panose="02070309020205020404" pitchFamily="49" charset="0"/>
              </a:rPr>
              <a:t>KING              10 ACCOUNTING</a:t>
            </a:r>
          </a:p>
          <a:p>
            <a:pPr>
              <a:spcBef>
                <a:spcPct val="0"/>
              </a:spcBef>
              <a:buFontTx/>
              <a:buNone/>
            </a:pPr>
            <a:r>
              <a:rPr lang="en-US" altLang="en-US" sz="1800" b="1">
                <a:solidFill>
                  <a:srgbClr val="000000"/>
                </a:solidFill>
                <a:latin typeface="Courier New" panose="02070309020205020404" pitchFamily="49" charset="0"/>
              </a:rPr>
              <a:t>CLARK             10 ACCOUNTING</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BABU KHAN</a:t>
            </a:r>
          </a:p>
          <a:p>
            <a:pPr>
              <a:spcBef>
                <a:spcPct val="0"/>
              </a:spcBef>
              <a:buFontTx/>
              <a:buNone/>
            </a:pPr>
            <a:r>
              <a:rPr lang="en-US" altLang="en-US" sz="1800" b="1">
                <a:solidFill>
                  <a:srgbClr val="000000"/>
                </a:solidFill>
                <a:latin typeface="Courier New" panose="02070309020205020404" pitchFamily="49" charset="0"/>
              </a:rPr>
              <a:t>15 rows selected.</a:t>
            </a:r>
          </a:p>
        </p:txBody>
      </p:sp>
      <p:sp>
        <p:nvSpPr>
          <p:cNvPr id="10" name="Rectangle 7">
            <a:extLst>
              <a:ext uri="{FF2B5EF4-FFF2-40B4-BE49-F238E27FC236}">
                <a16:creationId xmlns:a16="http://schemas.microsoft.com/office/drawing/2014/main" id="{48C06308-DCF8-A2FE-722D-7376D408A8ED}"/>
              </a:ext>
            </a:extLst>
          </p:cNvPr>
          <p:cNvSpPr>
            <a:spLocks noChangeArrowheads="1"/>
          </p:cNvSpPr>
          <p:nvPr/>
        </p:nvSpPr>
        <p:spPr bwMode="ltGray">
          <a:xfrm>
            <a:off x="3414713" y="5805488"/>
            <a:ext cx="1919287" cy="360362"/>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 name="Rectangle 2">
            <a:extLst>
              <a:ext uri="{FF2B5EF4-FFF2-40B4-BE49-F238E27FC236}">
                <a16:creationId xmlns:a16="http://schemas.microsoft.com/office/drawing/2014/main" id="{E2E5C590-167E-7ED4-D82A-0B501136DC07}"/>
              </a:ext>
            </a:extLst>
          </p:cNvPr>
          <p:cNvSpPr>
            <a:spLocks noChangeArrowheads="1"/>
          </p:cNvSpPr>
          <p:nvPr/>
        </p:nvSpPr>
        <p:spPr bwMode="blackWhite">
          <a:xfrm>
            <a:off x="920750" y="3068638"/>
            <a:ext cx="7366000" cy="12239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dirty="0">
                <a:solidFill>
                  <a:srgbClr val="000000"/>
                </a:solidFill>
                <a:latin typeface="Courier New" panose="02070309020205020404" pitchFamily="49" charset="0"/>
              </a:rPr>
              <a:t>SQL&gt; SELECT	</a:t>
            </a:r>
            <a:r>
              <a:rPr lang="en-US" altLang="en-US" sz="1800" b="1" dirty="0" err="1">
                <a:solidFill>
                  <a:srgbClr val="000000"/>
                </a:solidFill>
                <a:latin typeface="Courier New" panose="02070309020205020404" pitchFamily="49" charset="0"/>
              </a:rPr>
              <a:t>e.ename</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d.deptno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d.dname</a:t>
            </a:r>
            <a:endParaRPr lang="en-US" altLang="en-US" sz="1800" b="1" dirty="0">
              <a:solidFill>
                <a:srgbClr val="000000"/>
              </a:solidFill>
              <a:latin typeface="Courier New" panose="02070309020205020404" pitchFamily="49" charset="0"/>
            </a:endParaRPr>
          </a:p>
          <a:p>
            <a:pPr>
              <a:lnSpc>
                <a:spcPct val="120000"/>
              </a:lnSpc>
              <a:spcBef>
                <a:spcPct val="0"/>
              </a:spcBef>
              <a:buFontTx/>
              <a:buNone/>
            </a:pPr>
            <a:r>
              <a:rPr lang="en-US" altLang="en-US" sz="1800" b="1" dirty="0">
                <a:solidFill>
                  <a:srgbClr val="000000"/>
                </a:solidFill>
                <a:latin typeface="Courier New" panose="02070309020205020404" pitchFamily="49" charset="0"/>
              </a:rPr>
              <a:t>  2  FROM	</a:t>
            </a:r>
            <a:r>
              <a:rPr lang="en-US" altLang="en-US" sz="1800" b="1" dirty="0">
                <a:solidFill>
                  <a:srgbClr val="0000CC"/>
                </a:solidFill>
                <a:latin typeface="Courier New" panose="02070309020205020404" pitchFamily="49" charset="0"/>
              </a:rPr>
              <a:t>emp e LEFT JOIN dept d</a:t>
            </a:r>
          </a:p>
          <a:p>
            <a:pPr>
              <a:lnSpc>
                <a:spcPct val="120000"/>
              </a:lnSpc>
              <a:spcBef>
                <a:spcPct val="0"/>
              </a:spcBef>
              <a:buFontTx/>
              <a:buNone/>
            </a:pPr>
            <a:r>
              <a:rPr lang="en-US" altLang="en-US" sz="1800" b="1" dirty="0">
                <a:solidFill>
                  <a:srgbClr val="000000"/>
                </a:solidFill>
                <a:latin typeface="Courier New" panose="02070309020205020404" pitchFamily="49" charset="0"/>
              </a:rPr>
              <a:t>  3  ON	</a:t>
            </a:r>
            <a:r>
              <a:rPr lang="en-US" altLang="en-US" sz="1800" b="1" dirty="0" err="1">
                <a:solidFill>
                  <a:srgbClr val="000000"/>
                </a:solidFill>
                <a:latin typeface="Courier New" panose="02070309020205020404" pitchFamily="49" charset="0"/>
              </a:rPr>
              <a:t>e.deptno</a:t>
            </a:r>
            <a:r>
              <a:rPr lang="en-US" altLang="en-US" sz="1800" b="1" dirty="0">
                <a:solidFill>
                  <a:srgbClr val="000000"/>
                </a:solidFill>
                <a:latin typeface="Courier New" panose="02070309020205020404" pitchFamily="49" charset="0"/>
              </a:rPr>
              <a:t> = </a:t>
            </a:r>
            <a:r>
              <a:rPr lang="en-US" altLang="en-US" sz="1800" b="1" dirty="0" err="1">
                <a:solidFill>
                  <a:srgbClr val="000000"/>
                </a:solidFill>
                <a:latin typeface="Courier New" panose="02070309020205020404" pitchFamily="49" charset="0"/>
              </a:rPr>
              <a:t>d.deptno</a:t>
            </a:r>
            <a:endParaRPr lang="en-US" altLang="en-US" sz="1800" b="1" dirty="0">
              <a:solidFill>
                <a:srgbClr val="000000"/>
              </a:solidFill>
              <a:latin typeface="Courier New" panose="02070309020205020404" pitchFamily="49" charset="0"/>
            </a:endParaRPr>
          </a:p>
          <a:p>
            <a:pPr>
              <a:lnSpc>
                <a:spcPct val="120000"/>
              </a:lnSpc>
              <a:spcBef>
                <a:spcPct val="0"/>
              </a:spcBef>
              <a:buFontTx/>
              <a:buNone/>
            </a:pPr>
            <a:endParaRPr lang="en-US" altLang="en-US" sz="1800" b="1" dirty="0">
              <a:solidFill>
                <a:srgbClr val="000000"/>
              </a:solidFill>
              <a:latin typeface="Courier New" panose="02070309020205020404" pitchFamily="49" charset="0"/>
            </a:endParaRPr>
          </a:p>
        </p:txBody>
      </p:sp>
      <p:sp>
        <p:nvSpPr>
          <p:cNvPr id="12" name="Rectangle 6">
            <a:extLst>
              <a:ext uri="{FF2B5EF4-FFF2-40B4-BE49-F238E27FC236}">
                <a16:creationId xmlns:a16="http://schemas.microsoft.com/office/drawing/2014/main" id="{60161089-AEEC-8AF6-F88F-C218C540210E}"/>
              </a:ext>
            </a:extLst>
          </p:cNvPr>
          <p:cNvSpPr>
            <a:spLocks noChangeArrowheads="1"/>
          </p:cNvSpPr>
          <p:nvPr/>
        </p:nvSpPr>
        <p:spPr bwMode="ltGray">
          <a:xfrm>
            <a:off x="2732088" y="3716338"/>
            <a:ext cx="3311525" cy="288925"/>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Tree>
    <p:extLst>
      <p:ext uri="{BB962C8B-B14F-4D97-AF65-F5344CB8AC3E}">
        <p14:creationId xmlns:p14="http://schemas.microsoft.com/office/powerpoint/2010/main" val="130189784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43139-112A-9B2D-0E67-95435C111164}"/>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CC075A60-1938-39AB-F7D7-3D62E8A121F2}"/>
              </a:ext>
            </a:extLst>
          </p:cNvPr>
          <p:cNvSpPr>
            <a:spLocks noGrp="1" noChangeArrowheads="1"/>
          </p:cNvSpPr>
          <p:nvPr>
            <p:ph type="title"/>
          </p:nvPr>
        </p:nvSpPr>
        <p:spPr>
          <a:xfrm>
            <a:off x="4254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4. Outer Join</a:t>
            </a:r>
          </a:p>
        </p:txBody>
      </p:sp>
      <p:sp>
        <p:nvSpPr>
          <p:cNvPr id="38915" name="Rectangle 3">
            <a:extLst>
              <a:ext uri="{FF2B5EF4-FFF2-40B4-BE49-F238E27FC236}">
                <a16:creationId xmlns:a16="http://schemas.microsoft.com/office/drawing/2014/main" id="{46C96559-7778-0983-89FB-C6CDA4337F3D}"/>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DD77ED62-F687-6CAE-C8FE-4FBB771622BD}"/>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E931D2E6-3C6C-CDA4-1018-3F1FDD42BAAE}"/>
              </a:ext>
            </a:extLst>
          </p:cNvPr>
          <p:cNvSpPr txBox="1">
            <a:spLocks noChangeArrowheads="1"/>
          </p:cNvSpPr>
          <p:nvPr/>
        </p:nvSpPr>
        <p:spPr bwMode="auto">
          <a:xfrm>
            <a:off x="394866" y="646451"/>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algn="just">
              <a:spcBef>
                <a:spcPts val="0"/>
              </a:spcBef>
              <a:buNone/>
            </a:pPr>
            <a:r>
              <a:rPr lang="en-US" altLang="en-US" sz="2000" b="1" dirty="0">
                <a:solidFill>
                  <a:srgbClr val="0000CC"/>
                </a:solidFill>
                <a:latin typeface="Cambria" panose="02040503050406030204" pitchFamily="18" charset="0"/>
                <a:ea typeface="Cambria" panose="02040503050406030204" pitchFamily="18" charset="0"/>
              </a:rPr>
              <a:t>RIGHT</a:t>
            </a:r>
          </a:p>
          <a:p>
            <a:pPr algn="just">
              <a:spcBef>
                <a:spcPts val="0"/>
              </a:spcBef>
            </a:pPr>
            <a:r>
              <a:rPr lang="en-US" altLang="en-US" sz="2000" dirty="0">
                <a:latin typeface="Cambria" panose="02040503050406030204" pitchFamily="18" charset="0"/>
                <a:ea typeface="Cambria" panose="02040503050406030204" pitchFamily="18" charset="0"/>
              </a:rPr>
              <a:t>List all the employees including the departments with zero employees.</a:t>
            </a: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E0A528B6-0F2A-F55F-1501-E293BB558B07}"/>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2">
            <a:extLst>
              <a:ext uri="{FF2B5EF4-FFF2-40B4-BE49-F238E27FC236}">
                <a16:creationId xmlns:a16="http://schemas.microsoft.com/office/drawing/2014/main" id="{3855629F-EA60-4330-8C34-1FAA4E169BEC}"/>
              </a:ext>
            </a:extLst>
          </p:cNvPr>
          <p:cNvSpPr>
            <a:spLocks noChangeArrowheads="1"/>
          </p:cNvSpPr>
          <p:nvPr/>
        </p:nvSpPr>
        <p:spPr bwMode="blackWhite">
          <a:xfrm>
            <a:off x="889000" y="1538883"/>
            <a:ext cx="7366000" cy="12239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13" name="Rectangle 3">
            <a:extLst>
              <a:ext uri="{FF2B5EF4-FFF2-40B4-BE49-F238E27FC236}">
                <a16:creationId xmlns:a16="http://schemas.microsoft.com/office/drawing/2014/main" id="{F96CCF3F-6D1B-A19A-460B-7E2A6764772A}"/>
              </a:ext>
            </a:extLst>
          </p:cNvPr>
          <p:cNvSpPr>
            <a:spLocks noChangeArrowheads="1"/>
          </p:cNvSpPr>
          <p:nvPr/>
        </p:nvSpPr>
        <p:spPr bwMode="blackWhite">
          <a:xfrm>
            <a:off x="900113" y="4242395"/>
            <a:ext cx="7359650" cy="2039938"/>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14" name="Rectangle 6">
            <a:extLst>
              <a:ext uri="{FF2B5EF4-FFF2-40B4-BE49-F238E27FC236}">
                <a16:creationId xmlns:a16="http://schemas.microsoft.com/office/drawing/2014/main" id="{478554D9-997B-D0AD-7A22-A6EF9044CCBB}"/>
              </a:ext>
            </a:extLst>
          </p:cNvPr>
          <p:cNvSpPr>
            <a:spLocks noChangeArrowheads="1"/>
          </p:cNvSpPr>
          <p:nvPr/>
        </p:nvSpPr>
        <p:spPr bwMode="ltGray">
          <a:xfrm>
            <a:off x="2700338" y="2259608"/>
            <a:ext cx="3311525" cy="287337"/>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5" name="Rectangle 8">
            <a:extLst>
              <a:ext uri="{FF2B5EF4-FFF2-40B4-BE49-F238E27FC236}">
                <a16:creationId xmlns:a16="http://schemas.microsoft.com/office/drawing/2014/main" id="{AE5FC801-BCAD-B4DF-ACDA-2D3F7C01D8EE}"/>
              </a:ext>
            </a:extLst>
          </p:cNvPr>
          <p:cNvSpPr>
            <a:spLocks noChangeArrowheads="1"/>
          </p:cNvSpPr>
          <p:nvPr/>
        </p:nvSpPr>
        <p:spPr bwMode="blackWhite">
          <a:xfrm>
            <a:off x="895350" y="1467445"/>
            <a:ext cx="7391400"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a:solidFill>
                  <a:srgbClr val="000000"/>
                </a:solidFill>
                <a:latin typeface="Courier New" panose="02070309020205020404" pitchFamily="49" charset="0"/>
              </a:rPr>
              <a:t>SQL&gt; SELECT	e.ename, d.deptno, d.dname</a:t>
            </a:r>
          </a:p>
          <a:p>
            <a:pPr>
              <a:lnSpc>
                <a:spcPct val="120000"/>
              </a:lnSpc>
              <a:spcBef>
                <a:spcPct val="0"/>
              </a:spcBef>
              <a:buFontTx/>
              <a:buNone/>
            </a:pPr>
            <a:r>
              <a:rPr lang="en-US" altLang="en-US" sz="1800" b="1">
                <a:solidFill>
                  <a:srgbClr val="000000"/>
                </a:solidFill>
                <a:latin typeface="Courier New" panose="02070309020205020404" pitchFamily="49" charset="0"/>
              </a:rPr>
              <a:t>  2  FROM	emp e, dept d</a:t>
            </a:r>
          </a:p>
          <a:p>
            <a:pPr>
              <a:lnSpc>
                <a:spcPct val="120000"/>
              </a:lnSpc>
              <a:spcBef>
                <a:spcPct val="0"/>
              </a:spcBef>
              <a:buFontTx/>
              <a:buNone/>
            </a:pPr>
            <a:r>
              <a:rPr lang="en-US" altLang="en-US" sz="1800" b="1">
                <a:solidFill>
                  <a:srgbClr val="000000"/>
                </a:solidFill>
                <a:latin typeface="Courier New" panose="02070309020205020404" pitchFamily="49" charset="0"/>
              </a:rPr>
              <a:t>  3  WHERE	e.deptno(+) = d.deptno</a:t>
            </a:r>
          </a:p>
          <a:p>
            <a:pPr>
              <a:lnSpc>
                <a:spcPct val="120000"/>
              </a:lnSpc>
              <a:spcBef>
                <a:spcPct val="0"/>
              </a:spcBef>
              <a:buFontTx/>
              <a:buNone/>
            </a:pPr>
            <a:r>
              <a:rPr lang="en-US" altLang="en-US" sz="1800" b="1">
                <a:solidFill>
                  <a:srgbClr val="000000"/>
                </a:solidFill>
                <a:latin typeface="Courier New" panose="02070309020205020404" pitchFamily="49" charset="0"/>
              </a:rPr>
              <a:t>  </a:t>
            </a:r>
          </a:p>
        </p:txBody>
      </p:sp>
      <p:sp>
        <p:nvSpPr>
          <p:cNvPr id="16" name="Rectangle 9">
            <a:extLst>
              <a:ext uri="{FF2B5EF4-FFF2-40B4-BE49-F238E27FC236}">
                <a16:creationId xmlns:a16="http://schemas.microsoft.com/office/drawing/2014/main" id="{9C05DFF0-159F-4B55-3326-B2F8A703435E}"/>
              </a:ext>
            </a:extLst>
          </p:cNvPr>
          <p:cNvSpPr>
            <a:spLocks noChangeArrowheads="1"/>
          </p:cNvSpPr>
          <p:nvPr/>
        </p:nvSpPr>
        <p:spPr bwMode="blackWhite">
          <a:xfrm>
            <a:off x="931863" y="4277320"/>
            <a:ext cx="733425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ENAME         DEPTNO DNAME</a:t>
            </a:r>
          </a:p>
          <a:p>
            <a:pPr>
              <a:spcBef>
                <a:spcPct val="0"/>
              </a:spcBef>
              <a:buFontTx/>
              <a:buNone/>
            </a:pPr>
            <a:r>
              <a:rPr lang="en-US" altLang="en-US" sz="1800" b="1">
                <a:solidFill>
                  <a:srgbClr val="000000"/>
                </a:solidFill>
                <a:latin typeface="Courier New" panose="02070309020205020404" pitchFamily="49" charset="0"/>
              </a:rPr>
              <a:t>---------- --------- -------------</a:t>
            </a:r>
          </a:p>
          <a:p>
            <a:pPr>
              <a:spcBef>
                <a:spcPct val="0"/>
              </a:spcBef>
              <a:buFontTx/>
              <a:buNone/>
            </a:pPr>
            <a:r>
              <a:rPr lang="en-US" altLang="en-US" sz="1800" b="1">
                <a:solidFill>
                  <a:srgbClr val="000000"/>
                </a:solidFill>
                <a:latin typeface="Courier New" panose="02070309020205020404" pitchFamily="49" charset="0"/>
              </a:rPr>
              <a:t>KING              10 ACCOUNTING</a:t>
            </a:r>
          </a:p>
          <a:p>
            <a:pPr>
              <a:spcBef>
                <a:spcPct val="0"/>
              </a:spcBef>
              <a:buFontTx/>
              <a:buNone/>
            </a:pPr>
            <a:r>
              <a:rPr lang="en-US" altLang="en-US" sz="1800" b="1">
                <a:solidFill>
                  <a:srgbClr val="000000"/>
                </a:solidFill>
                <a:latin typeface="Courier New" panose="02070309020205020404" pitchFamily="49" charset="0"/>
              </a:rPr>
              <a:t>CLARK             10 ACCOUNTING</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		     40 OPERATIONS</a:t>
            </a:r>
          </a:p>
          <a:p>
            <a:pPr>
              <a:spcBef>
                <a:spcPct val="0"/>
              </a:spcBef>
              <a:buFontTx/>
              <a:buNone/>
            </a:pPr>
            <a:r>
              <a:rPr lang="en-US" altLang="en-US" sz="1800" b="1">
                <a:solidFill>
                  <a:srgbClr val="000000"/>
                </a:solidFill>
                <a:latin typeface="Courier New" panose="02070309020205020404" pitchFamily="49" charset="0"/>
              </a:rPr>
              <a:t>15 rows selected.</a:t>
            </a:r>
          </a:p>
        </p:txBody>
      </p:sp>
      <p:sp>
        <p:nvSpPr>
          <p:cNvPr id="17" name="Rectangle 7">
            <a:extLst>
              <a:ext uri="{FF2B5EF4-FFF2-40B4-BE49-F238E27FC236}">
                <a16:creationId xmlns:a16="http://schemas.microsoft.com/office/drawing/2014/main" id="{F4F8F6C4-EC0B-69B2-3EAD-48B740387E89}"/>
              </a:ext>
            </a:extLst>
          </p:cNvPr>
          <p:cNvSpPr>
            <a:spLocks noChangeArrowheads="1"/>
          </p:cNvSpPr>
          <p:nvPr/>
        </p:nvSpPr>
        <p:spPr bwMode="ltGray">
          <a:xfrm>
            <a:off x="1042988" y="5715595"/>
            <a:ext cx="1919287" cy="288925"/>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8" name="Rectangle 2">
            <a:extLst>
              <a:ext uri="{FF2B5EF4-FFF2-40B4-BE49-F238E27FC236}">
                <a16:creationId xmlns:a16="http://schemas.microsoft.com/office/drawing/2014/main" id="{FFE42328-74F4-A483-CE60-0FFEE3094E22}"/>
              </a:ext>
            </a:extLst>
          </p:cNvPr>
          <p:cNvSpPr>
            <a:spLocks noChangeArrowheads="1"/>
          </p:cNvSpPr>
          <p:nvPr/>
        </p:nvSpPr>
        <p:spPr bwMode="blackWhite">
          <a:xfrm>
            <a:off x="920750" y="2907308"/>
            <a:ext cx="7366000" cy="1223962"/>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dirty="0">
                <a:solidFill>
                  <a:srgbClr val="000000"/>
                </a:solidFill>
                <a:latin typeface="Courier New" panose="02070309020205020404" pitchFamily="49" charset="0"/>
              </a:rPr>
              <a:t>SQL&gt; SELECT	</a:t>
            </a:r>
            <a:r>
              <a:rPr lang="en-US" altLang="en-US" sz="1800" b="1" dirty="0" err="1">
                <a:solidFill>
                  <a:srgbClr val="000000"/>
                </a:solidFill>
                <a:latin typeface="Courier New" panose="02070309020205020404" pitchFamily="49" charset="0"/>
              </a:rPr>
              <a:t>e.ename</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d.deptno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d.dname</a:t>
            </a:r>
            <a:endParaRPr lang="en-US" altLang="en-US" sz="1800" b="1" dirty="0">
              <a:solidFill>
                <a:srgbClr val="000000"/>
              </a:solidFill>
              <a:latin typeface="Courier New" panose="02070309020205020404" pitchFamily="49" charset="0"/>
            </a:endParaRPr>
          </a:p>
          <a:p>
            <a:pPr>
              <a:lnSpc>
                <a:spcPct val="120000"/>
              </a:lnSpc>
              <a:spcBef>
                <a:spcPct val="0"/>
              </a:spcBef>
              <a:buFontTx/>
              <a:buNone/>
            </a:pPr>
            <a:r>
              <a:rPr lang="en-US" altLang="en-US" sz="1800" b="1" dirty="0">
                <a:solidFill>
                  <a:srgbClr val="000000"/>
                </a:solidFill>
                <a:latin typeface="Courier New" panose="02070309020205020404" pitchFamily="49" charset="0"/>
              </a:rPr>
              <a:t>  2  FROM	</a:t>
            </a:r>
            <a:r>
              <a:rPr lang="en-US" altLang="en-US" sz="1800" b="1" dirty="0">
                <a:solidFill>
                  <a:srgbClr val="0000CC"/>
                </a:solidFill>
                <a:latin typeface="Courier New" panose="02070309020205020404" pitchFamily="49" charset="0"/>
              </a:rPr>
              <a:t>emp e RIGHT OUTER JOIN dept d</a:t>
            </a:r>
          </a:p>
          <a:p>
            <a:pPr>
              <a:lnSpc>
                <a:spcPct val="120000"/>
              </a:lnSpc>
              <a:spcBef>
                <a:spcPct val="0"/>
              </a:spcBef>
              <a:buFontTx/>
              <a:buNone/>
            </a:pPr>
            <a:r>
              <a:rPr lang="en-US" altLang="en-US" sz="1800" b="1" dirty="0">
                <a:solidFill>
                  <a:srgbClr val="000000"/>
                </a:solidFill>
                <a:latin typeface="Courier New" panose="02070309020205020404" pitchFamily="49" charset="0"/>
              </a:rPr>
              <a:t>  3  ON	</a:t>
            </a:r>
            <a:r>
              <a:rPr lang="en-US" altLang="en-US" sz="1800" b="1" dirty="0" err="1">
                <a:solidFill>
                  <a:srgbClr val="000000"/>
                </a:solidFill>
                <a:latin typeface="Courier New" panose="02070309020205020404" pitchFamily="49" charset="0"/>
              </a:rPr>
              <a:t>e.deptno</a:t>
            </a:r>
            <a:r>
              <a:rPr lang="en-US" altLang="en-US" sz="1800" b="1" dirty="0">
                <a:solidFill>
                  <a:srgbClr val="000000"/>
                </a:solidFill>
                <a:latin typeface="Courier New" panose="02070309020205020404" pitchFamily="49" charset="0"/>
              </a:rPr>
              <a:t> = </a:t>
            </a:r>
            <a:r>
              <a:rPr lang="en-US" altLang="en-US" sz="1800" b="1" dirty="0" err="1">
                <a:solidFill>
                  <a:srgbClr val="000000"/>
                </a:solidFill>
                <a:latin typeface="Courier New" panose="02070309020205020404" pitchFamily="49" charset="0"/>
              </a:rPr>
              <a:t>d.deptno</a:t>
            </a:r>
            <a:endParaRPr lang="en-US" altLang="en-US" sz="1800" b="1" dirty="0">
              <a:solidFill>
                <a:srgbClr val="000000"/>
              </a:solidFill>
              <a:latin typeface="Courier New" panose="02070309020205020404" pitchFamily="49" charset="0"/>
            </a:endParaRPr>
          </a:p>
          <a:p>
            <a:pPr>
              <a:lnSpc>
                <a:spcPct val="120000"/>
              </a:lnSpc>
              <a:spcBef>
                <a:spcPct val="0"/>
              </a:spcBef>
              <a:buFontTx/>
              <a:buNone/>
            </a:pPr>
            <a:endParaRPr lang="en-US" altLang="en-US" sz="1800" b="1" dirty="0">
              <a:solidFill>
                <a:srgbClr val="000000"/>
              </a:solidFill>
              <a:latin typeface="Courier New" panose="02070309020205020404" pitchFamily="49" charset="0"/>
            </a:endParaRPr>
          </a:p>
        </p:txBody>
      </p:sp>
      <p:sp>
        <p:nvSpPr>
          <p:cNvPr id="19" name="Rectangle 6">
            <a:extLst>
              <a:ext uri="{FF2B5EF4-FFF2-40B4-BE49-F238E27FC236}">
                <a16:creationId xmlns:a16="http://schemas.microsoft.com/office/drawing/2014/main" id="{3583B761-0A28-6CD7-D144-19B248F973E8}"/>
              </a:ext>
            </a:extLst>
          </p:cNvPr>
          <p:cNvSpPr>
            <a:spLocks noChangeArrowheads="1"/>
          </p:cNvSpPr>
          <p:nvPr/>
        </p:nvSpPr>
        <p:spPr bwMode="ltGray">
          <a:xfrm>
            <a:off x="2732088" y="3555008"/>
            <a:ext cx="3311525" cy="288925"/>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Tree>
    <p:extLst>
      <p:ext uri="{BB962C8B-B14F-4D97-AF65-F5344CB8AC3E}">
        <p14:creationId xmlns:p14="http://schemas.microsoft.com/office/powerpoint/2010/main" val="1803240537"/>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0ED30-979D-158C-C85D-512E51F9F092}"/>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DADB4395-0FDB-D805-A69C-B56342419432}"/>
              </a:ext>
            </a:extLst>
          </p:cNvPr>
          <p:cNvSpPr>
            <a:spLocks noGrp="1" noChangeArrowheads="1"/>
          </p:cNvSpPr>
          <p:nvPr>
            <p:ph type="title"/>
          </p:nvPr>
        </p:nvSpPr>
        <p:spPr>
          <a:xfrm>
            <a:off x="425450" y="20838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4. Outer Join</a:t>
            </a:r>
          </a:p>
        </p:txBody>
      </p:sp>
      <p:sp>
        <p:nvSpPr>
          <p:cNvPr id="38915" name="Rectangle 3">
            <a:extLst>
              <a:ext uri="{FF2B5EF4-FFF2-40B4-BE49-F238E27FC236}">
                <a16:creationId xmlns:a16="http://schemas.microsoft.com/office/drawing/2014/main" id="{0D07FFF8-7F51-5DA2-C1BF-791CE96E73AE}"/>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44FEC6A4-1821-E228-91BB-1902F7E1B89D}"/>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CB94C6B4-2E21-D07D-F35E-62898F64313C}"/>
              </a:ext>
            </a:extLst>
          </p:cNvPr>
          <p:cNvSpPr txBox="1">
            <a:spLocks noChangeArrowheads="1"/>
          </p:cNvSpPr>
          <p:nvPr/>
        </p:nvSpPr>
        <p:spPr bwMode="auto">
          <a:xfrm>
            <a:off x="394866" y="646451"/>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algn="just">
              <a:spcBef>
                <a:spcPts val="0"/>
              </a:spcBef>
              <a:buNone/>
            </a:pPr>
            <a:r>
              <a:rPr lang="en-US" altLang="en-US" sz="2000" b="1" dirty="0">
                <a:solidFill>
                  <a:srgbClr val="0000CC"/>
                </a:solidFill>
                <a:latin typeface="Cambria" panose="02040503050406030204" pitchFamily="18" charset="0"/>
                <a:ea typeface="Cambria" panose="02040503050406030204" pitchFamily="18" charset="0"/>
              </a:rPr>
              <a:t>FULL</a:t>
            </a:r>
          </a:p>
          <a:p>
            <a:pPr algn="just">
              <a:spcBef>
                <a:spcPts val="0"/>
              </a:spcBef>
            </a:pPr>
            <a:r>
              <a:rPr lang="en-US" altLang="en-US" sz="2000" dirty="0">
                <a:latin typeface="Cambria" panose="02040503050406030204" pitchFamily="18" charset="0"/>
                <a:ea typeface="Cambria" panose="02040503050406030204" pitchFamily="18" charset="0"/>
              </a:rPr>
              <a:t>List all the employees including the departments with zero employees.</a:t>
            </a:r>
          </a:p>
          <a:p>
            <a:pPr algn="just">
              <a:spcBef>
                <a:spcPts val="0"/>
              </a:spcBef>
            </a:pPr>
            <a:endParaRPr lang="en-US" altLang="en-US" sz="2000" dirty="0">
              <a:latin typeface="Cambria" panose="02040503050406030204" pitchFamily="18" charset="0"/>
              <a:ea typeface="Cambria" panose="02040503050406030204" pitchFamily="18" charset="0"/>
            </a:endParaRPr>
          </a:p>
          <a:p>
            <a:pPr algn="just">
              <a:spcBef>
                <a:spcPts val="0"/>
              </a:spcBef>
            </a:pPr>
            <a:endParaRPr lang="en-US" altLang="en-US" sz="2000" dirty="0">
              <a:latin typeface="Cambria" panose="02040503050406030204" pitchFamily="18" charset="0"/>
              <a:ea typeface="Cambria" panose="02040503050406030204" pitchFamily="18" charset="0"/>
            </a:endParaRPr>
          </a:p>
          <a:p>
            <a:pPr algn="just">
              <a:spcBef>
                <a:spcPts val="0"/>
              </a:spcBef>
            </a:pPr>
            <a:endParaRPr lang="en-US" altLang="en-US" sz="2000" dirty="0">
              <a:latin typeface="Cambria" panose="02040503050406030204" pitchFamily="18" charset="0"/>
              <a:ea typeface="Cambria" panose="02040503050406030204" pitchFamily="18" charset="0"/>
            </a:endParaRPr>
          </a:p>
          <a:p>
            <a:pPr algn="just">
              <a:spcBef>
                <a:spcPts val="0"/>
              </a:spcBef>
            </a:pPr>
            <a:endParaRPr lang="en-US" altLang="en-US" sz="2000" dirty="0">
              <a:latin typeface="Cambria" panose="02040503050406030204" pitchFamily="18" charset="0"/>
              <a:ea typeface="Cambria" panose="02040503050406030204" pitchFamily="18" charset="0"/>
            </a:endParaRPr>
          </a:p>
          <a:p>
            <a:pPr algn="just">
              <a:spcBef>
                <a:spcPts val="0"/>
              </a:spcBef>
            </a:pPr>
            <a:endParaRPr lang="en-US" altLang="en-US" sz="2000" dirty="0">
              <a:latin typeface="Cambria" panose="02040503050406030204" pitchFamily="18" charset="0"/>
              <a:ea typeface="Cambria" panose="02040503050406030204" pitchFamily="18" charset="0"/>
            </a:endParaRPr>
          </a:p>
          <a:p>
            <a:pPr algn="just">
              <a:spcBef>
                <a:spcPts val="0"/>
              </a:spcBef>
            </a:pPr>
            <a:endParaRPr lang="en-US" altLang="en-US" sz="2000" dirty="0">
              <a:latin typeface="Cambria" panose="02040503050406030204" pitchFamily="18" charset="0"/>
              <a:ea typeface="Cambria" panose="02040503050406030204" pitchFamily="18" charset="0"/>
            </a:endParaRPr>
          </a:p>
          <a:p>
            <a:pPr algn="just">
              <a:spcBef>
                <a:spcPts val="0"/>
              </a:spcBef>
            </a:pPr>
            <a:endParaRPr lang="en-US" altLang="en-US" sz="2000" dirty="0">
              <a:latin typeface="Cambria" panose="02040503050406030204" pitchFamily="18" charset="0"/>
              <a:ea typeface="Cambria" panose="02040503050406030204" pitchFamily="18" charset="0"/>
            </a:endParaRPr>
          </a:p>
          <a:p>
            <a:pPr algn="just">
              <a:spcBef>
                <a:spcPts val="0"/>
              </a:spcBef>
            </a:pPr>
            <a:endParaRPr lang="en-US" altLang="en-US" sz="2000" dirty="0">
              <a:latin typeface="Cambria" panose="02040503050406030204" pitchFamily="18" charset="0"/>
              <a:ea typeface="Cambria" panose="02040503050406030204" pitchFamily="18" charset="0"/>
            </a:endParaRPr>
          </a:p>
          <a:p>
            <a:pPr algn="just">
              <a:spcBef>
                <a:spcPts val="0"/>
              </a:spcBef>
            </a:pPr>
            <a:endParaRPr lang="en-US" altLang="en-US" sz="2000" dirty="0">
              <a:latin typeface="Cambria" panose="02040503050406030204" pitchFamily="18" charset="0"/>
              <a:ea typeface="Cambria" panose="02040503050406030204" pitchFamily="18" charset="0"/>
            </a:endParaRPr>
          </a:p>
          <a:p>
            <a:pPr algn="just">
              <a:spcBef>
                <a:spcPts val="0"/>
              </a:spcBef>
            </a:pPr>
            <a:endParaRPr lang="en-US" altLang="en-US" sz="2000" dirty="0">
              <a:latin typeface="Cambria" panose="02040503050406030204" pitchFamily="18" charset="0"/>
              <a:ea typeface="Cambria" panose="02040503050406030204" pitchFamily="18" charset="0"/>
            </a:endParaRPr>
          </a:p>
          <a:p>
            <a:pPr algn="just">
              <a:spcBef>
                <a:spcPts val="0"/>
              </a:spcBef>
            </a:pPr>
            <a:endParaRPr lang="en-US" altLang="en-US" sz="2000" dirty="0">
              <a:latin typeface="Cambria" panose="02040503050406030204" pitchFamily="18" charset="0"/>
              <a:ea typeface="Cambria" panose="02040503050406030204" pitchFamily="18" charset="0"/>
            </a:endParaRPr>
          </a:p>
          <a:p>
            <a:pPr algn="just">
              <a:spcBef>
                <a:spcPts val="0"/>
              </a:spcBef>
            </a:pPr>
            <a:endParaRPr lang="en-US" altLang="en-US" sz="2000" dirty="0">
              <a:latin typeface="Cambria" panose="02040503050406030204" pitchFamily="18" charset="0"/>
              <a:ea typeface="Cambria" panose="02040503050406030204" pitchFamily="18" charset="0"/>
            </a:endParaRPr>
          </a:p>
          <a:p>
            <a:pPr algn="just">
              <a:spcBef>
                <a:spcPts val="0"/>
              </a:spcBef>
            </a:pPr>
            <a:endParaRPr lang="en-US" altLang="en-US" sz="2000" dirty="0">
              <a:latin typeface="Cambria" panose="02040503050406030204" pitchFamily="18" charset="0"/>
              <a:ea typeface="Cambria" panose="02040503050406030204" pitchFamily="18" charset="0"/>
            </a:endParaRPr>
          </a:p>
          <a:p>
            <a:pPr algn="just">
              <a:spcBef>
                <a:spcPts val="0"/>
              </a:spcBef>
            </a:pPr>
            <a:r>
              <a:rPr lang="en-US" altLang="en-US" sz="2000" dirty="0">
                <a:latin typeface="Cambria" panose="02040503050406030204" pitchFamily="18" charset="0"/>
                <a:ea typeface="Cambria" panose="02040503050406030204" pitchFamily="18" charset="0"/>
              </a:rPr>
              <a:t>Similarly, INTERSECT and MINUS can be used to combine  two or more      select statements into a single query, provided that  the select-list of all the queries remain the same.</a:t>
            </a: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0"/>
              </a:spcBef>
              <a:spcAft>
                <a:spcPct val="0"/>
              </a:spcAft>
              <a:buClr>
                <a:srgbClr val="D34817"/>
              </a:buClr>
              <a:buSzPct val="50000"/>
              <a:buFont typeface="Wingdings" panose="05000000000000000000" pitchFamily="2" charset="2"/>
              <a:buChar char="l"/>
              <a:tabLst/>
              <a:defRPr/>
            </a:pPr>
            <a:endParaRPr kumimoji="0" lang="en-US" alt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F997439E-9B30-17A9-D21C-B3F2FDC58335}"/>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Rectangle 3">
            <a:extLst>
              <a:ext uri="{FF2B5EF4-FFF2-40B4-BE49-F238E27FC236}">
                <a16:creationId xmlns:a16="http://schemas.microsoft.com/office/drawing/2014/main" id="{81CBC3BC-99F1-8FF6-8829-0DEBCADA6C2D}"/>
              </a:ext>
            </a:extLst>
          </p:cNvPr>
          <p:cNvSpPr>
            <a:spLocks noChangeArrowheads="1"/>
          </p:cNvSpPr>
          <p:nvPr/>
        </p:nvSpPr>
        <p:spPr bwMode="blackWhite">
          <a:xfrm>
            <a:off x="774650" y="1485975"/>
            <a:ext cx="7366000" cy="1150937"/>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6" name="Rectangle 4">
            <a:extLst>
              <a:ext uri="{FF2B5EF4-FFF2-40B4-BE49-F238E27FC236}">
                <a16:creationId xmlns:a16="http://schemas.microsoft.com/office/drawing/2014/main" id="{33587AE9-E4D2-486A-AE5E-42A197A620DD}"/>
              </a:ext>
            </a:extLst>
          </p:cNvPr>
          <p:cNvSpPr>
            <a:spLocks noChangeArrowheads="1"/>
          </p:cNvSpPr>
          <p:nvPr/>
        </p:nvSpPr>
        <p:spPr bwMode="blackWhite">
          <a:xfrm>
            <a:off x="781000" y="1412950"/>
            <a:ext cx="739140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dirty="0">
                <a:solidFill>
                  <a:srgbClr val="000000"/>
                </a:solidFill>
                <a:latin typeface="Courier New" panose="02070309020205020404" pitchFamily="49" charset="0"/>
              </a:rPr>
              <a:t>SQL&gt; SELECT	</a:t>
            </a:r>
            <a:r>
              <a:rPr lang="en-US" altLang="en-US" sz="1800" b="1" dirty="0" err="1">
                <a:solidFill>
                  <a:srgbClr val="000000"/>
                </a:solidFill>
                <a:latin typeface="Courier New" panose="02070309020205020404" pitchFamily="49" charset="0"/>
              </a:rPr>
              <a:t>e.ename</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d.deptno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d.dname</a:t>
            </a:r>
            <a:endParaRPr lang="en-US" altLang="en-US" sz="1800" b="1" dirty="0">
              <a:solidFill>
                <a:srgbClr val="000000"/>
              </a:solidFill>
              <a:latin typeface="Courier New" panose="02070309020205020404" pitchFamily="49" charset="0"/>
            </a:endParaRPr>
          </a:p>
          <a:p>
            <a:pPr>
              <a:lnSpc>
                <a:spcPct val="120000"/>
              </a:lnSpc>
              <a:spcBef>
                <a:spcPct val="0"/>
              </a:spcBef>
              <a:buFontTx/>
              <a:buNone/>
            </a:pPr>
            <a:r>
              <a:rPr lang="en-US" altLang="en-US" sz="1800" b="1" dirty="0">
                <a:solidFill>
                  <a:srgbClr val="000000"/>
                </a:solidFill>
                <a:latin typeface="Courier New" panose="02070309020205020404" pitchFamily="49" charset="0"/>
              </a:rPr>
              <a:t>  2  FROM	</a:t>
            </a:r>
            <a:r>
              <a:rPr lang="en-US" altLang="en-US" sz="1800" b="1" dirty="0">
                <a:solidFill>
                  <a:srgbClr val="0000CC"/>
                </a:solidFill>
                <a:latin typeface="Courier New" panose="02070309020205020404" pitchFamily="49" charset="0"/>
              </a:rPr>
              <a:t>emp e FULL OUTER JOIN dept d</a:t>
            </a:r>
          </a:p>
          <a:p>
            <a:pPr>
              <a:lnSpc>
                <a:spcPct val="120000"/>
              </a:lnSpc>
              <a:spcBef>
                <a:spcPct val="0"/>
              </a:spcBef>
              <a:buFontTx/>
              <a:buNone/>
            </a:pPr>
            <a:r>
              <a:rPr lang="en-US" altLang="en-US" sz="1800" b="1" dirty="0">
                <a:solidFill>
                  <a:srgbClr val="000000"/>
                </a:solidFill>
                <a:latin typeface="Courier New" panose="02070309020205020404" pitchFamily="49" charset="0"/>
              </a:rPr>
              <a:t>  3  ON	</a:t>
            </a:r>
            <a:r>
              <a:rPr lang="en-US" altLang="en-US" sz="1800" b="1" dirty="0" err="1">
                <a:solidFill>
                  <a:srgbClr val="000000"/>
                </a:solidFill>
                <a:latin typeface="Courier New" panose="02070309020205020404" pitchFamily="49" charset="0"/>
              </a:rPr>
              <a:t>e.deptno</a:t>
            </a:r>
            <a:r>
              <a:rPr lang="en-US" altLang="en-US" sz="1800" b="1" dirty="0">
                <a:solidFill>
                  <a:srgbClr val="000000"/>
                </a:solidFill>
                <a:latin typeface="Courier New" panose="02070309020205020404" pitchFamily="49" charset="0"/>
              </a:rPr>
              <a:t> = </a:t>
            </a:r>
            <a:r>
              <a:rPr lang="en-US" altLang="en-US" sz="1800" b="1" dirty="0" err="1">
                <a:solidFill>
                  <a:srgbClr val="000000"/>
                </a:solidFill>
                <a:latin typeface="Courier New" panose="02070309020205020404" pitchFamily="49" charset="0"/>
              </a:rPr>
              <a:t>d.deptno</a:t>
            </a:r>
            <a:endParaRPr lang="en-US" altLang="en-US" sz="1800" b="1" dirty="0">
              <a:solidFill>
                <a:srgbClr val="000000"/>
              </a:solidFill>
              <a:latin typeface="Courier New" panose="02070309020205020404" pitchFamily="49" charset="0"/>
            </a:endParaRPr>
          </a:p>
        </p:txBody>
      </p:sp>
      <p:sp>
        <p:nvSpPr>
          <p:cNvPr id="8" name="Rectangle 3">
            <a:extLst>
              <a:ext uri="{FF2B5EF4-FFF2-40B4-BE49-F238E27FC236}">
                <a16:creationId xmlns:a16="http://schemas.microsoft.com/office/drawing/2014/main" id="{043184FD-A167-5155-0CCA-1EABA0A07D9F}"/>
              </a:ext>
            </a:extLst>
          </p:cNvPr>
          <p:cNvSpPr>
            <a:spLocks noChangeArrowheads="1"/>
          </p:cNvSpPr>
          <p:nvPr/>
        </p:nvSpPr>
        <p:spPr bwMode="blackWhite">
          <a:xfrm>
            <a:off x="777428" y="2864842"/>
            <a:ext cx="7366000" cy="2292350"/>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9" name="Rectangle 4">
            <a:extLst>
              <a:ext uri="{FF2B5EF4-FFF2-40B4-BE49-F238E27FC236}">
                <a16:creationId xmlns:a16="http://schemas.microsoft.com/office/drawing/2014/main" id="{52C08787-4249-9B81-0EFA-791EF5EB2072}"/>
              </a:ext>
            </a:extLst>
          </p:cNvPr>
          <p:cNvSpPr>
            <a:spLocks noChangeArrowheads="1"/>
          </p:cNvSpPr>
          <p:nvPr/>
        </p:nvSpPr>
        <p:spPr bwMode="blackWhite">
          <a:xfrm>
            <a:off x="783778" y="2852142"/>
            <a:ext cx="7391400"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857250" algn="l"/>
                <a:tab pos="1890713" algn="l"/>
              </a:tabLst>
              <a:defRPr sz="2800">
                <a:solidFill>
                  <a:schemeClr val="tx1"/>
                </a:solidFill>
                <a:latin typeface="Arial" panose="020B0604020202020204" pitchFamily="34" charset="0"/>
              </a:defRPr>
            </a:lvl1pPr>
            <a:lvl2pPr marL="742950" indent="-285750">
              <a:spcBef>
                <a:spcPct val="20000"/>
              </a:spcBef>
              <a:buChar char="–"/>
              <a:tabLst>
                <a:tab pos="857250" algn="l"/>
                <a:tab pos="1890713" algn="l"/>
              </a:tabLst>
              <a:defRPr sz="2400">
                <a:solidFill>
                  <a:schemeClr val="tx1"/>
                </a:solidFill>
                <a:latin typeface="Arial" panose="020B0604020202020204" pitchFamily="34" charset="0"/>
              </a:defRPr>
            </a:lvl2pPr>
            <a:lvl3pPr marL="1143000" indent="-228600">
              <a:spcBef>
                <a:spcPct val="20000"/>
              </a:spcBef>
              <a:buChar char="•"/>
              <a:tabLst>
                <a:tab pos="857250" algn="l"/>
                <a:tab pos="1890713" algn="l"/>
              </a:tabLst>
              <a:defRPr sz="2000">
                <a:solidFill>
                  <a:schemeClr val="tx1"/>
                </a:solidFill>
                <a:latin typeface="Arial" panose="020B0604020202020204" pitchFamily="34" charset="0"/>
              </a:defRPr>
            </a:lvl3pPr>
            <a:lvl4pPr marL="1600200" indent="-228600">
              <a:spcBef>
                <a:spcPct val="20000"/>
              </a:spcBef>
              <a:buChar char="–"/>
              <a:tabLst>
                <a:tab pos="857250" algn="l"/>
                <a:tab pos="1890713" algn="l"/>
              </a:tabLst>
              <a:defRPr sz="2000">
                <a:solidFill>
                  <a:schemeClr val="tx1"/>
                </a:solidFill>
                <a:latin typeface="Arial" panose="020B0604020202020204" pitchFamily="34" charset="0"/>
              </a:defRPr>
            </a:lvl4pPr>
            <a:lvl5pPr marL="2057400" indent="-228600">
              <a:spcBef>
                <a:spcPct val="20000"/>
              </a:spcBef>
              <a:buChar char="»"/>
              <a:tabLst>
                <a:tab pos="857250" algn="l"/>
                <a:tab pos="189071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890713"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dirty="0">
                <a:solidFill>
                  <a:srgbClr val="000000"/>
                </a:solidFill>
                <a:latin typeface="Courier New" panose="02070309020205020404" pitchFamily="49" charset="0"/>
              </a:rPr>
              <a:t>SQL&gt; SELECT	</a:t>
            </a:r>
            <a:r>
              <a:rPr lang="en-US" altLang="en-US" sz="1800" b="1" dirty="0" err="1">
                <a:solidFill>
                  <a:srgbClr val="000000"/>
                </a:solidFill>
                <a:latin typeface="Courier New" panose="02070309020205020404" pitchFamily="49" charset="0"/>
              </a:rPr>
              <a:t>e.ename</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d.deptno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d.dname</a:t>
            </a:r>
            <a:endParaRPr lang="en-US" altLang="en-US" sz="1800" b="1" dirty="0">
              <a:solidFill>
                <a:srgbClr val="000000"/>
              </a:solidFill>
              <a:latin typeface="Courier New" panose="02070309020205020404" pitchFamily="49" charset="0"/>
            </a:endParaRPr>
          </a:p>
          <a:p>
            <a:pPr>
              <a:lnSpc>
                <a:spcPct val="120000"/>
              </a:lnSpc>
              <a:spcBef>
                <a:spcPct val="0"/>
              </a:spcBef>
              <a:buFontTx/>
              <a:buNone/>
            </a:pPr>
            <a:r>
              <a:rPr lang="en-US" altLang="en-US" sz="1800" b="1" dirty="0">
                <a:solidFill>
                  <a:srgbClr val="000000"/>
                </a:solidFill>
                <a:latin typeface="Courier New" panose="02070309020205020404" pitchFamily="49" charset="0"/>
              </a:rPr>
              <a:t>  2  FROM	emp e, dept d</a:t>
            </a:r>
          </a:p>
          <a:p>
            <a:pPr>
              <a:lnSpc>
                <a:spcPct val="120000"/>
              </a:lnSpc>
              <a:spcBef>
                <a:spcPct val="0"/>
              </a:spcBef>
              <a:buFontTx/>
              <a:buNone/>
            </a:pPr>
            <a:r>
              <a:rPr lang="en-US" altLang="en-US" sz="1800" b="1" dirty="0">
                <a:solidFill>
                  <a:srgbClr val="000000"/>
                </a:solidFill>
                <a:latin typeface="Courier New" panose="02070309020205020404" pitchFamily="49" charset="0"/>
              </a:rPr>
              <a:t>  3  WHERE	</a:t>
            </a:r>
            <a:r>
              <a:rPr lang="en-US" altLang="en-US" sz="1800" b="1" dirty="0" err="1">
                <a:solidFill>
                  <a:srgbClr val="FF0000"/>
                </a:solidFill>
                <a:latin typeface="Courier New" panose="02070309020205020404" pitchFamily="49" charset="0"/>
              </a:rPr>
              <a:t>e.deptno</a:t>
            </a:r>
            <a:r>
              <a:rPr lang="en-US" altLang="en-US" sz="1800" b="1" dirty="0">
                <a:solidFill>
                  <a:srgbClr val="FF0000"/>
                </a:solidFill>
                <a:latin typeface="Courier New" panose="02070309020205020404" pitchFamily="49" charset="0"/>
              </a:rPr>
              <a:t>(+)</a:t>
            </a:r>
            <a:r>
              <a:rPr lang="en-US" altLang="en-US" sz="1800" b="1" dirty="0">
                <a:solidFill>
                  <a:srgbClr val="000000"/>
                </a:solidFill>
                <a:latin typeface="Courier New" panose="02070309020205020404" pitchFamily="49" charset="0"/>
              </a:rPr>
              <a:t> = </a:t>
            </a:r>
            <a:r>
              <a:rPr lang="en-US" altLang="en-US" sz="1800" b="1" dirty="0" err="1">
                <a:solidFill>
                  <a:srgbClr val="000000"/>
                </a:solidFill>
                <a:latin typeface="Courier New" panose="02070309020205020404" pitchFamily="49" charset="0"/>
              </a:rPr>
              <a:t>d.deptno</a:t>
            </a:r>
            <a:endParaRPr lang="en-US" altLang="en-US" sz="1800" b="1" dirty="0">
              <a:solidFill>
                <a:srgbClr val="000000"/>
              </a:solidFill>
              <a:latin typeface="Courier New" panose="02070309020205020404" pitchFamily="49" charset="0"/>
            </a:endParaRPr>
          </a:p>
          <a:p>
            <a:pPr eaLnBrk="1" hangingPunct="1">
              <a:spcBef>
                <a:spcPct val="0"/>
              </a:spcBef>
              <a:buFontTx/>
              <a:buNone/>
            </a:pPr>
            <a:r>
              <a:rPr lang="en-US" altLang="en-US" sz="1800" b="1" dirty="0">
                <a:solidFill>
                  <a:schemeClr val="accent2"/>
                </a:solidFill>
                <a:latin typeface="Courier New" panose="02070309020205020404" pitchFamily="49" charset="0"/>
              </a:rPr>
              <a:t>  </a:t>
            </a:r>
            <a:r>
              <a:rPr lang="en-US" altLang="en-US" sz="1800" b="1" dirty="0">
                <a:latin typeface="Courier New" panose="02070309020205020404" pitchFamily="49" charset="0"/>
              </a:rPr>
              <a:t>4</a:t>
            </a:r>
            <a:r>
              <a:rPr lang="en-US" altLang="en-US" sz="1800" b="1" dirty="0">
                <a:solidFill>
                  <a:schemeClr val="accent2"/>
                </a:solidFill>
                <a:latin typeface="Courier New" panose="02070309020205020404" pitchFamily="49" charset="0"/>
              </a:rPr>
              <a:t>  </a:t>
            </a:r>
            <a:r>
              <a:rPr lang="en-US" altLang="en-US" sz="1800" b="1" dirty="0">
                <a:solidFill>
                  <a:srgbClr val="0000CC"/>
                </a:solidFill>
                <a:latin typeface="Courier New" panose="02070309020205020404" pitchFamily="49" charset="0"/>
              </a:rPr>
              <a:t>UNION</a:t>
            </a:r>
          </a:p>
          <a:p>
            <a:pPr eaLnBrk="1" hangingPunct="1">
              <a:spcBef>
                <a:spcPct val="0"/>
              </a:spcBef>
              <a:buFontTx/>
              <a:buNone/>
            </a:pPr>
            <a:r>
              <a:rPr lang="en-US" altLang="en-US" sz="1800" b="1" dirty="0">
                <a:solidFill>
                  <a:srgbClr val="000000"/>
                </a:solidFill>
                <a:latin typeface="Courier New" panose="02070309020205020404" pitchFamily="49" charset="0"/>
              </a:rPr>
              <a:t>  5  SELECT	</a:t>
            </a:r>
            <a:r>
              <a:rPr lang="en-US" altLang="en-US" sz="1800" b="1" dirty="0" err="1">
                <a:solidFill>
                  <a:srgbClr val="000000"/>
                </a:solidFill>
                <a:latin typeface="Courier New" panose="02070309020205020404" pitchFamily="49" charset="0"/>
              </a:rPr>
              <a:t>e.ename</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d.deptno</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d.dname</a:t>
            </a:r>
            <a:endParaRPr lang="en-US" altLang="en-US" sz="1800" b="1" dirty="0">
              <a:solidFill>
                <a:srgbClr val="000000"/>
              </a:solidFill>
              <a:latin typeface="Courier New" panose="02070309020205020404" pitchFamily="49" charset="0"/>
            </a:endParaRPr>
          </a:p>
          <a:p>
            <a:pPr eaLnBrk="1" hangingPunct="1">
              <a:spcBef>
                <a:spcPct val="0"/>
              </a:spcBef>
              <a:buFontTx/>
              <a:buNone/>
            </a:pPr>
            <a:r>
              <a:rPr lang="en-US" altLang="en-US" sz="1800" b="1" dirty="0">
                <a:solidFill>
                  <a:srgbClr val="000000"/>
                </a:solidFill>
                <a:latin typeface="Courier New" panose="02070309020205020404" pitchFamily="49" charset="0"/>
              </a:rPr>
              <a:t>  6  FROM	emp e, dept d</a:t>
            </a:r>
          </a:p>
          <a:p>
            <a:pPr eaLnBrk="1" hangingPunct="1">
              <a:spcBef>
                <a:spcPct val="0"/>
              </a:spcBef>
              <a:buFontTx/>
              <a:buNone/>
            </a:pPr>
            <a:r>
              <a:rPr lang="en-US" altLang="en-US" sz="1800" b="1" dirty="0">
                <a:solidFill>
                  <a:srgbClr val="000000"/>
                </a:solidFill>
                <a:latin typeface="Courier New" panose="02070309020205020404" pitchFamily="49" charset="0"/>
              </a:rPr>
              <a:t>  3  WHERE	</a:t>
            </a:r>
            <a:r>
              <a:rPr lang="en-US" altLang="en-US" sz="1800" b="1" dirty="0" err="1">
                <a:solidFill>
                  <a:srgbClr val="000000"/>
                </a:solidFill>
                <a:latin typeface="Courier New" panose="02070309020205020404" pitchFamily="49" charset="0"/>
              </a:rPr>
              <a:t>e.deptno</a:t>
            </a:r>
            <a:r>
              <a:rPr lang="en-US" altLang="en-US" sz="1800" b="1" dirty="0">
                <a:solidFill>
                  <a:srgbClr val="000000"/>
                </a:solidFill>
                <a:latin typeface="Courier New" panose="02070309020205020404" pitchFamily="49" charset="0"/>
              </a:rPr>
              <a:t> = </a:t>
            </a:r>
            <a:r>
              <a:rPr lang="en-US" altLang="en-US" sz="1800" b="1" dirty="0" err="1">
                <a:solidFill>
                  <a:srgbClr val="FF0000"/>
                </a:solidFill>
                <a:latin typeface="Courier New" panose="02070309020205020404" pitchFamily="49" charset="0"/>
              </a:rPr>
              <a:t>d.deptno</a:t>
            </a:r>
            <a:r>
              <a:rPr lang="en-US" altLang="en-US" sz="1800" b="1" dirty="0">
                <a:solidFill>
                  <a:srgbClr val="FF0000"/>
                </a:solidFill>
                <a:latin typeface="Courier New" panose="02070309020205020404" pitchFamily="49" charset="0"/>
              </a:rPr>
              <a:t>(+)</a:t>
            </a:r>
          </a:p>
        </p:txBody>
      </p:sp>
    </p:spTree>
    <p:extLst>
      <p:ext uri="{BB962C8B-B14F-4D97-AF65-F5344CB8AC3E}">
        <p14:creationId xmlns:p14="http://schemas.microsoft.com/office/powerpoint/2010/main" val="8436631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695A4-2607-EC91-DCCE-27115E42BF80}"/>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6AB2B03A-0CF7-5DE4-66BD-99F5BB7EAA5E}"/>
              </a:ext>
            </a:extLst>
          </p:cNvPr>
          <p:cNvSpPr>
            <a:spLocks noGrp="1" noChangeArrowheads="1"/>
          </p:cNvSpPr>
          <p:nvPr>
            <p:ph type="title"/>
          </p:nvPr>
        </p:nvSpPr>
        <p:spPr>
          <a:xfrm>
            <a:off x="425450" y="23130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5. Non-Equi Join</a:t>
            </a:r>
          </a:p>
        </p:txBody>
      </p:sp>
      <p:sp>
        <p:nvSpPr>
          <p:cNvPr id="38915" name="Rectangle 3">
            <a:extLst>
              <a:ext uri="{FF2B5EF4-FFF2-40B4-BE49-F238E27FC236}">
                <a16:creationId xmlns:a16="http://schemas.microsoft.com/office/drawing/2014/main" id="{6BBF42DF-2795-581F-33AE-5A56A37DEAF0}"/>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DE5B2744-68AB-3852-2F66-69FAED6920B7}"/>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F6930BA7-9DBF-5810-911F-DE5AE84EDB78}"/>
              </a:ext>
            </a:extLst>
          </p:cNvPr>
          <p:cNvSpPr txBox="1">
            <a:spLocks noChangeArrowheads="1"/>
          </p:cNvSpPr>
          <p:nvPr/>
        </p:nvSpPr>
        <p:spPr bwMode="auto">
          <a:xfrm>
            <a:off x="394866" y="836712"/>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gn="just"/>
            <a:r>
              <a:rPr lang="en-US" altLang="en-US" sz="2400" dirty="0">
                <a:latin typeface="Cambria" panose="02040503050406030204" pitchFamily="18" charset="0"/>
                <a:ea typeface="Cambria" panose="02040503050406030204" pitchFamily="18" charset="0"/>
              </a:rPr>
              <a:t>When a join condition relates two tables by an operator other than equality, it is a non-equijoin. </a:t>
            </a:r>
          </a:p>
          <a:p>
            <a:pPr algn="just"/>
            <a:r>
              <a:rPr lang="en-US" altLang="en-US" sz="2400" dirty="0">
                <a:latin typeface="Cambria" panose="02040503050406030204" pitchFamily="18" charset="0"/>
                <a:ea typeface="Cambria" panose="02040503050406030204" pitchFamily="18" charset="0"/>
              </a:rPr>
              <a:t>Non-equijoin is used to retrieve data from two tables that don’t have a common attribute between them, but still the tables are related with each other.</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BC87C5EA-CE7E-855B-98CC-B741221EE19E}"/>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grpSp>
        <p:nvGrpSpPr>
          <p:cNvPr id="3" name="Group 4">
            <a:extLst>
              <a:ext uri="{FF2B5EF4-FFF2-40B4-BE49-F238E27FC236}">
                <a16:creationId xmlns:a16="http://schemas.microsoft.com/office/drawing/2014/main" id="{5BB87163-FACE-7D2D-73D9-6D25D2F01E64}"/>
              </a:ext>
            </a:extLst>
          </p:cNvPr>
          <p:cNvGrpSpPr>
            <a:grpSpLocks/>
          </p:cNvGrpSpPr>
          <p:nvPr/>
        </p:nvGrpSpPr>
        <p:grpSpPr bwMode="auto">
          <a:xfrm>
            <a:off x="3771900" y="124942"/>
            <a:ext cx="1701800" cy="639762"/>
            <a:chOff x="1752" y="1632"/>
            <a:chExt cx="1072" cy="403"/>
          </a:xfrm>
        </p:grpSpPr>
        <p:sp>
          <p:nvSpPr>
            <p:cNvPr id="6" name="Rectangle 5">
              <a:extLst>
                <a:ext uri="{FF2B5EF4-FFF2-40B4-BE49-F238E27FC236}">
                  <a16:creationId xmlns:a16="http://schemas.microsoft.com/office/drawing/2014/main" id="{943CA816-F06E-0849-BF38-3475E88270D7}"/>
                </a:ext>
              </a:extLst>
            </p:cNvPr>
            <p:cNvSpPr>
              <a:spLocks noChangeArrowheads="1"/>
            </p:cNvSpPr>
            <p:nvPr/>
          </p:nvSpPr>
          <p:spPr bwMode="blackWhite">
            <a:xfrm>
              <a:off x="1752" y="1632"/>
              <a:ext cx="490" cy="403"/>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7" name="Rectangle 6">
              <a:extLst>
                <a:ext uri="{FF2B5EF4-FFF2-40B4-BE49-F238E27FC236}">
                  <a16:creationId xmlns:a16="http://schemas.microsoft.com/office/drawing/2014/main" id="{AC75634F-7C2E-F052-5C7B-6C140905C7C4}"/>
                </a:ext>
              </a:extLst>
            </p:cNvPr>
            <p:cNvSpPr>
              <a:spLocks noChangeArrowheads="1"/>
            </p:cNvSpPr>
            <p:nvPr/>
          </p:nvSpPr>
          <p:spPr bwMode="blackWhite">
            <a:xfrm>
              <a:off x="2334" y="1632"/>
              <a:ext cx="490" cy="403"/>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 name="Oval 7">
              <a:extLst>
                <a:ext uri="{FF2B5EF4-FFF2-40B4-BE49-F238E27FC236}">
                  <a16:creationId xmlns:a16="http://schemas.microsoft.com/office/drawing/2014/main" id="{E103A845-C87E-64EF-9088-6DC03FC5139C}"/>
                </a:ext>
              </a:extLst>
            </p:cNvPr>
            <p:cNvSpPr>
              <a:spLocks noChangeArrowheads="1"/>
            </p:cNvSpPr>
            <p:nvPr/>
          </p:nvSpPr>
          <p:spPr bwMode="blackWhite">
            <a:xfrm>
              <a:off x="1947" y="1794"/>
              <a:ext cx="87" cy="87"/>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9" name="Line 8">
              <a:extLst>
                <a:ext uri="{FF2B5EF4-FFF2-40B4-BE49-F238E27FC236}">
                  <a16:creationId xmlns:a16="http://schemas.microsoft.com/office/drawing/2014/main" id="{4EB7D21D-0DD4-BF98-7EFD-09700927F29B}"/>
                </a:ext>
              </a:extLst>
            </p:cNvPr>
            <p:cNvSpPr>
              <a:spLocks noChangeShapeType="1"/>
            </p:cNvSpPr>
            <p:nvPr/>
          </p:nvSpPr>
          <p:spPr bwMode="blackWhite">
            <a:xfrm>
              <a:off x="2078" y="1838"/>
              <a:ext cx="410"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sp>
          <p:nvSpPr>
            <p:cNvPr id="10" name="Rectangle 9">
              <a:extLst>
                <a:ext uri="{FF2B5EF4-FFF2-40B4-BE49-F238E27FC236}">
                  <a16:creationId xmlns:a16="http://schemas.microsoft.com/office/drawing/2014/main" id="{0E64E353-127D-9E5B-F6A6-0A6BC7DD26F7}"/>
                </a:ext>
              </a:extLst>
            </p:cNvPr>
            <p:cNvSpPr>
              <a:spLocks noChangeArrowheads="1"/>
            </p:cNvSpPr>
            <p:nvPr/>
          </p:nvSpPr>
          <p:spPr bwMode="blackWhite">
            <a:xfrm>
              <a:off x="2520" y="1794"/>
              <a:ext cx="87" cy="87"/>
            </a:xfrm>
            <a:prstGeom prst="rect">
              <a:avLst/>
            </a:prstGeom>
            <a:solidFill>
              <a:srgbClr val="0099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11" name="Rectangle 2">
            <a:extLst>
              <a:ext uri="{FF2B5EF4-FFF2-40B4-BE49-F238E27FC236}">
                <a16:creationId xmlns:a16="http://schemas.microsoft.com/office/drawing/2014/main" id="{D17B8E03-8CD6-9C99-1A00-04D3A45A4344}"/>
              </a:ext>
            </a:extLst>
          </p:cNvPr>
          <p:cNvSpPr>
            <a:spLocks noChangeArrowheads="1"/>
          </p:cNvSpPr>
          <p:nvPr/>
        </p:nvSpPr>
        <p:spPr bwMode="blackWhite">
          <a:xfrm>
            <a:off x="968376" y="3148705"/>
            <a:ext cx="3263900" cy="32416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857250" algn="l"/>
                <a:tab pos="1771650" algn="l"/>
                <a:tab pos="2857500" algn="l"/>
                <a:tab pos="3486150" algn="l"/>
                <a:tab pos="4914900" algn="l"/>
                <a:tab pos="5600700" algn="l"/>
                <a:tab pos="6400800" algn="l"/>
              </a:tabLst>
              <a:defRPr sz="2800">
                <a:solidFill>
                  <a:schemeClr val="tx1"/>
                </a:solidFill>
                <a:latin typeface="Arial" panose="020B0604020202020204" pitchFamily="34" charset="0"/>
              </a:defRPr>
            </a:lvl1pPr>
            <a:lvl2pPr marL="742950" indent="-285750">
              <a:spcBef>
                <a:spcPct val="20000"/>
              </a:spcBef>
              <a:buChar char="–"/>
              <a:tabLst>
                <a:tab pos="857250" algn="l"/>
                <a:tab pos="1771650" algn="l"/>
                <a:tab pos="2857500" algn="l"/>
                <a:tab pos="3486150" algn="l"/>
                <a:tab pos="4914900" algn="l"/>
                <a:tab pos="5600700" algn="l"/>
                <a:tab pos="6400800" algn="l"/>
              </a:tabLst>
              <a:defRPr sz="2400">
                <a:solidFill>
                  <a:schemeClr val="tx1"/>
                </a:solidFill>
                <a:latin typeface="Arial" panose="020B0604020202020204" pitchFamily="34" charset="0"/>
              </a:defRPr>
            </a:lvl2pPr>
            <a:lvl3pPr marL="1143000" indent="-228600">
              <a:spcBef>
                <a:spcPct val="20000"/>
              </a:spcBef>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3pPr>
            <a:lvl4pPr marL="1600200" indent="-228600">
              <a:spcBef>
                <a:spcPct val="20000"/>
              </a:spcBef>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4pPr>
            <a:lvl5pPr marL="2057400" indent="-228600">
              <a:spcBef>
                <a:spcPct val="20000"/>
              </a:spcBef>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12" name="Rectangle 3">
            <a:extLst>
              <a:ext uri="{FF2B5EF4-FFF2-40B4-BE49-F238E27FC236}">
                <a16:creationId xmlns:a16="http://schemas.microsoft.com/office/drawing/2014/main" id="{0D0C8821-EF35-6530-4598-7F302012FFE3}"/>
              </a:ext>
            </a:extLst>
          </p:cNvPr>
          <p:cNvSpPr>
            <a:spLocks noChangeArrowheads="1"/>
          </p:cNvSpPr>
          <p:nvPr/>
        </p:nvSpPr>
        <p:spPr bwMode="blackWhite">
          <a:xfrm>
            <a:off x="4965701" y="3148705"/>
            <a:ext cx="2847975" cy="19399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1485900" algn="r"/>
                <a:tab pos="1885950" algn="l"/>
              </a:tabLst>
              <a:defRPr sz="2800">
                <a:solidFill>
                  <a:schemeClr val="tx1"/>
                </a:solidFill>
                <a:latin typeface="Arial" panose="020B0604020202020204" pitchFamily="34" charset="0"/>
              </a:defRPr>
            </a:lvl1pPr>
            <a:lvl2pPr marL="742950" indent="-285750">
              <a:spcBef>
                <a:spcPct val="20000"/>
              </a:spcBef>
              <a:buChar char="–"/>
              <a:tabLst>
                <a:tab pos="1485900" algn="r"/>
                <a:tab pos="1885950" algn="l"/>
              </a:tabLst>
              <a:defRPr sz="2400">
                <a:solidFill>
                  <a:schemeClr val="tx1"/>
                </a:solidFill>
                <a:latin typeface="Arial" panose="020B0604020202020204" pitchFamily="34" charset="0"/>
              </a:defRPr>
            </a:lvl2pPr>
            <a:lvl3pPr marL="1143000" indent="-228600">
              <a:spcBef>
                <a:spcPct val="20000"/>
              </a:spcBef>
              <a:buChar char="•"/>
              <a:tabLst>
                <a:tab pos="1485900" algn="r"/>
                <a:tab pos="1885950" algn="l"/>
              </a:tabLst>
              <a:defRPr sz="2000">
                <a:solidFill>
                  <a:schemeClr val="tx1"/>
                </a:solidFill>
                <a:latin typeface="Arial" panose="020B0604020202020204" pitchFamily="34" charset="0"/>
              </a:defRPr>
            </a:lvl3pPr>
            <a:lvl4pPr marL="1600200" indent="-228600">
              <a:spcBef>
                <a:spcPct val="20000"/>
              </a:spcBef>
              <a:buChar char="–"/>
              <a:tabLst>
                <a:tab pos="1485900" algn="r"/>
                <a:tab pos="1885950" algn="l"/>
              </a:tabLst>
              <a:defRPr sz="2000">
                <a:solidFill>
                  <a:schemeClr val="tx1"/>
                </a:solidFill>
                <a:latin typeface="Arial" panose="020B0604020202020204" pitchFamily="34" charset="0"/>
              </a:defRPr>
            </a:lvl4pPr>
            <a:lvl5pPr marL="2057400" indent="-228600">
              <a:spcBef>
                <a:spcPct val="20000"/>
              </a:spcBef>
              <a:buChar char="»"/>
              <a:tabLst>
                <a:tab pos="1485900" algn="r"/>
                <a:tab pos="18859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485900" algn="r"/>
                <a:tab pos="18859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485900" algn="r"/>
                <a:tab pos="18859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485900" algn="r"/>
                <a:tab pos="18859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485900" algn="r"/>
                <a:tab pos="188595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13" name="Rectangle 5">
            <a:extLst>
              <a:ext uri="{FF2B5EF4-FFF2-40B4-BE49-F238E27FC236}">
                <a16:creationId xmlns:a16="http://schemas.microsoft.com/office/drawing/2014/main" id="{496E3E4B-E2A1-13B6-208B-CD9F8B5898EA}"/>
              </a:ext>
            </a:extLst>
          </p:cNvPr>
          <p:cNvSpPr>
            <a:spLocks noChangeArrowheads="1"/>
          </p:cNvSpPr>
          <p:nvPr/>
        </p:nvSpPr>
        <p:spPr bwMode="auto">
          <a:xfrm>
            <a:off x="287176" y="3111160"/>
            <a:ext cx="706925" cy="400752"/>
          </a:xfrm>
          <a:prstGeom prst="rect">
            <a:avLst/>
          </a:prstGeom>
          <a:noFill/>
          <a:ln w="9525">
            <a:noFill/>
            <a:miter lim="800000"/>
            <a:headEnd/>
            <a:tailEnd/>
          </a:ln>
          <a:effectLst/>
        </p:spPr>
        <p:txBody>
          <a:bodyPr wrap="none" lIns="92075" tIns="46038" rIns="92075" bIns="46038">
            <a:spAutoFit/>
          </a:bodyPr>
          <a:lstStyle/>
          <a:p>
            <a:pPr>
              <a:defRPr/>
            </a:pPr>
            <a:r>
              <a:rPr lang="en-US" sz="2000" dirty="0">
                <a:solidFill>
                  <a:srgbClr val="0000CC"/>
                </a:solidFill>
                <a:latin typeface="Cambria" panose="02040503050406030204" pitchFamily="18" charset="0"/>
                <a:ea typeface="Cambria" panose="02040503050406030204" pitchFamily="18" charset="0"/>
              </a:rPr>
              <a:t>EMP</a:t>
            </a:r>
          </a:p>
        </p:txBody>
      </p:sp>
      <p:sp>
        <p:nvSpPr>
          <p:cNvPr id="14" name="Rectangle 6">
            <a:extLst>
              <a:ext uri="{FF2B5EF4-FFF2-40B4-BE49-F238E27FC236}">
                <a16:creationId xmlns:a16="http://schemas.microsoft.com/office/drawing/2014/main" id="{BD9183C4-F8BB-6D02-0CE8-06FA6595443F}"/>
              </a:ext>
            </a:extLst>
          </p:cNvPr>
          <p:cNvSpPr>
            <a:spLocks noChangeArrowheads="1"/>
          </p:cNvSpPr>
          <p:nvPr/>
        </p:nvSpPr>
        <p:spPr bwMode="auto">
          <a:xfrm>
            <a:off x="5678503" y="2767797"/>
            <a:ext cx="1447576" cy="400752"/>
          </a:xfrm>
          <a:prstGeom prst="rect">
            <a:avLst/>
          </a:prstGeom>
          <a:noFill/>
          <a:ln w="9525">
            <a:noFill/>
            <a:miter lim="800000"/>
            <a:headEnd/>
            <a:tailEnd/>
          </a:ln>
          <a:effectLst/>
        </p:spPr>
        <p:txBody>
          <a:bodyPr wrap="none" lIns="92075" tIns="46038" rIns="92075" bIns="46038">
            <a:spAutoFit/>
          </a:bodyPr>
          <a:lstStyle/>
          <a:p>
            <a:pPr>
              <a:defRPr/>
            </a:pPr>
            <a:r>
              <a:rPr lang="en-US" sz="2000" dirty="0">
                <a:solidFill>
                  <a:srgbClr val="0000CC"/>
                </a:solidFill>
                <a:latin typeface="Cambria" panose="02040503050406030204" pitchFamily="18" charset="0"/>
                <a:ea typeface="Cambria" panose="02040503050406030204" pitchFamily="18" charset="0"/>
              </a:rPr>
              <a:t>SALGRADE</a:t>
            </a:r>
          </a:p>
        </p:txBody>
      </p:sp>
      <p:grpSp>
        <p:nvGrpSpPr>
          <p:cNvPr id="15" name="Group 7">
            <a:extLst>
              <a:ext uri="{FF2B5EF4-FFF2-40B4-BE49-F238E27FC236}">
                <a16:creationId xmlns:a16="http://schemas.microsoft.com/office/drawing/2014/main" id="{593E1932-5281-644C-EA8F-D54E443DDF00}"/>
              </a:ext>
            </a:extLst>
          </p:cNvPr>
          <p:cNvGrpSpPr>
            <a:grpSpLocks/>
          </p:cNvGrpSpPr>
          <p:nvPr/>
        </p:nvGrpSpPr>
        <p:grpSpPr bwMode="auto">
          <a:xfrm>
            <a:off x="3200401" y="3188393"/>
            <a:ext cx="4395788" cy="2738437"/>
            <a:chOff x="2156" y="1117"/>
            <a:chExt cx="2769" cy="1725"/>
          </a:xfrm>
        </p:grpSpPr>
        <p:sp>
          <p:nvSpPr>
            <p:cNvPr id="16" name="Rectangle 8">
              <a:extLst>
                <a:ext uri="{FF2B5EF4-FFF2-40B4-BE49-F238E27FC236}">
                  <a16:creationId xmlns:a16="http://schemas.microsoft.com/office/drawing/2014/main" id="{115877F2-9A7A-13C7-7814-C2EE2050CE9C}"/>
                </a:ext>
              </a:extLst>
            </p:cNvPr>
            <p:cNvSpPr>
              <a:spLocks noChangeArrowheads="1"/>
            </p:cNvSpPr>
            <p:nvPr/>
          </p:nvSpPr>
          <p:spPr bwMode="ltGray">
            <a:xfrm>
              <a:off x="2156" y="1117"/>
              <a:ext cx="542" cy="1725"/>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7" name="Rectangle 9">
              <a:extLst>
                <a:ext uri="{FF2B5EF4-FFF2-40B4-BE49-F238E27FC236}">
                  <a16:creationId xmlns:a16="http://schemas.microsoft.com/office/drawing/2014/main" id="{6B9C5D58-A7DD-106F-7D3E-F84AF3636543}"/>
                </a:ext>
              </a:extLst>
            </p:cNvPr>
            <p:cNvSpPr>
              <a:spLocks noChangeArrowheads="1"/>
            </p:cNvSpPr>
            <p:nvPr/>
          </p:nvSpPr>
          <p:spPr bwMode="ltGray">
            <a:xfrm>
              <a:off x="3792" y="1117"/>
              <a:ext cx="542" cy="117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8" name="Rectangle 10">
              <a:extLst>
                <a:ext uri="{FF2B5EF4-FFF2-40B4-BE49-F238E27FC236}">
                  <a16:creationId xmlns:a16="http://schemas.microsoft.com/office/drawing/2014/main" id="{0D0E64D4-E00E-523B-AE18-DBDAABF215BE}"/>
                </a:ext>
              </a:extLst>
            </p:cNvPr>
            <p:cNvSpPr>
              <a:spLocks noChangeArrowheads="1"/>
            </p:cNvSpPr>
            <p:nvPr/>
          </p:nvSpPr>
          <p:spPr bwMode="ltGray">
            <a:xfrm>
              <a:off x="4383" y="1117"/>
              <a:ext cx="542" cy="117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grpSp>
        <p:nvGrpSpPr>
          <p:cNvPr id="19" name="Group 11">
            <a:extLst>
              <a:ext uri="{FF2B5EF4-FFF2-40B4-BE49-F238E27FC236}">
                <a16:creationId xmlns:a16="http://schemas.microsoft.com/office/drawing/2014/main" id="{C2F30886-F678-2A35-200F-40700483971B}"/>
              </a:ext>
            </a:extLst>
          </p:cNvPr>
          <p:cNvGrpSpPr>
            <a:grpSpLocks/>
          </p:cNvGrpSpPr>
          <p:nvPr/>
        </p:nvGrpSpPr>
        <p:grpSpPr bwMode="auto">
          <a:xfrm>
            <a:off x="4067948" y="5442669"/>
            <a:ext cx="4537739" cy="1082675"/>
            <a:chOff x="2917" y="2599"/>
            <a:chExt cx="1763" cy="682"/>
          </a:xfrm>
        </p:grpSpPr>
        <p:sp>
          <p:nvSpPr>
            <p:cNvPr id="21" name="Rectangle 12">
              <a:extLst>
                <a:ext uri="{FF2B5EF4-FFF2-40B4-BE49-F238E27FC236}">
                  <a16:creationId xmlns:a16="http://schemas.microsoft.com/office/drawing/2014/main" id="{7E35C044-26A5-90A5-3AE6-C933BC85A877}"/>
                </a:ext>
              </a:extLst>
            </p:cNvPr>
            <p:cNvSpPr>
              <a:spLocks noChangeArrowheads="1"/>
            </p:cNvSpPr>
            <p:nvPr/>
          </p:nvSpPr>
          <p:spPr bwMode="auto">
            <a:xfrm>
              <a:off x="3175" y="2599"/>
              <a:ext cx="1505" cy="682"/>
            </a:xfrm>
            <a:prstGeom prst="rect">
              <a:avLst/>
            </a:prstGeom>
            <a:noFill/>
            <a:ln w="9525">
              <a:noFill/>
              <a:miter lim="800000"/>
              <a:headEnd/>
              <a:tailEnd/>
            </a:ln>
            <a:effectLst/>
          </p:spPr>
          <p:txBody>
            <a:bodyPr wrap="none" lIns="92075" tIns="46038" rIns="92075" bIns="46038">
              <a:spAutoFit/>
            </a:bodyPr>
            <a:lstStyle/>
            <a:p>
              <a:pPr>
                <a:lnSpc>
                  <a:spcPct val="110000"/>
                </a:lnSpc>
                <a:defRPr/>
              </a:pPr>
              <a:r>
                <a:rPr lang="en-US" sz="2000" dirty="0">
                  <a:solidFill>
                    <a:srgbClr val="FF0000"/>
                  </a:solidFill>
                  <a:latin typeface="Cambria" panose="02040503050406030204" pitchFamily="18" charset="0"/>
                  <a:ea typeface="Cambria" panose="02040503050406030204" pitchFamily="18" charset="0"/>
                </a:rPr>
                <a:t>“</a:t>
              </a:r>
              <a:r>
                <a:rPr lang="en-US" sz="2000" dirty="0">
                  <a:latin typeface="Cambria" panose="02040503050406030204" pitchFamily="18" charset="0"/>
                  <a:ea typeface="Cambria" panose="02040503050406030204" pitchFamily="18" charset="0"/>
                </a:rPr>
                <a:t>SAL</a:t>
              </a:r>
              <a:r>
                <a:rPr lang="en-US" sz="2000" dirty="0">
                  <a:solidFill>
                    <a:srgbClr val="FF0000"/>
                  </a:solidFill>
                  <a:latin typeface="Cambria" panose="02040503050406030204" pitchFamily="18" charset="0"/>
                  <a:ea typeface="Cambria" panose="02040503050406030204" pitchFamily="18" charset="0"/>
                </a:rPr>
                <a:t> in the </a:t>
              </a:r>
              <a:r>
                <a:rPr lang="en-US" sz="2000" dirty="0">
                  <a:solidFill>
                    <a:srgbClr val="0000CC"/>
                  </a:solidFill>
                  <a:latin typeface="Cambria" panose="02040503050406030204" pitchFamily="18" charset="0"/>
                  <a:ea typeface="Cambria" panose="02040503050406030204" pitchFamily="18" charset="0"/>
                </a:rPr>
                <a:t>EMP</a:t>
              </a:r>
              <a:r>
                <a:rPr lang="en-US" sz="2000" dirty="0">
                  <a:solidFill>
                    <a:srgbClr val="FF0000"/>
                  </a:solidFill>
                  <a:latin typeface="Cambria" panose="02040503050406030204" pitchFamily="18" charset="0"/>
                  <a:ea typeface="Cambria" panose="02040503050406030204" pitchFamily="18" charset="0"/>
                </a:rPr>
                <a:t> table is </a:t>
              </a:r>
            </a:p>
            <a:p>
              <a:pPr>
                <a:lnSpc>
                  <a:spcPct val="110000"/>
                </a:lnSpc>
                <a:defRPr/>
              </a:pPr>
              <a:r>
                <a:rPr lang="en-US" sz="2000" dirty="0">
                  <a:solidFill>
                    <a:srgbClr val="FF0000"/>
                  </a:solidFill>
                  <a:latin typeface="Cambria" panose="02040503050406030204" pitchFamily="18" charset="0"/>
                  <a:ea typeface="Cambria" panose="02040503050406030204" pitchFamily="18" charset="0"/>
                </a:rPr>
                <a:t>between </a:t>
              </a:r>
              <a:r>
                <a:rPr lang="en-US" sz="2000" dirty="0">
                  <a:latin typeface="Cambria" panose="02040503050406030204" pitchFamily="18" charset="0"/>
                  <a:ea typeface="Cambria" panose="02040503050406030204" pitchFamily="18" charset="0"/>
                </a:rPr>
                <a:t>LOSAL</a:t>
              </a:r>
              <a:r>
                <a:rPr lang="en-US" sz="2000" dirty="0">
                  <a:solidFill>
                    <a:srgbClr val="FF0000"/>
                  </a:solidFill>
                  <a:latin typeface="Cambria" panose="02040503050406030204" pitchFamily="18" charset="0"/>
                  <a:ea typeface="Cambria" panose="02040503050406030204" pitchFamily="18" charset="0"/>
                </a:rPr>
                <a:t> and </a:t>
              </a:r>
              <a:r>
                <a:rPr lang="en-US" sz="2000" dirty="0">
                  <a:latin typeface="Cambria" panose="02040503050406030204" pitchFamily="18" charset="0"/>
                  <a:ea typeface="Cambria" panose="02040503050406030204" pitchFamily="18" charset="0"/>
                </a:rPr>
                <a:t>HISAL</a:t>
              </a:r>
              <a:r>
                <a:rPr lang="en-US" sz="2000" dirty="0">
                  <a:solidFill>
                    <a:srgbClr val="FF0000"/>
                  </a:solidFill>
                  <a:latin typeface="Cambria" panose="02040503050406030204" pitchFamily="18" charset="0"/>
                  <a:ea typeface="Cambria" panose="02040503050406030204" pitchFamily="18" charset="0"/>
                </a:rPr>
                <a:t> in the </a:t>
              </a:r>
            </a:p>
            <a:p>
              <a:pPr>
                <a:lnSpc>
                  <a:spcPct val="110000"/>
                </a:lnSpc>
                <a:defRPr/>
              </a:pPr>
              <a:r>
                <a:rPr lang="en-US" sz="2000" dirty="0">
                  <a:solidFill>
                    <a:srgbClr val="0000CC"/>
                  </a:solidFill>
                  <a:latin typeface="Cambria" panose="02040503050406030204" pitchFamily="18" charset="0"/>
                  <a:ea typeface="Cambria" panose="02040503050406030204" pitchFamily="18" charset="0"/>
                </a:rPr>
                <a:t>SALGRADE</a:t>
              </a:r>
              <a:r>
                <a:rPr lang="en-US" sz="2000" dirty="0">
                  <a:solidFill>
                    <a:srgbClr val="FF0000"/>
                  </a:solidFill>
                  <a:latin typeface="Cambria" panose="02040503050406030204" pitchFamily="18" charset="0"/>
                  <a:ea typeface="Cambria" panose="02040503050406030204" pitchFamily="18" charset="0"/>
                </a:rPr>
                <a:t> table”</a:t>
              </a:r>
            </a:p>
          </p:txBody>
        </p:sp>
        <p:sp>
          <p:nvSpPr>
            <p:cNvPr id="22" name="Line 13">
              <a:extLst>
                <a:ext uri="{FF2B5EF4-FFF2-40B4-BE49-F238E27FC236}">
                  <a16:creationId xmlns:a16="http://schemas.microsoft.com/office/drawing/2014/main" id="{A507354E-7E46-C019-60ED-A9610D018A67}"/>
                </a:ext>
              </a:extLst>
            </p:cNvPr>
            <p:cNvSpPr>
              <a:spLocks noChangeShapeType="1"/>
            </p:cNvSpPr>
            <p:nvPr/>
          </p:nvSpPr>
          <p:spPr bwMode="auto">
            <a:xfrm flipH="1">
              <a:off x="2917" y="2719"/>
              <a:ext cx="265" cy="0"/>
            </a:xfrm>
            <a:prstGeom prst="line">
              <a:avLst/>
            </a:prstGeom>
            <a:noFill/>
            <a:ln w="50800">
              <a:solidFill>
                <a:srgbClr val="FFCC00"/>
              </a:solidFill>
              <a:round/>
              <a:headEnd type="none" w="sm" len="sm"/>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
        <p:nvSpPr>
          <p:cNvPr id="23" name="Rectangle 14">
            <a:extLst>
              <a:ext uri="{FF2B5EF4-FFF2-40B4-BE49-F238E27FC236}">
                <a16:creationId xmlns:a16="http://schemas.microsoft.com/office/drawing/2014/main" id="{0EB817AF-4447-60AB-3E09-4289FE29E27D}"/>
              </a:ext>
            </a:extLst>
          </p:cNvPr>
          <p:cNvSpPr>
            <a:spLocks noChangeArrowheads="1"/>
          </p:cNvSpPr>
          <p:nvPr/>
        </p:nvSpPr>
        <p:spPr bwMode="blackWhite">
          <a:xfrm>
            <a:off x="981076" y="3148705"/>
            <a:ext cx="3238500" cy="321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857250" algn="l"/>
                <a:tab pos="1771650" algn="l"/>
                <a:tab pos="2857500" algn="l"/>
                <a:tab pos="3486150" algn="l"/>
                <a:tab pos="4914900" algn="l"/>
                <a:tab pos="5600700" algn="l"/>
                <a:tab pos="6400800" algn="l"/>
              </a:tabLst>
              <a:defRPr sz="2800">
                <a:solidFill>
                  <a:schemeClr val="tx1"/>
                </a:solidFill>
                <a:latin typeface="Arial" panose="020B0604020202020204" pitchFamily="34" charset="0"/>
              </a:defRPr>
            </a:lvl1pPr>
            <a:lvl2pPr marL="742950" indent="-285750">
              <a:spcBef>
                <a:spcPct val="20000"/>
              </a:spcBef>
              <a:buChar char="–"/>
              <a:tabLst>
                <a:tab pos="857250" algn="l"/>
                <a:tab pos="1771650" algn="l"/>
                <a:tab pos="2857500" algn="l"/>
                <a:tab pos="3486150" algn="l"/>
                <a:tab pos="4914900" algn="l"/>
                <a:tab pos="5600700" algn="l"/>
                <a:tab pos="6400800" algn="l"/>
              </a:tabLst>
              <a:defRPr sz="2400">
                <a:solidFill>
                  <a:schemeClr val="tx1"/>
                </a:solidFill>
                <a:latin typeface="Arial" panose="020B0604020202020204" pitchFamily="34" charset="0"/>
              </a:defRPr>
            </a:lvl2pPr>
            <a:lvl3pPr marL="1143000" indent="-228600">
              <a:spcBef>
                <a:spcPct val="20000"/>
              </a:spcBef>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3pPr>
            <a:lvl4pPr marL="1600200" indent="-228600">
              <a:spcBef>
                <a:spcPct val="20000"/>
              </a:spcBef>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4pPr>
            <a:lvl5pPr marL="2057400" indent="-228600">
              <a:spcBef>
                <a:spcPct val="20000"/>
              </a:spcBef>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771650" algn="l"/>
                <a:tab pos="2857500" algn="l"/>
                <a:tab pos="3486150" algn="l"/>
                <a:tab pos="4914900" algn="l"/>
                <a:tab pos="5600700" algn="l"/>
                <a:tab pos="64008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dirty="0">
                <a:solidFill>
                  <a:srgbClr val="000000"/>
                </a:solidFill>
                <a:latin typeface="Courier New" panose="02070309020205020404" pitchFamily="49" charset="0"/>
              </a:rPr>
              <a:t> EMPNO ENAME      SAL</a:t>
            </a:r>
          </a:p>
          <a:p>
            <a:pPr>
              <a:lnSpc>
                <a:spcPct val="95000"/>
              </a:lnSpc>
              <a:spcBef>
                <a:spcPct val="0"/>
              </a:spcBef>
              <a:buFontTx/>
              <a:buNone/>
            </a:pPr>
            <a:r>
              <a:rPr lang="en-US" altLang="en-US" sz="1800" b="1" dirty="0">
                <a:solidFill>
                  <a:srgbClr val="000000"/>
                </a:solidFill>
                <a:latin typeface="Courier New" panose="02070309020205020404" pitchFamily="49" charset="0"/>
              </a:rPr>
              <a:t>------ ------- ------</a:t>
            </a:r>
          </a:p>
          <a:p>
            <a:pPr>
              <a:lnSpc>
                <a:spcPct val="95000"/>
              </a:lnSpc>
              <a:spcBef>
                <a:spcPct val="0"/>
              </a:spcBef>
              <a:buFontTx/>
              <a:buNone/>
            </a:pPr>
            <a:r>
              <a:rPr lang="en-US" altLang="en-US" sz="1800" b="1" dirty="0">
                <a:solidFill>
                  <a:srgbClr val="000000"/>
                </a:solidFill>
                <a:latin typeface="Courier New" panose="02070309020205020404" pitchFamily="49" charset="0"/>
              </a:rPr>
              <a:t>  7839 KING      5000</a:t>
            </a:r>
          </a:p>
          <a:p>
            <a:pPr>
              <a:lnSpc>
                <a:spcPct val="95000"/>
              </a:lnSpc>
              <a:spcBef>
                <a:spcPct val="0"/>
              </a:spcBef>
              <a:buFontTx/>
              <a:buNone/>
            </a:pPr>
            <a:r>
              <a:rPr lang="en-US" altLang="en-US" sz="1800" b="1" dirty="0">
                <a:solidFill>
                  <a:srgbClr val="000000"/>
                </a:solidFill>
                <a:latin typeface="Courier New" panose="02070309020205020404" pitchFamily="49" charset="0"/>
              </a:rPr>
              <a:t>  7698 BLAKE     2850</a:t>
            </a:r>
          </a:p>
          <a:p>
            <a:pPr>
              <a:lnSpc>
                <a:spcPct val="95000"/>
              </a:lnSpc>
              <a:spcBef>
                <a:spcPct val="0"/>
              </a:spcBef>
              <a:buFontTx/>
              <a:buNone/>
            </a:pPr>
            <a:r>
              <a:rPr lang="en-US" altLang="en-US" sz="1800" b="1" dirty="0">
                <a:solidFill>
                  <a:srgbClr val="000000"/>
                </a:solidFill>
                <a:latin typeface="Courier New" panose="02070309020205020404" pitchFamily="49" charset="0"/>
              </a:rPr>
              <a:t>  7782 CLARK     2450</a:t>
            </a:r>
          </a:p>
          <a:p>
            <a:pPr>
              <a:lnSpc>
                <a:spcPct val="95000"/>
              </a:lnSpc>
              <a:spcBef>
                <a:spcPct val="0"/>
              </a:spcBef>
              <a:buFontTx/>
              <a:buNone/>
            </a:pPr>
            <a:r>
              <a:rPr lang="en-US" altLang="en-US" sz="1800" b="1" dirty="0">
                <a:solidFill>
                  <a:srgbClr val="000000"/>
                </a:solidFill>
                <a:latin typeface="Courier New" panose="02070309020205020404" pitchFamily="49" charset="0"/>
              </a:rPr>
              <a:t>  7566 JONES     2975</a:t>
            </a:r>
          </a:p>
          <a:p>
            <a:pPr>
              <a:lnSpc>
                <a:spcPct val="95000"/>
              </a:lnSpc>
              <a:spcBef>
                <a:spcPct val="0"/>
              </a:spcBef>
              <a:buFontTx/>
              <a:buNone/>
            </a:pPr>
            <a:r>
              <a:rPr lang="en-US" altLang="en-US" sz="1800" b="1" dirty="0">
                <a:solidFill>
                  <a:srgbClr val="000000"/>
                </a:solidFill>
                <a:latin typeface="Courier New" panose="02070309020205020404" pitchFamily="49" charset="0"/>
              </a:rPr>
              <a:t>  7654 MARTIN    1250</a:t>
            </a:r>
          </a:p>
          <a:p>
            <a:pPr>
              <a:lnSpc>
                <a:spcPct val="95000"/>
              </a:lnSpc>
              <a:spcBef>
                <a:spcPct val="0"/>
              </a:spcBef>
              <a:buFontTx/>
              <a:buNone/>
            </a:pPr>
            <a:r>
              <a:rPr lang="en-US" altLang="en-US" sz="1800" b="1" dirty="0">
                <a:solidFill>
                  <a:srgbClr val="000000"/>
                </a:solidFill>
                <a:latin typeface="Courier New" panose="02070309020205020404" pitchFamily="49" charset="0"/>
              </a:rPr>
              <a:t>  7499 ALLEN     1600</a:t>
            </a:r>
          </a:p>
          <a:p>
            <a:pPr>
              <a:lnSpc>
                <a:spcPct val="95000"/>
              </a:lnSpc>
              <a:spcBef>
                <a:spcPct val="0"/>
              </a:spcBef>
              <a:buFontTx/>
              <a:buNone/>
            </a:pPr>
            <a:r>
              <a:rPr lang="en-US" altLang="en-US" sz="1800" b="1" dirty="0">
                <a:solidFill>
                  <a:srgbClr val="000000"/>
                </a:solidFill>
                <a:latin typeface="Courier New" panose="02070309020205020404" pitchFamily="49" charset="0"/>
              </a:rPr>
              <a:t>  7844 TURNER    1500</a:t>
            </a:r>
          </a:p>
          <a:p>
            <a:pPr>
              <a:lnSpc>
                <a:spcPct val="95000"/>
              </a:lnSpc>
              <a:spcBef>
                <a:spcPct val="0"/>
              </a:spcBef>
              <a:buFontTx/>
              <a:buNone/>
            </a:pPr>
            <a:r>
              <a:rPr lang="en-US" altLang="en-US" sz="1800" b="1" dirty="0">
                <a:solidFill>
                  <a:srgbClr val="000000"/>
                </a:solidFill>
                <a:latin typeface="Courier New" panose="02070309020205020404" pitchFamily="49" charset="0"/>
              </a:rPr>
              <a:t>  7900 JAMES      950</a:t>
            </a:r>
          </a:p>
          <a:p>
            <a:pPr>
              <a:lnSpc>
                <a:spcPct val="95000"/>
              </a:lnSpc>
              <a:spcBef>
                <a:spcPct val="0"/>
              </a:spcBef>
              <a:buFontTx/>
              <a:buNone/>
            </a:pPr>
            <a:r>
              <a:rPr lang="en-US" altLang="en-US" sz="1800" b="1" dirty="0">
                <a:solidFill>
                  <a:srgbClr val="000000"/>
                </a:solidFill>
                <a:latin typeface="Courier New" panose="02070309020205020404" pitchFamily="49" charset="0"/>
              </a:rPr>
              <a:t>...</a:t>
            </a:r>
          </a:p>
          <a:p>
            <a:pPr>
              <a:lnSpc>
                <a:spcPct val="95000"/>
              </a:lnSpc>
              <a:spcBef>
                <a:spcPct val="0"/>
              </a:spcBef>
              <a:buFontTx/>
              <a:buNone/>
            </a:pPr>
            <a:r>
              <a:rPr lang="en-US" altLang="en-US" sz="1800" b="1" dirty="0">
                <a:solidFill>
                  <a:srgbClr val="000000"/>
                </a:solidFill>
                <a:latin typeface="Courier New" panose="02070309020205020404" pitchFamily="49" charset="0"/>
              </a:rPr>
              <a:t>14 rows selected.</a:t>
            </a:r>
          </a:p>
        </p:txBody>
      </p:sp>
      <p:sp>
        <p:nvSpPr>
          <p:cNvPr id="24" name="Rectangle 15">
            <a:extLst>
              <a:ext uri="{FF2B5EF4-FFF2-40B4-BE49-F238E27FC236}">
                <a16:creationId xmlns:a16="http://schemas.microsoft.com/office/drawing/2014/main" id="{1817055C-26BB-5966-AD7F-468F3717641E}"/>
              </a:ext>
            </a:extLst>
          </p:cNvPr>
          <p:cNvSpPr>
            <a:spLocks noChangeArrowheads="1"/>
          </p:cNvSpPr>
          <p:nvPr/>
        </p:nvSpPr>
        <p:spPr bwMode="blackWhite">
          <a:xfrm>
            <a:off x="4978401" y="3148705"/>
            <a:ext cx="2822575"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1485900" algn="r"/>
                <a:tab pos="1885950" algn="l"/>
              </a:tabLst>
              <a:defRPr sz="2800">
                <a:solidFill>
                  <a:schemeClr val="tx1"/>
                </a:solidFill>
                <a:latin typeface="Arial" panose="020B0604020202020204" pitchFamily="34" charset="0"/>
              </a:defRPr>
            </a:lvl1pPr>
            <a:lvl2pPr marL="742950" indent="-285750">
              <a:spcBef>
                <a:spcPct val="20000"/>
              </a:spcBef>
              <a:buChar char="–"/>
              <a:tabLst>
                <a:tab pos="1485900" algn="r"/>
                <a:tab pos="1885950" algn="l"/>
              </a:tabLst>
              <a:defRPr sz="2400">
                <a:solidFill>
                  <a:schemeClr val="tx1"/>
                </a:solidFill>
                <a:latin typeface="Arial" panose="020B0604020202020204" pitchFamily="34" charset="0"/>
              </a:defRPr>
            </a:lvl2pPr>
            <a:lvl3pPr marL="1143000" indent="-228600">
              <a:spcBef>
                <a:spcPct val="20000"/>
              </a:spcBef>
              <a:buChar char="•"/>
              <a:tabLst>
                <a:tab pos="1485900" algn="r"/>
                <a:tab pos="1885950" algn="l"/>
              </a:tabLst>
              <a:defRPr sz="2000">
                <a:solidFill>
                  <a:schemeClr val="tx1"/>
                </a:solidFill>
                <a:latin typeface="Arial" panose="020B0604020202020204" pitchFamily="34" charset="0"/>
              </a:defRPr>
            </a:lvl3pPr>
            <a:lvl4pPr marL="1600200" indent="-228600">
              <a:spcBef>
                <a:spcPct val="20000"/>
              </a:spcBef>
              <a:buChar char="–"/>
              <a:tabLst>
                <a:tab pos="1485900" algn="r"/>
                <a:tab pos="1885950" algn="l"/>
              </a:tabLst>
              <a:defRPr sz="2000">
                <a:solidFill>
                  <a:schemeClr val="tx1"/>
                </a:solidFill>
                <a:latin typeface="Arial" panose="020B0604020202020204" pitchFamily="34" charset="0"/>
              </a:defRPr>
            </a:lvl4pPr>
            <a:lvl5pPr marL="2057400" indent="-228600">
              <a:spcBef>
                <a:spcPct val="20000"/>
              </a:spcBef>
              <a:buChar char="»"/>
              <a:tabLst>
                <a:tab pos="1485900" algn="r"/>
                <a:tab pos="18859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485900" algn="r"/>
                <a:tab pos="18859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485900" algn="r"/>
                <a:tab pos="18859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485900" algn="r"/>
                <a:tab pos="18859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485900" algn="r"/>
                <a:tab pos="18859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GRADE 	LOSAL  HISAL</a:t>
            </a:r>
          </a:p>
          <a:p>
            <a:pPr>
              <a:lnSpc>
                <a:spcPct val="95000"/>
              </a:lnSpc>
              <a:spcBef>
                <a:spcPct val="0"/>
              </a:spcBef>
              <a:buFontTx/>
              <a:buNone/>
            </a:pPr>
            <a:r>
              <a:rPr lang="en-US" altLang="en-US" sz="1800" b="1">
                <a:solidFill>
                  <a:srgbClr val="000000"/>
                </a:solidFill>
                <a:latin typeface="Courier New" panose="02070309020205020404" pitchFamily="49" charset="0"/>
              </a:rPr>
              <a:t>----- ----- ------</a:t>
            </a:r>
          </a:p>
          <a:p>
            <a:pPr>
              <a:lnSpc>
                <a:spcPct val="95000"/>
              </a:lnSpc>
              <a:spcBef>
                <a:spcPct val="0"/>
              </a:spcBef>
              <a:buFontTx/>
              <a:buNone/>
            </a:pPr>
            <a:r>
              <a:rPr lang="en-US" altLang="en-US" sz="1800" b="1">
                <a:solidFill>
                  <a:srgbClr val="000000"/>
                </a:solidFill>
                <a:latin typeface="Courier New" panose="02070309020205020404" pitchFamily="49" charset="0"/>
              </a:rPr>
              <a:t>1       700	1200</a:t>
            </a:r>
          </a:p>
          <a:p>
            <a:pPr>
              <a:lnSpc>
                <a:spcPct val="95000"/>
              </a:lnSpc>
              <a:spcBef>
                <a:spcPct val="0"/>
              </a:spcBef>
              <a:buFontTx/>
              <a:buNone/>
            </a:pPr>
            <a:r>
              <a:rPr lang="en-US" altLang="en-US" sz="1800" b="1">
                <a:solidFill>
                  <a:srgbClr val="000000"/>
                </a:solidFill>
                <a:latin typeface="Courier New" panose="02070309020205020404" pitchFamily="49" charset="0"/>
              </a:rPr>
              <a:t>2      1201	1400</a:t>
            </a:r>
          </a:p>
          <a:p>
            <a:pPr>
              <a:lnSpc>
                <a:spcPct val="95000"/>
              </a:lnSpc>
              <a:spcBef>
                <a:spcPct val="0"/>
              </a:spcBef>
              <a:buFontTx/>
              <a:buNone/>
            </a:pPr>
            <a:r>
              <a:rPr lang="en-US" altLang="en-US" sz="1800" b="1">
                <a:solidFill>
                  <a:srgbClr val="000000"/>
                </a:solidFill>
                <a:latin typeface="Courier New" panose="02070309020205020404" pitchFamily="49" charset="0"/>
              </a:rPr>
              <a:t>3      1401	2000</a:t>
            </a:r>
          </a:p>
          <a:p>
            <a:pPr>
              <a:lnSpc>
                <a:spcPct val="95000"/>
              </a:lnSpc>
              <a:spcBef>
                <a:spcPct val="0"/>
              </a:spcBef>
              <a:buFontTx/>
              <a:buNone/>
            </a:pPr>
            <a:r>
              <a:rPr lang="en-US" altLang="en-US" sz="1800" b="1">
                <a:solidFill>
                  <a:srgbClr val="000000"/>
                </a:solidFill>
                <a:latin typeface="Courier New" panose="02070309020205020404" pitchFamily="49" charset="0"/>
              </a:rPr>
              <a:t>4	2001	3000</a:t>
            </a:r>
          </a:p>
          <a:p>
            <a:pPr>
              <a:lnSpc>
                <a:spcPct val="95000"/>
              </a:lnSpc>
              <a:spcBef>
                <a:spcPct val="0"/>
              </a:spcBef>
              <a:buFontTx/>
              <a:buNone/>
            </a:pPr>
            <a:r>
              <a:rPr lang="en-US" altLang="en-US" sz="1800" b="1">
                <a:solidFill>
                  <a:srgbClr val="000000"/>
                </a:solidFill>
                <a:latin typeface="Courier New" panose="02070309020205020404" pitchFamily="49" charset="0"/>
              </a:rPr>
              <a:t>5      3001	9999</a:t>
            </a:r>
          </a:p>
        </p:txBody>
      </p:sp>
    </p:spTree>
    <p:extLst>
      <p:ext uri="{BB962C8B-B14F-4D97-AF65-F5344CB8AC3E}">
        <p14:creationId xmlns:p14="http://schemas.microsoft.com/office/powerpoint/2010/main" val="13362298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500"/>
                                        <p:tgtEl>
                                          <p:spTgt spid="15"/>
                                        </p:tgtEl>
                                      </p:cBhvr>
                                    </p:animEffect>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1+#ppt_w/2"/>
                                          </p:val>
                                        </p:tav>
                                        <p:tav tm="100000">
                                          <p:val>
                                            <p:strVal val="#ppt_x"/>
                                          </p:val>
                                        </p:tav>
                                      </p:tavLst>
                                    </p:anim>
                                    <p:anim calcmode="lin" valueType="num">
                                      <p:cBhvr additive="base">
                                        <p:cTn id="12"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086B1-FB5E-E1FD-2C24-2310021E1597}"/>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5ABB1080-34D9-07EE-1959-B674FFDCD5E2}"/>
              </a:ext>
            </a:extLst>
          </p:cNvPr>
          <p:cNvSpPr>
            <a:spLocks noGrp="1" noChangeArrowheads="1"/>
          </p:cNvSpPr>
          <p:nvPr>
            <p:ph type="title"/>
          </p:nvPr>
        </p:nvSpPr>
        <p:spPr>
          <a:xfrm>
            <a:off x="425450" y="23130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5. Non-Equi Join</a:t>
            </a:r>
          </a:p>
        </p:txBody>
      </p:sp>
      <p:sp>
        <p:nvSpPr>
          <p:cNvPr id="38915" name="Rectangle 3">
            <a:extLst>
              <a:ext uri="{FF2B5EF4-FFF2-40B4-BE49-F238E27FC236}">
                <a16:creationId xmlns:a16="http://schemas.microsoft.com/office/drawing/2014/main" id="{693359E6-7986-1B0F-4AEA-212C6994ADC5}"/>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2A653D75-25F1-CE75-3C9F-3D7D522B198A}"/>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5FB93610-2BE4-F5A8-DE41-85877C8FD4D7}"/>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Rectangle 2">
            <a:extLst>
              <a:ext uri="{FF2B5EF4-FFF2-40B4-BE49-F238E27FC236}">
                <a16:creationId xmlns:a16="http://schemas.microsoft.com/office/drawing/2014/main" id="{87067DCE-378E-A325-F24F-13C72AA28A40}"/>
              </a:ext>
            </a:extLst>
          </p:cNvPr>
          <p:cNvSpPr>
            <a:spLocks noChangeArrowheads="1"/>
          </p:cNvSpPr>
          <p:nvPr/>
        </p:nvSpPr>
        <p:spPr bwMode="blackWhite">
          <a:xfrm>
            <a:off x="895350" y="1052736"/>
            <a:ext cx="7264400" cy="1463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2063750" algn="l"/>
              </a:tabLst>
              <a:defRPr sz="2800">
                <a:solidFill>
                  <a:schemeClr val="tx1"/>
                </a:solidFill>
                <a:latin typeface="Arial" panose="020B0604020202020204" pitchFamily="34" charset="0"/>
              </a:defRPr>
            </a:lvl1pPr>
            <a:lvl2pPr marL="742950" indent="-285750">
              <a:spcBef>
                <a:spcPct val="20000"/>
              </a:spcBef>
              <a:buChar char="–"/>
              <a:tabLst>
                <a:tab pos="857250" algn="l"/>
                <a:tab pos="2063750" algn="l"/>
              </a:tabLst>
              <a:defRPr sz="2400">
                <a:solidFill>
                  <a:schemeClr val="tx1"/>
                </a:solidFill>
                <a:latin typeface="Arial" panose="020B0604020202020204" pitchFamily="34" charset="0"/>
              </a:defRPr>
            </a:lvl2pPr>
            <a:lvl3pPr marL="1143000" indent="-228600">
              <a:spcBef>
                <a:spcPct val="20000"/>
              </a:spcBef>
              <a:buChar char="•"/>
              <a:tabLst>
                <a:tab pos="857250" algn="l"/>
                <a:tab pos="2063750" algn="l"/>
              </a:tabLst>
              <a:defRPr sz="2000">
                <a:solidFill>
                  <a:schemeClr val="tx1"/>
                </a:solidFill>
                <a:latin typeface="Arial" panose="020B0604020202020204" pitchFamily="34" charset="0"/>
              </a:defRPr>
            </a:lvl3pPr>
            <a:lvl4pPr marL="1600200" indent="-228600">
              <a:spcBef>
                <a:spcPct val="20000"/>
              </a:spcBef>
              <a:buChar char="–"/>
              <a:tabLst>
                <a:tab pos="857250" algn="l"/>
                <a:tab pos="2063750" algn="l"/>
              </a:tabLst>
              <a:defRPr sz="2000">
                <a:solidFill>
                  <a:schemeClr val="tx1"/>
                </a:solidFill>
                <a:latin typeface="Arial" panose="020B0604020202020204" pitchFamily="34" charset="0"/>
              </a:defRPr>
            </a:lvl4pPr>
            <a:lvl5pPr marL="2057400" indent="-228600">
              <a:spcBef>
                <a:spcPct val="20000"/>
              </a:spcBef>
              <a:buChar char="»"/>
              <a:tabLst>
                <a:tab pos="857250" algn="l"/>
                <a:tab pos="20637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25" name="Rectangle 3">
            <a:extLst>
              <a:ext uri="{FF2B5EF4-FFF2-40B4-BE49-F238E27FC236}">
                <a16:creationId xmlns:a16="http://schemas.microsoft.com/office/drawing/2014/main" id="{32D75171-5895-AFFE-EBF7-B9583641E1F0}"/>
              </a:ext>
            </a:extLst>
          </p:cNvPr>
          <p:cNvSpPr>
            <a:spLocks noChangeArrowheads="1"/>
          </p:cNvSpPr>
          <p:nvPr/>
        </p:nvSpPr>
        <p:spPr bwMode="blackWhite">
          <a:xfrm>
            <a:off x="911225" y="4197573"/>
            <a:ext cx="7270750" cy="2039938"/>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a:p>
            <a:pPr>
              <a:spcBef>
                <a:spcPct val="0"/>
              </a:spcBef>
              <a:buFontTx/>
              <a:buNone/>
            </a:pPr>
            <a:endParaRPr lang="en-US" altLang="en-US" sz="1800" b="1">
              <a:solidFill>
                <a:srgbClr val="000000"/>
              </a:solidFill>
              <a:latin typeface="Courier New" panose="02070309020205020404" pitchFamily="49" charset="0"/>
            </a:endParaRPr>
          </a:p>
        </p:txBody>
      </p:sp>
      <p:sp>
        <p:nvSpPr>
          <p:cNvPr id="26" name="Rectangle 7">
            <a:extLst>
              <a:ext uri="{FF2B5EF4-FFF2-40B4-BE49-F238E27FC236}">
                <a16:creationId xmlns:a16="http://schemas.microsoft.com/office/drawing/2014/main" id="{0E744FB6-6E44-194F-11BC-39D94CFC6565}"/>
              </a:ext>
            </a:extLst>
          </p:cNvPr>
          <p:cNvSpPr>
            <a:spLocks noChangeArrowheads="1"/>
          </p:cNvSpPr>
          <p:nvPr/>
        </p:nvSpPr>
        <p:spPr bwMode="ltGray">
          <a:xfrm>
            <a:off x="2700338" y="4210273"/>
            <a:ext cx="1358900" cy="1463675"/>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7" name="Rectangle 8">
            <a:extLst>
              <a:ext uri="{FF2B5EF4-FFF2-40B4-BE49-F238E27FC236}">
                <a16:creationId xmlns:a16="http://schemas.microsoft.com/office/drawing/2014/main" id="{8BCA3C0C-4FE2-57AF-8B2E-6A65ED02FA51}"/>
              </a:ext>
            </a:extLst>
          </p:cNvPr>
          <p:cNvSpPr>
            <a:spLocks noChangeArrowheads="1"/>
          </p:cNvSpPr>
          <p:nvPr/>
        </p:nvSpPr>
        <p:spPr bwMode="blackWhite">
          <a:xfrm>
            <a:off x="923925" y="4210273"/>
            <a:ext cx="7245350"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ENAME            SAL     GRADE</a:t>
            </a:r>
          </a:p>
          <a:p>
            <a:pPr>
              <a:spcBef>
                <a:spcPct val="0"/>
              </a:spcBef>
              <a:buFontTx/>
              <a:buNone/>
            </a:pPr>
            <a:r>
              <a:rPr lang="en-US" altLang="en-US" sz="1800" b="1">
                <a:solidFill>
                  <a:srgbClr val="000000"/>
                </a:solidFill>
                <a:latin typeface="Courier New" panose="02070309020205020404" pitchFamily="49" charset="0"/>
              </a:rPr>
              <a:t>---------- --------- ---------</a:t>
            </a:r>
          </a:p>
          <a:p>
            <a:pPr>
              <a:spcBef>
                <a:spcPct val="0"/>
              </a:spcBef>
              <a:buFontTx/>
              <a:buNone/>
            </a:pPr>
            <a:r>
              <a:rPr lang="en-US" altLang="en-US" sz="1800" b="1">
                <a:solidFill>
                  <a:srgbClr val="000000"/>
                </a:solidFill>
                <a:latin typeface="Courier New" panose="02070309020205020404" pitchFamily="49" charset="0"/>
              </a:rPr>
              <a:t>JAMES            950         1</a:t>
            </a:r>
          </a:p>
          <a:p>
            <a:pPr>
              <a:spcBef>
                <a:spcPct val="0"/>
              </a:spcBef>
              <a:buFontTx/>
              <a:buNone/>
            </a:pPr>
            <a:r>
              <a:rPr lang="en-US" altLang="en-US" sz="1800" b="1">
                <a:solidFill>
                  <a:srgbClr val="000000"/>
                </a:solidFill>
                <a:latin typeface="Courier New" panose="02070309020205020404" pitchFamily="49" charset="0"/>
              </a:rPr>
              <a:t>SMITH            800         1</a:t>
            </a:r>
          </a:p>
          <a:p>
            <a:pPr>
              <a:spcBef>
                <a:spcPct val="0"/>
              </a:spcBef>
              <a:buFontTx/>
              <a:buNone/>
            </a:pPr>
            <a:r>
              <a:rPr lang="en-US" altLang="en-US" sz="1800" b="1">
                <a:solidFill>
                  <a:srgbClr val="000000"/>
                </a:solidFill>
                <a:latin typeface="Courier New" panose="02070309020205020404" pitchFamily="49" charset="0"/>
              </a:rPr>
              <a:t>ADAMS           1100         1</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14 rows selected.</a:t>
            </a:r>
          </a:p>
        </p:txBody>
      </p:sp>
      <p:sp>
        <p:nvSpPr>
          <p:cNvPr id="28" name="Rectangle 9">
            <a:extLst>
              <a:ext uri="{FF2B5EF4-FFF2-40B4-BE49-F238E27FC236}">
                <a16:creationId xmlns:a16="http://schemas.microsoft.com/office/drawing/2014/main" id="{2F18C4B6-D0A2-EBB7-A341-7392537493A4}"/>
              </a:ext>
            </a:extLst>
          </p:cNvPr>
          <p:cNvSpPr>
            <a:spLocks noChangeArrowheads="1"/>
          </p:cNvSpPr>
          <p:nvPr/>
        </p:nvSpPr>
        <p:spPr bwMode="blackWhite">
          <a:xfrm>
            <a:off x="882650" y="1052736"/>
            <a:ext cx="7289800" cy="148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857250" algn="l"/>
                <a:tab pos="2063750" algn="l"/>
              </a:tabLst>
              <a:defRPr sz="2800">
                <a:solidFill>
                  <a:schemeClr val="tx1"/>
                </a:solidFill>
                <a:latin typeface="Arial" panose="020B0604020202020204" pitchFamily="34" charset="0"/>
              </a:defRPr>
            </a:lvl1pPr>
            <a:lvl2pPr marL="742950" indent="-285750">
              <a:spcBef>
                <a:spcPct val="20000"/>
              </a:spcBef>
              <a:buChar char="–"/>
              <a:tabLst>
                <a:tab pos="857250" algn="l"/>
                <a:tab pos="2063750" algn="l"/>
              </a:tabLst>
              <a:defRPr sz="2400">
                <a:solidFill>
                  <a:schemeClr val="tx1"/>
                </a:solidFill>
                <a:latin typeface="Arial" panose="020B0604020202020204" pitchFamily="34" charset="0"/>
              </a:defRPr>
            </a:lvl2pPr>
            <a:lvl3pPr marL="1143000" indent="-228600">
              <a:spcBef>
                <a:spcPct val="20000"/>
              </a:spcBef>
              <a:buChar char="•"/>
              <a:tabLst>
                <a:tab pos="857250" algn="l"/>
                <a:tab pos="2063750" algn="l"/>
              </a:tabLst>
              <a:defRPr sz="2000">
                <a:solidFill>
                  <a:schemeClr val="tx1"/>
                </a:solidFill>
                <a:latin typeface="Arial" panose="020B0604020202020204" pitchFamily="34" charset="0"/>
              </a:defRPr>
            </a:lvl3pPr>
            <a:lvl4pPr marL="1600200" indent="-228600">
              <a:spcBef>
                <a:spcPct val="20000"/>
              </a:spcBef>
              <a:buChar char="–"/>
              <a:tabLst>
                <a:tab pos="857250" algn="l"/>
                <a:tab pos="2063750" algn="l"/>
              </a:tabLst>
              <a:defRPr sz="2000">
                <a:solidFill>
                  <a:schemeClr val="tx1"/>
                </a:solidFill>
                <a:latin typeface="Arial" panose="020B0604020202020204" pitchFamily="34" charset="0"/>
              </a:defRPr>
            </a:lvl4pPr>
            <a:lvl5pPr marL="2057400" indent="-228600">
              <a:spcBef>
                <a:spcPct val="20000"/>
              </a:spcBef>
              <a:buChar char="»"/>
              <a:tabLst>
                <a:tab pos="857250" algn="l"/>
                <a:tab pos="20637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dirty="0">
                <a:solidFill>
                  <a:srgbClr val="000000"/>
                </a:solidFill>
                <a:latin typeface="Courier New" panose="02070309020205020404" pitchFamily="49" charset="0"/>
              </a:rPr>
              <a:t>SQL&gt; 	SELECT 	</a:t>
            </a:r>
            <a:r>
              <a:rPr lang="en-US" altLang="en-US" sz="1800" b="1" dirty="0" err="1">
                <a:solidFill>
                  <a:srgbClr val="000000"/>
                </a:solidFill>
                <a:latin typeface="Courier New" panose="02070309020205020404" pitchFamily="49" charset="0"/>
              </a:rPr>
              <a:t>e.ename</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e.sal</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s.grade</a:t>
            </a:r>
            <a:endParaRPr lang="en-US" altLang="en-US" sz="1800" b="1" dirty="0">
              <a:solidFill>
                <a:srgbClr val="000000"/>
              </a:solidFill>
              <a:latin typeface="Courier New" panose="02070309020205020404" pitchFamily="49" charset="0"/>
            </a:endParaRPr>
          </a:p>
          <a:p>
            <a:pPr>
              <a:lnSpc>
                <a:spcPct val="120000"/>
              </a:lnSpc>
              <a:spcBef>
                <a:spcPct val="0"/>
              </a:spcBef>
              <a:buFontTx/>
              <a:buNone/>
            </a:pPr>
            <a:r>
              <a:rPr lang="en-US" altLang="en-US" sz="1800" b="1" dirty="0">
                <a:solidFill>
                  <a:srgbClr val="000000"/>
                </a:solidFill>
                <a:latin typeface="Courier New" panose="02070309020205020404" pitchFamily="49" charset="0"/>
              </a:rPr>
              <a:t>   2	FROM	emp e, </a:t>
            </a:r>
            <a:r>
              <a:rPr lang="en-US" altLang="en-US" sz="1800" b="1" dirty="0" err="1">
                <a:solidFill>
                  <a:srgbClr val="000000"/>
                </a:solidFill>
                <a:latin typeface="Courier New" panose="02070309020205020404" pitchFamily="49" charset="0"/>
              </a:rPr>
              <a:t>salgrade</a:t>
            </a:r>
            <a:r>
              <a:rPr lang="en-US" altLang="en-US" sz="1800" b="1" dirty="0">
                <a:solidFill>
                  <a:srgbClr val="000000"/>
                </a:solidFill>
                <a:latin typeface="Courier New" panose="02070309020205020404" pitchFamily="49" charset="0"/>
              </a:rPr>
              <a:t> s</a:t>
            </a:r>
          </a:p>
          <a:p>
            <a:pPr>
              <a:lnSpc>
                <a:spcPct val="120000"/>
              </a:lnSpc>
              <a:spcBef>
                <a:spcPct val="0"/>
              </a:spcBef>
              <a:buFontTx/>
              <a:buNone/>
            </a:pPr>
            <a:r>
              <a:rPr lang="en-US" altLang="en-US" sz="1800" b="1" dirty="0">
                <a:solidFill>
                  <a:srgbClr val="000000"/>
                </a:solidFill>
                <a:latin typeface="Courier New" panose="02070309020205020404" pitchFamily="49" charset="0"/>
              </a:rPr>
              <a:t>   3	</a:t>
            </a:r>
            <a:r>
              <a:rPr lang="en-US" altLang="en-US" sz="1800" b="1" dirty="0">
                <a:solidFill>
                  <a:srgbClr val="0000CC"/>
                </a:solidFill>
                <a:latin typeface="Courier New" panose="02070309020205020404" pitchFamily="49" charset="0"/>
              </a:rPr>
              <a:t>WHERE 	</a:t>
            </a:r>
            <a:r>
              <a:rPr lang="en-US" altLang="en-US" sz="1800" b="1" dirty="0" err="1">
                <a:solidFill>
                  <a:srgbClr val="0000CC"/>
                </a:solidFill>
                <a:latin typeface="Courier New" panose="02070309020205020404" pitchFamily="49" charset="0"/>
              </a:rPr>
              <a:t>e.sal</a:t>
            </a:r>
            <a:endParaRPr lang="en-US" altLang="en-US" sz="1800" b="1" dirty="0">
              <a:solidFill>
                <a:srgbClr val="0000CC"/>
              </a:solidFill>
              <a:latin typeface="Courier New" panose="02070309020205020404" pitchFamily="49" charset="0"/>
            </a:endParaRPr>
          </a:p>
          <a:p>
            <a:pPr>
              <a:lnSpc>
                <a:spcPct val="120000"/>
              </a:lnSpc>
              <a:spcBef>
                <a:spcPct val="0"/>
              </a:spcBef>
              <a:buFontTx/>
              <a:buNone/>
            </a:pPr>
            <a:r>
              <a:rPr lang="en-US" altLang="en-US" sz="1800" b="1" dirty="0">
                <a:solidFill>
                  <a:srgbClr val="0000CC"/>
                </a:solidFill>
                <a:latin typeface="Courier New" panose="02070309020205020404" pitchFamily="49" charset="0"/>
              </a:rPr>
              <a:t>   4	BETWEEN 	</a:t>
            </a:r>
            <a:r>
              <a:rPr lang="en-US" altLang="en-US" sz="1800" b="1" dirty="0" err="1">
                <a:solidFill>
                  <a:srgbClr val="0000CC"/>
                </a:solidFill>
                <a:latin typeface="Courier New" panose="02070309020205020404" pitchFamily="49" charset="0"/>
              </a:rPr>
              <a:t>s.losal</a:t>
            </a:r>
            <a:r>
              <a:rPr lang="en-US" altLang="en-US" sz="1800" b="1" dirty="0">
                <a:solidFill>
                  <a:srgbClr val="0000CC"/>
                </a:solidFill>
                <a:latin typeface="Courier New" panose="02070309020205020404" pitchFamily="49" charset="0"/>
              </a:rPr>
              <a:t> AND </a:t>
            </a:r>
            <a:r>
              <a:rPr lang="en-US" altLang="en-US" sz="1800" b="1" dirty="0" err="1">
                <a:solidFill>
                  <a:srgbClr val="0000CC"/>
                </a:solidFill>
                <a:latin typeface="Courier New" panose="02070309020205020404" pitchFamily="49" charset="0"/>
              </a:rPr>
              <a:t>s.hisal</a:t>
            </a:r>
            <a:r>
              <a:rPr lang="en-US" altLang="en-US" sz="1800" b="1" dirty="0">
                <a:solidFill>
                  <a:srgbClr val="0000CC"/>
                </a:solidFill>
                <a:latin typeface="Courier New" panose="02070309020205020404" pitchFamily="49" charset="0"/>
              </a:rPr>
              <a:t>;</a:t>
            </a:r>
          </a:p>
        </p:txBody>
      </p:sp>
      <p:sp>
        <p:nvSpPr>
          <p:cNvPr id="29" name="Rectangle 2">
            <a:extLst>
              <a:ext uri="{FF2B5EF4-FFF2-40B4-BE49-F238E27FC236}">
                <a16:creationId xmlns:a16="http://schemas.microsoft.com/office/drawing/2014/main" id="{5B291EF8-F735-C631-2A89-9DE220934661}"/>
              </a:ext>
            </a:extLst>
          </p:cNvPr>
          <p:cNvSpPr>
            <a:spLocks noChangeArrowheads="1"/>
          </p:cNvSpPr>
          <p:nvPr/>
        </p:nvSpPr>
        <p:spPr bwMode="blackWhite">
          <a:xfrm>
            <a:off x="895350" y="2649761"/>
            <a:ext cx="7264400" cy="1463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2063750" algn="l"/>
              </a:tabLst>
              <a:defRPr sz="2800">
                <a:solidFill>
                  <a:schemeClr val="tx1"/>
                </a:solidFill>
                <a:latin typeface="Arial" panose="020B0604020202020204" pitchFamily="34" charset="0"/>
              </a:defRPr>
            </a:lvl1pPr>
            <a:lvl2pPr marL="742950" indent="-285750">
              <a:spcBef>
                <a:spcPct val="20000"/>
              </a:spcBef>
              <a:buChar char="–"/>
              <a:tabLst>
                <a:tab pos="857250" algn="l"/>
                <a:tab pos="2063750" algn="l"/>
              </a:tabLst>
              <a:defRPr sz="2400">
                <a:solidFill>
                  <a:schemeClr val="tx1"/>
                </a:solidFill>
                <a:latin typeface="Arial" panose="020B0604020202020204" pitchFamily="34" charset="0"/>
              </a:defRPr>
            </a:lvl2pPr>
            <a:lvl3pPr marL="1143000" indent="-228600">
              <a:spcBef>
                <a:spcPct val="20000"/>
              </a:spcBef>
              <a:buChar char="•"/>
              <a:tabLst>
                <a:tab pos="857250" algn="l"/>
                <a:tab pos="2063750" algn="l"/>
              </a:tabLst>
              <a:defRPr sz="2000">
                <a:solidFill>
                  <a:schemeClr val="tx1"/>
                </a:solidFill>
                <a:latin typeface="Arial" panose="020B0604020202020204" pitchFamily="34" charset="0"/>
              </a:defRPr>
            </a:lvl3pPr>
            <a:lvl4pPr marL="1600200" indent="-228600">
              <a:spcBef>
                <a:spcPct val="20000"/>
              </a:spcBef>
              <a:buChar char="–"/>
              <a:tabLst>
                <a:tab pos="857250" algn="l"/>
                <a:tab pos="2063750" algn="l"/>
              </a:tabLst>
              <a:defRPr sz="2000">
                <a:solidFill>
                  <a:schemeClr val="tx1"/>
                </a:solidFill>
                <a:latin typeface="Arial" panose="020B0604020202020204" pitchFamily="34" charset="0"/>
              </a:defRPr>
            </a:lvl4pPr>
            <a:lvl5pPr marL="2057400" indent="-228600">
              <a:spcBef>
                <a:spcPct val="20000"/>
              </a:spcBef>
              <a:buChar char="»"/>
              <a:tabLst>
                <a:tab pos="857250" algn="l"/>
                <a:tab pos="20637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30" name="Rectangle 9">
            <a:extLst>
              <a:ext uri="{FF2B5EF4-FFF2-40B4-BE49-F238E27FC236}">
                <a16:creationId xmlns:a16="http://schemas.microsoft.com/office/drawing/2014/main" id="{F84919F6-8DBF-E456-92BA-BA2B62EED929}"/>
              </a:ext>
            </a:extLst>
          </p:cNvPr>
          <p:cNvSpPr>
            <a:spLocks noChangeArrowheads="1"/>
          </p:cNvSpPr>
          <p:nvPr/>
        </p:nvSpPr>
        <p:spPr bwMode="blackWhite">
          <a:xfrm>
            <a:off x="882650" y="2637061"/>
            <a:ext cx="7289800" cy="148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857250" algn="l"/>
                <a:tab pos="2063750" algn="l"/>
              </a:tabLst>
              <a:defRPr sz="2800">
                <a:solidFill>
                  <a:schemeClr val="tx1"/>
                </a:solidFill>
                <a:latin typeface="Arial" panose="020B0604020202020204" pitchFamily="34" charset="0"/>
              </a:defRPr>
            </a:lvl1pPr>
            <a:lvl2pPr marL="742950" indent="-285750">
              <a:spcBef>
                <a:spcPct val="20000"/>
              </a:spcBef>
              <a:buChar char="–"/>
              <a:tabLst>
                <a:tab pos="857250" algn="l"/>
                <a:tab pos="2063750" algn="l"/>
              </a:tabLst>
              <a:defRPr sz="2400">
                <a:solidFill>
                  <a:schemeClr val="tx1"/>
                </a:solidFill>
                <a:latin typeface="Arial" panose="020B0604020202020204" pitchFamily="34" charset="0"/>
              </a:defRPr>
            </a:lvl2pPr>
            <a:lvl3pPr marL="1143000" indent="-228600">
              <a:spcBef>
                <a:spcPct val="20000"/>
              </a:spcBef>
              <a:buChar char="•"/>
              <a:tabLst>
                <a:tab pos="857250" algn="l"/>
                <a:tab pos="2063750" algn="l"/>
              </a:tabLst>
              <a:defRPr sz="2000">
                <a:solidFill>
                  <a:schemeClr val="tx1"/>
                </a:solidFill>
                <a:latin typeface="Arial" panose="020B0604020202020204" pitchFamily="34" charset="0"/>
              </a:defRPr>
            </a:lvl3pPr>
            <a:lvl4pPr marL="1600200" indent="-228600">
              <a:spcBef>
                <a:spcPct val="20000"/>
              </a:spcBef>
              <a:buChar char="–"/>
              <a:tabLst>
                <a:tab pos="857250" algn="l"/>
                <a:tab pos="2063750" algn="l"/>
              </a:tabLst>
              <a:defRPr sz="2000">
                <a:solidFill>
                  <a:schemeClr val="tx1"/>
                </a:solidFill>
                <a:latin typeface="Arial" panose="020B0604020202020204" pitchFamily="34" charset="0"/>
              </a:defRPr>
            </a:lvl4pPr>
            <a:lvl5pPr marL="2057400" indent="-228600">
              <a:spcBef>
                <a:spcPct val="20000"/>
              </a:spcBef>
              <a:buChar char="»"/>
              <a:tabLst>
                <a:tab pos="857250" algn="l"/>
                <a:tab pos="20637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2063750"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dirty="0">
                <a:solidFill>
                  <a:srgbClr val="000000"/>
                </a:solidFill>
                <a:latin typeface="Courier New" panose="02070309020205020404" pitchFamily="49" charset="0"/>
              </a:rPr>
              <a:t>SQL&gt; 	SELECT 	</a:t>
            </a:r>
            <a:r>
              <a:rPr lang="en-US" altLang="en-US" sz="1800" b="1" dirty="0" err="1">
                <a:solidFill>
                  <a:srgbClr val="000000"/>
                </a:solidFill>
                <a:latin typeface="Courier New" panose="02070309020205020404" pitchFamily="49" charset="0"/>
              </a:rPr>
              <a:t>e.ename</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e.sal</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s.grade</a:t>
            </a:r>
            <a:endParaRPr lang="en-US" altLang="en-US" sz="1800" b="1" dirty="0">
              <a:solidFill>
                <a:srgbClr val="000000"/>
              </a:solidFill>
              <a:latin typeface="Courier New" panose="02070309020205020404" pitchFamily="49" charset="0"/>
            </a:endParaRPr>
          </a:p>
          <a:p>
            <a:pPr>
              <a:lnSpc>
                <a:spcPct val="120000"/>
              </a:lnSpc>
              <a:spcBef>
                <a:spcPct val="0"/>
              </a:spcBef>
              <a:buFontTx/>
              <a:buNone/>
            </a:pPr>
            <a:r>
              <a:rPr lang="en-US" altLang="en-US" sz="1800" b="1" dirty="0">
                <a:solidFill>
                  <a:srgbClr val="000000"/>
                </a:solidFill>
                <a:latin typeface="Courier New" panose="02070309020205020404" pitchFamily="49" charset="0"/>
              </a:rPr>
              <a:t>   2	FROM	emp e </a:t>
            </a:r>
            <a:r>
              <a:rPr lang="en-US" altLang="en-US" sz="1800" b="1" dirty="0">
                <a:solidFill>
                  <a:srgbClr val="FF0000"/>
                </a:solidFill>
                <a:latin typeface="Courier New" panose="02070309020205020404" pitchFamily="49" charset="0"/>
              </a:rPr>
              <a:t>JOIN</a:t>
            </a: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salgrade</a:t>
            </a:r>
            <a:r>
              <a:rPr lang="en-US" altLang="en-US" sz="1800" b="1" dirty="0">
                <a:solidFill>
                  <a:srgbClr val="000000"/>
                </a:solidFill>
                <a:latin typeface="Courier New" panose="02070309020205020404" pitchFamily="49" charset="0"/>
              </a:rPr>
              <a:t> s</a:t>
            </a:r>
          </a:p>
          <a:p>
            <a:pPr>
              <a:lnSpc>
                <a:spcPct val="120000"/>
              </a:lnSpc>
              <a:spcBef>
                <a:spcPct val="0"/>
              </a:spcBef>
              <a:buFontTx/>
              <a:buNone/>
            </a:pPr>
            <a:r>
              <a:rPr lang="en-US" altLang="en-US" sz="1800" b="1" dirty="0">
                <a:solidFill>
                  <a:srgbClr val="000000"/>
                </a:solidFill>
                <a:latin typeface="Courier New" panose="02070309020205020404" pitchFamily="49" charset="0"/>
              </a:rPr>
              <a:t>   3	</a:t>
            </a:r>
            <a:r>
              <a:rPr lang="en-US" altLang="en-US" sz="1800" b="1" dirty="0">
                <a:solidFill>
                  <a:srgbClr val="0000CC"/>
                </a:solidFill>
                <a:latin typeface="Courier New" panose="02070309020205020404" pitchFamily="49" charset="0"/>
              </a:rPr>
              <a:t>ON 	</a:t>
            </a:r>
            <a:r>
              <a:rPr lang="en-US" altLang="en-US" sz="1800" b="1" dirty="0" err="1">
                <a:solidFill>
                  <a:srgbClr val="0000CC"/>
                </a:solidFill>
                <a:latin typeface="Courier New" panose="02070309020205020404" pitchFamily="49" charset="0"/>
              </a:rPr>
              <a:t>e.sal</a:t>
            </a:r>
            <a:endParaRPr lang="en-US" altLang="en-US" sz="1800" b="1" dirty="0">
              <a:solidFill>
                <a:srgbClr val="0000CC"/>
              </a:solidFill>
              <a:latin typeface="Courier New" panose="02070309020205020404" pitchFamily="49" charset="0"/>
            </a:endParaRPr>
          </a:p>
          <a:p>
            <a:pPr>
              <a:lnSpc>
                <a:spcPct val="120000"/>
              </a:lnSpc>
              <a:spcBef>
                <a:spcPct val="0"/>
              </a:spcBef>
              <a:buFontTx/>
              <a:buNone/>
            </a:pPr>
            <a:r>
              <a:rPr lang="en-US" altLang="en-US" sz="1800" b="1" dirty="0">
                <a:solidFill>
                  <a:srgbClr val="0000CC"/>
                </a:solidFill>
                <a:latin typeface="Courier New" panose="02070309020205020404" pitchFamily="49" charset="0"/>
              </a:rPr>
              <a:t>   4	BETWEEN 	</a:t>
            </a:r>
            <a:r>
              <a:rPr lang="en-US" altLang="en-US" sz="1800" b="1" dirty="0" err="1">
                <a:solidFill>
                  <a:srgbClr val="0000CC"/>
                </a:solidFill>
                <a:latin typeface="Courier New" panose="02070309020205020404" pitchFamily="49" charset="0"/>
              </a:rPr>
              <a:t>s.losal</a:t>
            </a:r>
            <a:r>
              <a:rPr lang="en-US" altLang="en-US" sz="1800" b="1" dirty="0">
                <a:solidFill>
                  <a:srgbClr val="0000CC"/>
                </a:solidFill>
                <a:latin typeface="Courier New" panose="02070309020205020404" pitchFamily="49" charset="0"/>
              </a:rPr>
              <a:t> AND </a:t>
            </a:r>
            <a:r>
              <a:rPr lang="en-US" altLang="en-US" sz="1800" b="1" dirty="0" err="1">
                <a:solidFill>
                  <a:srgbClr val="0000CC"/>
                </a:solidFill>
                <a:latin typeface="Courier New" panose="02070309020205020404" pitchFamily="49" charset="0"/>
              </a:rPr>
              <a:t>s.hisal</a:t>
            </a:r>
            <a:r>
              <a:rPr lang="en-US" altLang="en-US" sz="1800" b="1" dirty="0">
                <a:solidFill>
                  <a:srgbClr val="0000CC"/>
                </a:solidFill>
                <a:latin typeface="Courier New" panose="02070309020205020404" pitchFamily="49" charset="0"/>
              </a:rPr>
              <a:t>;</a:t>
            </a:r>
          </a:p>
        </p:txBody>
      </p:sp>
    </p:spTree>
    <p:extLst>
      <p:ext uri="{BB962C8B-B14F-4D97-AF65-F5344CB8AC3E}">
        <p14:creationId xmlns:p14="http://schemas.microsoft.com/office/powerpoint/2010/main" val="410038387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66E76-4BFE-D5DE-E0CD-5DFC40F82146}"/>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34965D87-798C-A283-6214-5C1A9765BD23}"/>
              </a:ext>
            </a:extLst>
          </p:cNvPr>
          <p:cNvSpPr>
            <a:spLocks noGrp="1" noChangeArrowheads="1"/>
          </p:cNvSpPr>
          <p:nvPr>
            <p:ph type="title"/>
          </p:nvPr>
        </p:nvSpPr>
        <p:spPr>
          <a:xfrm>
            <a:off x="425450" y="23130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6. Self Join</a:t>
            </a:r>
          </a:p>
        </p:txBody>
      </p:sp>
      <p:sp>
        <p:nvSpPr>
          <p:cNvPr id="38915" name="Rectangle 3">
            <a:extLst>
              <a:ext uri="{FF2B5EF4-FFF2-40B4-BE49-F238E27FC236}">
                <a16:creationId xmlns:a16="http://schemas.microsoft.com/office/drawing/2014/main" id="{E0CB0BD1-84C2-D6F9-4066-0868F8D4E1A8}"/>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8468CD22-BA13-2CD6-B7D1-8B9FD8C8EC0A}"/>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40597B05-C839-6849-635A-CAE5A37693D2}"/>
              </a:ext>
            </a:extLst>
          </p:cNvPr>
          <p:cNvSpPr txBox="1">
            <a:spLocks noChangeArrowheads="1"/>
          </p:cNvSpPr>
          <p:nvPr/>
        </p:nvSpPr>
        <p:spPr bwMode="auto">
          <a:xfrm>
            <a:off x="394866" y="980728"/>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gn="just"/>
            <a:r>
              <a:rPr lang="en-US" altLang="en-US" sz="2400" dirty="0">
                <a:latin typeface="Cambria" panose="02040503050406030204" pitchFamily="18" charset="0"/>
                <a:ea typeface="Cambria" panose="02040503050406030204" pitchFamily="18" charset="0"/>
              </a:rPr>
              <a:t>One row in a table is related to another row of the same table via </a:t>
            </a:r>
            <a:r>
              <a:rPr lang="en-US" altLang="en-US" sz="2400" dirty="0">
                <a:solidFill>
                  <a:srgbClr val="FF0000"/>
                </a:solidFill>
                <a:latin typeface="Cambria" panose="02040503050406030204" pitchFamily="18" charset="0"/>
                <a:ea typeface="Cambria" panose="02040503050406030204" pitchFamily="18" charset="0"/>
              </a:rPr>
              <a:t>Recursive Foreign Key.</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375A500B-FB3E-29E5-01AA-3B3A4DF0AD11}"/>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5" name="Rectangle 2">
            <a:extLst>
              <a:ext uri="{FF2B5EF4-FFF2-40B4-BE49-F238E27FC236}">
                <a16:creationId xmlns:a16="http://schemas.microsoft.com/office/drawing/2014/main" id="{02FD4B30-2B5D-35D0-F7B3-649DD9DEF703}"/>
              </a:ext>
            </a:extLst>
          </p:cNvPr>
          <p:cNvSpPr>
            <a:spLocks noChangeArrowheads="1"/>
          </p:cNvSpPr>
          <p:nvPr/>
        </p:nvSpPr>
        <p:spPr bwMode="blackWhite">
          <a:xfrm>
            <a:off x="1654175" y="2464073"/>
            <a:ext cx="2660650" cy="22002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850900" algn="l"/>
                <a:tab pos="1833563" algn="l"/>
                <a:tab pos="2457450" algn="l"/>
              </a:tabLst>
              <a:defRPr sz="2800">
                <a:solidFill>
                  <a:schemeClr val="tx1"/>
                </a:solidFill>
                <a:latin typeface="Arial" panose="020B0604020202020204" pitchFamily="34" charset="0"/>
              </a:defRPr>
            </a:lvl1pPr>
            <a:lvl2pPr marL="742950" indent="-285750">
              <a:spcBef>
                <a:spcPct val="20000"/>
              </a:spcBef>
              <a:buChar char="–"/>
              <a:tabLst>
                <a:tab pos="850900" algn="l"/>
                <a:tab pos="1833563" algn="l"/>
                <a:tab pos="2457450" algn="l"/>
              </a:tabLst>
              <a:defRPr sz="2400">
                <a:solidFill>
                  <a:schemeClr val="tx1"/>
                </a:solidFill>
                <a:latin typeface="Arial" panose="020B0604020202020204" pitchFamily="34" charset="0"/>
              </a:defRPr>
            </a:lvl2pPr>
            <a:lvl3pPr marL="1143000" indent="-228600">
              <a:spcBef>
                <a:spcPct val="20000"/>
              </a:spcBef>
              <a:buChar char="•"/>
              <a:tabLst>
                <a:tab pos="850900" algn="l"/>
                <a:tab pos="1833563" algn="l"/>
                <a:tab pos="2457450" algn="l"/>
              </a:tabLst>
              <a:defRPr sz="2000">
                <a:solidFill>
                  <a:schemeClr val="tx1"/>
                </a:solidFill>
                <a:latin typeface="Arial" panose="020B0604020202020204" pitchFamily="34" charset="0"/>
              </a:defRPr>
            </a:lvl3pPr>
            <a:lvl4pPr marL="1600200" indent="-228600">
              <a:spcBef>
                <a:spcPct val="20000"/>
              </a:spcBef>
              <a:buChar char="–"/>
              <a:tabLst>
                <a:tab pos="850900" algn="l"/>
                <a:tab pos="1833563" algn="l"/>
                <a:tab pos="2457450" algn="l"/>
              </a:tabLst>
              <a:defRPr sz="2000">
                <a:solidFill>
                  <a:schemeClr val="tx1"/>
                </a:solidFill>
                <a:latin typeface="Arial" panose="020B0604020202020204" pitchFamily="34" charset="0"/>
              </a:defRPr>
            </a:lvl4pPr>
            <a:lvl5pPr marL="2057400" indent="-228600">
              <a:spcBef>
                <a:spcPct val="20000"/>
              </a:spcBef>
              <a:buChar char="»"/>
              <a:tabLst>
                <a:tab pos="850900" algn="l"/>
                <a:tab pos="1833563"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0900" algn="l"/>
                <a:tab pos="1833563"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0900" algn="l"/>
                <a:tab pos="1833563"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0900" algn="l"/>
                <a:tab pos="1833563"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0900" algn="l"/>
                <a:tab pos="1833563"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25" name="Rectangle 3">
            <a:extLst>
              <a:ext uri="{FF2B5EF4-FFF2-40B4-BE49-F238E27FC236}">
                <a16:creationId xmlns:a16="http://schemas.microsoft.com/office/drawing/2014/main" id="{55E83E1E-5884-5F2A-FBD1-0A03ED4DA2B0}"/>
              </a:ext>
            </a:extLst>
          </p:cNvPr>
          <p:cNvSpPr>
            <a:spLocks noChangeArrowheads="1"/>
          </p:cNvSpPr>
          <p:nvPr/>
        </p:nvSpPr>
        <p:spPr bwMode="blackWhite">
          <a:xfrm>
            <a:off x="4911725" y="2464073"/>
            <a:ext cx="2241550" cy="220027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8509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8509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8509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8509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8509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09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09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09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0900"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a:p>
            <a:pPr>
              <a:lnSpc>
                <a:spcPct val="95000"/>
              </a:lnSpc>
              <a:spcBef>
                <a:spcPct val="0"/>
              </a:spcBef>
              <a:buFontTx/>
              <a:buNone/>
            </a:pPr>
            <a:endParaRPr lang="en-US" altLang="en-US" sz="1800" b="1">
              <a:solidFill>
                <a:srgbClr val="000000"/>
              </a:solidFill>
              <a:latin typeface="Courier New" panose="02070309020205020404" pitchFamily="49" charset="0"/>
            </a:endParaRPr>
          </a:p>
        </p:txBody>
      </p:sp>
      <p:sp>
        <p:nvSpPr>
          <p:cNvPr id="26" name="Rectangle 5">
            <a:extLst>
              <a:ext uri="{FF2B5EF4-FFF2-40B4-BE49-F238E27FC236}">
                <a16:creationId xmlns:a16="http://schemas.microsoft.com/office/drawing/2014/main" id="{050DED5D-CC30-DFEA-68ED-CB2F1CB88B4A}"/>
              </a:ext>
            </a:extLst>
          </p:cNvPr>
          <p:cNvSpPr>
            <a:spLocks noChangeArrowheads="1"/>
          </p:cNvSpPr>
          <p:nvPr/>
        </p:nvSpPr>
        <p:spPr bwMode="auto">
          <a:xfrm>
            <a:off x="1576388" y="2060848"/>
            <a:ext cx="2051267" cy="400752"/>
          </a:xfrm>
          <a:prstGeom prst="rect">
            <a:avLst/>
          </a:prstGeom>
          <a:noFill/>
          <a:ln w="9525">
            <a:noFill/>
            <a:miter lim="800000"/>
            <a:headEnd/>
            <a:tailEnd/>
          </a:ln>
          <a:effectLst/>
        </p:spPr>
        <p:txBody>
          <a:bodyPr wrap="none" lIns="92075" tIns="46038" rIns="92075" bIns="46038">
            <a:spAutoFit/>
          </a:bodyPr>
          <a:lstStyle/>
          <a:p>
            <a:pPr>
              <a:defRPr/>
            </a:pPr>
            <a:r>
              <a:rPr lang="en-US" sz="2000" b="1" dirty="0">
                <a:solidFill>
                  <a:srgbClr val="0000CC"/>
                </a:solidFill>
                <a:latin typeface="Cambria" panose="02040503050406030204" pitchFamily="18" charset="0"/>
                <a:ea typeface="Cambria" panose="02040503050406030204" pitchFamily="18" charset="0"/>
              </a:rPr>
              <a:t>EMP (WORKER)</a:t>
            </a:r>
          </a:p>
        </p:txBody>
      </p:sp>
      <p:sp>
        <p:nvSpPr>
          <p:cNvPr id="27" name="Rectangle 6">
            <a:extLst>
              <a:ext uri="{FF2B5EF4-FFF2-40B4-BE49-F238E27FC236}">
                <a16:creationId xmlns:a16="http://schemas.microsoft.com/office/drawing/2014/main" id="{0CE987ED-C61D-7D05-D73E-FC004E8E8E3F}"/>
              </a:ext>
            </a:extLst>
          </p:cNvPr>
          <p:cNvSpPr>
            <a:spLocks noChangeArrowheads="1"/>
          </p:cNvSpPr>
          <p:nvPr/>
        </p:nvSpPr>
        <p:spPr bwMode="auto">
          <a:xfrm>
            <a:off x="4846638" y="2060848"/>
            <a:ext cx="2168222" cy="400752"/>
          </a:xfrm>
          <a:prstGeom prst="rect">
            <a:avLst/>
          </a:prstGeom>
          <a:noFill/>
          <a:ln w="9525">
            <a:noFill/>
            <a:miter lim="800000"/>
            <a:headEnd/>
            <a:tailEnd/>
          </a:ln>
          <a:effectLst/>
        </p:spPr>
        <p:txBody>
          <a:bodyPr wrap="none" lIns="92075" tIns="46038" rIns="92075" bIns="46038">
            <a:spAutoFit/>
          </a:bodyPr>
          <a:lstStyle/>
          <a:p>
            <a:pPr>
              <a:defRPr/>
            </a:pPr>
            <a:r>
              <a:rPr lang="en-US" sz="2000" b="1" dirty="0">
                <a:solidFill>
                  <a:srgbClr val="0000CC"/>
                </a:solidFill>
                <a:latin typeface="Cambria" panose="02040503050406030204" pitchFamily="18" charset="0"/>
                <a:ea typeface="Cambria" panose="02040503050406030204" pitchFamily="18" charset="0"/>
              </a:rPr>
              <a:t>EMP (MANAGER)</a:t>
            </a:r>
          </a:p>
        </p:txBody>
      </p:sp>
      <p:sp>
        <p:nvSpPr>
          <p:cNvPr id="28" name="Rectangle 7">
            <a:extLst>
              <a:ext uri="{FF2B5EF4-FFF2-40B4-BE49-F238E27FC236}">
                <a16:creationId xmlns:a16="http://schemas.microsoft.com/office/drawing/2014/main" id="{1C5A30DF-C8A7-77FD-E44D-F5D10496F4BD}"/>
              </a:ext>
            </a:extLst>
          </p:cNvPr>
          <p:cNvSpPr>
            <a:spLocks noChangeArrowheads="1"/>
          </p:cNvSpPr>
          <p:nvPr/>
        </p:nvSpPr>
        <p:spPr bwMode="ltGray">
          <a:xfrm>
            <a:off x="3479800" y="2479948"/>
            <a:ext cx="2286000" cy="2176462"/>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nvGrpSpPr>
          <p:cNvPr id="29" name="Group 8">
            <a:extLst>
              <a:ext uri="{FF2B5EF4-FFF2-40B4-BE49-F238E27FC236}">
                <a16:creationId xmlns:a16="http://schemas.microsoft.com/office/drawing/2014/main" id="{A7264BBC-6314-F065-9A61-7C10F172D2C4}"/>
              </a:ext>
            </a:extLst>
          </p:cNvPr>
          <p:cNvGrpSpPr>
            <a:grpSpLocks/>
          </p:cNvGrpSpPr>
          <p:nvPr/>
        </p:nvGrpSpPr>
        <p:grpSpPr bwMode="auto">
          <a:xfrm>
            <a:off x="1336675" y="4662760"/>
            <a:ext cx="6686550" cy="1646238"/>
            <a:chOff x="842" y="2532"/>
            <a:chExt cx="4212" cy="1037"/>
          </a:xfrm>
        </p:grpSpPr>
        <p:sp>
          <p:nvSpPr>
            <p:cNvPr id="30" name="Rectangle 9">
              <a:extLst>
                <a:ext uri="{FF2B5EF4-FFF2-40B4-BE49-F238E27FC236}">
                  <a16:creationId xmlns:a16="http://schemas.microsoft.com/office/drawing/2014/main" id="{B798803D-F184-F5A2-FDAF-699E6044C1A3}"/>
                </a:ext>
              </a:extLst>
            </p:cNvPr>
            <p:cNvSpPr>
              <a:spLocks noChangeArrowheads="1"/>
            </p:cNvSpPr>
            <p:nvPr/>
          </p:nvSpPr>
          <p:spPr bwMode="auto">
            <a:xfrm>
              <a:off x="842" y="3123"/>
              <a:ext cx="4212" cy="446"/>
            </a:xfrm>
            <a:prstGeom prst="rect">
              <a:avLst/>
            </a:prstGeom>
            <a:noFill/>
            <a:ln w="9525">
              <a:noFill/>
              <a:miter lim="800000"/>
              <a:headEnd/>
              <a:tailEnd/>
            </a:ln>
            <a:effectLst/>
          </p:spPr>
          <p:txBody>
            <a:bodyPr lIns="92075" tIns="46038" rIns="92075" bIns="46038">
              <a:spAutoFit/>
            </a:bodyPr>
            <a:lstStyle/>
            <a:p>
              <a:pPr algn="ctr" defTabSz="822325">
                <a:spcBef>
                  <a:spcPct val="50000"/>
                </a:spcBef>
                <a:defRPr/>
              </a:pPr>
              <a:r>
                <a:rPr lang="en-US" sz="2000" dirty="0">
                  <a:solidFill>
                    <a:srgbClr val="0000CC"/>
                  </a:solidFill>
                  <a:latin typeface="Cambria" panose="02040503050406030204" pitchFamily="18" charset="0"/>
                  <a:ea typeface="Cambria" panose="02040503050406030204" pitchFamily="18" charset="0"/>
                </a:rPr>
                <a:t>“MGR in the WORKER table is equal to EMPNO in the MANAGER table”</a:t>
              </a:r>
            </a:p>
          </p:txBody>
        </p:sp>
        <p:sp>
          <p:nvSpPr>
            <p:cNvPr id="31" name="Freeform 10">
              <a:extLst>
                <a:ext uri="{FF2B5EF4-FFF2-40B4-BE49-F238E27FC236}">
                  <a16:creationId xmlns:a16="http://schemas.microsoft.com/office/drawing/2014/main" id="{003F03F5-5167-DAAA-5D64-B4203E07FAF5}"/>
                </a:ext>
              </a:extLst>
            </p:cNvPr>
            <p:cNvSpPr>
              <a:spLocks/>
            </p:cNvSpPr>
            <p:nvPr/>
          </p:nvSpPr>
          <p:spPr bwMode="auto">
            <a:xfrm>
              <a:off x="2454" y="2532"/>
              <a:ext cx="946" cy="266"/>
            </a:xfrm>
            <a:custGeom>
              <a:avLst/>
              <a:gdLst>
                <a:gd name="T0" fmla="*/ 0 w 946"/>
                <a:gd name="T1" fmla="*/ 9 h 378"/>
                <a:gd name="T2" fmla="*/ 0 w 946"/>
                <a:gd name="T3" fmla="*/ 377 h 378"/>
                <a:gd name="T4" fmla="*/ 945 w 946"/>
                <a:gd name="T5" fmla="*/ 377 h 378"/>
                <a:gd name="T6" fmla="*/ 945 w 946"/>
                <a:gd name="T7" fmla="*/ 0 h 3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46" h="378">
                  <a:moveTo>
                    <a:pt x="0" y="9"/>
                  </a:moveTo>
                  <a:lnTo>
                    <a:pt x="0" y="377"/>
                  </a:lnTo>
                  <a:lnTo>
                    <a:pt x="945" y="377"/>
                  </a:lnTo>
                  <a:lnTo>
                    <a:pt x="945" y="0"/>
                  </a:lnTo>
                </a:path>
              </a:pathLst>
            </a:custGeom>
            <a:noFill/>
            <a:ln w="50800" cap="rnd" cmpd="sng">
              <a:solidFill>
                <a:srgbClr val="FFCC00"/>
              </a:solidFill>
              <a:prstDash val="solid"/>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solidFill>
                    <a:srgbClr val="FFFFFF"/>
                  </a:solidFill>
                </a14:hiddenFill>
              </a:ext>
            </a:extLst>
          </p:spPr>
          <p:txBody>
            <a:bodyPr/>
            <a:lstStyle/>
            <a:p>
              <a:endParaRPr lang="en-US"/>
            </a:p>
          </p:txBody>
        </p:sp>
        <p:sp>
          <p:nvSpPr>
            <p:cNvPr id="38912" name="Line 11">
              <a:extLst>
                <a:ext uri="{FF2B5EF4-FFF2-40B4-BE49-F238E27FC236}">
                  <a16:creationId xmlns:a16="http://schemas.microsoft.com/office/drawing/2014/main" id="{C89E9FD9-7E9A-4DFE-2684-BBF83182F737}"/>
                </a:ext>
              </a:extLst>
            </p:cNvPr>
            <p:cNvSpPr>
              <a:spLocks noChangeShapeType="1"/>
            </p:cNvSpPr>
            <p:nvPr/>
          </p:nvSpPr>
          <p:spPr bwMode="auto">
            <a:xfrm>
              <a:off x="2945" y="2798"/>
              <a:ext cx="0" cy="272"/>
            </a:xfrm>
            <a:prstGeom prst="line">
              <a:avLst/>
            </a:prstGeom>
            <a:noFill/>
            <a:ln w="50800">
              <a:solidFill>
                <a:srgbClr val="FFCC00"/>
              </a:solidFill>
              <a:round/>
              <a:headEnd type="none" w="sm" len="sm"/>
              <a:tailEnd type="none" w="sm" len="sm"/>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
        <p:nvSpPr>
          <p:cNvPr id="38913" name="Rectangle 12">
            <a:extLst>
              <a:ext uri="{FF2B5EF4-FFF2-40B4-BE49-F238E27FC236}">
                <a16:creationId xmlns:a16="http://schemas.microsoft.com/office/drawing/2014/main" id="{9A1DAC08-3F40-4ABE-0C49-EBBBA371CF94}"/>
              </a:ext>
            </a:extLst>
          </p:cNvPr>
          <p:cNvSpPr>
            <a:spLocks noChangeArrowheads="1"/>
          </p:cNvSpPr>
          <p:nvPr/>
        </p:nvSpPr>
        <p:spPr bwMode="blackWhite">
          <a:xfrm>
            <a:off x="1666875" y="2476773"/>
            <a:ext cx="2635250"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850900" algn="l"/>
                <a:tab pos="1833563" algn="l"/>
                <a:tab pos="2457450" algn="l"/>
              </a:tabLst>
              <a:defRPr sz="2800">
                <a:solidFill>
                  <a:schemeClr val="tx1"/>
                </a:solidFill>
                <a:latin typeface="Arial" panose="020B0604020202020204" pitchFamily="34" charset="0"/>
              </a:defRPr>
            </a:lvl1pPr>
            <a:lvl2pPr marL="742950" indent="-285750">
              <a:spcBef>
                <a:spcPct val="20000"/>
              </a:spcBef>
              <a:buChar char="–"/>
              <a:tabLst>
                <a:tab pos="850900" algn="l"/>
                <a:tab pos="1833563" algn="l"/>
                <a:tab pos="2457450" algn="l"/>
              </a:tabLst>
              <a:defRPr sz="2400">
                <a:solidFill>
                  <a:schemeClr val="tx1"/>
                </a:solidFill>
                <a:latin typeface="Arial" panose="020B0604020202020204" pitchFamily="34" charset="0"/>
              </a:defRPr>
            </a:lvl2pPr>
            <a:lvl3pPr marL="1143000" indent="-228600">
              <a:spcBef>
                <a:spcPct val="20000"/>
              </a:spcBef>
              <a:buChar char="•"/>
              <a:tabLst>
                <a:tab pos="850900" algn="l"/>
                <a:tab pos="1833563" algn="l"/>
                <a:tab pos="2457450" algn="l"/>
              </a:tabLst>
              <a:defRPr sz="2000">
                <a:solidFill>
                  <a:schemeClr val="tx1"/>
                </a:solidFill>
                <a:latin typeface="Arial" panose="020B0604020202020204" pitchFamily="34" charset="0"/>
              </a:defRPr>
            </a:lvl3pPr>
            <a:lvl4pPr marL="1600200" indent="-228600">
              <a:spcBef>
                <a:spcPct val="20000"/>
              </a:spcBef>
              <a:buChar char="–"/>
              <a:tabLst>
                <a:tab pos="850900" algn="l"/>
                <a:tab pos="1833563" algn="l"/>
                <a:tab pos="2457450" algn="l"/>
              </a:tabLst>
              <a:defRPr sz="2000">
                <a:solidFill>
                  <a:schemeClr val="tx1"/>
                </a:solidFill>
                <a:latin typeface="Arial" panose="020B0604020202020204" pitchFamily="34" charset="0"/>
              </a:defRPr>
            </a:lvl4pPr>
            <a:lvl5pPr marL="2057400" indent="-228600">
              <a:spcBef>
                <a:spcPct val="20000"/>
              </a:spcBef>
              <a:buChar char="»"/>
              <a:tabLst>
                <a:tab pos="850900" algn="l"/>
                <a:tab pos="1833563"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0900" algn="l"/>
                <a:tab pos="1833563"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0900" algn="l"/>
                <a:tab pos="1833563"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0900" algn="l"/>
                <a:tab pos="1833563"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0900" algn="l"/>
                <a:tab pos="1833563"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EMPNO	ENAME	 MGR</a:t>
            </a:r>
            <a:br>
              <a:rPr lang="en-US" altLang="en-US" sz="1800" b="1">
                <a:solidFill>
                  <a:srgbClr val="000000"/>
                </a:solidFill>
                <a:latin typeface="Courier New" panose="02070309020205020404" pitchFamily="49" charset="0"/>
              </a:rPr>
            </a:br>
            <a:r>
              <a:rPr lang="en-US" altLang="en-US" sz="1800" b="1">
                <a:solidFill>
                  <a:srgbClr val="000000"/>
                </a:solidFill>
                <a:latin typeface="Courier New" panose="02070309020205020404" pitchFamily="49" charset="0"/>
              </a:rPr>
              <a:t>-----	------	----</a:t>
            </a:r>
            <a:br>
              <a:rPr lang="en-US" altLang="en-US" sz="1800" b="1">
                <a:solidFill>
                  <a:srgbClr val="000000"/>
                </a:solidFill>
                <a:latin typeface="Courier New" panose="02070309020205020404" pitchFamily="49" charset="0"/>
              </a:rPr>
            </a:br>
            <a:r>
              <a:rPr lang="en-US" altLang="en-US" sz="1800" b="1">
                <a:solidFill>
                  <a:srgbClr val="000000"/>
                </a:solidFill>
                <a:latin typeface="Courier New" panose="02070309020205020404" pitchFamily="49" charset="0"/>
              </a:rPr>
              <a:t> 7839	KING	</a:t>
            </a:r>
          </a:p>
          <a:p>
            <a:pPr>
              <a:lnSpc>
                <a:spcPct val="95000"/>
              </a:lnSpc>
              <a:spcBef>
                <a:spcPct val="0"/>
              </a:spcBef>
              <a:buFontTx/>
              <a:buNone/>
            </a:pPr>
            <a:r>
              <a:rPr lang="en-US" altLang="en-US" sz="1800" b="1">
                <a:solidFill>
                  <a:srgbClr val="000000"/>
                </a:solidFill>
                <a:latin typeface="Courier New" panose="02070309020205020404" pitchFamily="49" charset="0"/>
              </a:rPr>
              <a:t> 7698	BLAKE	7839</a:t>
            </a:r>
          </a:p>
          <a:p>
            <a:pPr>
              <a:lnSpc>
                <a:spcPct val="95000"/>
              </a:lnSpc>
              <a:spcBef>
                <a:spcPct val="0"/>
              </a:spcBef>
              <a:buFontTx/>
              <a:buNone/>
            </a:pPr>
            <a:r>
              <a:rPr lang="en-US" altLang="en-US" sz="1800" b="1">
                <a:solidFill>
                  <a:srgbClr val="000000"/>
                </a:solidFill>
                <a:latin typeface="Courier New" panose="02070309020205020404" pitchFamily="49" charset="0"/>
              </a:rPr>
              <a:t> 7782	CLARK	7839</a:t>
            </a:r>
          </a:p>
          <a:p>
            <a:pPr>
              <a:lnSpc>
                <a:spcPct val="95000"/>
              </a:lnSpc>
              <a:spcBef>
                <a:spcPct val="0"/>
              </a:spcBef>
              <a:buFontTx/>
              <a:buNone/>
            </a:pPr>
            <a:r>
              <a:rPr lang="en-US" altLang="en-US" sz="1800" b="1">
                <a:solidFill>
                  <a:srgbClr val="000000"/>
                </a:solidFill>
                <a:latin typeface="Courier New" panose="02070309020205020404" pitchFamily="49" charset="0"/>
              </a:rPr>
              <a:t> 7566	JONES	7839</a:t>
            </a:r>
          </a:p>
          <a:p>
            <a:pPr>
              <a:lnSpc>
                <a:spcPct val="95000"/>
              </a:lnSpc>
              <a:spcBef>
                <a:spcPct val="0"/>
              </a:spcBef>
              <a:buFontTx/>
              <a:buNone/>
            </a:pPr>
            <a:r>
              <a:rPr lang="en-US" altLang="en-US" sz="1800" b="1">
                <a:solidFill>
                  <a:srgbClr val="000000"/>
                </a:solidFill>
                <a:latin typeface="Courier New" panose="02070309020205020404" pitchFamily="49" charset="0"/>
              </a:rPr>
              <a:t> 7654	MARTIN	7698</a:t>
            </a:r>
          </a:p>
          <a:p>
            <a:pPr>
              <a:lnSpc>
                <a:spcPct val="95000"/>
              </a:lnSpc>
              <a:spcBef>
                <a:spcPct val="0"/>
              </a:spcBef>
              <a:buFontTx/>
              <a:buNone/>
            </a:pPr>
            <a:r>
              <a:rPr lang="en-US" altLang="en-US" sz="1800" b="1">
                <a:solidFill>
                  <a:srgbClr val="000000"/>
                </a:solidFill>
                <a:latin typeface="Courier New" panose="02070309020205020404" pitchFamily="49" charset="0"/>
              </a:rPr>
              <a:t> 7499	ALLEN	7698</a:t>
            </a:r>
          </a:p>
        </p:txBody>
      </p:sp>
      <p:sp>
        <p:nvSpPr>
          <p:cNvPr id="38916" name="Rectangle 13">
            <a:extLst>
              <a:ext uri="{FF2B5EF4-FFF2-40B4-BE49-F238E27FC236}">
                <a16:creationId xmlns:a16="http://schemas.microsoft.com/office/drawing/2014/main" id="{DB0DC9EB-265D-36C5-2EA8-FA03C9219ACF}"/>
              </a:ext>
            </a:extLst>
          </p:cNvPr>
          <p:cNvSpPr>
            <a:spLocks noChangeArrowheads="1"/>
          </p:cNvSpPr>
          <p:nvPr/>
        </p:nvSpPr>
        <p:spPr bwMode="blackWhite">
          <a:xfrm>
            <a:off x="4924425" y="2476773"/>
            <a:ext cx="2216150"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tabLst>
                <a:tab pos="850900" algn="l"/>
                <a:tab pos="1885950" algn="l"/>
                <a:tab pos="2457450" algn="l"/>
              </a:tabLst>
              <a:defRPr sz="2800">
                <a:solidFill>
                  <a:schemeClr val="tx1"/>
                </a:solidFill>
                <a:latin typeface="Arial" panose="020B0604020202020204" pitchFamily="34" charset="0"/>
              </a:defRPr>
            </a:lvl1pPr>
            <a:lvl2pPr marL="742950" indent="-285750">
              <a:spcBef>
                <a:spcPct val="20000"/>
              </a:spcBef>
              <a:buChar char="–"/>
              <a:tabLst>
                <a:tab pos="850900" algn="l"/>
                <a:tab pos="1885950" algn="l"/>
                <a:tab pos="2457450" algn="l"/>
              </a:tabLst>
              <a:defRPr sz="2400">
                <a:solidFill>
                  <a:schemeClr val="tx1"/>
                </a:solidFill>
                <a:latin typeface="Arial" panose="020B0604020202020204" pitchFamily="34" charset="0"/>
              </a:defRPr>
            </a:lvl2pPr>
            <a:lvl3pPr marL="1143000" indent="-228600">
              <a:spcBef>
                <a:spcPct val="20000"/>
              </a:spcBef>
              <a:buChar char="•"/>
              <a:tabLst>
                <a:tab pos="850900" algn="l"/>
                <a:tab pos="1885950" algn="l"/>
                <a:tab pos="2457450" algn="l"/>
              </a:tabLst>
              <a:defRPr sz="2000">
                <a:solidFill>
                  <a:schemeClr val="tx1"/>
                </a:solidFill>
                <a:latin typeface="Arial" panose="020B0604020202020204" pitchFamily="34" charset="0"/>
              </a:defRPr>
            </a:lvl3pPr>
            <a:lvl4pPr marL="1600200" indent="-228600">
              <a:spcBef>
                <a:spcPct val="20000"/>
              </a:spcBef>
              <a:buChar char="–"/>
              <a:tabLst>
                <a:tab pos="850900" algn="l"/>
                <a:tab pos="1885950" algn="l"/>
                <a:tab pos="2457450" algn="l"/>
              </a:tabLst>
              <a:defRPr sz="2000">
                <a:solidFill>
                  <a:schemeClr val="tx1"/>
                </a:solidFill>
                <a:latin typeface="Arial" panose="020B0604020202020204" pitchFamily="34" charset="0"/>
              </a:defRPr>
            </a:lvl4pPr>
            <a:lvl5pPr marL="2057400" indent="-228600">
              <a:spcBef>
                <a:spcPct val="20000"/>
              </a:spcBef>
              <a:buChar char="»"/>
              <a:tabLst>
                <a:tab pos="850900" algn="l"/>
                <a:tab pos="1885950" algn="l"/>
                <a:tab pos="245745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0900" algn="l"/>
                <a:tab pos="1885950" algn="l"/>
                <a:tab pos="245745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0900" algn="l"/>
                <a:tab pos="1885950" algn="l"/>
                <a:tab pos="245745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0900" algn="l"/>
                <a:tab pos="1885950" algn="l"/>
                <a:tab pos="245745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0900" algn="l"/>
                <a:tab pos="1885950" algn="l"/>
                <a:tab pos="245745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EMPNO	ENAME</a:t>
            </a:r>
            <a:br>
              <a:rPr lang="en-US" altLang="en-US" sz="1800" b="1">
                <a:solidFill>
                  <a:srgbClr val="000000"/>
                </a:solidFill>
                <a:latin typeface="Courier New" panose="02070309020205020404" pitchFamily="49" charset="0"/>
              </a:rPr>
            </a:br>
            <a:r>
              <a:rPr lang="en-US" altLang="en-US" sz="1800" b="1">
                <a:solidFill>
                  <a:srgbClr val="000000"/>
                </a:solidFill>
                <a:latin typeface="Courier New" panose="02070309020205020404" pitchFamily="49" charset="0"/>
              </a:rPr>
              <a:t>-----	--------</a:t>
            </a:r>
            <a:br>
              <a:rPr lang="en-US" altLang="en-US" sz="1800" b="1">
                <a:solidFill>
                  <a:srgbClr val="000000"/>
                </a:solidFill>
                <a:latin typeface="Courier New" panose="02070309020205020404" pitchFamily="49" charset="0"/>
              </a:rPr>
            </a:br>
            <a:endParaRPr lang="en-US" altLang="en-US" sz="1800" b="1">
              <a:solidFill>
                <a:srgbClr val="000000"/>
              </a:solidFill>
              <a:latin typeface="Courier New" panose="02070309020205020404" pitchFamily="49" charset="0"/>
            </a:endParaRPr>
          </a:p>
          <a:p>
            <a:pPr>
              <a:lnSpc>
                <a:spcPct val="95000"/>
              </a:lnSpc>
              <a:spcBef>
                <a:spcPct val="0"/>
              </a:spcBef>
              <a:buFontTx/>
              <a:buNone/>
            </a:pPr>
            <a:r>
              <a:rPr lang="en-US" altLang="en-US" sz="1800" b="1">
                <a:solidFill>
                  <a:srgbClr val="000000"/>
                </a:solidFill>
                <a:latin typeface="Courier New" panose="02070309020205020404" pitchFamily="49" charset="0"/>
              </a:rPr>
              <a:t> 7839	KING</a:t>
            </a:r>
          </a:p>
          <a:p>
            <a:pPr>
              <a:lnSpc>
                <a:spcPct val="95000"/>
              </a:lnSpc>
              <a:spcBef>
                <a:spcPct val="0"/>
              </a:spcBef>
              <a:buFontTx/>
              <a:buNone/>
            </a:pPr>
            <a:r>
              <a:rPr lang="en-US" altLang="en-US" sz="1800" b="1">
                <a:solidFill>
                  <a:srgbClr val="000000"/>
                </a:solidFill>
                <a:latin typeface="Courier New" panose="02070309020205020404" pitchFamily="49" charset="0"/>
              </a:rPr>
              <a:t> 7839	KING</a:t>
            </a:r>
          </a:p>
          <a:p>
            <a:pPr>
              <a:lnSpc>
                <a:spcPct val="95000"/>
              </a:lnSpc>
              <a:spcBef>
                <a:spcPct val="0"/>
              </a:spcBef>
              <a:buFontTx/>
              <a:buNone/>
            </a:pPr>
            <a:r>
              <a:rPr lang="en-US" altLang="en-US" sz="1800" b="1">
                <a:solidFill>
                  <a:srgbClr val="000000"/>
                </a:solidFill>
                <a:latin typeface="Courier New" panose="02070309020205020404" pitchFamily="49" charset="0"/>
              </a:rPr>
              <a:t> 7839	KING</a:t>
            </a:r>
          </a:p>
          <a:p>
            <a:pPr>
              <a:lnSpc>
                <a:spcPct val="95000"/>
              </a:lnSpc>
              <a:spcBef>
                <a:spcPct val="0"/>
              </a:spcBef>
              <a:buFontTx/>
              <a:buNone/>
            </a:pPr>
            <a:r>
              <a:rPr lang="en-US" altLang="en-US" sz="1800" b="1">
                <a:solidFill>
                  <a:srgbClr val="000000"/>
                </a:solidFill>
                <a:latin typeface="Courier New" panose="02070309020205020404" pitchFamily="49" charset="0"/>
              </a:rPr>
              <a:t> 7698	BLAKE</a:t>
            </a:r>
          </a:p>
          <a:p>
            <a:pPr>
              <a:lnSpc>
                <a:spcPct val="95000"/>
              </a:lnSpc>
              <a:spcBef>
                <a:spcPct val="0"/>
              </a:spcBef>
              <a:buFontTx/>
              <a:buNone/>
            </a:pPr>
            <a:r>
              <a:rPr lang="en-US" altLang="en-US" sz="1800" b="1">
                <a:solidFill>
                  <a:srgbClr val="000000"/>
                </a:solidFill>
                <a:latin typeface="Courier New" panose="02070309020205020404" pitchFamily="49" charset="0"/>
              </a:rPr>
              <a:t> 7698	BLAKE</a:t>
            </a:r>
          </a:p>
        </p:txBody>
      </p:sp>
      <p:grpSp>
        <p:nvGrpSpPr>
          <p:cNvPr id="38917" name="Group 22">
            <a:extLst>
              <a:ext uri="{FF2B5EF4-FFF2-40B4-BE49-F238E27FC236}">
                <a16:creationId xmlns:a16="http://schemas.microsoft.com/office/drawing/2014/main" id="{8C3DA293-1925-3488-D513-74534C2CD0C9}"/>
              </a:ext>
            </a:extLst>
          </p:cNvPr>
          <p:cNvGrpSpPr>
            <a:grpSpLocks/>
          </p:cNvGrpSpPr>
          <p:nvPr/>
        </p:nvGrpSpPr>
        <p:grpSpPr bwMode="auto">
          <a:xfrm>
            <a:off x="2602021" y="192187"/>
            <a:ext cx="1200150" cy="638175"/>
            <a:chOff x="4477" y="1632"/>
            <a:chExt cx="756" cy="402"/>
          </a:xfrm>
        </p:grpSpPr>
        <p:sp>
          <p:nvSpPr>
            <p:cNvPr id="38918" name="Rectangle 23">
              <a:extLst>
                <a:ext uri="{FF2B5EF4-FFF2-40B4-BE49-F238E27FC236}">
                  <a16:creationId xmlns:a16="http://schemas.microsoft.com/office/drawing/2014/main" id="{86FE6C87-952B-2CC6-4CE9-1F030A3A27DB}"/>
                </a:ext>
              </a:extLst>
            </p:cNvPr>
            <p:cNvSpPr>
              <a:spLocks noChangeArrowheads="1"/>
            </p:cNvSpPr>
            <p:nvPr/>
          </p:nvSpPr>
          <p:spPr bwMode="blackWhite">
            <a:xfrm>
              <a:off x="4477" y="1632"/>
              <a:ext cx="756" cy="402"/>
            </a:xfrm>
            <a:prstGeom prst="rect">
              <a:avLst/>
            </a:prstGeom>
            <a:gradFill rotWithShape="0">
              <a:gsLst>
                <a:gs pos="0">
                  <a:srgbClr val="5C89E5"/>
                </a:gs>
                <a:gs pos="50000">
                  <a:srgbClr val="6699FF"/>
                </a:gs>
                <a:gs pos="100000">
                  <a:srgbClr val="5C89E5"/>
                </a:gs>
              </a:gsLst>
              <a:lin ang="18900000" scaled="1"/>
            </a:gra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8919" name="Oval 24">
              <a:extLst>
                <a:ext uri="{FF2B5EF4-FFF2-40B4-BE49-F238E27FC236}">
                  <a16:creationId xmlns:a16="http://schemas.microsoft.com/office/drawing/2014/main" id="{EE127E89-8762-9A4A-F5EF-87140CC744AF}"/>
                </a:ext>
              </a:extLst>
            </p:cNvPr>
            <p:cNvSpPr>
              <a:spLocks noChangeArrowheads="1"/>
            </p:cNvSpPr>
            <p:nvPr/>
          </p:nvSpPr>
          <p:spPr bwMode="blackWhite">
            <a:xfrm>
              <a:off x="5104" y="1785"/>
              <a:ext cx="87" cy="87"/>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8920" name="Oval 25">
              <a:extLst>
                <a:ext uri="{FF2B5EF4-FFF2-40B4-BE49-F238E27FC236}">
                  <a16:creationId xmlns:a16="http://schemas.microsoft.com/office/drawing/2014/main" id="{B06D9DB4-3527-271E-A5BB-DA51ED12C16F}"/>
                </a:ext>
              </a:extLst>
            </p:cNvPr>
            <p:cNvSpPr>
              <a:spLocks noChangeArrowheads="1"/>
            </p:cNvSpPr>
            <p:nvPr/>
          </p:nvSpPr>
          <p:spPr bwMode="blackWhite">
            <a:xfrm>
              <a:off x="4515" y="1783"/>
              <a:ext cx="87" cy="88"/>
            </a:xfrm>
            <a:prstGeom prst="ellipse">
              <a:avLst/>
            </a:prstGeom>
            <a:solidFill>
              <a:srgbClr val="FF3300"/>
            </a:solidFill>
            <a:ln>
              <a:noFill/>
            </a:ln>
            <a:effectLst>
              <a:outerShdw dist="53882" dir="2700000" algn="ctr" rotWithShape="0">
                <a:srgbClr val="000000">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38921" name="Line 26">
              <a:extLst>
                <a:ext uri="{FF2B5EF4-FFF2-40B4-BE49-F238E27FC236}">
                  <a16:creationId xmlns:a16="http://schemas.microsoft.com/office/drawing/2014/main" id="{CD3F5278-438A-01B5-C520-5A387B6780D3}"/>
                </a:ext>
              </a:extLst>
            </p:cNvPr>
            <p:cNvSpPr>
              <a:spLocks noChangeShapeType="1"/>
            </p:cNvSpPr>
            <p:nvPr/>
          </p:nvSpPr>
          <p:spPr bwMode="blackWhite">
            <a:xfrm>
              <a:off x="4651" y="1830"/>
              <a:ext cx="410" cy="0"/>
            </a:xfrm>
            <a:prstGeom prst="line">
              <a:avLst/>
            </a:prstGeom>
            <a:noFill/>
            <a:ln w="25400">
              <a:solidFill>
                <a:srgbClr val="FFCC00"/>
              </a:solidFill>
              <a:round/>
              <a:headEnd type="stealth" w="med" len="lg"/>
              <a:tailEnd type="stealth" w="med" len="lg"/>
            </a:ln>
            <a:effectLst>
              <a:outerShdw dist="53882" dir="2700000" algn="ctr" rotWithShape="0">
                <a:srgbClr val="000000">
                  <a:alpha val="50000"/>
                </a:srgbClr>
              </a:outerShdw>
            </a:effectLst>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34004164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up)">
                                      <p:cBhvr>
                                        <p:cTn id="7" dur="500"/>
                                        <p:tgtEl>
                                          <p:spTgt spid="28"/>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ppt_x"/>
                                          </p:val>
                                        </p:tav>
                                        <p:tav tm="100000">
                                          <p:val>
                                            <p:strVal val="#ppt_x"/>
                                          </p:val>
                                        </p:tav>
                                      </p:tavLst>
                                    </p:anim>
                                    <p:anim calcmode="lin" valueType="num">
                                      <p:cBhvr additive="base">
                                        <p:cTn id="1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7D33F-99A0-CEF0-36D3-828E1CC6C0E9}"/>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C3361549-4E61-C4CB-99B8-D7B182C555DB}"/>
              </a:ext>
            </a:extLst>
          </p:cNvPr>
          <p:cNvSpPr>
            <a:spLocks noGrp="1" noChangeArrowheads="1"/>
          </p:cNvSpPr>
          <p:nvPr>
            <p:ph type="title"/>
          </p:nvPr>
        </p:nvSpPr>
        <p:spPr>
          <a:xfrm>
            <a:off x="425450" y="23130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6. Self Join</a:t>
            </a:r>
          </a:p>
        </p:txBody>
      </p:sp>
      <p:sp>
        <p:nvSpPr>
          <p:cNvPr id="38915" name="Rectangle 3">
            <a:extLst>
              <a:ext uri="{FF2B5EF4-FFF2-40B4-BE49-F238E27FC236}">
                <a16:creationId xmlns:a16="http://schemas.microsoft.com/office/drawing/2014/main" id="{BA1A2052-131B-B54B-F077-57EAB20DB3F5}"/>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EB77FAFE-AC4D-458B-C45C-8FB9C81F18A6}"/>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B25A8912-AE2E-A61D-BC09-FCCD44899EF5}"/>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4">
            <a:extLst>
              <a:ext uri="{FF2B5EF4-FFF2-40B4-BE49-F238E27FC236}">
                <a16:creationId xmlns:a16="http://schemas.microsoft.com/office/drawing/2014/main" id="{B76506B0-564F-73C6-79F6-C05FB2087EF0}"/>
              </a:ext>
            </a:extLst>
          </p:cNvPr>
          <p:cNvSpPr>
            <a:spLocks noChangeArrowheads="1"/>
          </p:cNvSpPr>
          <p:nvPr/>
        </p:nvSpPr>
        <p:spPr bwMode="blackWhite">
          <a:xfrm>
            <a:off x="820738" y="3490689"/>
            <a:ext cx="7593012" cy="2314575"/>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Employee	Manager</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BLAKE 		KING</a:t>
            </a:r>
          </a:p>
          <a:p>
            <a:pPr>
              <a:spcBef>
                <a:spcPct val="0"/>
              </a:spcBef>
              <a:buFontTx/>
              <a:buNone/>
            </a:pPr>
            <a:r>
              <a:rPr lang="en-US" altLang="en-US" sz="1800" b="1">
                <a:solidFill>
                  <a:srgbClr val="000000"/>
                </a:solidFill>
                <a:latin typeface="Courier New" panose="02070309020205020404" pitchFamily="49" charset="0"/>
              </a:rPr>
              <a:t>CLARK 		KING</a:t>
            </a:r>
          </a:p>
          <a:p>
            <a:pPr>
              <a:spcBef>
                <a:spcPct val="0"/>
              </a:spcBef>
              <a:buFontTx/>
              <a:buNone/>
            </a:pPr>
            <a:r>
              <a:rPr lang="en-US" altLang="en-US" sz="1800" b="1">
                <a:solidFill>
                  <a:srgbClr val="000000"/>
                </a:solidFill>
                <a:latin typeface="Courier New" panose="02070309020205020404" pitchFamily="49" charset="0"/>
              </a:rPr>
              <a:t>JONES 		KING</a:t>
            </a:r>
          </a:p>
          <a:p>
            <a:pPr>
              <a:spcBef>
                <a:spcPct val="0"/>
              </a:spcBef>
              <a:buFontTx/>
              <a:buNone/>
            </a:pPr>
            <a:r>
              <a:rPr lang="en-US" altLang="en-US" sz="1800" b="1">
                <a:solidFill>
                  <a:srgbClr val="000000"/>
                </a:solidFill>
                <a:latin typeface="Courier New" panose="02070309020205020404" pitchFamily="49" charset="0"/>
              </a:rPr>
              <a:t>MARTIN 	BLAKE</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13 rows selected.</a:t>
            </a:r>
          </a:p>
        </p:txBody>
      </p:sp>
      <p:sp>
        <p:nvSpPr>
          <p:cNvPr id="6" name="Rectangle 2">
            <a:extLst>
              <a:ext uri="{FF2B5EF4-FFF2-40B4-BE49-F238E27FC236}">
                <a16:creationId xmlns:a16="http://schemas.microsoft.com/office/drawing/2014/main" id="{07F8DBDC-84BE-0910-DB0E-65F746CC1FDC}"/>
              </a:ext>
            </a:extLst>
          </p:cNvPr>
          <p:cNvSpPr>
            <a:spLocks noChangeArrowheads="1"/>
          </p:cNvSpPr>
          <p:nvPr/>
        </p:nvSpPr>
        <p:spPr bwMode="blackWhite">
          <a:xfrm>
            <a:off x="795338" y="903064"/>
            <a:ext cx="7618412" cy="1082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1658938" algn="l"/>
              </a:tabLst>
              <a:defRPr sz="2800">
                <a:solidFill>
                  <a:schemeClr val="tx1"/>
                </a:solidFill>
                <a:latin typeface="Arial" panose="020B0604020202020204" pitchFamily="34" charset="0"/>
              </a:defRPr>
            </a:lvl1pPr>
            <a:lvl2pPr marL="742950" indent="-285750">
              <a:spcBef>
                <a:spcPct val="20000"/>
              </a:spcBef>
              <a:buChar char="–"/>
              <a:tabLst>
                <a:tab pos="857250" algn="l"/>
                <a:tab pos="1658938" algn="l"/>
              </a:tabLst>
              <a:defRPr sz="2400">
                <a:solidFill>
                  <a:schemeClr val="tx1"/>
                </a:solidFill>
                <a:latin typeface="Arial" panose="020B0604020202020204" pitchFamily="34" charset="0"/>
              </a:defRPr>
            </a:lvl2pPr>
            <a:lvl3pPr marL="1143000" indent="-228600">
              <a:spcBef>
                <a:spcPct val="20000"/>
              </a:spcBef>
              <a:buChar char="•"/>
              <a:tabLst>
                <a:tab pos="857250" algn="l"/>
                <a:tab pos="1658938" algn="l"/>
              </a:tabLst>
              <a:defRPr sz="2000">
                <a:solidFill>
                  <a:schemeClr val="tx1"/>
                </a:solidFill>
                <a:latin typeface="Arial" panose="020B0604020202020204" pitchFamily="34" charset="0"/>
              </a:defRPr>
            </a:lvl3pPr>
            <a:lvl4pPr marL="1600200" indent="-228600">
              <a:spcBef>
                <a:spcPct val="20000"/>
              </a:spcBef>
              <a:buChar char="–"/>
              <a:tabLst>
                <a:tab pos="857250" algn="l"/>
                <a:tab pos="1658938" algn="l"/>
              </a:tabLst>
              <a:defRPr sz="2000">
                <a:solidFill>
                  <a:schemeClr val="tx1"/>
                </a:solidFill>
                <a:latin typeface="Arial" panose="020B0604020202020204" pitchFamily="34" charset="0"/>
              </a:defRPr>
            </a:lvl4pPr>
            <a:lvl5pPr marL="2057400" indent="-228600">
              <a:spcBef>
                <a:spcPct val="20000"/>
              </a:spcBef>
              <a:buChar char="»"/>
              <a:tabLst>
                <a:tab pos="8572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7" name="Rectangle 5">
            <a:extLst>
              <a:ext uri="{FF2B5EF4-FFF2-40B4-BE49-F238E27FC236}">
                <a16:creationId xmlns:a16="http://schemas.microsoft.com/office/drawing/2014/main" id="{0702F21F-D97E-ADA4-3408-82AE5F22573E}"/>
              </a:ext>
            </a:extLst>
          </p:cNvPr>
          <p:cNvSpPr>
            <a:spLocks noChangeArrowheads="1"/>
          </p:cNvSpPr>
          <p:nvPr/>
        </p:nvSpPr>
        <p:spPr bwMode="ltGray">
          <a:xfrm>
            <a:off x="1619250" y="1555526"/>
            <a:ext cx="2376488" cy="36195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 name="Rectangle 6">
            <a:extLst>
              <a:ext uri="{FF2B5EF4-FFF2-40B4-BE49-F238E27FC236}">
                <a16:creationId xmlns:a16="http://schemas.microsoft.com/office/drawing/2014/main" id="{2867918B-655F-FE1D-D8CE-3713AFAD16CC}"/>
              </a:ext>
            </a:extLst>
          </p:cNvPr>
          <p:cNvSpPr>
            <a:spLocks noChangeArrowheads="1"/>
          </p:cNvSpPr>
          <p:nvPr/>
        </p:nvSpPr>
        <p:spPr bwMode="blackWhite">
          <a:xfrm>
            <a:off x="782638" y="836389"/>
            <a:ext cx="7643812"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857250" algn="l"/>
                <a:tab pos="1658938" algn="l"/>
              </a:tabLst>
              <a:defRPr sz="2800">
                <a:solidFill>
                  <a:schemeClr val="tx1"/>
                </a:solidFill>
                <a:latin typeface="Arial" panose="020B0604020202020204" pitchFamily="34" charset="0"/>
              </a:defRPr>
            </a:lvl1pPr>
            <a:lvl2pPr marL="742950" indent="-285750">
              <a:spcBef>
                <a:spcPct val="20000"/>
              </a:spcBef>
              <a:buChar char="–"/>
              <a:tabLst>
                <a:tab pos="857250" algn="l"/>
                <a:tab pos="1658938" algn="l"/>
              </a:tabLst>
              <a:defRPr sz="2400">
                <a:solidFill>
                  <a:schemeClr val="tx1"/>
                </a:solidFill>
                <a:latin typeface="Arial" panose="020B0604020202020204" pitchFamily="34" charset="0"/>
              </a:defRPr>
            </a:lvl2pPr>
            <a:lvl3pPr marL="1143000" indent="-228600">
              <a:spcBef>
                <a:spcPct val="20000"/>
              </a:spcBef>
              <a:buChar char="•"/>
              <a:tabLst>
                <a:tab pos="857250" algn="l"/>
                <a:tab pos="1658938" algn="l"/>
              </a:tabLst>
              <a:defRPr sz="2000">
                <a:solidFill>
                  <a:schemeClr val="tx1"/>
                </a:solidFill>
                <a:latin typeface="Arial" panose="020B0604020202020204" pitchFamily="34" charset="0"/>
              </a:defRPr>
            </a:lvl3pPr>
            <a:lvl4pPr marL="1600200" indent="-228600">
              <a:spcBef>
                <a:spcPct val="20000"/>
              </a:spcBef>
              <a:buChar char="–"/>
              <a:tabLst>
                <a:tab pos="857250" algn="l"/>
                <a:tab pos="1658938" algn="l"/>
              </a:tabLst>
              <a:defRPr sz="2000">
                <a:solidFill>
                  <a:schemeClr val="tx1"/>
                </a:solidFill>
                <a:latin typeface="Arial" panose="020B0604020202020204" pitchFamily="34" charset="0"/>
              </a:defRPr>
            </a:lvl4pPr>
            <a:lvl5pPr marL="2057400" indent="-228600">
              <a:spcBef>
                <a:spcPct val="20000"/>
              </a:spcBef>
              <a:buChar char="»"/>
              <a:tabLst>
                <a:tab pos="8572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e.ename</a:t>
            </a:r>
            <a:r>
              <a:rPr lang="en-US" altLang="en-US" sz="1800" b="1" dirty="0">
                <a:solidFill>
                  <a:srgbClr val="000000"/>
                </a:solidFill>
                <a:latin typeface="Courier New" panose="02070309020205020404" pitchFamily="49" charset="0"/>
              </a:rPr>
              <a:t> “Employee”, </a:t>
            </a:r>
            <a:r>
              <a:rPr lang="en-US" altLang="en-US" sz="1800" b="1" dirty="0" err="1">
                <a:solidFill>
                  <a:srgbClr val="000000"/>
                </a:solidFill>
                <a:latin typeface="Courier New" panose="02070309020205020404" pitchFamily="49" charset="0"/>
              </a:rPr>
              <a:t>m.ename</a:t>
            </a:r>
            <a:r>
              <a:rPr lang="en-US" altLang="en-US" sz="1800" b="1" dirty="0">
                <a:solidFill>
                  <a:srgbClr val="000000"/>
                </a:solidFill>
                <a:latin typeface="Courier New" panose="02070309020205020404" pitchFamily="49" charset="0"/>
              </a:rPr>
              <a:t> “Manager”</a:t>
            </a:r>
          </a:p>
          <a:p>
            <a:pPr>
              <a:lnSpc>
                <a:spcPct val="120000"/>
              </a:lnSpc>
              <a:spcBef>
                <a:spcPct val="0"/>
              </a:spcBef>
              <a:buFontTx/>
              <a:buNone/>
            </a:pPr>
            <a:r>
              <a:rPr lang="en-US" altLang="en-US" sz="1800" b="1" dirty="0">
                <a:solidFill>
                  <a:srgbClr val="000000"/>
                </a:solidFill>
                <a:latin typeface="Courier New" panose="02070309020205020404" pitchFamily="49" charset="0"/>
              </a:rPr>
              <a:t>FROM 	emp e, emp m</a:t>
            </a:r>
          </a:p>
          <a:p>
            <a:pPr>
              <a:lnSpc>
                <a:spcPct val="120000"/>
              </a:lnSpc>
              <a:spcBef>
                <a:spcPct val="0"/>
              </a:spcBef>
              <a:buFontTx/>
              <a:buNone/>
            </a:pPr>
            <a:r>
              <a:rPr lang="en-US" altLang="en-US" sz="1800" b="1" dirty="0">
                <a:solidFill>
                  <a:srgbClr val="000000"/>
                </a:solidFill>
                <a:latin typeface="Courier New" panose="02070309020205020404" pitchFamily="49" charset="0"/>
              </a:rPr>
              <a:t>WHERE 	</a:t>
            </a:r>
            <a:r>
              <a:rPr lang="en-US" altLang="en-US" sz="1800" b="1" dirty="0" err="1">
                <a:solidFill>
                  <a:srgbClr val="000000"/>
                </a:solidFill>
                <a:latin typeface="Courier New" panose="02070309020205020404" pitchFamily="49" charset="0"/>
              </a:rPr>
              <a:t>e.mgr</a:t>
            </a:r>
            <a:r>
              <a:rPr lang="en-US" altLang="en-US" sz="1800" b="1" dirty="0">
                <a:solidFill>
                  <a:srgbClr val="000000"/>
                </a:solidFill>
                <a:latin typeface="Courier New" panose="02070309020205020404" pitchFamily="49" charset="0"/>
              </a:rPr>
              <a:t> = </a:t>
            </a:r>
            <a:r>
              <a:rPr lang="en-US" altLang="en-US" sz="1800" b="1" dirty="0" err="1">
                <a:solidFill>
                  <a:srgbClr val="000000"/>
                </a:solidFill>
                <a:latin typeface="Courier New" panose="02070309020205020404" pitchFamily="49" charset="0"/>
              </a:rPr>
              <a:t>m.empno</a:t>
            </a:r>
            <a:r>
              <a:rPr lang="en-US" altLang="en-US" sz="1800" b="1" dirty="0">
                <a:solidFill>
                  <a:srgbClr val="000000"/>
                </a:solidFill>
                <a:latin typeface="Courier New" panose="02070309020205020404" pitchFamily="49" charset="0"/>
              </a:rPr>
              <a:t>;</a:t>
            </a:r>
          </a:p>
        </p:txBody>
      </p:sp>
      <p:sp>
        <p:nvSpPr>
          <p:cNvPr id="9" name="Rectangle 2">
            <a:extLst>
              <a:ext uri="{FF2B5EF4-FFF2-40B4-BE49-F238E27FC236}">
                <a16:creationId xmlns:a16="http://schemas.microsoft.com/office/drawing/2014/main" id="{9C74F464-66ED-5D8A-7B3E-FCEC5FC42B5F}"/>
              </a:ext>
            </a:extLst>
          </p:cNvPr>
          <p:cNvSpPr>
            <a:spLocks noChangeArrowheads="1"/>
          </p:cNvSpPr>
          <p:nvPr/>
        </p:nvSpPr>
        <p:spPr bwMode="blackWhite">
          <a:xfrm>
            <a:off x="768350" y="2203226"/>
            <a:ext cx="7618413" cy="1082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1658938" algn="l"/>
              </a:tabLst>
              <a:defRPr sz="2800">
                <a:solidFill>
                  <a:schemeClr val="tx1"/>
                </a:solidFill>
                <a:latin typeface="Arial" panose="020B0604020202020204" pitchFamily="34" charset="0"/>
              </a:defRPr>
            </a:lvl1pPr>
            <a:lvl2pPr marL="742950" indent="-285750">
              <a:spcBef>
                <a:spcPct val="20000"/>
              </a:spcBef>
              <a:buChar char="–"/>
              <a:tabLst>
                <a:tab pos="857250" algn="l"/>
                <a:tab pos="1658938" algn="l"/>
              </a:tabLst>
              <a:defRPr sz="2400">
                <a:solidFill>
                  <a:schemeClr val="tx1"/>
                </a:solidFill>
                <a:latin typeface="Arial" panose="020B0604020202020204" pitchFamily="34" charset="0"/>
              </a:defRPr>
            </a:lvl2pPr>
            <a:lvl3pPr marL="1143000" indent="-228600">
              <a:spcBef>
                <a:spcPct val="20000"/>
              </a:spcBef>
              <a:buChar char="•"/>
              <a:tabLst>
                <a:tab pos="857250" algn="l"/>
                <a:tab pos="1658938" algn="l"/>
              </a:tabLst>
              <a:defRPr sz="2000">
                <a:solidFill>
                  <a:schemeClr val="tx1"/>
                </a:solidFill>
                <a:latin typeface="Arial" panose="020B0604020202020204" pitchFamily="34" charset="0"/>
              </a:defRPr>
            </a:lvl3pPr>
            <a:lvl4pPr marL="1600200" indent="-228600">
              <a:spcBef>
                <a:spcPct val="20000"/>
              </a:spcBef>
              <a:buChar char="–"/>
              <a:tabLst>
                <a:tab pos="857250" algn="l"/>
                <a:tab pos="1658938" algn="l"/>
              </a:tabLst>
              <a:defRPr sz="2000">
                <a:solidFill>
                  <a:schemeClr val="tx1"/>
                </a:solidFill>
                <a:latin typeface="Arial" panose="020B0604020202020204" pitchFamily="34" charset="0"/>
              </a:defRPr>
            </a:lvl4pPr>
            <a:lvl5pPr marL="2057400" indent="-228600">
              <a:spcBef>
                <a:spcPct val="20000"/>
              </a:spcBef>
              <a:buChar char="»"/>
              <a:tabLst>
                <a:tab pos="8572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10" name="Rectangle 5">
            <a:extLst>
              <a:ext uri="{FF2B5EF4-FFF2-40B4-BE49-F238E27FC236}">
                <a16:creationId xmlns:a16="http://schemas.microsoft.com/office/drawing/2014/main" id="{9A41A80E-E17F-FE31-D044-A766A257BE76}"/>
              </a:ext>
            </a:extLst>
          </p:cNvPr>
          <p:cNvSpPr>
            <a:spLocks noChangeArrowheads="1"/>
          </p:cNvSpPr>
          <p:nvPr/>
        </p:nvSpPr>
        <p:spPr bwMode="ltGray">
          <a:xfrm>
            <a:off x="1592263" y="2854101"/>
            <a:ext cx="2376487" cy="36195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1" name="Rectangle 6">
            <a:extLst>
              <a:ext uri="{FF2B5EF4-FFF2-40B4-BE49-F238E27FC236}">
                <a16:creationId xmlns:a16="http://schemas.microsoft.com/office/drawing/2014/main" id="{9A128B48-D444-48BB-433F-012374785CD8}"/>
              </a:ext>
            </a:extLst>
          </p:cNvPr>
          <p:cNvSpPr>
            <a:spLocks noChangeArrowheads="1"/>
          </p:cNvSpPr>
          <p:nvPr/>
        </p:nvSpPr>
        <p:spPr bwMode="blackWhite">
          <a:xfrm>
            <a:off x="755650" y="2136551"/>
            <a:ext cx="7643813"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857250" algn="l"/>
                <a:tab pos="1658938" algn="l"/>
              </a:tabLst>
              <a:defRPr sz="2800">
                <a:solidFill>
                  <a:schemeClr val="tx1"/>
                </a:solidFill>
                <a:latin typeface="Arial" panose="020B0604020202020204" pitchFamily="34" charset="0"/>
              </a:defRPr>
            </a:lvl1pPr>
            <a:lvl2pPr marL="742950" indent="-285750">
              <a:spcBef>
                <a:spcPct val="20000"/>
              </a:spcBef>
              <a:buChar char="–"/>
              <a:tabLst>
                <a:tab pos="857250" algn="l"/>
                <a:tab pos="1658938" algn="l"/>
              </a:tabLst>
              <a:defRPr sz="2400">
                <a:solidFill>
                  <a:schemeClr val="tx1"/>
                </a:solidFill>
                <a:latin typeface="Arial" panose="020B0604020202020204" pitchFamily="34" charset="0"/>
              </a:defRPr>
            </a:lvl2pPr>
            <a:lvl3pPr marL="1143000" indent="-228600">
              <a:spcBef>
                <a:spcPct val="20000"/>
              </a:spcBef>
              <a:buChar char="•"/>
              <a:tabLst>
                <a:tab pos="857250" algn="l"/>
                <a:tab pos="1658938" algn="l"/>
              </a:tabLst>
              <a:defRPr sz="2000">
                <a:solidFill>
                  <a:schemeClr val="tx1"/>
                </a:solidFill>
                <a:latin typeface="Arial" panose="020B0604020202020204" pitchFamily="34" charset="0"/>
              </a:defRPr>
            </a:lvl3pPr>
            <a:lvl4pPr marL="1600200" indent="-228600">
              <a:spcBef>
                <a:spcPct val="20000"/>
              </a:spcBef>
              <a:buChar char="–"/>
              <a:tabLst>
                <a:tab pos="857250" algn="l"/>
                <a:tab pos="1658938" algn="l"/>
              </a:tabLst>
              <a:defRPr sz="2000">
                <a:solidFill>
                  <a:schemeClr val="tx1"/>
                </a:solidFill>
                <a:latin typeface="Arial" panose="020B0604020202020204" pitchFamily="34" charset="0"/>
              </a:defRPr>
            </a:lvl4pPr>
            <a:lvl5pPr marL="2057400" indent="-228600">
              <a:spcBef>
                <a:spcPct val="20000"/>
              </a:spcBef>
              <a:buChar char="»"/>
              <a:tabLst>
                <a:tab pos="8572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e.ename</a:t>
            </a:r>
            <a:r>
              <a:rPr lang="en-US" altLang="en-US" sz="1800" b="1" dirty="0">
                <a:solidFill>
                  <a:srgbClr val="000000"/>
                </a:solidFill>
                <a:latin typeface="Courier New" panose="02070309020205020404" pitchFamily="49" charset="0"/>
              </a:rPr>
              <a:t> “Employee”, </a:t>
            </a:r>
            <a:r>
              <a:rPr lang="en-US" altLang="en-US" sz="1800" b="1" dirty="0" err="1">
                <a:solidFill>
                  <a:srgbClr val="000000"/>
                </a:solidFill>
                <a:latin typeface="Courier New" panose="02070309020205020404" pitchFamily="49" charset="0"/>
              </a:rPr>
              <a:t>m.ename</a:t>
            </a:r>
            <a:r>
              <a:rPr lang="en-US" altLang="en-US" sz="1800" b="1" dirty="0">
                <a:solidFill>
                  <a:srgbClr val="000000"/>
                </a:solidFill>
                <a:latin typeface="Courier New" panose="02070309020205020404" pitchFamily="49" charset="0"/>
              </a:rPr>
              <a:t> “Manager”</a:t>
            </a:r>
          </a:p>
          <a:p>
            <a:pPr>
              <a:lnSpc>
                <a:spcPct val="120000"/>
              </a:lnSpc>
              <a:spcBef>
                <a:spcPct val="0"/>
              </a:spcBef>
              <a:buFontTx/>
              <a:buNone/>
            </a:pPr>
            <a:r>
              <a:rPr lang="en-US" altLang="en-US" sz="1800" b="1" dirty="0">
                <a:solidFill>
                  <a:srgbClr val="000000"/>
                </a:solidFill>
                <a:latin typeface="Courier New" panose="02070309020205020404" pitchFamily="49" charset="0"/>
              </a:rPr>
              <a:t>FROM 	</a:t>
            </a:r>
            <a:r>
              <a:rPr lang="en-US" altLang="en-US" sz="1800" b="1" dirty="0">
                <a:solidFill>
                  <a:srgbClr val="0000CC"/>
                </a:solidFill>
                <a:latin typeface="Courier New" panose="02070309020205020404" pitchFamily="49" charset="0"/>
              </a:rPr>
              <a:t>emp e JOIN emp m</a:t>
            </a:r>
          </a:p>
          <a:p>
            <a:pPr>
              <a:lnSpc>
                <a:spcPct val="120000"/>
              </a:lnSpc>
              <a:spcBef>
                <a:spcPct val="0"/>
              </a:spcBef>
              <a:buFontTx/>
              <a:buNone/>
            </a:pPr>
            <a:r>
              <a:rPr lang="en-US" altLang="en-US" sz="1800" b="1" dirty="0">
                <a:solidFill>
                  <a:srgbClr val="000000"/>
                </a:solidFill>
                <a:latin typeface="Courier New" panose="02070309020205020404" pitchFamily="49" charset="0"/>
              </a:rPr>
              <a:t>ON 	</a:t>
            </a:r>
            <a:r>
              <a:rPr lang="en-US" altLang="en-US" sz="1800" b="1" dirty="0" err="1">
                <a:solidFill>
                  <a:srgbClr val="000000"/>
                </a:solidFill>
                <a:latin typeface="Courier New" panose="02070309020205020404" pitchFamily="49" charset="0"/>
              </a:rPr>
              <a:t>e.mgr</a:t>
            </a:r>
            <a:r>
              <a:rPr lang="en-US" altLang="en-US" sz="1800" b="1" dirty="0">
                <a:solidFill>
                  <a:srgbClr val="000000"/>
                </a:solidFill>
                <a:latin typeface="Courier New" panose="02070309020205020404" pitchFamily="49" charset="0"/>
              </a:rPr>
              <a:t> = </a:t>
            </a:r>
            <a:r>
              <a:rPr lang="en-US" altLang="en-US" sz="1800" b="1" dirty="0" err="1">
                <a:solidFill>
                  <a:srgbClr val="000000"/>
                </a:solidFill>
                <a:latin typeface="Courier New" panose="02070309020205020404" pitchFamily="49" charset="0"/>
              </a:rPr>
              <a:t>m.empno</a:t>
            </a:r>
            <a:r>
              <a:rPr lang="en-US" altLang="en-US" sz="1800" b="1" dirty="0">
                <a:solidFill>
                  <a:srgbClr val="000000"/>
                </a:solidFill>
                <a:latin typeface="Courier New" panose="02070309020205020404" pitchFamily="49" charset="0"/>
              </a:rPr>
              <a:t>;</a:t>
            </a:r>
          </a:p>
        </p:txBody>
      </p:sp>
    </p:spTree>
    <p:extLst>
      <p:ext uri="{BB962C8B-B14F-4D97-AF65-F5344CB8AC3E}">
        <p14:creationId xmlns:p14="http://schemas.microsoft.com/office/powerpoint/2010/main" val="16604913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EE9CC-4F0D-AE85-FB09-BD14461590D1}"/>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AC3C6795-3241-081F-5010-30B31F74E000}"/>
              </a:ext>
            </a:extLst>
          </p:cNvPr>
          <p:cNvSpPr>
            <a:spLocks noGrp="1" noChangeArrowheads="1"/>
          </p:cNvSpPr>
          <p:nvPr>
            <p:ph type="title"/>
          </p:nvPr>
        </p:nvSpPr>
        <p:spPr>
          <a:xfrm>
            <a:off x="425450" y="23130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6. Self Join</a:t>
            </a:r>
          </a:p>
        </p:txBody>
      </p:sp>
      <p:sp>
        <p:nvSpPr>
          <p:cNvPr id="38915" name="Rectangle 3">
            <a:extLst>
              <a:ext uri="{FF2B5EF4-FFF2-40B4-BE49-F238E27FC236}">
                <a16:creationId xmlns:a16="http://schemas.microsoft.com/office/drawing/2014/main" id="{00E806EC-53EB-252E-1760-0B7EFADD58F2}"/>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5A12F31A-1005-8C84-0F0A-116CD642B422}"/>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1268D699-299C-A8C4-8263-3C6F9BAAA73E}"/>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Rectangle 2">
            <a:extLst>
              <a:ext uri="{FF2B5EF4-FFF2-40B4-BE49-F238E27FC236}">
                <a16:creationId xmlns:a16="http://schemas.microsoft.com/office/drawing/2014/main" id="{3E61BFC6-5613-26C8-859D-EA2735C40890}"/>
              </a:ext>
            </a:extLst>
          </p:cNvPr>
          <p:cNvSpPr>
            <a:spLocks noChangeArrowheads="1"/>
          </p:cNvSpPr>
          <p:nvPr/>
        </p:nvSpPr>
        <p:spPr bwMode="blackWhite">
          <a:xfrm>
            <a:off x="822325" y="790104"/>
            <a:ext cx="7618413" cy="1082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1658938" algn="l"/>
              </a:tabLst>
              <a:defRPr sz="2800">
                <a:solidFill>
                  <a:schemeClr val="tx1"/>
                </a:solidFill>
                <a:latin typeface="Arial" panose="020B0604020202020204" pitchFamily="34" charset="0"/>
              </a:defRPr>
            </a:lvl1pPr>
            <a:lvl2pPr marL="742950" indent="-285750">
              <a:spcBef>
                <a:spcPct val="20000"/>
              </a:spcBef>
              <a:buChar char="–"/>
              <a:tabLst>
                <a:tab pos="857250" algn="l"/>
                <a:tab pos="1658938" algn="l"/>
              </a:tabLst>
              <a:defRPr sz="2400">
                <a:solidFill>
                  <a:schemeClr val="tx1"/>
                </a:solidFill>
                <a:latin typeface="Arial" panose="020B0604020202020204" pitchFamily="34" charset="0"/>
              </a:defRPr>
            </a:lvl2pPr>
            <a:lvl3pPr marL="1143000" indent="-228600">
              <a:spcBef>
                <a:spcPct val="20000"/>
              </a:spcBef>
              <a:buChar char="•"/>
              <a:tabLst>
                <a:tab pos="857250" algn="l"/>
                <a:tab pos="1658938" algn="l"/>
              </a:tabLst>
              <a:defRPr sz="2000">
                <a:solidFill>
                  <a:schemeClr val="tx1"/>
                </a:solidFill>
                <a:latin typeface="Arial" panose="020B0604020202020204" pitchFamily="34" charset="0"/>
              </a:defRPr>
            </a:lvl3pPr>
            <a:lvl4pPr marL="1600200" indent="-228600">
              <a:spcBef>
                <a:spcPct val="20000"/>
              </a:spcBef>
              <a:buChar char="–"/>
              <a:tabLst>
                <a:tab pos="857250" algn="l"/>
                <a:tab pos="1658938" algn="l"/>
              </a:tabLst>
              <a:defRPr sz="2000">
                <a:solidFill>
                  <a:schemeClr val="tx1"/>
                </a:solidFill>
                <a:latin typeface="Arial" panose="020B0604020202020204" pitchFamily="34" charset="0"/>
              </a:defRPr>
            </a:lvl4pPr>
            <a:lvl5pPr marL="2057400" indent="-228600">
              <a:spcBef>
                <a:spcPct val="20000"/>
              </a:spcBef>
              <a:buChar char="»"/>
              <a:tabLst>
                <a:tab pos="8572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5" name="Rectangle 4">
            <a:extLst>
              <a:ext uri="{FF2B5EF4-FFF2-40B4-BE49-F238E27FC236}">
                <a16:creationId xmlns:a16="http://schemas.microsoft.com/office/drawing/2014/main" id="{0B1B7763-2503-EC70-2F54-15495094199A}"/>
              </a:ext>
            </a:extLst>
          </p:cNvPr>
          <p:cNvSpPr>
            <a:spLocks noChangeArrowheads="1"/>
          </p:cNvSpPr>
          <p:nvPr/>
        </p:nvSpPr>
        <p:spPr bwMode="blackWhite">
          <a:xfrm>
            <a:off x="833438" y="3445992"/>
            <a:ext cx="7593012" cy="2314575"/>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dirty="0">
                <a:solidFill>
                  <a:srgbClr val="000000"/>
                </a:solidFill>
                <a:latin typeface="Courier New" panose="02070309020205020404" pitchFamily="49" charset="0"/>
              </a:rPr>
              <a:t>WORKER.ENAME||'WORKS FOR'||MANAG</a:t>
            </a:r>
          </a:p>
          <a:p>
            <a:pPr>
              <a:spcBef>
                <a:spcPct val="0"/>
              </a:spcBef>
              <a:buFontTx/>
              <a:buNone/>
            </a:pPr>
            <a:r>
              <a:rPr lang="en-US" altLang="en-US" sz="1800" b="1" dirty="0">
                <a:solidFill>
                  <a:srgbClr val="000000"/>
                </a:solidFill>
                <a:latin typeface="Courier New" panose="02070309020205020404" pitchFamily="49" charset="0"/>
              </a:rPr>
              <a:t>-------------------------------</a:t>
            </a:r>
          </a:p>
          <a:p>
            <a:pPr>
              <a:spcBef>
                <a:spcPct val="0"/>
              </a:spcBef>
              <a:buFontTx/>
              <a:buNone/>
            </a:pPr>
            <a:r>
              <a:rPr lang="en-US" altLang="en-US" sz="1800" b="1" dirty="0">
                <a:solidFill>
                  <a:srgbClr val="000000"/>
                </a:solidFill>
                <a:latin typeface="Courier New" panose="02070309020205020404" pitchFamily="49" charset="0"/>
              </a:rPr>
              <a:t>BLAKE works for KING</a:t>
            </a:r>
          </a:p>
          <a:p>
            <a:pPr>
              <a:spcBef>
                <a:spcPct val="0"/>
              </a:spcBef>
              <a:buFontTx/>
              <a:buNone/>
            </a:pPr>
            <a:r>
              <a:rPr lang="en-US" altLang="en-US" sz="1800" b="1" dirty="0">
                <a:solidFill>
                  <a:srgbClr val="000000"/>
                </a:solidFill>
                <a:latin typeface="Courier New" panose="02070309020205020404" pitchFamily="49" charset="0"/>
              </a:rPr>
              <a:t>CLARK works for KING</a:t>
            </a:r>
          </a:p>
          <a:p>
            <a:pPr>
              <a:spcBef>
                <a:spcPct val="0"/>
              </a:spcBef>
              <a:buFontTx/>
              <a:buNone/>
            </a:pPr>
            <a:r>
              <a:rPr lang="en-US" altLang="en-US" sz="1800" b="1" dirty="0">
                <a:solidFill>
                  <a:srgbClr val="000000"/>
                </a:solidFill>
                <a:latin typeface="Courier New" panose="02070309020205020404" pitchFamily="49" charset="0"/>
              </a:rPr>
              <a:t>JONES works for KING</a:t>
            </a:r>
          </a:p>
          <a:p>
            <a:pPr>
              <a:spcBef>
                <a:spcPct val="0"/>
              </a:spcBef>
              <a:buFontTx/>
              <a:buNone/>
            </a:pPr>
            <a:r>
              <a:rPr lang="en-US" altLang="en-US" sz="1800" b="1" dirty="0">
                <a:solidFill>
                  <a:srgbClr val="000000"/>
                </a:solidFill>
                <a:latin typeface="Courier New" panose="02070309020205020404" pitchFamily="49" charset="0"/>
              </a:rPr>
              <a:t>MARTIN works for BLAKE</a:t>
            </a:r>
          </a:p>
          <a:p>
            <a:pPr>
              <a:spcBef>
                <a:spcPct val="0"/>
              </a:spcBef>
              <a:buFontTx/>
              <a:buNone/>
            </a:pPr>
            <a:r>
              <a:rPr lang="en-US" altLang="en-US" sz="1800" b="1" dirty="0">
                <a:solidFill>
                  <a:srgbClr val="000000"/>
                </a:solidFill>
                <a:latin typeface="Courier New" panose="02070309020205020404" pitchFamily="49" charset="0"/>
              </a:rPr>
              <a:t>...</a:t>
            </a:r>
          </a:p>
          <a:p>
            <a:pPr>
              <a:spcBef>
                <a:spcPct val="0"/>
              </a:spcBef>
              <a:buFontTx/>
              <a:buNone/>
            </a:pPr>
            <a:r>
              <a:rPr lang="en-US" altLang="en-US" sz="1800" b="1" dirty="0">
                <a:solidFill>
                  <a:srgbClr val="000000"/>
                </a:solidFill>
                <a:latin typeface="Courier New" panose="02070309020205020404" pitchFamily="49" charset="0"/>
              </a:rPr>
              <a:t>13 rows selected.</a:t>
            </a:r>
          </a:p>
        </p:txBody>
      </p:sp>
      <p:sp>
        <p:nvSpPr>
          <p:cNvPr id="12" name="Rectangle 5">
            <a:extLst>
              <a:ext uri="{FF2B5EF4-FFF2-40B4-BE49-F238E27FC236}">
                <a16:creationId xmlns:a16="http://schemas.microsoft.com/office/drawing/2014/main" id="{51C2925D-E829-E77D-7545-1CB0D867EA05}"/>
              </a:ext>
            </a:extLst>
          </p:cNvPr>
          <p:cNvSpPr>
            <a:spLocks noChangeArrowheads="1"/>
          </p:cNvSpPr>
          <p:nvPr/>
        </p:nvSpPr>
        <p:spPr bwMode="ltGray">
          <a:xfrm>
            <a:off x="1698625" y="1440979"/>
            <a:ext cx="3810000" cy="36195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13" name="Rectangle 6">
            <a:extLst>
              <a:ext uri="{FF2B5EF4-FFF2-40B4-BE49-F238E27FC236}">
                <a16:creationId xmlns:a16="http://schemas.microsoft.com/office/drawing/2014/main" id="{B1A10BAD-244C-66A0-8368-0BBA45D1207B}"/>
              </a:ext>
            </a:extLst>
          </p:cNvPr>
          <p:cNvSpPr>
            <a:spLocks noChangeArrowheads="1"/>
          </p:cNvSpPr>
          <p:nvPr/>
        </p:nvSpPr>
        <p:spPr bwMode="blackWhite">
          <a:xfrm>
            <a:off x="809625" y="764704"/>
            <a:ext cx="7643813"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857250" algn="l"/>
                <a:tab pos="1658938" algn="l"/>
              </a:tabLst>
              <a:defRPr sz="2800">
                <a:solidFill>
                  <a:schemeClr val="tx1"/>
                </a:solidFill>
                <a:latin typeface="Arial" panose="020B0604020202020204" pitchFamily="34" charset="0"/>
              </a:defRPr>
            </a:lvl1pPr>
            <a:lvl2pPr marL="742950" indent="-285750">
              <a:spcBef>
                <a:spcPct val="20000"/>
              </a:spcBef>
              <a:buChar char="–"/>
              <a:tabLst>
                <a:tab pos="857250" algn="l"/>
                <a:tab pos="1658938" algn="l"/>
              </a:tabLst>
              <a:defRPr sz="2400">
                <a:solidFill>
                  <a:schemeClr val="tx1"/>
                </a:solidFill>
                <a:latin typeface="Arial" panose="020B0604020202020204" pitchFamily="34" charset="0"/>
              </a:defRPr>
            </a:lvl2pPr>
            <a:lvl3pPr marL="1143000" indent="-228600">
              <a:spcBef>
                <a:spcPct val="20000"/>
              </a:spcBef>
              <a:buChar char="•"/>
              <a:tabLst>
                <a:tab pos="857250" algn="l"/>
                <a:tab pos="1658938" algn="l"/>
              </a:tabLst>
              <a:defRPr sz="2000">
                <a:solidFill>
                  <a:schemeClr val="tx1"/>
                </a:solidFill>
                <a:latin typeface="Arial" panose="020B0604020202020204" pitchFamily="34" charset="0"/>
              </a:defRPr>
            </a:lvl3pPr>
            <a:lvl4pPr marL="1600200" indent="-228600">
              <a:spcBef>
                <a:spcPct val="20000"/>
              </a:spcBef>
              <a:buChar char="–"/>
              <a:tabLst>
                <a:tab pos="857250" algn="l"/>
                <a:tab pos="1658938" algn="l"/>
              </a:tabLst>
              <a:defRPr sz="2000">
                <a:solidFill>
                  <a:schemeClr val="tx1"/>
                </a:solidFill>
                <a:latin typeface="Arial" panose="020B0604020202020204" pitchFamily="34" charset="0"/>
              </a:defRPr>
            </a:lvl4pPr>
            <a:lvl5pPr marL="2057400" indent="-228600">
              <a:spcBef>
                <a:spcPct val="20000"/>
              </a:spcBef>
              <a:buChar char="»"/>
              <a:tabLst>
                <a:tab pos="8572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worker.ename</a:t>
            </a:r>
            <a:r>
              <a:rPr lang="en-US" altLang="en-US" sz="1800" b="1" dirty="0">
                <a:solidFill>
                  <a:srgbClr val="000000"/>
                </a:solidFill>
                <a:latin typeface="Courier New" panose="02070309020205020404" pitchFamily="49" charset="0"/>
              </a:rPr>
              <a:t>||' works for '||</a:t>
            </a:r>
            <a:r>
              <a:rPr lang="en-US" altLang="en-US" sz="1800" b="1" dirty="0" err="1">
                <a:solidFill>
                  <a:srgbClr val="000000"/>
                </a:solidFill>
                <a:latin typeface="Courier New" panose="02070309020205020404" pitchFamily="49" charset="0"/>
              </a:rPr>
              <a:t>manager.ename</a:t>
            </a:r>
            <a:endParaRPr lang="en-US" altLang="en-US" sz="1800" b="1" dirty="0">
              <a:solidFill>
                <a:srgbClr val="000000"/>
              </a:solidFill>
              <a:latin typeface="Courier New" panose="02070309020205020404" pitchFamily="49" charset="0"/>
            </a:endParaRPr>
          </a:p>
          <a:p>
            <a:pPr>
              <a:lnSpc>
                <a:spcPct val="120000"/>
              </a:lnSpc>
              <a:spcBef>
                <a:spcPct val="0"/>
              </a:spcBef>
              <a:buFontTx/>
              <a:buNone/>
            </a:pPr>
            <a:r>
              <a:rPr lang="en-US" altLang="en-US" sz="1800" b="1" dirty="0">
                <a:solidFill>
                  <a:srgbClr val="000000"/>
                </a:solidFill>
                <a:latin typeface="Courier New" panose="02070309020205020404" pitchFamily="49" charset="0"/>
              </a:rPr>
              <a:t>FROM 	emp worker, emp manager</a:t>
            </a:r>
          </a:p>
          <a:p>
            <a:pPr>
              <a:lnSpc>
                <a:spcPct val="120000"/>
              </a:lnSpc>
              <a:spcBef>
                <a:spcPct val="0"/>
              </a:spcBef>
              <a:buFontTx/>
              <a:buNone/>
            </a:pPr>
            <a:r>
              <a:rPr lang="en-US" altLang="en-US" sz="1800" b="1" dirty="0">
                <a:solidFill>
                  <a:srgbClr val="000000"/>
                </a:solidFill>
                <a:latin typeface="Courier New" panose="02070309020205020404" pitchFamily="49" charset="0"/>
              </a:rPr>
              <a:t>WHERE 	</a:t>
            </a:r>
            <a:r>
              <a:rPr lang="en-US" altLang="en-US" sz="1800" b="1" dirty="0" err="1">
                <a:solidFill>
                  <a:srgbClr val="000000"/>
                </a:solidFill>
                <a:latin typeface="Courier New" panose="02070309020205020404" pitchFamily="49" charset="0"/>
              </a:rPr>
              <a:t>worker.mgr</a:t>
            </a:r>
            <a:r>
              <a:rPr lang="en-US" altLang="en-US" sz="1800" b="1" dirty="0">
                <a:solidFill>
                  <a:srgbClr val="000000"/>
                </a:solidFill>
                <a:latin typeface="Courier New" panose="02070309020205020404" pitchFamily="49" charset="0"/>
              </a:rPr>
              <a:t> = </a:t>
            </a:r>
            <a:r>
              <a:rPr lang="en-US" altLang="en-US" sz="1800" b="1" dirty="0" err="1">
                <a:solidFill>
                  <a:srgbClr val="000000"/>
                </a:solidFill>
                <a:latin typeface="Courier New" panose="02070309020205020404" pitchFamily="49" charset="0"/>
              </a:rPr>
              <a:t>manager.empno</a:t>
            </a:r>
            <a:r>
              <a:rPr lang="en-US" altLang="en-US" sz="1800" b="1" dirty="0">
                <a:solidFill>
                  <a:srgbClr val="000000"/>
                </a:solidFill>
                <a:latin typeface="Courier New" panose="02070309020205020404" pitchFamily="49" charset="0"/>
              </a:rPr>
              <a:t>;</a:t>
            </a:r>
          </a:p>
        </p:txBody>
      </p:sp>
      <p:sp>
        <p:nvSpPr>
          <p:cNvPr id="14" name="Rectangle 6">
            <a:extLst>
              <a:ext uri="{FF2B5EF4-FFF2-40B4-BE49-F238E27FC236}">
                <a16:creationId xmlns:a16="http://schemas.microsoft.com/office/drawing/2014/main" id="{8AC0AD80-82FE-3D3D-21D3-F9C702C89AF7}"/>
              </a:ext>
            </a:extLst>
          </p:cNvPr>
          <p:cNvSpPr>
            <a:spLocks noChangeArrowheads="1"/>
          </p:cNvSpPr>
          <p:nvPr/>
        </p:nvSpPr>
        <p:spPr bwMode="blackWhite">
          <a:xfrm>
            <a:off x="827088" y="2133129"/>
            <a:ext cx="7643812" cy="1108075"/>
          </a:xfrm>
          <a:prstGeom prst="rect">
            <a:avLst/>
          </a:prstGeom>
          <a:solidFill>
            <a:srgbClr val="FFFFCC"/>
          </a:solidFill>
          <a:ln w="9525">
            <a:solidFill>
              <a:srgbClr val="000000"/>
            </a:solidFill>
            <a:miter lim="800000"/>
            <a:headEnd/>
            <a:tailEnd/>
          </a:ln>
        </p:spPr>
        <p:txBody>
          <a:bodyPr wrap="none" lIns="92075" tIns="46038" rIns="92075" bIns="46038" anchor="ctr"/>
          <a:lstStyle>
            <a:lvl1pPr>
              <a:spcBef>
                <a:spcPct val="20000"/>
              </a:spcBef>
              <a:buChar char="•"/>
              <a:tabLst>
                <a:tab pos="857250" algn="l"/>
                <a:tab pos="1658938" algn="l"/>
              </a:tabLst>
              <a:defRPr sz="2800">
                <a:solidFill>
                  <a:schemeClr val="tx1"/>
                </a:solidFill>
                <a:latin typeface="Arial" panose="020B0604020202020204" pitchFamily="34" charset="0"/>
              </a:defRPr>
            </a:lvl1pPr>
            <a:lvl2pPr marL="742950" indent="-285750">
              <a:spcBef>
                <a:spcPct val="20000"/>
              </a:spcBef>
              <a:buChar char="–"/>
              <a:tabLst>
                <a:tab pos="857250" algn="l"/>
                <a:tab pos="1658938" algn="l"/>
              </a:tabLst>
              <a:defRPr sz="2400">
                <a:solidFill>
                  <a:schemeClr val="tx1"/>
                </a:solidFill>
                <a:latin typeface="Arial" panose="020B0604020202020204" pitchFamily="34" charset="0"/>
              </a:defRPr>
            </a:lvl2pPr>
            <a:lvl3pPr marL="1143000" indent="-228600">
              <a:spcBef>
                <a:spcPct val="20000"/>
              </a:spcBef>
              <a:buChar char="•"/>
              <a:tabLst>
                <a:tab pos="857250" algn="l"/>
                <a:tab pos="1658938" algn="l"/>
              </a:tabLst>
              <a:defRPr sz="2000">
                <a:solidFill>
                  <a:schemeClr val="tx1"/>
                </a:solidFill>
                <a:latin typeface="Arial" panose="020B0604020202020204" pitchFamily="34" charset="0"/>
              </a:defRPr>
            </a:lvl3pPr>
            <a:lvl4pPr marL="1600200" indent="-228600">
              <a:spcBef>
                <a:spcPct val="20000"/>
              </a:spcBef>
              <a:buChar char="–"/>
              <a:tabLst>
                <a:tab pos="857250" algn="l"/>
                <a:tab pos="1658938" algn="l"/>
              </a:tabLst>
              <a:defRPr sz="2000">
                <a:solidFill>
                  <a:schemeClr val="tx1"/>
                </a:solidFill>
                <a:latin typeface="Arial" panose="020B0604020202020204" pitchFamily="34" charset="0"/>
              </a:defRPr>
            </a:lvl4pPr>
            <a:lvl5pPr marL="2057400" indent="-228600">
              <a:spcBef>
                <a:spcPct val="20000"/>
              </a:spcBef>
              <a:buChar char="»"/>
              <a:tabLst>
                <a:tab pos="8572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worker.ename</a:t>
            </a:r>
            <a:r>
              <a:rPr lang="en-US" altLang="en-US" sz="1800" b="1" dirty="0">
                <a:solidFill>
                  <a:srgbClr val="000000"/>
                </a:solidFill>
                <a:latin typeface="Courier New" panose="02070309020205020404" pitchFamily="49" charset="0"/>
              </a:rPr>
              <a:t>||' works for '||</a:t>
            </a:r>
            <a:r>
              <a:rPr lang="en-US" altLang="en-US" sz="1800" b="1" dirty="0" err="1">
                <a:solidFill>
                  <a:srgbClr val="000000"/>
                </a:solidFill>
                <a:latin typeface="Courier New" panose="02070309020205020404" pitchFamily="49" charset="0"/>
              </a:rPr>
              <a:t>manager.ename</a:t>
            </a:r>
            <a:endParaRPr lang="en-US" altLang="en-US" sz="1800" b="1" dirty="0">
              <a:solidFill>
                <a:srgbClr val="000000"/>
              </a:solidFill>
              <a:latin typeface="Courier New" panose="02070309020205020404" pitchFamily="49" charset="0"/>
            </a:endParaRPr>
          </a:p>
          <a:p>
            <a:pPr>
              <a:lnSpc>
                <a:spcPct val="120000"/>
              </a:lnSpc>
              <a:spcBef>
                <a:spcPct val="0"/>
              </a:spcBef>
              <a:buFontTx/>
              <a:buNone/>
            </a:pPr>
            <a:r>
              <a:rPr lang="en-US" altLang="en-US" sz="1800" b="1" dirty="0">
                <a:solidFill>
                  <a:srgbClr val="000000"/>
                </a:solidFill>
                <a:latin typeface="Courier New" panose="02070309020205020404" pitchFamily="49" charset="0"/>
              </a:rPr>
              <a:t>FROM 	</a:t>
            </a:r>
            <a:r>
              <a:rPr lang="en-US" altLang="en-US" sz="1800" b="1" dirty="0">
                <a:solidFill>
                  <a:srgbClr val="0000CC"/>
                </a:solidFill>
                <a:latin typeface="Courier New" panose="02070309020205020404" pitchFamily="49" charset="0"/>
              </a:rPr>
              <a:t>emp worker JOIN emp manager</a:t>
            </a:r>
          </a:p>
          <a:p>
            <a:pPr>
              <a:lnSpc>
                <a:spcPct val="120000"/>
              </a:lnSpc>
              <a:spcBef>
                <a:spcPct val="0"/>
              </a:spcBef>
              <a:buFontTx/>
              <a:buNone/>
            </a:pPr>
            <a:r>
              <a:rPr lang="en-US" altLang="en-US" sz="1800" b="1" dirty="0">
                <a:solidFill>
                  <a:srgbClr val="000000"/>
                </a:solidFill>
                <a:latin typeface="Courier New" panose="02070309020205020404" pitchFamily="49" charset="0"/>
              </a:rPr>
              <a:t>ON  	</a:t>
            </a:r>
            <a:r>
              <a:rPr lang="en-US" altLang="en-US" sz="1800" b="1" dirty="0" err="1">
                <a:solidFill>
                  <a:srgbClr val="000000"/>
                </a:solidFill>
                <a:latin typeface="Courier New" panose="02070309020205020404" pitchFamily="49" charset="0"/>
              </a:rPr>
              <a:t>worker.mgr</a:t>
            </a:r>
            <a:r>
              <a:rPr lang="en-US" altLang="en-US" sz="1800" b="1" dirty="0">
                <a:solidFill>
                  <a:srgbClr val="000000"/>
                </a:solidFill>
                <a:latin typeface="Courier New" panose="02070309020205020404" pitchFamily="49" charset="0"/>
              </a:rPr>
              <a:t> = </a:t>
            </a:r>
            <a:r>
              <a:rPr lang="en-US" altLang="en-US" sz="1800" b="1" dirty="0" err="1">
                <a:solidFill>
                  <a:srgbClr val="000000"/>
                </a:solidFill>
                <a:latin typeface="Courier New" panose="02070309020205020404" pitchFamily="49" charset="0"/>
              </a:rPr>
              <a:t>manager.empno</a:t>
            </a:r>
            <a:r>
              <a:rPr lang="en-US" altLang="en-US" sz="1800" b="1" dirty="0">
                <a:solidFill>
                  <a:srgbClr val="000000"/>
                </a:solidFill>
                <a:latin typeface="Courier New" panose="02070309020205020404" pitchFamily="49" charset="0"/>
              </a:rPr>
              <a:t>;</a:t>
            </a:r>
          </a:p>
        </p:txBody>
      </p:sp>
      <p:sp>
        <p:nvSpPr>
          <p:cNvPr id="15" name="Rectangle 5">
            <a:extLst>
              <a:ext uri="{FF2B5EF4-FFF2-40B4-BE49-F238E27FC236}">
                <a16:creationId xmlns:a16="http://schemas.microsoft.com/office/drawing/2014/main" id="{E36CA608-C0E4-B0E2-13B7-1270A6E2BA61}"/>
              </a:ext>
            </a:extLst>
          </p:cNvPr>
          <p:cNvSpPr>
            <a:spLocks noChangeArrowheads="1"/>
          </p:cNvSpPr>
          <p:nvPr/>
        </p:nvSpPr>
        <p:spPr bwMode="ltGray">
          <a:xfrm>
            <a:off x="1698167" y="2865864"/>
            <a:ext cx="3810457" cy="361950"/>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Tree>
    <p:extLst>
      <p:ext uri="{BB962C8B-B14F-4D97-AF65-F5344CB8AC3E}">
        <p14:creationId xmlns:p14="http://schemas.microsoft.com/office/powerpoint/2010/main" val="19801942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up)">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D0DBD-DFE5-D25A-4D97-62B7550A6CF7}"/>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8677257E-2FB0-5C12-3095-D4F3383C17CE}"/>
              </a:ext>
            </a:extLst>
          </p:cNvPr>
          <p:cNvSpPr>
            <a:spLocks noGrp="1" noChangeArrowheads="1"/>
          </p:cNvSpPr>
          <p:nvPr>
            <p:ph type="title"/>
          </p:nvPr>
        </p:nvSpPr>
        <p:spPr>
          <a:xfrm>
            <a:off x="425450" y="23130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7. Self Outer Join</a:t>
            </a:r>
          </a:p>
        </p:txBody>
      </p:sp>
      <p:sp>
        <p:nvSpPr>
          <p:cNvPr id="38915" name="Rectangle 3">
            <a:extLst>
              <a:ext uri="{FF2B5EF4-FFF2-40B4-BE49-F238E27FC236}">
                <a16:creationId xmlns:a16="http://schemas.microsoft.com/office/drawing/2014/main" id="{D2690A1F-4BCF-7699-8F94-CA65417A1C9E}"/>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41EF67F0-6FCE-07E4-654B-36E7D706F752}"/>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4" name="Rectangle 3">
            <a:extLst>
              <a:ext uri="{FF2B5EF4-FFF2-40B4-BE49-F238E27FC236}">
                <a16:creationId xmlns:a16="http://schemas.microsoft.com/office/drawing/2014/main" id="{5E4FF6F9-FFF9-7B2C-A270-E2AA75119B87}"/>
              </a:ext>
            </a:extLst>
          </p:cNvPr>
          <p:cNvSpPr txBox="1">
            <a:spLocks noChangeArrowheads="1"/>
          </p:cNvSpPr>
          <p:nvPr/>
        </p:nvSpPr>
        <p:spPr bwMode="auto">
          <a:xfrm>
            <a:off x="408759" y="620688"/>
            <a:ext cx="8394700" cy="35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gn="just"/>
            <a:r>
              <a:rPr lang="en-US" altLang="en-US" sz="2400" dirty="0">
                <a:latin typeface="Cambria" panose="02040503050406030204" pitchFamily="18" charset="0"/>
                <a:ea typeface="Cambria" panose="02040503050406030204" pitchFamily="18" charset="0"/>
              </a:rPr>
              <a:t>It retrieves the additional non-matching rows that cannot be retrieved using self join. </a:t>
            </a:r>
          </a:p>
          <a:p>
            <a:pPr algn="just"/>
            <a:r>
              <a:rPr lang="en-US" altLang="en-US" sz="2400" dirty="0">
                <a:latin typeface="Cambria" panose="02040503050406030204" pitchFamily="18" charset="0"/>
                <a:ea typeface="Cambria" panose="02040503050406030204" pitchFamily="18" charset="0"/>
              </a:rPr>
              <a:t>The last query doesn’t return the employee, whose </a:t>
            </a:r>
            <a:r>
              <a:rPr lang="en-US" altLang="en-US" sz="2400" dirty="0" err="1">
                <a:latin typeface="Cambria" panose="02040503050406030204" pitchFamily="18" charset="0"/>
                <a:ea typeface="Cambria" panose="02040503050406030204" pitchFamily="18" charset="0"/>
              </a:rPr>
              <a:t>mgr</a:t>
            </a:r>
            <a:r>
              <a:rPr lang="en-US" altLang="en-US" sz="2400" dirty="0">
                <a:latin typeface="Cambria" panose="02040503050406030204" pitchFamily="18" charset="0"/>
                <a:ea typeface="Cambria" panose="02040503050406030204" pitchFamily="18" charset="0"/>
              </a:rPr>
              <a:t> is NULL. To include manager less employees, the following query is used: </a:t>
            </a: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p:txBody>
      </p:sp>
      <p:sp>
        <p:nvSpPr>
          <p:cNvPr id="20" name="Footer Placeholder 2">
            <a:extLst>
              <a:ext uri="{FF2B5EF4-FFF2-40B4-BE49-F238E27FC236}">
                <a16:creationId xmlns:a16="http://schemas.microsoft.com/office/drawing/2014/main" id="{0E55DB23-C130-7EA4-A760-9D6215A08C73}"/>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4">
            <a:extLst>
              <a:ext uri="{FF2B5EF4-FFF2-40B4-BE49-F238E27FC236}">
                <a16:creationId xmlns:a16="http://schemas.microsoft.com/office/drawing/2014/main" id="{011573CE-C70B-378D-1B9B-F194912F4400}"/>
              </a:ext>
            </a:extLst>
          </p:cNvPr>
          <p:cNvSpPr>
            <a:spLocks noChangeArrowheads="1"/>
          </p:cNvSpPr>
          <p:nvPr/>
        </p:nvSpPr>
        <p:spPr bwMode="blackWhite">
          <a:xfrm>
            <a:off x="820738" y="3875162"/>
            <a:ext cx="7593012" cy="2586037"/>
          </a:xfrm>
          <a:prstGeom prst="rect">
            <a:avLst/>
          </a:prstGeom>
          <a:solidFill>
            <a:srgbClr val="DDDDDD"/>
          </a:solidFill>
          <a:ln w="25400">
            <a:solidFill>
              <a:srgbClr val="000000"/>
            </a:solidFill>
            <a:miter lim="800000"/>
            <a:headEnd/>
            <a:tailEnd/>
          </a:ln>
          <a:effectLst>
            <a:outerShdw dist="89803" dir="2700000" algn="ctr" rotWithShape="0">
              <a:srgbClr val="000000">
                <a:alpha val="50000"/>
              </a:srgbClr>
            </a:outerShdw>
          </a:effectLst>
        </p:spPr>
        <p:txBody>
          <a:bodyPr lIns="92075" tIns="46038" rIns="92075" bIns="46038">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latin typeface="Courier New" panose="02070309020205020404" pitchFamily="49" charset="0"/>
              </a:rPr>
              <a:t>Employee	Manager</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BLAKE 		KING</a:t>
            </a:r>
          </a:p>
          <a:p>
            <a:pPr>
              <a:spcBef>
                <a:spcPct val="0"/>
              </a:spcBef>
              <a:buFontTx/>
              <a:buNone/>
            </a:pPr>
            <a:r>
              <a:rPr lang="en-US" altLang="en-US" sz="1800" b="1">
                <a:solidFill>
                  <a:srgbClr val="000000"/>
                </a:solidFill>
                <a:latin typeface="Courier New" panose="02070309020205020404" pitchFamily="49" charset="0"/>
              </a:rPr>
              <a:t>CLARK 		KING</a:t>
            </a:r>
          </a:p>
          <a:p>
            <a:pPr>
              <a:spcBef>
                <a:spcPct val="0"/>
              </a:spcBef>
              <a:buFontTx/>
              <a:buNone/>
            </a:pPr>
            <a:r>
              <a:rPr lang="en-US" altLang="en-US" sz="1800" b="1">
                <a:solidFill>
                  <a:srgbClr val="000000"/>
                </a:solidFill>
                <a:latin typeface="Courier New" panose="02070309020205020404" pitchFamily="49" charset="0"/>
              </a:rPr>
              <a:t>JONES 		KING</a:t>
            </a:r>
          </a:p>
          <a:p>
            <a:pPr>
              <a:spcBef>
                <a:spcPct val="0"/>
              </a:spcBef>
              <a:buFontTx/>
              <a:buNone/>
            </a:pPr>
            <a:r>
              <a:rPr lang="en-US" altLang="en-US" sz="1800" b="1">
                <a:solidFill>
                  <a:srgbClr val="000000"/>
                </a:solidFill>
                <a:latin typeface="Courier New" panose="02070309020205020404" pitchFamily="49" charset="0"/>
              </a:rPr>
              <a:t>MARTIN 	BLAKE</a:t>
            </a:r>
          </a:p>
          <a:p>
            <a:pPr>
              <a:spcBef>
                <a:spcPct val="0"/>
              </a:spcBef>
              <a:buFontTx/>
              <a:buNone/>
            </a:pPr>
            <a:r>
              <a:rPr lang="en-US" altLang="en-US" sz="1800" b="1">
                <a:solidFill>
                  <a:srgbClr val="000000"/>
                </a:solidFill>
                <a:latin typeface="Courier New" panose="02070309020205020404" pitchFamily="49" charset="0"/>
              </a:rPr>
              <a:t>KING</a:t>
            </a:r>
          </a:p>
          <a:p>
            <a:pPr>
              <a:spcBef>
                <a:spcPct val="0"/>
              </a:spcBef>
              <a:buFontTx/>
              <a:buNone/>
            </a:pPr>
            <a:r>
              <a:rPr lang="en-US" altLang="en-US" sz="1800" b="1">
                <a:solidFill>
                  <a:srgbClr val="000000"/>
                </a:solidFill>
                <a:latin typeface="Courier New" panose="02070309020205020404" pitchFamily="49" charset="0"/>
              </a:rPr>
              <a:t>...</a:t>
            </a:r>
          </a:p>
          <a:p>
            <a:pPr>
              <a:spcBef>
                <a:spcPct val="0"/>
              </a:spcBef>
              <a:buFontTx/>
              <a:buNone/>
            </a:pPr>
            <a:r>
              <a:rPr lang="en-US" altLang="en-US" sz="1800" b="1">
                <a:solidFill>
                  <a:srgbClr val="000000"/>
                </a:solidFill>
                <a:latin typeface="Courier New" panose="02070309020205020404" pitchFamily="49" charset="0"/>
              </a:rPr>
              <a:t>14 rows selected.</a:t>
            </a:r>
          </a:p>
        </p:txBody>
      </p:sp>
      <p:sp>
        <p:nvSpPr>
          <p:cNvPr id="6" name="Rectangle 2">
            <a:extLst>
              <a:ext uri="{FF2B5EF4-FFF2-40B4-BE49-F238E27FC236}">
                <a16:creationId xmlns:a16="http://schemas.microsoft.com/office/drawing/2014/main" id="{60114EE5-539D-336C-5693-5D619DA17577}"/>
              </a:ext>
            </a:extLst>
          </p:cNvPr>
          <p:cNvSpPr>
            <a:spLocks noChangeArrowheads="1"/>
          </p:cNvSpPr>
          <p:nvPr/>
        </p:nvSpPr>
        <p:spPr bwMode="blackWhite">
          <a:xfrm>
            <a:off x="795338" y="2636912"/>
            <a:ext cx="7618412" cy="1082675"/>
          </a:xfrm>
          <a:prstGeom prst="rect">
            <a:avLst/>
          </a:prstGeom>
          <a:solidFill>
            <a:srgbClr val="FFFFCC"/>
          </a:solidFill>
          <a:ln w="25400">
            <a:solidFill>
              <a:srgbClr val="000000"/>
            </a:solidFill>
            <a:miter lim="800000"/>
            <a:headEnd/>
            <a:tailEnd/>
          </a:ln>
          <a:effectLst>
            <a:outerShdw dist="89803" dir="2700000" algn="ctr" rotWithShape="0">
              <a:srgbClr val="000000">
                <a:alpha val="50000"/>
              </a:srgbClr>
            </a:outerShdw>
          </a:effectLst>
        </p:spPr>
        <p:txBody>
          <a:bodyPr wrap="none" lIns="92075" tIns="46038" rIns="92075" bIns="46038" anchor="ctr"/>
          <a:lstStyle>
            <a:lvl1pPr>
              <a:spcBef>
                <a:spcPct val="20000"/>
              </a:spcBef>
              <a:buChar char="•"/>
              <a:tabLst>
                <a:tab pos="857250" algn="l"/>
                <a:tab pos="1658938" algn="l"/>
              </a:tabLst>
              <a:defRPr sz="2800">
                <a:solidFill>
                  <a:schemeClr val="tx1"/>
                </a:solidFill>
                <a:latin typeface="Arial" panose="020B0604020202020204" pitchFamily="34" charset="0"/>
              </a:defRPr>
            </a:lvl1pPr>
            <a:lvl2pPr marL="742950" indent="-285750">
              <a:spcBef>
                <a:spcPct val="20000"/>
              </a:spcBef>
              <a:buChar char="–"/>
              <a:tabLst>
                <a:tab pos="857250" algn="l"/>
                <a:tab pos="1658938" algn="l"/>
              </a:tabLst>
              <a:defRPr sz="2400">
                <a:solidFill>
                  <a:schemeClr val="tx1"/>
                </a:solidFill>
                <a:latin typeface="Arial" panose="020B0604020202020204" pitchFamily="34" charset="0"/>
              </a:defRPr>
            </a:lvl2pPr>
            <a:lvl3pPr marL="1143000" indent="-228600">
              <a:spcBef>
                <a:spcPct val="20000"/>
              </a:spcBef>
              <a:buChar char="•"/>
              <a:tabLst>
                <a:tab pos="857250" algn="l"/>
                <a:tab pos="1658938" algn="l"/>
              </a:tabLst>
              <a:defRPr sz="2000">
                <a:solidFill>
                  <a:schemeClr val="tx1"/>
                </a:solidFill>
                <a:latin typeface="Arial" panose="020B0604020202020204" pitchFamily="34" charset="0"/>
              </a:defRPr>
            </a:lvl3pPr>
            <a:lvl4pPr marL="1600200" indent="-228600">
              <a:spcBef>
                <a:spcPct val="20000"/>
              </a:spcBef>
              <a:buChar char="–"/>
              <a:tabLst>
                <a:tab pos="857250" algn="l"/>
                <a:tab pos="1658938" algn="l"/>
              </a:tabLst>
              <a:defRPr sz="2000">
                <a:solidFill>
                  <a:schemeClr val="tx1"/>
                </a:solidFill>
                <a:latin typeface="Arial" panose="020B0604020202020204" pitchFamily="34" charset="0"/>
              </a:defRPr>
            </a:lvl4pPr>
            <a:lvl5pPr marL="2057400" indent="-228600">
              <a:spcBef>
                <a:spcPct val="20000"/>
              </a:spcBef>
              <a:buChar char="»"/>
              <a:tabLst>
                <a:tab pos="8572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9pPr>
          </a:lstStyle>
          <a:p>
            <a:pPr>
              <a:lnSpc>
                <a:spcPct val="120000"/>
              </a:lnSpc>
              <a:spcBef>
                <a:spcPct val="0"/>
              </a:spcBef>
              <a:buFontTx/>
              <a:buNone/>
            </a:pPr>
            <a:endParaRPr lang="en-US" altLang="en-US" sz="1800" b="1">
              <a:solidFill>
                <a:srgbClr val="000000"/>
              </a:solidFill>
              <a:latin typeface="Courier New" panose="02070309020205020404" pitchFamily="49" charset="0"/>
            </a:endParaRPr>
          </a:p>
          <a:p>
            <a:pPr>
              <a:lnSpc>
                <a:spcPct val="120000"/>
              </a:lnSpc>
              <a:spcBef>
                <a:spcPct val="0"/>
              </a:spcBef>
              <a:buFontTx/>
              <a:buNone/>
            </a:pPr>
            <a:endParaRPr lang="en-US" altLang="en-US" sz="1800" b="1">
              <a:solidFill>
                <a:srgbClr val="000000"/>
              </a:solidFill>
              <a:latin typeface="Courier New" panose="02070309020205020404" pitchFamily="49" charset="0"/>
            </a:endParaRPr>
          </a:p>
        </p:txBody>
      </p:sp>
      <p:sp>
        <p:nvSpPr>
          <p:cNvPr id="7" name="Rectangle 5">
            <a:extLst>
              <a:ext uri="{FF2B5EF4-FFF2-40B4-BE49-F238E27FC236}">
                <a16:creationId xmlns:a16="http://schemas.microsoft.com/office/drawing/2014/main" id="{14935958-6389-279B-A04D-8FDA0B074997}"/>
              </a:ext>
            </a:extLst>
          </p:cNvPr>
          <p:cNvSpPr>
            <a:spLocks noChangeArrowheads="1"/>
          </p:cNvSpPr>
          <p:nvPr/>
        </p:nvSpPr>
        <p:spPr bwMode="ltGray">
          <a:xfrm>
            <a:off x="1547813" y="3356991"/>
            <a:ext cx="2592387" cy="305445"/>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8" name="Rectangle 6">
            <a:extLst>
              <a:ext uri="{FF2B5EF4-FFF2-40B4-BE49-F238E27FC236}">
                <a16:creationId xmlns:a16="http://schemas.microsoft.com/office/drawing/2014/main" id="{4F6A7B51-7B31-5E69-3B86-F42048E62E8E}"/>
              </a:ext>
            </a:extLst>
          </p:cNvPr>
          <p:cNvSpPr>
            <a:spLocks noChangeArrowheads="1"/>
          </p:cNvSpPr>
          <p:nvPr/>
        </p:nvSpPr>
        <p:spPr bwMode="blackWhite">
          <a:xfrm>
            <a:off x="782638" y="2608957"/>
            <a:ext cx="7643812"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har char="•"/>
              <a:tabLst>
                <a:tab pos="857250" algn="l"/>
                <a:tab pos="1658938" algn="l"/>
              </a:tabLst>
              <a:defRPr sz="2800">
                <a:solidFill>
                  <a:schemeClr val="tx1"/>
                </a:solidFill>
                <a:latin typeface="Arial" panose="020B0604020202020204" pitchFamily="34" charset="0"/>
              </a:defRPr>
            </a:lvl1pPr>
            <a:lvl2pPr marL="742950" indent="-285750">
              <a:spcBef>
                <a:spcPct val="20000"/>
              </a:spcBef>
              <a:buChar char="–"/>
              <a:tabLst>
                <a:tab pos="857250" algn="l"/>
                <a:tab pos="1658938" algn="l"/>
              </a:tabLst>
              <a:defRPr sz="2400">
                <a:solidFill>
                  <a:schemeClr val="tx1"/>
                </a:solidFill>
                <a:latin typeface="Arial" panose="020B0604020202020204" pitchFamily="34" charset="0"/>
              </a:defRPr>
            </a:lvl2pPr>
            <a:lvl3pPr marL="1143000" indent="-228600">
              <a:spcBef>
                <a:spcPct val="20000"/>
              </a:spcBef>
              <a:buChar char="•"/>
              <a:tabLst>
                <a:tab pos="857250" algn="l"/>
                <a:tab pos="1658938" algn="l"/>
              </a:tabLst>
              <a:defRPr sz="2000">
                <a:solidFill>
                  <a:schemeClr val="tx1"/>
                </a:solidFill>
                <a:latin typeface="Arial" panose="020B0604020202020204" pitchFamily="34" charset="0"/>
              </a:defRPr>
            </a:lvl3pPr>
            <a:lvl4pPr marL="1600200" indent="-228600">
              <a:spcBef>
                <a:spcPct val="20000"/>
              </a:spcBef>
              <a:buChar char="–"/>
              <a:tabLst>
                <a:tab pos="857250" algn="l"/>
                <a:tab pos="1658938" algn="l"/>
              </a:tabLst>
              <a:defRPr sz="2000">
                <a:solidFill>
                  <a:schemeClr val="tx1"/>
                </a:solidFill>
                <a:latin typeface="Arial" panose="020B0604020202020204" pitchFamily="34" charset="0"/>
              </a:defRPr>
            </a:lvl4pPr>
            <a:lvl5pPr marL="2057400" indent="-228600">
              <a:spcBef>
                <a:spcPct val="20000"/>
              </a:spcBef>
              <a:buChar char="»"/>
              <a:tabLst>
                <a:tab pos="857250" algn="l"/>
                <a:tab pos="165893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857250" algn="l"/>
                <a:tab pos="1658938" algn="l"/>
              </a:tabLst>
              <a:defRPr sz="2000">
                <a:solidFill>
                  <a:schemeClr val="tx1"/>
                </a:solidFill>
                <a:latin typeface="Arial" panose="020B0604020202020204" pitchFamily="34" charset="0"/>
              </a:defRPr>
            </a:lvl9pPr>
          </a:lstStyle>
          <a:p>
            <a:pPr>
              <a:lnSpc>
                <a:spcPct val="120000"/>
              </a:lnSpc>
              <a:spcBef>
                <a:spcPct val="0"/>
              </a:spcBef>
              <a:buFontTx/>
              <a:buNone/>
            </a:pPr>
            <a:r>
              <a:rPr lang="en-US" altLang="en-US" sz="1800" b="1" dirty="0">
                <a:solidFill>
                  <a:srgbClr val="000000"/>
                </a:solidFill>
                <a:latin typeface="Courier New" panose="02070309020205020404" pitchFamily="49" charset="0"/>
              </a:rPr>
              <a:t>SELECT </a:t>
            </a:r>
            <a:r>
              <a:rPr lang="en-US" altLang="en-US" sz="1800" b="1" dirty="0" err="1">
                <a:solidFill>
                  <a:srgbClr val="000000"/>
                </a:solidFill>
                <a:latin typeface="Courier New" panose="02070309020205020404" pitchFamily="49" charset="0"/>
              </a:rPr>
              <a:t>e.ename</a:t>
            </a:r>
            <a:r>
              <a:rPr lang="en-US" altLang="en-US" sz="1800" b="1" dirty="0">
                <a:solidFill>
                  <a:srgbClr val="000000"/>
                </a:solidFill>
                <a:latin typeface="Courier New" panose="02070309020205020404" pitchFamily="49" charset="0"/>
              </a:rPr>
              <a:t> “Employee”, </a:t>
            </a:r>
            <a:r>
              <a:rPr lang="en-US" altLang="en-US" sz="1800" b="1" dirty="0" err="1">
                <a:solidFill>
                  <a:srgbClr val="000000"/>
                </a:solidFill>
                <a:latin typeface="Courier New" panose="02070309020205020404" pitchFamily="49" charset="0"/>
              </a:rPr>
              <a:t>m.ename</a:t>
            </a:r>
            <a:r>
              <a:rPr lang="en-US" altLang="en-US" sz="1800" b="1" dirty="0">
                <a:solidFill>
                  <a:srgbClr val="000000"/>
                </a:solidFill>
                <a:latin typeface="Courier New" panose="02070309020205020404" pitchFamily="49" charset="0"/>
              </a:rPr>
              <a:t> “Manager”</a:t>
            </a:r>
          </a:p>
          <a:p>
            <a:pPr>
              <a:lnSpc>
                <a:spcPct val="120000"/>
              </a:lnSpc>
              <a:spcBef>
                <a:spcPct val="0"/>
              </a:spcBef>
              <a:buFontTx/>
              <a:buNone/>
            </a:pPr>
            <a:r>
              <a:rPr lang="en-US" altLang="en-US" sz="1800" b="1" dirty="0">
                <a:solidFill>
                  <a:srgbClr val="000000"/>
                </a:solidFill>
                <a:latin typeface="Courier New" panose="02070309020205020404" pitchFamily="49" charset="0"/>
              </a:rPr>
              <a:t>FROM 	emp e </a:t>
            </a:r>
            <a:r>
              <a:rPr lang="en-US" altLang="en-US" sz="1800" b="1" dirty="0">
                <a:solidFill>
                  <a:srgbClr val="0000CC"/>
                </a:solidFill>
                <a:latin typeface="Courier New" panose="02070309020205020404" pitchFamily="49" charset="0"/>
              </a:rPr>
              <a:t>LEFT OUTER JOIN</a:t>
            </a:r>
            <a:r>
              <a:rPr lang="en-US" altLang="en-US" sz="1800" b="1" dirty="0">
                <a:solidFill>
                  <a:schemeClr val="accent2"/>
                </a:solidFill>
                <a:latin typeface="Courier New" panose="02070309020205020404" pitchFamily="49" charset="0"/>
              </a:rPr>
              <a:t> </a:t>
            </a:r>
            <a:r>
              <a:rPr lang="en-US" altLang="en-US" sz="1800" b="1" dirty="0">
                <a:solidFill>
                  <a:srgbClr val="000000"/>
                </a:solidFill>
                <a:latin typeface="Courier New" panose="02070309020205020404" pitchFamily="49" charset="0"/>
              </a:rPr>
              <a:t>emp m</a:t>
            </a:r>
          </a:p>
          <a:p>
            <a:pPr>
              <a:lnSpc>
                <a:spcPct val="120000"/>
              </a:lnSpc>
              <a:spcBef>
                <a:spcPct val="0"/>
              </a:spcBef>
              <a:buFontTx/>
              <a:buNone/>
            </a:pPr>
            <a:r>
              <a:rPr lang="en-US" altLang="en-US" sz="1800" b="1" dirty="0">
                <a:solidFill>
                  <a:srgbClr val="000000"/>
                </a:solidFill>
                <a:latin typeface="Courier New" panose="02070309020205020404" pitchFamily="49" charset="0"/>
              </a:rPr>
              <a:t>ON 	</a:t>
            </a:r>
            <a:r>
              <a:rPr lang="en-US" altLang="en-US" sz="1800" b="1" dirty="0" err="1">
                <a:solidFill>
                  <a:srgbClr val="000000"/>
                </a:solidFill>
                <a:latin typeface="Courier New" panose="02070309020205020404" pitchFamily="49" charset="0"/>
              </a:rPr>
              <a:t>e.mgr</a:t>
            </a:r>
            <a:r>
              <a:rPr lang="en-US" altLang="en-US" sz="1800" b="1" dirty="0">
                <a:solidFill>
                  <a:srgbClr val="000000"/>
                </a:solidFill>
                <a:latin typeface="Courier New" panose="02070309020205020404" pitchFamily="49" charset="0"/>
              </a:rPr>
              <a:t> = </a:t>
            </a:r>
            <a:r>
              <a:rPr lang="en-US" altLang="en-US" sz="1800" b="1" dirty="0" err="1">
                <a:solidFill>
                  <a:srgbClr val="000000"/>
                </a:solidFill>
                <a:latin typeface="Courier New" panose="02070309020205020404" pitchFamily="49" charset="0"/>
              </a:rPr>
              <a:t>m.empno</a:t>
            </a:r>
            <a:r>
              <a:rPr lang="en-US" altLang="en-US" sz="1800" b="1" dirty="0">
                <a:solidFill>
                  <a:srgbClr val="000000"/>
                </a:solidFill>
                <a:latin typeface="Courier New" panose="02070309020205020404" pitchFamily="49" charset="0"/>
              </a:rPr>
              <a:t>;</a:t>
            </a:r>
          </a:p>
        </p:txBody>
      </p:sp>
    </p:spTree>
    <p:extLst>
      <p:ext uri="{BB962C8B-B14F-4D97-AF65-F5344CB8AC3E}">
        <p14:creationId xmlns:p14="http://schemas.microsoft.com/office/powerpoint/2010/main" val="39336309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37B0C-F32F-3860-C39E-FEF267ED69C1}"/>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573A248C-F552-9BB7-354F-4B3BD69BFE6A}"/>
              </a:ext>
            </a:extLst>
          </p:cNvPr>
          <p:cNvSpPr>
            <a:spLocks noGrp="1" noChangeArrowheads="1"/>
          </p:cNvSpPr>
          <p:nvPr>
            <p:ph type="title"/>
          </p:nvPr>
        </p:nvSpPr>
        <p:spPr>
          <a:xfrm>
            <a:off x="425450" y="23130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Joining More Than Two Tables</a:t>
            </a:r>
          </a:p>
        </p:txBody>
      </p:sp>
      <p:sp>
        <p:nvSpPr>
          <p:cNvPr id="38915" name="Rectangle 3">
            <a:extLst>
              <a:ext uri="{FF2B5EF4-FFF2-40B4-BE49-F238E27FC236}">
                <a16:creationId xmlns:a16="http://schemas.microsoft.com/office/drawing/2014/main" id="{9A652F78-EE46-755B-63D5-5C01F5DC2C46}"/>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C62509AE-62C1-A49A-CBFA-3254189A0C73}"/>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2B4D45ED-491A-C5BB-B734-B962CFBFFE67}"/>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Rectangle 3">
            <a:extLst>
              <a:ext uri="{FF2B5EF4-FFF2-40B4-BE49-F238E27FC236}">
                <a16:creationId xmlns:a16="http://schemas.microsoft.com/office/drawing/2014/main" id="{B2B018B7-125A-FE75-CB25-117A42F6904A}"/>
              </a:ext>
            </a:extLst>
          </p:cNvPr>
          <p:cNvSpPr>
            <a:spLocks noChangeArrowheads="1"/>
          </p:cNvSpPr>
          <p:nvPr/>
        </p:nvSpPr>
        <p:spPr bwMode="blackWhite">
          <a:xfrm>
            <a:off x="908050" y="1212950"/>
            <a:ext cx="3117850" cy="2981325"/>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2057400" algn="l"/>
              </a:tabLst>
              <a:defRPr sz="2800">
                <a:solidFill>
                  <a:schemeClr val="tx1"/>
                </a:solidFill>
                <a:latin typeface="Arial" panose="020B0604020202020204" pitchFamily="34" charset="0"/>
              </a:defRPr>
            </a:lvl1pPr>
            <a:lvl2pPr marL="742950" indent="-285750">
              <a:spcBef>
                <a:spcPct val="20000"/>
              </a:spcBef>
              <a:buChar char="–"/>
              <a:tabLst>
                <a:tab pos="2057400" algn="l"/>
              </a:tabLst>
              <a:defRPr sz="2400">
                <a:solidFill>
                  <a:schemeClr val="tx1"/>
                </a:solidFill>
                <a:latin typeface="Arial" panose="020B0604020202020204" pitchFamily="34" charset="0"/>
              </a:defRPr>
            </a:lvl2pPr>
            <a:lvl3pPr marL="1143000" indent="-228600">
              <a:spcBef>
                <a:spcPct val="20000"/>
              </a:spcBef>
              <a:buChar char="•"/>
              <a:tabLst>
                <a:tab pos="2057400" algn="l"/>
              </a:tabLst>
              <a:defRPr sz="2000">
                <a:solidFill>
                  <a:schemeClr val="tx1"/>
                </a:solidFill>
                <a:latin typeface="Arial" panose="020B0604020202020204" pitchFamily="34" charset="0"/>
              </a:defRPr>
            </a:lvl3pPr>
            <a:lvl4pPr marL="1600200" indent="-228600">
              <a:spcBef>
                <a:spcPct val="20000"/>
              </a:spcBef>
              <a:buChar char="–"/>
              <a:tabLst>
                <a:tab pos="2057400" algn="l"/>
              </a:tabLst>
              <a:defRPr sz="2000">
                <a:solidFill>
                  <a:schemeClr val="tx1"/>
                </a:solidFill>
                <a:latin typeface="Arial" panose="020B0604020202020204" pitchFamily="34" charset="0"/>
              </a:defRPr>
            </a:lvl4pPr>
            <a:lvl5pPr marL="2057400" indent="-228600">
              <a:spcBef>
                <a:spcPct val="20000"/>
              </a:spcBef>
              <a:buChar char="»"/>
              <a:tabLst>
                <a:tab pos="2057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2057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2057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2057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20574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NAME	CUSTID</a:t>
            </a: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r>
              <a:rPr lang="en-US" altLang="en-US" sz="1800" b="1">
                <a:solidFill>
                  <a:srgbClr val="000000"/>
                </a:solidFill>
                <a:latin typeface="Courier New" panose="02070309020205020404" pitchFamily="49" charset="0"/>
              </a:rPr>
              <a:t>JOCKSPORTS	   100</a:t>
            </a:r>
          </a:p>
          <a:p>
            <a:pPr>
              <a:lnSpc>
                <a:spcPct val="95000"/>
              </a:lnSpc>
              <a:spcBef>
                <a:spcPct val="0"/>
              </a:spcBef>
              <a:buFontTx/>
              <a:buNone/>
            </a:pPr>
            <a:r>
              <a:rPr lang="en-US" altLang="en-US" sz="1800" b="1">
                <a:solidFill>
                  <a:srgbClr val="000000"/>
                </a:solidFill>
                <a:latin typeface="Courier New" panose="02070309020205020404" pitchFamily="49" charset="0"/>
              </a:rPr>
              <a:t>TKB SPORT SHOP	   101</a:t>
            </a:r>
          </a:p>
          <a:p>
            <a:pPr>
              <a:lnSpc>
                <a:spcPct val="95000"/>
              </a:lnSpc>
              <a:spcBef>
                <a:spcPct val="0"/>
              </a:spcBef>
              <a:buFontTx/>
              <a:buNone/>
            </a:pPr>
            <a:r>
              <a:rPr lang="en-US" altLang="en-US" sz="1800" b="1">
                <a:solidFill>
                  <a:srgbClr val="000000"/>
                </a:solidFill>
                <a:latin typeface="Courier New" panose="02070309020205020404" pitchFamily="49" charset="0"/>
              </a:rPr>
              <a:t>VOLLYRITE	   102</a:t>
            </a:r>
          </a:p>
          <a:p>
            <a:pPr>
              <a:lnSpc>
                <a:spcPct val="95000"/>
              </a:lnSpc>
              <a:spcBef>
                <a:spcPct val="0"/>
              </a:spcBef>
              <a:buFontTx/>
              <a:buNone/>
            </a:pPr>
            <a:r>
              <a:rPr lang="en-US" altLang="en-US" sz="1800" b="1">
                <a:solidFill>
                  <a:srgbClr val="000000"/>
                </a:solidFill>
                <a:latin typeface="Courier New" panose="02070309020205020404" pitchFamily="49" charset="0"/>
              </a:rPr>
              <a:t>JUST TENNIS	   103</a:t>
            </a:r>
          </a:p>
          <a:p>
            <a:pPr>
              <a:lnSpc>
                <a:spcPct val="95000"/>
              </a:lnSpc>
              <a:spcBef>
                <a:spcPct val="0"/>
              </a:spcBef>
              <a:buFontTx/>
              <a:buNone/>
            </a:pPr>
            <a:r>
              <a:rPr lang="en-US" altLang="en-US" sz="1800" b="1">
                <a:solidFill>
                  <a:srgbClr val="000000"/>
                </a:solidFill>
                <a:latin typeface="Courier New" panose="02070309020205020404" pitchFamily="49" charset="0"/>
              </a:rPr>
              <a:t>K+T SPORTS	   105</a:t>
            </a:r>
          </a:p>
          <a:p>
            <a:pPr>
              <a:lnSpc>
                <a:spcPct val="95000"/>
              </a:lnSpc>
              <a:spcBef>
                <a:spcPct val="0"/>
              </a:spcBef>
              <a:buFontTx/>
              <a:buNone/>
            </a:pPr>
            <a:r>
              <a:rPr lang="en-US" altLang="en-US" sz="1800" b="1">
                <a:solidFill>
                  <a:srgbClr val="000000"/>
                </a:solidFill>
                <a:latin typeface="Courier New" panose="02070309020205020404" pitchFamily="49" charset="0"/>
              </a:rPr>
              <a:t>SHAPE UP	   106</a:t>
            </a:r>
          </a:p>
          <a:p>
            <a:pPr>
              <a:lnSpc>
                <a:spcPct val="95000"/>
              </a:lnSpc>
              <a:spcBef>
                <a:spcPct val="0"/>
              </a:spcBef>
              <a:buFontTx/>
              <a:buNone/>
            </a:pPr>
            <a:r>
              <a:rPr lang="en-US" altLang="en-US" sz="1800" b="1">
                <a:solidFill>
                  <a:srgbClr val="000000"/>
                </a:solidFill>
                <a:latin typeface="Courier New" panose="02070309020205020404" pitchFamily="49" charset="0"/>
              </a:rPr>
              <a:t>WOMENS SPORTS     107</a:t>
            </a: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r>
              <a:rPr lang="en-US" altLang="en-US" sz="1800" b="1">
                <a:solidFill>
                  <a:srgbClr val="000000"/>
                </a:solidFill>
                <a:latin typeface="Courier New" panose="02070309020205020404" pitchFamily="49" charset="0"/>
              </a:rPr>
              <a:t>9 rows selected.</a:t>
            </a:r>
          </a:p>
        </p:txBody>
      </p:sp>
      <p:sp>
        <p:nvSpPr>
          <p:cNvPr id="6" name="Rectangle 4">
            <a:extLst>
              <a:ext uri="{FF2B5EF4-FFF2-40B4-BE49-F238E27FC236}">
                <a16:creationId xmlns:a16="http://schemas.microsoft.com/office/drawing/2014/main" id="{005DECC9-A90D-896D-ABDB-6F7775ABFDB0}"/>
              </a:ext>
            </a:extLst>
          </p:cNvPr>
          <p:cNvSpPr>
            <a:spLocks noChangeArrowheads="1"/>
          </p:cNvSpPr>
          <p:nvPr/>
        </p:nvSpPr>
        <p:spPr bwMode="auto">
          <a:xfrm>
            <a:off x="819150" y="836712"/>
            <a:ext cx="1558953" cy="400752"/>
          </a:xfrm>
          <a:prstGeom prst="rect">
            <a:avLst/>
          </a:prstGeom>
          <a:noFill/>
          <a:ln w="9525">
            <a:noFill/>
            <a:miter lim="800000"/>
            <a:headEnd/>
            <a:tailEnd/>
          </a:ln>
          <a:effectLst/>
        </p:spPr>
        <p:txBody>
          <a:bodyPr wrap="none" lIns="92075" tIns="46038" rIns="92075" bIns="46038">
            <a:spAutoFit/>
          </a:bodyPr>
          <a:lstStyle/>
          <a:p>
            <a:pPr>
              <a:defRPr/>
            </a:pPr>
            <a:r>
              <a:rPr lang="en-US" sz="2000" b="1" dirty="0">
                <a:solidFill>
                  <a:srgbClr val="0000CC"/>
                </a:solidFill>
                <a:effectLst>
                  <a:outerShdw blurRad="38100" dist="38100" dir="2700000" algn="tl">
                    <a:srgbClr val="FFFFFF"/>
                  </a:outerShdw>
                </a:effectLst>
                <a:latin typeface="Cambria" panose="02040503050406030204" pitchFamily="18" charset="0"/>
                <a:ea typeface="Cambria" panose="02040503050406030204" pitchFamily="18" charset="0"/>
              </a:rPr>
              <a:t>CUSTOMER </a:t>
            </a:r>
          </a:p>
        </p:txBody>
      </p:sp>
      <p:grpSp>
        <p:nvGrpSpPr>
          <p:cNvPr id="7" name="Group 5">
            <a:extLst>
              <a:ext uri="{FF2B5EF4-FFF2-40B4-BE49-F238E27FC236}">
                <a16:creationId xmlns:a16="http://schemas.microsoft.com/office/drawing/2014/main" id="{49E746B2-B089-2CB0-5B40-316DD1E3D8FB}"/>
              </a:ext>
            </a:extLst>
          </p:cNvPr>
          <p:cNvGrpSpPr>
            <a:grpSpLocks/>
          </p:cNvGrpSpPr>
          <p:nvPr/>
        </p:nvGrpSpPr>
        <p:grpSpPr bwMode="auto">
          <a:xfrm>
            <a:off x="4286250" y="836712"/>
            <a:ext cx="2940050" cy="3357563"/>
            <a:chOff x="2700" y="790"/>
            <a:chExt cx="1852" cy="2115"/>
          </a:xfrm>
        </p:grpSpPr>
        <p:sp>
          <p:nvSpPr>
            <p:cNvPr id="8" name="Rectangle 6">
              <a:extLst>
                <a:ext uri="{FF2B5EF4-FFF2-40B4-BE49-F238E27FC236}">
                  <a16:creationId xmlns:a16="http://schemas.microsoft.com/office/drawing/2014/main" id="{CC4FCCB7-6779-B73B-5CE9-D9C5CE5EA46F}"/>
                </a:ext>
              </a:extLst>
            </p:cNvPr>
            <p:cNvSpPr>
              <a:spLocks noChangeArrowheads="1"/>
            </p:cNvSpPr>
            <p:nvPr/>
          </p:nvSpPr>
          <p:spPr bwMode="blackWhite">
            <a:xfrm>
              <a:off x="2751" y="1027"/>
              <a:ext cx="1801" cy="1878"/>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1143000" algn="l"/>
                </a:tabLst>
                <a:defRPr sz="2800">
                  <a:solidFill>
                    <a:schemeClr val="tx1"/>
                  </a:solidFill>
                  <a:latin typeface="Arial" panose="020B0604020202020204" pitchFamily="34" charset="0"/>
                </a:defRPr>
              </a:lvl1pPr>
              <a:lvl2pPr marL="742950" indent="-285750">
                <a:spcBef>
                  <a:spcPct val="20000"/>
                </a:spcBef>
                <a:buChar char="–"/>
                <a:tabLst>
                  <a:tab pos="1143000" algn="l"/>
                </a:tabLst>
                <a:defRPr sz="2400">
                  <a:solidFill>
                    <a:schemeClr val="tx1"/>
                  </a:solidFill>
                  <a:latin typeface="Arial" panose="020B0604020202020204" pitchFamily="34" charset="0"/>
                </a:defRPr>
              </a:lvl2pPr>
              <a:lvl3pPr marL="1143000" indent="-228600">
                <a:spcBef>
                  <a:spcPct val="20000"/>
                </a:spcBef>
                <a:buChar char="•"/>
                <a:tabLst>
                  <a:tab pos="1143000" algn="l"/>
                </a:tabLst>
                <a:defRPr sz="2000">
                  <a:solidFill>
                    <a:schemeClr val="tx1"/>
                  </a:solidFill>
                  <a:latin typeface="Arial" panose="020B0604020202020204" pitchFamily="34" charset="0"/>
                </a:defRPr>
              </a:lvl3pPr>
              <a:lvl4pPr marL="1600200" indent="-228600">
                <a:spcBef>
                  <a:spcPct val="20000"/>
                </a:spcBef>
                <a:buChar char="–"/>
                <a:tabLst>
                  <a:tab pos="1143000" algn="l"/>
                </a:tabLst>
                <a:defRPr sz="2000">
                  <a:solidFill>
                    <a:schemeClr val="tx1"/>
                  </a:solidFill>
                  <a:latin typeface="Arial" panose="020B0604020202020204" pitchFamily="34" charset="0"/>
                </a:defRPr>
              </a:lvl4pPr>
              <a:lvl5pPr marL="2057400" indent="-228600">
                <a:spcBef>
                  <a:spcPct val="20000"/>
                </a:spcBef>
                <a:buChar char="»"/>
                <a:tabLst>
                  <a:tab pos="11430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1430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1430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1430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1430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CUSTID   ORDID</a:t>
              </a: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r>
                <a:rPr lang="en-US" altLang="en-US" sz="1800" b="1">
                  <a:solidFill>
                    <a:srgbClr val="000000"/>
                  </a:solidFill>
                  <a:latin typeface="Courier New" panose="02070309020205020404" pitchFamily="49" charset="0"/>
                </a:rPr>
                <a:t>    101     610</a:t>
              </a:r>
            </a:p>
            <a:p>
              <a:pPr>
                <a:lnSpc>
                  <a:spcPct val="95000"/>
                </a:lnSpc>
                <a:spcBef>
                  <a:spcPct val="0"/>
                </a:spcBef>
                <a:buFontTx/>
                <a:buNone/>
              </a:pPr>
              <a:r>
                <a:rPr lang="en-US" altLang="en-US" sz="1800" b="1">
                  <a:solidFill>
                    <a:srgbClr val="000000"/>
                  </a:solidFill>
                  <a:latin typeface="Courier New" panose="02070309020205020404" pitchFamily="49" charset="0"/>
                </a:rPr>
                <a:t>    102     611</a:t>
              </a:r>
            </a:p>
            <a:p>
              <a:pPr>
                <a:lnSpc>
                  <a:spcPct val="95000"/>
                </a:lnSpc>
                <a:spcBef>
                  <a:spcPct val="0"/>
                </a:spcBef>
                <a:buFontTx/>
                <a:buNone/>
              </a:pPr>
              <a:r>
                <a:rPr lang="en-US" altLang="en-US" sz="1800" b="1">
                  <a:solidFill>
                    <a:srgbClr val="000000"/>
                  </a:solidFill>
                  <a:latin typeface="Courier New" panose="02070309020205020404" pitchFamily="49" charset="0"/>
                </a:rPr>
                <a:t>    104     612</a:t>
              </a:r>
            </a:p>
            <a:p>
              <a:pPr>
                <a:lnSpc>
                  <a:spcPct val="95000"/>
                </a:lnSpc>
                <a:spcBef>
                  <a:spcPct val="0"/>
                </a:spcBef>
                <a:buFontTx/>
                <a:buNone/>
              </a:pPr>
              <a:r>
                <a:rPr lang="en-US" altLang="en-US" sz="1800" b="1">
                  <a:solidFill>
                    <a:srgbClr val="000000"/>
                  </a:solidFill>
                  <a:latin typeface="Courier New" panose="02070309020205020404" pitchFamily="49" charset="0"/>
                </a:rPr>
                <a:t>    106     601</a:t>
              </a:r>
            </a:p>
            <a:p>
              <a:pPr>
                <a:lnSpc>
                  <a:spcPct val="95000"/>
                </a:lnSpc>
                <a:spcBef>
                  <a:spcPct val="0"/>
                </a:spcBef>
                <a:buFontTx/>
                <a:buNone/>
              </a:pPr>
              <a:r>
                <a:rPr lang="en-US" altLang="en-US" sz="1800" b="1">
                  <a:solidFill>
                    <a:srgbClr val="000000"/>
                  </a:solidFill>
                  <a:latin typeface="Courier New" panose="02070309020205020404" pitchFamily="49" charset="0"/>
                </a:rPr>
                <a:t>    102     602</a:t>
              </a:r>
            </a:p>
            <a:p>
              <a:pPr>
                <a:lnSpc>
                  <a:spcPct val="95000"/>
                </a:lnSpc>
                <a:spcBef>
                  <a:spcPct val="0"/>
                </a:spcBef>
                <a:buFontTx/>
                <a:buNone/>
              </a:pPr>
              <a:r>
                <a:rPr lang="en-US" altLang="en-US" sz="1800" b="1">
                  <a:solidFill>
                    <a:srgbClr val="000000"/>
                  </a:solidFill>
                  <a:latin typeface="Courier New" panose="02070309020205020404" pitchFamily="49" charset="0"/>
                </a:rPr>
                <a:t>    106     604</a:t>
              </a:r>
            </a:p>
            <a:p>
              <a:pPr>
                <a:lnSpc>
                  <a:spcPct val="95000"/>
                </a:lnSpc>
                <a:spcBef>
                  <a:spcPct val="0"/>
                </a:spcBef>
                <a:buFontTx/>
                <a:buNone/>
              </a:pPr>
              <a:r>
                <a:rPr lang="en-US" altLang="en-US" sz="1800" b="1">
                  <a:solidFill>
                    <a:srgbClr val="000000"/>
                  </a:solidFill>
                  <a:latin typeface="Courier New" panose="02070309020205020404" pitchFamily="49" charset="0"/>
                </a:rPr>
                <a:t>    106     605</a:t>
              </a: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r>
                <a:rPr lang="en-US" altLang="en-US" sz="1800" b="1">
                  <a:solidFill>
                    <a:srgbClr val="000000"/>
                  </a:solidFill>
                  <a:latin typeface="Courier New" panose="02070309020205020404" pitchFamily="49" charset="0"/>
                </a:rPr>
                <a:t>21 rows selected.</a:t>
              </a:r>
            </a:p>
          </p:txBody>
        </p:sp>
        <p:sp>
          <p:nvSpPr>
            <p:cNvPr id="9" name="Rectangle 7">
              <a:extLst>
                <a:ext uri="{FF2B5EF4-FFF2-40B4-BE49-F238E27FC236}">
                  <a16:creationId xmlns:a16="http://schemas.microsoft.com/office/drawing/2014/main" id="{A7E5B8C8-33B5-CF45-3314-4F4FC5051F69}"/>
                </a:ext>
              </a:extLst>
            </p:cNvPr>
            <p:cNvSpPr>
              <a:spLocks noChangeArrowheads="1"/>
            </p:cNvSpPr>
            <p:nvPr/>
          </p:nvSpPr>
          <p:spPr bwMode="auto">
            <a:xfrm>
              <a:off x="2700" y="790"/>
              <a:ext cx="486" cy="252"/>
            </a:xfrm>
            <a:prstGeom prst="rect">
              <a:avLst/>
            </a:prstGeom>
            <a:noFill/>
            <a:ln w="9525">
              <a:noFill/>
              <a:miter lim="800000"/>
              <a:headEnd/>
              <a:tailEnd/>
            </a:ln>
            <a:effectLst/>
          </p:spPr>
          <p:txBody>
            <a:bodyPr wrap="none" lIns="92075" tIns="46038" rIns="92075" bIns="46038">
              <a:spAutoFit/>
            </a:bodyPr>
            <a:lstStyle/>
            <a:p>
              <a:pPr>
                <a:defRPr/>
              </a:pPr>
              <a:r>
                <a:rPr lang="en-US" sz="2000" b="1" dirty="0">
                  <a:solidFill>
                    <a:srgbClr val="0000CC"/>
                  </a:solidFill>
                  <a:effectLst>
                    <a:outerShdw blurRad="38100" dist="38100" dir="2700000" algn="tl">
                      <a:srgbClr val="FFFFFF"/>
                    </a:outerShdw>
                  </a:effectLst>
                  <a:latin typeface="Cambria" panose="02040503050406030204" pitchFamily="18" charset="0"/>
                  <a:ea typeface="Cambria" panose="02040503050406030204" pitchFamily="18" charset="0"/>
                </a:rPr>
                <a:t>ORD </a:t>
              </a:r>
            </a:p>
          </p:txBody>
        </p:sp>
      </p:grpSp>
      <p:sp>
        <p:nvSpPr>
          <p:cNvPr id="10" name="Rectangle 8">
            <a:extLst>
              <a:ext uri="{FF2B5EF4-FFF2-40B4-BE49-F238E27FC236}">
                <a16:creationId xmlns:a16="http://schemas.microsoft.com/office/drawing/2014/main" id="{8B1A34B3-845B-7AEC-7912-E4406D151196}"/>
              </a:ext>
            </a:extLst>
          </p:cNvPr>
          <p:cNvSpPr>
            <a:spLocks noChangeArrowheads="1"/>
          </p:cNvSpPr>
          <p:nvPr/>
        </p:nvSpPr>
        <p:spPr bwMode="ltGray">
          <a:xfrm>
            <a:off x="3009900" y="1225650"/>
            <a:ext cx="2457450" cy="2624137"/>
          </a:xfrm>
          <a:prstGeom prst="rect">
            <a:avLst/>
          </a:prstGeom>
          <a:solidFill>
            <a:srgbClr val="FF505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nvGrpSpPr>
          <p:cNvPr id="11" name="Group 9">
            <a:extLst>
              <a:ext uri="{FF2B5EF4-FFF2-40B4-BE49-F238E27FC236}">
                <a16:creationId xmlns:a16="http://schemas.microsoft.com/office/drawing/2014/main" id="{B5ECA3E6-70EE-14FE-34BE-F195246CD9ED}"/>
              </a:ext>
            </a:extLst>
          </p:cNvPr>
          <p:cNvGrpSpPr>
            <a:grpSpLocks/>
          </p:cNvGrpSpPr>
          <p:nvPr/>
        </p:nvGrpSpPr>
        <p:grpSpPr bwMode="auto">
          <a:xfrm>
            <a:off x="5608638" y="2775050"/>
            <a:ext cx="2771775" cy="2838450"/>
            <a:chOff x="3533" y="2011"/>
            <a:chExt cx="1746" cy="1788"/>
          </a:xfrm>
        </p:grpSpPr>
        <p:sp>
          <p:nvSpPr>
            <p:cNvPr id="16" name="Rectangle 10">
              <a:extLst>
                <a:ext uri="{FF2B5EF4-FFF2-40B4-BE49-F238E27FC236}">
                  <a16:creationId xmlns:a16="http://schemas.microsoft.com/office/drawing/2014/main" id="{E16725BC-2610-DA28-93C4-56D404CE9B50}"/>
                </a:ext>
              </a:extLst>
            </p:cNvPr>
            <p:cNvSpPr>
              <a:spLocks noChangeArrowheads="1"/>
            </p:cNvSpPr>
            <p:nvPr/>
          </p:nvSpPr>
          <p:spPr bwMode="blackWhite">
            <a:xfrm>
              <a:off x="3533" y="2249"/>
              <a:ext cx="1645" cy="1550"/>
            </a:xfrm>
            <a:prstGeom prst="rect">
              <a:avLst/>
            </a:prstGeom>
            <a:solidFill>
              <a:srgbClr val="FFCC99"/>
            </a:solidFill>
            <a:ln w="25400">
              <a:solidFill>
                <a:srgbClr val="000000"/>
              </a:solidFill>
              <a:miter lim="800000"/>
              <a:headEnd/>
              <a:tailEnd/>
            </a:ln>
            <a:effectLst>
              <a:outerShdw dist="107763" dir="2700000" algn="ctr" rotWithShape="0">
                <a:srgbClr val="000000">
                  <a:alpha val="50000"/>
                </a:srgbClr>
              </a:outerShdw>
            </a:effectLst>
          </p:spPr>
          <p:txBody>
            <a:bodyPr lIns="92075" tIns="46038" rIns="92075" bIns="46038">
              <a:spAutoFit/>
            </a:bodyPr>
            <a:lstStyle>
              <a:lvl1pPr>
                <a:spcBef>
                  <a:spcPct val="20000"/>
                </a:spcBef>
                <a:buChar char="•"/>
                <a:tabLst>
                  <a:tab pos="1143000" algn="l"/>
                </a:tabLst>
                <a:defRPr sz="2800">
                  <a:solidFill>
                    <a:schemeClr val="tx1"/>
                  </a:solidFill>
                  <a:latin typeface="Arial" panose="020B0604020202020204" pitchFamily="34" charset="0"/>
                </a:defRPr>
              </a:lvl1pPr>
              <a:lvl2pPr marL="742950" indent="-285750">
                <a:spcBef>
                  <a:spcPct val="20000"/>
                </a:spcBef>
                <a:buChar char="–"/>
                <a:tabLst>
                  <a:tab pos="1143000" algn="l"/>
                </a:tabLst>
                <a:defRPr sz="2400">
                  <a:solidFill>
                    <a:schemeClr val="tx1"/>
                  </a:solidFill>
                  <a:latin typeface="Arial" panose="020B0604020202020204" pitchFamily="34" charset="0"/>
                </a:defRPr>
              </a:lvl2pPr>
              <a:lvl3pPr marL="1143000" indent="-228600">
                <a:spcBef>
                  <a:spcPct val="20000"/>
                </a:spcBef>
                <a:buChar char="•"/>
                <a:tabLst>
                  <a:tab pos="1143000" algn="l"/>
                </a:tabLst>
                <a:defRPr sz="2000">
                  <a:solidFill>
                    <a:schemeClr val="tx1"/>
                  </a:solidFill>
                  <a:latin typeface="Arial" panose="020B0604020202020204" pitchFamily="34" charset="0"/>
                </a:defRPr>
              </a:lvl3pPr>
              <a:lvl4pPr marL="1600200" indent="-228600">
                <a:spcBef>
                  <a:spcPct val="20000"/>
                </a:spcBef>
                <a:buChar char="–"/>
                <a:tabLst>
                  <a:tab pos="1143000" algn="l"/>
                </a:tabLst>
                <a:defRPr sz="2000">
                  <a:solidFill>
                    <a:schemeClr val="tx1"/>
                  </a:solidFill>
                  <a:latin typeface="Arial" panose="020B0604020202020204" pitchFamily="34" charset="0"/>
                </a:defRPr>
              </a:lvl4pPr>
              <a:lvl5pPr marL="2057400" indent="-228600">
                <a:spcBef>
                  <a:spcPct val="20000"/>
                </a:spcBef>
                <a:buChar char="»"/>
                <a:tabLst>
                  <a:tab pos="11430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11430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11430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11430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1143000" algn="l"/>
                </a:tabLst>
                <a:defRPr sz="2000">
                  <a:solidFill>
                    <a:schemeClr val="tx1"/>
                  </a:solidFill>
                  <a:latin typeface="Arial" panose="020B0604020202020204" pitchFamily="34" charset="0"/>
                </a:defRPr>
              </a:lvl9pPr>
            </a:lstStyle>
            <a:p>
              <a:pPr>
                <a:lnSpc>
                  <a:spcPct val="95000"/>
                </a:lnSpc>
                <a:spcBef>
                  <a:spcPct val="0"/>
                </a:spcBef>
                <a:buFontTx/>
                <a:buNone/>
              </a:pPr>
              <a:r>
                <a:rPr lang="en-US" altLang="en-US" sz="1800" b="1">
                  <a:solidFill>
                    <a:srgbClr val="000000"/>
                  </a:solidFill>
                  <a:latin typeface="Courier New" panose="02070309020205020404" pitchFamily="49" charset="0"/>
                </a:rPr>
                <a:t> ORDID  ITEMID</a:t>
              </a:r>
            </a:p>
            <a:p>
              <a:pPr>
                <a:lnSpc>
                  <a:spcPct val="95000"/>
                </a:lnSpc>
                <a:spcBef>
                  <a:spcPct val="0"/>
                </a:spcBef>
                <a:buFontTx/>
                <a:buNone/>
              </a:pPr>
              <a:r>
                <a:rPr lang="en-US" altLang="en-US" sz="1800" b="1">
                  <a:solidFill>
                    <a:srgbClr val="000000"/>
                  </a:solidFill>
                  <a:latin typeface="Courier New" panose="02070309020205020404" pitchFamily="49" charset="0"/>
                </a:rPr>
                <a:t>------ -------</a:t>
              </a:r>
            </a:p>
            <a:p>
              <a:pPr>
                <a:lnSpc>
                  <a:spcPct val="95000"/>
                </a:lnSpc>
                <a:spcBef>
                  <a:spcPct val="0"/>
                </a:spcBef>
                <a:buFontTx/>
                <a:buNone/>
              </a:pPr>
              <a:r>
                <a:rPr lang="en-US" altLang="en-US" sz="1800" b="1">
                  <a:solidFill>
                    <a:srgbClr val="000000"/>
                  </a:solidFill>
                  <a:latin typeface="Courier New" panose="02070309020205020404" pitchFamily="49" charset="0"/>
                </a:rPr>
                <a:t>   610       3</a:t>
              </a:r>
            </a:p>
            <a:p>
              <a:pPr>
                <a:lnSpc>
                  <a:spcPct val="95000"/>
                </a:lnSpc>
                <a:spcBef>
                  <a:spcPct val="0"/>
                </a:spcBef>
                <a:buFontTx/>
                <a:buNone/>
              </a:pPr>
              <a:r>
                <a:rPr lang="en-US" altLang="en-US" sz="1800" b="1">
                  <a:solidFill>
                    <a:srgbClr val="000000"/>
                  </a:solidFill>
                  <a:latin typeface="Courier New" panose="02070309020205020404" pitchFamily="49" charset="0"/>
                </a:rPr>
                <a:t>   611       1</a:t>
              </a:r>
            </a:p>
            <a:p>
              <a:pPr>
                <a:lnSpc>
                  <a:spcPct val="95000"/>
                </a:lnSpc>
                <a:spcBef>
                  <a:spcPct val="0"/>
                </a:spcBef>
                <a:buFontTx/>
                <a:buNone/>
              </a:pPr>
              <a:r>
                <a:rPr lang="en-US" altLang="en-US" sz="1800" b="1">
                  <a:solidFill>
                    <a:srgbClr val="000000"/>
                  </a:solidFill>
                  <a:latin typeface="Courier New" panose="02070309020205020404" pitchFamily="49" charset="0"/>
                </a:rPr>
                <a:t>   612       1</a:t>
              </a:r>
            </a:p>
            <a:p>
              <a:pPr>
                <a:lnSpc>
                  <a:spcPct val="95000"/>
                </a:lnSpc>
                <a:spcBef>
                  <a:spcPct val="0"/>
                </a:spcBef>
                <a:buFontTx/>
                <a:buNone/>
              </a:pPr>
              <a:r>
                <a:rPr lang="en-US" altLang="en-US" sz="1800" b="1">
                  <a:solidFill>
                    <a:srgbClr val="000000"/>
                  </a:solidFill>
                  <a:latin typeface="Courier New" panose="02070309020205020404" pitchFamily="49" charset="0"/>
                </a:rPr>
                <a:t>   601       1</a:t>
              </a:r>
            </a:p>
            <a:p>
              <a:pPr>
                <a:lnSpc>
                  <a:spcPct val="95000"/>
                </a:lnSpc>
                <a:spcBef>
                  <a:spcPct val="0"/>
                </a:spcBef>
                <a:buFontTx/>
                <a:buNone/>
              </a:pPr>
              <a:r>
                <a:rPr lang="en-US" altLang="en-US" sz="1800" b="1">
                  <a:solidFill>
                    <a:srgbClr val="000000"/>
                  </a:solidFill>
                  <a:latin typeface="Courier New" panose="02070309020205020404" pitchFamily="49" charset="0"/>
                </a:rPr>
                <a:t>   602       1</a:t>
              </a:r>
            </a:p>
            <a:p>
              <a:pPr>
                <a:lnSpc>
                  <a:spcPct val="95000"/>
                </a:lnSpc>
                <a:spcBef>
                  <a:spcPct val="0"/>
                </a:spcBef>
                <a:buFontTx/>
                <a:buNone/>
              </a:pPr>
              <a:r>
                <a:rPr lang="en-US" altLang="en-US" sz="1800" b="1">
                  <a:solidFill>
                    <a:srgbClr val="000000"/>
                  </a:solidFill>
                  <a:latin typeface="Courier New" panose="02070309020205020404" pitchFamily="49" charset="0"/>
                </a:rPr>
                <a:t>...</a:t>
              </a:r>
            </a:p>
            <a:p>
              <a:pPr>
                <a:lnSpc>
                  <a:spcPct val="95000"/>
                </a:lnSpc>
                <a:spcBef>
                  <a:spcPct val="0"/>
                </a:spcBef>
                <a:buFontTx/>
                <a:buNone/>
              </a:pPr>
              <a:r>
                <a:rPr lang="en-US" altLang="en-US" sz="1800" b="1">
                  <a:solidFill>
                    <a:srgbClr val="000000"/>
                  </a:solidFill>
                  <a:latin typeface="Courier New" panose="02070309020205020404" pitchFamily="49" charset="0"/>
                </a:rPr>
                <a:t>64 rows selected.     </a:t>
              </a:r>
            </a:p>
          </p:txBody>
        </p:sp>
        <p:sp>
          <p:nvSpPr>
            <p:cNvPr id="17" name="Rectangle 11">
              <a:extLst>
                <a:ext uri="{FF2B5EF4-FFF2-40B4-BE49-F238E27FC236}">
                  <a16:creationId xmlns:a16="http://schemas.microsoft.com/office/drawing/2014/main" id="{D0BB19EB-4046-6A0B-874E-34429359A378}"/>
                </a:ext>
              </a:extLst>
            </p:cNvPr>
            <p:cNvSpPr>
              <a:spLocks noChangeArrowheads="1"/>
            </p:cNvSpPr>
            <p:nvPr/>
          </p:nvSpPr>
          <p:spPr bwMode="auto">
            <a:xfrm>
              <a:off x="4738" y="2011"/>
              <a:ext cx="541" cy="252"/>
            </a:xfrm>
            <a:prstGeom prst="rect">
              <a:avLst/>
            </a:prstGeom>
            <a:noFill/>
            <a:ln w="9525">
              <a:noFill/>
              <a:miter lim="800000"/>
              <a:headEnd/>
              <a:tailEnd/>
            </a:ln>
            <a:effectLst/>
          </p:spPr>
          <p:txBody>
            <a:bodyPr wrap="none" lIns="92075" tIns="46038" rIns="92075" bIns="46038">
              <a:spAutoFit/>
            </a:bodyPr>
            <a:lstStyle/>
            <a:p>
              <a:pPr>
                <a:defRPr/>
              </a:pPr>
              <a:r>
                <a:rPr lang="en-US" sz="2000" b="1" dirty="0">
                  <a:solidFill>
                    <a:srgbClr val="0000CC"/>
                  </a:solidFill>
                  <a:effectLst>
                    <a:outerShdw blurRad="38100" dist="38100" dir="2700000" algn="tl">
                      <a:srgbClr val="FFFFFF"/>
                    </a:outerShdw>
                  </a:effectLst>
                  <a:latin typeface="Cambria" panose="02040503050406030204" pitchFamily="18" charset="0"/>
                  <a:ea typeface="Cambria" panose="02040503050406030204" pitchFamily="18" charset="0"/>
                </a:rPr>
                <a:t>ITEM </a:t>
              </a:r>
            </a:p>
          </p:txBody>
        </p:sp>
      </p:grpSp>
      <p:grpSp>
        <p:nvGrpSpPr>
          <p:cNvPr id="18" name="Group 12">
            <a:extLst>
              <a:ext uri="{FF2B5EF4-FFF2-40B4-BE49-F238E27FC236}">
                <a16:creationId xmlns:a16="http://schemas.microsoft.com/office/drawing/2014/main" id="{3FEF858C-0F95-9BA7-F5B7-613461C0C9E1}"/>
              </a:ext>
            </a:extLst>
          </p:cNvPr>
          <p:cNvGrpSpPr>
            <a:grpSpLocks/>
          </p:cNvGrpSpPr>
          <p:nvPr/>
        </p:nvGrpSpPr>
        <p:grpSpPr bwMode="auto">
          <a:xfrm>
            <a:off x="5775325" y="1225650"/>
            <a:ext cx="965200" cy="4051300"/>
            <a:chOff x="3638" y="1035"/>
            <a:chExt cx="608" cy="2552"/>
          </a:xfrm>
        </p:grpSpPr>
        <p:sp>
          <p:nvSpPr>
            <p:cNvPr id="19" name="Rectangle 13">
              <a:extLst>
                <a:ext uri="{FF2B5EF4-FFF2-40B4-BE49-F238E27FC236}">
                  <a16:creationId xmlns:a16="http://schemas.microsoft.com/office/drawing/2014/main" id="{018B8A55-DFC5-DC77-9B55-D73530780D03}"/>
                </a:ext>
              </a:extLst>
            </p:cNvPr>
            <p:cNvSpPr>
              <a:spLocks noChangeArrowheads="1"/>
            </p:cNvSpPr>
            <p:nvPr/>
          </p:nvSpPr>
          <p:spPr bwMode="ltGray">
            <a:xfrm>
              <a:off x="3647" y="1035"/>
              <a:ext cx="576" cy="1198"/>
            </a:xfrm>
            <a:prstGeom prst="rect">
              <a:avLst/>
            </a:prstGeom>
            <a:solidFill>
              <a:srgbClr val="0099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sp>
          <p:nvSpPr>
            <p:cNvPr id="21" name="Rectangle 14">
              <a:extLst>
                <a:ext uri="{FF2B5EF4-FFF2-40B4-BE49-F238E27FC236}">
                  <a16:creationId xmlns:a16="http://schemas.microsoft.com/office/drawing/2014/main" id="{CD68678F-8EE0-234B-2BC9-225D9A68709B}"/>
                </a:ext>
              </a:extLst>
            </p:cNvPr>
            <p:cNvSpPr>
              <a:spLocks noChangeArrowheads="1"/>
            </p:cNvSpPr>
            <p:nvPr/>
          </p:nvSpPr>
          <p:spPr bwMode="ltGray">
            <a:xfrm>
              <a:off x="3638" y="2262"/>
              <a:ext cx="608" cy="1325"/>
            </a:xfrm>
            <a:prstGeom prst="rect">
              <a:avLst/>
            </a:prstGeom>
            <a:solidFill>
              <a:srgbClr val="009900">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p>
          </p:txBody>
        </p:sp>
      </p:grpSp>
      <p:sp>
        <p:nvSpPr>
          <p:cNvPr id="23" name="Rectangle 3">
            <a:extLst>
              <a:ext uri="{FF2B5EF4-FFF2-40B4-BE49-F238E27FC236}">
                <a16:creationId xmlns:a16="http://schemas.microsoft.com/office/drawing/2014/main" id="{23FBC8A9-8B89-AF5E-7015-E894FC80BB2A}"/>
              </a:ext>
            </a:extLst>
          </p:cNvPr>
          <p:cNvSpPr txBox="1">
            <a:spLocks noChangeArrowheads="1"/>
          </p:cNvSpPr>
          <p:nvPr/>
        </p:nvSpPr>
        <p:spPr bwMode="auto">
          <a:xfrm>
            <a:off x="554518" y="4437112"/>
            <a:ext cx="4941118" cy="1221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gn="just"/>
            <a:r>
              <a:rPr lang="en-US" altLang="en-US" sz="2400" dirty="0">
                <a:latin typeface="Cambria" panose="02040503050406030204" pitchFamily="18" charset="0"/>
                <a:ea typeface="Cambria" panose="02040503050406030204" pitchFamily="18" charset="0"/>
              </a:rPr>
              <a:t>To join </a:t>
            </a:r>
            <a:r>
              <a:rPr lang="en-US" altLang="en-US" sz="2400" dirty="0">
                <a:solidFill>
                  <a:srgbClr val="FF0000"/>
                </a:solidFill>
                <a:latin typeface="Cambria" panose="02040503050406030204" pitchFamily="18" charset="0"/>
                <a:ea typeface="Cambria" panose="02040503050406030204" pitchFamily="18" charset="0"/>
              </a:rPr>
              <a:t>n</a:t>
            </a:r>
            <a:r>
              <a:rPr lang="en-US" altLang="en-US" sz="2400" dirty="0">
                <a:latin typeface="Cambria" panose="02040503050406030204" pitchFamily="18" charset="0"/>
                <a:ea typeface="Cambria" panose="02040503050406030204" pitchFamily="18" charset="0"/>
              </a:rPr>
              <a:t> tables together, a minimum of </a:t>
            </a:r>
            <a:r>
              <a:rPr lang="en-US" altLang="en-US" sz="2400" dirty="0">
                <a:solidFill>
                  <a:srgbClr val="FF0000"/>
                </a:solidFill>
                <a:latin typeface="Cambria" panose="02040503050406030204" pitchFamily="18" charset="0"/>
                <a:ea typeface="Cambria" panose="02040503050406030204" pitchFamily="18" charset="0"/>
              </a:rPr>
              <a:t>n-1</a:t>
            </a:r>
            <a:r>
              <a:rPr lang="en-US" altLang="en-US" sz="2400" dirty="0">
                <a:latin typeface="Cambria" panose="02040503050406030204" pitchFamily="18" charset="0"/>
                <a:ea typeface="Cambria" panose="02040503050406030204" pitchFamily="18" charset="0"/>
              </a:rPr>
              <a:t> join conditions are required. </a:t>
            </a: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a:p>
            <a:pPr marL="285750" marR="0" lvl="0" indent="-285750" algn="just" defTabSz="914400" rtl="0" eaLnBrk="0" fontAlgn="base" latinLnBrk="0" hangingPunct="0">
              <a:lnSpc>
                <a:spcPct val="100000"/>
              </a:lnSpc>
              <a:spcBef>
                <a:spcPts val="575"/>
              </a:spcBef>
              <a:spcAft>
                <a:spcPct val="0"/>
              </a:spcAft>
              <a:buClr>
                <a:srgbClr val="D34817"/>
              </a:buClr>
              <a:buSzPct val="50000"/>
              <a:buFont typeface="Wingdings" panose="05000000000000000000" pitchFamily="2" charset="2"/>
              <a:buChar char="l"/>
              <a:tabLst/>
              <a:defRPr/>
            </a:pPr>
            <a:endParaRPr kumimoji="0" lang="en-US" altLang="en-US" sz="2400" b="0" i="0" u="none" strike="noStrike" kern="1200" cap="none" spc="0" normalizeH="0" baseline="0" noProof="0" dirty="0">
              <a:ln>
                <a:noFill/>
              </a:ln>
              <a:solidFill>
                <a:srgbClr val="0000CC"/>
              </a:solidFill>
              <a:uLnTx/>
              <a:uFillTx/>
              <a:latin typeface="Cambria" panose="02040503050406030204" pitchFamily="18" charset="0"/>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13078800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up)">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1CD40-1A1C-A2BA-CAC3-F83C0131238F}"/>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47709569-390D-3C0C-6F21-768EA309F0F2}"/>
              </a:ext>
            </a:extLst>
          </p:cNvPr>
          <p:cNvSpPr>
            <a:spLocks noGrp="1" noChangeArrowheads="1"/>
          </p:cNvSpPr>
          <p:nvPr>
            <p:ph type="title"/>
          </p:nvPr>
        </p:nvSpPr>
        <p:spPr>
          <a:xfrm>
            <a:off x="425450" y="23130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Joining More Than Two Tables</a:t>
            </a:r>
          </a:p>
        </p:txBody>
      </p:sp>
      <p:sp>
        <p:nvSpPr>
          <p:cNvPr id="38915" name="Rectangle 3">
            <a:extLst>
              <a:ext uri="{FF2B5EF4-FFF2-40B4-BE49-F238E27FC236}">
                <a16:creationId xmlns:a16="http://schemas.microsoft.com/office/drawing/2014/main" id="{C7C33F88-1724-24D5-8A26-AF28B9E05D0D}"/>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5CEF0826-D530-8C65-B775-46B0E9485108}"/>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D8494FE6-76C8-0C5D-CA2D-A92BF47352B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graphicFrame>
        <p:nvGraphicFramePr>
          <p:cNvPr id="4" name="Table 3">
            <a:extLst>
              <a:ext uri="{FF2B5EF4-FFF2-40B4-BE49-F238E27FC236}">
                <a16:creationId xmlns:a16="http://schemas.microsoft.com/office/drawing/2014/main" id="{4C44D160-9C69-B750-D73D-067C85B91109}"/>
              </a:ext>
            </a:extLst>
          </p:cNvPr>
          <p:cNvGraphicFramePr>
            <a:graphicFrameLocks noGrp="1"/>
          </p:cNvGraphicFramePr>
          <p:nvPr>
            <p:extLst>
              <p:ext uri="{D42A27DB-BD31-4B8C-83A1-F6EECF244321}">
                <p14:modId xmlns:p14="http://schemas.microsoft.com/office/powerpoint/2010/main" val="1662965832"/>
              </p:ext>
            </p:extLst>
          </p:nvPr>
        </p:nvGraphicFramePr>
        <p:xfrm>
          <a:off x="792162" y="909490"/>
          <a:ext cx="7559675" cy="4007988"/>
        </p:xfrm>
        <a:graphic>
          <a:graphicData uri="http://schemas.openxmlformats.org/drawingml/2006/table">
            <a:tbl>
              <a:tblPr firstRow="1" bandRow="1">
                <a:tableStyleId>{5C22544A-7EE6-4342-B048-85BDC9FD1C3A}</a:tableStyleId>
              </a:tblPr>
              <a:tblGrid>
                <a:gridCol w="7559675">
                  <a:extLst>
                    <a:ext uri="{9D8B030D-6E8A-4147-A177-3AD203B41FA5}">
                      <a16:colId xmlns:a16="http://schemas.microsoft.com/office/drawing/2014/main" val="20000"/>
                    </a:ext>
                  </a:extLst>
                </a:gridCol>
              </a:tblGrid>
              <a:tr h="1539092">
                <a:tc>
                  <a:txBody>
                    <a:bodyPr/>
                    <a:lstStyle/>
                    <a:p>
                      <a:pPr marL="119063" lvl="1" indent="0">
                        <a:spcBef>
                          <a:spcPts val="600"/>
                        </a:spcBef>
                        <a:defRPr/>
                      </a:pPr>
                      <a:r>
                        <a:rPr lang="en-US" sz="2400" b="0" dirty="0">
                          <a:solidFill>
                            <a:srgbClr val="0000CC"/>
                          </a:solidFill>
                          <a:latin typeface="Cambria" panose="02040503050406030204" pitchFamily="18" charset="0"/>
                          <a:ea typeface="Cambria" panose="02040503050406030204" pitchFamily="18" charset="0"/>
                        </a:rPr>
                        <a:t>SELECT</a:t>
                      </a:r>
                      <a:r>
                        <a:rPr lang="en-US" sz="2400" b="0" dirty="0">
                          <a:solidFill>
                            <a:schemeClr val="tx1"/>
                          </a:solidFill>
                          <a:latin typeface="Cambria" panose="02040503050406030204" pitchFamily="18" charset="0"/>
                          <a:ea typeface="Cambria" panose="02040503050406030204" pitchFamily="18" charset="0"/>
                        </a:rPr>
                        <a:t> col1, col2, ….</a:t>
                      </a:r>
                    </a:p>
                    <a:p>
                      <a:pPr marL="119063" lvl="1" indent="0">
                        <a:spcBef>
                          <a:spcPts val="600"/>
                        </a:spcBef>
                        <a:buNone/>
                        <a:defRPr/>
                      </a:pPr>
                      <a:r>
                        <a:rPr lang="en-US" sz="2400" b="0" dirty="0">
                          <a:solidFill>
                            <a:srgbClr val="0000CC"/>
                          </a:solidFill>
                          <a:latin typeface="Cambria" panose="02040503050406030204" pitchFamily="18" charset="0"/>
                          <a:ea typeface="Cambria" panose="02040503050406030204" pitchFamily="18" charset="0"/>
                        </a:rPr>
                        <a:t>FROM</a:t>
                      </a:r>
                      <a:r>
                        <a:rPr lang="en-US" sz="2400" b="0" dirty="0">
                          <a:solidFill>
                            <a:schemeClr val="tx1"/>
                          </a:solidFill>
                          <a:latin typeface="Cambria" panose="02040503050406030204" pitchFamily="18" charset="0"/>
                          <a:ea typeface="Cambria" panose="02040503050406030204" pitchFamily="18" charset="0"/>
                        </a:rPr>
                        <a:t> table-1, table-2, …, table-n</a:t>
                      </a:r>
                    </a:p>
                    <a:p>
                      <a:pPr marL="119063" lvl="1" indent="0">
                        <a:spcBef>
                          <a:spcPts val="600"/>
                        </a:spcBef>
                        <a:buNone/>
                        <a:defRPr/>
                      </a:pPr>
                      <a:r>
                        <a:rPr lang="en-US" sz="2400" b="0" dirty="0">
                          <a:solidFill>
                            <a:srgbClr val="0000CC"/>
                          </a:solidFill>
                          <a:latin typeface="Cambria" panose="02040503050406030204" pitchFamily="18" charset="0"/>
                          <a:ea typeface="Cambria" panose="02040503050406030204" pitchFamily="18" charset="0"/>
                        </a:rPr>
                        <a:t>WHERE</a:t>
                      </a:r>
                      <a:r>
                        <a:rPr lang="en-US" sz="2400" b="0" dirty="0">
                          <a:solidFill>
                            <a:schemeClr val="tx1"/>
                          </a:solidFill>
                          <a:latin typeface="Cambria" panose="02040503050406030204" pitchFamily="18" charset="0"/>
                          <a:ea typeface="Cambria" panose="02040503050406030204" pitchFamily="18" charset="0"/>
                        </a:rPr>
                        <a:t> </a:t>
                      </a:r>
                      <a:r>
                        <a:rPr lang="en-US" sz="2400" b="0" dirty="0">
                          <a:solidFill>
                            <a:srgbClr val="FF0000"/>
                          </a:solidFill>
                          <a:latin typeface="Cambria" panose="02040503050406030204" pitchFamily="18" charset="0"/>
                          <a:ea typeface="Cambria" panose="02040503050406030204" pitchFamily="18" charset="0"/>
                        </a:rPr>
                        <a:t>table-1.JoinCol = table-2. </a:t>
                      </a:r>
                      <a:r>
                        <a:rPr lang="en-US" sz="2400" b="0" dirty="0" err="1">
                          <a:solidFill>
                            <a:srgbClr val="FF0000"/>
                          </a:solidFill>
                          <a:latin typeface="Cambria" panose="02040503050406030204" pitchFamily="18" charset="0"/>
                          <a:ea typeface="Cambria" panose="02040503050406030204" pitchFamily="18" charset="0"/>
                        </a:rPr>
                        <a:t>JoinCol</a:t>
                      </a:r>
                      <a:r>
                        <a:rPr lang="en-US" sz="2400" b="0" dirty="0">
                          <a:solidFill>
                            <a:srgbClr val="FF0000"/>
                          </a:solidFill>
                          <a:latin typeface="Cambria" panose="02040503050406030204" pitchFamily="18" charset="0"/>
                          <a:ea typeface="Cambria" panose="02040503050406030204" pitchFamily="18" charset="0"/>
                        </a:rPr>
                        <a:t> AND</a:t>
                      </a:r>
                    </a:p>
                    <a:p>
                      <a:pPr marL="119063" lvl="1" indent="0">
                        <a:spcBef>
                          <a:spcPts val="600"/>
                        </a:spcBef>
                        <a:buNone/>
                        <a:defRPr/>
                      </a:pPr>
                      <a:r>
                        <a:rPr lang="en-US" sz="2400" b="0" dirty="0">
                          <a:solidFill>
                            <a:srgbClr val="FF0000"/>
                          </a:solidFill>
                          <a:latin typeface="Cambria" panose="02040503050406030204" pitchFamily="18" charset="0"/>
                          <a:ea typeface="Cambria" panose="02040503050406030204" pitchFamily="18" charset="0"/>
                        </a:rPr>
                        <a:t>	</a:t>
                      </a:r>
                      <a:r>
                        <a:rPr lang="en-US" sz="2400" b="0" baseline="0" dirty="0">
                          <a:solidFill>
                            <a:srgbClr val="FF0000"/>
                          </a:solidFill>
                          <a:latin typeface="Cambria" panose="02040503050406030204" pitchFamily="18" charset="0"/>
                          <a:ea typeface="Cambria" panose="02040503050406030204" pitchFamily="18" charset="0"/>
                        </a:rPr>
                        <a:t>     </a:t>
                      </a:r>
                      <a:r>
                        <a:rPr lang="en-US" sz="2400" b="0" dirty="0">
                          <a:solidFill>
                            <a:srgbClr val="FF0000"/>
                          </a:solidFill>
                          <a:latin typeface="Cambria" panose="02040503050406030204" pitchFamily="18" charset="0"/>
                          <a:ea typeface="Cambria" panose="02040503050406030204" pitchFamily="18" charset="0"/>
                        </a:rPr>
                        <a:t>table-1.JoinCol = table-3. </a:t>
                      </a:r>
                      <a:r>
                        <a:rPr lang="en-US" sz="2400" b="0" dirty="0" err="1">
                          <a:solidFill>
                            <a:srgbClr val="FF0000"/>
                          </a:solidFill>
                          <a:latin typeface="Cambria" panose="02040503050406030204" pitchFamily="18" charset="0"/>
                          <a:ea typeface="Cambria" panose="02040503050406030204" pitchFamily="18" charset="0"/>
                        </a:rPr>
                        <a:t>JoinCol</a:t>
                      </a:r>
                      <a:r>
                        <a:rPr lang="en-US" sz="2400" b="0" dirty="0">
                          <a:solidFill>
                            <a:srgbClr val="FF0000"/>
                          </a:solidFill>
                          <a:latin typeface="Cambria" panose="02040503050406030204" pitchFamily="18" charset="0"/>
                          <a:ea typeface="Cambria" panose="02040503050406030204" pitchFamily="18" charset="0"/>
                        </a:rPr>
                        <a:t> AND …</a:t>
                      </a:r>
                    </a:p>
                  </a:txBody>
                  <a:tcPr marL="91426" marR="91426" marT="45687" marB="45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920071">
                <a:tc>
                  <a:txBody>
                    <a:bodyPr/>
                    <a:lstStyle/>
                    <a:p>
                      <a:pPr marL="119063" lvl="1" indent="0">
                        <a:spcBef>
                          <a:spcPts val="600"/>
                        </a:spcBef>
                        <a:defRPr/>
                      </a:pPr>
                      <a:r>
                        <a:rPr lang="en-US" sz="2400" b="0" dirty="0">
                          <a:solidFill>
                            <a:srgbClr val="0000CC"/>
                          </a:solidFill>
                          <a:latin typeface="Cambria" panose="02040503050406030204" pitchFamily="18" charset="0"/>
                          <a:ea typeface="Cambria" panose="02040503050406030204" pitchFamily="18" charset="0"/>
                        </a:rPr>
                        <a:t>SELECT</a:t>
                      </a:r>
                      <a:r>
                        <a:rPr lang="en-US" sz="2400" b="0" dirty="0">
                          <a:solidFill>
                            <a:schemeClr val="tx1"/>
                          </a:solidFill>
                          <a:latin typeface="Cambria" panose="02040503050406030204" pitchFamily="18" charset="0"/>
                          <a:ea typeface="Cambria" panose="02040503050406030204" pitchFamily="18" charset="0"/>
                        </a:rPr>
                        <a:t> col1, col2, ….</a:t>
                      </a:r>
                    </a:p>
                    <a:p>
                      <a:pPr marL="119063" lvl="1" indent="0">
                        <a:spcBef>
                          <a:spcPts val="600"/>
                        </a:spcBef>
                        <a:buNone/>
                        <a:defRPr/>
                      </a:pPr>
                      <a:r>
                        <a:rPr lang="en-US" sz="2400" b="0" dirty="0">
                          <a:solidFill>
                            <a:srgbClr val="0000CC"/>
                          </a:solidFill>
                          <a:latin typeface="Cambria" panose="02040503050406030204" pitchFamily="18" charset="0"/>
                          <a:ea typeface="Cambria" panose="02040503050406030204" pitchFamily="18" charset="0"/>
                        </a:rPr>
                        <a:t>FROM</a:t>
                      </a:r>
                      <a:r>
                        <a:rPr lang="en-US" sz="2400" b="0" dirty="0">
                          <a:solidFill>
                            <a:schemeClr val="tx1"/>
                          </a:solidFill>
                          <a:latin typeface="Cambria" panose="02040503050406030204" pitchFamily="18" charset="0"/>
                          <a:ea typeface="Cambria" panose="02040503050406030204" pitchFamily="18" charset="0"/>
                        </a:rPr>
                        <a:t> table-1 </a:t>
                      </a:r>
                      <a:r>
                        <a:rPr lang="en-US" sz="2400" b="0" dirty="0">
                          <a:solidFill>
                            <a:srgbClr val="FF0000"/>
                          </a:solidFill>
                          <a:latin typeface="Cambria" panose="02040503050406030204" pitchFamily="18" charset="0"/>
                          <a:ea typeface="Cambria" panose="02040503050406030204" pitchFamily="18" charset="0"/>
                        </a:rPr>
                        <a:t>[INNER</a:t>
                      </a:r>
                      <a:r>
                        <a:rPr lang="en-US" sz="2400" b="0" baseline="0" dirty="0">
                          <a:solidFill>
                            <a:srgbClr val="FF0000"/>
                          </a:solidFill>
                          <a:latin typeface="Cambria" panose="02040503050406030204" pitchFamily="18" charset="0"/>
                          <a:ea typeface="Cambria" panose="02040503050406030204" pitchFamily="18" charset="0"/>
                        </a:rPr>
                        <a:t> | EQUI | LEFT | RIGHT]</a:t>
                      </a:r>
                      <a:r>
                        <a:rPr lang="en-US" sz="2400" b="0" baseline="0" dirty="0">
                          <a:solidFill>
                            <a:schemeClr val="tx1"/>
                          </a:solidFill>
                          <a:latin typeface="Cambria" panose="02040503050406030204" pitchFamily="18" charset="0"/>
                          <a:ea typeface="Cambria" panose="02040503050406030204" pitchFamily="18" charset="0"/>
                        </a:rPr>
                        <a:t> </a:t>
                      </a:r>
                    </a:p>
                    <a:p>
                      <a:pPr marL="119063" lvl="1" indent="0">
                        <a:spcBef>
                          <a:spcPts val="600"/>
                        </a:spcBef>
                        <a:buNone/>
                        <a:defRPr/>
                      </a:pPr>
                      <a:r>
                        <a:rPr lang="en-US" sz="2400" b="0" baseline="0" dirty="0">
                          <a:solidFill>
                            <a:srgbClr val="0000CC"/>
                          </a:solidFill>
                          <a:latin typeface="Cambria" panose="02040503050406030204" pitchFamily="18" charset="0"/>
                          <a:ea typeface="Cambria" panose="02040503050406030204" pitchFamily="18" charset="0"/>
                        </a:rPr>
                        <a:t>JOIN</a:t>
                      </a:r>
                      <a:r>
                        <a:rPr lang="en-US" sz="2400" b="0" dirty="0">
                          <a:solidFill>
                            <a:schemeClr val="tx1"/>
                          </a:solidFill>
                          <a:latin typeface="Cambria" panose="02040503050406030204" pitchFamily="18" charset="0"/>
                          <a:ea typeface="Cambria" panose="02040503050406030204" pitchFamily="18" charset="0"/>
                        </a:rPr>
                        <a:t> table-2 ON table-1.Join_Col = table-2. </a:t>
                      </a:r>
                      <a:r>
                        <a:rPr lang="en-US" sz="2400" b="0" dirty="0" err="1">
                          <a:solidFill>
                            <a:schemeClr val="tx1"/>
                          </a:solidFill>
                          <a:latin typeface="Cambria" panose="02040503050406030204" pitchFamily="18" charset="0"/>
                          <a:ea typeface="Cambria" panose="02040503050406030204" pitchFamily="18" charset="0"/>
                        </a:rPr>
                        <a:t>Join_Col</a:t>
                      </a:r>
                      <a:endParaRPr lang="en-US" sz="2400" b="0" baseline="0" dirty="0">
                        <a:solidFill>
                          <a:schemeClr val="tx1"/>
                        </a:solidFill>
                        <a:latin typeface="Cambria" panose="02040503050406030204" pitchFamily="18" charset="0"/>
                        <a:ea typeface="Cambria" panose="02040503050406030204" pitchFamily="18" charset="0"/>
                      </a:endParaRPr>
                    </a:p>
                    <a:p>
                      <a:pPr marL="119063" marR="0" lvl="1" indent="0" algn="l" defTabSz="914400" rtl="0" eaLnBrk="1" fontAlgn="auto" latinLnBrk="0" hangingPunct="1">
                        <a:lnSpc>
                          <a:spcPct val="100000"/>
                        </a:lnSpc>
                        <a:spcBef>
                          <a:spcPts val="600"/>
                        </a:spcBef>
                        <a:spcAft>
                          <a:spcPts val="0"/>
                        </a:spcAft>
                        <a:buClrTx/>
                        <a:buSzTx/>
                        <a:buFontTx/>
                        <a:buNone/>
                        <a:tabLst/>
                        <a:defRPr/>
                      </a:pPr>
                      <a:r>
                        <a:rPr lang="en-US" sz="2400" b="0" baseline="0" dirty="0">
                          <a:solidFill>
                            <a:srgbClr val="0000CC"/>
                          </a:solidFill>
                          <a:latin typeface="Cambria" panose="02040503050406030204" pitchFamily="18" charset="0"/>
                          <a:ea typeface="Cambria" panose="02040503050406030204" pitchFamily="18" charset="0"/>
                        </a:rPr>
                        <a:t>JOIN</a:t>
                      </a:r>
                      <a:r>
                        <a:rPr lang="en-US" sz="2400" b="0" dirty="0">
                          <a:solidFill>
                            <a:schemeClr val="tx1"/>
                          </a:solidFill>
                          <a:latin typeface="Cambria" panose="02040503050406030204" pitchFamily="18" charset="0"/>
                          <a:ea typeface="Cambria" panose="02040503050406030204" pitchFamily="18" charset="0"/>
                        </a:rPr>
                        <a:t> table-3 ON table-1.Join_Col = table-3. </a:t>
                      </a:r>
                      <a:r>
                        <a:rPr lang="en-US" sz="2400" b="0" dirty="0" err="1">
                          <a:solidFill>
                            <a:schemeClr val="tx1"/>
                          </a:solidFill>
                          <a:latin typeface="Cambria" panose="02040503050406030204" pitchFamily="18" charset="0"/>
                          <a:ea typeface="Cambria" panose="02040503050406030204" pitchFamily="18" charset="0"/>
                        </a:rPr>
                        <a:t>Join_Col</a:t>
                      </a:r>
                      <a:endParaRPr lang="en-US" sz="2400" b="0" baseline="0" dirty="0">
                        <a:solidFill>
                          <a:schemeClr val="tx1"/>
                        </a:solidFill>
                        <a:latin typeface="Cambria" panose="02040503050406030204" pitchFamily="18" charset="0"/>
                        <a:ea typeface="Cambria" panose="02040503050406030204" pitchFamily="18" charset="0"/>
                      </a:endParaRPr>
                    </a:p>
                    <a:p>
                      <a:pPr marL="119063" marR="0" lvl="1" indent="0" algn="l" defTabSz="914400" rtl="0" eaLnBrk="1" fontAlgn="auto" latinLnBrk="0" hangingPunct="1">
                        <a:lnSpc>
                          <a:spcPct val="100000"/>
                        </a:lnSpc>
                        <a:spcBef>
                          <a:spcPts val="600"/>
                        </a:spcBef>
                        <a:spcAft>
                          <a:spcPts val="0"/>
                        </a:spcAft>
                        <a:buClrTx/>
                        <a:buSzTx/>
                        <a:buFontTx/>
                        <a:buNone/>
                        <a:tabLst/>
                        <a:defRPr/>
                      </a:pPr>
                      <a:r>
                        <a:rPr lang="en-US" sz="2400" b="0" baseline="0" dirty="0">
                          <a:solidFill>
                            <a:srgbClr val="FF0000"/>
                          </a:solidFill>
                          <a:latin typeface="Cambria" panose="02040503050406030204" pitchFamily="18" charset="0"/>
                          <a:ea typeface="Cambria" panose="02040503050406030204" pitchFamily="18" charset="0"/>
                        </a:rPr>
                        <a:t>[WHERE clause]</a:t>
                      </a:r>
                      <a:endParaRPr lang="en-US" sz="2400" b="0" dirty="0">
                        <a:solidFill>
                          <a:srgbClr val="FF0000"/>
                        </a:solidFill>
                        <a:latin typeface="Cambria" panose="02040503050406030204" pitchFamily="18" charset="0"/>
                        <a:ea typeface="Cambria" panose="02040503050406030204" pitchFamily="18" charset="0"/>
                      </a:endParaRPr>
                    </a:p>
                  </a:txBody>
                  <a:tcPr marL="91426" marR="91426" marT="45687" marB="4568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338461312"/>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16600-687D-CD80-B66F-98889C5CDD7B}"/>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599A81F5-3F84-345F-DED3-EA856AB748BA}"/>
              </a:ext>
            </a:extLst>
          </p:cNvPr>
          <p:cNvSpPr>
            <a:spLocks noGrp="1" noChangeArrowheads="1"/>
          </p:cNvSpPr>
          <p:nvPr>
            <p:ph type="title"/>
          </p:nvPr>
        </p:nvSpPr>
        <p:spPr>
          <a:xfrm>
            <a:off x="425450" y="23130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Joining More Than Two Tables</a:t>
            </a:r>
          </a:p>
        </p:txBody>
      </p:sp>
      <p:sp>
        <p:nvSpPr>
          <p:cNvPr id="38915" name="Rectangle 3">
            <a:extLst>
              <a:ext uri="{FF2B5EF4-FFF2-40B4-BE49-F238E27FC236}">
                <a16:creationId xmlns:a16="http://schemas.microsoft.com/office/drawing/2014/main" id="{2D73F8A2-8ED9-029A-C1E3-C60802B17E12}"/>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11F39670-C0D6-82E9-4CD9-1681EC2C51F0}"/>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6CFB9B82-84FD-14A0-0D1F-B5FCC9D8603C}"/>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graphicFrame>
        <p:nvGraphicFramePr>
          <p:cNvPr id="5" name="Table 4">
            <a:extLst>
              <a:ext uri="{FF2B5EF4-FFF2-40B4-BE49-F238E27FC236}">
                <a16:creationId xmlns:a16="http://schemas.microsoft.com/office/drawing/2014/main" id="{88F6BE67-3A0E-C197-D18A-120DCEC46FAF}"/>
              </a:ext>
            </a:extLst>
          </p:cNvPr>
          <p:cNvGraphicFramePr>
            <a:graphicFrameLocks noGrp="1"/>
          </p:cNvGraphicFramePr>
          <p:nvPr>
            <p:extLst>
              <p:ext uri="{D42A27DB-BD31-4B8C-83A1-F6EECF244321}">
                <p14:modId xmlns:p14="http://schemas.microsoft.com/office/powerpoint/2010/main" val="3368165807"/>
              </p:ext>
            </p:extLst>
          </p:nvPr>
        </p:nvGraphicFramePr>
        <p:xfrm>
          <a:off x="792162" y="836712"/>
          <a:ext cx="7559675" cy="5349030"/>
        </p:xfrm>
        <a:graphic>
          <a:graphicData uri="http://schemas.openxmlformats.org/drawingml/2006/table">
            <a:tbl>
              <a:tblPr firstRow="1" bandRow="1">
                <a:tableStyleId>{5C22544A-7EE6-4342-B048-85BDC9FD1C3A}</a:tableStyleId>
              </a:tblPr>
              <a:tblGrid>
                <a:gridCol w="7559675">
                  <a:extLst>
                    <a:ext uri="{9D8B030D-6E8A-4147-A177-3AD203B41FA5}">
                      <a16:colId xmlns:a16="http://schemas.microsoft.com/office/drawing/2014/main" val="20000"/>
                    </a:ext>
                  </a:extLst>
                </a:gridCol>
              </a:tblGrid>
              <a:tr h="1539082">
                <a:tc>
                  <a:txBody>
                    <a:bodyPr/>
                    <a:lstStyle/>
                    <a:p>
                      <a:pPr marL="119063" lvl="1" indent="0">
                        <a:spcBef>
                          <a:spcPts val="600"/>
                        </a:spcBef>
                        <a:defRPr/>
                      </a:pPr>
                      <a:r>
                        <a:rPr lang="en-US" sz="2400" b="0" dirty="0">
                          <a:solidFill>
                            <a:srgbClr val="0000CC"/>
                          </a:solidFill>
                          <a:latin typeface="Cambria" panose="02040503050406030204" pitchFamily="18" charset="0"/>
                          <a:ea typeface="Cambria" panose="02040503050406030204" pitchFamily="18" charset="0"/>
                        </a:rPr>
                        <a:t>SELECT</a:t>
                      </a:r>
                      <a:r>
                        <a:rPr lang="en-US" sz="2400" b="0" dirty="0">
                          <a:solidFill>
                            <a:schemeClr val="accent2"/>
                          </a:solidFill>
                          <a:latin typeface="Cambria" panose="02040503050406030204" pitchFamily="18" charset="0"/>
                          <a:ea typeface="Cambria" panose="02040503050406030204" pitchFamily="18" charset="0"/>
                        </a:rPr>
                        <a:t> </a:t>
                      </a:r>
                      <a:r>
                        <a:rPr lang="en-US" sz="2400" b="0" dirty="0">
                          <a:solidFill>
                            <a:schemeClr val="tx1"/>
                          </a:solidFill>
                          <a:latin typeface="Cambria" panose="02040503050406030204" pitchFamily="18" charset="0"/>
                          <a:ea typeface="Cambria" panose="02040503050406030204" pitchFamily="18" charset="0"/>
                        </a:rPr>
                        <a:t>NAME, </a:t>
                      </a:r>
                      <a:r>
                        <a:rPr lang="en-US" sz="2400" b="0" dirty="0">
                          <a:solidFill>
                            <a:srgbClr val="0000CC"/>
                          </a:solidFill>
                          <a:latin typeface="Cambria" panose="02040503050406030204" pitchFamily="18" charset="0"/>
                          <a:ea typeface="Cambria" panose="02040503050406030204" pitchFamily="18" charset="0"/>
                        </a:rPr>
                        <a:t>C.</a:t>
                      </a:r>
                      <a:r>
                        <a:rPr lang="en-US" sz="2400" b="0" dirty="0">
                          <a:solidFill>
                            <a:schemeClr val="tx1"/>
                          </a:solidFill>
                          <a:latin typeface="Cambria" panose="02040503050406030204" pitchFamily="18" charset="0"/>
                          <a:ea typeface="Cambria" panose="02040503050406030204" pitchFamily="18" charset="0"/>
                        </a:rPr>
                        <a:t>CUSTID, </a:t>
                      </a:r>
                      <a:r>
                        <a:rPr lang="en-US" sz="2400" b="0" dirty="0">
                          <a:solidFill>
                            <a:srgbClr val="0000CC"/>
                          </a:solidFill>
                          <a:latin typeface="Cambria" panose="02040503050406030204" pitchFamily="18" charset="0"/>
                          <a:ea typeface="Cambria" panose="02040503050406030204" pitchFamily="18" charset="0"/>
                        </a:rPr>
                        <a:t>O.</a:t>
                      </a:r>
                      <a:r>
                        <a:rPr lang="en-US" sz="2400" b="0" dirty="0">
                          <a:solidFill>
                            <a:schemeClr val="tx1"/>
                          </a:solidFill>
                          <a:latin typeface="Cambria" panose="02040503050406030204" pitchFamily="18" charset="0"/>
                          <a:ea typeface="Cambria" panose="02040503050406030204" pitchFamily="18" charset="0"/>
                        </a:rPr>
                        <a:t>ORDID, ITEMID</a:t>
                      </a:r>
                    </a:p>
                    <a:p>
                      <a:pPr marL="119063" lvl="1" indent="0">
                        <a:spcBef>
                          <a:spcPts val="600"/>
                        </a:spcBef>
                        <a:defRPr/>
                      </a:pPr>
                      <a:r>
                        <a:rPr lang="en-US" sz="2400" b="0" dirty="0">
                          <a:solidFill>
                            <a:srgbClr val="0000CC"/>
                          </a:solidFill>
                          <a:latin typeface="Cambria" panose="02040503050406030204" pitchFamily="18" charset="0"/>
                          <a:ea typeface="Cambria" panose="02040503050406030204" pitchFamily="18" charset="0"/>
                        </a:rPr>
                        <a:t>FROM</a:t>
                      </a:r>
                      <a:r>
                        <a:rPr lang="en-US" sz="2400" b="0" dirty="0">
                          <a:solidFill>
                            <a:schemeClr val="tx1"/>
                          </a:solidFill>
                          <a:latin typeface="Cambria" panose="02040503050406030204" pitchFamily="18" charset="0"/>
                          <a:ea typeface="Cambria" panose="02040503050406030204" pitchFamily="18" charset="0"/>
                        </a:rPr>
                        <a:t> CUSTOMER </a:t>
                      </a:r>
                      <a:r>
                        <a:rPr lang="en-US" sz="2400" b="0" dirty="0">
                          <a:solidFill>
                            <a:srgbClr val="0000CC"/>
                          </a:solidFill>
                          <a:latin typeface="Cambria" panose="02040503050406030204" pitchFamily="18" charset="0"/>
                          <a:ea typeface="Cambria" panose="02040503050406030204" pitchFamily="18" charset="0"/>
                        </a:rPr>
                        <a:t>C</a:t>
                      </a:r>
                      <a:r>
                        <a:rPr lang="en-US" sz="2400" b="0" dirty="0">
                          <a:solidFill>
                            <a:schemeClr val="tx1"/>
                          </a:solidFill>
                          <a:latin typeface="Cambria" panose="02040503050406030204" pitchFamily="18" charset="0"/>
                          <a:ea typeface="Cambria" panose="02040503050406030204" pitchFamily="18" charset="0"/>
                        </a:rPr>
                        <a:t>, ORD </a:t>
                      </a:r>
                      <a:r>
                        <a:rPr lang="en-US" sz="2400" b="0" dirty="0">
                          <a:solidFill>
                            <a:srgbClr val="0000CC"/>
                          </a:solidFill>
                          <a:latin typeface="Cambria" panose="02040503050406030204" pitchFamily="18" charset="0"/>
                          <a:ea typeface="Cambria" panose="02040503050406030204" pitchFamily="18" charset="0"/>
                        </a:rPr>
                        <a:t>O</a:t>
                      </a:r>
                      <a:r>
                        <a:rPr lang="en-US" sz="2400" b="0" dirty="0">
                          <a:solidFill>
                            <a:schemeClr val="tx1"/>
                          </a:solidFill>
                          <a:latin typeface="Cambria" panose="02040503050406030204" pitchFamily="18" charset="0"/>
                          <a:ea typeface="Cambria" panose="02040503050406030204" pitchFamily="18" charset="0"/>
                        </a:rPr>
                        <a:t>, ITEM </a:t>
                      </a:r>
                      <a:r>
                        <a:rPr lang="en-US" sz="2400" b="0" dirty="0">
                          <a:solidFill>
                            <a:srgbClr val="0000CC"/>
                          </a:solidFill>
                          <a:latin typeface="Cambria" panose="02040503050406030204" pitchFamily="18" charset="0"/>
                          <a:ea typeface="Cambria" panose="02040503050406030204" pitchFamily="18" charset="0"/>
                        </a:rPr>
                        <a:t>I</a:t>
                      </a:r>
                    </a:p>
                    <a:p>
                      <a:pPr marL="119063" lvl="1" indent="0">
                        <a:spcBef>
                          <a:spcPts val="600"/>
                        </a:spcBef>
                        <a:buNone/>
                        <a:defRPr/>
                      </a:pPr>
                      <a:r>
                        <a:rPr lang="en-US" sz="2400" b="0" dirty="0">
                          <a:solidFill>
                            <a:srgbClr val="0000CC"/>
                          </a:solidFill>
                          <a:latin typeface="Cambria" panose="02040503050406030204" pitchFamily="18" charset="0"/>
                          <a:ea typeface="Cambria" panose="02040503050406030204" pitchFamily="18" charset="0"/>
                        </a:rPr>
                        <a:t>WHERE</a:t>
                      </a:r>
                      <a:r>
                        <a:rPr lang="en-US" sz="2400" b="0" dirty="0">
                          <a:solidFill>
                            <a:schemeClr val="accent2"/>
                          </a:solidFill>
                          <a:latin typeface="Cambria" panose="02040503050406030204" pitchFamily="18" charset="0"/>
                          <a:ea typeface="Cambria" panose="02040503050406030204" pitchFamily="18" charset="0"/>
                        </a:rPr>
                        <a:t> </a:t>
                      </a:r>
                      <a:r>
                        <a:rPr lang="en-US" sz="2400" b="0" dirty="0">
                          <a:solidFill>
                            <a:srgbClr val="FF0000"/>
                          </a:solidFill>
                          <a:latin typeface="Cambria" panose="02040503050406030204" pitchFamily="18" charset="0"/>
                          <a:ea typeface="Cambria" panose="02040503050406030204" pitchFamily="18" charset="0"/>
                        </a:rPr>
                        <a:t>C. CUSTID = C. CUSTID </a:t>
                      </a:r>
                      <a:r>
                        <a:rPr lang="en-US" sz="2400" b="0" dirty="0">
                          <a:solidFill>
                            <a:schemeClr val="tx1"/>
                          </a:solidFill>
                          <a:latin typeface="Cambria" panose="02040503050406030204" pitchFamily="18" charset="0"/>
                          <a:ea typeface="Cambria" panose="02040503050406030204" pitchFamily="18" charset="0"/>
                        </a:rPr>
                        <a:t>AND</a:t>
                      </a:r>
                    </a:p>
                    <a:p>
                      <a:pPr marL="119063" lvl="1" indent="0">
                        <a:spcBef>
                          <a:spcPts val="600"/>
                        </a:spcBef>
                        <a:buNone/>
                        <a:defRPr/>
                      </a:pPr>
                      <a:r>
                        <a:rPr lang="en-US" sz="2400" b="0" dirty="0">
                          <a:solidFill>
                            <a:schemeClr val="accent2"/>
                          </a:solidFill>
                          <a:latin typeface="Cambria" panose="02040503050406030204" pitchFamily="18" charset="0"/>
                          <a:ea typeface="Cambria" panose="02040503050406030204" pitchFamily="18" charset="0"/>
                        </a:rPr>
                        <a:t> </a:t>
                      </a:r>
                      <a:r>
                        <a:rPr lang="en-US" sz="2400" b="0" dirty="0">
                          <a:solidFill>
                            <a:srgbClr val="FF0000"/>
                          </a:solidFill>
                          <a:latin typeface="Cambria" panose="02040503050406030204" pitchFamily="18" charset="0"/>
                          <a:ea typeface="Cambria" panose="02040503050406030204" pitchFamily="18" charset="0"/>
                        </a:rPr>
                        <a:t>	</a:t>
                      </a:r>
                      <a:r>
                        <a:rPr lang="en-US" sz="2400" b="0" baseline="0" dirty="0">
                          <a:solidFill>
                            <a:srgbClr val="FF0000"/>
                          </a:solidFill>
                          <a:latin typeface="Cambria" panose="02040503050406030204" pitchFamily="18" charset="0"/>
                          <a:ea typeface="Cambria" panose="02040503050406030204" pitchFamily="18" charset="0"/>
                        </a:rPr>
                        <a:t>   </a:t>
                      </a:r>
                      <a:r>
                        <a:rPr lang="en-US" sz="2400" b="0" dirty="0">
                          <a:solidFill>
                            <a:srgbClr val="FF0000"/>
                          </a:solidFill>
                          <a:latin typeface="Cambria" panose="02040503050406030204" pitchFamily="18" charset="0"/>
                          <a:ea typeface="Cambria" panose="02040503050406030204" pitchFamily="18" charset="0"/>
                        </a:rPr>
                        <a:t>O. ORDID = I. ORDID</a:t>
                      </a:r>
                    </a:p>
                  </a:txBody>
                  <a:tcPr marL="91426" marR="91426" marT="45685" marB="456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539082">
                <a:tc>
                  <a:txBody>
                    <a:bodyPr/>
                    <a:lstStyle/>
                    <a:p>
                      <a:pPr marL="119063" lvl="1" indent="0">
                        <a:spcBef>
                          <a:spcPts val="600"/>
                        </a:spcBef>
                        <a:defRPr/>
                      </a:pPr>
                      <a:r>
                        <a:rPr lang="en-US" sz="2400" dirty="0">
                          <a:solidFill>
                            <a:srgbClr val="0000CC"/>
                          </a:solidFill>
                          <a:latin typeface="Cambria" panose="02040503050406030204" pitchFamily="18" charset="0"/>
                          <a:ea typeface="Cambria" panose="02040503050406030204" pitchFamily="18" charset="0"/>
                        </a:rPr>
                        <a:t>SELECT</a:t>
                      </a:r>
                      <a:r>
                        <a:rPr lang="en-US" sz="2400" dirty="0">
                          <a:solidFill>
                            <a:schemeClr val="accent2"/>
                          </a:solidFill>
                          <a:latin typeface="Cambria" panose="02040503050406030204" pitchFamily="18" charset="0"/>
                          <a:ea typeface="Cambria" panose="02040503050406030204" pitchFamily="18" charset="0"/>
                        </a:rPr>
                        <a:t> </a:t>
                      </a:r>
                      <a:r>
                        <a:rPr lang="en-US" sz="2400" dirty="0">
                          <a:solidFill>
                            <a:schemeClr val="tx1"/>
                          </a:solidFill>
                          <a:latin typeface="Cambria" panose="02040503050406030204" pitchFamily="18" charset="0"/>
                          <a:ea typeface="Cambria" panose="02040503050406030204" pitchFamily="18" charset="0"/>
                        </a:rPr>
                        <a:t>NAME, </a:t>
                      </a:r>
                      <a:r>
                        <a:rPr lang="en-US" sz="2400" dirty="0">
                          <a:solidFill>
                            <a:srgbClr val="0000CC"/>
                          </a:solidFill>
                          <a:latin typeface="Cambria" panose="02040503050406030204" pitchFamily="18" charset="0"/>
                          <a:ea typeface="Cambria" panose="02040503050406030204" pitchFamily="18" charset="0"/>
                        </a:rPr>
                        <a:t>C.</a:t>
                      </a:r>
                      <a:r>
                        <a:rPr lang="en-US" sz="2400" dirty="0">
                          <a:solidFill>
                            <a:schemeClr val="tx1"/>
                          </a:solidFill>
                          <a:latin typeface="Cambria" panose="02040503050406030204" pitchFamily="18" charset="0"/>
                          <a:ea typeface="Cambria" panose="02040503050406030204" pitchFamily="18" charset="0"/>
                        </a:rPr>
                        <a:t>CUSTID, </a:t>
                      </a:r>
                      <a:r>
                        <a:rPr lang="en-US" sz="2400" dirty="0">
                          <a:solidFill>
                            <a:srgbClr val="0000CC"/>
                          </a:solidFill>
                          <a:latin typeface="Cambria" panose="02040503050406030204" pitchFamily="18" charset="0"/>
                          <a:ea typeface="Cambria" panose="02040503050406030204" pitchFamily="18" charset="0"/>
                        </a:rPr>
                        <a:t>O.</a:t>
                      </a:r>
                      <a:r>
                        <a:rPr lang="en-US" sz="2400" dirty="0">
                          <a:solidFill>
                            <a:schemeClr val="tx1"/>
                          </a:solidFill>
                          <a:latin typeface="Cambria" panose="02040503050406030204" pitchFamily="18" charset="0"/>
                          <a:ea typeface="Cambria" panose="02040503050406030204" pitchFamily="18" charset="0"/>
                        </a:rPr>
                        <a:t>ORDID, ITEMID</a:t>
                      </a:r>
                    </a:p>
                    <a:p>
                      <a:pPr marL="119063" lvl="1" indent="0">
                        <a:spcBef>
                          <a:spcPts val="600"/>
                        </a:spcBef>
                        <a:defRPr/>
                      </a:pPr>
                      <a:r>
                        <a:rPr lang="en-US" sz="2400" dirty="0">
                          <a:solidFill>
                            <a:srgbClr val="0000CC"/>
                          </a:solidFill>
                          <a:latin typeface="Cambria" panose="02040503050406030204" pitchFamily="18" charset="0"/>
                          <a:ea typeface="Cambria" panose="02040503050406030204" pitchFamily="18" charset="0"/>
                        </a:rPr>
                        <a:t>FROM</a:t>
                      </a:r>
                      <a:r>
                        <a:rPr lang="en-US" sz="2400" dirty="0">
                          <a:solidFill>
                            <a:schemeClr val="tx1"/>
                          </a:solidFill>
                          <a:latin typeface="Cambria" panose="02040503050406030204" pitchFamily="18" charset="0"/>
                          <a:ea typeface="Cambria" panose="02040503050406030204" pitchFamily="18" charset="0"/>
                        </a:rPr>
                        <a:t> CUSTOMER </a:t>
                      </a:r>
                      <a:r>
                        <a:rPr lang="en-US" sz="2400" dirty="0">
                          <a:solidFill>
                            <a:srgbClr val="0000CC"/>
                          </a:solidFill>
                          <a:latin typeface="Cambria" panose="02040503050406030204" pitchFamily="18" charset="0"/>
                          <a:ea typeface="Cambria" panose="02040503050406030204" pitchFamily="18" charset="0"/>
                        </a:rPr>
                        <a:t>C</a:t>
                      </a:r>
                      <a:r>
                        <a:rPr lang="en-US" sz="2400" dirty="0">
                          <a:solidFill>
                            <a:schemeClr val="tx1"/>
                          </a:solidFill>
                          <a:latin typeface="Cambria" panose="02040503050406030204" pitchFamily="18" charset="0"/>
                          <a:ea typeface="Cambria" panose="02040503050406030204" pitchFamily="18" charset="0"/>
                        </a:rPr>
                        <a:t>, ORD </a:t>
                      </a:r>
                      <a:r>
                        <a:rPr lang="en-US" sz="2400" dirty="0">
                          <a:solidFill>
                            <a:srgbClr val="0000CC"/>
                          </a:solidFill>
                          <a:latin typeface="Cambria" panose="02040503050406030204" pitchFamily="18" charset="0"/>
                          <a:ea typeface="Cambria" panose="02040503050406030204" pitchFamily="18" charset="0"/>
                        </a:rPr>
                        <a:t>O</a:t>
                      </a:r>
                      <a:r>
                        <a:rPr lang="en-US" sz="2400" dirty="0">
                          <a:solidFill>
                            <a:schemeClr val="tx1"/>
                          </a:solidFill>
                          <a:latin typeface="Cambria" panose="02040503050406030204" pitchFamily="18" charset="0"/>
                          <a:ea typeface="Cambria" panose="02040503050406030204" pitchFamily="18" charset="0"/>
                        </a:rPr>
                        <a:t>, ITEM </a:t>
                      </a:r>
                      <a:r>
                        <a:rPr lang="en-US" sz="2400" dirty="0">
                          <a:solidFill>
                            <a:srgbClr val="0000CC"/>
                          </a:solidFill>
                          <a:latin typeface="Cambria" panose="02040503050406030204" pitchFamily="18" charset="0"/>
                          <a:ea typeface="Cambria" panose="02040503050406030204" pitchFamily="18" charset="0"/>
                        </a:rPr>
                        <a:t>I</a:t>
                      </a:r>
                    </a:p>
                    <a:p>
                      <a:pPr marL="119063" lvl="1" indent="0">
                        <a:spcBef>
                          <a:spcPts val="600"/>
                        </a:spcBef>
                        <a:buNone/>
                        <a:defRPr/>
                      </a:pPr>
                      <a:r>
                        <a:rPr lang="en-US" sz="2400" dirty="0">
                          <a:solidFill>
                            <a:srgbClr val="0000CC"/>
                          </a:solidFill>
                          <a:latin typeface="Cambria" panose="02040503050406030204" pitchFamily="18" charset="0"/>
                          <a:ea typeface="Cambria" panose="02040503050406030204" pitchFamily="18" charset="0"/>
                        </a:rPr>
                        <a:t>JOIN</a:t>
                      </a:r>
                      <a:r>
                        <a:rPr lang="en-US" sz="2400" dirty="0">
                          <a:solidFill>
                            <a:schemeClr val="accent2"/>
                          </a:solidFill>
                          <a:latin typeface="Cambria" panose="02040503050406030204" pitchFamily="18" charset="0"/>
                          <a:ea typeface="Cambria" panose="02040503050406030204" pitchFamily="18" charset="0"/>
                        </a:rPr>
                        <a:t> </a:t>
                      </a:r>
                      <a:r>
                        <a:rPr lang="en-US" sz="2400" dirty="0">
                          <a:solidFill>
                            <a:schemeClr val="tx1"/>
                          </a:solidFill>
                          <a:latin typeface="Cambria" panose="02040503050406030204" pitchFamily="18" charset="0"/>
                          <a:ea typeface="Cambria" panose="02040503050406030204" pitchFamily="18" charset="0"/>
                        </a:rPr>
                        <a:t>ORD O ON </a:t>
                      </a:r>
                      <a:r>
                        <a:rPr lang="en-US" sz="2400" dirty="0">
                          <a:solidFill>
                            <a:srgbClr val="FF0000"/>
                          </a:solidFill>
                          <a:latin typeface="Cambria" panose="02040503050406030204" pitchFamily="18" charset="0"/>
                          <a:ea typeface="Cambria" panose="02040503050406030204" pitchFamily="18" charset="0"/>
                        </a:rPr>
                        <a:t>C. CUSTID = C. CUSTID</a:t>
                      </a:r>
                      <a:endParaRPr lang="en-US" sz="2400" dirty="0">
                        <a:solidFill>
                          <a:schemeClr val="accent2"/>
                        </a:solidFill>
                        <a:latin typeface="Cambria" panose="02040503050406030204" pitchFamily="18" charset="0"/>
                        <a:ea typeface="Cambria" panose="02040503050406030204" pitchFamily="18" charset="0"/>
                      </a:endParaRPr>
                    </a:p>
                    <a:p>
                      <a:pPr marL="119063" lvl="1" indent="0">
                        <a:spcBef>
                          <a:spcPts val="600"/>
                        </a:spcBef>
                        <a:buNone/>
                        <a:defRPr/>
                      </a:pPr>
                      <a:r>
                        <a:rPr lang="en-US" sz="2400" dirty="0">
                          <a:solidFill>
                            <a:srgbClr val="0000CC"/>
                          </a:solidFill>
                          <a:latin typeface="Cambria" panose="02040503050406030204" pitchFamily="18" charset="0"/>
                          <a:ea typeface="Cambria" panose="02040503050406030204" pitchFamily="18" charset="0"/>
                        </a:rPr>
                        <a:t>JOIN</a:t>
                      </a:r>
                      <a:r>
                        <a:rPr lang="en-US" sz="2400" baseline="0" dirty="0">
                          <a:solidFill>
                            <a:srgbClr val="FF0000"/>
                          </a:solidFill>
                          <a:latin typeface="Cambria" panose="02040503050406030204" pitchFamily="18" charset="0"/>
                          <a:ea typeface="Cambria" panose="02040503050406030204" pitchFamily="18" charset="0"/>
                        </a:rPr>
                        <a:t> </a:t>
                      </a:r>
                      <a:r>
                        <a:rPr lang="en-US" sz="2400" dirty="0">
                          <a:solidFill>
                            <a:schemeClr val="tx1"/>
                          </a:solidFill>
                          <a:latin typeface="Cambria" panose="02040503050406030204" pitchFamily="18" charset="0"/>
                          <a:ea typeface="Cambria" panose="02040503050406030204" pitchFamily="18" charset="0"/>
                        </a:rPr>
                        <a:t>ITEM I ON </a:t>
                      </a:r>
                      <a:r>
                        <a:rPr lang="en-US" sz="2400" dirty="0">
                          <a:solidFill>
                            <a:srgbClr val="FF0000"/>
                          </a:solidFill>
                          <a:latin typeface="Cambria" panose="02040503050406030204" pitchFamily="18" charset="0"/>
                          <a:ea typeface="Cambria" panose="02040503050406030204" pitchFamily="18" charset="0"/>
                        </a:rPr>
                        <a:t>O. ORDID = I. ORDID</a:t>
                      </a:r>
                    </a:p>
                  </a:txBody>
                  <a:tcPr marL="91426" marR="91426" marT="45685" marB="456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539082">
                <a:tc>
                  <a:txBody>
                    <a:bodyPr/>
                    <a:lstStyle/>
                    <a:p>
                      <a:pPr marL="119063" lvl="1" indent="0">
                        <a:spcBef>
                          <a:spcPts val="600"/>
                        </a:spcBef>
                        <a:defRPr/>
                      </a:pPr>
                      <a:r>
                        <a:rPr lang="en-US" sz="2400" dirty="0">
                          <a:solidFill>
                            <a:srgbClr val="0000CC"/>
                          </a:solidFill>
                          <a:latin typeface="Cambria" panose="02040503050406030204" pitchFamily="18" charset="0"/>
                          <a:ea typeface="Cambria" panose="02040503050406030204" pitchFamily="18" charset="0"/>
                        </a:rPr>
                        <a:t>SELECT</a:t>
                      </a:r>
                      <a:r>
                        <a:rPr lang="en-US" sz="2400" dirty="0">
                          <a:solidFill>
                            <a:schemeClr val="accent2"/>
                          </a:solidFill>
                          <a:latin typeface="Cambria" panose="02040503050406030204" pitchFamily="18" charset="0"/>
                          <a:ea typeface="Cambria" panose="02040503050406030204" pitchFamily="18" charset="0"/>
                        </a:rPr>
                        <a:t> </a:t>
                      </a:r>
                      <a:r>
                        <a:rPr lang="en-US" sz="2400" dirty="0">
                          <a:solidFill>
                            <a:schemeClr val="tx1"/>
                          </a:solidFill>
                          <a:latin typeface="Cambria" panose="02040503050406030204" pitchFamily="18" charset="0"/>
                          <a:ea typeface="Cambria" panose="02040503050406030204" pitchFamily="18" charset="0"/>
                        </a:rPr>
                        <a:t>E.ENAME, D.DEPTNO, DNAME, GRADE</a:t>
                      </a:r>
                      <a:r>
                        <a:rPr lang="en-US" sz="2400" dirty="0">
                          <a:solidFill>
                            <a:schemeClr val="accent2"/>
                          </a:solidFill>
                          <a:latin typeface="Cambria" panose="02040503050406030204" pitchFamily="18" charset="0"/>
                          <a:ea typeface="Cambria" panose="02040503050406030204" pitchFamily="18" charset="0"/>
                        </a:rPr>
                        <a:t> </a:t>
                      </a:r>
                    </a:p>
                    <a:p>
                      <a:pPr marL="119063" lvl="1" indent="0">
                        <a:spcBef>
                          <a:spcPts val="600"/>
                        </a:spcBef>
                        <a:defRPr/>
                      </a:pPr>
                      <a:r>
                        <a:rPr lang="en-US" sz="2400" dirty="0">
                          <a:solidFill>
                            <a:srgbClr val="0000CC"/>
                          </a:solidFill>
                          <a:latin typeface="Cambria" panose="02040503050406030204" pitchFamily="18" charset="0"/>
                          <a:ea typeface="Cambria" panose="02040503050406030204" pitchFamily="18" charset="0"/>
                        </a:rPr>
                        <a:t>FROM</a:t>
                      </a:r>
                      <a:r>
                        <a:rPr lang="en-US" sz="2400" dirty="0">
                          <a:solidFill>
                            <a:schemeClr val="accent2"/>
                          </a:solidFill>
                          <a:latin typeface="Cambria" panose="02040503050406030204" pitchFamily="18" charset="0"/>
                          <a:ea typeface="Cambria" panose="02040503050406030204" pitchFamily="18" charset="0"/>
                        </a:rPr>
                        <a:t> </a:t>
                      </a:r>
                      <a:r>
                        <a:rPr lang="en-US" sz="2400" dirty="0">
                          <a:solidFill>
                            <a:schemeClr val="tx1"/>
                          </a:solidFill>
                          <a:latin typeface="Cambria" panose="02040503050406030204" pitchFamily="18" charset="0"/>
                          <a:ea typeface="Cambria" panose="02040503050406030204" pitchFamily="18" charset="0"/>
                        </a:rPr>
                        <a:t>EMP E</a:t>
                      </a:r>
                    </a:p>
                    <a:p>
                      <a:pPr marL="119063" lvl="1" indent="0">
                        <a:spcBef>
                          <a:spcPts val="600"/>
                        </a:spcBef>
                        <a:defRPr/>
                      </a:pPr>
                      <a:r>
                        <a:rPr lang="en-US" sz="2400" dirty="0">
                          <a:solidFill>
                            <a:srgbClr val="0000CC"/>
                          </a:solidFill>
                          <a:latin typeface="Cambria" panose="02040503050406030204" pitchFamily="18" charset="0"/>
                          <a:ea typeface="Cambria" panose="02040503050406030204" pitchFamily="18" charset="0"/>
                        </a:rPr>
                        <a:t>JOIN</a:t>
                      </a:r>
                      <a:r>
                        <a:rPr lang="en-US" sz="2400" dirty="0">
                          <a:solidFill>
                            <a:schemeClr val="accent2"/>
                          </a:solidFill>
                          <a:latin typeface="Cambria" panose="02040503050406030204" pitchFamily="18" charset="0"/>
                          <a:ea typeface="Cambria" panose="02040503050406030204" pitchFamily="18" charset="0"/>
                        </a:rPr>
                        <a:t> </a:t>
                      </a:r>
                      <a:r>
                        <a:rPr lang="en-US" sz="2400" dirty="0">
                          <a:solidFill>
                            <a:schemeClr val="tx1"/>
                          </a:solidFill>
                          <a:latin typeface="Cambria" panose="02040503050406030204" pitchFamily="18" charset="0"/>
                          <a:ea typeface="Cambria" panose="02040503050406030204" pitchFamily="18" charset="0"/>
                        </a:rPr>
                        <a:t>DEPT D</a:t>
                      </a:r>
                      <a:r>
                        <a:rPr lang="en-US" sz="2400" dirty="0">
                          <a:solidFill>
                            <a:schemeClr val="accent2"/>
                          </a:solidFill>
                          <a:latin typeface="Cambria" panose="02040503050406030204" pitchFamily="18" charset="0"/>
                          <a:ea typeface="Cambria" panose="02040503050406030204" pitchFamily="18" charset="0"/>
                        </a:rPr>
                        <a:t> </a:t>
                      </a:r>
                      <a:r>
                        <a:rPr lang="en-US" sz="2400" dirty="0">
                          <a:solidFill>
                            <a:schemeClr val="tx1"/>
                          </a:solidFill>
                          <a:latin typeface="Cambria" panose="02040503050406030204" pitchFamily="18" charset="0"/>
                          <a:ea typeface="Cambria" panose="02040503050406030204" pitchFamily="18" charset="0"/>
                        </a:rPr>
                        <a:t>ON</a:t>
                      </a:r>
                      <a:r>
                        <a:rPr lang="en-US" sz="2400" dirty="0">
                          <a:solidFill>
                            <a:schemeClr val="accent2"/>
                          </a:solidFill>
                          <a:latin typeface="Cambria" panose="02040503050406030204" pitchFamily="18" charset="0"/>
                          <a:ea typeface="Cambria" panose="02040503050406030204" pitchFamily="18" charset="0"/>
                        </a:rPr>
                        <a:t> </a:t>
                      </a:r>
                      <a:r>
                        <a:rPr lang="en-US" sz="2400" dirty="0">
                          <a:solidFill>
                            <a:srgbClr val="FF0000"/>
                          </a:solidFill>
                          <a:latin typeface="Cambria" panose="02040503050406030204" pitchFamily="18" charset="0"/>
                          <a:ea typeface="Cambria" panose="02040503050406030204" pitchFamily="18" charset="0"/>
                        </a:rPr>
                        <a:t>E. DEPTNO = D.DEPTNO</a:t>
                      </a:r>
                    </a:p>
                    <a:p>
                      <a:pPr marL="119063" lvl="1" indent="0">
                        <a:spcBef>
                          <a:spcPts val="600"/>
                        </a:spcBef>
                        <a:defRPr/>
                      </a:pPr>
                      <a:r>
                        <a:rPr lang="en-US" sz="2400" dirty="0">
                          <a:solidFill>
                            <a:srgbClr val="0000CC"/>
                          </a:solidFill>
                          <a:latin typeface="Cambria" panose="02040503050406030204" pitchFamily="18" charset="0"/>
                          <a:ea typeface="Cambria" panose="02040503050406030204" pitchFamily="18" charset="0"/>
                        </a:rPr>
                        <a:t>JOIN</a:t>
                      </a:r>
                      <a:r>
                        <a:rPr lang="en-US" sz="2400" dirty="0">
                          <a:solidFill>
                            <a:schemeClr val="accent2"/>
                          </a:solidFill>
                          <a:latin typeface="Cambria" panose="02040503050406030204" pitchFamily="18" charset="0"/>
                          <a:ea typeface="Cambria" panose="02040503050406030204" pitchFamily="18" charset="0"/>
                        </a:rPr>
                        <a:t> </a:t>
                      </a:r>
                      <a:r>
                        <a:rPr lang="en-US" sz="2400" dirty="0">
                          <a:solidFill>
                            <a:schemeClr val="tx1"/>
                          </a:solidFill>
                          <a:latin typeface="Cambria" panose="02040503050406030204" pitchFamily="18" charset="0"/>
                          <a:ea typeface="Cambria" panose="02040503050406030204" pitchFamily="18" charset="0"/>
                        </a:rPr>
                        <a:t>SALGRADE</a:t>
                      </a:r>
                      <a:r>
                        <a:rPr lang="en-US" sz="2400" dirty="0">
                          <a:solidFill>
                            <a:schemeClr val="accent2"/>
                          </a:solidFill>
                          <a:latin typeface="Cambria" panose="02040503050406030204" pitchFamily="18" charset="0"/>
                          <a:ea typeface="Cambria" panose="02040503050406030204" pitchFamily="18" charset="0"/>
                        </a:rPr>
                        <a:t> </a:t>
                      </a:r>
                      <a:r>
                        <a:rPr lang="en-US" sz="2400" dirty="0">
                          <a:solidFill>
                            <a:srgbClr val="0000CC"/>
                          </a:solidFill>
                          <a:latin typeface="Cambria" panose="02040503050406030204" pitchFamily="18" charset="0"/>
                          <a:ea typeface="Cambria" panose="02040503050406030204" pitchFamily="18" charset="0"/>
                        </a:rPr>
                        <a:t>ON</a:t>
                      </a:r>
                      <a:r>
                        <a:rPr lang="en-US" sz="2400" dirty="0">
                          <a:solidFill>
                            <a:schemeClr val="accent2"/>
                          </a:solidFill>
                          <a:latin typeface="Cambria" panose="02040503050406030204" pitchFamily="18" charset="0"/>
                          <a:ea typeface="Cambria" panose="02040503050406030204" pitchFamily="18" charset="0"/>
                        </a:rPr>
                        <a:t> </a:t>
                      </a:r>
                      <a:r>
                        <a:rPr lang="en-US" sz="2400" dirty="0">
                          <a:solidFill>
                            <a:srgbClr val="FF0000"/>
                          </a:solidFill>
                          <a:latin typeface="Cambria" panose="02040503050406030204" pitchFamily="18" charset="0"/>
                          <a:ea typeface="Cambria" panose="02040503050406030204" pitchFamily="18" charset="0"/>
                        </a:rPr>
                        <a:t>SAL BETWEEN LOSAL AND HISAL</a:t>
                      </a:r>
                    </a:p>
                  </a:txBody>
                  <a:tcPr marL="91426" marR="91426" marT="45685" marB="456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7919701"/>
                  </a:ext>
                </a:extLst>
              </a:tr>
            </a:tbl>
          </a:graphicData>
        </a:graphic>
      </p:graphicFrame>
    </p:spTree>
    <p:extLst>
      <p:ext uri="{BB962C8B-B14F-4D97-AF65-F5344CB8AC3E}">
        <p14:creationId xmlns:p14="http://schemas.microsoft.com/office/powerpoint/2010/main" val="262345512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96FC4-F3DD-DC6C-CAD8-567106E5D418}"/>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2F717A95-F584-4CC3-2CD5-3036153F5CB4}"/>
              </a:ext>
            </a:extLst>
          </p:cNvPr>
          <p:cNvSpPr>
            <a:spLocks noGrp="1" noChangeArrowheads="1"/>
          </p:cNvSpPr>
          <p:nvPr>
            <p:ph type="title"/>
          </p:nvPr>
        </p:nvSpPr>
        <p:spPr>
          <a:xfrm>
            <a:off x="425450" y="23130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Types of Joins - Recap</a:t>
            </a:r>
          </a:p>
        </p:txBody>
      </p:sp>
      <p:sp>
        <p:nvSpPr>
          <p:cNvPr id="38915" name="Rectangle 3">
            <a:extLst>
              <a:ext uri="{FF2B5EF4-FFF2-40B4-BE49-F238E27FC236}">
                <a16:creationId xmlns:a16="http://schemas.microsoft.com/office/drawing/2014/main" id="{BD2003ED-FB51-A5FF-513D-E028E5D33088}"/>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DBCDA9B8-F0BC-352B-727E-0E6AC4236082}"/>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7E2773DD-3C4A-B790-A83B-BE6323B94A55}"/>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graphicFrame>
        <p:nvGraphicFramePr>
          <p:cNvPr id="3" name="Table 2">
            <a:extLst>
              <a:ext uri="{FF2B5EF4-FFF2-40B4-BE49-F238E27FC236}">
                <a16:creationId xmlns:a16="http://schemas.microsoft.com/office/drawing/2014/main" id="{F8169815-9FFA-A504-760A-851764C6840F}"/>
              </a:ext>
            </a:extLst>
          </p:cNvPr>
          <p:cNvGraphicFramePr>
            <a:graphicFrameLocks noGrp="1"/>
          </p:cNvGraphicFramePr>
          <p:nvPr>
            <p:extLst>
              <p:ext uri="{D42A27DB-BD31-4B8C-83A1-F6EECF244321}">
                <p14:modId xmlns:p14="http://schemas.microsoft.com/office/powerpoint/2010/main" val="412656674"/>
              </p:ext>
            </p:extLst>
          </p:nvPr>
        </p:nvGraphicFramePr>
        <p:xfrm>
          <a:off x="287338" y="836712"/>
          <a:ext cx="8569325" cy="5544616"/>
        </p:xfrm>
        <a:graphic>
          <a:graphicData uri="http://schemas.openxmlformats.org/drawingml/2006/table">
            <a:tbl>
              <a:tblPr firstRow="1" bandRow="1">
                <a:tableStyleId>{5C22544A-7EE6-4342-B048-85BDC9FD1C3A}</a:tableStyleId>
              </a:tblPr>
              <a:tblGrid>
                <a:gridCol w="2268409">
                  <a:extLst>
                    <a:ext uri="{9D8B030D-6E8A-4147-A177-3AD203B41FA5}">
                      <a16:colId xmlns:a16="http://schemas.microsoft.com/office/drawing/2014/main" val="20000"/>
                    </a:ext>
                  </a:extLst>
                </a:gridCol>
                <a:gridCol w="6300916">
                  <a:extLst>
                    <a:ext uri="{9D8B030D-6E8A-4147-A177-3AD203B41FA5}">
                      <a16:colId xmlns:a16="http://schemas.microsoft.com/office/drawing/2014/main" val="20001"/>
                    </a:ext>
                  </a:extLst>
                </a:gridCol>
              </a:tblGrid>
              <a:tr h="187220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kern="1200" dirty="0" err="1">
                          <a:solidFill>
                            <a:srgbClr val="FF0000"/>
                          </a:solidFill>
                          <a:latin typeface="Cambria" panose="02040503050406030204" pitchFamily="18" charset="0"/>
                          <a:ea typeface="Cambria" panose="02040503050406030204" pitchFamily="18" charset="0"/>
                          <a:cs typeface="+mn-cs"/>
                        </a:rPr>
                        <a:t>Equi</a:t>
                      </a:r>
                      <a:r>
                        <a:rPr lang="en-US" sz="2800" b="0" kern="1200" dirty="0">
                          <a:solidFill>
                            <a:schemeClr val="tx1"/>
                          </a:solidFill>
                          <a:latin typeface="Cambria" panose="02040503050406030204" pitchFamily="18" charset="0"/>
                          <a:ea typeface="Cambria" panose="02040503050406030204" pitchFamily="18" charset="0"/>
                          <a:cs typeface="+mn-cs"/>
                        </a:rPr>
                        <a:t> or </a:t>
                      </a:r>
                      <a:r>
                        <a:rPr lang="en-US" sz="2800" b="0" kern="1200" dirty="0">
                          <a:solidFill>
                            <a:srgbClr val="FF0000"/>
                          </a:solidFill>
                          <a:latin typeface="Cambria" panose="02040503050406030204" pitchFamily="18" charset="0"/>
                          <a:ea typeface="Cambria" panose="02040503050406030204" pitchFamily="18" charset="0"/>
                          <a:cs typeface="+mn-cs"/>
                        </a:rPr>
                        <a:t>Inner</a:t>
                      </a:r>
                      <a:r>
                        <a:rPr lang="en-US" sz="2800" b="0" kern="1200" dirty="0">
                          <a:solidFill>
                            <a:schemeClr val="tx1"/>
                          </a:solidFill>
                          <a:latin typeface="Cambria" panose="02040503050406030204" pitchFamily="18" charset="0"/>
                          <a:ea typeface="Cambria" panose="02040503050406030204" pitchFamily="18" charset="0"/>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kern="1200" dirty="0">
                          <a:solidFill>
                            <a:schemeClr val="tx1"/>
                          </a:solidFill>
                          <a:latin typeface="Cambria" panose="02040503050406030204" pitchFamily="18" charset="0"/>
                          <a:ea typeface="Cambria" panose="02040503050406030204" pitchFamily="18" charset="0"/>
                          <a:cs typeface="+mn-cs"/>
                        </a:rPr>
                        <a:t>Join</a:t>
                      </a:r>
                      <a:endParaRPr lang="en-US" sz="2800" dirty="0">
                        <a:latin typeface="Cambria" panose="02040503050406030204" pitchFamily="18" charset="0"/>
                        <a:ea typeface="Cambria" panose="02040503050406030204" pitchFamily="18" charset="0"/>
                      </a:endParaRPr>
                    </a:p>
                  </a:txBody>
                  <a:tcPr marL="91444" marR="91444" marT="45711" marB="457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800" dirty="0">
                        <a:latin typeface="Cambria" panose="02040503050406030204" pitchFamily="18" charset="0"/>
                        <a:ea typeface="Cambria" panose="02040503050406030204" pitchFamily="18" charset="0"/>
                      </a:endParaRPr>
                    </a:p>
                  </a:txBody>
                  <a:tcPr marL="91444" marR="91444"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7372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800" b="0" dirty="0">
                        <a:solidFill>
                          <a:srgbClr val="FF0000"/>
                        </a:solidFill>
                        <a:latin typeface="Cambria" panose="02040503050406030204" pitchFamily="18" charset="0"/>
                        <a:ea typeface="Cambria"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a:solidFill>
                            <a:srgbClr val="FF0000"/>
                          </a:solidFill>
                          <a:latin typeface="Cambria" panose="02040503050406030204" pitchFamily="18" charset="0"/>
                          <a:ea typeface="Cambria" panose="02040503050406030204" pitchFamily="18" charset="0"/>
                        </a:rPr>
                        <a:t>Left Outer</a:t>
                      </a:r>
                      <a:r>
                        <a:rPr lang="en-US" sz="2800" b="0" dirty="0">
                          <a:solidFill>
                            <a:schemeClr val="tx1"/>
                          </a:solidFill>
                          <a:latin typeface="Cambria" panose="02040503050406030204" pitchFamily="18" charset="0"/>
                          <a:ea typeface="Cambria" panose="02040503050406030204" pitchFamily="18" charset="0"/>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a:solidFill>
                            <a:schemeClr val="tx1"/>
                          </a:solidFill>
                          <a:latin typeface="Cambria" panose="02040503050406030204" pitchFamily="18" charset="0"/>
                          <a:ea typeface="Cambria" panose="02040503050406030204" pitchFamily="18" charset="0"/>
                        </a:rPr>
                        <a:t>Join</a:t>
                      </a:r>
                      <a:endParaRPr lang="en-US" sz="2800" dirty="0">
                        <a:latin typeface="Cambria" panose="02040503050406030204" pitchFamily="18" charset="0"/>
                        <a:ea typeface="Cambria"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800" dirty="0">
                        <a:latin typeface="Cambria" panose="02040503050406030204" pitchFamily="18" charset="0"/>
                        <a:ea typeface="Cambria" panose="02040503050406030204" pitchFamily="18" charset="0"/>
                      </a:endParaRPr>
                    </a:p>
                  </a:txBody>
                  <a:tcPr marL="91444" marR="91444" marT="45711" marB="457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800" dirty="0">
                        <a:latin typeface="Cambria" panose="02040503050406030204" pitchFamily="18" charset="0"/>
                        <a:ea typeface="Cambria" panose="02040503050406030204" pitchFamily="18" charset="0"/>
                      </a:endParaRPr>
                    </a:p>
                  </a:txBody>
                  <a:tcPr marL="91444" marR="91444"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87410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800" b="0" dirty="0">
                        <a:solidFill>
                          <a:srgbClr val="FF0000"/>
                        </a:solidFill>
                        <a:latin typeface="Cambria" panose="02040503050406030204" pitchFamily="18" charset="0"/>
                        <a:ea typeface="Cambria"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a:solidFill>
                            <a:srgbClr val="FF0000"/>
                          </a:solidFill>
                          <a:latin typeface="Cambria" panose="02040503050406030204" pitchFamily="18" charset="0"/>
                          <a:ea typeface="Cambria" panose="02040503050406030204" pitchFamily="18" charset="0"/>
                        </a:rPr>
                        <a:t>Right Outer</a:t>
                      </a:r>
                      <a:r>
                        <a:rPr lang="en-US" sz="2800" b="0" dirty="0">
                          <a:solidFill>
                            <a:schemeClr val="tx1"/>
                          </a:solidFill>
                          <a:latin typeface="Cambria" panose="02040503050406030204" pitchFamily="18" charset="0"/>
                          <a:ea typeface="Cambria" panose="02040503050406030204" pitchFamily="18" charset="0"/>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0" dirty="0">
                          <a:solidFill>
                            <a:schemeClr val="tx1"/>
                          </a:solidFill>
                          <a:latin typeface="Cambria" panose="02040503050406030204" pitchFamily="18" charset="0"/>
                          <a:ea typeface="Cambria" panose="02040503050406030204" pitchFamily="18" charset="0"/>
                        </a:rPr>
                        <a:t>Join</a:t>
                      </a:r>
                      <a:endParaRPr lang="en-US" sz="2800" dirty="0">
                        <a:latin typeface="Cambria" panose="02040503050406030204" pitchFamily="18" charset="0"/>
                        <a:ea typeface="Cambria" panose="02040503050406030204" pitchFamily="18" charset="0"/>
                      </a:endParaRPr>
                    </a:p>
                  </a:txBody>
                  <a:tcPr marL="91444" marR="91444" marT="45711" marB="4571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800" dirty="0">
                        <a:latin typeface="Cambria" panose="02040503050406030204" pitchFamily="18" charset="0"/>
                        <a:ea typeface="Cambria" panose="02040503050406030204" pitchFamily="18" charset="0"/>
                      </a:endParaRPr>
                    </a:p>
                  </a:txBody>
                  <a:tcPr marL="91444" marR="91444"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pic>
        <p:nvPicPr>
          <p:cNvPr id="5" name="Picture 3">
            <a:extLst>
              <a:ext uri="{FF2B5EF4-FFF2-40B4-BE49-F238E27FC236}">
                <a16:creationId xmlns:a16="http://schemas.microsoft.com/office/drawing/2014/main" id="{529BBE24-8BD1-A562-8BD4-7901B32979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113" y="914475"/>
            <a:ext cx="5545137" cy="172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C45ACCC8-216D-8C78-C6DE-8A62D253C7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113" y="2809924"/>
            <a:ext cx="5545137" cy="162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a:extLst>
              <a:ext uri="{FF2B5EF4-FFF2-40B4-BE49-F238E27FC236}">
                <a16:creationId xmlns:a16="http://schemas.microsoft.com/office/drawing/2014/main" id="{238EF0AA-5DAE-F7B1-1105-9ACF8C67B9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113" y="4653136"/>
            <a:ext cx="5581650" cy="162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75874702"/>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B4CA2-0349-F6CE-1B77-8363AB80EB10}"/>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B37487A9-02CB-9F1F-C1CE-91B2627D5404}"/>
              </a:ext>
            </a:extLst>
          </p:cNvPr>
          <p:cNvSpPr>
            <a:spLocks noGrp="1" noChangeArrowheads="1"/>
          </p:cNvSpPr>
          <p:nvPr>
            <p:ph type="title"/>
          </p:nvPr>
        </p:nvSpPr>
        <p:spPr>
          <a:xfrm>
            <a:off x="425450" y="23130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Types of Joins - Recap</a:t>
            </a:r>
          </a:p>
        </p:txBody>
      </p:sp>
      <p:sp>
        <p:nvSpPr>
          <p:cNvPr id="38915" name="Rectangle 3">
            <a:extLst>
              <a:ext uri="{FF2B5EF4-FFF2-40B4-BE49-F238E27FC236}">
                <a16:creationId xmlns:a16="http://schemas.microsoft.com/office/drawing/2014/main" id="{78ABC2ED-E5A8-A76B-8EB1-79D620C9B4B4}"/>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380F1381-BA19-E1DB-C261-AE3EDA2D10A6}"/>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AC974C78-C093-2917-B5D2-113A929A24B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pic>
        <p:nvPicPr>
          <p:cNvPr id="4" name="Picture 4">
            <a:extLst>
              <a:ext uri="{FF2B5EF4-FFF2-40B4-BE49-F238E27FC236}">
                <a16:creationId xmlns:a16="http://schemas.microsoft.com/office/drawing/2014/main" id="{A4B89733-A668-F390-FD43-01F5506B4A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5363" y="874043"/>
            <a:ext cx="7116762" cy="249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8">
            <a:extLst>
              <a:ext uri="{FF2B5EF4-FFF2-40B4-BE49-F238E27FC236}">
                <a16:creationId xmlns:a16="http://schemas.microsoft.com/office/drawing/2014/main" id="{60D13682-8C66-6951-7C51-8CA88C4441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3464843"/>
            <a:ext cx="7140575" cy="248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5699534"/>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75B35-6AC7-F2C5-0E2C-636B97A863A8}"/>
            </a:ext>
          </a:extLst>
        </p:cNvPr>
        <p:cNvGrpSpPr/>
        <p:nvPr/>
      </p:nvGrpSpPr>
      <p:grpSpPr>
        <a:xfrm>
          <a:off x="0" y="0"/>
          <a:ext cx="0" cy="0"/>
          <a:chOff x="0" y="0"/>
          <a:chExt cx="0" cy="0"/>
        </a:xfrm>
      </p:grpSpPr>
      <p:sp>
        <p:nvSpPr>
          <p:cNvPr id="38914" name="Rectangle 2">
            <a:extLst>
              <a:ext uri="{FF2B5EF4-FFF2-40B4-BE49-F238E27FC236}">
                <a16:creationId xmlns:a16="http://schemas.microsoft.com/office/drawing/2014/main" id="{061EE301-CFB4-6E42-0C89-6EE5EBFEDC5E}"/>
              </a:ext>
            </a:extLst>
          </p:cNvPr>
          <p:cNvSpPr>
            <a:spLocks noGrp="1" noChangeArrowheads="1"/>
          </p:cNvSpPr>
          <p:nvPr>
            <p:ph type="title"/>
          </p:nvPr>
        </p:nvSpPr>
        <p:spPr>
          <a:xfrm>
            <a:off x="425450" y="231304"/>
            <a:ext cx="6480398" cy="533400"/>
          </a:xfrm>
        </p:spPr>
        <p:txBody>
          <a:bodyPr/>
          <a:lstStyle/>
          <a:p>
            <a:pPr eaLnBrk="1" hangingPunct="1"/>
            <a:br>
              <a:rPr lang="en-US" altLang="en-US" sz="2800" b="1" u="sng" dirty="0">
                <a:solidFill>
                  <a:srgbClr val="D34817"/>
                </a:solidFill>
                <a:latin typeface="Cambria" panose="02040503050406030204" pitchFamily="18" charset="0"/>
                <a:ea typeface="Cambria" panose="02040503050406030204" pitchFamily="18" charset="0"/>
              </a:rPr>
            </a:br>
            <a:br>
              <a:rPr lang="en-US" altLang="en-US" sz="2800" b="1" u="sng" dirty="0">
                <a:solidFill>
                  <a:srgbClr val="D34817"/>
                </a:solidFill>
                <a:latin typeface="Cambria" panose="02040503050406030204" pitchFamily="18" charset="0"/>
                <a:ea typeface="Cambria" panose="02040503050406030204" pitchFamily="18" charset="0"/>
              </a:rPr>
            </a:br>
            <a:r>
              <a:rPr lang="en-US" altLang="en-US" sz="2800" b="1" u="sng" dirty="0">
                <a:solidFill>
                  <a:srgbClr val="D34817"/>
                </a:solidFill>
                <a:latin typeface="Cambria" panose="02040503050406030204" pitchFamily="18" charset="0"/>
                <a:ea typeface="Cambria" panose="02040503050406030204" pitchFamily="18" charset="0"/>
              </a:rPr>
              <a:t>Types of Joins - Recap</a:t>
            </a:r>
          </a:p>
        </p:txBody>
      </p:sp>
      <p:sp>
        <p:nvSpPr>
          <p:cNvPr id="38915" name="Rectangle 3">
            <a:extLst>
              <a:ext uri="{FF2B5EF4-FFF2-40B4-BE49-F238E27FC236}">
                <a16:creationId xmlns:a16="http://schemas.microsoft.com/office/drawing/2014/main" id="{FEF3370F-DEB3-0FDE-330D-892009D10A1E}"/>
              </a:ext>
            </a:extLst>
          </p:cNvPr>
          <p:cNvSpPr>
            <a:spLocks noGrp="1" noChangeArrowheads="1"/>
          </p:cNvSpPr>
          <p:nvPr>
            <p:ph sz="quarter" idx="1"/>
          </p:nvPr>
        </p:nvSpPr>
        <p:spPr>
          <a:xfrm>
            <a:off x="425450" y="741784"/>
            <a:ext cx="8394700" cy="4343400"/>
          </a:xfrm>
        </p:spPr>
        <p:txBody>
          <a:bodyPr/>
          <a:lstStyle/>
          <a:p>
            <a:pPr marL="285750" indent="-285750" algn="just">
              <a:buSzPct val="50000"/>
              <a:buFont typeface="Wingdings" panose="05000000000000000000" pitchFamily="2" charset="2"/>
              <a:buChar char="l"/>
            </a:pPr>
            <a:endParaRPr lang="en-US" altLang="en-US" sz="24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b="1"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85750" indent="-285750" algn="just">
              <a:buSzPct val="50000"/>
              <a:buFont typeface="Wingdings" panose="05000000000000000000" pitchFamily="2" charset="2"/>
              <a:buChar char="l"/>
            </a:pPr>
            <a:endParaRPr lang="en-US" altLang="en-US" sz="2800" dirty="0">
              <a:latin typeface="Cambria" panose="02040503050406030204" pitchFamily="18" charset="0"/>
              <a:ea typeface="Cambria" panose="02040503050406030204" pitchFamily="18" charset="0"/>
              <a:cs typeface="Calibri" panose="020F0502020204030204" pitchFamily="34" charset="0"/>
            </a:endParaRPr>
          </a:p>
          <a:p>
            <a:pPr marL="228600" indent="-228600" eaLnBrk="1" hangingPunct="1"/>
            <a:endParaRPr lang="en-US" altLang="en-US" sz="2800" dirty="0"/>
          </a:p>
        </p:txBody>
      </p:sp>
      <p:sp>
        <p:nvSpPr>
          <p:cNvPr id="2" name="Slide Number Placeholder 23">
            <a:extLst>
              <a:ext uri="{FF2B5EF4-FFF2-40B4-BE49-F238E27FC236}">
                <a16:creationId xmlns:a16="http://schemas.microsoft.com/office/drawing/2014/main" id="{E3F4B74B-8EBD-F453-A3C2-B646BF387D83}"/>
              </a:ext>
            </a:extLst>
          </p:cNvPr>
          <p:cNvSpPr>
            <a:spLocks noGrp="1"/>
          </p:cNvSpPr>
          <p:nvPr>
            <p:ph type="sldNum" sz="quarter" idx="12"/>
          </p:nvPr>
        </p:nvSpPr>
        <p:spPr>
          <a:xfrm>
            <a:off x="8532440" y="6166335"/>
            <a:ext cx="427833"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20" name="Footer Placeholder 2">
            <a:extLst>
              <a:ext uri="{FF2B5EF4-FFF2-40B4-BE49-F238E27FC236}">
                <a16:creationId xmlns:a16="http://schemas.microsoft.com/office/drawing/2014/main" id="{E85EB218-BBC7-94CD-A1AD-604E9FC74A60}"/>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pic>
        <p:nvPicPr>
          <p:cNvPr id="3" name="Picture 3">
            <a:extLst>
              <a:ext uri="{FF2B5EF4-FFF2-40B4-BE49-F238E27FC236}">
                <a16:creationId xmlns:a16="http://schemas.microsoft.com/office/drawing/2014/main" id="{6D0B2133-B478-4EAE-66A5-EC7AC32391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908720"/>
            <a:ext cx="7632700" cy="247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6">
            <a:extLst>
              <a:ext uri="{FF2B5EF4-FFF2-40B4-BE49-F238E27FC236}">
                <a16:creationId xmlns:a16="http://schemas.microsoft.com/office/drawing/2014/main" id="{12CACD7F-86EC-1C7A-CC42-33B8B309A0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3463007"/>
            <a:ext cx="7635875" cy="248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6372594"/>
      </p:ext>
    </p:extLst>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Overload Protection</Template>
  <TotalTime>25999</TotalTime>
  <Words>3799</Words>
  <Application>Microsoft Office PowerPoint</Application>
  <PresentationFormat>On-screen Show (4:3)</PresentationFormat>
  <Paragraphs>999</Paragraphs>
  <Slides>34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Arial</vt:lpstr>
      <vt:lpstr>Cambria</vt:lpstr>
      <vt:lpstr>Comic Sans MS</vt:lpstr>
      <vt:lpstr>Courier New</vt:lpstr>
      <vt:lpstr>Franklin Gothic Book</vt:lpstr>
      <vt:lpstr>Perpetua</vt:lpstr>
      <vt:lpstr>Wingdings</vt:lpstr>
      <vt:lpstr>Wingdings 2</vt:lpstr>
      <vt:lpstr>1_Equity</vt:lpstr>
      <vt:lpstr>CC-215-L Database Systems Lab</vt:lpstr>
      <vt:lpstr>  Objectives</vt:lpstr>
      <vt:lpstr>  Obtaining Data from Multiple Tables</vt:lpstr>
      <vt:lpstr>  Join Syntax</vt:lpstr>
      <vt:lpstr>  Join Types</vt:lpstr>
      <vt:lpstr>  1. Cross Join or Cartesian Product</vt:lpstr>
      <vt:lpstr>  1. Cross Join or Cartesian Product</vt:lpstr>
      <vt:lpstr>  Joining Tables with Common Columns</vt:lpstr>
      <vt:lpstr>  2. Natural Join</vt:lpstr>
      <vt:lpstr>  3. Eui-join / Inner Join</vt:lpstr>
      <vt:lpstr>  3. Eui-join / Inner Join</vt:lpstr>
      <vt:lpstr>  Ambiguous Column Names</vt:lpstr>
      <vt:lpstr>  Table Aliases</vt:lpstr>
      <vt:lpstr>  Ambiguous Column Names – Natural Join</vt:lpstr>
      <vt:lpstr>  Ambiguous Column Names – Using Clause </vt:lpstr>
      <vt:lpstr>  Additional Conditions with Joins</vt:lpstr>
      <vt:lpstr>  4. Outer Join</vt:lpstr>
      <vt:lpstr>  4. Outer Join</vt:lpstr>
      <vt:lpstr>  4. Outer Join</vt:lpstr>
      <vt:lpstr>  4. Outer Join</vt:lpstr>
      <vt:lpstr>  4. Outer Join</vt:lpstr>
      <vt:lpstr>  4. Outer Join</vt:lpstr>
      <vt:lpstr>  5. Non-Equi Join</vt:lpstr>
      <vt:lpstr>  5. Non-Equi Join</vt:lpstr>
      <vt:lpstr>  6. Self Join</vt:lpstr>
      <vt:lpstr>  6. Self Join</vt:lpstr>
      <vt:lpstr>  6. Self Join</vt:lpstr>
      <vt:lpstr>  7. Self Outer Join</vt:lpstr>
      <vt:lpstr>  Joining More Than Two Tables</vt:lpstr>
      <vt:lpstr>  Joining More Than Two Tables</vt:lpstr>
      <vt:lpstr>  Joining More Than Two Tables</vt:lpstr>
      <vt:lpstr>  Types of Joins - Recap</vt:lpstr>
      <vt:lpstr>  Types of Joins - Recap</vt:lpstr>
      <vt:lpstr>  Types of Joins - Recap</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Dr.Asif Sohail</cp:lastModifiedBy>
  <cp:revision>870</cp:revision>
  <dcterms:created xsi:type="dcterms:W3CDTF">2006-05-17T12:38:56Z</dcterms:created>
  <dcterms:modified xsi:type="dcterms:W3CDTF">2025-10-04T03:51:03Z</dcterms:modified>
</cp:coreProperties>
</file>