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62" r:id="rId2"/>
  </p:sldMasterIdLst>
  <p:notesMasterIdLst>
    <p:notesMasterId r:id="rId24"/>
  </p:notesMasterIdLst>
  <p:handoutMasterIdLst>
    <p:handoutMasterId r:id="rId25"/>
  </p:handoutMasterIdLst>
  <p:sldIdLst>
    <p:sldId id="646" r:id="rId3"/>
    <p:sldId id="666" r:id="rId4"/>
    <p:sldId id="668" r:id="rId5"/>
    <p:sldId id="667" r:id="rId6"/>
    <p:sldId id="669" r:id="rId7"/>
    <p:sldId id="670" r:id="rId8"/>
    <p:sldId id="671" r:id="rId9"/>
    <p:sldId id="672" r:id="rId10"/>
    <p:sldId id="673" r:id="rId11"/>
    <p:sldId id="674" r:id="rId12"/>
    <p:sldId id="675" r:id="rId13"/>
    <p:sldId id="676" r:id="rId14"/>
    <p:sldId id="677" r:id="rId15"/>
    <p:sldId id="678" r:id="rId16"/>
    <p:sldId id="679" r:id="rId17"/>
    <p:sldId id="680" r:id="rId18"/>
    <p:sldId id="681" r:id="rId19"/>
    <p:sldId id="373" r:id="rId20"/>
    <p:sldId id="682" r:id="rId21"/>
    <p:sldId id="683" r:id="rId22"/>
    <p:sldId id="684" r:id="rId23"/>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3399FF"/>
    <a:srgbClr val="FF0000"/>
    <a:srgbClr val="FFFFCC"/>
    <a:srgbClr val="800000"/>
    <a:srgbClr val="006600"/>
    <a:srgbClr val="FFFF66"/>
    <a:srgbClr val="00FF00"/>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25" autoAdjust="0"/>
    <p:restoredTop sz="85572" autoAdjust="0"/>
  </p:normalViewPr>
  <p:slideViewPr>
    <p:cSldViewPr>
      <p:cViewPr varScale="1">
        <p:scale>
          <a:sx n="83" d="100"/>
          <a:sy n="83" d="100"/>
        </p:scale>
        <p:origin x="113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EC55900A-85A1-6873-EB67-A48651A2E8EA}"/>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6CEAD93D-7065-8268-0B32-67A7236840E8}"/>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9ABAD167-34AD-AFA0-CF40-5305F4E44CB7}"/>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403617AB-EE26-F9BE-0D88-FCF96BD88FD7}"/>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77800BBD-0902-4E52-B433-8C7B0B8E5E9B}"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15FCB2A-F290-893B-6BE0-037C6C509543}"/>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07AC303A-5F26-E2AC-F86E-C206C1F15931}"/>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84CED8FD-AED3-9B50-F8C1-0DD52F41FBBE}"/>
              </a:ext>
            </a:extLst>
          </p:cNvPr>
          <p:cNvSpPr>
            <a:spLocks noGrp="1" noRo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F95243E5-D553-14DA-C50B-D80A70FA3735}"/>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51982EC4-14F7-D31B-741E-AEA6D4AC1DBF}"/>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C6F96BA4-6E11-BD55-C7FC-9F39033B6135}"/>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7522B843-E670-4A25-BDA8-EA825920CAF7}"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EF5700FF-B168-7C58-8429-FC4A4BAC21A7}"/>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167977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B0E96EE-57AF-52EA-F4AC-D95F6B4B307D}"/>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551991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A9DFCBA-11C6-F0ED-DC4A-40339A2185B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906949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3388" y="1524000"/>
            <a:ext cx="4062412"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70671B3-12A4-5D41-310D-35192FD50587}"/>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600662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EDFFEF6-78DB-1F6A-CD46-D561ACFCC093}"/>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355445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2ECA770-1C23-EF40-1D70-6F63474ED794}"/>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5663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A388BD5-B5C2-0C13-8CA1-C478460380C8}"/>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755534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A70233C-65D4-134B-D321-4C493C1BE354}"/>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870706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565BA8A-34D0-A126-ACAC-28DAE4BA2F83}"/>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556328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17DBE14-C7DE-8B09-56E9-4C2A28F79E72}"/>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742307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228600"/>
            <a:ext cx="2068513"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3388" y="228600"/>
            <a:ext cx="605631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3A86AEE-D597-E58A-589B-2799D2748157}"/>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151078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ext Placeholder 2"/>
          <p:cNvSpPr>
            <a:spLocks noGrp="1"/>
          </p:cNvSpPr>
          <p:nvPr>
            <p:ph type="body" sz="half" idx="1"/>
          </p:nvPr>
        </p:nvSpPr>
        <p:spPr>
          <a:xfrm>
            <a:off x="433388" y="1524000"/>
            <a:ext cx="4062412"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A785AB0-0ABE-141A-F2D4-71F2E6BEB2D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254154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349303954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2979884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2161314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4140851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17635859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16603962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34661827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EEBACE9-901A-9407-FF6B-F93445D247D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034819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C677FF3-5263-11BE-2829-2C93F09917E8}"/>
              </a:ext>
            </a:extLst>
          </p:cNvPr>
          <p:cNvSpPr>
            <a:spLocks noGrp="1" noChangeArrowheads="1"/>
          </p:cNvSpPr>
          <p:nvPr>
            <p:ph type="title"/>
          </p:nvPr>
        </p:nvSpPr>
        <p:spPr bwMode="auto">
          <a:xfrm>
            <a:off x="433388" y="228600"/>
            <a:ext cx="8277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Titel bearbeiten</a:t>
            </a:r>
          </a:p>
        </p:txBody>
      </p:sp>
      <p:sp>
        <p:nvSpPr>
          <p:cNvPr id="1027" name="Rectangle 3">
            <a:extLst>
              <a:ext uri="{FF2B5EF4-FFF2-40B4-BE49-F238E27FC236}">
                <a16:creationId xmlns:a16="http://schemas.microsoft.com/office/drawing/2014/main" id="{A9E39005-844B-B5C2-29BD-7025D6429554}"/>
              </a:ext>
            </a:extLst>
          </p:cNvPr>
          <p:cNvSpPr>
            <a:spLocks noGrp="1" noChangeArrowheads="1"/>
          </p:cNvSpPr>
          <p:nvPr>
            <p:ph type="body" idx="1"/>
          </p:nvPr>
        </p:nvSpPr>
        <p:spPr bwMode="auto">
          <a:xfrm>
            <a:off x="433388" y="1524000"/>
            <a:ext cx="82772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a:t>Erste Ebene</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4100" name="Rectangle 4">
            <a:extLst>
              <a:ext uri="{FF2B5EF4-FFF2-40B4-BE49-F238E27FC236}">
                <a16:creationId xmlns:a16="http://schemas.microsoft.com/office/drawing/2014/main" id="{F6421220-754A-9D55-2757-E21FFA603E7C}"/>
              </a:ext>
            </a:extLst>
          </p:cNvPr>
          <p:cNvSpPr>
            <a:spLocks noGrp="1" noChangeArrowheads="1"/>
          </p:cNvSpPr>
          <p:nvPr>
            <p:ph type="dt" sz="half" idx="2"/>
          </p:nvPr>
        </p:nvSpPr>
        <p:spPr bwMode="auto">
          <a:xfrm>
            <a:off x="0" y="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de-DE"/>
          </a:p>
        </p:txBody>
      </p:sp>
      <p:sp>
        <p:nvSpPr>
          <p:cNvPr id="1029" name="Rectangle 14">
            <a:extLst>
              <a:ext uri="{FF2B5EF4-FFF2-40B4-BE49-F238E27FC236}">
                <a16:creationId xmlns:a16="http://schemas.microsoft.com/office/drawing/2014/main" id="{F2771EDD-5427-2E79-7676-1BDC6A2B8387}"/>
              </a:ext>
            </a:extLst>
          </p:cNvPr>
          <p:cNvSpPr>
            <a:spLocks noChangeArrowheads="1"/>
          </p:cNvSpPr>
          <p:nvPr userDrawn="1"/>
        </p:nvSpPr>
        <p:spPr bwMode="auto">
          <a:xfrm>
            <a:off x="395288" y="1125538"/>
            <a:ext cx="8748712" cy="73025"/>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p>
        </p:txBody>
      </p:sp>
      <p:sp>
        <p:nvSpPr>
          <p:cNvPr id="1030" name="Rectangle 10">
            <a:extLst>
              <a:ext uri="{FF2B5EF4-FFF2-40B4-BE49-F238E27FC236}">
                <a16:creationId xmlns:a16="http://schemas.microsoft.com/office/drawing/2014/main" id="{19F3D4F8-9F60-8E6E-E870-6CB6D957DE75}"/>
              </a:ext>
            </a:extLst>
          </p:cNvPr>
          <p:cNvSpPr>
            <a:spLocks noChangeArrowheads="1"/>
          </p:cNvSpPr>
          <p:nvPr userDrawn="1"/>
        </p:nvSpPr>
        <p:spPr bwMode="auto">
          <a:xfrm>
            <a:off x="0" y="6569075"/>
            <a:ext cx="9167813" cy="315913"/>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p>
        </p:txBody>
      </p:sp>
      <p:sp>
        <p:nvSpPr>
          <p:cNvPr id="1031" name="Text Box 11">
            <a:extLst>
              <a:ext uri="{FF2B5EF4-FFF2-40B4-BE49-F238E27FC236}">
                <a16:creationId xmlns:a16="http://schemas.microsoft.com/office/drawing/2014/main" id="{310AFBEB-3FD2-304E-437A-5A2697195D1E}"/>
              </a:ext>
            </a:extLst>
          </p:cNvPr>
          <p:cNvSpPr txBox="1">
            <a:spLocks noChangeArrowheads="1"/>
          </p:cNvSpPr>
          <p:nvPr userDrawn="1"/>
        </p:nvSpPr>
        <p:spPr bwMode="auto">
          <a:xfrm>
            <a:off x="-36513" y="6583363"/>
            <a:ext cx="5905501" cy="304800"/>
          </a:xfrm>
          <a:prstGeom prst="rect">
            <a:avLst/>
          </a:prstGeom>
          <a:noFill/>
          <a:ln>
            <a:noFill/>
          </a:ln>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defRPr/>
            </a:pPr>
            <a:r>
              <a:rPr lang="de-DE" sz="1400">
                <a:solidFill>
                  <a:srgbClr val="FFFF00"/>
                </a:solidFill>
                <a:cs typeface="Arial" panose="020B0604020202020204" pitchFamily="34" charset="0"/>
              </a:rPr>
              <a:t> Datbase Systems</a:t>
            </a:r>
            <a:endParaRPr lang="de-DE" sz="1400">
              <a:solidFill>
                <a:srgbClr val="FFFF00"/>
              </a:solidFill>
            </a:endParaRPr>
          </a:p>
        </p:txBody>
      </p:sp>
      <p:sp>
        <p:nvSpPr>
          <p:cNvPr id="1032" name="Rectangle 12">
            <a:extLst>
              <a:ext uri="{FF2B5EF4-FFF2-40B4-BE49-F238E27FC236}">
                <a16:creationId xmlns:a16="http://schemas.microsoft.com/office/drawing/2014/main" id="{6747D488-1DDF-367E-2583-C0FEFEBD73E6}"/>
              </a:ext>
            </a:extLst>
          </p:cNvPr>
          <p:cNvSpPr>
            <a:spLocks noChangeArrowheads="1"/>
          </p:cNvSpPr>
          <p:nvPr userDrawn="1"/>
        </p:nvSpPr>
        <p:spPr bwMode="auto">
          <a:xfrm>
            <a:off x="7596188" y="6640513"/>
            <a:ext cx="1905000" cy="215900"/>
          </a:xfrm>
          <a:prstGeom prst="rect">
            <a:avLst/>
          </a:prstGeom>
          <a:noFill/>
          <a:ln>
            <a:noFill/>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r>
              <a:rPr lang="de-DE" altLang="en-US" sz="1000"/>
              <a:t>Slide </a:t>
            </a:r>
            <a:fld id="{BC5BDF3D-1355-4951-9BD5-60E78FCC62C9}" type="slidenum">
              <a:rPr lang="de-DE" altLang="en-US" sz="1000" smtClean="0"/>
              <a:pPr algn="ctr" eaLnBrk="1" hangingPunct="1">
                <a:defRPr/>
              </a:pPr>
              <a:t>‹#›</a:t>
            </a:fld>
            <a:endParaRPr lang="de-DE" altLang="en-US" sz="100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266072714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dirty="0">
                <a:solidFill>
                  <a:srgbClr val="000099"/>
                </a:solidFill>
                <a:latin typeface="Cambria" panose="02040503050406030204" pitchFamily="18" charset="0"/>
                <a:ea typeface="Cambria" panose="02040503050406030204" pitchFamily="18" charset="0"/>
              </a:rPr>
              <a:t>CC-215-L</a:t>
            </a:r>
            <a:br>
              <a:rPr altLang="en-US" dirty="0">
                <a:solidFill>
                  <a:srgbClr val="000099"/>
                </a:solidFill>
                <a:latin typeface="Cambria" panose="02040503050406030204" pitchFamily="18" charset="0"/>
                <a:ea typeface="Cambria" panose="02040503050406030204" pitchFamily="18" charset="0"/>
              </a:rPr>
            </a:br>
            <a:r>
              <a:rPr altLang="en-US" dirty="0">
                <a:solidFill>
                  <a:srgbClr val="FFFF00"/>
                </a:solidFill>
                <a:latin typeface="Cambria" panose="02040503050406030204" pitchFamily="18" charset="0"/>
                <a:ea typeface="Cambria" panose="02040503050406030204" pitchFamily="18" charset="0"/>
              </a:rPr>
              <a:t>Database Systems Lab</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470024"/>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mj-cs"/>
              </a:rPr>
              <a:t>— Unit 12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Procedures, Functions, and Triggers</a:t>
            </a:r>
            <a:endParaRPr kumimoji="0" lang="en-US" sz="11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1256191" y="4828183"/>
            <a:ext cx="6477000" cy="1481137"/>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3" name="TextBox 2">
            <a:extLst>
              <a:ext uri="{FF2B5EF4-FFF2-40B4-BE49-F238E27FC236}">
                <a16:creationId xmlns:a16="http://schemas.microsoft.com/office/drawing/2014/main" id="{EE45C58E-0F41-E365-5874-2471AB0F60B5}"/>
              </a:ext>
            </a:extLst>
          </p:cNvPr>
          <p:cNvSpPr txBox="1"/>
          <p:nvPr/>
        </p:nvSpPr>
        <p:spPr>
          <a:xfrm>
            <a:off x="438448" y="6309320"/>
            <a:ext cx="7712703"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n-cs"/>
              </a:rPr>
              <a:t>Some of the slides are adapted from </a:t>
            </a:r>
            <a:r>
              <a:rPr kumimoji="0" lang="en-US" sz="16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mn-cs"/>
              </a:rPr>
              <a:t>Oracle Corporation.</a:t>
            </a:r>
            <a:endParaRPr kumimoji="0" lang="en-US" sz="16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endParaRPr>
          </a:p>
        </p:txBody>
      </p:sp>
      <p:pic>
        <p:nvPicPr>
          <p:cNvPr id="4" name="Picture 11">
            <a:extLst>
              <a:ext uri="{FF2B5EF4-FFF2-40B4-BE49-F238E27FC236}">
                <a16:creationId xmlns:a16="http://schemas.microsoft.com/office/drawing/2014/main" id="{52263002-B443-FA9E-DD31-44571C458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353" y="191419"/>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a:extLst>
              <a:ext uri="{FF2B5EF4-FFF2-40B4-BE49-F238E27FC236}">
                <a16:creationId xmlns:a16="http://schemas.microsoft.com/office/drawing/2014/main" id="{0664FCA6-02D3-5FBE-852B-E0830F9F3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18864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5E179-0397-9338-F236-BA3018E9A74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7AE8CD6-ECD8-5047-0900-F1C12A0C6A0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Procedures</a:t>
            </a:r>
          </a:p>
        </p:txBody>
      </p:sp>
      <p:sp>
        <p:nvSpPr>
          <p:cNvPr id="38915" name="Rectangle 3">
            <a:extLst>
              <a:ext uri="{FF2B5EF4-FFF2-40B4-BE49-F238E27FC236}">
                <a16:creationId xmlns:a16="http://schemas.microsoft.com/office/drawing/2014/main" id="{46A5DFDB-7825-1D98-42A0-9F06C1782131}"/>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A7133A55-FA8A-5831-2C3E-649E70318C1D}"/>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PL/SQL procedure can either be created at schema level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(stored or standalone procedures),</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or inside a PL/SQL block.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5" name="Rectangle 4">
            <a:extLst>
              <a:ext uri="{FF2B5EF4-FFF2-40B4-BE49-F238E27FC236}">
                <a16:creationId xmlns:a16="http://schemas.microsoft.com/office/drawing/2014/main" id="{C0F75E60-D98F-CDB3-FE5A-CEFA1C969E8D}"/>
              </a:ext>
            </a:extLst>
          </p:cNvPr>
          <p:cNvSpPr>
            <a:spLocks noChangeArrowheads="1"/>
          </p:cNvSpPr>
          <p:nvPr/>
        </p:nvSpPr>
        <p:spPr bwMode="blackWhite">
          <a:xfrm>
            <a:off x="555700" y="1556792"/>
            <a:ext cx="8134199" cy="316835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buFontTx/>
              <a:buNone/>
              <a:defRPr/>
            </a:pPr>
            <a:r>
              <a:rPr lang="en-US" dirty="0">
                <a:latin typeface="Cambria" panose="02040503050406030204" pitchFamily="18" charset="0"/>
                <a:ea typeface="Cambria" panose="02040503050406030204" pitchFamily="18" charset="0"/>
              </a:rPr>
              <a:t>CREATE [OR REPLACE] PROCEDURE procedure-name </a:t>
            </a:r>
          </a:p>
          <a:p>
            <a:pPr marL="0" lvl="1" algn="just">
              <a:buFontTx/>
              <a:buNone/>
              <a:defRPr/>
            </a:pP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parameter_name</a:t>
            </a:r>
            <a:r>
              <a:rPr lang="en-US" dirty="0">
                <a:latin typeface="Cambria" panose="02040503050406030204" pitchFamily="18" charset="0"/>
                <a:ea typeface="Cambria" panose="02040503050406030204" pitchFamily="18" charset="0"/>
              </a:rPr>
              <a:t> </a:t>
            </a:r>
            <a:r>
              <a:rPr lang="en-US" dirty="0">
                <a:solidFill>
                  <a:srgbClr val="FF0000"/>
                </a:solidFill>
                <a:latin typeface="Cambria" panose="02040503050406030204" pitchFamily="18" charset="0"/>
                <a:ea typeface="Cambria" panose="02040503050406030204" pitchFamily="18" charset="0"/>
              </a:rPr>
              <a:t>[IN|OUT|IN OUT] </a:t>
            </a:r>
            <a:r>
              <a:rPr lang="en-US" dirty="0">
                <a:latin typeface="Cambria" panose="02040503050406030204" pitchFamily="18" charset="0"/>
                <a:ea typeface="Cambria" panose="02040503050406030204" pitchFamily="18" charset="0"/>
              </a:rPr>
              <a:t>type </a:t>
            </a:r>
            <a:r>
              <a:rPr lang="en-US" dirty="0">
                <a:solidFill>
                  <a:srgbClr val="FF0000"/>
                </a:solidFill>
                <a:latin typeface="Cambria" panose="02040503050406030204" pitchFamily="18" charset="0"/>
                <a:ea typeface="Cambria" panose="02040503050406030204" pitchFamily="18" charset="0"/>
              </a:rPr>
              <a:t>[:=default]</a:t>
            </a:r>
            <a:r>
              <a:rPr lang="en-US" dirty="0">
                <a:latin typeface="Cambria" panose="02040503050406030204" pitchFamily="18" charset="0"/>
                <a:ea typeface="Cambria" panose="02040503050406030204" pitchFamily="18" charset="0"/>
              </a:rPr>
              <a:t>[,…] )] </a:t>
            </a:r>
          </a:p>
          <a:p>
            <a:pPr marL="0" lvl="1" algn="just">
              <a:buFontTx/>
              <a:buNone/>
              <a:defRPr/>
            </a:pPr>
            <a:r>
              <a:rPr lang="en-US" dirty="0">
                <a:latin typeface="Cambria" panose="02040503050406030204" pitchFamily="18" charset="0"/>
                <a:ea typeface="Cambria" panose="02040503050406030204" pitchFamily="18" charset="0"/>
              </a:rPr>
              <a:t>{IS | AS}</a:t>
            </a:r>
          </a:p>
          <a:p>
            <a:pPr marL="0" lvl="1" algn="just">
              <a:buFontTx/>
              <a:buNone/>
              <a:defRPr/>
            </a:pPr>
            <a:r>
              <a:rPr lang="en-US" dirty="0">
                <a:latin typeface="Cambria" panose="02040503050406030204" pitchFamily="18" charset="0"/>
                <a:ea typeface="Cambria" panose="02040503050406030204" pitchFamily="18" charset="0"/>
              </a:rPr>
              <a:t>[local-variable-declarations]</a:t>
            </a:r>
          </a:p>
          <a:p>
            <a:pPr marL="0" lvl="1" algn="just">
              <a:buFontTx/>
              <a:buNone/>
              <a:defRPr/>
            </a:pPr>
            <a:r>
              <a:rPr lang="en-US" dirty="0">
                <a:latin typeface="Cambria" panose="02040503050406030204" pitchFamily="18" charset="0"/>
                <a:ea typeface="Cambria" panose="02040503050406030204" pitchFamily="18" charset="0"/>
              </a:rPr>
              <a:t>BEGIN</a:t>
            </a:r>
          </a:p>
          <a:p>
            <a:pPr marL="0" lvl="1" algn="just">
              <a:buFontTx/>
              <a:buNone/>
              <a:defRPr/>
            </a:pPr>
            <a:r>
              <a:rPr lang="en-US" dirty="0">
                <a:latin typeface="Cambria" panose="02040503050406030204" pitchFamily="18" charset="0"/>
                <a:ea typeface="Cambria" panose="02040503050406030204" pitchFamily="18" charset="0"/>
              </a:rPr>
              <a:t>executable-section</a:t>
            </a:r>
          </a:p>
          <a:p>
            <a:pPr marL="0" lvl="1" algn="just">
              <a:buFontTx/>
              <a:buNone/>
              <a:defRPr/>
            </a:pPr>
            <a:r>
              <a:rPr lang="en-US" dirty="0">
                <a:latin typeface="Cambria" panose="02040503050406030204" pitchFamily="18" charset="0"/>
                <a:ea typeface="Cambria" panose="02040503050406030204" pitchFamily="18" charset="0"/>
              </a:rPr>
              <a:t>[exception-section]</a:t>
            </a:r>
          </a:p>
          <a:p>
            <a:pPr marL="0" lvl="1" algn="just">
              <a:buFontTx/>
              <a:buNone/>
              <a:defRPr/>
            </a:pPr>
            <a:r>
              <a:rPr lang="en-US" dirty="0">
                <a:latin typeface="Cambria" panose="02040503050406030204" pitchFamily="18" charset="0"/>
                <a:ea typeface="Cambria" panose="02040503050406030204" pitchFamily="18" charset="0"/>
              </a:rPr>
              <a:t>END [procedure-name];</a:t>
            </a:r>
          </a:p>
        </p:txBody>
      </p:sp>
      <p:sp>
        <p:nvSpPr>
          <p:cNvPr id="2" name="TextBox 1">
            <a:extLst>
              <a:ext uri="{FF2B5EF4-FFF2-40B4-BE49-F238E27FC236}">
                <a16:creationId xmlns:a16="http://schemas.microsoft.com/office/drawing/2014/main" id="{C95AAB3D-AC2A-C7B4-B43D-252EA27BF482}"/>
              </a:ext>
            </a:extLst>
          </p:cNvPr>
          <p:cNvSpPr txBox="1">
            <a:spLocks noChangeArrowheads="1"/>
          </p:cNvSpPr>
          <p:nvPr/>
        </p:nvSpPr>
        <p:spPr bwMode="auto">
          <a:xfrm>
            <a:off x="555700" y="4869160"/>
            <a:ext cx="4264025" cy="1631950"/>
          </a:xfrm>
          <a:prstGeom prst="rect">
            <a:avLst/>
          </a:prstGeom>
          <a:solidFill>
            <a:srgbClr val="00B0F0"/>
          </a:solidFill>
          <a:ln w="9525">
            <a:solidFill>
              <a:schemeClr val="tx1"/>
            </a:solidFill>
            <a:miter lim="800000"/>
            <a:headEnd/>
            <a:tailEnd/>
          </a:ln>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IN:</a:t>
            </a:r>
            <a:r>
              <a:rPr lang="en-US" altLang="en-US" sz="2000" dirty="0">
                <a:latin typeface="Cambria" panose="02040503050406030204" pitchFamily="18" charset="0"/>
                <a:ea typeface="Cambria" panose="02040503050406030204" pitchFamily="18" charset="0"/>
                <a:cs typeface="Calibri" panose="020F0502020204030204" pitchFamily="34" charset="0"/>
              </a:rPr>
              <a:t> Read only</a:t>
            </a:r>
          </a:p>
          <a:p>
            <a:pPr>
              <a:spcBef>
                <a:spcPct val="0"/>
              </a:spcBef>
              <a:buFontTx/>
              <a:buNone/>
            </a:pP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OUT:</a:t>
            </a:r>
            <a:r>
              <a:rPr lang="en-US" altLang="en-US" sz="2000" dirty="0">
                <a:latin typeface="Cambria" panose="02040503050406030204" pitchFamily="18" charset="0"/>
                <a:ea typeface="Cambria" panose="02040503050406030204" pitchFamily="18" charset="0"/>
                <a:cs typeface="Calibri" panose="020F0502020204030204" pitchFamily="34" charset="0"/>
              </a:rPr>
              <a:t> Writable</a:t>
            </a:r>
          </a:p>
          <a:p>
            <a:pPr>
              <a:spcBef>
                <a:spcPct val="0"/>
              </a:spcBef>
              <a:buFontTx/>
              <a:buNone/>
            </a:pP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IN OUT:</a:t>
            </a:r>
            <a:r>
              <a:rPr lang="en-US" altLang="en-US" sz="2000" dirty="0">
                <a:latin typeface="Cambria" panose="02040503050406030204" pitchFamily="18" charset="0"/>
                <a:ea typeface="Cambria" panose="02040503050406030204" pitchFamily="18" charset="0"/>
                <a:cs typeface="Calibri" panose="020F0502020204030204" pitchFamily="34" charset="0"/>
              </a:rPr>
              <a:t> Both readable and writable</a:t>
            </a:r>
          </a:p>
          <a:p>
            <a:pPr>
              <a:spcBef>
                <a:spcPct val="0"/>
              </a:spcBef>
              <a:buFontTx/>
              <a:buNone/>
            </a:pP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IS:</a:t>
            </a:r>
            <a:r>
              <a:rPr lang="en-US" altLang="en-US" sz="2000" dirty="0">
                <a:latin typeface="Cambria" panose="02040503050406030204" pitchFamily="18" charset="0"/>
                <a:ea typeface="Cambria" panose="02040503050406030204" pitchFamily="18" charset="0"/>
                <a:cs typeface="Calibri" panose="020F0502020204030204" pitchFamily="34" charset="0"/>
              </a:rPr>
              <a:t> Stored procedures</a:t>
            </a:r>
          </a:p>
          <a:p>
            <a:pPr>
              <a:spcBef>
                <a:spcPct val="0"/>
              </a:spcBef>
              <a:buFontTx/>
              <a:buNone/>
            </a:pP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AS:</a:t>
            </a:r>
            <a:r>
              <a:rPr lang="en-US" altLang="en-US" sz="2000" dirty="0">
                <a:latin typeface="Cambria" panose="02040503050406030204" pitchFamily="18" charset="0"/>
                <a:ea typeface="Cambria" panose="02040503050406030204" pitchFamily="18" charset="0"/>
                <a:cs typeface="Calibri" panose="020F0502020204030204" pitchFamily="34" charset="0"/>
              </a:rPr>
              <a:t> Procedures inside a PL/SQL block</a:t>
            </a:r>
          </a:p>
        </p:txBody>
      </p:sp>
      <p:sp>
        <p:nvSpPr>
          <p:cNvPr id="3" name="Slide Number Placeholder 23">
            <a:extLst>
              <a:ext uri="{FF2B5EF4-FFF2-40B4-BE49-F238E27FC236}">
                <a16:creationId xmlns:a16="http://schemas.microsoft.com/office/drawing/2014/main" id="{3943F74E-9FE6-ACC3-DA67-7064C7E30333}"/>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A22904E8-A435-D9FC-E427-05AC128A2C4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75166661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FC218-A275-5929-04E3-03E107B6452E}"/>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EA4906A-0FAA-9757-F00A-CC53AD1D6F20}"/>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Procedures</a:t>
            </a:r>
          </a:p>
        </p:txBody>
      </p:sp>
      <p:sp>
        <p:nvSpPr>
          <p:cNvPr id="38915" name="Rectangle 3">
            <a:extLst>
              <a:ext uri="{FF2B5EF4-FFF2-40B4-BE49-F238E27FC236}">
                <a16:creationId xmlns:a16="http://schemas.microsoft.com/office/drawing/2014/main" id="{434D2A5E-4300-0CD2-D3B7-B4B37565A5B8}"/>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C1D7BE39-C130-ED2D-DC1D-A8DB1C383E08}"/>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PL/SQL procedure can either be created at schema level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(stored or standalone procedures),</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or inside a PL/SQL block.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5" name="Rectangle 4">
            <a:extLst>
              <a:ext uri="{FF2B5EF4-FFF2-40B4-BE49-F238E27FC236}">
                <a16:creationId xmlns:a16="http://schemas.microsoft.com/office/drawing/2014/main" id="{8B08EC03-6768-874A-FEC8-05EDA5F0280E}"/>
              </a:ext>
            </a:extLst>
          </p:cNvPr>
          <p:cNvSpPr>
            <a:spLocks noChangeArrowheads="1"/>
          </p:cNvSpPr>
          <p:nvPr/>
        </p:nvSpPr>
        <p:spPr bwMode="blackWhite">
          <a:xfrm>
            <a:off x="251842" y="1556792"/>
            <a:ext cx="8712646" cy="316835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buFontTx/>
              <a:buNone/>
              <a:defRPr/>
            </a:pPr>
            <a:r>
              <a:rPr lang="en-US" dirty="0">
                <a:latin typeface="Cambria" panose="02040503050406030204" pitchFamily="18" charset="0"/>
                <a:ea typeface="Cambria" panose="02040503050406030204" pitchFamily="18" charset="0"/>
              </a:rPr>
              <a:t>CREATE [OR REPLACE] PROCEDURE procedure-name </a:t>
            </a:r>
          </a:p>
          <a:p>
            <a:pPr marL="0" lvl="1" algn="just">
              <a:buFontTx/>
              <a:buNone/>
              <a:defRPr/>
            </a:pP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parameter_name</a:t>
            </a:r>
            <a:r>
              <a:rPr lang="en-US" dirty="0">
                <a:latin typeface="Cambria" panose="02040503050406030204" pitchFamily="18" charset="0"/>
                <a:ea typeface="Cambria" panose="02040503050406030204" pitchFamily="18" charset="0"/>
              </a:rPr>
              <a:t> </a:t>
            </a:r>
            <a:r>
              <a:rPr lang="en-US" dirty="0">
                <a:solidFill>
                  <a:srgbClr val="FF0000"/>
                </a:solidFill>
                <a:latin typeface="Cambria" panose="02040503050406030204" pitchFamily="18" charset="0"/>
                <a:ea typeface="Cambria" panose="02040503050406030204" pitchFamily="18" charset="0"/>
              </a:rPr>
              <a:t>[IN|OUT|IN OUT] </a:t>
            </a:r>
            <a:r>
              <a:rPr lang="en-US" dirty="0">
                <a:latin typeface="Cambria" panose="02040503050406030204" pitchFamily="18" charset="0"/>
                <a:ea typeface="Cambria" panose="02040503050406030204" pitchFamily="18" charset="0"/>
              </a:rPr>
              <a:t>type </a:t>
            </a:r>
            <a:r>
              <a:rPr lang="en-US" dirty="0">
                <a:solidFill>
                  <a:srgbClr val="FF0000"/>
                </a:solidFill>
                <a:latin typeface="Cambria" panose="02040503050406030204" pitchFamily="18" charset="0"/>
                <a:ea typeface="Cambria" panose="02040503050406030204" pitchFamily="18" charset="0"/>
              </a:rPr>
              <a:t>[:=default]</a:t>
            </a:r>
            <a:r>
              <a:rPr lang="en-US" dirty="0">
                <a:latin typeface="Cambria" panose="02040503050406030204" pitchFamily="18" charset="0"/>
                <a:ea typeface="Cambria" panose="02040503050406030204" pitchFamily="18" charset="0"/>
              </a:rPr>
              <a:t>[,…] )] </a:t>
            </a:r>
          </a:p>
          <a:p>
            <a:pPr marL="0" lvl="1" algn="just">
              <a:buFontTx/>
              <a:buNone/>
              <a:defRPr/>
            </a:pPr>
            <a:r>
              <a:rPr lang="en-US" dirty="0">
                <a:solidFill>
                  <a:srgbClr val="FF0000"/>
                </a:solidFill>
                <a:latin typeface="Cambria" panose="02040503050406030204" pitchFamily="18" charset="0"/>
                <a:ea typeface="Cambria" panose="02040503050406030204" pitchFamily="18" charset="0"/>
              </a:rPr>
              <a:t>{IS | AS}</a:t>
            </a:r>
          </a:p>
          <a:p>
            <a:pPr marL="0" lvl="1" algn="just">
              <a:buFontTx/>
              <a:buNone/>
              <a:defRPr/>
            </a:pPr>
            <a:r>
              <a:rPr lang="en-US" dirty="0">
                <a:latin typeface="Cambria" panose="02040503050406030204" pitchFamily="18" charset="0"/>
                <a:ea typeface="Cambria" panose="02040503050406030204" pitchFamily="18" charset="0"/>
              </a:rPr>
              <a:t>[local-variable-declarations]</a:t>
            </a:r>
          </a:p>
          <a:p>
            <a:pPr marL="0" lvl="1" algn="just">
              <a:buFontTx/>
              <a:buNone/>
              <a:defRPr/>
            </a:pPr>
            <a:r>
              <a:rPr lang="en-US" dirty="0">
                <a:solidFill>
                  <a:srgbClr val="0033CC"/>
                </a:solidFill>
                <a:latin typeface="Cambria" panose="02040503050406030204" pitchFamily="18" charset="0"/>
                <a:ea typeface="Cambria" panose="02040503050406030204" pitchFamily="18" charset="0"/>
              </a:rPr>
              <a:t>BEGIN</a:t>
            </a:r>
          </a:p>
          <a:p>
            <a:pPr marL="0" lvl="1" algn="just">
              <a:buFontTx/>
              <a:buNone/>
              <a:defRPr/>
            </a:pPr>
            <a:r>
              <a:rPr lang="en-US" dirty="0">
                <a:latin typeface="Cambria" panose="02040503050406030204" pitchFamily="18" charset="0"/>
                <a:ea typeface="Cambria" panose="02040503050406030204" pitchFamily="18" charset="0"/>
              </a:rPr>
              <a:t>executable-section</a:t>
            </a:r>
          </a:p>
          <a:p>
            <a:pPr marL="0" lvl="1" algn="just">
              <a:buFontTx/>
              <a:buNone/>
              <a:defRPr/>
            </a:pPr>
            <a:r>
              <a:rPr lang="en-US" dirty="0">
                <a:latin typeface="Cambria" panose="02040503050406030204" pitchFamily="18" charset="0"/>
                <a:ea typeface="Cambria" panose="02040503050406030204" pitchFamily="18" charset="0"/>
              </a:rPr>
              <a:t>[exception-section]</a:t>
            </a:r>
          </a:p>
          <a:p>
            <a:pPr marL="0" lvl="1" algn="just">
              <a:buFontTx/>
              <a:buNone/>
              <a:defRPr/>
            </a:pPr>
            <a:r>
              <a:rPr lang="en-US" dirty="0">
                <a:solidFill>
                  <a:srgbClr val="0033CC"/>
                </a:solidFill>
                <a:latin typeface="Cambria" panose="02040503050406030204" pitchFamily="18" charset="0"/>
                <a:ea typeface="Cambria" panose="02040503050406030204" pitchFamily="18" charset="0"/>
              </a:rPr>
              <a:t>END</a:t>
            </a:r>
            <a:r>
              <a:rPr lang="en-US" dirty="0">
                <a:latin typeface="Cambria" panose="02040503050406030204" pitchFamily="18" charset="0"/>
                <a:ea typeface="Cambria" panose="02040503050406030204" pitchFamily="18" charset="0"/>
              </a:rPr>
              <a:t> [procedure-name];</a:t>
            </a:r>
          </a:p>
        </p:txBody>
      </p:sp>
      <p:sp>
        <p:nvSpPr>
          <p:cNvPr id="2" name="TextBox 1">
            <a:extLst>
              <a:ext uri="{FF2B5EF4-FFF2-40B4-BE49-F238E27FC236}">
                <a16:creationId xmlns:a16="http://schemas.microsoft.com/office/drawing/2014/main" id="{A9604224-B6FC-F1DA-F78E-11902D4D702F}"/>
              </a:ext>
            </a:extLst>
          </p:cNvPr>
          <p:cNvSpPr txBox="1">
            <a:spLocks noChangeArrowheads="1"/>
          </p:cNvSpPr>
          <p:nvPr/>
        </p:nvSpPr>
        <p:spPr bwMode="auto">
          <a:xfrm>
            <a:off x="4644008" y="2949178"/>
            <a:ext cx="4264025" cy="1631950"/>
          </a:xfrm>
          <a:prstGeom prst="rect">
            <a:avLst/>
          </a:prstGeom>
          <a:solidFill>
            <a:srgbClr val="00B0F0"/>
          </a:solidFill>
          <a:ln w="9525">
            <a:solidFill>
              <a:schemeClr val="tx1"/>
            </a:solidFill>
            <a:miter lim="800000"/>
            <a:headEnd/>
            <a:tailEnd/>
          </a:ln>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IN:</a:t>
            </a:r>
            <a:r>
              <a:rPr lang="en-US" altLang="en-US" sz="2000" dirty="0">
                <a:latin typeface="Cambria" panose="02040503050406030204" pitchFamily="18" charset="0"/>
                <a:ea typeface="Cambria" panose="02040503050406030204" pitchFamily="18" charset="0"/>
                <a:cs typeface="Calibri" panose="020F0502020204030204" pitchFamily="34" charset="0"/>
              </a:rPr>
              <a:t> Read only</a:t>
            </a:r>
          </a:p>
          <a:p>
            <a:pPr>
              <a:spcBef>
                <a:spcPct val="0"/>
              </a:spcBef>
              <a:buFontTx/>
              <a:buNone/>
            </a:pP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OUT:</a:t>
            </a:r>
            <a:r>
              <a:rPr lang="en-US" altLang="en-US" sz="2000" dirty="0">
                <a:latin typeface="Cambria" panose="02040503050406030204" pitchFamily="18" charset="0"/>
                <a:ea typeface="Cambria" panose="02040503050406030204" pitchFamily="18" charset="0"/>
                <a:cs typeface="Calibri" panose="020F0502020204030204" pitchFamily="34" charset="0"/>
              </a:rPr>
              <a:t> Writable</a:t>
            </a:r>
          </a:p>
          <a:p>
            <a:pPr>
              <a:spcBef>
                <a:spcPct val="0"/>
              </a:spcBef>
              <a:buFontTx/>
              <a:buNone/>
            </a:pP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IN OUT:</a:t>
            </a:r>
            <a:r>
              <a:rPr lang="en-US" altLang="en-US" sz="2000" dirty="0">
                <a:latin typeface="Cambria" panose="02040503050406030204" pitchFamily="18" charset="0"/>
                <a:ea typeface="Cambria" panose="02040503050406030204" pitchFamily="18" charset="0"/>
                <a:cs typeface="Calibri" panose="020F0502020204030204" pitchFamily="34" charset="0"/>
              </a:rPr>
              <a:t> Both readable and writable</a:t>
            </a:r>
          </a:p>
          <a:p>
            <a:pPr>
              <a:spcBef>
                <a:spcPct val="0"/>
              </a:spcBef>
              <a:buFontTx/>
              <a:buNone/>
            </a:pP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IS:</a:t>
            </a:r>
            <a:r>
              <a:rPr lang="en-US" altLang="en-US" sz="2000" dirty="0">
                <a:latin typeface="Cambria" panose="02040503050406030204" pitchFamily="18" charset="0"/>
                <a:ea typeface="Cambria" panose="02040503050406030204" pitchFamily="18" charset="0"/>
                <a:cs typeface="Calibri" panose="020F0502020204030204" pitchFamily="34" charset="0"/>
              </a:rPr>
              <a:t> Stored procedures</a:t>
            </a:r>
          </a:p>
          <a:p>
            <a:pPr>
              <a:spcBef>
                <a:spcPct val="0"/>
              </a:spcBef>
              <a:buFontTx/>
              <a:buNone/>
            </a:pPr>
            <a:r>
              <a:rPr lang="en-US" altLang="en-US" sz="2000" dirty="0">
                <a:solidFill>
                  <a:srgbClr val="FF0000"/>
                </a:solidFill>
                <a:latin typeface="Cambria" panose="02040503050406030204" pitchFamily="18" charset="0"/>
                <a:ea typeface="Cambria" panose="02040503050406030204" pitchFamily="18" charset="0"/>
                <a:cs typeface="Calibri" panose="020F0502020204030204" pitchFamily="34" charset="0"/>
              </a:rPr>
              <a:t>AS:</a:t>
            </a:r>
            <a:r>
              <a:rPr lang="en-US" altLang="en-US" sz="2000" dirty="0">
                <a:latin typeface="Cambria" panose="02040503050406030204" pitchFamily="18" charset="0"/>
                <a:ea typeface="Cambria" panose="02040503050406030204" pitchFamily="18" charset="0"/>
                <a:cs typeface="Calibri" panose="020F0502020204030204" pitchFamily="34" charset="0"/>
              </a:rPr>
              <a:t> Procedures inside a PL/SQL block</a:t>
            </a:r>
          </a:p>
        </p:txBody>
      </p:sp>
      <p:sp>
        <p:nvSpPr>
          <p:cNvPr id="3" name="Slide Number Placeholder 23">
            <a:extLst>
              <a:ext uri="{FF2B5EF4-FFF2-40B4-BE49-F238E27FC236}">
                <a16:creationId xmlns:a16="http://schemas.microsoft.com/office/drawing/2014/main" id="{5D4F00BB-C1DF-FDB2-E317-95C5BD3E5D5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5AA4CE56-4866-E2BC-01DF-EC8D22BE8D4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7" name="Rectangle 6">
            <a:extLst>
              <a:ext uri="{FF2B5EF4-FFF2-40B4-BE49-F238E27FC236}">
                <a16:creationId xmlns:a16="http://schemas.microsoft.com/office/drawing/2014/main" id="{956D7C17-CACB-DC00-3032-A58085CE1A3D}"/>
              </a:ext>
            </a:extLst>
          </p:cNvPr>
          <p:cNvSpPr>
            <a:spLocks noChangeArrowheads="1"/>
          </p:cNvSpPr>
          <p:nvPr/>
        </p:nvSpPr>
        <p:spPr bwMode="blackWhite">
          <a:xfrm>
            <a:off x="1043608" y="4869160"/>
            <a:ext cx="7027099" cy="155724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buFontTx/>
              <a:buNone/>
              <a:defRPr/>
            </a:pPr>
            <a:r>
              <a:rPr lang="en-US" dirty="0">
                <a:latin typeface="Cambria" panose="02040503050406030204" pitchFamily="18" charset="0"/>
                <a:ea typeface="Cambria" panose="02040503050406030204" pitchFamily="18" charset="0"/>
              </a:rPr>
              <a:t>CREATE OR REPLACE PROCEDURE greetings IS</a:t>
            </a:r>
          </a:p>
          <a:p>
            <a:pPr marL="0" lvl="1" algn="just">
              <a:buFontTx/>
              <a:buNone/>
              <a:defRPr/>
            </a:pPr>
            <a:r>
              <a:rPr lang="en-US" dirty="0">
                <a:solidFill>
                  <a:srgbClr val="FF0000"/>
                </a:solidFill>
                <a:latin typeface="Cambria" panose="02040503050406030204" pitchFamily="18" charset="0"/>
                <a:ea typeface="Cambria" panose="02040503050406030204" pitchFamily="18" charset="0"/>
              </a:rPr>
              <a:t>BEGIN</a:t>
            </a:r>
          </a:p>
          <a:p>
            <a:pPr marL="0" lvl="1" algn="just">
              <a:buFontTx/>
              <a:buNone/>
              <a:defRPr/>
            </a:pPr>
            <a:r>
              <a:rPr lang="en-US" dirty="0">
                <a:latin typeface="Cambria" panose="02040503050406030204" pitchFamily="18" charset="0"/>
                <a:ea typeface="Cambria" panose="02040503050406030204" pitchFamily="18" charset="0"/>
              </a:rPr>
              <a:t>	DBMS_OUTPUT.PUT_LINE ('Greetings!');</a:t>
            </a:r>
          </a:p>
          <a:p>
            <a:pPr marL="0" lvl="1" algn="just">
              <a:buFontTx/>
              <a:buNone/>
              <a:defRPr/>
            </a:pPr>
            <a:r>
              <a:rPr lang="en-US" dirty="0">
                <a:solidFill>
                  <a:srgbClr val="FF0000"/>
                </a:solidFill>
                <a:latin typeface="Cambria" panose="02040503050406030204" pitchFamily="18" charset="0"/>
                <a:ea typeface="Cambria" panose="02040503050406030204" pitchFamily="18" charset="0"/>
              </a:rPr>
              <a:t>END;</a:t>
            </a:r>
          </a:p>
        </p:txBody>
      </p:sp>
    </p:spTree>
    <p:extLst>
      <p:ext uri="{BB962C8B-B14F-4D97-AF65-F5344CB8AC3E}">
        <p14:creationId xmlns:p14="http://schemas.microsoft.com/office/powerpoint/2010/main" val="114289383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F6BB6-AA95-BFA0-4E16-00A9752AC58C}"/>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95374785-A0BE-7402-2B24-D0F55747BE7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Procedures</a:t>
            </a:r>
          </a:p>
        </p:txBody>
      </p:sp>
      <p:sp>
        <p:nvSpPr>
          <p:cNvPr id="38915" name="Rectangle 3">
            <a:extLst>
              <a:ext uri="{FF2B5EF4-FFF2-40B4-BE49-F238E27FC236}">
                <a16:creationId xmlns:a16="http://schemas.microsoft.com/office/drawing/2014/main" id="{CA320B9A-8F74-0747-E62A-0B2671244FBC}"/>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E044EF58-4D72-6A94-244F-FC33FF864669}"/>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lvl="0" indent="-285750" algn="just">
              <a:spcBef>
                <a:spcPts val="300"/>
              </a:spcBef>
              <a:buClr>
                <a:srgbClr val="D34817"/>
              </a:buClr>
              <a:buSzPct val="50000"/>
              <a:buFont typeface="Wingdings" panose="05000000000000000000" pitchFamily="2" charset="2"/>
              <a:buChar char="l"/>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To execute the procedure; type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execute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a:r>
            <a:r>
              <a:rPr kumimoji="0" lang="en-US" altLang="en-US" sz="2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procedure_name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OR </a:t>
            </a:r>
            <a:r>
              <a:rPr lang="en-US" alt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exec</a:t>
            </a:r>
            <a:r>
              <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rPr>
              <a:t> </a:t>
            </a:r>
            <a:r>
              <a:rPr lang="en-US" alt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procedure_name</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endPar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Unlike the type specifier in a PL/SQL variable declaration, the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type specifier</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in a parameter declaration must be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unconstrained.</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For example, CHAR(10) and VARCHAR(20) are illegal; CHAR or VARCHAR should be used instead.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actual length of a parameter depends on the corresponding argument that is passed in when the procedure is invoked.</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 name="Slide Number Placeholder 23">
            <a:extLst>
              <a:ext uri="{FF2B5EF4-FFF2-40B4-BE49-F238E27FC236}">
                <a16:creationId xmlns:a16="http://schemas.microsoft.com/office/drawing/2014/main" id="{0C8C5483-7C8C-3C70-33A8-FD81FC6A0173}"/>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31E7A8B6-85A0-7C72-36AD-7F212203283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7" name="Rectangle 6">
            <a:extLst>
              <a:ext uri="{FF2B5EF4-FFF2-40B4-BE49-F238E27FC236}">
                <a16:creationId xmlns:a16="http://schemas.microsoft.com/office/drawing/2014/main" id="{038AE72E-488E-9D17-7086-B29D977F0F1F}"/>
              </a:ext>
            </a:extLst>
          </p:cNvPr>
          <p:cNvSpPr>
            <a:spLocks noChangeArrowheads="1"/>
          </p:cNvSpPr>
          <p:nvPr/>
        </p:nvSpPr>
        <p:spPr bwMode="blackWhite">
          <a:xfrm>
            <a:off x="755576" y="4581128"/>
            <a:ext cx="7488832" cy="191906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buFontTx/>
              <a:buNone/>
              <a:defRPr/>
            </a:pPr>
            <a:r>
              <a:rPr lang="en-US" dirty="0">
                <a:latin typeface="Cambria" panose="02040503050406030204" pitchFamily="18" charset="0"/>
                <a:ea typeface="Cambria" panose="02040503050406030204" pitchFamily="18" charset="0"/>
              </a:rPr>
              <a:t>CREATE OR REPLACE PROCEDURE </a:t>
            </a:r>
          </a:p>
          <a:p>
            <a:pPr marL="0" lvl="1" algn="just">
              <a:buFontTx/>
              <a:buNone/>
              <a:defRPr/>
            </a:pPr>
            <a:r>
              <a:rPr lang="en-US" dirty="0">
                <a:solidFill>
                  <a:srgbClr val="0033CC"/>
                </a:solidFill>
                <a:latin typeface="Cambria" panose="02040503050406030204" pitchFamily="18" charset="0"/>
                <a:ea typeface="Cambria" panose="02040503050406030204" pitchFamily="18" charset="0"/>
              </a:rPr>
              <a:t>add(a number, b number:=10)</a:t>
            </a:r>
            <a:r>
              <a:rPr lang="en-US" dirty="0">
                <a:latin typeface="Cambria" panose="02040503050406030204" pitchFamily="18" charset="0"/>
                <a:ea typeface="Cambria" panose="02040503050406030204" pitchFamily="18" charset="0"/>
              </a:rPr>
              <a:t>  IS</a:t>
            </a:r>
          </a:p>
          <a:p>
            <a:pPr marL="0" lvl="1" algn="just">
              <a:buFontTx/>
              <a:buNone/>
              <a:defRPr/>
            </a:pPr>
            <a:r>
              <a:rPr lang="en-US" dirty="0">
                <a:solidFill>
                  <a:srgbClr val="FF0000"/>
                </a:solidFill>
                <a:latin typeface="Cambria" panose="02040503050406030204" pitchFamily="18" charset="0"/>
                <a:ea typeface="Cambria" panose="02040503050406030204" pitchFamily="18" charset="0"/>
              </a:rPr>
              <a:t>BEGIN</a:t>
            </a:r>
          </a:p>
          <a:p>
            <a:pPr marL="0" lvl="1" algn="just">
              <a:buFontTx/>
              <a:buNone/>
              <a:defRPr/>
            </a:pPr>
            <a:r>
              <a:rPr lang="en-US" dirty="0">
                <a:latin typeface="Cambria" panose="02040503050406030204" pitchFamily="18" charset="0"/>
                <a:ea typeface="Cambria" panose="02040503050406030204" pitchFamily="18" charset="0"/>
              </a:rPr>
              <a:t>	DBMS_OUTPUT.PUT_LINE (a + b);</a:t>
            </a:r>
          </a:p>
          <a:p>
            <a:pPr marL="0" lvl="1" algn="just">
              <a:buFontTx/>
              <a:buNone/>
              <a:defRPr/>
            </a:pPr>
            <a:r>
              <a:rPr lang="en-US" dirty="0">
                <a:solidFill>
                  <a:srgbClr val="FF0000"/>
                </a:solidFill>
                <a:latin typeface="Cambria" panose="02040503050406030204" pitchFamily="18" charset="0"/>
                <a:ea typeface="Cambria" panose="02040503050406030204" pitchFamily="18" charset="0"/>
              </a:rPr>
              <a:t>END;</a:t>
            </a:r>
          </a:p>
        </p:txBody>
      </p:sp>
    </p:spTree>
    <p:extLst>
      <p:ext uri="{BB962C8B-B14F-4D97-AF65-F5344CB8AC3E}">
        <p14:creationId xmlns:p14="http://schemas.microsoft.com/office/powerpoint/2010/main" val="49010965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25525-07C1-720F-6642-D68BDDDDDC74}"/>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1C62A443-03F8-DF16-04EC-2F3407EFD503}"/>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Procedure inside a PL/SQL block</a:t>
            </a:r>
          </a:p>
        </p:txBody>
      </p:sp>
      <p:sp>
        <p:nvSpPr>
          <p:cNvPr id="38915" name="Rectangle 3">
            <a:extLst>
              <a:ext uri="{FF2B5EF4-FFF2-40B4-BE49-F238E27FC236}">
                <a16:creationId xmlns:a16="http://schemas.microsoft.com/office/drawing/2014/main" id="{65756E41-0E1E-2ADF-51FA-CA308821B3DA}"/>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5" name="Rectangle 4">
            <a:extLst>
              <a:ext uri="{FF2B5EF4-FFF2-40B4-BE49-F238E27FC236}">
                <a16:creationId xmlns:a16="http://schemas.microsoft.com/office/drawing/2014/main" id="{8CEA7797-F8DF-24C3-59D1-2DC418DB84A3}"/>
              </a:ext>
            </a:extLst>
          </p:cNvPr>
          <p:cNvSpPr>
            <a:spLocks noChangeArrowheads="1"/>
          </p:cNvSpPr>
          <p:nvPr/>
        </p:nvSpPr>
        <p:spPr bwMode="blackWhite">
          <a:xfrm>
            <a:off x="195386" y="741784"/>
            <a:ext cx="8841109" cy="475252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buFontTx/>
              <a:buNone/>
              <a:defRPr/>
            </a:pPr>
            <a:r>
              <a:rPr lang="en-US" dirty="0">
                <a:solidFill>
                  <a:srgbClr val="FF0000"/>
                </a:solidFill>
                <a:latin typeface="Cambria" panose="02040503050406030204" pitchFamily="18" charset="0"/>
                <a:ea typeface="Cambria" panose="02040503050406030204" pitchFamily="18" charset="0"/>
              </a:rPr>
              <a:t>DECLARE</a:t>
            </a:r>
            <a:r>
              <a:rPr lang="en-US" dirty="0">
                <a:latin typeface="Cambria" panose="02040503050406030204" pitchFamily="18" charset="0"/>
                <a:ea typeface="Cambria" panose="02040503050406030204" pitchFamily="18" charset="0"/>
              </a:rPr>
              <a:t> </a:t>
            </a:r>
          </a:p>
          <a:p>
            <a:pPr marL="0" lvl="1" algn="just">
              <a:buFontTx/>
              <a:buNone/>
              <a:defRPr/>
            </a:pPr>
            <a:r>
              <a:rPr lang="en-US" dirty="0">
                <a:latin typeface="Cambria" panose="02040503050406030204" pitchFamily="18" charset="0"/>
                <a:ea typeface="Cambria" panose="02040503050406030204" pitchFamily="18" charset="0"/>
              </a:rPr>
              <a:t>   a number; </a:t>
            </a:r>
          </a:p>
          <a:p>
            <a:pPr marL="0" lvl="1" algn="just">
              <a:buFontTx/>
              <a:buNone/>
              <a:defRPr/>
            </a:pPr>
            <a:r>
              <a:rPr lang="en-US" dirty="0">
                <a:latin typeface="Cambria" panose="02040503050406030204" pitchFamily="18" charset="0"/>
                <a:ea typeface="Cambria" panose="02040503050406030204" pitchFamily="18" charset="0"/>
              </a:rPr>
              <a:t>   b number; </a:t>
            </a:r>
          </a:p>
          <a:p>
            <a:pPr marL="0" lvl="1" algn="just">
              <a:buFontTx/>
              <a:buNone/>
              <a:defRPr/>
            </a:pPr>
            <a:r>
              <a:rPr lang="en-US" dirty="0">
                <a:latin typeface="Cambria" panose="02040503050406030204" pitchFamily="18" charset="0"/>
                <a:ea typeface="Cambria" panose="02040503050406030204" pitchFamily="18" charset="0"/>
              </a:rPr>
              <a:t>   c number;</a:t>
            </a:r>
          </a:p>
          <a:p>
            <a:pPr marL="0" lvl="1" algn="just">
              <a:buFontTx/>
              <a:buNone/>
              <a:defRPr/>
            </a:pPr>
            <a:r>
              <a:rPr lang="en-US" dirty="0">
                <a:solidFill>
                  <a:srgbClr val="0033CC"/>
                </a:solidFill>
                <a:latin typeface="Cambria" panose="02040503050406030204" pitchFamily="18" charset="0"/>
                <a:ea typeface="Cambria" panose="02040503050406030204" pitchFamily="18" charset="0"/>
              </a:rPr>
              <a:t>PROCEDURE </a:t>
            </a:r>
            <a:r>
              <a:rPr lang="en-US" dirty="0" err="1">
                <a:solidFill>
                  <a:srgbClr val="0033CC"/>
                </a:solidFill>
                <a:latin typeface="Cambria" panose="02040503050406030204" pitchFamily="18" charset="0"/>
                <a:ea typeface="Cambria" panose="02040503050406030204" pitchFamily="18" charset="0"/>
              </a:rPr>
              <a:t>findMin</a:t>
            </a:r>
            <a:r>
              <a:rPr lang="en-US" dirty="0">
                <a:solidFill>
                  <a:srgbClr val="0033CC"/>
                </a:solidFill>
                <a:latin typeface="Cambria" panose="02040503050406030204" pitchFamily="18" charset="0"/>
                <a:ea typeface="Cambria" panose="02040503050406030204" pitchFamily="18" charset="0"/>
              </a:rPr>
              <a:t>(x IN number, y IN number, z OUT number) AS </a:t>
            </a:r>
          </a:p>
          <a:p>
            <a:pPr marL="0" lvl="1" algn="just">
              <a:buFontTx/>
              <a:buNone/>
              <a:defRPr/>
            </a:pPr>
            <a:r>
              <a:rPr lang="en-US" dirty="0">
                <a:solidFill>
                  <a:srgbClr val="FF0000"/>
                </a:solidFill>
                <a:latin typeface="Cambria" panose="02040503050406030204" pitchFamily="18" charset="0"/>
                <a:ea typeface="Cambria" panose="02040503050406030204" pitchFamily="18" charset="0"/>
              </a:rPr>
              <a:t>BEGIN </a:t>
            </a:r>
          </a:p>
          <a:p>
            <a:pPr marL="0" lvl="1" algn="just">
              <a:buFontTx/>
              <a:buNone/>
              <a:defRPr/>
            </a:pPr>
            <a:r>
              <a:rPr lang="en-US" dirty="0">
                <a:latin typeface="Cambria" panose="02040503050406030204" pitchFamily="18" charset="0"/>
                <a:ea typeface="Cambria" panose="02040503050406030204" pitchFamily="18" charset="0"/>
              </a:rPr>
              <a:t>   IF x &lt; y THEN </a:t>
            </a:r>
          </a:p>
          <a:p>
            <a:pPr marL="0" lvl="1" algn="just">
              <a:buFontTx/>
              <a:buNone/>
              <a:defRPr/>
            </a:pPr>
            <a:r>
              <a:rPr lang="en-US" dirty="0">
                <a:latin typeface="Cambria" panose="02040503050406030204" pitchFamily="18" charset="0"/>
                <a:ea typeface="Cambria" panose="02040503050406030204" pitchFamily="18" charset="0"/>
              </a:rPr>
              <a:t>      z:= x; </a:t>
            </a:r>
          </a:p>
          <a:p>
            <a:pPr marL="0" lvl="1" algn="just">
              <a:buFontTx/>
              <a:buNone/>
              <a:defRPr/>
            </a:pPr>
            <a:r>
              <a:rPr lang="en-US" dirty="0">
                <a:latin typeface="Cambria" panose="02040503050406030204" pitchFamily="18" charset="0"/>
                <a:ea typeface="Cambria" panose="02040503050406030204" pitchFamily="18" charset="0"/>
              </a:rPr>
              <a:t>   ELSE </a:t>
            </a:r>
          </a:p>
          <a:p>
            <a:pPr marL="0" lvl="1" algn="just">
              <a:buFontTx/>
              <a:buNone/>
              <a:defRPr/>
            </a:pPr>
            <a:r>
              <a:rPr lang="en-US" dirty="0">
                <a:latin typeface="Cambria" panose="02040503050406030204" pitchFamily="18" charset="0"/>
                <a:ea typeface="Cambria" panose="02040503050406030204" pitchFamily="18" charset="0"/>
              </a:rPr>
              <a:t>      z:= y; </a:t>
            </a:r>
          </a:p>
          <a:p>
            <a:pPr marL="0" lvl="1" algn="just">
              <a:buFontTx/>
              <a:buNone/>
              <a:defRPr/>
            </a:pPr>
            <a:r>
              <a:rPr lang="en-US" dirty="0">
                <a:latin typeface="Cambria" panose="02040503050406030204" pitchFamily="18" charset="0"/>
                <a:ea typeface="Cambria" panose="02040503050406030204" pitchFamily="18" charset="0"/>
              </a:rPr>
              <a:t>   END IF; </a:t>
            </a:r>
          </a:p>
          <a:p>
            <a:pPr marL="0" lvl="1" algn="just">
              <a:buFontTx/>
              <a:buNone/>
              <a:defRPr/>
            </a:pPr>
            <a:r>
              <a:rPr lang="en-US" dirty="0">
                <a:solidFill>
                  <a:srgbClr val="FF0000"/>
                </a:solidFill>
                <a:latin typeface="Cambria" panose="02040503050406030204" pitchFamily="18" charset="0"/>
                <a:ea typeface="Cambria" panose="02040503050406030204" pitchFamily="18" charset="0"/>
              </a:rPr>
              <a:t>END;</a:t>
            </a:r>
            <a:r>
              <a:rPr lang="en-US" dirty="0">
                <a:latin typeface="Cambria" panose="02040503050406030204" pitchFamily="18" charset="0"/>
                <a:ea typeface="Cambria" panose="02040503050406030204" pitchFamily="18" charset="0"/>
              </a:rPr>
              <a:t> </a:t>
            </a:r>
          </a:p>
        </p:txBody>
      </p:sp>
      <p:sp>
        <p:nvSpPr>
          <p:cNvPr id="2" name="TextBox 1">
            <a:extLst>
              <a:ext uri="{FF2B5EF4-FFF2-40B4-BE49-F238E27FC236}">
                <a16:creationId xmlns:a16="http://schemas.microsoft.com/office/drawing/2014/main" id="{A0F4DBD2-69DF-A75D-8CAC-E04A29EBDD44}"/>
              </a:ext>
            </a:extLst>
          </p:cNvPr>
          <p:cNvSpPr txBox="1">
            <a:spLocks noChangeArrowheads="1"/>
          </p:cNvSpPr>
          <p:nvPr/>
        </p:nvSpPr>
        <p:spPr bwMode="auto">
          <a:xfrm>
            <a:off x="3491880" y="2996952"/>
            <a:ext cx="5416153" cy="2316019"/>
          </a:xfrm>
          <a:prstGeom prst="rect">
            <a:avLst/>
          </a:prstGeom>
          <a:solidFill>
            <a:srgbClr val="00B0F0"/>
          </a:solidFill>
          <a:ln w="9525">
            <a:solidFill>
              <a:schemeClr val="tx1"/>
            </a:solidFill>
            <a:miter lim="800000"/>
            <a:headEnd/>
            <a:tailEnd/>
          </a:ln>
        </p:spPr>
        <p:txBody>
          <a:bodyPr wrap="squar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ts val="300"/>
              </a:spcBef>
              <a:buFontTx/>
              <a:buNone/>
            </a:pP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BEGIN</a:t>
            </a:r>
            <a:r>
              <a:rPr lang="en-US" altLang="en-US" sz="2200" dirty="0">
                <a:latin typeface="Cambria" panose="02040503050406030204" pitchFamily="18" charset="0"/>
                <a:ea typeface="Cambria" panose="02040503050406030204" pitchFamily="18" charset="0"/>
                <a:cs typeface="Calibri" panose="020F0502020204030204" pitchFamily="34" charset="0"/>
              </a:rPr>
              <a:t> </a:t>
            </a:r>
          </a:p>
          <a:p>
            <a:pPr>
              <a:spcBef>
                <a:spcPts val="300"/>
              </a:spcBef>
              <a:buFontTx/>
              <a:buNone/>
            </a:pPr>
            <a:r>
              <a:rPr lang="en-US" altLang="en-US" sz="2200" dirty="0">
                <a:latin typeface="Cambria" panose="02040503050406030204" pitchFamily="18" charset="0"/>
                <a:ea typeface="Cambria" panose="02040503050406030204" pitchFamily="18" charset="0"/>
                <a:cs typeface="Calibri" panose="020F0502020204030204" pitchFamily="34" charset="0"/>
              </a:rPr>
              <a:t>   a:= 23; </a:t>
            </a:r>
          </a:p>
          <a:p>
            <a:pPr>
              <a:spcBef>
                <a:spcPts val="300"/>
              </a:spcBef>
              <a:buFontTx/>
              <a:buNone/>
            </a:pPr>
            <a:r>
              <a:rPr lang="en-US" altLang="en-US" sz="2200" dirty="0">
                <a:latin typeface="Cambria" panose="02040503050406030204" pitchFamily="18" charset="0"/>
                <a:ea typeface="Cambria" panose="02040503050406030204" pitchFamily="18" charset="0"/>
                <a:cs typeface="Calibri" panose="020F0502020204030204" pitchFamily="34" charset="0"/>
              </a:rPr>
              <a:t>   b:= 45; </a:t>
            </a:r>
          </a:p>
          <a:p>
            <a:pPr>
              <a:spcBef>
                <a:spcPts val="300"/>
              </a:spcBef>
              <a:buFontTx/>
              <a:buNone/>
            </a:pPr>
            <a:r>
              <a:rPr lang="en-US" altLang="en-US" sz="2200" dirty="0">
                <a:latin typeface="Cambria" panose="02040503050406030204" pitchFamily="18" charset="0"/>
                <a:ea typeface="Cambria" panose="02040503050406030204" pitchFamily="18" charset="0"/>
                <a:cs typeface="Calibri" panose="020F0502020204030204" pitchFamily="34" charset="0"/>
              </a:rPr>
              <a:t>   </a:t>
            </a:r>
            <a:r>
              <a:rPr lang="en-US" altLang="en-US" sz="2200" dirty="0" err="1">
                <a:latin typeface="Cambria" panose="02040503050406030204" pitchFamily="18" charset="0"/>
                <a:ea typeface="Cambria" panose="02040503050406030204" pitchFamily="18" charset="0"/>
                <a:cs typeface="Calibri" panose="020F0502020204030204" pitchFamily="34" charset="0"/>
              </a:rPr>
              <a:t>findMin</a:t>
            </a:r>
            <a:r>
              <a:rPr lang="en-US" altLang="en-US" sz="2200" dirty="0">
                <a:latin typeface="Cambria" panose="02040503050406030204" pitchFamily="18" charset="0"/>
                <a:ea typeface="Cambria" panose="02040503050406030204" pitchFamily="18" charset="0"/>
                <a:cs typeface="Calibri" panose="020F0502020204030204" pitchFamily="34" charset="0"/>
              </a:rPr>
              <a:t>(a, b, c); </a:t>
            </a:r>
          </a:p>
          <a:p>
            <a:pPr>
              <a:spcBef>
                <a:spcPts val="300"/>
              </a:spcBef>
              <a:buFontTx/>
              <a:buNone/>
            </a:pPr>
            <a:r>
              <a:rPr lang="en-US" altLang="en-US" sz="2200" dirty="0">
                <a:latin typeface="Cambria" panose="02040503050406030204" pitchFamily="18" charset="0"/>
                <a:ea typeface="Cambria" panose="02040503050406030204" pitchFamily="18" charset="0"/>
                <a:cs typeface="Calibri" panose="020F0502020204030204" pitchFamily="34" charset="0"/>
              </a:rPr>
              <a:t>   </a:t>
            </a:r>
            <a:r>
              <a:rPr lang="en-US" altLang="en-US" sz="2200" dirty="0" err="1">
                <a:latin typeface="Cambria" panose="02040503050406030204" pitchFamily="18" charset="0"/>
                <a:ea typeface="Cambria" panose="02040503050406030204" pitchFamily="18" charset="0"/>
                <a:cs typeface="Calibri" panose="020F0502020204030204" pitchFamily="34" charset="0"/>
              </a:rPr>
              <a:t>dbms_output.put_line</a:t>
            </a:r>
            <a:r>
              <a:rPr lang="en-US" altLang="en-US" sz="2200" dirty="0">
                <a:latin typeface="Cambria" panose="02040503050406030204" pitchFamily="18" charset="0"/>
                <a:ea typeface="Cambria" panose="02040503050406030204" pitchFamily="18" charset="0"/>
                <a:cs typeface="Calibri" panose="020F0502020204030204" pitchFamily="34" charset="0"/>
              </a:rPr>
              <a:t>(' Minimum = ' || c); </a:t>
            </a:r>
          </a:p>
          <a:p>
            <a:pPr>
              <a:spcBef>
                <a:spcPts val="300"/>
              </a:spcBef>
              <a:buFontTx/>
              <a:buNone/>
            </a:pP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END; </a:t>
            </a:r>
          </a:p>
        </p:txBody>
      </p:sp>
      <p:sp>
        <p:nvSpPr>
          <p:cNvPr id="3" name="Slide Number Placeholder 23">
            <a:extLst>
              <a:ext uri="{FF2B5EF4-FFF2-40B4-BE49-F238E27FC236}">
                <a16:creationId xmlns:a16="http://schemas.microsoft.com/office/drawing/2014/main" id="{054471F7-D9AA-B2D7-7715-A1A3D50D88AC}"/>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64443809-2385-D0FA-C9A8-BBB4C90DF2D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64931272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54709-5A1E-C0D7-9944-A44CE28127D3}"/>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060F5AA3-44C8-E7BE-3A21-1CD62BF5557B}"/>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Procedures</a:t>
            </a:r>
          </a:p>
        </p:txBody>
      </p:sp>
      <p:sp>
        <p:nvSpPr>
          <p:cNvPr id="38915" name="Rectangle 3">
            <a:extLst>
              <a:ext uri="{FF2B5EF4-FFF2-40B4-BE49-F238E27FC236}">
                <a16:creationId xmlns:a16="http://schemas.microsoft.com/office/drawing/2014/main" id="{6A80FC2E-190C-45E3-8040-5F4084E15EC6}"/>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D4CE622A-FAD4-EF23-A4B2-77A4C16732BE}"/>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1"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Example:</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 </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procedure to insert a record in temp table.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lang="en-US" altLang="en-US" sz="2400" dirty="0">
              <a:solidFill>
                <a:prstClr val="black"/>
              </a:solidFill>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To execute the above procedure; type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execute </a:t>
            </a:r>
            <a:r>
              <a:rPr kumimoji="0" lang="en-US" altLang="en-US" sz="2400" b="0" i="0" u="none" strike="noStrike" kern="1200" cap="none" spc="0" normalizeH="0" baseline="0" noProof="0" dirty="0" err="1">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insert_record</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(1 , 'A')</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SQL prompt.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5" name="Rectangle 4">
            <a:extLst>
              <a:ext uri="{FF2B5EF4-FFF2-40B4-BE49-F238E27FC236}">
                <a16:creationId xmlns:a16="http://schemas.microsoft.com/office/drawing/2014/main" id="{929A57F0-0F7E-E4B3-010B-F785E2D0DC9D}"/>
              </a:ext>
            </a:extLst>
          </p:cNvPr>
          <p:cNvSpPr>
            <a:spLocks noChangeArrowheads="1"/>
          </p:cNvSpPr>
          <p:nvPr/>
        </p:nvSpPr>
        <p:spPr bwMode="blackWhite">
          <a:xfrm>
            <a:off x="683890" y="1196752"/>
            <a:ext cx="8136260" cy="201622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buFontTx/>
              <a:buNone/>
              <a:defRPr/>
            </a:pPr>
            <a:r>
              <a:rPr lang="en-US" dirty="0">
                <a:latin typeface="Cambria" panose="02040503050406030204" pitchFamily="18" charset="0"/>
                <a:ea typeface="Cambria" panose="02040503050406030204" pitchFamily="18" charset="0"/>
              </a:rPr>
              <a:t>CREATE OR REPLACE PROCEDURE </a:t>
            </a:r>
          </a:p>
          <a:p>
            <a:pPr marL="0" lvl="1" algn="just">
              <a:buFontTx/>
              <a:buNone/>
              <a:defRPr/>
            </a:pPr>
            <a:r>
              <a:rPr lang="en-US" dirty="0">
                <a:latin typeface="Cambria" panose="02040503050406030204" pitchFamily="18" charset="0"/>
                <a:ea typeface="Cambria" panose="02040503050406030204" pitchFamily="18" charset="0"/>
              </a:rPr>
              <a:t>INSERT_RECORD (a NUMBER, b CHAR)  IS</a:t>
            </a:r>
          </a:p>
          <a:p>
            <a:pPr marL="0" lvl="1" algn="just">
              <a:buFontTx/>
              <a:buNone/>
              <a:defRPr/>
            </a:pPr>
            <a:r>
              <a:rPr lang="en-US" dirty="0">
                <a:solidFill>
                  <a:srgbClr val="FF0000"/>
                </a:solidFill>
                <a:latin typeface="Cambria" panose="02040503050406030204" pitchFamily="18" charset="0"/>
                <a:ea typeface="Cambria" panose="02040503050406030204" pitchFamily="18" charset="0"/>
              </a:rPr>
              <a:t>BEGIN</a:t>
            </a:r>
            <a:endParaRPr lang="en-US" dirty="0">
              <a:latin typeface="Cambria" panose="02040503050406030204" pitchFamily="18" charset="0"/>
              <a:ea typeface="Cambria" panose="02040503050406030204" pitchFamily="18" charset="0"/>
            </a:endParaRPr>
          </a:p>
          <a:p>
            <a:pPr marL="0" lvl="1" algn="just">
              <a:buFontTx/>
              <a:buNone/>
              <a:defRPr/>
            </a:pPr>
            <a:r>
              <a:rPr lang="en-US" dirty="0">
                <a:latin typeface="Cambria" panose="02040503050406030204" pitchFamily="18" charset="0"/>
                <a:ea typeface="Cambria" panose="02040503050406030204" pitchFamily="18" charset="0"/>
              </a:rPr>
              <a:t>	INSERT INTO temp VALUES(a , b);</a:t>
            </a:r>
          </a:p>
          <a:p>
            <a:pPr marL="0" lvl="1" algn="just">
              <a:buFontTx/>
              <a:buNone/>
              <a:defRPr/>
            </a:pPr>
            <a:r>
              <a:rPr lang="en-US" dirty="0">
                <a:solidFill>
                  <a:srgbClr val="FF0000"/>
                </a:solidFill>
                <a:latin typeface="Cambria" panose="02040503050406030204" pitchFamily="18" charset="0"/>
                <a:ea typeface="Cambria" panose="02040503050406030204" pitchFamily="18" charset="0"/>
              </a:rPr>
              <a:t>END;</a:t>
            </a:r>
            <a:endParaRPr lang="en-US" dirty="0">
              <a:latin typeface="Cambria" panose="02040503050406030204" pitchFamily="18" charset="0"/>
              <a:ea typeface="Cambria" panose="02040503050406030204" pitchFamily="18" charset="0"/>
            </a:endParaRPr>
          </a:p>
        </p:txBody>
      </p:sp>
      <p:sp>
        <p:nvSpPr>
          <p:cNvPr id="3" name="Slide Number Placeholder 23">
            <a:extLst>
              <a:ext uri="{FF2B5EF4-FFF2-40B4-BE49-F238E27FC236}">
                <a16:creationId xmlns:a16="http://schemas.microsoft.com/office/drawing/2014/main" id="{801DFA59-8B20-693E-43F2-B02BE754F86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E385991A-1A74-DCAB-A3F2-D6C7EFB5277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8" name="Rectangle 7">
            <a:extLst>
              <a:ext uri="{FF2B5EF4-FFF2-40B4-BE49-F238E27FC236}">
                <a16:creationId xmlns:a16="http://schemas.microsoft.com/office/drawing/2014/main" id="{5E9A70DE-4A98-1735-0B53-023F18424CA9}"/>
              </a:ext>
            </a:extLst>
          </p:cNvPr>
          <p:cNvSpPr>
            <a:spLocks noChangeArrowheads="1"/>
          </p:cNvSpPr>
          <p:nvPr/>
        </p:nvSpPr>
        <p:spPr bwMode="blackWhite">
          <a:xfrm>
            <a:off x="683568" y="3429000"/>
            <a:ext cx="8136260" cy="201622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buFontTx/>
              <a:buNone/>
              <a:defRPr/>
            </a:pPr>
            <a:r>
              <a:rPr lang="en-US" dirty="0">
                <a:latin typeface="Cambria" panose="02040503050406030204" pitchFamily="18" charset="0"/>
                <a:ea typeface="Cambria" panose="02040503050406030204" pitchFamily="18" charset="0"/>
              </a:rPr>
              <a:t>CREATE OR REPLACE PROCEDURE </a:t>
            </a:r>
          </a:p>
          <a:p>
            <a:pPr marL="0" lvl="1" algn="just">
              <a:buFontTx/>
              <a:buNone/>
              <a:defRPr/>
            </a:pPr>
            <a:r>
              <a:rPr lang="en-US" dirty="0">
                <a:latin typeface="Cambria" panose="02040503050406030204" pitchFamily="18" charset="0"/>
                <a:ea typeface="Cambria" panose="02040503050406030204" pitchFamily="18" charset="0"/>
              </a:rPr>
              <a:t>INSERT_RECORD </a:t>
            </a:r>
            <a:r>
              <a:rPr lang="en-US" dirty="0">
                <a:solidFill>
                  <a:srgbClr val="0033CC"/>
                </a:solidFill>
                <a:latin typeface="Cambria" panose="02040503050406030204" pitchFamily="18" charset="0"/>
                <a:ea typeface="Cambria" panose="02040503050406030204" pitchFamily="18" charset="0"/>
              </a:rPr>
              <a:t>(a </a:t>
            </a:r>
            <a:r>
              <a:rPr lang="en-US" dirty="0" err="1">
                <a:solidFill>
                  <a:srgbClr val="0033CC"/>
                </a:solidFill>
                <a:latin typeface="Cambria" panose="02040503050406030204" pitchFamily="18" charset="0"/>
                <a:ea typeface="Cambria" panose="02040503050406030204" pitchFamily="18" charset="0"/>
              </a:rPr>
              <a:t>temp.x%type</a:t>
            </a:r>
            <a:r>
              <a:rPr lang="en-US" dirty="0">
                <a:solidFill>
                  <a:srgbClr val="0033CC"/>
                </a:solidFill>
                <a:latin typeface="Cambria" panose="02040503050406030204" pitchFamily="18" charset="0"/>
                <a:ea typeface="Cambria" panose="02040503050406030204" pitchFamily="18" charset="0"/>
              </a:rPr>
              <a:t>, b </a:t>
            </a:r>
            <a:r>
              <a:rPr lang="en-US" dirty="0" err="1">
                <a:solidFill>
                  <a:srgbClr val="0033CC"/>
                </a:solidFill>
                <a:latin typeface="Cambria" panose="02040503050406030204" pitchFamily="18" charset="0"/>
                <a:ea typeface="Cambria" panose="02040503050406030204" pitchFamily="18" charset="0"/>
              </a:rPr>
              <a:t>temp.y%type</a:t>
            </a:r>
            <a:r>
              <a:rPr lang="en-US" dirty="0">
                <a:solidFill>
                  <a:srgbClr val="0033CC"/>
                </a:solidFill>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IS</a:t>
            </a:r>
          </a:p>
          <a:p>
            <a:pPr marL="0" lvl="1" algn="just">
              <a:buFontTx/>
              <a:buNone/>
              <a:defRPr/>
            </a:pPr>
            <a:r>
              <a:rPr lang="en-US" dirty="0">
                <a:solidFill>
                  <a:srgbClr val="FF0000"/>
                </a:solidFill>
                <a:latin typeface="Cambria" panose="02040503050406030204" pitchFamily="18" charset="0"/>
                <a:ea typeface="Cambria" panose="02040503050406030204" pitchFamily="18" charset="0"/>
              </a:rPr>
              <a:t>BEGIN</a:t>
            </a:r>
            <a:endParaRPr lang="en-US" dirty="0">
              <a:latin typeface="Cambria" panose="02040503050406030204" pitchFamily="18" charset="0"/>
              <a:ea typeface="Cambria" panose="02040503050406030204" pitchFamily="18" charset="0"/>
            </a:endParaRPr>
          </a:p>
          <a:p>
            <a:pPr marL="0" lvl="1" algn="just">
              <a:buFontTx/>
              <a:buNone/>
              <a:defRPr/>
            </a:pPr>
            <a:r>
              <a:rPr lang="en-US" dirty="0">
                <a:latin typeface="Cambria" panose="02040503050406030204" pitchFamily="18" charset="0"/>
                <a:ea typeface="Cambria" panose="02040503050406030204" pitchFamily="18" charset="0"/>
              </a:rPr>
              <a:t>	INSERT INTO temp VALUES(a , b);</a:t>
            </a:r>
          </a:p>
          <a:p>
            <a:pPr marL="0" lvl="1" algn="just">
              <a:buFontTx/>
              <a:buNone/>
              <a:defRPr/>
            </a:pPr>
            <a:r>
              <a:rPr lang="en-US" dirty="0">
                <a:solidFill>
                  <a:srgbClr val="FF0000"/>
                </a:solidFill>
                <a:latin typeface="Cambria" panose="02040503050406030204" pitchFamily="18" charset="0"/>
                <a:ea typeface="Cambria" panose="02040503050406030204" pitchFamily="18" charset="0"/>
              </a:rPr>
              <a:t>END;</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5428619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BC119-3C4F-8D8E-1E70-0F10684ECDEF}"/>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BD05D73-6336-9CC6-79B1-A3BDEFCFB12B}"/>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Functions</a:t>
            </a:r>
          </a:p>
        </p:txBody>
      </p:sp>
      <p:sp>
        <p:nvSpPr>
          <p:cNvPr id="38915" name="Rectangle 3">
            <a:extLst>
              <a:ext uri="{FF2B5EF4-FFF2-40B4-BE49-F238E27FC236}">
                <a16:creationId xmlns:a16="http://schemas.microsoft.com/office/drawing/2014/main" id="{97B84E6F-F8EF-BFF5-9D12-01117FA512C2}"/>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2665529D-22FF-C816-F63B-1FC2208EAB12}"/>
              </a:ext>
            </a:extLst>
          </p:cNvPr>
          <p:cNvSpPr txBox="1">
            <a:spLocks noChangeArrowheads="1"/>
          </p:cNvSpPr>
          <p:nvPr/>
        </p:nvSpPr>
        <p:spPr bwMode="auto">
          <a:xfrm>
            <a:off x="323850" y="69389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PL/SQL function declaration is similar to a procedure declaration except that the function returns a value of a predefined data type.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Since the function returns a value, therefore it must either be called in a select statement OR in an expression.</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5" name="Rectangle 4">
            <a:extLst>
              <a:ext uri="{FF2B5EF4-FFF2-40B4-BE49-F238E27FC236}">
                <a16:creationId xmlns:a16="http://schemas.microsoft.com/office/drawing/2014/main" id="{2E29B78B-C17F-8198-A525-93C2B0527BD7}"/>
              </a:ext>
            </a:extLst>
          </p:cNvPr>
          <p:cNvSpPr>
            <a:spLocks noChangeArrowheads="1"/>
          </p:cNvSpPr>
          <p:nvPr/>
        </p:nvSpPr>
        <p:spPr bwMode="blackWhite">
          <a:xfrm>
            <a:off x="555700" y="2780928"/>
            <a:ext cx="8134199" cy="352839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FontTx/>
              <a:buNone/>
              <a:defRPr/>
            </a:pPr>
            <a:r>
              <a:rPr lang="en-US" dirty="0">
                <a:latin typeface="Cambria" panose="02040503050406030204" pitchFamily="18" charset="0"/>
                <a:ea typeface="Cambria" panose="02040503050406030204" pitchFamily="18" charset="0"/>
              </a:rPr>
              <a:t>CREATE [OR REPLACE] FUNCTION function-name </a:t>
            </a:r>
          </a:p>
          <a:p>
            <a:pPr marL="0" lvl="1" algn="just">
              <a:spcBef>
                <a:spcPts val="300"/>
              </a:spcBef>
              <a:buFontTx/>
              <a:buNone/>
              <a:defRPr/>
            </a:pP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parameter_name</a:t>
            </a:r>
            <a:r>
              <a:rPr lang="en-US" dirty="0">
                <a:latin typeface="Cambria" panose="02040503050406030204" pitchFamily="18" charset="0"/>
                <a:ea typeface="Cambria" panose="02040503050406030204" pitchFamily="18" charset="0"/>
              </a:rPr>
              <a:t> </a:t>
            </a:r>
            <a:r>
              <a:rPr lang="en-US" dirty="0">
                <a:solidFill>
                  <a:srgbClr val="FF0000"/>
                </a:solidFill>
                <a:latin typeface="Cambria" panose="02040503050406030204" pitchFamily="18" charset="0"/>
                <a:ea typeface="Cambria" panose="02040503050406030204" pitchFamily="18" charset="0"/>
              </a:rPr>
              <a:t>[IN|OUT|IN OUT]</a:t>
            </a:r>
            <a:r>
              <a:rPr lang="en-US" dirty="0">
                <a:latin typeface="Cambria" panose="02040503050406030204" pitchFamily="18" charset="0"/>
                <a:ea typeface="Cambria" panose="02040503050406030204" pitchFamily="18" charset="0"/>
              </a:rPr>
              <a:t> type [:=default][,…] )] </a:t>
            </a:r>
          </a:p>
          <a:p>
            <a:pPr marL="0" lvl="1" algn="just">
              <a:spcBef>
                <a:spcPts val="300"/>
              </a:spcBef>
              <a:buFontTx/>
              <a:buNone/>
              <a:defRPr/>
            </a:pPr>
            <a:r>
              <a:rPr lang="en-US" dirty="0">
                <a:solidFill>
                  <a:srgbClr val="0033CC"/>
                </a:solidFill>
                <a:latin typeface="Cambria" panose="02040503050406030204" pitchFamily="18" charset="0"/>
                <a:ea typeface="Cambria" panose="02040503050406030204" pitchFamily="18" charset="0"/>
              </a:rPr>
              <a:t>RETURN function-datatype</a:t>
            </a:r>
            <a:r>
              <a:rPr lang="en-US" dirty="0">
                <a:latin typeface="Cambria" panose="02040503050406030204" pitchFamily="18" charset="0"/>
                <a:ea typeface="Cambria" panose="02040503050406030204" pitchFamily="18" charset="0"/>
              </a:rPr>
              <a:t> IS</a:t>
            </a:r>
          </a:p>
          <a:p>
            <a:pPr marL="0" lvl="1" algn="just">
              <a:spcBef>
                <a:spcPts val="300"/>
              </a:spcBef>
              <a:buFontTx/>
              <a:buNone/>
              <a:defRPr/>
            </a:pPr>
            <a:r>
              <a:rPr lang="en-US" dirty="0">
                <a:latin typeface="Cambria" panose="02040503050406030204" pitchFamily="18" charset="0"/>
                <a:ea typeface="Cambria" panose="02040503050406030204" pitchFamily="18" charset="0"/>
              </a:rPr>
              <a:t>[local-variable-declarations]</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BEGIN</a:t>
            </a:r>
          </a:p>
          <a:p>
            <a:pPr marL="0" lvl="1" algn="just">
              <a:spcBef>
                <a:spcPts val="300"/>
              </a:spcBef>
              <a:buFontTx/>
              <a:buNone/>
              <a:defRPr/>
            </a:pPr>
            <a:r>
              <a:rPr lang="en-US" dirty="0">
                <a:latin typeface="Cambria" panose="02040503050406030204" pitchFamily="18" charset="0"/>
                <a:ea typeface="Cambria" panose="02040503050406030204" pitchFamily="18" charset="0"/>
              </a:rPr>
              <a:t>executable-section</a:t>
            </a:r>
          </a:p>
          <a:p>
            <a:pPr marL="0" lvl="1" algn="just">
              <a:spcBef>
                <a:spcPts val="300"/>
              </a:spcBef>
              <a:buFontTx/>
              <a:buNone/>
              <a:defRPr/>
            </a:pPr>
            <a:r>
              <a:rPr lang="en-US" dirty="0">
                <a:latin typeface="Cambria" panose="02040503050406030204" pitchFamily="18" charset="0"/>
                <a:ea typeface="Cambria" panose="02040503050406030204" pitchFamily="18" charset="0"/>
              </a:rPr>
              <a:t>[exception-section]</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END</a:t>
            </a:r>
            <a:r>
              <a:rPr lang="en-US" dirty="0">
                <a:latin typeface="Cambria" panose="02040503050406030204" pitchFamily="18" charset="0"/>
                <a:ea typeface="Cambria" panose="02040503050406030204" pitchFamily="18" charset="0"/>
              </a:rPr>
              <a:t> [function-name];</a:t>
            </a:r>
          </a:p>
        </p:txBody>
      </p:sp>
      <p:sp>
        <p:nvSpPr>
          <p:cNvPr id="3" name="Slide Number Placeholder 23">
            <a:extLst>
              <a:ext uri="{FF2B5EF4-FFF2-40B4-BE49-F238E27FC236}">
                <a16:creationId xmlns:a16="http://schemas.microsoft.com/office/drawing/2014/main" id="{5A4F1067-B9D8-88A0-FAC5-8E4E868A67C2}"/>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7C84C9C0-699C-41EC-566A-965EEFCE797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96586503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6A5C1-C959-1C36-FBC6-308A06D6D96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E83CA77A-BE95-B2AE-2A9F-951B6E87D27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Functions</a:t>
            </a:r>
          </a:p>
        </p:txBody>
      </p:sp>
      <p:sp>
        <p:nvSpPr>
          <p:cNvPr id="38915" name="Rectangle 3">
            <a:extLst>
              <a:ext uri="{FF2B5EF4-FFF2-40B4-BE49-F238E27FC236}">
                <a16:creationId xmlns:a16="http://schemas.microsoft.com/office/drawing/2014/main" id="{86366380-C373-54ED-07B6-91287F75440C}"/>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45EDCA2A-E69A-4109-E6C6-8E2220A27FF8}"/>
              </a:ext>
            </a:extLst>
          </p:cNvPr>
          <p:cNvSpPr txBox="1">
            <a:spLocks noChangeArrowheads="1"/>
          </p:cNvSpPr>
          <p:nvPr/>
        </p:nvSpPr>
        <p:spPr bwMode="auto">
          <a:xfrm>
            <a:off x="323528" y="3430194"/>
            <a:ext cx="8394700" cy="934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above function is called as follows:</a:t>
            </a:r>
          </a:p>
          <a:p>
            <a:pPr marL="0" marR="0" lvl="0" indent="0" algn="just" defTabSz="914400" rtl="0" eaLnBrk="0" fontAlgn="base" latinLnBrk="0" hangingPunct="0">
              <a:lnSpc>
                <a:spcPct val="100000"/>
              </a:lnSpc>
              <a:spcBef>
                <a:spcPts val="300"/>
              </a:spcBef>
              <a:spcAft>
                <a:spcPct val="0"/>
              </a:spcAft>
              <a:buClr>
                <a:srgbClr val="D34817"/>
              </a:buClr>
              <a:buSzPct val="50000"/>
              <a:buNone/>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SELECT </a:t>
            </a:r>
            <a:r>
              <a:rPr kumimoji="0" lang="en-US" altLang="en-US" sz="2400" b="0" i="0" u="none" strike="noStrike" kern="1200" cap="none" spc="0" normalizeH="0" baseline="0" noProof="0" dirty="0" err="1">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ename</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 </a:t>
            </a:r>
            <a:r>
              <a:rPr kumimoji="0" lang="en-US" altLang="en-US" sz="2400" b="0" i="0" u="none" strike="noStrike" kern="1200" cap="none" spc="0" normalizeH="0" baseline="0" noProof="0" dirty="0" err="1">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sal</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 </a:t>
            </a:r>
            <a:r>
              <a:rPr kumimoji="0" lang="en-US" altLang="en-US" sz="2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annual_sal</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sal</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 from emp;</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5" name="Rectangle 4">
            <a:extLst>
              <a:ext uri="{FF2B5EF4-FFF2-40B4-BE49-F238E27FC236}">
                <a16:creationId xmlns:a16="http://schemas.microsoft.com/office/drawing/2014/main" id="{1487A0A0-9497-D98B-A733-0B0D12E32243}"/>
              </a:ext>
            </a:extLst>
          </p:cNvPr>
          <p:cNvSpPr>
            <a:spLocks noChangeArrowheads="1"/>
          </p:cNvSpPr>
          <p:nvPr/>
        </p:nvSpPr>
        <p:spPr bwMode="blackWhite">
          <a:xfrm>
            <a:off x="683890" y="764704"/>
            <a:ext cx="8136260" cy="25922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FontTx/>
              <a:buNone/>
              <a:defRPr/>
            </a:pPr>
            <a:r>
              <a:rPr lang="en-US" dirty="0">
                <a:latin typeface="Cambria" panose="02040503050406030204" pitchFamily="18" charset="0"/>
                <a:ea typeface="Cambria" panose="02040503050406030204" pitchFamily="18" charset="0"/>
              </a:rPr>
              <a:t>CREATE OR REPLACE FUNCTION </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ANNUAL_SAL(SAL EMP.SAL%TYPE)</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solidFill>
                  <a:srgbClr val="0033CC"/>
                </a:solidFill>
                <a:latin typeface="Cambria" panose="02040503050406030204" pitchFamily="18" charset="0"/>
                <a:ea typeface="Cambria" panose="02040503050406030204" pitchFamily="18" charset="0"/>
              </a:rPr>
              <a:t>RETURN NUMBER IS</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BEGIN</a:t>
            </a:r>
          </a:p>
          <a:p>
            <a:pPr marL="0" lvl="1" algn="just">
              <a:spcBef>
                <a:spcPts val="300"/>
              </a:spcBef>
              <a:buFontTx/>
              <a:buNone/>
              <a:defRPr/>
            </a:pPr>
            <a:r>
              <a:rPr lang="en-US" dirty="0">
                <a:latin typeface="Cambria" panose="02040503050406030204" pitchFamily="18" charset="0"/>
                <a:ea typeface="Cambria" panose="02040503050406030204" pitchFamily="18" charset="0"/>
              </a:rPr>
              <a:t>	RETURN SAL*12;</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END;</a:t>
            </a:r>
          </a:p>
        </p:txBody>
      </p:sp>
      <p:sp>
        <p:nvSpPr>
          <p:cNvPr id="3" name="Slide Number Placeholder 23">
            <a:extLst>
              <a:ext uri="{FF2B5EF4-FFF2-40B4-BE49-F238E27FC236}">
                <a16:creationId xmlns:a16="http://schemas.microsoft.com/office/drawing/2014/main" id="{F0C24C0C-E6EB-21C7-1D66-A7C20B94E194}"/>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F7B67B14-C4F6-EB38-37E4-C8961C59101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21325104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70B54-1E61-F526-942B-C7265CD600FA}"/>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C2EEA4D0-80BF-490B-72A6-E2E4966E12A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Functions</a:t>
            </a:r>
          </a:p>
        </p:txBody>
      </p:sp>
      <p:sp>
        <p:nvSpPr>
          <p:cNvPr id="38915" name="Rectangle 3">
            <a:extLst>
              <a:ext uri="{FF2B5EF4-FFF2-40B4-BE49-F238E27FC236}">
                <a16:creationId xmlns:a16="http://schemas.microsoft.com/office/drawing/2014/main" id="{1AE66017-7F3D-B21C-2301-C7B90ADD1184}"/>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A06A9308-FEC4-0934-2E49-2243EA8F4C67}"/>
              </a:ext>
            </a:extLst>
          </p:cNvPr>
          <p:cNvSpPr txBox="1">
            <a:spLocks noChangeArrowheads="1"/>
          </p:cNvSpPr>
          <p:nvPr/>
        </p:nvSpPr>
        <p:spPr bwMode="auto">
          <a:xfrm>
            <a:off x="323528" y="4869160"/>
            <a:ext cx="8394700" cy="934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Consider a table STUDENT(</a:t>
            </a:r>
            <a:r>
              <a:rPr kumimoji="0" lang="en-US" altLang="en-US" sz="2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rollno</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a:r>
            <a:r>
              <a:rPr kumimoji="0" lang="en-US" altLang="en-US" sz="2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sname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marks).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above function is called as follows:</a:t>
            </a:r>
          </a:p>
          <a:p>
            <a:pPr marL="0" marR="0" lvl="0" indent="0" algn="just" defTabSz="914400" rtl="0" eaLnBrk="0" fontAlgn="base" latinLnBrk="0" hangingPunct="0">
              <a:lnSpc>
                <a:spcPct val="100000"/>
              </a:lnSpc>
              <a:spcBef>
                <a:spcPts val="300"/>
              </a:spcBef>
              <a:spcAft>
                <a:spcPct val="0"/>
              </a:spcAft>
              <a:buClr>
                <a:srgbClr val="D34817"/>
              </a:buClr>
              <a:buSzPct val="50000"/>
              <a:buNone/>
              <a:tabLst/>
              <a:defRPr/>
            </a:pP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SELECT </a:t>
            </a:r>
            <a:r>
              <a:rPr kumimoji="0" lang="en-US" altLang="en-US" sz="2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compute_grade</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rollno</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 from DUAL;</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OR</a:t>
            </a:r>
          </a:p>
          <a:p>
            <a:pPr marL="0" lvl="0" indent="0" algn="just">
              <a:spcBef>
                <a:spcPts val="300"/>
              </a:spcBef>
              <a:buClr>
                <a:srgbClr val="D34817"/>
              </a:buClr>
              <a:buSzPct val="50000"/>
              <a:buNone/>
              <a:defRPr/>
            </a:pP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SELECT </a:t>
            </a:r>
            <a:r>
              <a:rPr kumimoji="0" lang="en-US" altLang="en-US" sz="2400" b="0" i="0" u="none" strike="noStrike" kern="1200" cap="none" spc="0" normalizeH="0" baseline="0" noProof="0" dirty="0" err="1">
                <a:ln>
                  <a:noFill/>
                </a:ln>
                <a:effectLst/>
                <a:uLnTx/>
                <a:uFillTx/>
                <a:latin typeface="Cambria" panose="02040503050406030204" pitchFamily="18" charset="0"/>
                <a:ea typeface="Cambria" panose="02040503050406030204" pitchFamily="18" charset="0"/>
                <a:cs typeface="Calibri" panose="020F0502020204030204" pitchFamily="34" charset="0"/>
              </a:rPr>
              <a:t>rollno</a:t>
            </a:r>
            <a:r>
              <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rPr>
              <a:t>, marks, </a:t>
            </a:r>
            <a:r>
              <a:rPr lang="en-US" alt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compute_grade</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altLang="en-US" sz="2400" dirty="0" err="1">
                <a:solidFill>
                  <a:srgbClr val="FF0000"/>
                </a:solidFill>
                <a:latin typeface="Cambria" panose="02040503050406030204" pitchFamily="18" charset="0"/>
                <a:ea typeface="Cambria" panose="02040503050406030204" pitchFamily="18" charset="0"/>
                <a:cs typeface="Calibri" panose="020F0502020204030204" pitchFamily="34" charset="0"/>
              </a:rPr>
              <a:t>rollno</a:t>
            </a:r>
            <a:r>
              <a:rPr lang="en-US" alt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 from STUDENT;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5" name="Rectangle 4">
            <a:extLst>
              <a:ext uri="{FF2B5EF4-FFF2-40B4-BE49-F238E27FC236}">
                <a16:creationId xmlns:a16="http://schemas.microsoft.com/office/drawing/2014/main" id="{9FA74E22-4494-F2DF-1D21-E28F36C4B00D}"/>
              </a:ext>
            </a:extLst>
          </p:cNvPr>
          <p:cNvSpPr>
            <a:spLocks noChangeArrowheads="1"/>
          </p:cNvSpPr>
          <p:nvPr/>
        </p:nvSpPr>
        <p:spPr bwMode="blackWhite">
          <a:xfrm>
            <a:off x="683890" y="692696"/>
            <a:ext cx="8136260" cy="413080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FontTx/>
              <a:buNone/>
              <a:defRPr/>
            </a:pPr>
            <a:r>
              <a:rPr lang="en-US" dirty="0">
                <a:latin typeface="Cambria" panose="02040503050406030204" pitchFamily="18" charset="0"/>
                <a:ea typeface="Cambria" panose="02040503050406030204" pitchFamily="18" charset="0"/>
              </a:rPr>
              <a:t>CREATE OR REPLACE FUNCTION </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COMPUTE_GRADE(A NUMBER)</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solidFill>
                  <a:srgbClr val="0033CC"/>
                </a:solidFill>
                <a:latin typeface="Cambria" panose="02040503050406030204" pitchFamily="18" charset="0"/>
                <a:ea typeface="Cambria" panose="02040503050406030204" pitchFamily="18" charset="0"/>
              </a:rPr>
              <a:t>RETURN CHAR IS</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M STUDENT.MARKS%TYPE;</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BEGIN</a:t>
            </a:r>
          </a:p>
          <a:p>
            <a:pPr marL="0" lvl="1" algn="just">
              <a:spcBef>
                <a:spcPts val="300"/>
              </a:spcBef>
              <a:buFontTx/>
              <a:buNone/>
              <a:defRPr/>
            </a:pPr>
            <a:r>
              <a:rPr lang="en-US" dirty="0">
                <a:latin typeface="Cambria" panose="02040503050406030204" pitchFamily="18" charset="0"/>
                <a:ea typeface="Cambria" panose="02040503050406030204" pitchFamily="18" charset="0"/>
              </a:rPr>
              <a:t>SELECT MARKS INTO M FROM RESULT WHERE ROLLNO=A;</a:t>
            </a:r>
          </a:p>
          <a:p>
            <a:pPr marL="0" lvl="1" algn="just">
              <a:spcBef>
                <a:spcPts val="300"/>
              </a:spcBef>
              <a:buFontTx/>
              <a:buNone/>
              <a:defRPr/>
            </a:pPr>
            <a:r>
              <a:rPr lang="en-US" dirty="0">
                <a:latin typeface="Cambria" panose="02040503050406030204" pitchFamily="18" charset="0"/>
                <a:ea typeface="Cambria" panose="02040503050406030204" pitchFamily="18" charset="0"/>
              </a:rPr>
              <a:t>IF M&gt;=50 THEN RETURN 'PASS';</a:t>
            </a:r>
          </a:p>
          <a:p>
            <a:pPr marL="0" lvl="1" algn="just">
              <a:spcBef>
                <a:spcPts val="300"/>
              </a:spcBef>
              <a:buFontTx/>
              <a:buNone/>
              <a:defRPr/>
            </a:pPr>
            <a:r>
              <a:rPr lang="en-US" dirty="0">
                <a:latin typeface="Cambria" panose="02040503050406030204" pitchFamily="18" charset="0"/>
                <a:ea typeface="Cambria" panose="02040503050406030204" pitchFamily="18" charset="0"/>
              </a:rPr>
              <a:t>ELSE RETURN 'FAIL';</a:t>
            </a:r>
          </a:p>
          <a:p>
            <a:pPr marL="0" lvl="1" algn="just">
              <a:spcBef>
                <a:spcPts val="300"/>
              </a:spcBef>
              <a:buFontTx/>
              <a:buNone/>
              <a:defRPr/>
            </a:pPr>
            <a:r>
              <a:rPr lang="en-US" dirty="0">
                <a:latin typeface="Cambria" panose="02040503050406030204" pitchFamily="18" charset="0"/>
                <a:ea typeface="Cambria" panose="02040503050406030204" pitchFamily="18" charset="0"/>
              </a:rPr>
              <a:t>END IF;</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END;</a:t>
            </a:r>
          </a:p>
        </p:txBody>
      </p:sp>
      <p:sp>
        <p:nvSpPr>
          <p:cNvPr id="3" name="Slide Number Placeholder 23">
            <a:extLst>
              <a:ext uri="{FF2B5EF4-FFF2-40B4-BE49-F238E27FC236}">
                <a16:creationId xmlns:a16="http://schemas.microsoft.com/office/drawing/2014/main" id="{C87BE16E-BAA5-5B68-EA26-E7711A106158}"/>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0B902A51-D9D3-8F51-2E1F-2AB47F7F1FC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72751910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139EC-1451-16E9-CBEF-1EA9E1A5DA8A}"/>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45788D97-CF6B-F3FB-30C9-98AB38DCB986}"/>
              </a:ext>
            </a:extLst>
          </p:cNvPr>
          <p:cNvSpPr>
            <a:spLocks noGrp="1" noChangeArrowheads="1"/>
          </p:cNvSpPr>
          <p:nvPr>
            <p:ph type="title"/>
          </p:nvPr>
        </p:nvSpPr>
        <p:spPr>
          <a:xfrm>
            <a:off x="323850" y="620688"/>
            <a:ext cx="8394700"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Obtaining Error Messages When Creating Stored Procedures &amp; Functions</a:t>
            </a:r>
          </a:p>
        </p:txBody>
      </p:sp>
      <p:sp>
        <p:nvSpPr>
          <p:cNvPr id="38915" name="Rectangle 3">
            <a:extLst>
              <a:ext uri="{FF2B5EF4-FFF2-40B4-BE49-F238E27FC236}">
                <a16:creationId xmlns:a16="http://schemas.microsoft.com/office/drawing/2014/main" id="{89099EDE-D10E-AA2A-7330-5A0A2879F1F5}"/>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143747F3-750B-4941-2135-0073D0AB0977}"/>
              </a:ext>
            </a:extLst>
          </p:cNvPr>
          <p:cNvSpPr txBox="1">
            <a:spLocks noChangeArrowheads="1"/>
          </p:cNvSpPr>
          <p:nvPr/>
        </p:nvSpPr>
        <p:spPr bwMode="auto">
          <a:xfrm>
            <a:off x="323850" y="1053930"/>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If Oracle detects errors when you create a stored PL/SQL program, it issues a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nondescriptive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message indicating that errors occurred--;without providing any additional details.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To view the errors resulting from the attempted compilation of the PL/SQL code, you can use the SQL*Plus command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SHOW ERRORS,</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which displays the specific PL/SQL compilation errors.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When PL/SQL compiles a subprogram, the resulting compilation errors are stored in an Oracle data dictionary view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USER_ERRORS.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 name="Slide Number Placeholder 23">
            <a:extLst>
              <a:ext uri="{FF2B5EF4-FFF2-40B4-BE49-F238E27FC236}">
                <a16:creationId xmlns:a16="http://schemas.microsoft.com/office/drawing/2014/main" id="{668B59C4-550B-F945-54E8-7BFE0601CB02}"/>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C97E2398-6FA5-EC8C-9AAB-01A1045A495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50870590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118A4-FA89-8B89-0088-53387CE7F10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B6B1286E-62A5-9424-9084-3CF4443E6BEB}"/>
              </a:ext>
            </a:extLst>
          </p:cNvPr>
          <p:cNvSpPr>
            <a:spLocks noGrp="1" noChangeArrowheads="1"/>
          </p:cNvSpPr>
          <p:nvPr>
            <p:ph type="title"/>
          </p:nvPr>
        </p:nvSpPr>
        <p:spPr>
          <a:xfrm>
            <a:off x="323850" y="231304"/>
            <a:ext cx="8394700"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Database Triggers</a:t>
            </a:r>
          </a:p>
        </p:txBody>
      </p:sp>
      <p:sp>
        <p:nvSpPr>
          <p:cNvPr id="38915" name="Rectangle 3">
            <a:extLst>
              <a:ext uri="{FF2B5EF4-FFF2-40B4-BE49-F238E27FC236}">
                <a16:creationId xmlns:a16="http://schemas.microsoft.com/office/drawing/2014/main" id="{5E48FFCA-0B35-EF6A-10A3-FD4B2AA4D98A}"/>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C4CD2144-4F43-65F3-9715-5BAEE1E4B6BE}"/>
              </a:ext>
            </a:extLst>
          </p:cNvPr>
          <p:cNvSpPr txBox="1">
            <a:spLocks noChangeArrowheads="1"/>
          </p:cNvSpPr>
          <p:nvPr/>
        </p:nvSpPr>
        <p:spPr bwMode="auto">
          <a:xfrm>
            <a:off x="323850" y="692696"/>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database trigger</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is a block of PL/SQL statements that are executed when a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DML statement (DELETE, UPDATE, or INSERT statement) </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is applied to a table.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Database triggers are used for the following purposes:</a:t>
            </a:r>
          </a:p>
          <a:p>
            <a:pPr marL="560388" lvl="1" indent="-285750" algn="just">
              <a:spcBef>
                <a:spcPts val="300"/>
              </a:spcBef>
              <a:buClr>
                <a:srgbClr val="D34817"/>
              </a:buClr>
              <a:buSzPct val="50000"/>
              <a:buFont typeface="Wingdings" panose="05000000000000000000" pitchFamily="2" charset="2"/>
              <a:buChar char="l"/>
              <a:defRPr/>
            </a:pPr>
            <a:r>
              <a:rPr kumimoji="0" lang="en-US" altLang="en-US"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Change a column value based on the value of other columns in the same table or a different table</a:t>
            </a:r>
          </a:p>
          <a:p>
            <a:pPr marL="560388" lvl="1" indent="-285750" algn="just">
              <a:spcBef>
                <a:spcPts val="300"/>
              </a:spcBef>
              <a:buClr>
                <a:srgbClr val="D34817"/>
              </a:buClr>
              <a:buSzPct val="50000"/>
              <a:buFont typeface="Wingdings" panose="05000000000000000000" pitchFamily="2" charset="2"/>
              <a:buChar char="l"/>
              <a:defRPr/>
            </a:pPr>
            <a:r>
              <a:rPr kumimoji="0" lang="en-US" altLang="en-US"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Perform complex validation of column values; for instance, you might need to compare a column value to some aggregate column value from a different table</a:t>
            </a:r>
          </a:p>
          <a:p>
            <a:pPr marL="560388" lvl="1" indent="-285750" algn="just">
              <a:spcBef>
                <a:spcPts val="300"/>
              </a:spcBef>
              <a:buClr>
                <a:srgbClr val="D34817"/>
              </a:buClr>
              <a:buSzPct val="50000"/>
              <a:buFont typeface="Wingdings" panose="05000000000000000000" pitchFamily="2" charset="2"/>
              <a:buChar char="l"/>
              <a:defRPr/>
            </a:pPr>
            <a:r>
              <a:rPr kumimoji="0" lang="en-US" altLang="en-US"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Transaction logging</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Unlike a stored procedure, database triggers are fired or executed implicitly.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 name="Slide Number Placeholder 23">
            <a:extLst>
              <a:ext uri="{FF2B5EF4-FFF2-40B4-BE49-F238E27FC236}">
                <a16:creationId xmlns:a16="http://schemas.microsoft.com/office/drawing/2014/main" id="{DE97F4D8-96D8-003D-DA06-C2621A2DCA16}"/>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E14507A1-AA7D-F5AB-5DB4-31C452E40EB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50911297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D2A91-7AF1-4331-A347-CF0F82678E3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EB346CDB-A5F1-5EA7-F37A-152C5ED3A0D4}"/>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Database Triggers</a:t>
            </a:r>
          </a:p>
        </p:txBody>
      </p:sp>
      <p:sp>
        <p:nvSpPr>
          <p:cNvPr id="38915" name="Rectangle 3">
            <a:extLst>
              <a:ext uri="{FF2B5EF4-FFF2-40B4-BE49-F238E27FC236}">
                <a16:creationId xmlns:a16="http://schemas.microsoft.com/office/drawing/2014/main" id="{C2A374BE-D614-1A05-E69F-75113D9F7267}"/>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9AC2C066-22FE-687E-628C-25FFC31FFC3D}"/>
              </a:ext>
            </a:extLst>
          </p:cNvPr>
          <p:cNvSpPr txBox="1">
            <a:spLocks noChangeArrowheads="1"/>
          </p:cNvSpPr>
          <p:nvPr/>
        </p:nvSpPr>
        <p:spPr bwMode="auto">
          <a:xfrm>
            <a:off x="323528" y="3717032"/>
            <a:ext cx="8394700" cy="934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FOR EACH ROW,</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when used, causes the trigger to fire for each affected row and the trigger is called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row level trigger.</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When FOR EACH ROW is omitted, the trigger is called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statement level trigger.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Twelve possible trigger types!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5" name="Rectangle 4">
            <a:extLst>
              <a:ext uri="{FF2B5EF4-FFF2-40B4-BE49-F238E27FC236}">
                <a16:creationId xmlns:a16="http://schemas.microsoft.com/office/drawing/2014/main" id="{99407C8B-F833-DAFC-CAA6-F99CB9F7B12D}"/>
              </a:ext>
            </a:extLst>
          </p:cNvPr>
          <p:cNvSpPr>
            <a:spLocks noChangeArrowheads="1"/>
          </p:cNvSpPr>
          <p:nvPr/>
        </p:nvSpPr>
        <p:spPr bwMode="blackWhite">
          <a:xfrm>
            <a:off x="395536" y="692696"/>
            <a:ext cx="8136260" cy="295232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FontTx/>
              <a:buNone/>
              <a:defRPr/>
            </a:pPr>
            <a:r>
              <a:rPr lang="en-US" dirty="0">
                <a:latin typeface="Cambria" panose="02040503050406030204" pitchFamily="18" charset="0"/>
                <a:ea typeface="Cambria" panose="02040503050406030204" pitchFamily="18" charset="0"/>
              </a:rPr>
              <a:t>CREATE [OR REPLACE] TRIGGER trigger-name </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{BEFORE|AFTER}</a:t>
            </a:r>
          </a:p>
          <a:p>
            <a:pPr marL="0" lvl="1" algn="just">
              <a:spcBef>
                <a:spcPts val="300"/>
              </a:spcBef>
              <a:buFontTx/>
              <a:buNone/>
              <a:defRPr/>
            </a:pPr>
            <a:r>
              <a:rPr lang="en-US" dirty="0">
                <a:solidFill>
                  <a:srgbClr val="0033CC"/>
                </a:solidFill>
                <a:latin typeface="Cambria" panose="02040503050406030204" pitchFamily="18" charset="0"/>
                <a:ea typeface="Cambria" panose="02040503050406030204" pitchFamily="18" charset="0"/>
              </a:rPr>
              <a:t>{INSERT [OR] | UPDATE [OR] | DELETE} [OF </a:t>
            </a:r>
            <a:r>
              <a:rPr lang="en-US" dirty="0" err="1">
                <a:solidFill>
                  <a:srgbClr val="0033CC"/>
                </a:solidFill>
                <a:latin typeface="Cambria" panose="02040503050406030204" pitchFamily="18" charset="0"/>
                <a:ea typeface="Cambria" panose="02040503050406030204" pitchFamily="18" charset="0"/>
              </a:rPr>
              <a:t>col_name</a:t>
            </a:r>
            <a:r>
              <a:rPr lang="en-US" dirty="0">
                <a:solidFill>
                  <a:srgbClr val="0033CC"/>
                </a:solidFill>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ON table-name </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[FOR EACH ROW]</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solidFill>
                  <a:srgbClr val="0033CC"/>
                </a:solidFill>
                <a:latin typeface="Cambria" panose="02040503050406030204" pitchFamily="18" charset="0"/>
                <a:ea typeface="Cambria" panose="02040503050406030204" pitchFamily="18" charset="0"/>
              </a:rPr>
              <a:t>[WHEN (condition)]</a:t>
            </a:r>
          </a:p>
          <a:p>
            <a:pPr marL="0" lvl="1" algn="just">
              <a:spcBef>
                <a:spcPts val="300"/>
              </a:spcBef>
              <a:buFontTx/>
              <a:buNone/>
              <a:defRPr/>
            </a:pPr>
            <a:r>
              <a:rPr lang="en-US" dirty="0">
                <a:latin typeface="Cambria" panose="02040503050406030204" pitchFamily="18" charset="0"/>
                <a:ea typeface="Cambria" panose="02040503050406030204" pitchFamily="18" charset="0"/>
              </a:rPr>
              <a:t>PL/SQL block</a:t>
            </a:r>
          </a:p>
        </p:txBody>
      </p:sp>
      <p:sp>
        <p:nvSpPr>
          <p:cNvPr id="3" name="Slide Number Placeholder 23">
            <a:extLst>
              <a:ext uri="{FF2B5EF4-FFF2-40B4-BE49-F238E27FC236}">
                <a16:creationId xmlns:a16="http://schemas.microsoft.com/office/drawing/2014/main" id="{55E8020B-C5BB-6EBB-C8A7-27874E637277}"/>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FC1971B0-149E-9099-6AE8-4C4A23C7AEB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13479152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DC68E-F393-FB39-A493-3EED3140D114}"/>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CE32663C-D029-091D-BD81-2631C0999EA6}"/>
              </a:ext>
            </a:extLst>
          </p:cNvPr>
          <p:cNvSpPr>
            <a:spLocks noGrp="1" noChangeArrowheads="1"/>
          </p:cNvSpPr>
          <p:nvPr>
            <p:ph type="title"/>
          </p:nvPr>
        </p:nvSpPr>
        <p:spPr>
          <a:xfrm>
            <a:off x="323850" y="231304"/>
            <a:ext cx="8394700"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Database Triggers</a:t>
            </a:r>
          </a:p>
        </p:txBody>
      </p:sp>
      <p:sp>
        <p:nvSpPr>
          <p:cNvPr id="38915" name="Rectangle 3">
            <a:extLst>
              <a:ext uri="{FF2B5EF4-FFF2-40B4-BE49-F238E27FC236}">
                <a16:creationId xmlns:a16="http://schemas.microsoft.com/office/drawing/2014/main" id="{B8FB79B6-1962-D10F-C8A2-102445A97E42}"/>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C2EE310C-AA5D-303D-96FD-7B25BA373F5B}"/>
              </a:ext>
            </a:extLst>
          </p:cNvPr>
          <p:cNvSpPr txBox="1">
            <a:spLocks noChangeArrowheads="1"/>
          </p:cNvSpPr>
          <p:nvPr/>
        </p:nvSpPr>
        <p:spPr bwMode="auto">
          <a:xfrm>
            <a:off x="323850" y="692696"/>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Within the trigger body, a row-level trigger can reference the column values of the row that existed when the trigger was fired.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For an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INSERT</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statement, the values that will be inserted are contained in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err="1">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new.column</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-name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where column-name is a column in the table.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For an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UPDATE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statement, the original value for a column is contained in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err="1">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old.column</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-name;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the new value for a column is contained in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err="1">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new.column</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-name.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For a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DELETE</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statement, the column values of the row being deleted are contained in </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a:t>
            </a:r>
            <a:r>
              <a:rPr kumimoji="0" lang="en-US" altLang="en-US" sz="2400" b="0" i="0" u="none" strike="noStrike" kern="1200" cap="none" spc="0" normalizeH="0" baseline="0" noProof="0" dirty="0" err="1">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old.column</a:t>
            </a:r>
            <a:r>
              <a:rPr kumimoji="0" lang="en-US" altLang="en-US" sz="24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-name.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 name="Slide Number Placeholder 23">
            <a:extLst>
              <a:ext uri="{FF2B5EF4-FFF2-40B4-BE49-F238E27FC236}">
                <a16:creationId xmlns:a16="http://schemas.microsoft.com/office/drawing/2014/main" id="{0E2CFF28-4C97-96DF-4B8C-758A15EC956B}"/>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02608B0C-09B0-E746-DB3F-479FA98535E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43419214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AAF84-226A-8A3D-78BF-3E7B0F8A4A4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CEF63BC8-A521-5C73-F027-4E61C4EC894D}"/>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Database Triggers – </a:t>
            </a:r>
            <a:r>
              <a:rPr lang="en-US" altLang="en-US" sz="2800" b="1" u="sng" dirty="0">
                <a:solidFill>
                  <a:srgbClr val="0033CC"/>
                </a:solidFill>
                <a:latin typeface="Cambria" panose="02040503050406030204" pitchFamily="18" charset="0"/>
                <a:ea typeface="Cambria" panose="02040503050406030204" pitchFamily="18" charset="0"/>
              </a:rPr>
              <a:t>Example 1</a:t>
            </a:r>
          </a:p>
        </p:txBody>
      </p:sp>
      <p:sp>
        <p:nvSpPr>
          <p:cNvPr id="38915" name="Rectangle 3">
            <a:extLst>
              <a:ext uri="{FF2B5EF4-FFF2-40B4-BE49-F238E27FC236}">
                <a16:creationId xmlns:a16="http://schemas.microsoft.com/office/drawing/2014/main" id="{9DCE0108-4461-5FF2-AE2E-5015AEB60996}"/>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5" name="Rectangle 4">
            <a:extLst>
              <a:ext uri="{FF2B5EF4-FFF2-40B4-BE49-F238E27FC236}">
                <a16:creationId xmlns:a16="http://schemas.microsoft.com/office/drawing/2014/main" id="{91127C9C-B277-1A61-AAB4-3097CAAA0364}"/>
              </a:ext>
            </a:extLst>
          </p:cNvPr>
          <p:cNvSpPr>
            <a:spLocks noChangeArrowheads="1"/>
          </p:cNvSpPr>
          <p:nvPr/>
        </p:nvSpPr>
        <p:spPr bwMode="blackWhite">
          <a:xfrm>
            <a:off x="395536" y="692696"/>
            <a:ext cx="8136260" cy="453650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FontTx/>
              <a:buNone/>
              <a:defRPr/>
            </a:pPr>
            <a:r>
              <a:rPr lang="en-US" dirty="0">
                <a:latin typeface="Cambria" panose="02040503050406030204" pitchFamily="18" charset="0"/>
                <a:ea typeface="Cambria" panose="02040503050406030204" pitchFamily="18" charset="0"/>
              </a:rPr>
              <a:t>CREATE OR REPLACE TRIGGER </a:t>
            </a:r>
            <a:r>
              <a:rPr lang="en-US" dirty="0" err="1">
                <a:solidFill>
                  <a:srgbClr val="FF0000"/>
                </a:solidFill>
                <a:latin typeface="Cambria" panose="02040503050406030204" pitchFamily="18" charset="0"/>
                <a:ea typeface="Cambria" panose="02040503050406030204" pitchFamily="18" charset="0"/>
              </a:rPr>
              <a:t>display_salary_changes</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solidFill>
                  <a:srgbClr val="0033CC"/>
                </a:solidFill>
                <a:latin typeface="Cambria" panose="02040503050406030204" pitchFamily="18" charset="0"/>
                <a:ea typeface="Cambria" panose="02040503050406030204" pitchFamily="18" charset="0"/>
              </a:rPr>
              <a:t>BEFORE UPDATE ON </a:t>
            </a:r>
            <a:r>
              <a:rPr lang="en-US" dirty="0" err="1">
                <a:solidFill>
                  <a:srgbClr val="0033CC"/>
                </a:solidFill>
                <a:latin typeface="Cambria" panose="02040503050406030204" pitchFamily="18" charset="0"/>
                <a:ea typeface="Cambria" panose="02040503050406030204" pitchFamily="18" charset="0"/>
              </a:rPr>
              <a:t>empsal</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FOR EACH ROW </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DECLARE</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sal_diff</a:t>
            </a:r>
            <a:r>
              <a:rPr lang="en-US" dirty="0">
                <a:latin typeface="Cambria" panose="02040503050406030204" pitchFamily="18" charset="0"/>
                <a:ea typeface="Cambria" panose="02040503050406030204" pitchFamily="18" charset="0"/>
              </a:rPr>
              <a:t> number; </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BEGIN</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sal_diff</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NEW.sal</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OLD.sal</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('Old salary: ' || :</a:t>
            </a:r>
            <a:r>
              <a:rPr lang="en-US" dirty="0" err="1">
                <a:latin typeface="Cambria" panose="02040503050406030204" pitchFamily="18" charset="0"/>
                <a:ea typeface="Cambria" panose="02040503050406030204" pitchFamily="18" charset="0"/>
              </a:rPr>
              <a:t>OLD.sal</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('New salary: ' || :</a:t>
            </a:r>
            <a:r>
              <a:rPr lang="en-US" dirty="0" err="1">
                <a:latin typeface="Cambria" panose="02040503050406030204" pitchFamily="18" charset="0"/>
                <a:ea typeface="Cambria" panose="02040503050406030204" pitchFamily="18" charset="0"/>
              </a:rPr>
              <a:t>NEW.sal</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('Salary difference: ' || </a:t>
            </a:r>
            <a:r>
              <a:rPr lang="en-US" dirty="0" err="1">
                <a:latin typeface="Cambria" panose="02040503050406030204" pitchFamily="18" charset="0"/>
                <a:ea typeface="Cambria" panose="02040503050406030204" pitchFamily="18" charset="0"/>
              </a:rPr>
              <a:t>sal_diff</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END;</a:t>
            </a:r>
          </a:p>
        </p:txBody>
      </p:sp>
      <p:sp>
        <p:nvSpPr>
          <p:cNvPr id="3" name="Slide Number Placeholder 23">
            <a:extLst>
              <a:ext uri="{FF2B5EF4-FFF2-40B4-BE49-F238E27FC236}">
                <a16:creationId xmlns:a16="http://schemas.microsoft.com/office/drawing/2014/main" id="{CDA6D8A0-7F64-AACB-6E67-AF2CEA88C105}"/>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59F74325-41B4-C337-BE8E-ED28540490B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49257877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21428-3725-DC42-7C64-BDB688EE8F9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0483E7D3-F862-F35D-54D6-264EB6FF7E2C}"/>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Database Triggers – </a:t>
            </a:r>
            <a:r>
              <a:rPr lang="en-US" altLang="en-US" sz="2800" b="1" u="sng" dirty="0">
                <a:solidFill>
                  <a:srgbClr val="0033CC"/>
                </a:solidFill>
                <a:latin typeface="Cambria" panose="02040503050406030204" pitchFamily="18" charset="0"/>
                <a:ea typeface="Cambria" panose="02040503050406030204" pitchFamily="18" charset="0"/>
              </a:rPr>
              <a:t>Example 2</a:t>
            </a:r>
          </a:p>
        </p:txBody>
      </p:sp>
      <p:sp>
        <p:nvSpPr>
          <p:cNvPr id="38915" name="Rectangle 3">
            <a:extLst>
              <a:ext uri="{FF2B5EF4-FFF2-40B4-BE49-F238E27FC236}">
                <a16:creationId xmlns:a16="http://schemas.microsoft.com/office/drawing/2014/main" id="{6F746FBC-7125-7620-1D67-F63E8FD2AE84}"/>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5" name="Rectangle 4">
            <a:extLst>
              <a:ext uri="{FF2B5EF4-FFF2-40B4-BE49-F238E27FC236}">
                <a16:creationId xmlns:a16="http://schemas.microsoft.com/office/drawing/2014/main" id="{A60E7F75-6528-3B4D-7657-767AF9856DD3}"/>
              </a:ext>
            </a:extLst>
          </p:cNvPr>
          <p:cNvSpPr>
            <a:spLocks noChangeArrowheads="1"/>
          </p:cNvSpPr>
          <p:nvPr/>
        </p:nvSpPr>
        <p:spPr bwMode="blackWhite">
          <a:xfrm>
            <a:off x="395535" y="667544"/>
            <a:ext cx="8564737" cy="607382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FontTx/>
              <a:buNone/>
              <a:defRPr/>
            </a:pPr>
            <a:r>
              <a:rPr lang="en-US" dirty="0">
                <a:latin typeface="Cambria" panose="02040503050406030204" pitchFamily="18" charset="0"/>
                <a:ea typeface="Cambria" panose="02040503050406030204" pitchFamily="18" charset="0"/>
              </a:rPr>
              <a:t>CREATE OR REPLACE TRIGGER </a:t>
            </a:r>
            <a:r>
              <a:rPr lang="en-US" dirty="0" err="1">
                <a:solidFill>
                  <a:srgbClr val="FF0000"/>
                </a:solidFill>
                <a:latin typeface="Cambria" panose="02040503050406030204" pitchFamily="18" charset="0"/>
                <a:ea typeface="Cambria" panose="02040503050406030204" pitchFamily="18" charset="0"/>
              </a:rPr>
              <a:t>display_salary_changes</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BEFORE UPDATE ON </a:t>
            </a:r>
            <a:r>
              <a:rPr lang="en-US" dirty="0" err="1">
                <a:latin typeface="Cambria" panose="02040503050406030204" pitchFamily="18" charset="0"/>
                <a:ea typeface="Cambria" panose="02040503050406030204" pitchFamily="18" charset="0"/>
              </a:rPr>
              <a:t>empsal</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FOR EACH ROW </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DECLARE</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sal_diff</a:t>
            </a:r>
            <a:r>
              <a:rPr lang="en-US" dirty="0">
                <a:latin typeface="Cambria" panose="02040503050406030204" pitchFamily="18" charset="0"/>
                <a:ea typeface="Cambria" panose="02040503050406030204" pitchFamily="18" charset="0"/>
              </a:rPr>
              <a:t> number; </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BEGIN </a:t>
            </a:r>
          </a:p>
          <a:p>
            <a:pPr marL="0" lvl="1" algn="just">
              <a:spcBef>
                <a:spcPts val="300"/>
              </a:spcBef>
              <a:buFontTx/>
              <a:buNone/>
              <a:defRPr/>
            </a:pPr>
            <a:r>
              <a:rPr lang="en-US" dirty="0" err="1">
                <a:latin typeface="Cambria" panose="02040503050406030204" pitchFamily="18" charset="0"/>
                <a:ea typeface="Cambria" panose="02040503050406030204" pitchFamily="18" charset="0"/>
              </a:rPr>
              <a:t>sal_diff</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NEW.sal</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OLD.sal</a:t>
            </a:r>
            <a:r>
              <a:rPr lang="en-US" dirty="0">
                <a:latin typeface="Cambria" panose="02040503050406030204" pitchFamily="18" charset="0"/>
                <a:ea typeface="Cambria" panose="02040503050406030204" pitchFamily="18" charset="0"/>
              </a:rPr>
              <a:t>;</a:t>
            </a:r>
          </a:p>
          <a:p>
            <a:pPr marL="0" lvl="1" algn="just">
              <a:spcBef>
                <a:spcPts val="300"/>
              </a:spcBef>
              <a:buFontTx/>
              <a:buNone/>
              <a:defRPr/>
            </a:pPr>
            <a:r>
              <a:rPr lang="en-US" dirty="0">
                <a:latin typeface="Cambria" panose="02040503050406030204" pitchFamily="18" charset="0"/>
                <a:ea typeface="Cambria" panose="02040503050406030204" pitchFamily="18" charset="0"/>
              </a:rPr>
              <a:t>If </a:t>
            </a:r>
            <a:r>
              <a:rPr lang="en-US" dirty="0" err="1">
                <a:latin typeface="Cambria" panose="02040503050406030204" pitchFamily="18" charset="0"/>
                <a:ea typeface="Cambria" panose="02040503050406030204" pitchFamily="18" charset="0"/>
              </a:rPr>
              <a:t>sal_diff</a:t>
            </a:r>
            <a:r>
              <a:rPr lang="en-US" dirty="0">
                <a:latin typeface="Cambria" panose="02040503050406030204" pitchFamily="18" charset="0"/>
                <a:ea typeface="Cambria" panose="02040503050406030204" pitchFamily="18" charset="0"/>
              </a:rPr>
              <a:t>&gt;500 then</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err="1">
                <a:highlight>
                  <a:srgbClr val="FF00FF"/>
                </a:highlight>
                <a:latin typeface="Cambria" panose="02040503050406030204" pitchFamily="18" charset="0"/>
                <a:ea typeface="Cambria" panose="02040503050406030204" pitchFamily="18" charset="0"/>
              </a:rPr>
              <a:t>raise_application_error</a:t>
            </a:r>
            <a:r>
              <a:rPr lang="en-US" dirty="0">
                <a:latin typeface="Cambria" panose="02040503050406030204" pitchFamily="18" charset="0"/>
                <a:ea typeface="Cambria" panose="02040503050406030204" pitchFamily="18" charset="0"/>
              </a:rPr>
              <a:t>(-20000, 'Too high raise in </a:t>
            </a:r>
            <a:r>
              <a:rPr lang="en-US" dirty="0" err="1">
                <a:latin typeface="Cambria" panose="02040503050406030204" pitchFamily="18" charset="0"/>
                <a:ea typeface="Cambria" panose="02040503050406030204" pitchFamily="18" charset="0"/>
              </a:rPr>
              <a:t>sal</a:t>
            </a:r>
            <a:r>
              <a:rPr lang="en-US" dirty="0">
                <a:latin typeface="Cambria" panose="02040503050406030204" pitchFamily="18" charset="0"/>
                <a:ea typeface="Cambria" panose="02040503050406030204" pitchFamily="18" charset="0"/>
              </a:rPr>
              <a:t>');</a:t>
            </a:r>
          </a:p>
          <a:p>
            <a:pPr marL="0" lvl="1" algn="just">
              <a:spcBef>
                <a:spcPts val="300"/>
              </a:spcBef>
              <a:buFontTx/>
              <a:buNone/>
              <a:defRPr/>
            </a:pPr>
            <a:r>
              <a:rPr lang="en-US" dirty="0">
                <a:latin typeface="Cambria" panose="02040503050406030204" pitchFamily="18" charset="0"/>
                <a:ea typeface="Cambria" panose="02040503050406030204" pitchFamily="18" charset="0"/>
              </a:rPr>
              <a:t>else</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('Old salary: ' || :</a:t>
            </a:r>
            <a:r>
              <a:rPr lang="en-US" dirty="0" err="1">
                <a:latin typeface="Cambria" panose="02040503050406030204" pitchFamily="18" charset="0"/>
                <a:ea typeface="Cambria" panose="02040503050406030204" pitchFamily="18" charset="0"/>
              </a:rPr>
              <a:t>OLD.sal</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('New salary: ' || :</a:t>
            </a:r>
            <a:r>
              <a:rPr lang="en-US" dirty="0" err="1">
                <a:latin typeface="Cambria" panose="02040503050406030204" pitchFamily="18" charset="0"/>
                <a:ea typeface="Cambria" panose="02040503050406030204" pitchFamily="18" charset="0"/>
              </a:rPr>
              <a:t>NEW.sal</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dbms_output.put_line</a:t>
            </a:r>
            <a:r>
              <a:rPr lang="en-US" dirty="0">
                <a:latin typeface="Cambria" panose="02040503050406030204" pitchFamily="18" charset="0"/>
                <a:ea typeface="Cambria" panose="02040503050406030204" pitchFamily="18" charset="0"/>
              </a:rPr>
              <a:t>('Salary difference: ' || </a:t>
            </a:r>
            <a:r>
              <a:rPr lang="en-US" dirty="0" err="1">
                <a:latin typeface="Cambria" panose="02040503050406030204" pitchFamily="18" charset="0"/>
                <a:ea typeface="Cambria" panose="02040503050406030204" pitchFamily="18" charset="0"/>
              </a:rPr>
              <a:t>sal_diff</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End if;</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END;</a:t>
            </a:r>
          </a:p>
        </p:txBody>
      </p:sp>
      <p:sp>
        <p:nvSpPr>
          <p:cNvPr id="3" name="Slide Number Placeholder 23">
            <a:extLst>
              <a:ext uri="{FF2B5EF4-FFF2-40B4-BE49-F238E27FC236}">
                <a16:creationId xmlns:a16="http://schemas.microsoft.com/office/drawing/2014/main" id="{A42907FD-CD01-498D-9B87-AFE4C44803F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 name="TextBox 1">
            <a:extLst>
              <a:ext uri="{FF2B5EF4-FFF2-40B4-BE49-F238E27FC236}">
                <a16:creationId xmlns:a16="http://schemas.microsoft.com/office/drawing/2014/main" id="{D90FE071-232D-5A6C-69EB-0193360014A5}"/>
              </a:ext>
            </a:extLst>
          </p:cNvPr>
          <p:cNvSpPr txBox="1">
            <a:spLocks noChangeArrowheads="1"/>
          </p:cNvSpPr>
          <p:nvPr/>
        </p:nvSpPr>
        <p:spPr bwMode="auto">
          <a:xfrm>
            <a:off x="4860032" y="2780928"/>
            <a:ext cx="3528312" cy="1107996"/>
          </a:xfrm>
          <a:prstGeom prst="rect">
            <a:avLst/>
          </a:prstGeom>
          <a:solidFill>
            <a:srgbClr val="00B0F0"/>
          </a:solidFill>
          <a:ln w="9525">
            <a:solidFill>
              <a:schemeClr val="tx1"/>
            </a:solidFill>
            <a:miter lim="800000"/>
            <a:headEnd/>
            <a:tailEnd/>
          </a:ln>
        </p:spPr>
        <p:txBody>
          <a:bodyPr wrap="squar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ts val="300"/>
              </a:spcBef>
              <a:buFontTx/>
              <a:buNone/>
            </a:pPr>
            <a:r>
              <a:rPr lang="en-US" altLang="en-US" sz="2200" dirty="0">
                <a:latin typeface="Cambria" panose="02040503050406030204" pitchFamily="18" charset="0"/>
                <a:ea typeface="Cambria" panose="02040503050406030204" pitchFamily="18" charset="0"/>
                <a:cs typeface="Calibri" panose="020F0502020204030204" pitchFamily="34" charset="0"/>
              </a:rPr>
              <a:t>The user-defined error-number should be in a range </a:t>
            </a:r>
            <a:r>
              <a:rPr lang="en-US" altLang="en-US" sz="2200" dirty="0">
                <a:solidFill>
                  <a:srgbClr val="FF0000"/>
                </a:solidFill>
                <a:latin typeface="Cambria" panose="02040503050406030204" pitchFamily="18" charset="0"/>
                <a:ea typeface="Cambria" panose="02040503050406030204" pitchFamily="18" charset="0"/>
                <a:cs typeface="Calibri" panose="020F0502020204030204" pitchFamily="34" charset="0"/>
              </a:rPr>
              <a:t>-20000 to -20999</a:t>
            </a:r>
          </a:p>
        </p:txBody>
      </p:sp>
    </p:spTree>
    <p:extLst>
      <p:ext uri="{BB962C8B-B14F-4D97-AF65-F5344CB8AC3E}">
        <p14:creationId xmlns:p14="http://schemas.microsoft.com/office/powerpoint/2010/main" val="294098404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8F6C-B038-742E-CD62-44625B75F196}"/>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F87C7B72-4065-BDA6-B148-0CF3C5826169}"/>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Database Triggers – </a:t>
            </a:r>
            <a:r>
              <a:rPr lang="en-US" altLang="en-US" sz="2800" b="1" u="sng" dirty="0">
                <a:solidFill>
                  <a:srgbClr val="0033CC"/>
                </a:solidFill>
                <a:latin typeface="Cambria" panose="02040503050406030204" pitchFamily="18" charset="0"/>
                <a:ea typeface="Cambria" panose="02040503050406030204" pitchFamily="18" charset="0"/>
              </a:rPr>
              <a:t>Example 3</a:t>
            </a:r>
          </a:p>
        </p:txBody>
      </p:sp>
      <p:sp>
        <p:nvSpPr>
          <p:cNvPr id="38915" name="Rectangle 3">
            <a:extLst>
              <a:ext uri="{FF2B5EF4-FFF2-40B4-BE49-F238E27FC236}">
                <a16:creationId xmlns:a16="http://schemas.microsoft.com/office/drawing/2014/main" id="{BD1AFE93-7095-7816-878A-40F2CA2E3123}"/>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5" name="Rectangle 4">
            <a:extLst>
              <a:ext uri="{FF2B5EF4-FFF2-40B4-BE49-F238E27FC236}">
                <a16:creationId xmlns:a16="http://schemas.microsoft.com/office/drawing/2014/main" id="{6F3B5C81-A66A-E1DF-4B88-42BCA7935AE9}"/>
              </a:ext>
            </a:extLst>
          </p:cNvPr>
          <p:cNvSpPr>
            <a:spLocks noChangeArrowheads="1"/>
          </p:cNvSpPr>
          <p:nvPr/>
        </p:nvSpPr>
        <p:spPr bwMode="blackWhite">
          <a:xfrm>
            <a:off x="323528" y="739552"/>
            <a:ext cx="8564737" cy="283346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FontTx/>
              <a:buNone/>
              <a:defRPr/>
            </a:pPr>
            <a:r>
              <a:rPr lang="en-US" dirty="0">
                <a:latin typeface="Cambria" panose="02040503050406030204" pitchFamily="18" charset="0"/>
                <a:ea typeface="Cambria" panose="02040503050406030204" pitchFamily="18" charset="0"/>
              </a:rPr>
              <a:t>CREATE OR REPLACE TRIGGER </a:t>
            </a:r>
            <a:r>
              <a:rPr lang="en-US" dirty="0" err="1">
                <a:solidFill>
                  <a:srgbClr val="FF0000"/>
                </a:solidFill>
                <a:latin typeface="Cambria" panose="02040503050406030204" pitchFamily="18" charset="0"/>
                <a:ea typeface="Cambria" panose="02040503050406030204" pitchFamily="18" charset="0"/>
              </a:rPr>
              <a:t>display_salary_changes</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BEFORE UPDATE ON </a:t>
            </a:r>
            <a:r>
              <a:rPr lang="en-US" dirty="0" err="1">
                <a:latin typeface="Cambria" panose="02040503050406030204" pitchFamily="18" charset="0"/>
                <a:ea typeface="Cambria" panose="02040503050406030204" pitchFamily="18" charset="0"/>
              </a:rPr>
              <a:t>empsal</a:t>
            </a:r>
            <a:r>
              <a:rPr lang="en-US" dirty="0">
                <a:latin typeface="Cambria" panose="02040503050406030204" pitchFamily="18" charset="0"/>
                <a:ea typeface="Cambria" panose="02040503050406030204" pitchFamily="18" charset="0"/>
              </a:rPr>
              <a:t> </a:t>
            </a:r>
          </a:p>
          <a:p>
            <a:pPr marL="0" lvl="1" algn="just">
              <a:spcBef>
                <a:spcPts val="300"/>
              </a:spcBef>
              <a:buFontTx/>
              <a:buNone/>
              <a:defRPr/>
            </a:pPr>
            <a:r>
              <a:rPr lang="en-US" dirty="0">
                <a:latin typeface="Cambria" panose="02040503050406030204" pitchFamily="18" charset="0"/>
                <a:ea typeface="Cambria" panose="02040503050406030204" pitchFamily="18" charset="0"/>
              </a:rPr>
              <a:t>FOR EACH ROW </a:t>
            </a:r>
          </a:p>
          <a:p>
            <a:pPr marL="0" lvl="1" algn="just">
              <a:spcBef>
                <a:spcPts val="300"/>
              </a:spcBef>
              <a:buFontTx/>
              <a:buNone/>
              <a:defRPr/>
            </a:pPr>
            <a:r>
              <a:rPr lang="en-US" dirty="0">
                <a:solidFill>
                  <a:srgbClr val="0033CC"/>
                </a:solidFill>
                <a:latin typeface="Cambria" panose="02040503050406030204" pitchFamily="18" charset="0"/>
                <a:ea typeface="Cambria" panose="02040503050406030204" pitchFamily="18" charset="0"/>
              </a:rPr>
              <a:t>WHEN (</a:t>
            </a:r>
            <a:r>
              <a:rPr lang="en-US" dirty="0" err="1">
                <a:solidFill>
                  <a:srgbClr val="0033CC"/>
                </a:solidFill>
                <a:latin typeface="Cambria" panose="02040503050406030204" pitchFamily="18" charset="0"/>
                <a:ea typeface="Cambria" panose="02040503050406030204" pitchFamily="18" charset="0"/>
              </a:rPr>
              <a:t>NEW.sal</a:t>
            </a:r>
            <a:r>
              <a:rPr lang="en-US" dirty="0">
                <a:solidFill>
                  <a:srgbClr val="0033CC"/>
                </a:solidFill>
                <a:latin typeface="Cambria" panose="02040503050406030204" pitchFamily="18" charset="0"/>
                <a:ea typeface="Cambria" panose="02040503050406030204" pitchFamily="18" charset="0"/>
              </a:rPr>
              <a:t>&gt;</a:t>
            </a:r>
            <a:r>
              <a:rPr lang="en-US" dirty="0" err="1">
                <a:solidFill>
                  <a:srgbClr val="0033CC"/>
                </a:solidFill>
                <a:latin typeface="Cambria" panose="02040503050406030204" pitchFamily="18" charset="0"/>
                <a:ea typeface="Cambria" panose="02040503050406030204" pitchFamily="18" charset="0"/>
              </a:rPr>
              <a:t>OLD.Sal</a:t>
            </a:r>
            <a:r>
              <a:rPr lang="en-US" dirty="0">
                <a:solidFill>
                  <a:srgbClr val="0033CC"/>
                </a:solidFill>
                <a:latin typeface="Cambria" panose="02040503050406030204" pitchFamily="18" charset="0"/>
                <a:ea typeface="Cambria" panose="02040503050406030204" pitchFamily="18" charset="0"/>
              </a:rPr>
              <a:t>*2)</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BEGIN </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raise_application_error</a:t>
            </a:r>
            <a:r>
              <a:rPr lang="en-US" dirty="0">
                <a:latin typeface="Cambria" panose="02040503050406030204" pitchFamily="18" charset="0"/>
                <a:ea typeface="Cambria" panose="02040503050406030204" pitchFamily="18" charset="0"/>
              </a:rPr>
              <a:t>(-20001,' Too high raise in </a:t>
            </a:r>
            <a:r>
              <a:rPr lang="en-US" dirty="0" err="1">
                <a:latin typeface="Cambria" panose="02040503050406030204" pitchFamily="18" charset="0"/>
                <a:ea typeface="Cambria" panose="02040503050406030204" pitchFamily="18" charset="0"/>
              </a:rPr>
              <a:t>sal</a:t>
            </a:r>
            <a:r>
              <a:rPr lang="en-US" dirty="0">
                <a:latin typeface="Cambria" panose="02040503050406030204" pitchFamily="18" charset="0"/>
                <a:ea typeface="Cambria" panose="02040503050406030204" pitchFamily="18" charset="0"/>
              </a:rPr>
              <a:t>');</a:t>
            </a:r>
          </a:p>
          <a:p>
            <a:pPr marL="0" lvl="1" algn="just">
              <a:spcBef>
                <a:spcPts val="300"/>
              </a:spcBef>
              <a:buFontTx/>
              <a:buNone/>
              <a:defRPr/>
            </a:pPr>
            <a:r>
              <a:rPr lang="en-US" dirty="0">
                <a:solidFill>
                  <a:srgbClr val="FF0000"/>
                </a:solidFill>
                <a:latin typeface="Cambria" panose="02040503050406030204" pitchFamily="18" charset="0"/>
                <a:ea typeface="Cambria" panose="02040503050406030204" pitchFamily="18" charset="0"/>
              </a:rPr>
              <a:t>END;</a:t>
            </a:r>
          </a:p>
        </p:txBody>
      </p:sp>
      <p:sp>
        <p:nvSpPr>
          <p:cNvPr id="3" name="Slide Number Placeholder 23">
            <a:extLst>
              <a:ext uri="{FF2B5EF4-FFF2-40B4-BE49-F238E27FC236}">
                <a16:creationId xmlns:a16="http://schemas.microsoft.com/office/drawing/2014/main" id="{B65E6A1F-EEBB-1EE5-EA39-095EE7047D0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40034714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FD3E9-CF8C-2E01-2A8F-D4088337E3B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76E6A4AB-3378-2646-793E-3DC5D8673E1C}"/>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Database Triggers – </a:t>
            </a:r>
            <a:r>
              <a:rPr lang="en-US" altLang="en-US" sz="2800" b="1" u="sng" dirty="0">
                <a:solidFill>
                  <a:srgbClr val="0033CC"/>
                </a:solidFill>
                <a:latin typeface="Cambria" panose="02040503050406030204" pitchFamily="18" charset="0"/>
                <a:ea typeface="Cambria" panose="02040503050406030204" pitchFamily="18" charset="0"/>
              </a:rPr>
              <a:t>Example 4</a:t>
            </a:r>
          </a:p>
        </p:txBody>
      </p:sp>
      <p:sp>
        <p:nvSpPr>
          <p:cNvPr id="38915" name="Rectangle 3">
            <a:extLst>
              <a:ext uri="{FF2B5EF4-FFF2-40B4-BE49-F238E27FC236}">
                <a16:creationId xmlns:a16="http://schemas.microsoft.com/office/drawing/2014/main" id="{8771FF57-1CD6-3A6A-FC79-B3133488D9CE}"/>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3" name="Slide Number Placeholder 23">
            <a:extLst>
              <a:ext uri="{FF2B5EF4-FFF2-40B4-BE49-F238E27FC236}">
                <a16:creationId xmlns:a16="http://schemas.microsoft.com/office/drawing/2014/main" id="{96A298D2-00B6-5AC8-1BAD-8926E4966BC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4E37C24A-48F7-5B58-EC1D-37E8A5EFAA3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8" name="Table 7">
            <a:extLst>
              <a:ext uri="{FF2B5EF4-FFF2-40B4-BE49-F238E27FC236}">
                <a16:creationId xmlns:a16="http://schemas.microsoft.com/office/drawing/2014/main" id="{D888BED9-DFD1-D619-540B-A8F72D16300B}"/>
              </a:ext>
            </a:extLst>
          </p:cNvPr>
          <p:cNvGraphicFramePr>
            <a:graphicFrameLocks noGrp="1"/>
          </p:cNvGraphicFramePr>
          <p:nvPr>
            <p:extLst>
              <p:ext uri="{D42A27DB-BD31-4B8C-83A1-F6EECF244321}">
                <p14:modId xmlns:p14="http://schemas.microsoft.com/office/powerpoint/2010/main" val="2883465376"/>
              </p:ext>
            </p:extLst>
          </p:nvPr>
        </p:nvGraphicFramePr>
        <p:xfrm>
          <a:off x="1582738" y="760154"/>
          <a:ext cx="6121401" cy="1948766"/>
        </p:xfrm>
        <a:graphic>
          <a:graphicData uri="http://schemas.openxmlformats.org/drawingml/2006/table">
            <a:tbl>
              <a:tblPr firstRow="1" firstCol="1" bandRow="1">
                <a:tableStyleId>{5C22544A-7EE6-4342-B048-85BDC9FD1C3A}</a:tableStyleId>
              </a:tblPr>
              <a:tblGrid>
                <a:gridCol w="1955923">
                  <a:extLst>
                    <a:ext uri="{9D8B030D-6E8A-4147-A177-3AD203B41FA5}">
                      <a16:colId xmlns:a16="http://schemas.microsoft.com/office/drawing/2014/main" val="20000"/>
                    </a:ext>
                  </a:extLst>
                </a:gridCol>
                <a:gridCol w="2082739">
                  <a:extLst>
                    <a:ext uri="{9D8B030D-6E8A-4147-A177-3AD203B41FA5}">
                      <a16:colId xmlns:a16="http://schemas.microsoft.com/office/drawing/2014/main" val="20001"/>
                    </a:ext>
                  </a:extLst>
                </a:gridCol>
                <a:gridCol w="2082739">
                  <a:extLst>
                    <a:ext uri="{9D8B030D-6E8A-4147-A177-3AD203B41FA5}">
                      <a16:colId xmlns:a16="http://schemas.microsoft.com/office/drawing/2014/main" val="20002"/>
                    </a:ext>
                  </a:extLst>
                </a:gridCol>
              </a:tblGrid>
              <a:tr h="477153">
                <a:tc gridSpan="3">
                  <a:txBody>
                    <a:bodyPr/>
                    <a:lstStyle/>
                    <a:p>
                      <a:pPr marL="0" marR="0" algn="ctr">
                        <a:lnSpc>
                          <a:spcPct val="115000"/>
                        </a:lnSpc>
                        <a:spcBef>
                          <a:spcPts val="0"/>
                        </a:spcBef>
                        <a:spcAft>
                          <a:spcPts val="0"/>
                        </a:spcAft>
                      </a:pPr>
                      <a:r>
                        <a:rPr lang="en-US" sz="2400" b="1" dirty="0">
                          <a:solidFill>
                            <a:schemeClr val="bg1"/>
                          </a:solidFill>
                          <a:effectLst/>
                          <a:latin typeface="Cambria" panose="02040503050406030204" pitchFamily="18" charset="0"/>
                          <a:ea typeface="Cambria" panose="02040503050406030204" pitchFamily="18" charset="0"/>
                          <a:cs typeface="Times New Roman" panose="02020603050405020304" pitchFamily="18" charset="0"/>
                        </a:rPr>
                        <a:t>ACC_MASTER</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tc hMerge="1">
                  <a:txBody>
                    <a:bodyPr/>
                    <a:lstStyle/>
                    <a:p>
                      <a:pPr marL="0" marR="0" algn="ctr">
                        <a:lnSpc>
                          <a:spcPct val="115000"/>
                        </a:lnSpc>
                        <a:spcBef>
                          <a:spcPts val="0"/>
                        </a:spcBef>
                        <a:spcAft>
                          <a:spcPts val="0"/>
                        </a:spcAft>
                      </a:pPr>
                      <a:endParaRPr lang="en-US" sz="2400" b="1"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tc hMerge="1">
                  <a:txBody>
                    <a:bodyPr/>
                    <a:lstStyle/>
                    <a:p>
                      <a:pPr marL="0" marR="0" algn="ctr">
                        <a:lnSpc>
                          <a:spcPct val="115000"/>
                        </a:lnSpc>
                        <a:spcBef>
                          <a:spcPts val="0"/>
                        </a:spcBef>
                        <a:spcAft>
                          <a:spcPts val="0"/>
                        </a:spcAft>
                      </a:pPr>
                      <a:endParaRPr lang="en-US" sz="2400" b="1"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extLst>
                  <a:ext uri="{0D108BD9-81ED-4DB2-BD59-A6C34878D82A}">
                    <a16:rowId xmlns:a16="http://schemas.microsoft.com/office/drawing/2014/main" val="2977092444"/>
                  </a:ext>
                </a:extLst>
              </a:tr>
              <a:tr h="477153">
                <a:tc>
                  <a:txBody>
                    <a:bodyPr/>
                    <a:lstStyle/>
                    <a:p>
                      <a:pPr marL="0" marR="0" algn="ctr">
                        <a:lnSpc>
                          <a:spcPct val="115000"/>
                        </a:lnSpc>
                        <a:spcBef>
                          <a:spcPts val="0"/>
                        </a:spcBef>
                        <a:spcAft>
                          <a:spcPts val="0"/>
                        </a:spcAft>
                      </a:pPr>
                      <a:r>
                        <a:rPr lang="en-US" sz="2400" b="1" dirty="0">
                          <a:solidFill>
                            <a:srgbClr val="FFFF00"/>
                          </a:solidFill>
                          <a:effectLst/>
                          <a:latin typeface="Cambria" panose="02040503050406030204" pitchFamily="18" charset="0"/>
                          <a:ea typeface="Cambria" panose="02040503050406030204" pitchFamily="18" charset="0"/>
                        </a:rPr>
                        <a:t>Fields</a:t>
                      </a:r>
                      <a:endParaRPr lang="en-US" sz="2400" b="1"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tc>
                  <a:txBody>
                    <a:bodyPr/>
                    <a:lstStyle/>
                    <a:p>
                      <a:pPr marL="0" marR="0" algn="ctr">
                        <a:lnSpc>
                          <a:spcPct val="115000"/>
                        </a:lnSpc>
                        <a:spcBef>
                          <a:spcPts val="0"/>
                        </a:spcBef>
                        <a:spcAft>
                          <a:spcPts val="0"/>
                        </a:spcAft>
                      </a:pPr>
                      <a:r>
                        <a:rPr lang="en-US" sz="2400" b="1" dirty="0">
                          <a:solidFill>
                            <a:srgbClr val="FFFF00"/>
                          </a:solidFill>
                          <a:effectLst/>
                          <a:latin typeface="Cambria" panose="02040503050406030204" pitchFamily="18" charset="0"/>
                          <a:ea typeface="Cambria" panose="02040503050406030204" pitchFamily="18" charset="0"/>
                        </a:rPr>
                        <a:t>Date Type</a:t>
                      </a:r>
                      <a:endParaRPr lang="en-US" sz="2400" b="1"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tc>
                  <a:txBody>
                    <a:bodyPr/>
                    <a:lstStyle/>
                    <a:p>
                      <a:pPr marL="0" marR="0" algn="ctr">
                        <a:lnSpc>
                          <a:spcPct val="115000"/>
                        </a:lnSpc>
                        <a:spcBef>
                          <a:spcPts val="0"/>
                        </a:spcBef>
                        <a:spcAft>
                          <a:spcPts val="0"/>
                        </a:spcAft>
                      </a:pPr>
                      <a:r>
                        <a:rPr lang="en-US" sz="2400" b="1"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rPr>
                        <a:t>Constraints</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extLst>
                  <a:ext uri="{0D108BD9-81ED-4DB2-BD59-A6C34878D82A}">
                    <a16:rowId xmlns:a16="http://schemas.microsoft.com/office/drawing/2014/main" val="10000"/>
                  </a:ext>
                </a:extLst>
              </a:tr>
              <a:tr h="531311">
                <a:tc>
                  <a:txBody>
                    <a:bodyPr/>
                    <a:lstStyle/>
                    <a:p>
                      <a:pPr marL="0" marR="0" algn="ctr">
                        <a:lnSpc>
                          <a:spcPct val="115000"/>
                        </a:lnSpc>
                        <a:spcBef>
                          <a:spcPts val="0"/>
                        </a:spcBef>
                        <a:spcAft>
                          <a:spcPts val="0"/>
                        </a:spcAft>
                      </a:pPr>
                      <a:r>
                        <a:rPr lang="en-US" sz="2400" b="0" dirty="0" err="1">
                          <a:solidFill>
                            <a:schemeClr val="tx1"/>
                          </a:solidFill>
                          <a:effectLst/>
                          <a:latin typeface="Cambria" panose="02040503050406030204" pitchFamily="18" charset="0"/>
                          <a:ea typeface="Cambria" panose="02040503050406030204" pitchFamily="18" charset="0"/>
                        </a:rPr>
                        <a:t>AccNo</a:t>
                      </a:r>
                      <a:endParaRPr lang="en-US" sz="24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r>
                        <a:rPr lang="en-US" sz="2400" kern="1200" dirty="0">
                          <a:solidFill>
                            <a:schemeClr val="dk1"/>
                          </a:solidFill>
                          <a:effectLst/>
                          <a:latin typeface="Cambria" panose="02040503050406030204" pitchFamily="18" charset="0"/>
                          <a:ea typeface="Cambria" panose="02040503050406030204" pitchFamily="18" charset="0"/>
                          <a:cs typeface="+mn-cs"/>
                        </a:rPr>
                        <a:t>Number(4)</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r>
                        <a:rPr lang="en-US" sz="2400" kern="1200" dirty="0">
                          <a:solidFill>
                            <a:schemeClr val="dk1"/>
                          </a:solidFill>
                          <a:effectLst/>
                          <a:latin typeface="Cambria" panose="02040503050406030204" pitchFamily="18" charset="0"/>
                          <a:ea typeface="Cambria" panose="02040503050406030204" pitchFamily="18" charset="0"/>
                          <a:cs typeface="+mn-cs"/>
                        </a:rPr>
                        <a:t>Primary Key</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extLst>
                  <a:ext uri="{0D108BD9-81ED-4DB2-BD59-A6C34878D82A}">
                    <a16:rowId xmlns:a16="http://schemas.microsoft.com/office/drawing/2014/main" val="10001"/>
                  </a:ext>
                </a:extLst>
              </a:tr>
              <a:tr h="463149">
                <a:tc>
                  <a:txBody>
                    <a:bodyPr/>
                    <a:lstStyle/>
                    <a:p>
                      <a:pPr marL="0" marR="0" algn="ctr">
                        <a:lnSpc>
                          <a:spcPct val="115000"/>
                        </a:lnSpc>
                        <a:spcBef>
                          <a:spcPts val="0"/>
                        </a:spcBef>
                        <a:spcAft>
                          <a:spcPts val="0"/>
                        </a:spcAft>
                      </a:pPr>
                      <a:r>
                        <a:rPr lang="en-US" sz="2400" b="0" dirty="0" err="1">
                          <a:solidFill>
                            <a:schemeClr val="tx1"/>
                          </a:solidFill>
                          <a:effectLst/>
                          <a:latin typeface="Cambria" panose="02040503050406030204" pitchFamily="18" charset="0"/>
                          <a:ea typeface="Cambria" panose="02040503050406030204" pitchFamily="18" charset="0"/>
                        </a:rPr>
                        <a:t>AccBal</a:t>
                      </a:r>
                      <a:endParaRPr lang="en-US" sz="24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kern="1200" dirty="0">
                          <a:solidFill>
                            <a:schemeClr val="dk1"/>
                          </a:solidFill>
                          <a:effectLst/>
                          <a:latin typeface="Cambria" panose="02040503050406030204" pitchFamily="18" charset="0"/>
                          <a:ea typeface="Cambria" panose="02040503050406030204" pitchFamily="18" charset="0"/>
                          <a:cs typeface="+mn-cs"/>
                        </a:rPr>
                        <a:t>Number(10,2)</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2400" kern="1200" dirty="0">
                          <a:solidFill>
                            <a:schemeClr val="dk1"/>
                          </a:solidFill>
                          <a:effectLst/>
                          <a:latin typeface="Cambria" panose="02040503050406030204" pitchFamily="18" charset="0"/>
                          <a:ea typeface="Cambria" panose="02040503050406030204" pitchFamily="18" charset="0"/>
                          <a:cs typeface="+mn-cs"/>
                        </a:rPr>
                        <a:t>Not NULL</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extLst>
                  <a:ext uri="{0D108BD9-81ED-4DB2-BD59-A6C34878D82A}">
                    <a16:rowId xmlns:a16="http://schemas.microsoft.com/office/drawing/2014/main" val="10002"/>
                  </a:ext>
                </a:extLst>
              </a:tr>
            </a:tbl>
          </a:graphicData>
        </a:graphic>
      </p:graphicFrame>
      <p:graphicFrame>
        <p:nvGraphicFramePr>
          <p:cNvPr id="9" name="Table 8">
            <a:extLst>
              <a:ext uri="{FF2B5EF4-FFF2-40B4-BE49-F238E27FC236}">
                <a16:creationId xmlns:a16="http://schemas.microsoft.com/office/drawing/2014/main" id="{8E863D7E-5EA3-94B0-7CE3-189F3E67EE0F}"/>
              </a:ext>
            </a:extLst>
          </p:cNvPr>
          <p:cNvGraphicFramePr>
            <a:graphicFrameLocks noGrp="1"/>
          </p:cNvGraphicFramePr>
          <p:nvPr>
            <p:extLst>
              <p:ext uri="{D42A27DB-BD31-4B8C-83A1-F6EECF244321}">
                <p14:modId xmlns:p14="http://schemas.microsoft.com/office/powerpoint/2010/main" val="288801555"/>
              </p:ext>
            </p:extLst>
          </p:nvPr>
        </p:nvGraphicFramePr>
        <p:xfrm>
          <a:off x="1582738" y="2924944"/>
          <a:ext cx="6121401" cy="3404199"/>
        </p:xfrm>
        <a:graphic>
          <a:graphicData uri="http://schemas.openxmlformats.org/drawingml/2006/table">
            <a:tbl>
              <a:tblPr firstRow="1" firstCol="1" bandRow="1">
                <a:tableStyleId>{5C22544A-7EE6-4342-B048-85BDC9FD1C3A}</a:tableStyleId>
              </a:tblPr>
              <a:tblGrid>
                <a:gridCol w="1955923">
                  <a:extLst>
                    <a:ext uri="{9D8B030D-6E8A-4147-A177-3AD203B41FA5}">
                      <a16:colId xmlns:a16="http://schemas.microsoft.com/office/drawing/2014/main" val="20000"/>
                    </a:ext>
                  </a:extLst>
                </a:gridCol>
                <a:gridCol w="2082739">
                  <a:extLst>
                    <a:ext uri="{9D8B030D-6E8A-4147-A177-3AD203B41FA5}">
                      <a16:colId xmlns:a16="http://schemas.microsoft.com/office/drawing/2014/main" val="20001"/>
                    </a:ext>
                  </a:extLst>
                </a:gridCol>
                <a:gridCol w="2082739">
                  <a:extLst>
                    <a:ext uri="{9D8B030D-6E8A-4147-A177-3AD203B41FA5}">
                      <a16:colId xmlns:a16="http://schemas.microsoft.com/office/drawing/2014/main" val="20002"/>
                    </a:ext>
                  </a:extLst>
                </a:gridCol>
              </a:tblGrid>
              <a:tr h="476848">
                <a:tc gridSpan="3">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2400" b="1" dirty="0">
                          <a:solidFill>
                            <a:schemeClr val="bg1"/>
                          </a:solidFill>
                          <a:effectLst/>
                          <a:latin typeface="Cambria" panose="02040503050406030204" pitchFamily="18" charset="0"/>
                          <a:ea typeface="Cambria" panose="02040503050406030204" pitchFamily="18" charset="0"/>
                          <a:cs typeface="Times New Roman" panose="02020603050405020304" pitchFamily="18" charset="0"/>
                        </a:rPr>
                        <a:t>ACC_TRANS</a:t>
                      </a:r>
                      <a:endParaRPr lang="en-US" sz="2400" b="1"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tc hMerge="1">
                  <a:txBody>
                    <a:bodyPr/>
                    <a:lstStyle/>
                    <a:p>
                      <a:pPr marL="0" marR="0" algn="ctr">
                        <a:lnSpc>
                          <a:spcPct val="115000"/>
                        </a:lnSpc>
                        <a:spcBef>
                          <a:spcPts val="0"/>
                        </a:spcBef>
                        <a:spcAft>
                          <a:spcPts val="0"/>
                        </a:spcAft>
                      </a:pPr>
                      <a:endParaRPr lang="en-US" sz="2400" b="1"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tc hMerge="1">
                  <a:txBody>
                    <a:bodyPr/>
                    <a:lstStyle/>
                    <a:p>
                      <a:pPr marL="0" marR="0" algn="ctr">
                        <a:lnSpc>
                          <a:spcPct val="115000"/>
                        </a:lnSpc>
                        <a:spcBef>
                          <a:spcPts val="0"/>
                        </a:spcBef>
                        <a:spcAft>
                          <a:spcPts val="0"/>
                        </a:spcAft>
                      </a:pPr>
                      <a:endParaRPr lang="en-US" sz="2400" b="1"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extLst>
                  <a:ext uri="{0D108BD9-81ED-4DB2-BD59-A6C34878D82A}">
                    <a16:rowId xmlns:a16="http://schemas.microsoft.com/office/drawing/2014/main" val="1577072708"/>
                  </a:ext>
                </a:extLst>
              </a:tr>
              <a:tr h="476848">
                <a:tc>
                  <a:txBody>
                    <a:bodyPr/>
                    <a:lstStyle/>
                    <a:p>
                      <a:pPr marL="0" marR="0" algn="ctr">
                        <a:lnSpc>
                          <a:spcPct val="115000"/>
                        </a:lnSpc>
                        <a:spcBef>
                          <a:spcPts val="0"/>
                        </a:spcBef>
                        <a:spcAft>
                          <a:spcPts val="0"/>
                        </a:spcAft>
                      </a:pPr>
                      <a:r>
                        <a:rPr lang="en-US" sz="2400" b="1" dirty="0">
                          <a:solidFill>
                            <a:srgbClr val="FFFF00"/>
                          </a:solidFill>
                          <a:effectLst/>
                          <a:latin typeface="Cambria" panose="02040503050406030204" pitchFamily="18" charset="0"/>
                          <a:ea typeface="Cambria" panose="02040503050406030204" pitchFamily="18" charset="0"/>
                        </a:rPr>
                        <a:t>Fields</a:t>
                      </a:r>
                      <a:endParaRPr lang="en-US" sz="2400" b="1"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tc>
                  <a:txBody>
                    <a:bodyPr/>
                    <a:lstStyle/>
                    <a:p>
                      <a:pPr marL="0" marR="0" algn="ctr">
                        <a:lnSpc>
                          <a:spcPct val="115000"/>
                        </a:lnSpc>
                        <a:spcBef>
                          <a:spcPts val="0"/>
                        </a:spcBef>
                        <a:spcAft>
                          <a:spcPts val="0"/>
                        </a:spcAft>
                      </a:pPr>
                      <a:r>
                        <a:rPr lang="en-US" sz="2400" b="1" dirty="0">
                          <a:solidFill>
                            <a:srgbClr val="FFFF00"/>
                          </a:solidFill>
                          <a:effectLst/>
                          <a:latin typeface="Cambria" panose="02040503050406030204" pitchFamily="18" charset="0"/>
                          <a:ea typeface="Cambria" panose="02040503050406030204" pitchFamily="18" charset="0"/>
                        </a:rPr>
                        <a:t>Date Type</a:t>
                      </a:r>
                      <a:endParaRPr lang="en-US" sz="2400" b="1"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tc>
                  <a:txBody>
                    <a:bodyPr/>
                    <a:lstStyle/>
                    <a:p>
                      <a:pPr marL="0" marR="0" algn="ctr">
                        <a:lnSpc>
                          <a:spcPct val="115000"/>
                        </a:lnSpc>
                        <a:spcBef>
                          <a:spcPts val="0"/>
                        </a:spcBef>
                        <a:spcAft>
                          <a:spcPts val="0"/>
                        </a:spcAft>
                      </a:pPr>
                      <a:r>
                        <a:rPr lang="en-US" sz="2400" b="1" dirty="0">
                          <a:solidFill>
                            <a:srgbClr val="FFFF00"/>
                          </a:solidFill>
                          <a:effectLst/>
                          <a:latin typeface="Cambria" panose="02040503050406030204" pitchFamily="18" charset="0"/>
                          <a:ea typeface="Cambria" panose="02040503050406030204" pitchFamily="18" charset="0"/>
                          <a:cs typeface="Times New Roman" panose="02020603050405020304" pitchFamily="18" charset="0"/>
                        </a:rPr>
                        <a:t>Constraints</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0000"/>
                    </a:solidFill>
                  </a:tcPr>
                </a:tc>
                <a:extLst>
                  <a:ext uri="{0D108BD9-81ED-4DB2-BD59-A6C34878D82A}">
                    <a16:rowId xmlns:a16="http://schemas.microsoft.com/office/drawing/2014/main" val="10000"/>
                  </a:ext>
                </a:extLst>
              </a:tr>
              <a:tr h="530972">
                <a:tc>
                  <a:txBody>
                    <a:bodyPr/>
                    <a:lstStyle/>
                    <a:p>
                      <a:pPr marL="0" marR="0" algn="ctr">
                        <a:lnSpc>
                          <a:spcPct val="115000"/>
                        </a:lnSpc>
                        <a:spcBef>
                          <a:spcPts val="0"/>
                        </a:spcBef>
                        <a:spcAft>
                          <a:spcPts val="0"/>
                        </a:spcAft>
                      </a:pPr>
                      <a:r>
                        <a:rPr lang="en-US" sz="2400" b="0" dirty="0" err="1">
                          <a:solidFill>
                            <a:schemeClr val="tx1"/>
                          </a:solidFill>
                          <a:effectLst/>
                          <a:latin typeface="Cambria" panose="02040503050406030204" pitchFamily="18" charset="0"/>
                          <a:ea typeface="Cambria" panose="02040503050406030204" pitchFamily="18" charset="0"/>
                          <a:cs typeface="Times New Roman" panose="02020603050405020304" pitchFamily="18" charset="0"/>
                        </a:rPr>
                        <a:t>transno</a:t>
                      </a:r>
                      <a:endParaRPr lang="en-US" sz="24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r>
                        <a:rPr lang="en-US" sz="2400" kern="1200" dirty="0">
                          <a:solidFill>
                            <a:schemeClr val="dk1"/>
                          </a:solidFill>
                          <a:effectLst/>
                          <a:latin typeface="Cambria" panose="02040503050406030204" pitchFamily="18" charset="0"/>
                          <a:ea typeface="Cambria" panose="02040503050406030204" pitchFamily="18" charset="0"/>
                          <a:cs typeface="+mn-cs"/>
                        </a:rPr>
                        <a:t>Number(10)</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effectLst/>
                          <a:latin typeface="Cambria" panose="02040503050406030204" pitchFamily="18" charset="0"/>
                          <a:ea typeface="Cambria" panose="02040503050406030204" pitchFamily="18" charset="0"/>
                          <a:cs typeface="+mn-cs"/>
                        </a:rPr>
                        <a:t>Primary Key</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extLst>
                  <a:ext uri="{0D108BD9-81ED-4DB2-BD59-A6C34878D82A}">
                    <a16:rowId xmlns:a16="http://schemas.microsoft.com/office/drawing/2014/main" val="10001"/>
                  </a:ext>
                </a:extLst>
              </a:tr>
              <a:tr h="530972">
                <a:tc>
                  <a:txBody>
                    <a:bodyPr/>
                    <a:lstStyle/>
                    <a:p>
                      <a:pPr marL="0" marR="0" algn="ctr">
                        <a:lnSpc>
                          <a:spcPct val="115000"/>
                        </a:lnSpc>
                        <a:spcBef>
                          <a:spcPts val="0"/>
                        </a:spcBef>
                        <a:spcAft>
                          <a:spcPts val="0"/>
                        </a:spcAft>
                      </a:pPr>
                      <a:r>
                        <a:rPr lang="en-US" sz="2400" b="0" dirty="0" err="1">
                          <a:solidFill>
                            <a:schemeClr val="tx1"/>
                          </a:solidFill>
                          <a:effectLst/>
                          <a:latin typeface="Cambria" panose="02040503050406030204" pitchFamily="18" charset="0"/>
                          <a:ea typeface="Cambria" panose="02040503050406030204" pitchFamily="18" charset="0"/>
                        </a:rPr>
                        <a:t>AccNo</a:t>
                      </a:r>
                      <a:endParaRPr lang="en-US" sz="24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r>
                        <a:rPr lang="en-US" sz="2400" kern="1200" dirty="0">
                          <a:solidFill>
                            <a:schemeClr val="dk1"/>
                          </a:solidFill>
                          <a:effectLst/>
                          <a:latin typeface="Cambria" panose="02040503050406030204" pitchFamily="18" charset="0"/>
                          <a:ea typeface="Cambria" panose="02040503050406030204" pitchFamily="18" charset="0"/>
                          <a:cs typeface="+mn-cs"/>
                        </a:rPr>
                        <a:t>Number(4)</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r>
                        <a:rPr lang="en-US" sz="2400" kern="1200" dirty="0">
                          <a:solidFill>
                            <a:schemeClr val="dk1"/>
                          </a:solidFill>
                          <a:effectLst/>
                          <a:latin typeface="Cambria" panose="02040503050406030204" pitchFamily="18" charset="0"/>
                          <a:ea typeface="Cambria" panose="02040503050406030204" pitchFamily="18" charset="0"/>
                          <a:cs typeface="+mn-cs"/>
                        </a:rPr>
                        <a:t>Foreign Key</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extLst>
                  <a:ext uri="{0D108BD9-81ED-4DB2-BD59-A6C34878D82A}">
                    <a16:rowId xmlns:a16="http://schemas.microsoft.com/office/drawing/2014/main" val="10002"/>
                  </a:ext>
                </a:extLst>
              </a:tr>
              <a:tr h="462853">
                <a:tc>
                  <a:txBody>
                    <a:bodyPr/>
                    <a:lstStyle/>
                    <a:p>
                      <a:pPr marL="0" marR="0" algn="ctr">
                        <a:lnSpc>
                          <a:spcPct val="115000"/>
                        </a:lnSpc>
                        <a:spcBef>
                          <a:spcPts val="0"/>
                        </a:spcBef>
                        <a:spcAft>
                          <a:spcPts val="0"/>
                        </a:spcAft>
                      </a:pPr>
                      <a:r>
                        <a:rPr lang="en-US" sz="2400" b="0" dirty="0" err="1">
                          <a:solidFill>
                            <a:schemeClr val="tx1"/>
                          </a:solidFill>
                          <a:effectLst/>
                          <a:latin typeface="Cambria" panose="02040503050406030204" pitchFamily="18" charset="0"/>
                          <a:ea typeface="Cambria" panose="02040503050406030204" pitchFamily="18" charset="0"/>
                        </a:rPr>
                        <a:t>transdate</a:t>
                      </a:r>
                      <a:endParaRPr lang="en-US" sz="24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kern="1200" dirty="0">
                          <a:solidFill>
                            <a:schemeClr val="dk1"/>
                          </a:solidFill>
                          <a:effectLst/>
                          <a:latin typeface="Cambria" panose="02040503050406030204" pitchFamily="18" charset="0"/>
                          <a:ea typeface="Cambria" panose="02040503050406030204" pitchFamily="18" charset="0"/>
                          <a:cs typeface="+mn-cs"/>
                        </a:rPr>
                        <a:t>Date</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r>
                        <a:rPr lang="en-US" sz="2400" kern="1200" dirty="0">
                          <a:solidFill>
                            <a:schemeClr val="dk1"/>
                          </a:solidFill>
                          <a:effectLst/>
                          <a:latin typeface="Cambria" panose="02040503050406030204" pitchFamily="18" charset="0"/>
                          <a:ea typeface="Cambria" panose="02040503050406030204" pitchFamily="18" charset="0"/>
                          <a:cs typeface="+mn-cs"/>
                        </a:rPr>
                        <a:t>Not NULL</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extLst>
                  <a:ext uri="{0D108BD9-81ED-4DB2-BD59-A6C34878D82A}">
                    <a16:rowId xmlns:a16="http://schemas.microsoft.com/office/drawing/2014/main" val="10003"/>
                  </a:ext>
                </a:extLst>
              </a:tr>
              <a:tr h="462853">
                <a:tc>
                  <a:txBody>
                    <a:bodyPr/>
                    <a:lstStyle/>
                    <a:p>
                      <a:pPr marL="0" marR="0" algn="ctr">
                        <a:lnSpc>
                          <a:spcPct val="115000"/>
                        </a:lnSpc>
                        <a:spcBef>
                          <a:spcPts val="0"/>
                        </a:spcBef>
                        <a:spcAft>
                          <a:spcPts val="0"/>
                        </a:spcAft>
                      </a:pPr>
                      <a:r>
                        <a:rPr lang="en-US" sz="2400" b="0" dirty="0" err="1">
                          <a:solidFill>
                            <a:schemeClr val="tx1"/>
                          </a:solidFill>
                          <a:effectLst/>
                          <a:latin typeface="Cambria" panose="02040503050406030204" pitchFamily="18" charset="0"/>
                          <a:ea typeface="Cambria" panose="02040503050406030204" pitchFamily="18" charset="0"/>
                          <a:cs typeface="Times New Roman" panose="02020603050405020304" pitchFamily="18" charset="0"/>
                        </a:rPr>
                        <a:t>transtype</a:t>
                      </a:r>
                      <a:endParaRPr lang="en-US" sz="24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effectLst/>
                          <a:latin typeface="Cambria" panose="02040503050406030204" pitchFamily="18" charset="0"/>
                          <a:ea typeface="Cambria" panose="02040503050406030204" pitchFamily="18" charset="0"/>
                          <a:cs typeface="Times New Roman" panose="02020603050405020304" pitchFamily="18" charset="0"/>
                        </a:rPr>
                        <a:t>Char(1)</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dirty="0">
                          <a:effectLst/>
                          <a:latin typeface="Cambria" panose="02040503050406030204" pitchFamily="18" charset="0"/>
                          <a:ea typeface="Cambria" panose="02040503050406030204" pitchFamily="18" charset="0"/>
                          <a:cs typeface="Times New Roman" panose="02020603050405020304" pitchFamily="18" charset="0"/>
                        </a:rPr>
                        <a:t>‘D’ or ‘W’</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extLst>
                  <a:ext uri="{0D108BD9-81ED-4DB2-BD59-A6C34878D82A}">
                    <a16:rowId xmlns:a16="http://schemas.microsoft.com/office/drawing/2014/main" val="10004"/>
                  </a:ext>
                </a:extLst>
              </a:tr>
              <a:tr h="462853">
                <a:tc>
                  <a:txBody>
                    <a:bodyPr/>
                    <a:lstStyle/>
                    <a:p>
                      <a:pPr marL="0" marR="0" algn="ctr">
                        <a:lnSpc>
                          <a:spcPct val="115000"/>
                        </a:lnSpc>
                        <a:spcBef>
                          <a:spcPts val="0"/>
                        </a:spcBef>
                        <a:spcAft>
                          <a:spcPts val="0"/>
                        </a:spcAft>
                      </a:pPr>
                      <a:r>
                        <a:rPr lang="en-US" sz="2400" b="0" dirty="0">
                          <a:solidFill>
                            <a:schemeClr val="tx1"/>
                          </a:solidFill>
                          <a:effectLst/>
                          <a:latin typeface="Cambria" panose="02040503050406030204" pitchFamily="18" charset="0"/>
                          <a:ea typeface="Cambria" panose="02040503050406030204" pitchFamily="18" charset="0"/>
                          <a:cs typeface="Times New Roman" panose="02020603050405020304" pitchFamily="18" charset="0"/>
                        </a:rPr>
                        <a:t>Amount</a:t>
                      </a: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kern="1200" dirty="0">
                          <a:solidFill>
                            <a:schemeClr val="dk1"/>
                          </a:solidFill>
                          <a:effectLst/>
                          <a:latin typeface="Cambria" panose="02040503050406030204" pitchFamily="18" charset="0"/>
                          <a:ea typeface="Cambria" panose="02040503050406030204" pitchFamily="18" charset="0"/>
                          <a:cs typeface="+mn-cs"/>
                        </a:rPr>
                        <a:t>Number(10,2)</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400" kern="1200" dirty="0">
                          <a:solidFill>
                            <a:schemeClr val="dk1"/>
                          </a:solidFill>
                          <a:effectLst/>
                          <a:latin typeface="Cambria" panose="02040503050406030204" pitchFamily="18" charset="0"/>
                          <a:ea typeface="Cambria" panose="02040503050406030204" pitchFamily="18" charset="0"/>
                          <a:cs typeface="+mn-cs"/>
                        </a:rPr>
                        <a:t>Not NULL</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68591" marR="68591"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AA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7093067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AE588520-E547-F6D1-C3F5-7A50D4FA5CC4}"/>
              </a:ext>
            </a:extLst>
          </p:cNvPr>
          <p:cNvSpPr txBox="1">
            <a:spLocks noChangeArrowheads="1"/>
          </p:cNvSpPr>
          <p:nvPr/>
        </p:nvSpPr>
        <p:spPr bwMode="auto">
          <a:xfrm>
            <a:off x="382588" y="-26988"/>
            <a:ext cx="7501780" cy="6551613"/>
          </a:xfrm>
          <a:prstGeom prst="rect">
            <a:avLst/>
          </a:prstGeom>
          <a:noFill/>
          <a:ln>
            <a:noFill/>
          </a:ln>
        </p:spPr>
        <p:txBody>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a:lstStyle>
          <a:p>
            <a:pPr marL="0" indent="0">
              <a:spcBef>
                <a:spcPts val="0"/>
              </a:spcBef>
              <a:buFontTx/>
              <a:buNone/>
              <a:defRPr/>
            </a:pPr>
            <a:r>
              <a:rPr lang="en-US" sz="1600" kern="0" dirty="0"/>
              <a:t>create or replace trigger </a:t>
            </a:r>
            <a:r>
              <a:rPr lang="en-US" sz="1600" kern="0" dirty="0" err="1">
                <a:solidFill>
                  <a:srgbClr val="FF0000"/>
                </a:solidFill>
              </a:rPr>
              <a:t>acc_trigger</a:t>
            </a:r>
            <a:r>
              <a:rPr lang="en-US" sz="1600" kern="0" dirty="0"/>
              <a:t> </a:t>
            </a:r>
          </a:p>
          <a:p>
            <a:pPr marL="0" indent="0">
              <a:spcBef>
                <a:spcPts val="0"/>
              </a:spcBef>
              <a:buFontTx/>
              <a:buNone/>
              <a:defRPr/>
            </a:pPr>
            <a:r>
              <a:rPr lang="en-US" sz="1600" kern="0" dirty="0"/>
              <a:t>before insert on </a:t>
            </a:r>
            <a:r>
              <a:rPr lang="en-US" sz="1600" kern="0" dirty="0" err="1">
                <a:solidFill>
                  <a:srgbClr val="FF0000"/>
                </a:solidFill>
              </a:rPr>
              <a:t>acc_trans</a:t>
            </a:r>
            <a:r>
              <a:rPr lang="en-US" sz="1600" kern="0" dirty="0"/>
              <a:t> </a:t>
            </a:r>
          </a:p>
          <a:p>
            <a:pPr marL="0" indent="0">
              <a:spcBef>
                <a:spcPts val="0"/>
              </a:spcBef>
              <a:buFontTx/>
              <a:buNone/>
              <a:defRPr/>
            </a:pPr>
            <a:r>
              <a:rPr lang="en-US" sz="1600" kern="0" dirty="0"/>
              <a:t>for each row</a:t>
            </a:r>
          </a:p>
          <a:p>
            <a:pPr marL="0" indent="0">
              <a:spcBef>
                <a:spcPts val="0"/>
              </a:spcBef>
              <a:buFontTx/>
              <a:buNone/>
              <a:defRPr/>
            </a:pPr>
            <a:r>
              <a:rPr lang="en-US" sz="1600" kern="0" dirty="0">
                <a:solidFill>
                  <a:schemeClr val="accent2"/>
                </a:solidFill>
              </a:rPr>
              <a:t>declare</a:t>
            </a:r>
          </a:p>
          <a:p>
            <a:pPr marL="0" indent="0">
              <a:spcBef>
                <a:spcPts val="0"/>
              </a:spcBef>
              <a:buFontTx/>
              <a:buNone/>
              <a:defRPr/>
            </a:pPr>
            <a:r>
              <a:rPr lang="en-US" sz="1600" kern="0" dirty="0"/>
              <a:t>	</a:t>
            </a:r>
            <a:r>
              <a:rPr lang="en-US" sz="1600" kern="0" dirty="0" err="1"/>
              <a:t>bal</a:t>
            </a:r>
            <a:r>
              <a:rPr lang="en-US" sz="1600" kern="0" dirty="0"/>
              <a:t> </a:t>
            </a:r>
            <a:r>
              <a:rPr lang="en-US" sz="1600" kern="0" dirty="0" err="1"/>
              <a:t>acc_master.accbal%type</a:t>
            </a:r>
            <a:r>
              <a:rPr lang="en-US" sz="1600" kern="0" dirty="0"/>
              <a:t>;</a:t>
            </a:r>
          </a:p>
          <a:p>
            <a:pPr marL="0" indent="0">
              <a:spcBef>
                <a:spcPts val="0"/>
              </a:spcBef>
              <a:buFontTx/>
              <a:buNone/>
              <a:defRPr/>
            </a:pPr>
            <a:r>
              <a:rPr lang="en-US" sz="1600" kern="0" dirty="0">
                <a:solidFill>
                  <a:schemeClr val="accent2"/>
                </a:solidFill>
              </a:rPr>
              <a:t>begin</a:t>
            </a:r>
          </a:p>
          <a:p>
            <a:pPr marL="0" indent="0">
              <a:spcBef>
                <a:spcPts val="0"/>
              </a:spcBef>
              <a:buFontTx/>
              <a:buNone/>
              <a:defRPr/>
            </a:pPr>
            <a:r>
              <a:rPr lang="en-US" sz="1600" kern="0" dirty="0"/>
              <a:t>    select </a:t>
            </a:r>
            <a:r>
              <a:rPr lang="en-US" sz="1600" kern="0" dirty="0" err="1"/>
              <a:t>accbal</a:t>
            </a:r>
            <a:r>
              <a:rPr lang="en-US" sz="1600" kern="0" dirty="0"/>
              <a:t> into </a:t>
            </a:r>
            <a:r>
              <a:rPr lang="en-US" sz="1600" kern="0" dirty="0" err="1"/>
              <a:t>bal</a:t>
            </a:r>
            <a:r>
              <a:rPr lang="en-US" sz="1600" kern="0" dirty="0"/>
              <a:t> from </a:t>
            </a:r>
            <a:r>
              <a:rPr lang="en-US" sz="1600" kern="0" dirty="0" err="1"/>
              <a:t>acc_master</a:t>
            </a:r>
            <a:r>
              <a:rPr lang="en-US" sz="1600" kern="0" dirty="0"/>
              <a:t> where </a:t>
            </a:r>
            <a:r>
              <a:rPr lang="en-US" sz="1600" kern="0" dirty="0" err="1"/>
              <a:t>accno</a:t>
            </a:r>
            <a:r>
              <a:rPr lang="en-US" sz="1600" kern="0" dirty="0"/>
              <a:t> = :</a:t>
            </a:r>
            <a:r>
              <a:rPr lang="en-US" sz="1600" kern="0" dirty="0" err="1"/>
              <a:t>new.accno</a:t>
            </a:r>
            <a:r>
              <a:rPr lang="en-US" sz="1600" kern="0" dirty="0"/>
              <a:t>;</a:t>
            </a:r>
          </a:p>
          <a:p>
            <a:pPr marL="0" indent="0">
              <a:spcBef>
                <a:spcPts val="0"/>
              </a:spcBef>
              <a:buFontTx/>
              <a:buNone/>
              <a:defRPr/>
            </a:pPr>
            <a:r>
              <a:rPr lang="en-US" sz="1600" kern="0" dirty="0"/>
              <a:t>    if (:</a:t>
            </a:r>
            <a:r>
              <a:rPr lang="en-US" sz="1600" kern="0" dirty="0" err="1"/>
              <a:t>new.transtype</a:t>
            </a:r>
            <a:r>
              <a:rPr lang="en-US" sz="1600" kern="0" dirty="0"/>
              <a:t> = 'W') then</a:t>
            </a:r>
          </a:p>
          <a:p>
            <a:pPr marL="0" indent="0">
              <a:spcBef>
                <a:spcPts val="0"/>
              </a:spcBef>
              <a:buFontTx/>
              <a:buNone/>
              <a:defRPr/>
            </a:pPr>
            <a:r>
              <a:rPr lang="en-US" sz="1600" kern="0" dirty="0"/>
              <a:t>        if (:</a:t>
            </a:r>
            <a:r>
              <a:rPr lang="en-US" sz="1600" kern="0" dirty="0" err="1"/>
              <a:t>new.amount</a:t>
            </a:r>
            <a:r>
              <a:rPr lang="en-US" sz="1600" kern="0" dirty="0"/>
              <a:t>&gt;</a:t>
            </a:r>
            <a:r>
              <a:rPr lang="en-US" sz="1600" kern="0" dirty="0" err="1"/>
              <a:t>bal</a:t>
            </a:r>
            <a:r>
              <a:rPr lang="en-US" sz="1600" kern="0" dirty="0"/>
              <a:t>) then</a:t>
            </a:r>
          </a:p>
          <a:p>
            <a:pPr marL="0" indent="0">
              <a:spcBef>
                <a:spcPts val="0"/>
              </a:spcBef>
              <a:buFontTx/>
              <a:buNone/>
              <a:defRPr/>
            </a:pPr>
            <a:r>
              <a:rPr lang="en-US" sz="1600" kern="0" dirty="0"/>
              <a:t>            begin</a:t>
            </a:r>
          </a:p>
          <a:p>
            <a:pPr marL="0" indent="0">
              <a:spcBef>
                <a:spcPts val="0"/>
              </a:spcBef>
              <a:buFontTx/>
              <a:buNone/>
              <a:defRPr/>
            </a:pPr>
            <a:r>
              <a:rPr lang="en-US" sz="1600" kern="0" dirty="0"/>
              <a:t>                </a:t>
            </a:r>
            <a:r>
              <a:rPr lang="en-US" sz="1600" kern="0" dirty="0" err="1"/>
              <a:t>dbms_output.put_line</a:t>
            </a:r>
            <a:r>
              <a:rPr lang="en-US" sz="1600" kern="0" dirty="0"/>
              <a:t>('Insufficient Balance');</a:t>
            </a:r>
          </a:p>
          <a:p>
            <a:pPr marL="0" indent="0">
              <a:spcBef>
                <a:spcPts val="0"/>
              </a:spcBef>
              <a:buFontTx/>
              <a:buNone/>
              <a:defRPr/>
            </a:pPr>
            <a:r>
              <a:rPr lang="en-US" sz="1600" kern="0" dirty="0"/>
              <a:t>                :</a:t>
            </a:r>
            <a:r>
              <a:rPr lang="en-US" sz="1600" kern="0" dirty="0" err="1"/>
              <a:t>new.comments</a:t>
            </a:r>
            <a:r>
              <a:rPr lang="en-US" sz="1600" kern="0" dirty="0"/>
              <a:t> := 'Insufficient Balance';</a:t>
            </a:r>
          </a:p>
          <a:p>
            <a:pPr marL="0" indent="0">
              <a:spcBef>
                <a:spcPts val="0"/>
              </a:spcBef>
              <a:buFontTx/>
              <a:buNone/>
              <a:defRPr/>
            </a:pPr>
            <a:r>
              <a:rPr lang="en-US" sz="1600" kern="0" dirty="0"/>
              <a:t>            end;</a:t>
            </a:r>
          </a:p>
          <a:p>
            <a:pPr marL="0" indent="0">
              <a:spcBef>
                <a:spcPts val="0"/>
              </a:spcBef>
              <a:buFontTx/>
              <a:buNone/>
              <a:defRPr/>
            </a:pPr>
            <a:r>
              <a:rPr lang="en-US" sz="1600" kern="0" dirty="0"/>
              <a:t>        else    </a:t>
            </a:r>
          </a:p>
          <a:p>
            <a:pPr marL="0" indent="0">
              <a:spcBef>
                <a:spcPts val="0"/>
              </a:spcBef>
              <a:buFontTx/>
              <a:buNone/>
              <a:defRPr/>
            </a:pPr>
            <a:r>
              <a:rPr lang="en-US" sz="1600" kern="0" dirty="0"/>
              <a:t>            begin</a:t>
            </a:r>
          </a:p>
          <a:p>
            <a:pPr marL="0" indent="0">
              <a:spcBef>
                <a:spcPts val="0"/>
              </a:spcBef>
              <a:buFontTx/>
              <a:buNone/>
              <a:defRPr/>
            </a:pPr>
            <a:r>
              <a:rPr lang="en-US" sz="1600" kern="0" dirty="0"/>
              <a:t>                update </a:t>
            </a:r>
            <a:r>
              <a:rPr lang="en-US" sz="1600" kern="0" dirty="0" err="1"/>
              <a:t>acc_master</a:t>
            </a:r>
            <a:endParaRPr lang="en-US" sz="1600" kern="0" dirty="0"/>
          </a:p>
          <a:p>
            <a:pPr marL="0" indent="0">
              <a:spcBef>
                <a:spcPts val="0"/>
              </a:spcBef>
              <a:buFontTx/>
              <a:buNone/>
              <a:defRPr/>
            </a:pPr>
            <a:r>
              <a:rPr lang="en-US" sz="1600" kern="0" dirty="0"/>
              <a:t>                set </a:t>
            </a:r>
            <a:r>
              <a:rPr lang="en-US" sz="1600" kern="0" dirty="0" err="1"/>
              <a:t>accbal</a:t>
            </a:r>
            <a:r>
              <a:rPr lang="en-US" sz="1600" kern="0" dirty="0"/>
              <a:t> = </a:t>
            </a:r>
            <a:r>
              <a:rPr lang="en-US" sz="1600" kern="0" dirty="0" err="1"/>
              <a:t>accbal</a:t>
            </a:r>
            <a:r>
              <a:rPr lang="en-US" sz="1600" kern="0" dirty="0"/>
              <a:t> - :</a:t>
            </a:r>
            <a:r>
              <a:rPr lang="en-US" sz="1600" kern="0" dirty="0" err="1"/>
              <a:t>new.amount</a:t>
            </a:r>
            <a:r>
              <a:rPr lang="en-US" sz="1600" kern="0" dirty="0"/>
              <a:t>;</a:t>
            </a:r>
          </a:p>
          <a:p>
            <a:pPr marL="0" indent="0">
              <a:spcBef>
                <a:spcPts val="0"/>
              </a:spcBef>
              <a:buFontTx/>
              <a:buNone/>
              <a:defRPr/>
            </a:pPr>
            <a:r>
              <a:rPr lang="en-US" sz="1600" kern="0" dirty="0"/>
              <a:t>                :</a:t>
            </a:r>
            <a:r>
              <a:rPr lang="en-US" sz="1600" kern="0" dirty="0" err="1"/>
              <a:t>new.comments</a:t>
            </a:r>
            <a:r>
              <a:rPr lang="en-US" sz="1600" kern="0" dirty="0"/>
              <a:t> := 'Withdraw Successful';</a:t>
            </a:r>
          </a:p>
          <a:p>
            <a:pPr marL="0" indent="0">
              <a:spcBef>
                <a:spcPts val="0"/>
              </a:spcBef>
              <a:buFontTx/>
              <a:buNone/>
              <a:defRPr/>
            </a:pPr>
            <a:r>
              <a:rPr lang="en-US" sz="1600" kern="0" dirty="0"/>
              <a:t>            end;    </a:t>
            </a:r>
          </a:p>
          <a:p>
            <a:pPr marL="0" indent="0">
              <a:spcBef>
                <a:spcPts val="0"/>
              </a:spcBef>
              <a:buFontTx/>
              <a:buNone/>
              <a:defRPr/>
            </a:pPr>
            <a:r>
              <a:rPr lang="en-US" sz="1600" kern="0" dirty="0"/>
              <a:t>        end if;    </a:t>
            </a:r>
          </a:p>
          <a:p>
            <a:pPr marL="0" indent="0">
              <a:spcBef>
                <a:spcPts val="0"/>
              </a:spcBef>
              <a:buFontTx/>
              <a:buNone/>
              <a:defRPr/>
            </a:pPr>
            <a:r>
              <a:rPr lang="en-US" sz="1600" kern="0" dirty="0"/>
              <a:t>    else </a:t>
            </a:r>
          </a:p>
          <a:p>
            <a:pPr marL="0" indent="0">
              <a:spcBef>
                <a:spcPts val="0"/>
              </a:spcBef>
              <a:buFontTx/>
              <a:buNone/>
              <a:defRPr/>
            </a:pPr>
            <a:r>
              <a:rPr lang="en-US" sz="1600" kern="0" dirty="0"/>
              <a:t>        begin</a:t>
            </a:r>
          </a:p>
          <a:p>
            <a:pPr marL="0" indent="0">
              <a:spcBef>
                <a:spcPts val="0"/>
              </a:spcBef>
              <a:buFontTx/>
              <a:buNone/>
              <a:defRPr/>
            </a:pPr>
            <a:r>
              <a:rPr lang="en-US" sz="1600" kern="0" dirty="0"/>
              <a:t>        update </a:t>
            </a:r>
            <a:r>
              <a:rPr lang="en-US" sz="1600" kern="0" dirty="0" err="1"/>
              <a:t>acc_master</a:t>
            </a:r>
            <a:endParaRPr lang="en-US" sz="1600" kern="0" dirty="0"/>
          </a:p>
          <a:p>
            <a:pPr marL="0" indent="0">
              <a:spcBef>
                <a:spcPts val="0"/>
              </a:spcBef>
              <a:buFontTx/>
              <a:buNone/>
              <a:defRPr/>
            </a:pPr>
            <a:r>
              <a:rPr lang="en-US" sz="1600" kern="0" dirty="0"/>
              <a:t>        set </a:t>
            </a:r>
            <a:r>
              <a:rPr lang="en-US" sz="1600" kern="0" dirty="0" err="1"/>
              <a:t>accbal</a:t>
            </a:r>
            <a:r>
              <a:rPr lang="en-US" sz="1600" kern="0" dirty="0"/>
              <a:t> = </a:t>
            </a:r>
            <a:r>
              <a:rPr lang="en-US" sz="1600" kern="0" dirty="0" err="1"/>
              <a:t>accbal</a:t>
            </a:r>
            <a:r>
              <a:rPr lang="en-US" sz="1600" kern="0" dirty="0"/>
              <a:t> + :</a:t>
            </a:r>
            <a:r>
              <a:rPr lang="en-US" sz="1600" kern="0" dirty="0" err="1"/>
              <a:t>new.amount</a:t>
            </a:r>
            <a:r>
              <a:rPr lang="en-US" sz="1600" kern="0" dirty="0"/>
              <a:t>;</a:t>
            </a:r>
          </a:p>
          <a:p>
            <a:pPr marL="0" indent="0">
              <a:spcBef>
                <a:spcPts val="0"/>
              </a:spcBef>
              <a:buFontTx/>
              <a:buNone/>
              <a:defRPr/>
            </a:pPr>
            <a:r>
              <a:rPr lang="en-US" sz="1600" kern="0" dirty="0"/>
              <a:t>        :</a:t>
            </a:r>
            <a:r>
              <a:rPr lang="en-US" sz="1600" kern="0" dirty="0" err="1"/>
              <a:t>new.comments</a:t>
            </a:r>
            <a:r>
              <a:rPr lang="en-US" sz="1600" kern="0" dirty="0"/>
              <a:t> := 'Deposit Successful';</a:t>
            </a:r>
          </a:p>
          <a:p>
            <a:pPr marL="0" indent="0">
              <a:spcBef>
                <a:spcPts val="0"/>
              </a:spcBef>
              <a:buFontTx/>
              <a:buNone/>
              <a:defRPr/>
            </a:pPr>
            <a:r>
              <a:rPr lang="en-US" sz="1600" kern="0" dirty="0"/>
              <a:t>        end;</a:t>
            </a:r>
          </a:p>
          <a:p>
            <a:pPr marL="0" indent="0">
              <a:spcBef>
                <a:spcPts val="0"/>
              </a:spcBef>
              <a:buFontTx/>
              <a:buNone/>
              <a:defRPr/>
            </a:pPr>
            <a:r>
              <a:rPr lang="en-US" sz="1600" kern="0" dirty="0"/>
              <a:t>end if;</a:t>
            </a:r>
          </a:p>
          <a:p>
            <a:pPr marL="0" indent="0">
              <a:spcBef>
                <a:spcPts val="0"/>
              </a:spcBef>
              <a:buFontTx/>
              <a:buNone/>
              <a:defRPr/>
            </a:pPr>
            <a:r>
              <a:rPr lang="en-US" sz="1600" kern="0" dirty="0">
                <a:solidFill>
                  <a:schemeClr val="accent2"/>
                </a:solidFill>
              </a:rPr>
              <a:t>end;</a:t>
            </a:r>
            <a:endParaRPr lang="en-US" sz="1600" kern="0" dirty="0">
              <a:solidFill>
                <a:schemeClr val="accent2"/>
              </a:solidFill>
              <a:latin typeface="Calibri" pitchFamily="34" charset="0"/>
              <a:cs typeface="Calibri" panose="020F0502020204030204" pitchFamily="34" charset="0"/>
            </a:endParaRPr>
          </a:p>
          <a:p>
            <a:pPr lvl="1" algn="just">
              <a:buFontTx/>
              <a:buNone/>
              <a:defRPr/>
            </a:pPr>
            <a:endParaRPr lang="en-US" kern="0" dirty="0">
              <a:solidFill>
                <a:schemeClr val="accent6"/>
              </a:solidFill>
              <a:latin typeface="Calibri" pitchFamily="34" charset="0"/>
              <a:cs typeface="Calibri" panose="020F0502020204030204" pitchFamily="34" charset="0"/>
            </a:endParaRPr>
          </a:p>
          <a:p>
            <a:pPr algn="just">
              <a:buFontTx/>
              <a:buNone/>
              <a:defRPr/>
            </a:pPr>
            <a:endParaRPr lang="en-US" sz="2400" kern="0" dirty="0">
              <a:latin typeface="Calibri" pitchFamily="34" charset="0"/>
              <a:cs typeface="Calibri" panose="020F0502020204030204" pitchFamily="34" charset="0"/>
            </a:endParaRPr>
          </a:p>
          <a:p>
            <a:pPr algn="just">
              <a:buFontTx/>
              <a:buNone/>
              <a:defRPr/>
            </a:pPr>
            <a:endParaRPr lang="en-US" sz="2400" b="1" i="1" kern="0" dirty="0">
              <a:latin typeface="Calibri" pitchFamily="34" charset="0"/>
              <a:cs typeface="Calibri" panose="020F0502020204030204" pitchFamily="34" charset="0"/>
            </a:endParaRPr>
          </a:p>
          <a:p>
            <a:pPr marL="533400" indent="-533400" algn="just">
              <a:buFontTx/>
              <a:buNone/>
              <a:defRPr/>
            </a:pPr>
            <a:endParaRPr lang="en-US" sz="2400" kern="0" dirty="0">
              <a:solidFill>
                <a:schemeClr val="tx2"/>
              </a:solidFill>
              <a:latin typeface="Calibri"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83D5C-87FB-D792-467C-95621EF56373}"/>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C911135-D8EB-0A9E-C9FB-C1252117CDE2}"/>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Database Triggers - </a:t>
            </a:r>
            <a:r>
              <a:rPr lang="en-US" altLang="en-US" sz="2800" b="1" u="sng" dirty="0">
                <a:solidFill>
                  <a:srgbClr val="0033CC"/>
                </a:solidFill>
                <a:latin typeface="Cambria" panose="02040503050406030204" pitchFamily="18" charset="0"/>
                <a:ea typeface="Cambria" panose="02040503050406030204" pitchFamily="18" charset="0"/>
              </a:rPr>
              <a:t>Example 5</a:t>
            </a:r>
            <a:endParaRPr lang="en-US" altLang="en-US" sz="2800" b="1" u="sng" dirty="0">
              <a:solidFill>
                <a:srgbClr val="D34817"/>
              </a:solidFill>
              <a:latin typeface="Cambria" panose="02040503050406030204" pitchFamily="18" charset="0"/>
              <a:ea typeface="Cambria" panose="02040503050406030204" pitchFamily="18" charset="0"/>
            </a:endParaRPr>
          </a:p>
        </p:txBody>
      </p:sp>
      <p:sp>
        <p:nvSpPr>
          <p:cNvPr id="38915" name="Rectangle 3">
            <a:extLst>
              <a:ext uri="{FF2B5EF4-FFF2-40B4-BE49-F238E27FC236}">
                <a16:creationId xmlns:a16="http://schemas.microsoft.com/office/drawing/2014/main" id="{137A2EA4-A27F-49B0-3211-41848EEDF35B}"/>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A1E49A43-BE51-990E-AC3F-5FEB433DE35C}"/>
              </a:ext>
            </a:extLst>
          </p:cNvPr>
          <p:cNvSpPr txBox="1">
            <a:spLocks noChangeArrowheads="1"/>
          </p:cNvSpPr>
          <p:nvPr/>
        </p:nvSpPr>
        <p:spPr bwMode="auto">
          <a:xfrm>
            <a:off x="323528" y="3789040"/>
            <a:ext cx="8394700" cy="934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When a row is inserted into the Shipment table after 5 PM, the </a:t>
            </a:r>
            <a:r>
              <a:rPr kumimoji="0" lang="en-US" altLang="en-US" sz="2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Manual_Check</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column is set to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Y.</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a:t>
            </a:r>
            <a:r>
              <a:rPr kumimoji="0" lang="en-US" altLang="en-US" sz="2400" b="0"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Manual_Check</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column indicates whether a shipping clerk should verify by phone the accuracy of the shipping request.</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5" name="Rectangle 4">
            <a:extLst>
              <a:ext uri="{FF2B5EF4-FFF2-40B4-BE49-F238E27FC236}">
                <a16:creationId xmlns:a16="http://schemas.microsoft.com/office/drawing/2014/main" id="{DD38449C-71E4-5873-1DD8-6A3D03BB1547}"/>
              </a:ext>
            </a:extLst>
          </p:cNvPr>
          <p:cNvSpPr>
            <a:spLocks noChangeArrowheads="1"/>
          </p:cNvSpPr>
          <p:nvPr/>
        </p:nvSpPr>
        <p:spPr bwMode="blackWhite">
          <a:xfrm>
            <a:off x="395536" y="692696"/>
            <a:ext cx="8136260" cy="295232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marL="0" lvl="1" algn="just">
              <a:spcBef>
                <a:spcPts val="300"/>
              </a:spcBef>
              <a:buFontTx/>
              <a:buNone/>
              <a:defRPr/>
            </a:pPr>
            <a:r>
              <a:rPr lang="en-US" dirty="0">
                <a:latin typeface="Cambria" panose="02040503050406030204" pitchFamily="18" charset="0"/>
                <a:ea typeface="Cambria" panose="02040503050406030204" pitchFamily="18" charset="0"/>
              </a:rPr>
              <a:t>CREATE OR REPLACE TRIGGER </a:t>
            </a:r>
            <a:r>
              <a:rPr lang="en-US" dirty="0" err="1">
                <a:solidFill>
                  <a:srgbClr val="FF0000"/>
                </a:solidFill>
                <a:latin typeface="Cambria" panose="02040503050406030204" pitchFamily="18" charset="0"/>
                <a:ea typeface="Cambria" panose="02040503050406030204" pitchFamily="18" charset="0"/>
              </a:rPr>
              <a:t>Shipment_Ins_Before</a:t>
            </a:r>
            <a:endParaRPr lang="en-US" dirty="0">
              <a:solidFill>
                <a:srgbClr val="FF0000"/>
              </a:solidFill>
              <a:latin typeface="Cambria" panose="02040503050406030204" pitchFamily="18" charset="0"/>
              <a:ea typeface="Cambria" panose="02040503050406030204" pitchFamily="18" charset="0"/>
            </a:endParaRPr>
          </a:p>
          <a:p>
            <a:pPr marL="0" lvl="1" algn="just">
              <a:spcBef>
                <a:spcPts val="300"/>
              </a:spcBef>
              <a:buFontTx/>
              <a:buNone/>
              <a:defRPr/>
            </a:pPr>
            <a:r>
              <a:rPr lang="en-US" dirty="0">
                <a:latin typeface="Cambria" panose="02040503050406030204" pitchFamily="18" charset="0"/>
                <a:ea typeface="Cambria" panose="02040503050406030204" pitchFamily="18" charset="0"/>
              </a:rPr>
              <a:t>         BEFORE INSERT ON Shipment</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a:solidFill>
                  <a:srgbClr val="FF0000"/>
                </a:solidFill>
                <a:latin typeface="Cambria" panose="02040503050406030204" pitchFamily="18" charset="0"/>
                <a:ea typeface="Cambria" panose="02040503050406030204" pitchFamily="18" charset="0"/>
              </a:rPr>
              <a:t>FOR EACH ROW</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a:solidFill>
                  <a:srgbClr val="0033CC"/>
                </a:solidFill>
                <a:latin typeface="Cambria" panose="02040503050406030204" pitchFamily="18" charset="0"/>
                <a:ea typeface="Cambria" panose="02040503050406030204" pitchFamily="18" charset="0"/>
              </a:rPr>
              <a:t>WHEN (TO_NUMBER(TO_CHAR(SYSDATE,'HH24')) &gt; 17)</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a:solidFill>
                  <a:srgbClr val="FF0000"/>
                </a:solidFill>
                <a:latin typeface="Cambria" panose="02040503050406030204" pitchFamily="18" charset="0"/>
                <a:ea typeface="Cambria" panose="02040503050406030204" pitchFamily="18" charset="0"/>
              </a:rPr>
              <a:t>BEGIN</a:t>
            </a:r>
          </a:p>
          <a:p>
            <a:pPr marL="0" lvl="1" algn="just">
              <a:spcBef>
                <a:spcPts val="300"/>
              </a:spcBef>
              <a:buFontTx/>
              <a:buNone/>
              <a:defRPr/>
            </a:pPr>
            <a:r>
              <a:rPr lang="en-US" dirty="0">
                <a:latin typeface="Cambria" panose="02040503050406030204" pitchFamily="18" charset="0"/>
                <a:ea typeface="Cambria" panose="02040503050406030204" pitchFamily="18" charset="0"/>
              </a:rPr>
              <a:t>                  :NEW.MANUAL_CHECK := 'Y';</a:t>
            </a:r>
          </a:p>
          <a:p>
            <a:pPr marL="0" lvl="1" algn="just">
              <a:spcBef>
                <a:spcPts val="300"/>
              </a:spcBef>
              <a:buFontTx/>
              <a:buNone/>
              <a:defRPr/>
            </a:pPr>
            <a:r>
              <a:rPr lang="en-US" dirty="0">
                <a:latin typeface="Cambria" panose="02040503050406030204" pitchFamily="18" charset="0"/>
                <a:ea typeface="Cambria" panose="02040503050406030204" pitchFamily="18" charset="0"/>
              </a:rPr>
              <a:t>         </a:t>
            </a:r>
            <a:r>
              <a:rPr lang="en-US" dirty="0">
                <a:solidFill>
                  <a:srgbClr val="FF0000"/>
                </a:solidFill>
                <a:latin typeface="Cambria" panose="02040503050406030204" pitchFamily="18" charset="0"/>
                <a:ea typeface="Cambria" panose="02040503050406030204" pitchFamily="18" charset="0"/>
              </a:rPr>
              <a:t>END;</a:t>
            </a:r>
          </a:p>
        </p:txBody>
      </p:sp>
      <p:sp>
        <p:nvSpPr>
          <p:cNvPr id="3" name="Slide Number Placeholder 23">
            <a:extLst>
              <a:ext uri="{FF2B5EF4-FFF2-40B4-BE49-F238E27FC236}">
                <a16:creationId xmlns:a16="http://schemas.microsoft.com/office/drawing/2014/main" id="{355FA97F-0116-741A-C606-C1C0D18DDED1}"/>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9235E4AE-B283-BECD-1413-6B4BD9BE3D5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297342014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C5B7B-4086-9D2A-307E-6F21D34BB79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8E20F35-D433-F0DF-CF0D-2D79A59E5DF7}"/>
              </a:ext>
            </a:extLst>
          </p:cNvPr>
          <p:cNvSpPr>
            <a:spLocks noGrp="1" noChangeArrowheads="1"/>
          </p:cNvSpPr>
          <p:nvPr>
            <p:ph type="title"/>
          </p:nvPr>
        </p:nvSpPr>
        <p:spPr>
          <a:xfrm>
            <a:off x="323850" y="231304"/>
            <a:ext cx="8394700"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Database Triggers</a:t>
            </a:r>
          </a:p>
        </p:txBody>
      </p:sp>
      <p:sp>
        <p:nvSpPr>
          <p:cNvPr id="38915" name="Rectangle 3">
            <a:extLst>
              <a:ext uri="{FF2B5EF4-FFF2-40B4-BE49-F238E27FC236}">
                <a16:creationId xmlns:a16="http://schemas.microsoft.com/office/drawing/2014/main" id="{AE23FAB0-C2A6-BF1D-3BDF-2933204E77AE}"/>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AB378045-CA8B-8DAF-46B2-5D0515994515}"/>
              </a:ext>
            </a:extLst>
          </p:cNvPr>
          <p:cNvSpPr txBox="1">
            <a:spLocks noChangeArrowheads="1"/>
          </p:cNvSpPr>
          <p:nvPr/>
        </p:nvSpPr>
        <p:spPr bwMode="auto">
          <a:xfrm>
            <a:off x="323850" y="692696"/>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You cannot execute a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COMMIT or ROLLBACK</a:t>
            </a: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statement in a database trigger.</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trigger may not call a stored procedure, function, or package subprogram that performs a COMMIT or ROLLBACK.</a:t>
            </a:r>
          </a:p>
          <a:p>
            <a:pPr marL="0" marR="0" lvl="0" indent="0" algn="just" defTabSz="914400" rtl="0" eaLnBrk="0" fontAlgn="base" latinLnBrk="0" hangingPunct="0">
              <a:lnSpc>
                <a:spcPct val="100000"/>
              </a:lnSpc>
              <a:spcBef>
                <a:spcPts val="300"/>
              </a:spcBef>
              <a:spcAft>
                <a:spcPct val="0"/>
              </a:spcAft>
              <a:buClr>
                <a:srgbClr val="D34817"/>
              </a:buClr>
              <a:buSzPct val="50000"/>
              <a:buNone/>
              <a:tabLst/>
              <a:defRPr/>
            </a:pPr>
            <a:r>
              <a:rPr kumimoji="0" lang="en-US" altLang="en-US" sz="2400" b="1" i="0" u="sng"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Reason</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If a trigger encounters an error, all database changes that have been propagated by the trigger should be rolled back. But if the trigger committed some portion of those database changes, Oracle would not be able to roll back the entire transaction.</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 name="Slide Number Placeholder 23">
            <a:extLst>
              <a:ext uri="{FF2B5EF4-FFF2-40B4-BE49-F238E27FC236}">
                <a16:creationId xmlns:a16="http://schemas.microsoft.com/office/drawing/2014/main" id="{58AFCF43-3A7D-DD2D-E5AC-F2CB5A20EE1A}"/>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E7A3204B-9539-E84B-AA80-A6A406B2F3C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405458028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1FF3E-0C31-71B3-A696-FCEB410D515C}"/>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55656851-A6FB-D202-59C4-1481A901DE6E}"/>
              </a:ext>
            </a:extLst>
          </p:cNvPr>
          <p:cNvSpPr>
            <a:spLocks noGrp="1" noChangeArrowheads="1"/>
          </p:cNvSpPr>
          <p:nvPr>
            <p:ph type="title"/>
          </p:nvPr>
        </p:nvSpPr>
        <p:spPr>
          <a:xfrm>
            <a:off x="323850" y="231304"/>
            <a:ext cx="8394700"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Dropping, Enabling, and Disabling Triggers</a:t>
            </a:r>
          </a:p>
        </p:txBody>
      </p:sp>
      <p:sp>
        <p:nvSpPr>
          <p:cNvPr id="38915" name="Rectangle 3">
            <a:extLst>
              <a:ext uri="{FF2B5EF4-FFF2-40B4-BE49-F238E27FC236}">
                <a16:creationId xmlns:a16="http://schemas.microsoft.com/office/drawing/2014/main" id="{1BAE0E78-5D75-70FE-FE10-FDFA3BA034EC}"/>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6" name="Rectangle 3">
            <a:extLst>
              <a:ext uri="{FF2B5EF4-FFF2-40B4-BE49-F238E27FC236}">
                <a16:creationId xmlns:a16="http://schemas.microsoft.com/office/drawing/2014/main" id="{2475166A-062B-5743-4E2A-5952FE3D2D6E}"/>
              </a:ext>
            </a:extLst>
          </p:cNvPr>
          <p:cNvSpPr txBox="1">
            <a:spLocks noChangeArrowheads="1"/>
          </p:cNvSpPr>
          <p:nvPr/>
        </p:nvSpPr>
        <p:spPr bwMode="auto">
          <a:xfrm>
            <a:off x="323850" y="765898"/>
            <a:ext cx="8394700" cy="208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DROP TRIGGER</a:t>
            </a: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trigger-name;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ALTER TRIGGER</a:t>
            </a: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trigger-name </a:t>
            </a:r>
            <a:r>
              <a:rPr kumimoji="0" lang="en-US" altLang="en-US" sz="28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DISABLE;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Calibri" panose="020F0502020204030204" pitchFamily="34" charset="0"/>
              </a:rPr>
              <a:t>ALTER TRIGGER</a:t>
            </a: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trigger-name </a:t>
            </a:r>
            <a:r>
              <a:rPr kumimoji="0" lang="en-US" altLang="en-US" sz="28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ENABLE;</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SELECT * FROM </a:t>
            </a:r>
            <a:r>
              <a:rPr kumimoji="0" lang="en-US" altLang="en-US" sz="28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USER_TRIGGERS;</a:t>
            </a: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300"/>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3" name="Slide Number Placeholder 23">
            <a:extLst>
              <a:ext uri="{FF2B5EF4-FFF2-40B4-BE49-F238E27FC236}">
                <a16:creationId xmlns:a16="http://schemas.microsoft.com/office/drawing/2014/main" id="{C2F2084F-14D5-5F8B-1DAC-D4CD042446C9}"/>
              </a:ext>
            </a:extLst>
          </p:cNvPr>
          <p:cNvSpPr>
            <a:spLocks noGrp="1"/>
          </p:cNvSpPr>
          <p:nvPr>
            <p:ph type="sldNum" sz="quarter" idx="12"/>
          </p:nvPr>
        </p:nvSpPr>
        <p:spPr>
          <a:xfrm>
            <a:off x="8532440" y="6309320"/>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Footer Placeholder 2">
            <a:extLst>
              <a:ext uri="{FF2B5EF4-FFF2-40B4-BE49-F238E27FC236}">
                <a16:creationId xmlns:a16="http://schemas.microsoft.com/office/drawing/2014/main" id="{FA1038C8-29B7-C3E2-D1B8-FEA77FE41EE4}"/>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398276453"/>
      </p:ext>
    </p:extLst>
  </p:cSld>
  <p:clrMapOvr>
    <a:masterClrMapping/>
  </p:clrMapOvr>
  <p:transition/>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36760</TotalTime>
  <Words>2257</Words>
  <Application>Microsoft Office PowerPoint</Application>
  <PresentationFormat>On-screen Show (4:3)</PresentationFormat>
  <Paragraphs>445</Paragraphs>
  <Slides>21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Calibri</vt:lpstr>
      <vt:lpstr>Courier New</vt:lpstr>
      <vt:lpstr>Times New Roman</vt:lpstr>
      <vt:lpstr>Georgia</vt:lpstr>
      <vt:lpstr>Standarddesign</vt:lpstr>
      <vt:lpstr>1_Equity</vt:lpstr>
      <vt:lpstr>CC-215-L Database Systems Lab</vt:lpstr>
      <vt:lpstr>  Procedures</vt:lpstr>
      <vt:lpstr>  Procedures</vt:lpstr>
      <vt:lpstr>  Procedures</vt:lpstr>
      <vt:lpstr>  Procedure inside a PL/SQL block</vt:lpstr>
      <vt:lpstr>  Procedures</vt:lpstr>
      <vt:lpstr>  Functions</vt:lpstr>
      <vt:lpstr>  Functions</vt:lpstr>
      <vt:lpstr>  Functions</vt:lpstr>
      <vt:lpstr>  Obtaining Error Messages When Creating Stored Procedures &amp; Functions</vt:lpstr>
      <vt:lpstr>  Database Triggers</vt:lpstr>
      <vt:lpstr>  Database Triggers</vt:lpstr>
      <vt:lpstr>  Database Triggers</vt:lpstr>
      <vt:lpstr>  Database Triggers – Example 1</vt:lpstr>
      <vt:lpstr>  Database Triggers – Example 2</vt:lpstr>
      <vt:lpstr>  Database Triggers – Example 3</vt:lpstr>
      <vt:lpstr>  Database Triggers – Example 4</vt:lpstr>
      <vt:lpstr>PowerPoint Presentation</vt:lpstr>
      <vt:lpstr>  Database Triggers - Example 5</vt:lpstr>
      <vt:lpstr>  Database Triggers</vt:lpstr>
      <vt:lpstr>  Dropping, Enabling, and Disabling Triggers</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768</cp:revision>
  <dcterms:created xsi:type="dcterms:W3CDTF">2006-05-17T12:38:56Z</dcterms:created>
  <dcterms:modified xsi:type="dcterms:W3CDTF">2025-12-13T07:45:27Z</dcterms:modified>
</cp:coreProperties>
</file>