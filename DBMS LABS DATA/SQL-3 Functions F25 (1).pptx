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30"/>
  </p:notesMasterIdLst>
  <p:handoutMasterIdLst>
    <p:handoutMasterId r:id="rId31"/>
  </p:handoutMasterIdLst>
  <p:sldIdLst>
    <p:sldId id="435" r:id="rId2"/>
    <p:sldId id="453" r:id="rId3"/>
    <p:sldId id="454" r:id="rId4"/>
    <p:sldId id="455" r:id="rId5"/>
    <p:sldId id="456" r:id="rId6"/>
    <p:sldId id="457" r:id="rId7"/>
    <p:sldId id="458" r:id="rId8"/>
    <p:sldId id="459" r:id="rId9"/>
    <p:sldId id="449" r:id="rId10"/>
    <p:sldId id="448" r:id="rId11"/>
    <p:sldId id="450" r:id="rId12"/>
    <p:sldId id="407" r:id="rId13"/>
    <p:sldId id="451" r:id="rId14"/>
    <p:sldId id="442" r:id="rId15"/>
    <p:sldId id="443" r:id="rId16"/>
    <p:sldId id="446" r:id="rId17"/>
    <p:sldId id="447" r:id="rId18"/>
    <p:sldId id="445" r:id="rId19"/>
    <p:sldId id="461" r:id="rId20"/>
    <p:sldId id="462" r:id="rId21"/>
    <p:sldId id="464" r:id="rId22"/>
    <p:sldId id="465" r:id="rId23"/>
    <p:sldId id="466" r:id="rId24"/>
    <p:sldId id="467" r:id="rId25"/>
    <p:sldId id="468" r:id="rId26"/>
    <p:sldId id="469" r:id="rId27"/>
    <p:sldId id="470" r:id="rId28"/>
    <p:sldId id="472" r:id="rId29"/>
  </p:sldIdLst>
  <p:sldSz cx="9144000" cy="6858000" type="screen4x3"/>
  <p:notesSz cx="6858000" cy="9296400"/>
  <p:defaultTextStyle>
    <a:defPPr>
      <a:defRPr lang="de-AT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006600"/>
    <a:srgbClr val="FFFF66"/>
    <a:srgbClr val="FF0000"/>
    <a:srgbClr val="00FF00"/>
    <a:srgbClr val="FFFFCC"/>
    <a:srgbClr val="99CCFF"/>
    <a:srgbClr val="3399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2868" autoAdjust="0"/>
    <p:restoredTop sz="85572" autoAdjust="0"/>
  </p:normalViewPr>
  <p:slideViewPr>
    <p:cSldViewPr>
      <p:cViewPr varScale="1">
        <p:scale>
          <a:sx n="83" d="100"/>
          <a:sy n="83" d="100"/>
        </p:scale>
        <p:origin x="797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08C44900-1931-47F5-7BD5-DB673D3BF8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A92A9566-85B1-E323-C6EC-75FE66FDCF6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338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3A3D9E2E-618F-9CEB-3FB4-74BBD593239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3388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9749" name="Rectangle 5">
            <a:extLst>
              <a:ext uri="{FF2B5EF4-FFF2-40B4-BE49-F238E27FC236}">
                <a16:creationId xmlns:a16="http://schemas.microsoft.com/office/drawing/2014/main" id="{C897E221-BA45-316C-43C5-5153B80C88B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831263"/>
            <a:ext cx="2973387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36850E35-0249-4B40-B502-F1EED162478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E7BA042-BBDB-1D9D-C4B4-22AC93F67F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E4DD2AB-5207-FA02-8AFD-1F88D7EC6FA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CF36D4DF-0F2B-6AB6-63FC-E7E8E947144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49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603B674-66E2-480C-21A4-09D8E0435F3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AT" noProof="0"/>
              <a:t>Click to edit Master text styles</a:t>
            </a:r>
          </a:p>
          <a:p>
            <a:pPr lvl="1"/>
            <a:r>
              <a:rPr lang="de-AT" noProof="0"/>
              <a:t>Second level</a:t>
            </a:r>
          </a:p>
          <a:p>
            <a:pPr lvl="2"/>
            <a:r>
              <a:rPr lang="de-AT" noProof="0"/>
              <a:t>Third level</a:t>
            </a:r>
          </a:p>
          <a:p>
            <a:pPr lvl="3"/>
            <a:r>
              <a:rPr lang="de-AT" noProof="0"/>
              <a:t>Fourth level</a:t>
            </a:r>
          </a:p>
          <a:p>
            <a:pPr lvl="4"/>
            <a:r>
              <a:rPr lang="de-AT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7EEE707B-178D-44E7-3D7E-37AB932037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defTabSz="8921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3656CEC-7D08-FE9A-974D-7EE115CCA1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829675"/>
            <a:ext cx="29733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273" tIns="44636" rIns="89273" bIns="44636" numCol="1" anchor="b" anchorCtr="0" compatLnSpc="1">
            <a:prstTxWarp prst="textNoShape">
              <a:avLst/>
            </a:prstTxWarp>
          </a:bodyPr>
          <a:lstStyle>
            <a:lvl1pPr algn="r" defTabSz="892175" eaLnBrk="1" hangingPunct="1">
              <a:defRPr sz="1200"/>
            </a:lvl1pPr>
          </a:lstStyle>
          <a:p>
            <a:pPr>
              <a:defRPr/>
            </a:pPr>
            <a:fld id="{C08CBC64-2A46-4082-B6ED-A60D0B165965}" type="slidenum">
              <a:rPr lang="de-AT" altLang="en-US"/>
              <a:pPr>
                <a:defRPr/>
              </a:pPr>
              <a:t>‹#›</a:t>
            </a:fld>
            <a:endParaRPr lang="de-A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EE57BEC-386F-0C2D-0C04-12A736ACF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165100"/>
            <a:ext cx="5970588" cy="4478338"/>
          </a:xfrm>
          <a:ln w="12700" cap="flat">
            <a:solidFill>
              <a:schemeClr val="tx1"/>
            </a:solidFill>
          </a:ln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81C7FBF-A16E-BCC6-F004-15B44FCFB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2750" y="4852988"/>
            <a:ext cx="6029325" cy="3819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664" tIns="45028" rIns="91664" bIns="45028"/>
          <a:lstStyle/>
          <a:p>
            <a:r>
              <a:rPr lang="en-US" altLang="en-US">
                <a:latin typeface="Arial" panose="020B0604020202020204" pitchFamily="34" charset="0"/>
              </a:rPr>
              <a:t>MOD Function</a:t>
            </a:r>
          </a:p>
          <a:p>
            <a:pPr lvl="1"/>
            <a:r>
              <a:rPr lang="en-US" altLang="en-US">
                <a:latin typeface="Arial" panose="020B0604020202020204" pitchFamily="34" charset="0"/>
              </a:rPr>
              <a:t>The </a:t>
            </a:r>
            <a:r>
              <a:rPr lang="en-US" altLang="en-US">
                <a:solidFill>
                  <a:srgbClr val="FC0128"/>
                </a:solidFill>
                <a:latin typeface="Arial" panose="020B0604020202020204" pitchFamily="34" charset="0"/>
              </a:rPr>
              <a:t>MOD </a:t>
            </a:r>
            <a:r>
              <a:rPr lang="en-US" altLang="en-US">
                <a:latin typeface="Arial" panose="020B0604020202020204" pitchFamily="34" charset="0"/>
              </a:rPr>
              <a:t>function finds the remainder of value1 divided by value2. The slide example calculates the remainder of the ratio of salary to commission for all employees whose job title is salesman.</a:t>
            </a:r>
          </a:p>
          <a:p>
            <a:endParaRPr lang="en-US" altLang="en-US" b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011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5853C4-58D4-E12E-F9D3-6DFE43E741A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" name="Rounded Rectangle 4">
            <a:extLst>
              <a:ext uri="{FF2B5EF4-FFF2-40B4-BE49-F238E27FC236}">
                <a16:creationId xmlns:a16="http://schemas.microsoft.com/office/drawing/2014/main" id="{A0D65C4C-8978-E965-904E-825D91967615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36D3B-1E38-B128-44B3-6A013A7071FF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193835-2205-D195-3A01-FB691AD2829B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3FC762-605F-3A7B-E754-8B8554C5378A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5A97B514-3D2A-02CC-4EBE-220DF49B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428184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1" name="Slide Number Placeholder 28">
            <a:extLst>
              <a:ext uri="{FF2B5EF4-FFF2-40B4-BE49-F238E27FC236}">
                <a16:creationId xmlns:a16="http://schemas.microsoft.com/office/drawing/2014/main" id="{A7231800-4E93-AC45-26C7-F83BA69F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E4C22A4-67DC-44A8-A4FC-CE49B2567C9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762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19D621-57AE-DF6C-3CB8-DA450630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0AA46312-DD6F-C5AE-2F1E-907F31E8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CC2-3150-4BDA-BDF0-6D695CA2D8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05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679A2C8-7DC8-AD37-9652-ABC5705D5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8D45CD1B-92F4-C034-40EE-43ED7BDDC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CF859-27D9-4B15-909C-5A9275A8D5B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03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B13B5C1E-CA92-F658-DEB4-E6BCB21E82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5B8D15-F384-5726-1DB0-82AA26D5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7465CA12-935B-2EC7-0FD8-A29FFD9FD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0D0497-D7DF-42C1-83D6-B069BC9C71F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824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6C7B262-B703-0618-42D2-9A058F2E459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5">
            <a:extLst>
              <a:ext uri="{FF2B5EF4-FFF2-40B4-BE49-F238E27FC236}">
                <a16:creationId xmlns:a16="http://schemas.microsoft.com/office/drawing/2014/main" id="{2FF425DD-7DE3-3B8E-5719-78BCA9A8DE5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786D1F94-4295-F397-8F57-1D0E383B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6B009F90-231B-A3B6-5380-34C6E1C7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CCDB2AA-14FD-D925-D8FA-266FCFE64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2827D-15A4-4A3F-A005-421DE1CEC5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07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2E54CA-1402-D265-65C1-CAA477A5FCEF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7FA26-21AA-4604-50B9-4AF1C1E5953D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48A5EB-ECFF-0D60-907E-B4566654DEA1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03D557F4-1C10-84D5-70B1-B3F6002D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D25602D-131F-6FC6-D193-E0E3803E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D0109AE1-27A9-8EB7-803F-D676F488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562DC6-6DC9-45E2-AAC4-454004E6E0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18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DF2C48B0-ABFE-CE4D-6188-9A9EAD773F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618189D-098F-74CA-DD3F-C7F3B7D68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06CD0044-3E35-3EB6-7892-259BA5B8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D5C55-6BCA-4DBD-BE3B-26D0EAB79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646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E7CEB16-177C-11F3-6488-15217609B1F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41EAD4DD-9D27-1FFD-AF29-68BC36D3A352}"/>
              </a:ext>
            </a:extLst>
          </p:cNvPr>
          <p:cNvSpPr/>
          <p:nvPr/>
        </p:nvSpPr>
        <p:spPr>
          <a:xfrm>
            <a:off x="112590" y="16510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76" name="Title Placeholder 21">
            <a:extLst>
              <a:ext uri="{FF2B5EF4-FFF2-40B4-BE49-F238E27FC236}">
                <a16:creationId xmlns:a16="http://schemas.microsoft.com/office/drawing/2014/main" id="{2B8B0024-D6D1-A70C-46F3-E369B45B6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3077" name="Text Placeholder 12">
            <a:extLst>
              <a:ext uri="{FF2B5EF4-FFF2-40B4-BE49-F238E27FC236}">
                <a16:creationId xmlns:a16="http://schemas.microsoft.com/office/drawing/2014/main" id="{3488A6D1-71AB-0EF0-882A-8AEDA58A8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7FCC0C-B39C-DCE5-066A-B9F6AFE49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5776" y="6500192"/>
            <a:ext cx="48768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0000FF"/>
                </a:solidFill>
              </a:rPr>
              <a:t>Dr. Asif Sohail,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Department of IT,</a:t>
            </a:r>
            <a:r>
              <a:rPr lang="en-US" dirty="0"/>
              <a:t> </a:t>
            </a:r>
            <a:r>
              <a:rPr lang="en-US" dirty="0">
                <a:solidFill>
                  <a:srgbClr val="EA0000"/>
                </a:solidFill>
              </a:rPr>
              <a:t>University of the Punjab, Lahore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CCC2D68-25F4-B5E2-90AE-129685EEC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688D1139-B686-4DC4-A8B1-655130D02E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10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2">
            <a:extLst>
              <a:ext uri="{FF2B5EF4-FFF2-40B4-BE49-F238E27FC236}">
                <a16:creationId xmlns:a16="http://schemas.microsoft.com/office/drawing/2014/main" id="{6E223CA5-28DF-4EB8-9015-D48A747CA2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1506538"/>
            <a:ext cx="8229600" cy="1470025"/>
          </a:xfrm>
        </p:spPr>
        <p:txBody>
          <a:bodyPr/>
          <a:lstStyle/>
          <a:p>
            <a:pPr eaLnBrk="1" hangingPunct="1"/>
            <a:r>
              <a:rPr altLang="en-US" dirty="0">
                <a:solidFill>
                  <a:srgbClr val="000099"/>
                </a:solidFill>
                <a:latin typeface="Arial Black" panose="020B0A04020102020204" pitchFamily="34" charset="0"/>
              </a:rPr>
              <a:t>CC-215-L</a:t>
            </a:r>
            <a:br>
              <a:rPr altLang="en-US" dirty="0">
                <a:solidFill>
                  <a:srgbClr val="000099"/>
                </a:solidFill>
                <a:latin typeface="Arial Black" panose="020B0A04020102020204" pitchFamily="34" charset="0"/>
              </a:rPr>
            </a:br>
            <a:r>
              <a:rPr altLang="en-US" dirty="0">
                <a:solidFill>
                  <a:srgbClr val="FFFF00"/>
                </a:solidFill>
                <a:latin typeface="Arial Black" panose="020B0A04020102020204" pitchFamily="34" charset="0"/>
              </a:rPr>
              <a:t>Database Systems Lab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BE4B3138-A767-7D60-38B3-56978D7D4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3171999"/>
            <a:ext cx="6477000" cy="12795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tIns="274320" bIns="182880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— Unit 3 —</a:t>
            </a: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Single Row Functions 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57297BE-EE28-F676-BE56-7D8A7B565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91" y="4610893"/>
            <a:ext cx="6477000" cy="1481137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Dr. Asif Sohail</a:t>
            </a:r>
            <a:b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b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University of the Punjab</a:t>
            </a:r>
            <a:b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Department of Information Technology, FCIT</a:t>
            </a:r>
            <a:br>
              <a:rPr kumimoji="0" lang="de-AT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endParaRPr kumimoji="0" lang="en-US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45C58E-0F41-E365-5874-2471AB0F60B5}"/>
              </a:ext>
            </a:extLst>
          </p:cNvPr>
          <p:cNvSpPr txBox="1"/>
          <p:nvPr/>
        </p:nvSpPr>
        <p:spPr>
          <a:xfrm>
            <a:off x="438448" y="6309320"/>
            <a:ext cx="77127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Some of the slides are adapted from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Oracle Corporation.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52263002-B443-FA9E-DD31-44571C458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53" y="191419"/>
            <a:ext cx="9556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>
            <a:extLst>
              <a:ext uri="{FF2B5EF4-FFF2-40B4-BE49-F238E27FC236}">
                <a16:creationId xmlns:a16="http://schemas.microsoft.com/office/drawing/2014/main" id="{0664FCA6-02D3-5FBE-852B-E0830F9F3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188640"/>
            <a:ext cx="803275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BDEA5-1F51-8183-14E0-15EE4D4A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C774387-FC69-476C-3064-C5EBD0801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 Functions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FFDD3A-7B5F-09CB-BEF7-51D336CF4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8B0FE92-65C1-2A96-CE27-FAA32D203EE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314700" y="625723"/>
            <a:ext cx="2311400" cy="931862"/>
          </a:xfrm>
          <a:prstGeom prst="rect">
            <a:avLst/>
          </a:prstGeom>
          <a:gradFill rotWithShape="0">
            <a:gsLst>
              <a:gs pos="0">
                <a:srgbClr val="FF6633"/>
              </a:gs>
              <a:gs pos="100000">
                <a:srgbClr val="FF6633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 dirty="0"/>
              <a:t>Function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E4AD13B6-AE5C-C3B2-AA14-E2B15712F701}"/>
              </a:ext>
            </a:extLst>
          </p:cNvPr>
          <p:cNvGrpSpPr>
            <a:grpSpLocks/>
          </p:cNvGrpSpPr>
          <p:nvPr/>
        </p:nvGrpSpPr>
        <p:grpSpPr bwMode="auto">
          <a:xfrm>
            <a:off x="631825" y="697160"/>
            <a:ext cx="2595563" cy="3163888"/>
            <a:chOff x="480" y="1314"/>
            <a:chExt cx="1635" cy="1993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D615E176-20DE-2B87-AC4B-12865AF6A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314"/>
              <a:ext cx="59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rgbClr val="0000FF"/>
                  </a:solidFill>
                </a:rPr>
                <a:t>Input</a:t>
              </a: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1B73F42E-204D-FE8D-70E4-A3F3E6ED7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1374"/>
              <a:ext cx="939" cy="559"/>
            </a:xfrm>
            <a:custGeom>
              <a:avLst/>
              <a:gdLst>
                <a:gd name="T0" fmla="*/ 0 w 939"/>
                <a:gd name="T1" fmla="*/ 558 h 559"/>
                <a:gd name="T2" fmla="*/ 0 w 939"/>
                <a:gd name="T3" fmla="*/ 0 h 559"/>
                <a:gd name="T4" fmla="*/ 938 w 939"/>
                <a:gd name="T5" fmla="*/ 0 h 5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39" h="559">
                  <a:moveTo>
                    <a:pt x="0" y="558"/>
                  </a:moveTo>
                  <a:lnTo>
                    <a:pt x="0" y="0"/>
                  </a:lnTo>
                  <a:lnTo>
                    <a:pt x="938" y="0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9F57579-AA31-BD19-CA84-85874814A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" y="1704"/>
              <a:ext cx="411" cy="1309"/>
            </a:xfrm>
            <a:custGeom>
              <a:avLst/>
              <a:gdLst>
                <a:gd name="T0" fmla="*/ 0 w 411"/>
                <a:gd name="T1" fmla="*/ 1308 h 1309"/>
                <a:gd name="T2" fmla="*/ 0 w 411"/>
                <a:gd name="T3" fmla="*/ 0 h 1309"/>
                <a:gd name="T4" fmla="*/ 410 w 411"/>
                <a:gd name="T5" fmla="*/ 0 h 130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1" h="1309">
                  <a:moveTo>
                    <a:pt x="0" y="1308"/>
                  </a:moveTo>
                  <a:lnTo>
                    <a:pt x="0" y="0"/>
                  </a:lnTo>
                  <a:lnTo>
                    <a:pt x="410" y="0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07BBAB4-8071-B8CB-C7C3-2771157DB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536"/>
              <a:ext cx="675" cy="745"/>
            </a:xfrm>
            <a:custGeom>
              <a:avLst/>
              <a:gdLst>
                <a:gd name="T0" fmla="*/ 0 w 675"/>
                <a:gd name="T1" fmla="*/ 744 h 745"/>
                <a:gd name="T2" fmla="*/ 0 w 675"/>
                <a:gd name="T3" fmla="*/ 0 h 745"/>
                <a:gd name="T4" fmla="*/ 674 w 675"/>
                <a:gd name="T5" fmla="*/ 0 h 7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5" h="745">
                  <a:moveTo>
                    <a:pt x="0" y="744"/>
                  </a:moveTo>
                  <a:lnTo>
                    <a:pt x="0" y="0"/>
                  </a:lnTo>
                  <a:lnTo>
                    <a:pt x="674" y="0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E35D2094-654D-A595-0CF6-934CB5B40485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774" y="1833"/>
              <a:ext cx="561" cy="332"/>
            </a:xfrm>
            <a:prstGeom prst="rect">
              <a:avLst/>
            </a:prstGeom>
            <a:gradFill rotWithShape="0">
              <a:gsLst>
                <a:gs pos="0">
                  <a:srgbClr val="336600"/>
                </a:gs>
                <a:gs pos="100000">
                  <a:srgbClr val="3366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2238" tIns="61913" rIns="122238" bIns="61913" anchor="ctr"/>
            <a:lstStyle/>
            <a:p>
              <a:pPr algn="ctr" defTabSz="1620838">
                <a:defRPr/>
              </a:pPr>
              <a:r>
                <a:rPr lang="en-US" b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arg 1</a:t>
              </a:r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6969852F-8D2C-6EE4-A72F-A26DC6A2628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067" y="2236"/>
              <a:ext cx="560" cy="331"/>
            </a:xfrm>
            <a:prstGeom prst="rect">
              <a:avLst/>
            </a:prstGeom>
            <a:gradFill rotWithShape="0">
              <a:gsLst>
                <a:gs pos="0">
                  <a:srgbClr val="336600"/>
                </a:gs>
                <a:gs pos="100000">
                  <a:srgbClr val="3366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2238" tIns="61913" rIns="122238" bIns="61913" anchor="ctr"/>
            <a:lstStyle/>
            <a:p>
              <a:pPr algn="ctr" defTabSz="1620838">
                <a:defRPr/>
              </a:pPr>
              <a:r>
                <a:rPr lang="en-US" b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arg 2</a:t>
              </a:r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C62963D1-4155-6B59-788C-CDBF170D669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1395" y="2976"/>
              <a:ext cx="561" cy="331"/>
            </a:xfrm>
            <a:prstGeom prst="rect">
              <a:avLst/>
            </a:prstGeom>
            <a:gradFill rotWithShape="0">
              <a:gsLst>
                <a:gs pos="0">
                  <a:srgbClr val="336600"/>
                </a:gs>
                <a:gs pos="100000">
                  <a:srgbClr val="3366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122238" tIns="61913" rIns="122238" bIns="61913" anchor="ctr"/>
            <a:lstStyle/>
            <a:p>
              <a:pPr algn="ctr" defTabSz="1620838">
                <a:defRPr/>
              </a:pPr>
              <a:r>
                <a:rPr lang="en-US" b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arg </a:t>
              </a:r>
              <a:r>
                <a:rPr lang="en-US" b="1" i="1">
                  <a:solidFill>
                    <a:srgbClr val="FFFF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n</a:t>
              </a:r>
            </a:p>
          </p:txBody>
        </p: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9DF525E7-BF9F-9CFB-ACC4-8F1A9D8F95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3" y="2642"/>
              <a:ext cx="254" cy="267"/>
              <a:chOff x="1323" y="2642"/>
              <a:chExt cx="254" cy="267"/>
            </a:xfrm>
          </p:grpSpPr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F446D1C6-BD37-E9B2-76FB-32BD07C8BAB8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1323" y="2642"/>
                <a:ext cx="62" cy="74"/>
              </a:xfrm>
              <a:prstGeom prst="rect">
                <a:avLst/>
              </a:prstGeom>
              <a:gradFill rotWithShape="0">
                <a:gsLst>
                  <a:gs pos="0">
                    <a:srgbClr val="336600"/>
                  </a:gs>
                  <a:gs pos="100000">
                    <a:srgbClr val="2E5C00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93503CCE-14C9-8CEF-5627-62B752DF322B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1417" y="2737"/>
                <a:ext cx="63" cy="75"/>
              </a:xfrm>
              <a:prstGeom prst="rect">
                <a:avLst/>
              </a:prstGeom>
              <a:gradFill rotWithShape="0">
                <a:gsLst>
                  <a:gs pos="0">
                    <a:srgbClr val="336600"/>
                  </a:gs>
                  <a:gs pos="100000">
                    <a:srgbClr val="2E5C00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ED07B565-1BDC-4F31-F511-3CDEADE30A41}"/>
                  </a:ext>
                </a:extLst>
              </p:cNvPr>
              <p:cNvSpPr>
                <a:spLocks noChangeArrowheads="1"/>
              </p:cNvSpPr>
              <p:nvPr/>
            </p:nvSpPr>
            <p:spPr bwMode="blackWhite">
              <a:xfrm>
                <a:off x="1514" y="2834"/>
                <a:ext cx="63" cy="75"/>
              </a:xfrm>
              <a:prstGeom prst="rect">
                <a:avLst/>
              </a:prstGeom>
              <a:gradFill rotWithShape="0">
                <a:gsLst>
                  <a:gs pos="0">
                    <a:srgbClr val="336600"/>
                  </a:gs>
                  <a:gs pos="100000">
                    <a:srgbClr val="2E5C00"/>
                  </a:gs>
                </a:gsLst>
                <a:lin ang="2700000" scaled="1"/>
              </a:gra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2400"/>
              </a:p>
            </p:txBody>
          </p:sp>
        </p:grpSp>
      </p:grpSp>
      <p:sp>
        <p:nvSpPr>
          <p:cNvPr id="18" name="Rectangle 16">
            <a:extLst>
              <a:ext uri="{FF2B5EF4-FFF2-40B4-BE49-F238E27FC236}">
                <a16:creationId xmlns:a16="http://schemas.microsoft.com/office/drawing/2014/main" id="{90254158-5DA1-49B7-5559-15763616B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1582985"/>
            <a:ext cx="2609850" cy="831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</a:rPr>
              <a:t>Function performs action</a:t>
            </a:r>
          </a:p>
        </p:txBody>
      </p:sp>
      <p:grpSp>
        <p:nvGrpSpPr>
          <p:cNvPr id="19" name="Group 17">
            <a:extLst>
              <a:ext uri="{FF2B5EF4-FFF2-40B4-BE49-F238E27FC236}">
                <a16:creationId xmlns:a16="http://schemas.microsoft.com/office/drawing/2014/main" id="{40F48672-3C6B-4C4E-5104-9F39C982D6B7}"/>
              </a:ext>
            </a:extLst>
          </p:cNvPr>
          <p:cNvGrpSpPr>
            <a:grpSpLocks/>
          </p:cNvGrpSpPr>
          <p:nvPr/>
        </p:nvGrpSpPr>
        <p:grpSpPr bwMode="auto">
          <a:xfrm>
            <a:off x="5680075" y="697160"/>
            <a:ext cx="2559050" cy="2555875"/>
            <a:chOff x="3660" y="1314"/>
            <a:chExt cx="1612" cy="1610"/>
          </a:xfrm>
        </p:grpSpPr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D26AFEAD-168B-2866-DEEB-9010ACAE2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1524"/>
              <a:ext cx="781" cy="795"/>
            </a:xfrm>
            <a:custGeom>
              <a:avLst/>
              <a:gdLst>
                <a:gd name="T0" fmla="*/ 0 w 781"/>
                <a:gd name="T1" fmla="*/ 0 h 795"/>
                <a:gd name="T2" fmla="*/ 780 w 781"/>
                <a:gd name="T3" fmla="*/ 0 h 795"/>
                <a:gd name="T4" fmla="*/ 780 w 781"/>
                <a:gd name="T5" fmla="*/ 794 h 79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1" h="795">
                  <a:moveTo>
                    <a:pt x="0" y="0"/>
                  </a:moveTo>
                  <a:lnTo>
                    <a:pt x="780" y="0"/>
                  </a:lnTo>
                  <a:lnTo>
                    <a:pt x="780" y="794"/>
                  </a:lnTo>
                </a:path>
              </a:pathLst>
            </a:custGeom>
            <a:noFill/>
            <a:ln w="50800" cap="rnd" cmpd="sng">
              <a:solidFill>
                <a:srgbClr val="FFCC00"/>
              </a:solidFill>
              <a:prstDash val="solid"/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</a:endParaRP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8D7EE3B7-B102-7D9A-D93D-9B27A6548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1" y="1314"/>
              <a:ext cx="75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rgbClr val="0000FF"/>
                  </a:solidFill>
                </a:rPr>
                <a:t>Output</a:t>
              </a: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929263F3-3A88-E5F0-415F-82D33B8A1D70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3904" y="2350"/>
              <a:ext cx="1096" cy="574"/>
            </a:xfrm>
            <a:prstGeom prst="rect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FF9900">
                    <a:gamma/>
                    <a:shade val="89804"/>
                    <a:invGamma/>
                  </a:srgbClr>
                </a:gs>
              </a:gsLst>
              <a:lin ang="2700000" scaled="1"/>
            </a:gradFill>
            <a:ln w="1270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 anchor="ctr"/>
            <a:lstStyle/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</a:rPr>
                <a:t>Result</a:t>
              </a:r>
            </a:p>
            <a:p>
              <a:pPr algn="ctr">
                <a:defRPr/>
              </a:pPr>
              <a:r>
                <a:rPr lang="en-US" b="1" dirty="0">
                  <a:solidFill>
                    <a:schemeClr val="bg1"/>
                  </a:solidFill>
                </a:rPr>
                <a:t>value</a:t>
              </a:r>
            </a:p>
          </p:txBody>
        </p:sp>
      </p:grpSp>
      <p:sp>
        <p:nvSpPr>
          <p:cNvPr id="23" name="Line 2">
            <a:extLst>
              <a:ext uri="{FF2B5EF4-FFF2-40B4-BE49-F238E27FC236}">
                <a16:creationId xmlns:a16="http://schemas.microsoft.com/office/drawing/2014/main" id="{70B6A5A1-F9A2-389A-62AB-A5B6FAC15E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7724" y="4505799"/>
            <a:ext cx="0" cy="644525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FE1472AE-2A6A-DFFB-1A32-4E3830E1B9AC}"/>
              </a:ext>
            </a:extLst>
          </p:cNvPr>
          <p:cNvSpPr>
            <a:spLocks/>
          </p:cNvSpPr>
          <p:nvPr/>
        </p:nvSpPr>
        <p:spPr bwMode="auto">
          <a:xfrm>
            <a:off x="2352674" y="5131274"/>
            <a:ext cx="4706938" cy="534988"/>
          </a:xfrm>
          <a:custGeom>
            <a:avLst/>
            <a:gdLst>
              <a:gd name="T0" fmla="*/ 0 w 2965"/>
              <a:gd name="T1" fmla="*/ 2147483646 h 337"/>
              <a:gd name="T2" fmla="*/ 0 w 2965"/>
              <a:gd name="T3" fmla="*/ 0 h 337"/>
              <a:gd name="T4" fmla="*/ 2147483646 w 2965"/>
              <a:gd name="T5" fmla="*/ 0 h 337"/>
              <a:gd name="T6" fmla="*/ 2147483646 w 2965"/>
              <a:gd name="T7" fmla="*/ 2147483646 h 337"/>
              <a:gd name="T8" fmla="*/ 2147483646 w 2965"/>
              <a:gd name="T9" fmla="*/ 2147483646 h 3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65" h="337">
                <a:moveTo>
                  <a:pt x="0" y="316"/>
                </a:moveTo>
                <a:lnTo>
                  <a:pt x="0" y="0"/>
                </a:lnTo>
                <a:lnTo>
                  <a:pt x="2964" y="0"/>
                </a:lnTo>
                <a:lnTo>
                  <a:pt x="2964" y="148"/>
                </a:lnTo>
                <a:lnTo>
                  <a:pt x="2964" y="336"/>
                </a:lnTo>
              </a:path>
            </a:pathLst>
          </a:custGeom>
          <a:noFill/>
          <a:ln w="50800" cap="rnd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solidFill>
                <a:srgbClr val="FFFF00"/>
              </a:solidFill>
            </a:endParaRPr>
          </a:p>
        </p:txBody>
      </p:sp>
      <p:sp>
        <p:nvSpPr>
          <p:cNvPr id="25" name="Rectangle 5">
            <a:extLst>
              <a:ext uri="{FF2B5EF4-FFF2-40B4-BE49-F238E27FC236}">
                <a16:creationId xmlns:a16="http://schemas.microsoft.com/office/drawing/2014/main" id="{6D8AD9B4-6003-E8E6-D8FE-6FEBA610D757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502024" y="3583462"/>
            <a:ext cx="2311400" cy="931862"/>
          </a:xfrm>
          <a:prstGeom prst="rect">
            <a:avLst/>
          </a:prstGeom>
          <a:gradFill rotWithShape="0">
            <a:gsLst>
              <a:gs pos="0">
                <a:srgbClr val="FF6633"/>
              </a:gs>
              <a:gs pos="100000">
                <a:srgbClr val="FF6633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00"/>
                </a:solidFill>
              </a:rPr>
              <a:t>Functions</a:t>
            </a:r>
          </a:p>
        </p:txBody>
      </p:sp>
      <p:sp>
        <p:nvSpPr>
          <p:cNvPr id="26" name="Rectangle 6">
            <a:extLst>
              <a:ext uri="{FF2B5EF4-FFF2-40B4-BE49-F238E27FC236}">
                <a16:creationId xmlns:a16="http://schemas.microsoft.com/office/drawing/2014/main" id="{E6F8B9B3-BDDB-D6FD-BE3B-1604D702B04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281112" y="5640862"/>
            <a:ext cx="2284412" cy="920750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00"/>
                </a:solidFill>
              </a:rPr>
              <a:t>Single-row </a:t>
            </a:r>
          </a:p>
          <a:p>
            <a:pPr algn="ctr">
              <a:defRPr/>
            </a:pPr>
            <a:r>
              <a:rPr lang="en-US" b="1">
                <a:solidFill>
                  <a:srgbClr val="FFFF00"/>
                </a:solidFill>
              </a:rPr>
              <a:t>functions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5171E3C5-5F4F-9912-DFC7-1CC851853CB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835649" y="5626574"/>
            <a:ext cx="2263775" cy="950913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00"/>
                </a:solidFill>
              </a:rPr>
              <a:t>Multiple-row</a:t>
            </a:r>
          </a:p>
          <a:p>
            <a:pPr algn="ctr">
              <a:defRPr/>
            </a:pPr>
            <a:r>
              <a:rPr lang="en-US" b="1">
                <a:solidFill>
                  <a:srgbClr val="FFFF00"/>
                </a:solidFill>
              </a:rPr>
              <a:t>functions</a:t>
            </a:r>
          </a:p>
        </p:txBody>
      </p:sp>
      <p:grpSp>
        <p:nvGrpSpPr>
          <p:cNvPr id="28" name="Group 8">
            <a:extLst>
              <a:ext uri="{FF2B5EF4-FFF2-40B4-BE49-F238E27FC236}">
                <a16:creationId xmlns:a16="http://schemas.microsoft.com/office/drawing/2014/main" id="{A8FE6476-1531-86A2-16BD-0F77D7608156}"/>
              </a:ext>
            </a:extLst>
          </p:cNvPr>
          <p:cNvGrpSpPr>
            <a:grpSpLocks/>
          </p:cNvGrpSpPr>
          <p:nvPr/>
        </p:nvGrpSpPr>
        <p:grpSpPr bwMode="auto">
          <a:xfrm>
            <a:off x="619124" y="6101237"/>
            <a:ext cx="3581400" cy="0"/>
            <a:chOff x="336" y="2855"/>
            <a:chExt cx="2256" cy="0"/>
          </a:xfrm>
        </p:grpSpPr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21E9F82B-AE8E-1BC2-481A-130A2D37E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6E90D73C-42E2-8702-C939-D20F76E93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</p:grpSp>
      <p:grpSp>
        <p:nvGrpSpPr>
          <p:cNvPr id="31" name="Group 11">
            <a:extLst>
              <a:ext uri="{FF2B5EF4-FFF2-40B4-BE49-F238E27FC236}">
                <a16:creationId xmlns:a16="http://schemas.microsoft.com/office/drawing/2014/main" id="{C0CCD3DB-E402-CC46-114E-DFA872FB5EB3}"/>
              </a:ext>
            </a:extLst>
          </p:cNvPr>
          <p:cNvGrpSpPr>
            <a:grpSpLocks/>
          </p:cNvGrpSpPr>
          <p:nvPr/>
        </p:nvGrpSpPr>
        <p:grpSpPr bwMode="auto">
          <a:xfrm>
            <a:off x="5210174" y="5796437"/>
            <a:ext cx="3524250" cy="552450"/>
            <a:chOff x="3228" y="2663"/>
            <a:chExt cx="2220" cy="348"/>
          </a:xfrm>
        </p:grpSpPr>
        <p:sp>
          <p:nvSpPr>
            <p:cNvPr id="38912" name="Line 12">
              <a:extLst>
                <a:ext uri="{FF2B5EF4-FFF2-40B4-BE49-F238E27FC236}">
                  <a16:creationId xmlns:a16="http://schemas.microsoft.com/office/drawing/2014/main" id="{09D8D899-FC21-FC02-AC97-F410A07E6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8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  <p:sp>
          <p:nvSpPr>
            <p:cNvPr id="38913" name="Line 13">
              <a:extLst>
                <a:ext uri="{FF2B5EF4-FFF2-40B4-BE49-F238E27FC236}">
                  <a16:creationId xmlns:a16="http://schemas.microsoft.com/office/drawing/2014/main" id="{81E77053-008D-DB24-99B7-2420B3B10E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4" y="2855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  <p:sp>
          <p:nvSpPr>
            <p:cNvPr id="38916" name="Line 14">
              <a:extLst>
                <a:ext uri="{FF2B5EF4-FFF2-40B4-BE49-F238E27FC236}">
                  <a16:creationId xmlns:a16="http://schemas.microsoft.com/office/drawing/2014/main" id="{089AED96-6B3E-34C3-4C26-D3C590812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8" y="2663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  <p:sp>
          <p:nvSpPr>
            <p:cNvPr id="38917" name="Line 15">
              <a:extLst>
                <a:ext uri="{FF2B5EF4-FFF2-40B4-BE49-F238E27FC236}">
                  <a16:creationId xmlns:a16="http://schemas.microsoft.com/office/drawing/2014/main" id="{11F10A23-8AD2-F249-6EB7-34AAAB5F1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8" y="3011"/>
              <a:ext cx="384" cy="0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 type="none" w="sm" len="sm"/>
              <a:tailEnd type="stealth" w="med" len="lg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FFFF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20036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57ADF-D618-A85B-F4CC-933875679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E07B96C-66FF-9A34-5B9A-E0DED551A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Single Row Functions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7811096-19E2-7443-DCE4-8CC0311F205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692696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Manipulate data items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Accept arguments and return one value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Act on each row returned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Return one result per row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May modify the datatype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Can be nested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32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32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32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32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09472-1CC8-90F0-FD3F-95C73293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19ED547-EF24-E5F8-EABB-A4E32F0A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6AB68FE-8EE3-F7BC-230C-B7E4AB124C8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7584" y="4005064"/>
            <a:ext cx="7237413" cy="36671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i="1" dirty="0" err="1">
                <a:solidFill>
                  <a:srgbClr val="0033CC"/>
                </a:solidFill>
                <a:latin typeface="Courier New" panose="02070309020205020404" pitchFamily="49" charset="0"/>
              </a:rPr>
              <a:t>function_name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|</a:t>
            </a:r>
            <a:r>
              <a:rPr lang="en-US" alt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expression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[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arg1, arg2,...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232956363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ABE6A-9966-14C9-6485-DC5BD72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FBE453B-C92A-BEF3-B9B5-11559220E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Single Row Functions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261C89-1802-9E1B-0552-AFAB374C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FF755217-8E4F-3CB8-57D3-EC19549F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A5CDFE8D-7B22-810A-AB0E-6325005E6F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9463" y="2171700"/>
            <a:ext cx="0" cy="1419225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F7A49471-6D76-BCF3-516F-29BCB67C49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7950" y="3087688"/>
            <a:ext cx="1960563" cy="503237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AA7DE302-A0D7-C563-C2B9-C652DF6784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08513" y="3070225"/>
            <a:ext cx="2012950" cy="520700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C6D038DB-766D-9068-26CA-139206905F8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63850" y="3590925"/>
            <a:ext cx="1744663" cy="1598613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87031C3C-8865-8514-DDE6-F63D67802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8513" y="3590925"/>
            <a:ext cx="1671637" cy="1652588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74C23DCD-DD50-DF4B-DD22-FABDA9CC32F4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012950" y="4749800"/>
            <a:ext cx="1785938" cy="93186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Conversion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3974CD0-FD57-5045-5DD1-EA396768DF7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740150" y="1468438"/>
            <a:ext cx="1739900" cy="911225"/>
          </a:xfrm>
          <a:prstGeom prst="rect">
            <a:avLst/>
          </a:prstGeom>
          <a:gradFill rotWithShape="0">
            <a:gsLst>
              <a:gs pos="0">
                <a:srgbClr val="FF6633"/>
              </a:gs>
              <a:gs pos="100000">
                <a:srgbClr val="FF6633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641099FD-0B78-461C-418E-A1E518D6304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216650" y="2655888"/>
            <a:ext cx="1739900" cy="911225"/>
          </a:xfrm>
          <a:prstGeom prst="rect">
            <a:avLst/>
          </a:prstGeom>
          <a:gradFill rotWithShape="0">
            <a:gsLst>
              <a:gs pos="0">
                <a:srgbClr val="336600"/>
              </a:gs>
              <a:gs pos="100000">
                <a:srgbClr val="336600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22238" tIns="61913" rIns="122238" bIns="61913" anchor="ctr"/>
          <a:lstStyle/>
          <a:p>
            <a:pPr algn="ctr" defTabSz="1620838">
              <a:defRPr/>
            </a:pPr>
            <a:r>
              <a:rPr lang="en-US" b="1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B2668B1D-B0B1-7142-DD1E-70CB56BD88B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360988" y="4770438"/>
            <a:ext cx="1739900" cy="911225"/>
          </a:xfrm>
          <a:prstGeom prst="rect">
            <a:avLst/>
          </a:prstGeom>
          <a:gradFill rotWithShape="0">
            <a:gsLst>
              <a:gs pos="0">
                <a:srgbClr val="0066CC"/>
              </a:gs>
              <a:gs pos="100000">
                <a:srgbClr val="0066CC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B4F7D825-BBB6-C652-DF71-D3B116A53DB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1227138" y="2655888"/>
            <a:ext cx="1739900" cy="911225"/>
          </a:xfrm>
          <a:prstGeom prst="rect">
            <a:avLst/>
          </a:prstGeom>
          <a:gradFill rotWithShape="0">
            <a:gsLst>
              <a:gs pos="0">
                <a:srgbClr val="FF6699"/>
              </a:gs>
              <a:gs pos="100000">
                <a:srgbClr val="FF6699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68CA6BBD-BC12-B043-529D-C6A0827DA1E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533775" y="3108325"/>
            <a:ext cx="2152650" cy="931863"/>
          </a:xfrm>
          <a:prstGeom prst="rect">
            <a:avLst/>
          </a:prstGeom>
          <a:gradFill rotWithShape="0">
            <a:gsLst>
              <a:gs pos="0">
                <a:srgbClr val="008080"/>
              </a:gs>
              <a:gs pos="100000">
                <a:srgbClr val="008080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Single-row </a:t>
            </a:r>
          </a:p>
          <a:p>
            <a:pPr algn="ctr">
              <a:defRPr/>
            </a:pPr>
            <a:r>
              <a:rPr lang="en-US" b="1">
                <a:solidFill>
                  <a:srgbClr val="FFFF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379589107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D827D-E85F-D9AD-751B-44CB86DA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B6FDA44-506C-C40D-CFC2-F2CB713EC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Character Functions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0BEC11-BFDB-219F-7902-E83E401E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5CF7A6AB-A9C1-ADDB-9E2F-3553EB53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55412F-298D-BD30-51E6-C66322AEB55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416300" y="1290638"/>
            <a:ext cx="2311400" cy="931862"/>
          </a:xfrm>
          <a:prstGeom prst="rect">
            <a:avLst/>
          </a:prstGeom>
          <a:solidFill>
            <a:srgbClr val="0000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Character</a:t>
            </a:r>
          </a:p>
          <a:p>
            <a:pPr algn="ctr">
              <a:defRPr/>
            </a:pP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Functions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9CD41A-A959-C67C-6FFF-6384B737A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5" y="3860800"/>
            <a:ext cx="1657505" cy="1810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LOWER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UPPER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INITCAP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REVERSE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4E93E589-15E5-AE38-4D11-B5D5A036B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1713" y="3860800"/>
            <a:ext cx="1657505" cy="2272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CONCAT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SUBSTR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LENGTH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REVERSE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INSTR</a:t>
            </a: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ADB53562-D277-5E17-96A9-87DCE0E470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00" y="2233613"/>
            <a:ext cx="0" cy="320675"/>
          </a:xfrm>
          <a:prstGeom prst="line">
            <a:avLst/>
          </a:prstGeom>
          <a:noFill/>
          <a:ln w="50800">
            <a:solidFill>
              <a:srgbClr val="FFCC00"/>
            </a:solidFill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1D7EF280-B262-FFEA-4679-16AEF705573B}"/>
              </a:ext>
            </a:extLst>
          </p:cNvPr>
          <p:cNvSpPr>
            <a:spLocks/>
          </p:cNvSpPr>
          <p:nvPr/>
        </p:nvSpPr>
        <p:spPr bwMode="auto">
          <a:xfrm>
            <a:off x="2613025" y="2573338"/>
            <a:ext cx="3848100" cy="534987"/>
          </a:xfrm>
          <a:custGeom>
            <a:avLst/>
            <a:gdLst>
              <a:gd name="T0" fmla="*/ 0 w 2424"/>
              <a:gd name="T1" fmla="*/ 2147483646 h 337"/>
              <a:gd name="T2" fmla="*/ 0 w 2424"/>
              <a:gd name="T3" fmla="*/ 0 h 337"/>
              <a:gd name="T4" fmla="*/ 2147483646 w 2424"/>
              <a:gd name="T5" fmla="*/ 0 h 337"/>
              <a:gd name="T6" fmla="*/ 2147483646 w 2424"/>
              <a:gd name="T7" fmla="*/ 2147483646 h 337"/>
              <a:gd name="T8" fmla="*/ 2147483646 w 2424"/>
              <a:gd name="T9" fmla="*/ 2147483646 h 3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24" h="337">
                <a:moveTo>
                  <a:pt x="0" y="316"/>
                </a:moveTo>
                <a:lnTo>
                  <a:pt x="0" y="0"/>
                </a:lnTo>
                <a:lnTo>
                  <a:pt x="2423" y="0"/>
                </a:lnTo>
                <a:lnTo>
                  <a:pt x="2423" y="148"/>
                </a:lnTo>
                <a:lnTo>
                  <a:pt x="2423" y="336"/>
                </a:lnTo>
              </a:path>
            </a:pathLst>
          </a:custGeom>
          <a:noFill/>
          <a:ln w="50800" cap="rnd" cmpd="sng">
            <a:solidFill>
              <a:srgbClr val="FFCC00"/>
            </a:solidFill>
            <a:prstDash val="solid"/>
            <a:round/>
            <a:headEnd type="none" w="sm" len="sm"/>
            <a:tailEnd type="none" w="sm" len="sm"/>
          </a:ln>
          <a:effectLst>
            <a:outerShdw dist="53882" dir="2700000" algn="ctr" rotWithShape="0">
              <a:srgbClr val="0000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3B36AD64-496E-35FA-9C4D-EC53D321C53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04850" y="2854325"/>
            <a:ext cx="3754438" cy="92075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</a:rPr>
              <a:t>Case conversion </a:t>
            </a:r>
          </a:p>
          <a:p>
            <a:pPr algn="ctr">
              <a:defRPr/>
            </a:pPr>
            <a:r>
              <a:rPr lang="en-US" b="1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928E3EBC-1D41-C418-3120-EFCE95BFD18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654550" y="2840038"/>
            <a:ext cx="3719513" cy="950912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FF9900">
                  <a:gamma/>
                  <a:shade val="89804"/>
                  <a:invGamma/>
                </a:srgbClr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</a:rPr>
              <a:t>Character manipulation</a:t>
            </a:r>
          </a:p>
          <a:p>
            <a:pPr algn="ctr">
              <a:defRPr/>
            </a:pPr>
            <a:r>
              <a:rPr lang="en-US" b="1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9ADADE5B-8C9B-5F6F-10C7-418672676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8913" y="3860800"/>
            <a:ext cx="2027414" cy="273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LPAD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RPAD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LTRIM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RTRIM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REPLACE</a:t>
            </a:r>
          </a:p>
          <a:p>
            <a:pPr defTabSz="822325">
              <a:lnSpc>
                <a:spcPct val="90000"/>
              </a:lnSpc>
              <a:spcBef>
                <a:spcPct val="35000"/>
              </a:spcBef>
              <a:defRPr/>
            </a:pPr>
            <a:r>
              <a:rPr lang="en-US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TRANSALTE</a:t>
            </a:r>
          </a:p>
        </p:txBody>
      </p:sp>
    </p:spTree>
    <p:extLst>
      <p:ext uri="{BB962C8B-B14F-4D97-AF65-F5344CB8AC3E}">
        <p14:creationId xmlns:p14="http://schemas.microsoft.com/office/powerpoint/2010/main" val="18889841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7" grpId="0" autoUpdateAnimBg="0"/>
      <p:bldP spid="2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DF124-C2C7-21E2-8BA4-2C84143A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BB33BB6-31CE-0B66-B714-E275CDDAE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368542"/>
            <a:ext cx="6480398" cy="180138"/>
          </a:xfrm>
        </p:spPr>
        <p:txBody>
          <a:bodyPr/>
          <a:lstStyle/>
          <a:p>
            <a:pPr eaLnBrk="1" hangingPunct="1"/>
            <a:br>
              <a:rPr lang="en-US" altLang="en-US" sz="24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4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4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Character Functions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6AA33-7999-88FA-A4E3-28E88884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428184"/>
            <a:ext cx="4858301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5ABA58DF-FA6E-9244-1D3F-67B0281D6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E0BECC-17D8-E3D3-C3B4-A615A6EBE25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33795" y="498896"/>
            <a:ext cx="3738205" cy="385363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CD09538-A256-87FC-F46B-F98BD41B320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572000" y="498896"/>
            <a:ext cx="3565525" cy="385363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Result</a:t>
            </a:r>
          </a:p>
        </p:txBody>
      </p:sp>
      <p:sp>
        <p:nvSpPr>
          <p:cNvPr id="7" name="Arc 4">
            <a:extLst>
              <a:ext uri="{FF2B5EF4-FFF2-40B4-BE49-F238E27FC236}">
                <a16:creationId xmlns:a16="http://schemas.microsoft.com/office/drawing/2014/main" id="{0555D72D-ECEC-BC09-65A0-99CB46FF8D7D}"/>
              </a:ext>
            </a:extLst>
          </p:cNvPr>
          <p:cNvSpPr>
            <a:spLocks/>
          </p:cNvSpPr>
          <p:nvPr/>
        </p:nvSpPr>
        <p:spPr bwMode="ltGray">
          <a:xfrm>
            <a:off x="5357886" y="476672"/>
            <a:ext cx="212652" cy="180138"/>
          </a:xfrm>
          <a:custGeom>
            <a:avLst/>
            <a:gdLst>
              <a:gd name="T0" fmla="*/ 2147483646 w 21600"/>
              <a:gd name="T1" fmla="*/ 2147483646 h 21600"/>
              <a:gd name="T2" fmla="*/ 0 w 21600"/>
              <a:gd name="T3" fmla="*/ 0 h 21600"/>
              <a:gd name="T4" fmla="*/ 2147483646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</a:path>
              <a:path w="21600" h="21600" stroke="0" extrusionOk="0">
                <a:moveTo>
                  <a:pt x="21600" y="21600"/>
                </a:moveTo>
                <a:cubicBezTo>
                  <a:pt x="9670" y="21600"/>
                  <a:pt x="0" y="11929"/>
                  <a:pt x="0" y="0"/>
                </a:cubicBez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7606D6-D164-056D-5A6D-1ABEDF8C764B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38033" y="865272"/>
            <a:ext cx="3811754" cy="2385911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LENGTH ('SQL Course’)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CONCAT (‘SQL’, ‘Course’)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LOWER(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'SQL Course')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UPPER('SQL Course')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INITCAP(‘</a:t>
            </a:r>
            <a:r>
              <a:rPr lang="en-US" alt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course’)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REVERSE(‘SQL’)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40122F-3FE4-54E6-6DEA-818E5E09547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572000" y="857334"/>
            <a:ext cx="3565525" cy="2385911"/>
          </a:xfrm>
          <a:prstGeom prst="rect">
            <a:avLst/>
          </a:prstGeom>
          <a:solidFill>
            <a:srgbClr val="FFCC99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SQLCourse</a:t>
            </a:r>
            <a:endParaRPr lang="en-US" altLang="en-US" sz="20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US" altLang="en-US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course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 COURSE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US" altLang="en-US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Course</a:t>
            </a:r>
          </a:p>
          <a:p>
            <a:pPr>
              <a:lnSpc>
                <a:spcPct val="95000"/>
              </a:lnSpc>
              <a:spcBef>
                <a:spcPct val="35000"/>
              </a:spcBef>
              <a:buFontTx/>
              <a:buNone/>
            </a:pPr>
            <a:r>
              <a:rPr lang="en-US" altLang="en-US" sz="20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LQS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9BDEBCC8-985A-0F1C-30C4-519B7395CB7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7584" y="3339703"/>
            <a:ext cx="7258050" cy="12414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/>
          <a:p>
            <a:pPr>
              <a:tabLst>
                <a:tab pos="1200150" algn="l"/>
              </a:tabLst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SQL&gt; SELECT	</a:t>
            </a:r>
            <a:r>
              <a:rPr lang="en-US" sz="1800" b="1" dirty="0" err="1">
                <a:solidFill>
                  <a:srgbClr val="000000"/>
                </a:solidFill>
                <a:latin typeface="Courier New" pitchFamily="49" charset="0"/>
              </a:rPr>
              <a:t>empno</a:t>
            </a: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, </a:t>
            </a:r>
            <a:r>
              <a:rPr lang="en-US" sz="1800" b="1" dirty="0" err="1">
                <a:solidFill>
                  <a:srgbClr val="000000"/>
                </a:solidFill>
                <a:latin typeface="Courier New" pitchFamily="49" charset="0"/>
              </a:rPr>
              <a:t>deptno</a:t>
            </a: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         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  2  FROM	emp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  3  WHERE	</a:t>
            </a:r>
            <a:r>
              <a:rPr lang="en-US" sz="1800" b="1" dirty="0" err="1">
                <a:solidFill>
                  <a:srgbClr val="000000"/>
                </a:solidFill>
                <a:latin typeface="Courier New" pitchFamily="49" charset="0"/>
              </a:rPr>
              <a:t>ename</a:t>
            </a: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 = '</a:t>
            </a:r>
            <a:r>
              <a:rPr lang="en-US" sz="1800" b="1" dirty="0" err="1">
                <a:solidFill>
                  <a:srgbClr val="000000"/>
                </a:solidFill>
                <a:latin typeface="Courier New" pitchFamily="49" charset="0"/>
              </a:rPr>
              <a:t>blake</a:t>
            </a:r>
            <a:r>
              <a:rPr lang="en-US" sz="1800" b="1" dirty="0">
                <a:solidFill>
                  <a:srgbClr val="000000"/>
                </a:solidFill>
                <a:latin typeface="Courier New" pitchFamily="49" charset="0"/>
              </a:rPr>
              <a:t>';</a:t>
            </a:r>
          </a:p>
          <a:p>
            <a:pPr>
              <a:tabLst>
                <a:tab pos="1200150" algn="l"/>
              </a:tabLst>
              <a:defRPr/>
            </a:pPr>
            <a:r>
              <a:rPr lang="en-US" sz="1800" b="1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</a:rPr>
              <a:t>no rows selected</a:t>
            </a:r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E608CC2C-7846-2FD8-3883-35023D01C293}"/>
              </a:ext>
            </a:extLst>
          </p:cNvPr>
          <p:cNvGrpSpPr>
            <a:grpSpLocks/>
          </p:cNvGrpSpPr>
          <p:nvPr/>
        </p:nvGrpSpPr>
        <p:grpSpPr bwMode="auto">
          <a:xfrm>
            <a:off x="876301" y="4576588"/>
            <a:ext cx="7368108" cy="2236788"/>
            <a:chOff x="576" y="2394"/>
            <a:chExt cx="4659" cy="1409"/>
          </a:xfrm>
        </p:grpSpPr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6560EAF9-8E3C-CB1B-BA48-76704CC9D66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76" y="2402"/>
              <a:ext cx="4634" cy="690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>
              <a:outerShdw dist="89803" dir="2700000" algn="ctr" rotWithShape="0">
                <a:srgbClr val="000000">
                  <a:alpha val="50000"/>
                </a:srgbClr>
              </a:outerShdw>
            </a:effec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tabLst>
                  <a:tab pos="120015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B03BF511-B578-CC0D-B93B-3B2C35E263C1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83" y="3261"/>
              <a:ext cx="4608" cy="542"/>
            </a:xfrm>
            <a:prstGeom prst="rect">
              <a:avLst/>
            </a:prstGeom>
            <a:solidFill>
              <a:srgbClr val="DDDDDD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>
              <a:outerShdw dist="89803" dir="2700000" algn="ctr" rotWithShape="0">
                <a:srgbClr val="000000">
                  <a:alpha val="50000"/>
                </a:srgbClr>
              </a:outerShdw>
            </a:effectLst>
          </p:spPr>
          <p:txBody>
            <a:bodyPr lIns="92075" tIns="46038" rIns="92075" bIns="46038">
              <a:spAutoFit/>
            </a:bodyPr>
            <a:lstStyle>
              <a:lvl1pPr>
                <a:spcBef>
                  <a:spcPct val="20000"/>
                </a:spcBef>
                <a:buChar char="•"/>
                <a:tabLst>
                  <a:tab pos="120015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 EMPNO ENAME         DEPTNO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</a:rPr>
                <a:t>--------- ---------- ---------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   7698 BLAKE             30</a:t>
              </a: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67D792D0-8D25-FDD1-253B-51C03DDF54D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757" y="2828"/>
              <a:ext cx="1134" cy="19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9BEB08DB-4C17-BE1E-9E5F-9640D7A202AC}"/>
                </a:ext>
              </a:extLst>
            </p:cNvPr>
            <p:cNvSpPr>
              <a:spLocks noChangeArrowheads="1"/>
            </p:cNvSpPr>
            <p:nvPr/>
          </p:nvSpPr>
          <p:spPr bwMode="blackWhite">
            <a:xfrm>
              <a:off x="585" y="2394"/>
              <a:ext cx="4650" cy="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har char="•"/>
                <a:tabLst>
                  <a:tab pos="120015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tabLst>
                  <a:tab pos="120015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120015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</a:rPr>
                <a:t>SQL&gt; SELECT	empno, ename, deptno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2  FROM	emp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ourier New" panose="02070309020205020404" pitchFamily="49" charset="0"/>
                </a:rPr>
                <a:t>  3  WHERE 	LOWER(ename) = 'blake';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667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212D-8D88-6472-EA40-926143D3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7937497-A5A2-E54B-4C0A-BDECB19343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Character Functions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2373BAD-1C7B-F6EB-1694-6C4A5D97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69573-95D0-CF95-9710-BDE810D7C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35976"/>
              </p:ext>
            </p:extLst>
          </p:nvPr>
        </p:nvGraphicFramePr>
        <p:xfrm>
          <a:off x="179511" y="692696"/>
          <a:ext cx="8780761" cy="6101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4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4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 Syntax</a:t>
                      </a:r>
                    </a:p>
                  </a:txBody>
                  <a:tcPr marL="91434" marR="91434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marL="91434" marR="91434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rgbClr val="FFFF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Result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37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SUBSTR(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start-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[length])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SUBSTR(‘Pakistan’, 2, 3)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SUBSTR(‘Pakistan’, 5)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SUBSTR(‘Pakistan’, -3)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aki</a:t>
                      </a:r>
                      <a:endParaRPr lang="en-US" sz="20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sz="20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stan</a:t>
                      </a:r>
                      <a:endParaRPr lang="en-US" sz="20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tan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6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LPAD (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Padded-length, [Padded-char])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LPAD (‘Pak’, 10, ‘*’)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LPAD (‘Pak’, 10)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*******Pak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      Pak</a:t>
                      </a:r>
                    </a:p>
                  </a:txBody>
                  <a:tcPr marL="91434" marR="91434"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6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RPAD (Str, Padded-length, [Padded-char])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RPAD (‘Pak’, 10, ‘*’)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Pak*******   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4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LTRIM (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[trim-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])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LTRIM (‘***Pak’,’*’)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Pak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RTRIM (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 [trim-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])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RTRIM (‘Pak***’, ’*’)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Pak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TRIM ([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leading|trailing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[trim-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] from trim-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str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TRIM (’*’ from ‘***Pak***’)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Pak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4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INSTR(Str1,</a:t>
                      </a:r>
                      <a:r>
                        <a:rPr lang="en-US" sz="2000" b="1" baseline="0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Str2[, [start-pos] [,Nth-appearance]])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INSTR(‘Pakistan’, ’a’)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INSTR(‘Pakistan’, ’a’, 1, 2)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96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REPLACE(Str, '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’, ‘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REPLACE (‘ARIF’, ’R’, ’S’)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ASIF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2161474746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TRANSLATE (‘str1’, ’ str2’ , ’ str3’)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TRANSALTE (</a:t>
                      </a:r>
                      <a:r>
                        <a:rPr kumimoji="0" lang="pl-PL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‘ABCDEF’, ‘ACE’,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</a:t>
                      </a:r>
                      <a:r>
                        <a:rPr kumimoji="0" lang="pl-PL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’#@%’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)</a:t>
                      </a:r>
                    </a:p>
                  </a:txBody>
                  <a:tcPr marL="91434" marR="91434" marT="45715" marB="4571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#B@D%F</a:t>
                      </a:r>
                    </a:p>
                  </a:txBody>
                  <a:tcPr marL="91434" marR="91434" marT="45715" marB="45715" anchor="ctr"/>
                </a:tc>
                <a:extLst>
                  <a:ext uri="{0D108BD9-81ED-4DB2-BD59-A6C34878D82A}">
                    <a16:rowId xmlns:a16="http://schemas.microsoft.com/office/drawing/2014/main" val="2190318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674249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EE1C4-E73E-C7A7-E197-529A6A9E8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EC0826A-77D4-A3F5-C94A-E1CF7F4D41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Character Functions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2F394A97-319E-8087-7FE4-CDB55CA7A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C2C9C-9DA7-C17B-CA81-78D391544AD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68276" y="2488283"/>
            <a:ext cx="7710487" cy="14636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1A03F71-3B31-B211-6C65-DE9E4AE199A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68276" y="921420"/>
            <a:ext cx="7691437" cy="1330325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37683E3-6010-2092-50C6-BA3142940CD2}"/>
              </a:ext>
            </a:extLst>
          </p:cNvPr>
          <p:cNvGrpSpPr>
            <a:grpSpLocks/>
          </p:cNvGrpSpPr>
          <p:nvPr/>
        </p:nvGrpSpPr>
        <p:grpSpPr bwMode="auto">
          <a:xfrm>
            <a:off x="2179563" y="945233"/>
            <a:ext cx="3860800" cy="2976562"/>
            <a:chOff x="1496" y="1381"/>
            <a:chExt cx="2432" cy="187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0E806D9-D23C-7AB2-EF40-A785EA0E5D4E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256" y="1381"/>
              <a:ext cx="1672" cy="22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01094C8-5769-874D-D7C5-9C1E18D3B59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496" y="2377"/>
              <a:ext cx="1519" cy="87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9E162F0-2FB5-9FED-6EBF-93BA36D8910C}"/>
              </a:ext>
            </a:extLst>
          </p:cNvPr>
          <p:cNvGrpSpPr>
            <a:grpSpLocks/>
          </p:cNvGrpSpPr>
          <p:nvPr/>
        </p:nvGrpSpPr>
        <p:grpSpPr bwMode="auto">
          <a:xfrm>
            <a:off x="4643363" y="943645"/>
            <a:ext cx="3479800" cy="2978150"/>
            <a:chOff x="3048" y="1380"/>
            <a:chExt cx="2192" cy="187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4E4A74-A6AE-73FE-F630-4391338C19A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048" y="1380"/>
              <a:ext cx="1192" cy="22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9D8CB5F-49C5-5121-625E-B4A314C8121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048" y="2376"/>
              <a:ext cx="1040" cy="880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A7B3AD-CFD5-9238-952F-01A63284353B}"/>
              </a:ext>
            </a:extLst>
          </p:cNvPr>
          <p:cNvGrpSpPr>
            <a:grpSpLocks/>
          </p:cNvGrpSpPr>
          <p:nvPr/>
        </p:nvGrpSpPr>
        <p:grpSpPr bwMode="auto">
          <a:xfrm>
            <a:off x="2458963" y="1340520"/>
            <a:ext cx="5918200" cy="2581275"/>
            <a:chOff x="1672" y="1630"/>
            <a:chExt cx="3728" cy="162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986739-C940-3F62-62EB-6639BFADD78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72" y="1630"/>
              <a:ext cx="1512" cy="180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11ABD7B-304E-5C01-8172-B2A2EA5C4EC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120" y="2376"/>
              <a:ext cx="1280" cy="880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46AEABF-07EC-7C34-7B39-9E4E74C7385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55576" y="908720"/>
            <a:ext cx="7315200" cy="135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6637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663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SQL&gt; SELECT ename, CONCAT (ename, job), LENGTH(ename),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2 	INSTR(ename, 'A')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3 FROM   emp</a:t>
            </a:r>
          </a:p>
          <a:p>
            <a:pPr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4 WHERE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B044DB-CED8-BE5E-564A-D574C825E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8963" y="1878683"/>
            <a:ext cx="3454400" cy="288925"/>
          </a:xfrm>
          <a:prstGeom prst="rect">
            <a:avLst/>
          </a:prstGeom>
          <a:solidFill>
            <a:srgbClr val="CC9900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93B5B7-F86F-BBFB-159C-85265A0EB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13" y="1800895"/>
            <a:ext cx="375126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SUBSTR(job,1,5) = 'SALES';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8DF709-5951-DFBE-DAB8-946532DC909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19076" y="2445420"/>
            <a:ext cx="7653337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ENAME      CONCAT(ENAME,JOB)   LENGTH(ENAME) INSTR(ENAME,'A')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---------- ------------------- ------------- ----------------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MARTIN     MARTINSALESMAN                  6                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ALLEN      ALLENSALESMAN                   5                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TURNER     TURNERSALESMAN                  6               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WARD       WARDSALESMAN                    4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36975711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8E8D-978E-BC53-732C-D2C4FB05C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BBA563B-D527-4C6B-2FF0-3F5D3C88B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192366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 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5DA7F30-0858-0946-EE5D-DE5990CAE1D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7FB98-BB5D-D2D7-B631-AC3B1044A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4FEF8AD3-9775-D3D2-F600-C9F41BB7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FA9AF76-B4BD-33B1-60A5-AB04B90D6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596725"/>
              </p:ext>
            </p:extLst>
          </p:nvPr>
        </p:nvGraphicFramePr>
        <p:xfrm>
          <a:off x="323850" y="1278059"/>
          <a:ext cx="8491642" cy="46625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1966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  <a:gridCol w="1795220">
                  <a:extLst>
                    <a:ext uri="{9D8B030D-6E8A-4147-A177-3AD203B41FA5}">
                      <a16:colId xmlns:a16="http://schemas.microsoft.com/office/drawing/2014/main" val="4002576562"/>
                    </a:ext>
                  </a:extLst>
                </a:gridCol>
              </a:tblGrid>
              <a:tr h="5117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Output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568346">
                <a:tc rowSpan="4"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ROUND(N [,M])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 (2347.648)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2348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511774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 (2347.648 ,2)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2347.65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  <a:tr h="511774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 (2347.648 ,-1)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2350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477747"/>
                  </a:ext>
                </a:extLst>
              </a:tr>
              <a:tr h="511774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 (2347.648 ,-2)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434753"/>
                  </a:ext>
                </a:extLst>
              </a:tr>
              <a:tr h="511774">
                <a:tc rowSpan="4"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TRUNC(N [,M])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 (2347.648)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2347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511774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 (2347.648 ,2)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2367.64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  <a:tr h="511774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 (2347.648 ,-1)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2340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3885993"/>
                  </a:ext>
                </a:extLst>
              </a:tr>
              <a:tr h="511774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 (2347.648 ,-2)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556347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833C5722-D63C-199F-BE76-BD2853851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764704"/>
            <a:ext cx="8394700" cy="432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SELECT </a:t>
            </a:r>
            <a:r>
              <a:rPr lang="en-US" altLang="en-US" sz="2800" dirty="0" err="1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NumberFunction</a:t>
            </a: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FROM Dual;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1571515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8330D-9B93-07F1-08AC-C12E61E6F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4EFA7BC-C6C8-F12A-A895-A6C436E3E9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 Functions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7C861C2-B21B-F7A8-3939-5A5621C7382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64704"/>
            <a:ext cx="8394700" cy="2664296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F9581-B092-9ADC-4A51-06ECFAA8E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81F31AB-83B3-D973-550B-F54882A24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5EB19E7-3099-28B6-28FD-E92BD4E065C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63613" y="2356272"/>
            <a:ext cx="7283450" cy="8604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B88C26A-1B3E-0959-DC8E-FD153F26442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63613" y="806872"/>
            <a:ext cx="7289800" cy="8905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24AB6DE0-EEC1-AB92-23FD-5C71FDE560D3}"/>
              </a:ext>
            </a:extLst>
          </p:cNvPr>
          <p:cNvGrpSpPr>
            <a:grpSpLocks/>
          </p:cNvGrpSpPr>
          <p:nvPr/>
        </p:nvGrpSpPr>
        <p:grpSpPr bwMode="auto">
          <a:xfrm>
            <a:off x="950913" y="825922"/>
            <a:ext cx="3811587" cy="2359025"/>
            <a:chOff x="599" y="1266"/>
            <a:chExt cx="2401" cy="1486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5F00182E-7894-3119-496E-5BE9A201988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99" y="2256"/>
              <a:ext cx="1364" cy="49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5B9F5095-D9E5-2D8E-8FAD-9BA00A57C7D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60" y="1266"/>
              <a:ext cx="1340" cy="173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49FB4087-7F4B-3EFC-6746-1E6A76BB6D42}"/>
              </a:ext>
            </a:extLst>
          </p:cNvPr>
          <p:cNvGrpSpPr>
            <a:grpSpLocks/>
          </p:cNvGrpSpPr>
          <p:nvPr/>
        </p:nvGrpSpPr>
        <p:grpSpPr bwMode="auto">
          <a:xfrm>
            <a:off x="3205163" y="825922"/>
            <a:ext cx="3894137" cy="2359025"/>
            <a:chOff x="2019" y="1266"/>
            <a:chExt cx="2453" cy="1486"/>
          </a:xfrm>
        </p:grpSpPr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181B0BB3-CA77-B8E4-BAA8-9367CAF6CC1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19" y="2256"/>
              <a:ext cx="1314" cy="49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38443819-A771-92D0-909C-0DC314474BE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144" y="1266"/>
              <a:ext cx="1328" cy="173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14" name="Group 11">
            <a:extLst>
              <a:ext uri="{FF2B5EF4-FFF2-40B4-BE49-F238E27FC236}">
                <a16:creationId xmlns:a16="http://schemas.microsoft.com/office/drawing/2014/main" id="{44ADD72E-BEB2-FF9A-761A-054D17AC7BA5}"/>
              </a:ext>
            </a:extLst>
          </p:cNvPr>
          <p:cNvGrpSpPr>
            <a:grpSpLocks/>
          </p:cNvGrpSpPr>
          <p:nvPr/>
        </p:nvGrpSpPr>
        <p:grpSpPr bwMode="auto">
          <a:xfrm>
            <a:off x="2613025" y="1124372"/>
            <a:ext cx="5133975" cy="2060575"/>
            <a:chOff x="1646" y="1454"/>
            <a:chExt cx="3234" cy="1298"/>
          </a:xfrm>
        </p:grpSpPr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8F4AC1C1-2573-213B-6DB1-29949521760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390" y="2256"/>
              <a:ext cx="1490" cy="496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F44C8803-661D-629E-5217-DE9B11AE0992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46" y="1454"/>
              <a:ext cx="1440" cy="188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17" name="Rectangle 14">
            <a:extLst>
              <a:ext uri="{FF2B5EF4-FFF2-40B4-BE49-F238E27FC236}">
                <a16:creationId xmlns:a16="http://schemas.microsoft.com/office/drawing/2014/main" id="{396A8B70-608A-8251-27B1-B18338A1C60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50913" y="476672"/>
            <a:ext cx="73152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  <a:tab pos="16637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  <a:tab pos="1663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SQL&gt; SELECT ROUND(45.923,2), ROUND(45.923,0),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2  		ROUND(45.923,-1)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3  FROM   DUAL;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B2400B81-D5C4-038B-DAD5-34389565027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76313" y="2368972"/>
            <a:ext cx="725805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ROUND(45.923,2) ROUND(45.923,0) ROUND(45.923,-1)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--------------- -------------- -----------------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45.92             46                50</a:t>
            </a: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244ABA75-0BFE-4C94-892C-16007F6C894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54088" y="3700316"/>
            <a:ext cx="7289800" cy="107473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" name="Rectangle 3">
            <a:extLst>
              <a:ext uri="{FF2B5EF4-FFF2-40B4-BE49-F238E27FC236}">
                <a16:creationId xmlns:a16="http://schemas.microsoft.com/office/drawing/2014/main" id="{AB1DBFAE-9D29-9E78-6466-CC5E52094EC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9325" y="5340204"/>
            <a:ext cx="7315200" cy="8604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21" name="Group 4">
            <a:extLst>
              <a:ext uri="{FF2B5EF4-FFF2-40B4-BE49-F238E27FC236}">
                <a16:creationId xmlns:a16="http://schemas.microsoft.com/office/drawing/2014/main" id="{2CCC8E14-E51F-674C-7CCC-0690B9E8823D}"/>
              </a:ext>
            </a:extLst>
          </p:cNvPr>
          <p:cNvGrpSpPr>
            <a:grpSpLocks/>
          </p:cNvGrpSpPr>
          <p:nvPr/>
        </p:nvGrpSpPr>
        <p:grpSpPr bwMode="auto">
          <a:xfrm>
            <a:off x="950913" y="3747941"/>
            <a:ext cx="3811587" cy="2457450"/>
            <a:chOff x="599" y="1382"/>
            <a:chExt cx="2401" cy="1548"/>
          </a:xfrm>
        </p:grpSpPr>
        <p:sp>
          <p:nvSpPr>
            <p:cNvPr id="22" name="Rectangle 5">
              <a:extLst>
                <a:ext uri="{FF2B5EF4-FFF2-40B4-BE49-F238E27FC236}">
                  <a16:creationId xmlns:a16="http://schemas.microsoft.com/office/drawing/2014/main" id="{60C32428-4A7F-EE33-78AD-71DEDBC72B7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99" y="2378"/>
              <a:ext cx="1393" cy="552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3" name="Rectangle 6">
              <a:extLst>
                <a:ext uri="{FF2B5EF4-FFF2-40B4-BE49-F238E27FC236}">
                  <a16:creationId xmlns:a16="http://schemas.microsoft.com/office/drawing/2014/main" id="{3C769ADC-00FA-6429-1FC7-60B6E36C271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60" y="1382"/>
              <a:ext cx="1340" cy="226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24" name="Group 7">
            <a:extLst>
              <a:ext uri="{FF2B5EF4-FFF2-40B4-BE49-F238E27FC236}">
                <a16:creationId xmlns:a16="http://schemas.microsoft.com/office/drawing/2014/main" id="{B3835968-CD3B-64E6-473E-CC8DB8D225E3}"/>
              </a:ext>
            </a:extLst>
          </p:cNvPr>
          <p:cNvGrpSpPr>
            <a:grpSpLocks/>
          </p:cNvGrpSpPr>
          <p:nvPr/>
        </p:nvGrpSpPr>
        <p:grpSpPr bwMode="auto">
          <a:xfrm>
            <a:off x="3219450" y="3747941"/>
            <a:ext cx="3638550" cy="2457450"/>
            <a:chOff x="2028" y="1382"/>
            <a:chExt cx="2292" cy="1548"/>
          </a:xfrm>
        </p:grpSpPr>
        <p:sp>
          <p:nvSpPr>
            <p:cNvPr id="25" name="Rectangle 8">
              <a:extLst>
                <a:ext uri="{FF2B5EF4-FFF2-40B4-BE49-F238E27FC236}">
                  <a16:creationId xmlns:a16="http://schemas.microsoft.com/office/drawing/2014/main" id="{BF6B9E7F-CE31-5A19-7436-4188CCFAF6F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028" y="2378"/>
              <a:ext cx="1188" cy="552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6" name="Rectangle 9">
              <a:extLst>
                <a:ext uri="{FF2B5EF4-FFF2-40B4-BE49-F238E27FC236}">
                  <a16:creationId xmlns:a16="http://schemas.microsoft.com/office/drawing/2014/main" id="{6BA2483F-9F3A-268A-21B1-CA0B308B190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132" y="1382"/>
              <a:ext cx="1188" cy="226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grpSp>
        <p:nvGrpSpPr>
          <p:cNvPr id="27" name="Group 10">
            <a:extLst>
              <a:ext uri="{FF2B5EF4-FFF2-40B4-BE49-F238E27FC236}">
                <a16:creationId xmlns:a16="http://schemas.microsoft.com/office/drawing/2014/main" id="{A528117A-1CAB-EFCC-5794-3EE66CB30BA8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4125766"/>
            <a:ext cx="4781550" cy="2079625"/>
            <a:chOff x="1656" y="1620"/>
            <a:chExt cx="3012" cy="1310"/>
          </a:xfrm>
        </p:grpSpPr>
        <p:sp>
          <p:nvSpPr>
            <p:cNvPr id="28" name="Rectangle 11">
              <a:extLst>
                <a:ext uri="{FF2B5EF4-FFF2-40B4-BE49-F238E27FC236}">
                  <a16:creationId xmlns:a16="http://schemas.microsoft.com/office/drawing/2014/main" id="{CD989D4C-2FD2-AC9F-8D8C-D71C98F0BE2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244" y="2378"/>
              <a:ext cx="1424" cy="552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29" name="Rectangle 12">
              <a:extLst>
                <a:ext uri="{FF2B5EF4-FFF2-40B4-BE49-F238E27FC236}">
                  <a16:creationId xmlns:a16="http://schemas.microsoft.com/office/drawing/2014/main" id="{10FC8DAF-028E-074B-5EC7-2FFDBB19872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56" y="1620"/>
              <a:ext cx="1424" cy="180"/>
            </a:xfrm>
            <a:prstGeom prst="rect">
              <a:avLst/>
            </a:prstGeom>
            <a:solidFill>
              <a:srgbClr val="0066CC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30" name="Rectangle 13">
            <a:extLst>
              <a:ext uri="{FF2B5EF4-FFF2-40B4-BE49-F238E27FC236}">
                <a16:creationId xmlns:a16="http://schemas.microsoft.com/office/drawing/2014/main" id="{E94409BC-A10D-0775-958D-DC0C1EC6496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50913" y="3462191"/>
            <a:ext cx="7315200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  <a:tab pos="16637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  <a:tab pos="16637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  <a:tab pos="16637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SQL&gt; SELECT 	TRUNC(45.923,2), TRUNC(45.923),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2  		TRUNC(45.923,-1)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3  FROM   DUAL;</a:t>
            </a: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AC721A9D-B6B5-A30E-A6FE-D4AD5C188B3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50913" y="5344966"/>
            <a:ext cx="7289800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TRUNC(45.923,2) TRUNC(45.923) TRUNC(45.923,-1)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--------------- ------------- ---------------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        45.92            45              40</a:t>
            </a:r>
          </a:p>
        </p:txBody>
      </p:sp>
    </p:spTree>
    <p:extLst>
      <p:ext uri="{BB962C8B-B14F-4D97-AF65-F5344CB8AC3E}">
        <p14:creationId xmlns:p14="http://schemas.microsoft.com/office/powerpoint/2010/main" val="19576268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64C76-8F29-9E44-A75A-3CA3692E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5C0C287-7BE7-5D5D-29D8-50B3C279B5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192366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 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5F7201B-87D0-3FF3-84F0-557C7CBEFBC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1E178-0056-6D98-FAD9-1FDE814C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8F5D788-2FC8-077F-9EEE-1472172A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6028AE-0B49-C362-0EC2-34BB4E504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442942"/>
              </p:ext>
            </p:extLst>
          </p:nvPr>
        </p:nvGraphicFramePr>
        <p:xfrm>
          <a:off x="323850" y="943975"/>
          <a:ext cx="8491642" cy="5172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934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  <a:gridCol w="1435180">
                  <a:extLst>
                    <a:ext uri="{9D8B030D-6E8A-4147-A177-3AD203B41FA5}">
                      <a16:colId xmlns:a16="http://schemas.microsoft.com/office/drawing/2014/main" val="4002576562"/>
                    </a:ext>
                  </a:extLst>
                </a:gridCol>
              </a:tblGrid>
              <a:tr h="460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Output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511439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MOD (N,M)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MOD (23,5)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460531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POWER (N,M)</a:t>
                      </a:r>
                      <a:endParaRPr lang="en-US" sz="24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POWER (2,3)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460531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SQRT (N)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SQRT (25)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  <a:tr h="460531">
                <a:tc rowSpan="2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ABS (N)</a:t>
                      </a:r>
                      <a:endParaRPr lang="en-US" sz="24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absolute value of 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3885993"/>
                  </a:ext>
                </a:extLst>
              </a:tr>
              <a:tr h="460531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ABS (-7)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5563473"/>
                  </a:ext>
                </a:extLst>
              </a:tr>
              <a:tr h="460531">
                <a:tc rowSpan="2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CEIL (N)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the smallest integer &gt;=N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17612515"/>
                  </a:ext>
                </a:extLst>
              </a:tr>
              <a:tr h="686723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CEIL (3.7)</a:t>
                      </a:r>
                    </a:p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CEIL (-3.7)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4</a:t>
                      </a:r>
                    </a:p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-3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1352724"/>
                  </a:ext>
                </a:extLst>
              </a:tr>
              <a:tr h="419336">
                <a:tc rowSpan="2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FLOOR (N)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the largest integer &lt;=N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79628466"/>
                  </a:ext>
                </a:extLst>
              </a:tr>
              <a:tr h="555419">
                <a:tc vMerge="1"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FLOOR (3.7)</a:t>
                      </a:r>
                    </a:p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FLOOR (-3.7)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</a:p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-4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35154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61172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B88DDF0C-DB80-2E1A-837A-07CEC753C16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06463" y="3571702"/>
            <a:ext cx="7315200" cy="160337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FE8A445-55BE-AD0F-5858-D455126969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322346"/>
            <a:ext cx="4283075" cy="463550"/>
          </a:xfrm>
          <a:noFill/>
        </p:spPr>
        <p:txBody>
          <a:bodyPr lIns="92075" tIns="46038" rIns="92075" bIns="46038" anchor="t"/>
          <a:lstStyle/>
          <a:p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Using the MOD Function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AD24C200-F024-5247-A259-95E981463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6561" y="879713"/>
            <a:ext cx="8136904" cy="1293304"/>
          </a:xfrm>
          <a:noFill/>
        </p:spPr>
        <p:txBody>
          <a:bodyPr wrap="square" lIns="92075" tIns="46038" rIns="92075" bIns="46038">
            <a:spAutoFit/>
          </a:bodyPr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Calculate the remainder of the ratio of salary to commission for all employees whose job title is salesman.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50F471CA-B34B-ABFA-EF47-7413E484B23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00113" y="2223914"/>
            <a:ext cx="7289800" cy="105251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E2E19C2C-F69B-8799-2BBD-08EA86709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2204864"/>
            <a:ext cx="184150" cy="42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lnSpc>
                <a:spcPct val="120000"/>
              </a:lnSpc>
              <a:spcBef>
                <a:spcPct val="60000"/>
              </a:spcBef>
              <a:defRPr/>
            </a:pPr>
            <a:endParaRPr lang="en-US" sz="1800" b="1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D08AEE2-9346-4CD8-75A9-AE0EC2F2A9F2}"/>
              </a:ext>
            </a:extLst>
          </p:cNvPr>
          <p:cNvGrpSpPr>
            <a:grpSpLocks/>
          </p:cNvGrpSpPr>
          <p:nvPr/>
        </p:nvGrpSpPr>
        <p:grpSpPr bwMode="auto">
          <a:xfrm>
            <a:off x="5164138" y="2338214"/>
            <a:ext cx="2135187" cy="2789238"/>
            <a:chOff x="3253" y="1912"/>
            <a:chExt cx="1345" cy="1757"/>
          </a:xfrm>
        </p:grpSpPr>
        <p:sp>
          <p:nvSpPr>
            <p:cNvPr id="32778" name="Rectangle 8">
              <a:extLst>
                <a:ext uri="{FF2B5EF4-FFF2-40B4-BE49-F238E27FC236}">
                  <a16:creationId xmlns:a16="http://schemas.microsoft.com/office/drawing/2014/main" id="{72D98F98-D7EB-79F3-7FBC-970A06FC284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353" y="1912"/>
              <a:ext cx="1245" cy="224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32779" name="Rectangle 9">
              <a:extLst>
                <a:ext uri="{FF2B5EF4-FFF2-40B4-BE49-F238E27FC236}">
                  <a16:creationId xmlns:a16="http://schemas.microsoft.com/office/drawing/2014/main" id="{4CE16468-FD8A-4FEC-07D4-694C02E8ABB7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253" y="2709"/>
              <a:ext cx="1190" cy="960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32776" name="Rectangle 10">
            <a:extLst>
              <a:ext uri="{FF2B5EF4-FFF2-40B4-BE49-F238E27FC236}">
                <a16:creationId xmlns:a16="http://schemas.microsoft.com/office/drawing/2014/main" id="{AD7EB53C-228C-B1E4-F085-7FFCF1CE2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2317577"/>
            <a:ext cx="7150100" cy="141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SQL&gt; SELECT	ename, sal, comm, MOD(sal, comm)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2  FROM	emp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3  WHERE	job = 'SALESMAN';</a:t>
            </a:r>
            <a:endParaRPr lang="en-US" altLang="en-US" sz="1800" b="1">
              <a:solidFill>
                <a:schemeClr val="bg2"/>
              </a:solidFill>
              <a:latin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ct val="60000"/>
              </a:spcBef>
              <a:buFontTx/>
              <a:buNone/>
            </a:pPr>
            <a:endParaRPr lang="en-US" altLang="en-US" sz="1800" b="1">
              <a:solidFill>
                <a:schemeClr val="bg2"/>
              </a:solidFill>
              <a:latin typeface="Courier New" panose="02070309020205020404" pitchFamily="49" charset="0"/>
            </a:endParaRPr>
          </a:p>
        </p:txBody>
      </p:sp>
      <p:sp>
        <p:nvSpPr>
          <p:cNvPr id="32777" name="Rectangle 11">
            <a:extLst>
              <a:ext uri="{FF2B5EF4-FFF2-40B4-BE49-F238E27FC236}">
                <a16:creationId xmlns:a16="http://schemas.microsoft.com/office/drawing/2014/main" id="{0B24B083-9622-93A1-460B-34C6DD6F034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82650" y="3584402"/>
            <a:ext cx="7289800" cy="157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ENAME            SAL      COMM MOD(SAL,COMM)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---------- --------- --------- -------------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MARTIN          1250      1400          1250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ALLEN           1600       300           100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TURNER          1500         0          1500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WARD            1250       500           250</a:t>
            </a:r>
          </a:p>
        </p:txBody>
      </p:sp>
    </p:spTree>
    <p:extLst>
      <p:ext uri="{BB962C8B-B14F-4D97-AF65-F5344CB8AC3E}">
        <p14:creationId xmlns:p14="http://schemas.microsoft.com/office/powerpoint/2010/main" val="108939368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CDDB-15E4-3694-E0CA-384B137A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1A4F74A-FD3A-22AD-6B74-EA00C6DEF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192366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 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EA0492F-1FD8-7ABE-6E8C-DD0A42423ABC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3B8F13-BC11-DBB2-9263-3ADB4C801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804AC65-20B0-2827-9BA4-FE3C0E73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BD141C-D695-4EEA-1755-B17C7A965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532026"/>
              </p:ext>
            </p:extLst>
          </p:nvPr>
        </p:nvGraphicFramePr>
        <p:xfrm>
          <a:off x="323850" y="943975"/>
          <a:ext cx="8491642" cy="3313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3934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  <a:gridCol w="1435180">
                  <a:extLst>
                    <a:ext uri="{9D8B030D-6E8A-4147-A177-3AD203B41FA5}">
                      <a16:colId xmlns:a16="http://schemas.microsoft.com/office/drawing/2014/main" val="4002576562"/>
                    </a:ext>
                  </a:extLst>
                </a:gridCol>
              </a:tblGrid>
              <a:tr h="4605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Output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511439">
                <a:tc rowSpan="2"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SIGN (N)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-1, if N&lt;0</a:t>
                      </a:r>
                    </a:p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1, if N&gt;0</a:t>
                      </a:r>
                    </a:p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0, if N=0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460531">
                <a:tc vMerge="1"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endParaRPr lang="en-US" sz="24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SIGN (-5)</a:t>
                      </a:r>
                      <a:endParaRPr lang="en-US" sz="24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-1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460531">
                <a:tc>
                  <a:txBody>
                    <a:bodyPr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28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Misc. Functions</a:t>
                      </a: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EXP(A), LOG(A), LN(A),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SIN(A), COS(A), TAN(A),</a:t>
                      </a:r>
                    </a:p>
                    <a:p>
                      <a:pPr algn="ctr" eaLnBrk="1" hangingPunct="1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altLang="en-US" sz="28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SINH(A), COSH(A), TANH(A)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28189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547AD0BE-3D34-A0CD-B207-54A69D3506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Working with Dates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B66AF34-8BB8-1133-8B11-0E3531D67976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620688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Oracle stores dates in an internal numeric format: century, year, month, day, hours, minutes, seconds.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default date format is mm/dd/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yyyy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OR </a:t>
            </a:r>
            <a:r>
              <a:rPr lang="en-US" altLang="en-US" sz="2400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DD-MON-RR.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SELECT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SYSDATE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FROM DUAL; 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930DB6-28B3-8B2F-E873-CB67BEEFC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7DF2036A-035F-B920-4CA7-D6292A5F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03804" y="6166335"/>
            <a:ext cx="356469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4FA1B8-9F8B-50BF-3135-69A70945733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58850" y="2276872"/>
            <a:ext cx="1939925" cy="1490663"/>
          </a:xfrm>
          <a:prstGeom prst="rect">
            <a:avLst/>
          </a:prstGeom>
          <a:gradFill rotWithShape="0">
            <a:gsLst>
              <a:gs pos="0">
                <a:srgbClr val="FFCC66">
                  <a:gamma/>
                  <a:shade val="89804"/>
                  <a:invGamma/>
                </a:srgbClr>
              </a:gs>
              <a:gs pos="50000">
                <a:srgbClr val="FFCC66"/>
              </a:gs>
              <a:gs pos="100000">
                <a:srgbClr val="FFCC66">
                  <a:gamma/>
                  <a:shade val="89804"/>
                  <a:invGamma/>
                </a:srgbClr>
              </a:gs>
            </a:gsLst>
            <a:lin ang="27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Current Year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1995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1995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2001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2DBD12-1751-3E0A-F45C-218C65A26FD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2901950" y="2276872"/>
            <a:ext cx="2265363" cy="1490663"/>
          </a:xfrm>
          <a:prstGeom prst="rect">
            <a:avLst/>
          </a:prstGeom>
          <a:gradFill rotWithShape="0">
            <a:gsLst>
              <a:gs pos="0">
                <a:srgbClr val="FFCC66">
                  <a:gamma/>
                  <a:shade val="89804"/>
                  <a:invGamma/>
                </a:srgbClr>
              </a:gs>
              <a:gs pos="50000">
                <a:srgbClr val="FFCC66"/>
              </a:gs>
              <a:gs pos="100000">
                <a:srgbClr val="FFCC66">
                  <a:gamma/>
                  <a:shade val="89804"/>
                  <a:invGamma/>
                </a:srgbClr>
              </a:gs>
            </a:gsLst>
            <a:lin ang="27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Specified Date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27-OCT-95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27-OCT-17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27-OCT-17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27-OCT-95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B716C-DA95-A169-50E6-705217363A0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5164138" y="2276872"/>
            <a:ext cx="1462087" cy="1490663"/>
          </a:xfrm>
          <a:prstGeom prst="rect">
            <a:avLst/>
          </a:prstGeom>
          <a:gradFill rotWithShape="0">
            <a:gsLst>
              <a:gs pos="0">
                <a:srgbClr val="FFCC66">
                  <a:gamma/>
                  <a:shade val="89804"/>
                  <a:invGamma/>
                </a:srgbClr>
              </a:gs>
              <a:gs pos="50000">
                <a:srgbClr val="FFCC66"/>
              </a:gs>
              <a:gs pos="100000">
                <a:srgbClr val="FFCC66">
                  <a:gamma/>
                  <a:shade val="89804"/>
                  <a:invGamma/>
                </a:srgbClr>
              </a:gs>
            </a:gsLst>
            <a:lin ang="27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RR Format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1995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2017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2017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1995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03D60A-B87B-7594-15B5-5D6FDE73B71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645275" y="2276872"/>
            <a:ext cx="1592263" cy="1490663"/>
          </a:xfrm>
          <a:prstGeom prst="rect">
            <a:avLst/>
          </a:prstGeom>
          <a:gradFill rotWithShape="0">
            <a:gsLst>
              <a:gs pos="0">
                <a:srgbClr val="FFCC66">
                  <a:gamma/>
                  <a:shade val="89804"/>
                  <a:invGamma/>
                </a:srgbClr>
              </a:gs>
              <a:gs pos="50000">
                <a:srgbClr val="FFCC66"/>
              </a:gs>
              <a:gs pos="100000">
                <a:srgbClr val="FFCC66">
                  <a:gamma/>
                  <a:shade val="89804"/>
                  <a:invGamma/>
                </a:srgbClr>
              </a:gs>
            </a:gsLst>
            <a:lin ang="27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YY Format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1995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1917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2017</a:t>
            </a:r>
          </a:p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2095</a:t>
            </a: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3613BFAE-D0B9-D79A-FBAE-94A3968AA1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500" y="2597547"/>
            <a:ext cx="7297738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EA9240-B15E-50E3-A568-B731C1FDB42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57263" y="3874914"/>
            <a:ext cx="7286625" cy="2660650"/>
          </a:xfrm>
          <a:prstGeom prst="rect">
            <a:avLst/>
          </a:prstGeom>
          <a:gradFill rotWithShape="0">
            <a:gsLst>
              <a:gs pos="0">
                <a:srgbClr val="66CCFF">
                  <a:gamma/>
                  <a:shade val="89804"/>
                  <a:invGamma/>
                </a:srgbClr>
              </a:gs>
              <a:gs pos="50000">
                <a:srgbClr val="66CCFF"/>
              </a:gs>
              <a:gs pos="100000">
                <a:srgbClr val="66CCFF">
                  <a:gamma/>
                  <a:shade val="89804"/>
                  <a:invGamma/>
                </a:srgbClr>
              </a:gs>
            </a:gsLst>
            <a:lin ang="27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86C3AD4D-4E6E-CCB2-14B1-B75D778B66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52500" y="4816302"/>
            <a:ext cx="7315200" cy="31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EE0477E0-A071-3665-6236-1C30EFBE0B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4113" y="4819477"/>
            <a:ext cx="0" cy="1728787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3A51CFD9-CEE5-6FE6-FB44-F268A522B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4276552"/>
            <a:ext cx="1588" cy="22701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93206A-9FE6-5796-23A2-BC62CB1BB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5" y="4802014"/>
            <a:ext cx="1563688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two digits of the current </a:t>
            </a:r>
            <a:b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year are: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9A67D62B-2805-80BE-044C-2CCE8EB98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5051252"/>
            <a:ext cx="9540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0–49</a:t>
            </a: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B48F0D49-6D11-A6FC-4340-0D93BD3A8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100" y="4470227"/>
            <a:ext cx="11684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0–49</a:t>
            </a: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0242242F-A777-7D39-7A85-D93A31BC1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470227"/>
            <a:ext cx="11557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50–99</a:t>
            </a:r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84CB3B15-983C-1B4B-067B-8403347FB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5921202"/>
            <a:ext cx="11572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50–99</a:t>
            </a:r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B6FA10F-9841-D695-FA58-E2ABE4A6E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813" y="4840114"/>
            <a:ext cx="2455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120015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return date is in the current century</a:t>
            </a: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71F890DD-7404-918A-01A4-DF286C1A7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5656089"/>
            <a:ext cx="236855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The return date is in the century after the current one</a:t>
            </a:r>
          </a:p>
        </p:txBody>
      </p:sp>
      <p:sp>
        <p:nvSpPr>
          <p:cNvPr id="23" name="Rectangle 19">
            <a:extLst>
              <a:ext uri="{FF2B5EF4-FFF2-40B4-BE49-F238E27FC236}">
                <a16:creationId xmlns:a16="http://schemas.microsoft.com/office/drawing/2014/main" id="{0890D381-E1A9-015D-0139-0DF5BF1DA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4821064"/>
            <a:ext cx="2455862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return date is in the century before the current one</a:t>
            </a:r>
          </a:p>
        </p:txBody>
      </p:sp>
      <p:sp>
        <p:nvSpPr>
          <p:cNvPr id="24" name="Rectangle 20">
            <a:extLst>
              <a:ext uri="{FF2B5EF4-FFF2-40B4-BE49-F238E27FC236}">
                <a16:creationId xmlns:a16="http://schemas.microsoft.com/office/drawing/2014/main" id="{BED1A19B-716C-94BA-1123-F84B0D77E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588" y="5671964"/>
            <a:ext cx="245586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return date is in the current century</a:t>
            </a:r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390D35E4-37C4-3833-F79F-236C8DEBF86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3282950" y="3873327"/>
            <a:ext cx="4960938" cy="534987"/>
          </a:xfrm>
          <a:prstGeom prst="rect">
            <a:avLst/>
          </a:prstGeom>
          <a:gradFill rotWithShape="0">
            <a:gsLst>
              <a:gs pos="0">
                <a:srgbClr val="66CCFF">
                  <a:gamma/>
                  <a:shade val="89804"/>
                  <a:invGamma/>
                </a:srgbClr>
              </a:gs>
              <a:gs pos="50000">
                <a:srgbClr val="66CCFF"/>
              </a:gs>
              <a:gs pos="100000">
                <a:srgbClr val="66CCFF">
                  <a:gamma/>
                  <a:shade val="89804"/>
                  <a:invGamma/>
                </a:srgbClr>
              </a:gs>
            </a:gsLst>
            <a:lin ang="2700000" scaled="1"/>
          </a:gra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F9C25966-A53D-731E-3020-3CBB0F5A1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3927302"/>
            <a:ext cx="4097337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If the specified two-digit year is:</a:t>
            </a:r>
          </a:p>
        </p:txBody>
      </p:sp>
      <p:sp>
        <p:nvSpPr>
          <p:cNvPr id="27" name="Line 23">
            <a:extLst>
              <a:ext uri="{FF2B5EF4-FFF2-40B4-BE49-F238E27FC236}">
                <a16:creationId xmlns:a16="http://schemas.microsoft.com/office/drawing/2014/main" id="{5230DB3A-8271-627C-CFC4-39B7E728D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125" y="4276552"/>
            <a:ext cx="1588" cy="227012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829245A8-386A-79CF-88EF-E6719207E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875" y="5691014"/>
            <a:ext cx="5821363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73938-BF17-F842-C5B4-4FD8240A5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43DB0B35-9E54-BEF0-D86C-D3BC551731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Arithmetic with Dates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C50C96F-BD33-F69C-9648-1527AC0BB447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64704"/>
            <a:ext cx="8394700" cy="2664296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Add or subtract a number to or from a date.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Subtract two dates to find the number of days between the dates.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Add hours to a date by dividing the number of hours by 24.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83794-C4E3-15A8-607D-675F4F88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89397DB4-12B9-333F-1554-B7643CB28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FFC12C-A298-DC08-21A4-C2361AD98D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349946"/>
              </p:ext>
            </p:extLst>
          </p:nvPr>
        </p:nvGraphicFramePr>
        <p:xfrm>
          <a:off x="611560" y="3789040"/>
          <a:ext cx="78488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218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2502278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  <a:gridCol w="1422158">
                  <a:extLst>
                    <a:ext uri="{9D8B030D-6E8A-4147-A177-3AD203B41FA5}">
                      <a16:colId xmlns:a16="http://schemas.microsoft.com/office/drawing/2014/main" val="2721172158"/>
                    </a:ext>
                  </a:extLst>
                </a:gridCol>
                <a:gridCol w="1962218">
                  <a:extLst>
                    <a:ext uri="{9D8B030D-6E8A-4147-A177-3AD203B41FA5}">
                      <a16:colId xmlns:a16="http://schemas.microsoft.com/office/drawing/2014/main" val="843929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ENAME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SYSDATE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HIREDATE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Days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SMITH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9/22/2025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12/17/1980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16351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ALLEN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9/22/2025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2/20/1981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16286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0004DAE-48FF-F265-E458-FA899AB8C8BB}"/>
              </a:ext>
            </a:extLst>
          </p:cNvPr>
          <p:cNvSpPr/>
          <p:nvPr/>
        </p:nvSpPr>
        <p:spPr>
          <a:xfrm>
            <a:off x="611560" y="2564904"/>
            <a:ext cx="7848872" cy="8640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ename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sysdate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hiredate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sysdate-hiredate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“Days” 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emp;</a:t>
            </a:r>
          </a:p>
        </p:txBody>
      </p:sp>
    </p:spTree>
    <p:extLst>
      <p:ext uri="{BB962C8B-B14F-4D97-AF65-F5344CB8AC3E}">
        <p14:creationId xmlns:p14="http://schemas.microsoft.com/office/powerpoint/2010/main" val="80160855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6388A-9773-DDDA-DD27-F72331D04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78DA77F6-D61B-7694-A373-72F794DF5D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480398" cy="533400"/>
          </a:xfrm>
        </p:spPr>
        <p:txBody>
          <a:bodyPr/>
          <a:lstStyle/>
          <a:p>
            <a:pPr eaLnBrk="1" hangingPunct="1"/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Arithmetic with Dates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FC32097-B5A3-E8BB-4481-3DD1DA2D9375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64704"/>
            <a:ext cx="8394700" cy="2664296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Add or subtract a number to or from a date.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Subtract two dates to find the number of days between the dates.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Add hours to a date by dividing the number of hours by 24.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D49FE-44C8-186C-5D01-9CA6F859E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3F6541FD-7BAD-7009-950F-1964229C3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2440" y="6166335"/>
            <a:ext cx="427833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66B5D0-F502-D6F1-8AC1-8F60C7DC88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664134"/>
              </p:ext>
            </p:extLst>
          </p:nvPr>
        </p:nvGraphicFramePr>
        <p:xfrm>
          <a:off x="611560" y="3789040"/>
          <a:ext cx="784887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9706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4399166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SMITH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9/22/2025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ALLEN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9/22/2025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F562F35E-8143-FB5F-A3E2-85E2393D877D}"/>
              </a:ext>
            </a:extLst>
          </p:cNvPr>
          <p:cNvSpPr/>
          <p:nvPr/>
        </p:nvSpPr>
        <p:spPr>
          <a:xfrm>
            <a:off x="611560" y="2564904"/>
            <a:ext cx="7848872" cy="86409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SELECT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ename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sysdate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hiredate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sysdate-hiredate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“Days” </a:t>
            </a:r>
          </a:p>
          <a:p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FROM emp;</a:t>
            </a:r>
          </a:p>
        </p:txBody>
      </p:sp>
    </p:spTree>
    <p:extLst>
      <p:ext uri="{BB962C8B-B14F-4D97-AF65-F5344CB8AC3E}">
        <p14:creationId xmlns:p14="http://schemas.microsoft.com/office/powerpoint/2010/main" val="364255358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209E-2317-73D3-62CE-A2C50B344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87D7942-D55F-659B-114F-10C665271D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192366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Date 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4BE706F-6738-3D69-40C3-8BE24C80405D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6701ED-18A4-ECFE-0DFC-9F958736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35AC9FD-C0F2-EFFA-A637-B500699E2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053EAE-6F47-DC6B-5635-F35E39A79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10322"/>
              </p:ext>
            </p:extLst>
          </p:nvPr>
        </p:nvGraphicFramePr>
        <p:xfrm>
          <a:off x="328506" y="764704"/>
          <a:ext cx="8491643" cy="4844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1406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5040237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</a:tblGrid>
              <a:tr h="5117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851789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0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MONTHS_BETWEEN(D1,D2)</a:t>
                      </a:r>
                      <a:endParaRPr lang="en-US" sz="20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number of months between the dates D1 and D2.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ADD-MONTHS (D,N)</a:t>
                      </a:r>
                      <a:endParaRPr kumimoji="0" lang="en-US" sz="20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Adds N months to the date D.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NEXT_DAY(D, 'Day')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the next date of the specified Day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477747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LAST_DAY(D)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the last day of month lying in D.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43475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ROUND(D, [{'</a:t>
                      </a:r>
                      <a:r>
                        <a:rPr kumimoji="0" lang="en-US" sz="2000" kern="1200" dirty="0" err="1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Month|Year</a:t>
                      </a:r>
                      <a:r>
                        <a:rPr kumimoji="0" 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'}]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Rounds the date D as per Month or Year.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TRUNC(D, [{'</a:t>
                      </a:r>
                      <a:r>
                        <a:rPr kumimoji="0" lang="en-US" sz="2000" kern="1200" dirty="0" err="1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Month|Year</a:t>
                      </a:r>
                      <a:r>
                        <a:rPr kumimoji="0" 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'}]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Truncates the date D as per Month or Year.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EXTRACT (c from dt)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the specified component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c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of the date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dt.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The possible values of c are </a:t>
                      </a:r>
                      <a:r>
                        <a:rPr kumimoji="0" lang="en-US" sz="200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YEAR, MONTH, DAY, HOUR, MINUTE, SECOND,…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29724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68159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3D49-8D12-CADD-BA6B-87A694206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A9090239-E5BF-36F3-8FE4-82787E948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59296"/>
            <a:ext cx="8491642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Date Functions</a:t>
            </a:r>
            <a:r>
              <a:rPr lang="en-US" altLang="en-US" sz="2000" b="1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			</a:t>
            </a:r>
            <a:r>
              <a:rPr lang="en-US" altLang="en-US" sz="2000" b="1" dirty="0" err="1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Sysdate</a:t>
            </a:r>
            <a:r>
              <a:rPr lang="en-US" altLang="en-US" sz="2000" b="1" dirty="0">
                <a:solidFill>
                  <a:srgbClr val="0033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'09/23/25'</a:t>
            </a:r>
            <a:endParaRPr lang="en-US" altLang="en-US" sz="2800" b="1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A8BF04D3-2ADD-9667-0BE9-F5FFA27836B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529DCC-3FF1-7A26-EFC2-E4EAA68E4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7BA258-9EBD-72EA-8C14-AAF39EEA4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241907"/>
              </p:ext>
            </p:extLst>
          </p:nvPr>
        </p:nvGraphicFramePr>
        <p:xfrm>
          <a:off x="328506" y="620688"/>
          <a:ext cx="8491643" cy="59695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3774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1727869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</a:tblGrid>
              <a:tr h="5117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Function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Output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851789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lang="en-US" alt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MONTHS_BETWEEN (</a:t>
                      </a:r>
                      <a:r>
                        <a:rPr lang="en-US" altLang="en-US" sz="20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lang="en-US" alt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, ‘01/01/2025')</a:t>
                      </a:r>
                      <a:r>
                        <a:rPr lang="en-US" altLang="en-US" sz="2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marL="182880" lvl="0" indent="0" algn="l" fontAlgn="b">
                        <a:buNone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8.706351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alt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ADD-MONTHS (</a:t>
                      </a:r>
                      <a:r>
                        <a:rPr lang="en-US" alt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'06/20/25' </a:t>
                      </a:r>
                      <a:r>
                        <a:rPr kumimoji="0" lang="en-US" alt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3)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09/20/25 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NEXT_DAY (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‘Friday’)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09/26/25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477747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LAST_DAY (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09/30/25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43475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 (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lang="en-US" alt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‘Mon'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10/01/25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ROUND (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lang="en-US" alt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‘Year'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01/01/26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alt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lang="en-US" alt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‘Mon'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09/01/25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2823936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alt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TRUNC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lang="en-US" altLang="en-US" sz="20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‘Year'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01/01/25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5042061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EXTRACT (Month from 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09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9414331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SELECT 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EXTRACT (Day from </a:t>
                      </a:r>
                      <a:r>
                        <a:rPr kumimoji="0" lang="en-US" sz="2000" kern="1200" dirty="0" err="1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Sysdate</a:t>
                      </a:r>
                      <a:r>
                        <a:rPr kumimoji="0" lang="en-US" sz="2000" kern="1200" dirty="0">
                          <a:solidFill>
                            <a:srgbClr val="0000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en-US" alt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FROM DUAL;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361759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23227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9FCF-E633-E28E-14A4-F750ABAA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30672BB-066E-A60D-EB8B-6BA2B36FB9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192366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Conversion 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3D52385-3F33-B3F6-1150-E74FC123644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F99A0-9E7C-1CBE-4E3C-F56FE1CEE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C849FB4A-A4E5-729E-8879-190CD7F11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3C5995-9077-7DCD-A4B7-F7A745634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789" y="4064397"/>
            <a:ext cx="260985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NUMBER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B215EE02-0436-2A64-B977-850B7931D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7976" y="4064397"/>
            <a:ext cx="260985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b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CHARACTER</a:t>
            </a: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DAA52007-60FE-2733-DE20-0B286C607467}"/>
              </a:ext>
            </a:extLst>
          </p:cNvPr>
          <p:cNvGrpSpPr>
            <a:grpSpLocks/>
          </p:cNvGrpSpPr>
          <p:nvPr/>
        </p:nvGrpSpPr>
        <p:grpSpPr bwMode="auto">
          <a:xfrm>
            <a:off x="2044601" y="4461272"/>
            <a:ext cx="2644775" cy="1182687"/>
            <a:chOff x="1248" y="2363"/>
            <a:chExt cx="1666" cy="745"/>
          </a:xfrm>
        </p:grpSpPr>
        <p:sp>
          <p:nvSpPr>
            <p:cNvPr id="12" name="Arc 6">
              <a:extLst>
                <a:ext uri="{FF2B5EF4-FFF2-40B4-BE49-F238E27FC236}">
                  <a16:creationId xmlns:a16="http://schemas.microsoft.com/office/drawing/2014/main" id="{C7C95090-1C00-D841-F573-5CB3F7507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1" y="2363"/>
              <a:ext cx="833" cy="745"/>
            </a:xfrm>
            <a:custGeom>
              <a:avLst/>
              <a:gdLst>
                <a:gd name="T0" fmla="*/ 0 w 21625"/>
                <a:gd name="T1" fmla="*/ 0 h 21600"/>
                <a:gd name="T2" fmla="*/ 0 w 21625"/>
                <a:gd name="T3" fmla="*/ 0 h 21600"/>
                <a:gd name="T4" fmla="*/ 0 w 21625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25" h="21600" fill="none" extrusionOk="0">
                  <a:moveTo>
                    <a:pt x="21625" y="203"/>
                  </a:moveTo>
                  <a:cubicBezTo>
                    <a:pt x="21513" y="12052"/>
                    <a:pt x="11876" y="21599"/>
                    <a:pt x="26" y="21600"/>
                  </a:cubicBezTo>
                  <a:cubicBezTo>
                    <a:pt x="17" y="21600"/>
                    <a:pt x="8" y="21599"/>
                    <a:pt x="0" y="21599"/>
                  </a:cubicBezTo>
                </a:path>
                <a:path w="21625" h="21600" stroke="0" extrusionOk="0">
                  <a:moveTo>
                    <a:pt x="21625" y="203"/>
                  </a:moveTo>
                  <a:cubicBezTo>
                    <a:pt x="21513" y="12052"/>
                    <a:pt x="11876" y="21599"/>
                    <a:pt x="26" y="21600"/>
                  </a:cubicBezTo>
                  <a:cubicBezTo>
                    <a:pt x="17" y="21600"/>
                    <a:pt x="8" y="21599"/>
                    <a:pt x="0" y="21599"/>
                  </a:cubicBezTo>
                  <a:lnTo>
                    <a:pt x="26" y="0"/>
                  </a:lnTo>
                  <a:lnTo>
                    <a:pt x="21625" y="203"/>
                  </a:lnTo>
                  <a:close/>
                </a:path>
              </a:pathLst>
            </a:custGeom>
            <a:noFill/>
            <a:ln w="50800" cap="rnd">
              <a:solidFill>
                <a:srgbClr val="FFCC00"/>
              </a:solidFill>
              <a:round/>
              <a:headEnd type="stealth" w="med" len="lg"/>
              <a:tailEnd type="none" w="sm" len="sm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3" name="Arc 7">
              <a:extLst>
                <a:ext uri="{FF2B5EF4-FFF2-40B4-BE49-F238E27FC236}">
                  <a16:creationId xmlns:a16="http://schemas.microsoft.com/office/drawing/2014/main" id="{FCD7F0D6-407D-CC8F-20EC-31A6F2F3B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8" y="2363"/>
              <a:ext cx="832" cy="745"/>
            </a:xfrm>
            <a:custGeom>
              <a:avLst/>
              <a:gdLst>
                <a:gd name="T0" fmla="*/ 0 w 21599"/>
                <a:gd name="T1" fmla="*/ 0 h 21600"/>
                <a:gd name="T2" fmla="*/ 0 w 21599"/>
                <a:gd name="T3" fmla="*/ 0 h 21600"/>
                <a:gd name="T4" fmla="*/ 0 w 2159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21599" y="21600"/>
                  </a:moveTo>
                  <a:cubicBezTo>
                    <a:pt x="9748" y="21600"/>
                    <a:pt x="111" y="12052"/>
                    <a:pt x="-1" y="203"/>
                  </a:cubicBezTo>
                </a:path>
                <a:path w="21599" h="21600" stroke="0" extrusionOk="0">
                  <a:moveTo>
                    <a:pt x="21599" y="21600"/>
                  </a:moveTo>
                  <a:cubicBezTo>
                    <a:pt x="9748" y="21600"/>
                    <a:pt x="111" y="12052"/>
                    <a:pt x="-1" y="203"/>
                  </a:cubicBezTo>
                  <a:lnTo>
                    <a:pt x="21599" y="0"/>
                  </a:lnTo>
                  <a:lnTo>
                    <a:pt x="21599" y="21600"/>
                  </a:lnTo>
                  <a:close/>
                </a:path>
              </a:pathLst>
            </a:custGeom>
            <a:noFill/>
            <a:ln w="50800" cap="rnd">
              <a:solidFill>
                <a:srgbClr val="FFCC00"/>
              </a:solidFill>
              <a:round/>
              <a:headEnd type="none" w="sm" len="sm"/>
              <a:tailEnd type="none" w="sm" len="sm"/>
            </a:ln>
            <a:effectLst>
              <a:outerShdw dist="53882" dir="2700000" algn="ctr" rotWithShape="0">
                <a:srgbClr val="000000">
                  <a:alpha val="5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4" name="Rectangle 8">
            <a:extLst>
              <a:ext uri="{FF2B5EF4-FFF2-40B4-BE49-F238E27FC236}">
                <a16:creationId xmlns:a16="http://schemas.microsoft.com/office/drawing/2014/main" id="{D2B65768-A645-F9D1-2C9B-E157998BB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489" y="5743972"/>
            <a:ext cx="2609850" cy="462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TO_CHAR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61CA003E-BE56-6E17-EA1A-84197E2D3235}"/>
              </a:ext>
            </a:extLst>
          </p:cNvPr>
          <p:cNvGrpSpPr>
            <a:grpSpLocks/>
          </p:cNvGrpSpPr>
          <p:nvPr/>
        </p:nvGrpSpPr>
        <p:grpSpPr bwMode="auto">
          <a:xfrm>
            <a:off x="1963639" y="2276872"/>
            <a:ext cx="2740025" cy="1725612"/>
            <a:chOff x="1197" y="987"/>
            <a:chExt cx="1726" cy="1087"/>
          </a:xfrm>
        </p:grpSpPr>
        <p:grpSp>
          <p:nvGrpSpPr>
            <p:cNvPr id="16" name="Group 10">
              <a:extLst>
                <a:ext uri="{FF2B5EF4-FFF2-40B4-BE49-F238E27FC236}">
                  <a16:creationId xmlns:a16="http://schemas.microsoft.com/office/drawing/2014/main" id="{8735780A-D61D-FA15-3CAC-E4BB96ED96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7" y="1329"/>
              <a:ext cx="1666" cy="745"/>
              <a:chOff x="1257" y="1329"/>
              <a:chExt cx="1666" cy="745"/>
            </a:xfrm>
          </p:grpSpPr>
          <p:sp>
            <p:nvSpPr>
              <p:cNvPr id="18" name="Arc 11">
                <a:extLst>
                  <a:ext uri="{FF2B5EF4-FFF2-40B4-BE49-F238E27FC236}">
                    <a16:creationId xmlns:a16="http://schemas.microsoft.com/office/drawing/2014/main" id="{AE6B30D6-ED5C-F85E-D106-5B68F61A407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091" y="1329"/>
                <a:ext cx="832" cy="745"/>
              </a:xfrm>
              <a:custGeom>
                <a:avLst/>
                <a:gdLst>
                  <a:gd name="T0" fmla="*/ 0 w 21599"/>
                  <a:gd name="T1" fmla="*/ 0 h 21600"/>
                  <a:gd name="T2" fmla="*/ 0 w 21599"/>
                  <a:gd name="T3" fmla="*/ 0 h 21600"/>
                  <a:gd name="T4" fmla="*/ 0 w 215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</a:path>
                  <a:path w="21599" h="21600" stroke="0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  <a:lnTo>
                      <a:pt x="21599" y="0"/>
                    </a:lnTo>
                    <a:lnTo>
                      <a:pt x="21573" y="21599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CC00"/>
                </a:solidFill>
                <a:round/>
                <a:headEnd type="none" w="sm" len="sm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19" name="Arc 12">
                <a:extLst>
                  <a:ext uri="{FF2B5EF4-FFF2-40B4-BE49-F238E27FC236}">
                    <a16:creationId xmlns:a16="http://schemas.microsoft.com/office/drawing/2014/main" id="{05FA8709-F4D1-82EA-E7F9-E522AA7535C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1257" y="1329"/>
                <a:ext cx="832" cy="745"/>
              </a:xfrm>
              <a:custGeom>
                <a:avLst/>
                <a:gdLst>
                  <a:gd name="T0" fmla="*/ 0 w 21599"/>
                  <a:gd name="T1" fmla="*/ 0 h 21600"/>
                  <a:gd name="T2" fmla="*/ 0 w 21599"/>
                  <a:gd name="T3" fmla="*/ 0 h 21600"/>
                  <a:gd name="T4" fmla="*/ 0 w 215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</a:path>
                  <a:path w="21599" h="21600" stroke="0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  <a:lnTo>
                      <a:pt x="0" y="0"/>
                    </a:lnTo>
                    <a:lnTo>
                      <a:pt x="21599" y="203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CC00"/>
                </a:solidFill>
                <a:round/>
                <a:headEnd type="stealth" w="med" len="lg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4D458A15-23D8-9016-BE12-CA166B610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987"/>
              <a:ext cx="164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TO_NUMBER</a:t>
              </a:r>
            </a:p>
          </p:txBody>
        </p:sp>
      </p:grpSp>
      <p:grpSp>
        <p:nvGrpSpPr>
          <p:cNvPr id="20" name="Group 14">
            <a:extLst>
              <a:ext uri="{FF2B5EF4-FFF2-40B4-BE49-F238E27FC236}">
                <a16:creationId xmlns:a16="http://schemas.microsoft.com/office/drawing/2014/main" id="{761D1C0C-9CCB-84AD-DE38-227659079A2D}"/>
              </a:ext>
            </a:extLst>
          </p:cNvPr>
          <p:cNvGrpSpPr>
            <a:grpSpLocks/>
          </p:cNvGrpSpPr>
          <p:nvPr/>
        </p:nvGrpSpPr>
        <p:grpSpPr bwMode="auto">
          <a:xfrm>
            <a:off x="4784626" y="4064398"/>
            <a:ext cx="3554413" cy="2141538"/>
            <a:chOff x="2974" y="2113"/>
            <a:chExt cx="2239" cy="1349"/>
          </a:xfrm>
        </p:grpSpPr>
        <p:grpSp>
          <p:nvGrpSpPr>
            <p:cNvPr id="21" name="Group 15">
              <a:extLst>
                <a:ext uri="{FF2B5EF4-FFF2-40B4-BE49-F238E27FC236}">
                  <a16:creationId xmlns:a16="http://schemas.microsoft.com/office/drawing/2014/main" id="{621A7067-941B-01F9-BA33-9FCB7F56D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2" y="2363"/>
              <a:ext cx="1666" cy="745"/>
              <a:chOff x="2992" y="2363"/>
              <a:chExt cx="1666" cy="745"/>
            </a:xfrm>
          </p:grpSpPr>
          <p:sp>
            <p:nvSpPr>
              <p:cNvPr id="24" name="Arc 16">
                <a:extLst>
                  <a:ext uri="{FF2B5EF4-FFF2-40B4-BE49-F238E27FC236}">
                    <a16:creationId xmlns:a16="http://schemas.microsoft.com/office/drawing/2014/main" id="{B7407F47-ABD5-18E8-22F3-C53AC1CD7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" y="2363"/>
                <a:ext cx="833" cy="745"/>
              </a:xfrm>
              <a:custGeom>
                <a:avLst/>
                <a:gdLst>
                  <a:gd name="T0" fmla="*/ 0 w 21625"/>
                  <a:gd name="T1" fmla="*/ 0 h 21600"/>
                  <a:gd name="T2" fmla="*/ 0 w 21625"/>
                  <a:gd name="T3" fmla="*/ 0 h 21600"/>
                  <a:gd name="T4" fmla="*/ 0 w 21625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25" h="21600" fill="none" extrusionOk="0">
                    <a:moveTo>
                      <a:pt x="21625" y="203"/>
                    </a:moveTo>
                    <a:cubicBezTo>
                      <a:pt x="21513" y="12052"/>
                      <a:pt x="11876" y="21599"/>
                      <a:pt x="26" y="21600"/>
                    </a:cubicBezTo>
                    <a:cubicBezTo>
                      <a:pt x="17" y="21600"/>
                      <a:pt x="8" y="21599"/>
                      <a:pt x="0" y="21599"/>
                    </a:cubicBezTo>
                  </a:path>
                  <a:path w="21625" h="21600" stroke="0" extrusionOk="0">
                    <a:moveTo>
                      <a:pt x="21625" y="203"/>
                    </a:moveTo>
                    <a:cubicBezTo>
                      <a:pt x="21513" y="12052"/>
                      <a:pt x="11876" y="21599"/>
                      <a:pt x="26" y="21600"/>
                    </a:cubicBezTo>
                    <a:cubicBezTo>
                      <a:pt x="17" y="21600"/>
                      <a:pt x="8" y="21599"/>
                      <a:pt x="0" y="21599"/>
                    </a:cubicBezTo>
                    <a:lnTo>
                      <a:pt x="26" y="0"/>
                    </a:lnTo>
                    <a:lnTo>
                      <a:pt x="21625" y="203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25" name="Arc 17">
                <a:extLst>
                  <a:ext uri="{FF2B5EF4-FFF2-40B4-BE49-F238E27FC236}">
                    <a16:creationId xmlns:a16="http://schemas.microsoft.com/office/drawing/2014/main" id="{11667FF0-478B-BE8A-B7DC-A0DFFF1A6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2" y="2363"/>
                <a:ext cx="832" cy="745"/>
              </a:xfrm>
              <a:custGeom>
                <a:avLst/>
                <a:gdLst>
                  <a:gd name="T0" fmla="*/ 0 w 21599"/>
                  <a:gd name="T1" fmla="*/ 0 h 21600"/>
                  <a:gd name="T2" fmla="*/ 0 w 21599"/>
                  <a:gd name="T3" fmla="*/ 0 h 21600"/>
                  <a:gd name="T4" fmla="*/ 0 w 215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99" y="21600"/>
                    </a:moveTo>
                    <a:cubicBezTo>
                      <a:pt x="9748" y="21600"/>
                      <a:pt x="111" y="12052"/>
                      <a:pt x="-1" y="203"/>
                    </a:cubicBezTo>
                  </a:path>
                  <a:path w="21599" h="21600" stroke="0" extrusionOk="0">
                    <a:moveTo>
                      <a:pt x="21599" y="21600"/>
                    </a:moveTo>
                    <a:cubicBezTo>
                      <a:pt x="9748" y="21600"/>
                      <a:pt x="111" y="12052"/>
                      <a:pt x="-1" y="203"/>
                    </a:cubicBezTo>
                    <a:lnTo>
                      <a:pt x="21599" y="0"/>
                    </a:lnTo>
                    <a:lnTo>
                      <a:pt x="21599" y="21600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stealth" w="med" len="lg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22" name="Rectangle 18">
              <a:extLst>
                <a:ext uri="{FF2B5EF4-FFF2-40B4-BE49-F238E27FC236}">
                  <a16:creationId xmlns:a16="http://schemas.microsoft.com/office/drawing/2014/main" id="{E4424FB9-5D78-905B-0816-4E2CB0841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1" y="2113"/>
              <a:ext cx="109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b="1" dirty="0">
                  <a:latin typeface="Cambria" panose="02040503050406030204" pitchFamily="18" charset="0"/>
                  <a:ea typeface="Cambria" panose="02040503050406030204" pitchFamily="18" charset="0"/>
                </a:rPr>
                <a:t>DATE</a:t>
              </a:r>
            </a:p>
          </p:txBody>
        </p:sp>
        <p:sp>
          <p:nvSpPr>
            <p:cNvPr id="23" name="Rectangle 19">
              <a:extLst>
                <a:ext uri="{FF2B5EF4-FFF2-40B4-BE49-F238E27FC236}">
                  <a16:creationId xmlns:a16="http://schemas.microsoft.com/office/drawing/2014/main" id="{E633B3C1-CEF9-C00D-BC8A-9F298573B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4" y="3171"/>
              <a:ext cx="164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TO_CHAR</a:t>
              </a:r>
            </a:p>
          </p:txBody>
        </p:sp>
      </p:grpSp>
      <p:grpSp>
        <p:nvGrpSpPr>
          <p:cNvPr id="26" name="Group 20">
            <a:extLst>
              <a:ext uri="{FF2B5EF4-FFF2-40B4-BE49-F238E27FC236}">
                <a16:creationId xmlns:a16="http://schemas.microsoft.com/office/drawing/2014/main" id="{2D1E9345-16FE-14C8-3C18-E408C4C6546F}"/>
              </a:ext>
            </a:extLst>
          </p:cNvPr>
          <p:cNvGrpSpPr>
            <a:grpSpLocks/>
          </p:cNvGrpSpPr>
          <p:nvPr/>
        </p:nvGrpSpPr>
        <p:grpSpPr bwMode="auto">
          <a:xfrm>
            <a:off x="4759226" y="2276872"/>
            <a:ext cx="2673350" cy="1725612"/>
            <a:chOff x="2958" y="987"/>
            <a:chExt cx="1684" cy="1087"/>
          </a:xfrm>
        </p:grpSpPr>
        <p:grpSp>
          <p:nvGrpSpPr>
            <p:cNvPr id="27" name="Group 21">
              <a:extLst>
                <a:ext uri="{FF2B5EF4-FFF2-40B4-BE49-F238E27FC236}">
                  <a16:creationId xmlns:a16="http://schemas.microsoft.com/office/drawing/2014/main" id="{380516C5-A92B-C176-81BB-70D7B5759C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329"/>
              <a:ext cx="1666" cy="745"/>
              <a:chOff x="2976" y="1329"/>
              <a:chExt cx="1666" cy="745"/>
            </a:xfrm>
          </p:grpSpPr>
          <p:sp>
            <p:nvSpPr>
              <p:cNvPr id="29" name="Arc 22">
                <a:extLst>
                  <a:ext uri="{FF2B5EF4-FFF2-40B4-BE49-F238E27FC236}">
                    <a16:creationId xmlns:a16="http://schemas.microsoft.com/office/drawing/2014/main" id="{70AE3BA5-351B-43D3-E7BC-8B4F6DF3F60A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3810" y="1329"/>
                <a:ext cx="832" cy="745"/>
              </a:xfrm>
              <a:custGeom>
                <a:avLst/>
                <a:gdLst>
                  <a:gd name="T0" fmla="*/ 0 w 21599"/>
                  <a:gd name="T1" fmla="*/ 0 h 21600"/>
                  <a:gd name="T2" fmla="*/ 0 w 21599"/>
                  <a:gd name="T3" fmla="*/ 0 h 21600"/>
                  <a:gd name="T4" fmla="*/ 0 w 215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</a:path>
                  <a:path w="21599" h="21600" stroke="0" extrusionOk="0">
                    <a:moveTo>
                      <a:pt x="21573" y="21599"/>
                    </a:moveTo>
                    <a:cubicBezTo>
                      <a:pt x="9732" y="21585"/>
                      <a:pt x="111" y="12042"/>
                      <a:pt x="-1" y="203"/>
                    </a:cubicBezTo>
                    <a:lnTo>
                      <a:pt x="21599" y="0"/>
                    </a:lnTo>
                    <a:lnTo>
                      <a:pt x="21573" y="21599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stealth" w="med" len="lg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30" name="Arc 23">
                <a:extLst>
                  <a:ext uri="{FF2B5EF4-FFF2-40B4-BE49-F238E27FC236}">
                    <a16:creationId xmlns:a16="http://schemas.microsoft.com/office/drawing/2014/main" id="{1A33FF3E-1493-4027-2498-3128FDDC0D1B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>
                <a:off x="2976" y="1329"/>
                <a:ext cx="832" cy="745"/>
              </a:xfrm>
              <a:custGeom>
                <a:avLst/>
                <a:gdLst>
                  <a:gd name="T0" fmla="*/ 0 w 21599"/>
                  <a:gd name="T1" fmla="*/ 0 h 21600"/>
                  <a:gd name="T2" fmla="*/ 0 w 21599"/>
                  <a:gd name="T3" fmla="*/ 0 h 21600"/>
                  <a:gd name="T4" fmla="*/ 0 w 21599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599" h="21600" fill="none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</a:path>
                  <a:path w="21599" h="21600" stroke="0" extrusionOk="0">
                    <a:moveTo>
                      <a:pt x="21599" y="203"/>
                    </a:moveTo>
                    <a:cubicBezTo>
                      <a:pt x="21487" y="12052"/>
                      <a:pt x="11850" y="21599"/>
                      <a:pt x="0" y="21600"/>
                    </a:cubicBezTo>
                    <a:lnTo>
                      <a:pt x="0" y="0"/>
                    </a:lnTo>
                    <a:lnTo>
                      <a:pt x="21599" y="203"/>
                    </a:lnTo>
                    <a:close/>
                  </a:path>
                </a:pathLst>
              </a:custGeom>
              <a:noFill/>
              <a:ln w="50800" cap="rnd">
                <a:solidFill>
                  <a:srgbClr val="FF3300"/>
                </a:solidFill>
                <a:round/>
                <a:headEnd type="none" w="sm" len="sm"/>
                <a:tailEnd type="none" w="sm" len="sm"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28" name="Rectangle 24">
              <a:extLst>
                <a:ext uri="{FF2B5EF4-FFF2-40B4-BE49-F238E27FC236}">
                  <a16:creationId xmlns:a16="http://schemas.microsoft.com/office/drawing/2014/main" id="{AACA91BA-59EB-90CC-D1DA-7ED7F15D3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8" y="987"/>
              <a:ext cx="164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 algn="ctr">
                <a:defRPr/>
              </a:pPr>
              <a:r>
                <a:rPr lang="en-US" b="1" dirty="0">
                  <a:latin typeface="Cambria" panose="02040503050406030204" pitchFamily="18" charset="0"/>
                  <a:ea typeface="Cambria" panose="02040503050406030204" pitchFamily="18" charset="0"/>
                </a:rPr>
                <a:t>TO_DATE</a:t>
              </a:r>
            </a:p>
          </p:txBody>
        </p:sp>
      </p:grpSp>
      <p:sp>
        <p:nvSpPr>
          <p:cNvPr id="31" name="Rectangle 3">
            <a:extLst>
              <a:ext uri="{FF2B5EF4-FFF2-40B4-BE49-F238E27FC236}">
                <a16:creationId xmlns:a16="http://schemas.microsoft.com/office/drawing/2014/main" id="{754BDC4A-230D-87FA-65DD-B1C4F3344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764704"/>
            <a:ext cx="8394700" cy="1080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Implicit data type conversion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8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Explicit data type conversion</a:t>
            </a:r>
          </a:p>
          <a:p>
            <a:pPr marL="0" indent="0" algn="just">
              <a:buSzPct val="50000"/>
              <a:buNone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8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733303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A272-66E8-9C9B-2A72-F0744057E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0CBE8BC-7272-31F3-FD28-B32CF6E68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192366" cy="5334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TO_CHAR 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 with Dates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46BC8D1-2233-22D7-035A-B17685CE357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C95782-3BCA-A17F-EB42-70296B1F334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25450" y="692696"/>
            <a:ext cx="8394700" cy="1296144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TO_CHAR(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date,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'[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fm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')</a:t>
            </a:r>
          </a:p>
          <a:p>
            <a:pPr marL="342900" indent="-342900">
              <a:spcBef>
                <a:spcPts val="600"/>
              </a:spcBef>
            </a:pPr>
            <a:r>
              <a:rPr lang="en-US" altLang="en-US" sz="2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fm</a:t>
            </a: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removes padded blanks or suppresses leading 0’s</a:t>
            </a:r>
          </a:p>
          <a:p>
            <a:pPr marL="342900" indent="-342900">
              <a:spcBef>
                <a:spcPts val="600"/>
              </a:spcBef>
            </a:pPr>
            <a:r>
              <a:rPr lang="en-US" altLang="en-US" sz="2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fm</a:t>
            </a: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can be prefixed with any component of the date </a:t>
            </a:r>
          </a:p>
        </p:txBody>
      </p:sp>
      <p:graphicFrame>
        <p:nvGraphicFramePr>
          <p:cNvPr id="38930" name="Table 38929">
            <a:extLst>
              <a:ext uri="{FF2B5EF4-FFF2-40B4-BE49-F238E27FC236}">
                <a16:creationId xmlns:a16="http://schemas.microsoft.com/office/drawing/2014/main" id="{81F05302-4459-2C63-C2C8-92C4DA305D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491352"/>
              </p:ext>
            </p:extLst>
          </p:nvPr>
        </p:nvGraphicFramePr>
        <p:xfrm>
          <a:off x="376978" y="2081926"/>
          <a:ext cx="8491643" cy="465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782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6456861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</a:tblGrid>
              <a:tr h="5117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Format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565250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YYYY, YYY, YY</a:t>
                      </a:r>
                      <a:endParaRPr lang="en-US" sz="24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alt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4, 3, 2 -digit year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YEAR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Year spelled out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MM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alt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2-digit month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477747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Month name </a:t>
                      </a:r>
                      <a:r>
                        <a:rPr kumimoji="0" lang="en-US" sz="240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abbreiviated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40078311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Month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Full name of the month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43475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3-letter abbreviated day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DAY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Full name of the day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D, DD, DDD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Days of Week (1-7), Month (1-31) , Year (1-366)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6677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705664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E17F4-36BD-A4B4-5756-DF4CD9DE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8653B0D-A584-CCBC-BECE-69ED2D8448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159296"/>
            <a:ext cx="8491642" cy="5334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TO_CHAR 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 with Dates</a:t>
            </a:r>
            <a:r>
              <a:rPr lang="en-US" altLang="en-US" sz="2000" b="1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			</a:t>
            </a:r>
            <a:endParaRPr lang="en-US" altLang="en-US" sz="2800" b="1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E462104-2DA8-8AFA-2974-2C25B84D69F4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F4E01-3258-9BDB-8DB4-7DD6341E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D444B85-AE2A-1911-51C9-22ED4CA4B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511749"/>
              </p:ext>
            </p:extLst>
          </p:nvPr>
        </p:nvGraphicFramePr>
        <p:xfrm>
          <a:off x="317277" y="738847"/>
          <a:ext cx="8611045" cy="516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73">
                  <a:extLst>
                    <a:ext uri="{9D8B030D-6E8A-4147-A177-3AD203B41FA5}">
                      <a16:colId xmlns:a16="http://schemas.microsoft.com/office/drawing/2014/main" val="3557767118"/>
                    </a:ext>
                  </a:extLst>
                </a:gridCol>
                <a:gridCol w="4885230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1836042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</a:tblGrid>
              <a:tr h="5117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HireDate</a:t>
                      </a:r>
                      <a:endParaRPr lang="en-US" sz="2200" b="1" i="0" u="none" strike="noStrike" dirty="0">
                        <a:solidFill>
                          <a:srgbClr val="FFFF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Output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568346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'09/23/25'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'dd-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23-sep-25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'09/23/25'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'dd/mm/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23/09/25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'09/23/25'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'Mon 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dd,yyyy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Sep 23, 2025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477747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'Sep 01, 25'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'dd-mm-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01-09-25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43475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l" fontAlgn="b">
                        <a:buNone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'Sep 01, 25'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fm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dd-mm-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1-09-25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'Sep 22, 25'</a:t>
                      </a:r>
                      <a:endParaRPr kumimoji="0" lang="en-US" sz="2200" b="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‘Day, Mon 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dd,yyyy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kumimoji="0" lang="en-US" sz="2200" b="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Monday, Sep 22, 2025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'Sep 22, 25'</a:t>
                      </a:r>
                      <a:endParaRPr kumimoji="0" lang="en-US" sz="2200" b="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‘dd Month 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yyyy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HH:MM'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kumimoji="0" lang="en-US" sz="2200" b="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22 Sept 2025 10:15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2823936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2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'Sep 22, 25'</a:t>
                      </a:r>
                      <a:endParaRPr kumimoji="0" lang="en-US" sz="2200" b="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</a:t>
                      </a:r>
                      <a:r>
                        <a:rPr kumimoji="0" lang="en-US" altLang="en-US" sz="2200" b="0" kern="1200" dirty="0" err="1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hiredate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‘dd Month </a:t>
                      </a:r>
                      <a:r>
                        <a:rPr kumimoji="0" lang="en-US" altLang="en-US" sz="2200" b="0" kern="1200" dirty="0" err="1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yyyy</a:t>
                      </a:r>
                      <a:r>
                        <a:rPr kumimoji="0" lang="en-US" altLang="en-US" sz="22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HH24:MM'</a:t>
                      </a:r>
                      <a:r>
                        <a:rPr kumimoji="0" lang="en-US" alt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kumimoji="0" lang="en-US" sz="2200" b="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2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22 Sept 2025 22:15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49735675"/>
                  </a:ext>
                </a:extLst>
              </a:tr>
            </a:tbl>
          </a:graphicData>
        </a:graphic>
      </p:graphicFrame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DFE6C2B6-CC9A-DAA2-2C4A-65E23749F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465640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2E3B1-7054-5D81-4E4C-7AA5D7A4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A6046C0-24C6-AAB3-8E19-5C7A18DDE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6192366" cy="5334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TO_CHAR 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 with Numbers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B6AFB706-F44D-8BA1-EBD9-51105BC33532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C1906D-0936-0564-B042-8F7F62C7090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425450" y="692696"/>
            <a:ext cx="8394700" cy="936104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TO_CHAR(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number,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'[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fm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  <a:r>
              <a:rPr lang="en-US" altLang="en-US" sz="20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format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')</a:t>
            </a:r>
          </a:p>
          <a:p>
            <a:pPr marL="342900" indent="-342900">
              <a:spcBef>
                <a:spcPts val="600"/>
              </a:spcBef>
            </a:pPr>
            <a:r>
              <a:rPr lang="en-US" altLang="en-US" sz="20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fm</a:t>
            </a:r>
            <a:r>
              <a:rPr lang="en-US" altLang="en-US" sz="20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removes padded blanks or suppresses leading 0’s </a:t>
            </a:r>
          </a:p>
        </p:txBody>
      </p:sp>
      <p:graphicFrame>
        <p:nvGraphicFramePr>
          <p:cNvPr id="38930" name="Table 38929">
            <a:extLst>
              <a:ext uri="{FF2B5EF4-FFF2-40B4-BE49-F238E27FC236}">
                <a16:creationId xmlns:a16="http://schemas.microsoft.com/office/drawing/2014/main" id="{BC01BE88-3CD9-1980-F7A5-01BAA10F71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034152"/>
              </p:ext>
            </p:extLst>
          </p:nvPr>
        </p:nvGraphicFramePr>
        <p:xfrm>
          <a:off x="392983" y="1700808"/>
          <a:ext cx="8491644" cy="4992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878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1959024">
                  <a:extLst>
                    <a:ext uri="{9D8B030D-6E8A-4147-A177-3AD203B41FA5}">
                      <a16:colId xmlns:a16="http://schemas.microsoft.com/office/drawing/2014/main" val="17694859"/>
                    </a:ext>
                  </a:extLst>
                </a:gridCol>
                <a:gridCol w="5376742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</a:tblGrid>
              <a:tr h="5117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Format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565250"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9999</a:t>
                      </a:r>
                      <a:endParaRPr lang="en-US" sz="2400" b="0" i="0" u="none" strike="noStrike" dirty="0">
                        <a:solidFill>
                          <a:srgbClr val="0033CC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Represents a digit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0999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Forces a leading zero to be displayed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$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$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alt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Places a floating dollar sign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477747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.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.</a:t>
                      </a:r>
                      <a:endParaRPr kumimoji="0" lang="en-US" sz="2400" kern="1200" dirty="0">
                        <a:solidFill>
                          <a:srgbClr val="0033CC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Places a decimal point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40078311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alt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Places comma, thousands indicator</a:t>
                      </a:r>
                      <a:endParaRPr kumimoji="0" lang="en-US" sz="24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43475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MI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999MI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a </a:t>
                      </a:r>
                      <a:r>
                        <a:rPr kumimoji="0" lang="en-US" sz="240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negative</a:t>
                      </a: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number with a </a:t>
                      </a:r>
                      <a:r>
                        <a:rPr kumimoji="0" lang="en-US" sz="240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trailing minus</a:t>
                      </a:r>
                      <a:r>
                        <a:rPr kumimoji="0" lang="en-US" sz="24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sign.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999PR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a </a:t>
                      </a:r>
                      <a:r>
                        <a:rPr kumimoji="0" lang="en-US" sz="200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negative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number in </a:t>
                      </a:r>
                      <a:r>
                        <a:rPr kumimoji="0" lang="en-US" sz="200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angle brackets&lt; &gt;</a:t>
                      </a:r>
                      <a:endParaRPr kumimoji="0" lang="en-US" sz="2000" kern="1200" dirty="0">
                        <a:solidFill>
                          <a:schemeClr val="dk1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V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kern="120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99V99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l" rtl="0" eaLnBrk="1" fontAlgn="b" latinLnBrk="0" hangingPunct="1">
                        <a:buNone/>
                      </a:pP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Returns value multiplied by </a:t>
                      </a:r>
                      <a:r>
                        <a:rPr kumimoji="0" lang="en-US" sz="200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10</a:t>
                      </a:r>
                      <a:r>
                        <a:rPr kumimoji="0" lang="en-US" sz="2000" kern="1200" baseline="300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n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, where </a:t>
                      </a:r>
                      <a:r>
                        <a:rPr kumimoji="0" lang="en-US" sz="200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n</a:t>
                      </a:r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 is the number of 9’s after V.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3643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50884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A222-7D83-ACB9-099F-A4B6049B7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220E01C-89B1-D7A9-688E-CF282041C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6822" y="303312"/>
            <a:ext cx="8491642" cy="5334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TO_CHAR 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 with Numbers</a:t>
            </a:r>
            <a:r>
              <a:rPr lang="en-US" altLang="en-US" sz="2000" b="1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			</a:t>
            </a:r>
            <a:endParaRPr lang="en-US" altLang="en-US" sz="2800" b="1" dirty="0">
              <a:solidFill>
                <a:srgbClr val="0033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3AD4DCE-6389-1F95-8029-3C77BDB818AE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616CA1-B8F7-39FB-5E23-A656347E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26EE33F-8B1D-6E5C-D198-71945C523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779902"/>
              </p:ext>
            </p:extLst>
          </p:nvPr>
        </p:nvGraphicFramePr>
        <p:xfrm>
          <a:off x="317277" y="942138"/>
          <a:ext cx="8611045" cy="3638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73">
                  <a:extLst>
                    <a:ext uri="{9D8B030D-6E8A-4147-A177-3AD203B41FA5}">
                      <a16:colId xmlns:a16="http://schemas.microsoft.com/office/drawing/2014/main" val="3557767118"/>
                    </a:ext>
                  </a:extLst>
                </a:gridCol>
                <a:gridCol w="4885230">
                  <a:extLst>
                    <a:ext uri="{9D8B030D-6E8A-4147-A177-3AD203B41FA5}">
                      <a16:colId xmlns:a16="http://schemas.microsoft.com/office/drawing/2014/main" val="1408540268"/>
                    </a:ext>
                  </a:extLst>
                </a:gridCol>
                <a:gridCol w="1836042">
                  <a:extLst>
                    <a:ext uri="{9D8B030D-6E8A-4147-A177-3AD203B41FA5}">
                      <a16:colId xmlns:a16="http://schemas.microsoft.com/office/drawing/2014/main" val="155044001"/>
                    </a:ext>
                  </a:extLst>
                </a:gridCol>
              </a:tblGrid>
              <a:tr h="51177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Value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Example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FFFF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Output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74825742"/>
                  </a:ext>
                </a:extLst>
              </a:tr>
              <a:tr h="568346"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TO_CHAR(value, </a:t>
                      </a:r>
                      <a:r>
                        <a:rPr kumimoji="0" lang="en-US" altLang="en-US" sz="24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‘9,999'</a:t>
                      </a: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1,234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858528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TO_CHAR(value, </a:t>
                      </a:r>
                      <a:r>
                        <a:rPr kumimoji="0" lang="en-US" altLang="en-US" sz="24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‘009999'</a:t>
                      </a: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001234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9954817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TO_CHAR(value, </a:t>
                      </a:r>
                      <a:r>
                        <a:rPr kumimoji="0" lang="en-US" altLang="en-US" sz="24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‘$9,999.99'</a:t>
                      </a: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$1,234.00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27477747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-1234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TO_CHAR(value, </a:t>
                      </a:r>
                      <a:r>
                        <a:rPr kumimoji="0" lang="en-US" altLang="en-US" sz="24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‘9999MI'</a:t>
                      </a: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1234-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62434753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-1234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TO_CHAR(value, </a:t>
                      </a:r>
                      <a:r>
                        <a:rPr kumimoji="0" lang="en-US" altLang="en-US" sz="24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‘9999MI'</a:t>
                      </a: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&lt;1234&gt;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38203879"/>
                  </a:ext>
                </a:extLst>
              </a:tr>
              <a:tr h="511774">
                <a:tc>
                  <a:txBody>
                    <a:bodyPr/>
                    <a:lstStyle/>
                    <a:p>
                      <a:pPr marL="182880" lvl="0" indent="0" algn="ctr" fontAlgn="b">
                        <a:buNone/>
                      </a:pPr>
                      <a:r>
                        <a:rPr lang="en-US" altLang="en-US" sz="2400" b="0" dirty="0">
                          <a:solidFill>
                            <a:srgbClr val="0033CC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1234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TO_CHAR(value, </a:t>
                      </a:r>
                      <a:r>
                        <a:rPr kumimoji="0" lang="en-US" altLang="en-US" sz="2400" b="0" kern="1200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‘9999V99'</a:t>
                      </a:r>
                      <a:r>
                        <a:rPr kumimoji="0" lang="en-US" alt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);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182880" lvl="0" indent="0" algn="ctr" rtl="0" eaLnBrk="1" fontAlgn="b" latinLnBrk="0" hangingPunct="1">
                        <a:buNone/>
                      </a:pPr>
                      <a:r>
                        <a:rPr kumimoji="0" lang="en-US" sz="2400" b="0" kern="1200" dirty="0">
                          <a:solidFill>
                            <a:schemeClr val="dk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123400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32682322"/>
                  </a:ext>
                </a:extLst>
              </a:tr>
            </a:tbl>
          </a:graphicData>
        </a:graphic>
      </p:graphicFrame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993AC07C-E278-AAC8-FF9D-DB30E0BF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4876097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A70E1-7B82-5575-5396-2D0A3D10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816276F-62A3-9ADD-A5AF-06893F88D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8280598" cy="533400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TO_NUMBER</a:t>
            </a:r>
            <a:r>
              <a:rPr lang="en-US" altLang="en-US" sz="2800" b="1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altLang="en-US" sz="2800" b="1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TO_DATE</a:t>
            </a:r>
            <a:r>
              <a:rPr lang="en-US" altLang="en-US" sz="2800" b="1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3618BCD-B085-EA87-2576-1C682BADD4C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BBEFA-9ABC-4D81-AF17-397A0235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78717D0-744D-DB9E-B54E-EB38EB5B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7748D67B-57EC-A0A9-C44D-9D0525F7B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764704"/>
            <a:ext cx="8394700" cy="1080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TO_NUMBER and TO_DATE functions convert a character string to a number and date respectively.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Punctuation and quoted text in the character argument must exactly match the corresponding parts of the format 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fmt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. 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4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832E99-6D32-823E-E2B7-A37B4E279E3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7584" y="1868290"/>
            <a:ext cx="7116763" cy="48260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TO_NUMBER(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'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fmt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'])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5F48A8-B780-7F9A-ACE0-64822A61298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27584" y="2530124"/>
            <a:ext cx="7078662" cy="53181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60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TO_DATE(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char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[, '</a:t>
            </a:r>
            <a:r>
              <a:rPr lang="en-US" alt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fmt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'])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F7855D-CDD3-05BD-7D06-1CAC0CBB3BB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84224" y="4290739"/>
            <a:ext cx="7596188" cy="111601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F4E53E-4AC2-428B-7D23-717DB8FDFE89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63587" y="4158977"/>
            <a:ext cx="7616825" cy="143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SQL&gt; SELECT	* from emp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2  WHERE	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hiredate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TO_DATE('Oct 20,25', '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mon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dd,yy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');</a:t>
            </a:r>
          </a:p>
        </p:txBody>
      </p:sp>
    </p:spTree>
    <p:extLst>
      <p:ext uri="{BB962C8B-B14F-4D97-AF65-F5344CB8AC3E}">
        <p14:creationId xmlns:p14="http://schemas.microsoft.com/office/powerpoint/2010/main" val="40844275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1AE8-6222-E6A1-80EE-E79692D9D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81E6245-C9F8-5717-36B0-410A69030C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8280598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General and Conditional 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3D89C9A-C067-5A8E-80DA-0F39AD157DA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9CFBD7-446C-6C19-F670-B81ECFF1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3EC45122-D462-05C6-D798-66A47A19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C835EB6C-7372-65BD-5F35-D2677D3C1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764704"/>
            <a:ext cx="8394700" cy="1080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GREATEST(</a:t>
            </a:r>
            <a:r>
              <a:rPr lang="en-US" altLang="en-US" sz="240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expr_list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LEAST(</a:t>
            </a:r>
            <a:r>
              <a:rPr lang="en-US" altLang="en-US" sz="2400" dirty="0" err="1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expr_list</a:t>
            </a: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NULLIF (expr1, expr2)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returns NULL if both expr1 and expr2 are identical.</a:t>
            </a:r>
          </a:p>
          <a:p>
            <a:pPr marL="0" indent="0" algn="just">
              <a:buSzPct val="50000"/>
              <a:buNone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SELECT </a:t>
            </a:r>
            <a:r>
              <a:rPr lang="en-US" alt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ename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, job,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NULLIF(LENGTH(</a:t>
            </a:r>
            <a:r>
              <a:rPr lang="en-US" altLang="en-US" sz="2400" dirty="0" err="1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ename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), LENGTH(job))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result  from emp;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The following two conditional functions provide IF-THEN-ELSE logic within a SQL statement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DECODE function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provides the functionality of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switch-case.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solidFill>
                  <a:srgbClr val="0000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CASE expression </a:t>
            </a: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provides the functionality of </a:t>
            </a:r>
            <a:r>
              <a:rPr lang="en-US" altLang="en-US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if-else.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0746931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B856C-08F0-1763-3A1E-986BF0BD0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F3BA96D3-78E1-88B5-1EBF-DDBECF715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8280598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Decode Function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6EDFBBD-CFC0-B4AA-1295-0072B35823E0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AC34E-882D-DBBD-356F-CD6F17BE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6722780C-99D8-484E-A883-1B83E40A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F91B26-AB77-A175-EED7-C21BD61497F2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940069"/>
            <a:ext cx="7267575" cy="10604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DECODE(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col/expression, search1, result1 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      			   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, search2, result2,...,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      			   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, default</a:t>
            </a: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])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EC4EAC2-EFB8-7528-1AF1-24C0154684A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14311" y="2217159"/>
            <a:ext cx="7292975" cy="2119313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91CE3FE-8FEC-4AA8-BB2C-9E5CEB44DE2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19074" y="4515859"/>
            <a:ext cx="7291387" cy="18510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7F7914E9-CF79-36FF-AC4B-F0B727CF361D}"/>
              </a:ext>
            </a:extLst>
          </p:cNvPr>
          <p:cNvGrpSpPr>
            <a:grpSpLocks/>
          </p:cNvGrpSpPr>
          <p:nvPr/>
        </p:nvGrpSpPr>
        <p:grpSpPr bwMode="auto">
          <a:xfrm>
            <a:off x="2373249" y="2550534"/>
            <a:ext cx="4638675" cy="3365500"/>
            <a:chOff x="1643" y="1330"/>
            <a:chExt cx="2922" cy="2120"/>
          </a:xfrm>
        </p:grpSpPr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04C13951-420C-B241-FAB7-ED51283EB25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643" y="1330"/>
              <a:ext cx="2922" cy="868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E960B1AF-EE0B-9E73-5A0B-5CEB44F99E2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370" y="2581"/>
              <a:ext cx="1327" cy="869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10" name="Rectangle 8">
            <a:extLst>
              <a:ext uri="{FF2B5EF4-FFF2-40B4-BE49-F238E27FC236}">
                <a16:creationId xmlns:a16="http://schemas.microsoft.com/office/drawing/2014/main" id="{F9482683-470B-823E-6AC0-CC648496312D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6849" y="2175884"/>
            <a:ext cx="7318375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SQL&gt; SELECT job, sal,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2         DECODE(job, 'ANALYST',  SAL*1.1,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3                     'CLERK',   SAL*1.15,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4                     'MANAGER', SAL*1.20,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5                                SAL)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6                REVISED_SALARY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7  FROM   emp;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160EA93D-800A-1474-1C0A-A30306D0C2E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723836" y="4499984"/>
            <a:ext cx="7265988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JOB             SAL REVISED_SALARY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--------- --------- --------------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PRESIDENT      5000           5000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MANAGER        2850           3420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MANAGER        2450           2940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...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14 rows selected.</a:t>
            </a:r>
          </a:p>
        </p:txBody>
      </p:sp>
    </p:spTree>
    <p:extLst>
      <p:ext uri="{BB962C8B-B14F-4D97-AF65-F5344CB8AC3E}">
        <p14:creationId xmlns:p14="http://schemas.microsoft.com/office/powerpoint/2010/main" val="7115744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851F-35A9-D21C-74D1-CCEB9EEAC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C40CBFC-F0FA-736F-468A-51672D21CF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8280598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Case Expression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353F75A-6344-B136-FFEB-CB7698AF1F38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2580B3-EDEE-ABEF-EF15-9113EBA01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6500192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0E209042-B568-A7FD-9FD5-64890FD1B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5DFE5A3-314F-0DE2-26CB-B53B156D5ED0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908720"/>
            <a:ext cx="7267575" cy="1589088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expr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WHEN </a:t>
            </a:r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comparison_expr1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THEN </a:t>
            </a:r>
            <a:r>
              <a:rPr lang="en-US" altLang="en-US" sz="1800" b="1" i="1" dirty="0">
                <a:solidFill>
                  <a:srgbClr val="0000FF"/>
                </a:solidFill>
                <a:latin typeface="Courier New" panose="02070309020205020404" pitchFamily="49" charset="0"/>
              </a:rPr>
              <a:t>return_expr1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WHEN</a:t>
            </a:r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comparison_expr2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THEN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i="1" dirty="0">
                <a:solidFill>
                  <a:srgbClr val="0000FF"/>
                </a:solidFill>
                <a:latin typeface="Courier New" panose="02070309020205020404" pitchFamily="49" charset="0"/>
              </a:rPr>
              <a:t>return_expr2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</a:t>
            </a:r>
            <a:r>
              <a:rPr lang="en-US" alt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WHEN</a:t>
            </a:r>
            <a:r>
              <a:rPr lang="en-US" altLang="en-US" sz="1800" b="1" i="1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i="1" dirty="0" err="1">
                <a:solidFill>
                  <a:srgbClr val="FF0000"/>
                </a:solidFill>
                <a:latin typeface="Courier New" panose="02070309020205020404" pitchFamily="49" charset="0"/>
              </a:rPr>
              <a:t>comparison_exprn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THEN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i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return_exprn</a:t>
            </a:r>
            <a:endParaRPr lang="en-US" altLang="en-US" sz="1800" b="1" i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ELSE </a:t>
            </a:r>
            <a:r>
              <a:rPr lang="en-US" altLang="en-US" sz="1800" b="1" i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else_expr</a:t>
            </a: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]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END</a:t>
            </a:r>
          </a:p>
        </p:txBody>
      </p:sp>
      <p:sp>
        <p:nvSpPr>
          <p:cNvPr id="13" name="Rectangle 20">
            <a:extLst>
              <a:ext uri="{FF2B5EF4-FFF2-40B4-BE49-F238E27FC236}">
                <a16:creationId xmlns:a16="http://schemas.microsoft.com/office/drawing/2014/main" id="{4A4A8ED0-31EE-CBB3-C3A2-E3E78B4AAE4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3568" y="2896270"/>
            <a:ext cx="7053263" cy="15811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4" name="Rectangle 21">
            <a:extLst>
              <a:ext uri="{FF2B5EF4-FFF2-40B4-BE49-F238E27FC236}">
                <a16:creationId xmlns:a16="http://schemas.microsoft.com/office/drawing/2014/main" id="{510DD2C5-A44F-906D-A579-E2AE3EB9D4DE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6268" y="2943895"/>
            <a:ext cx="6413500" cy="153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ename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job,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CASE job    </a:t>
            </a: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WHEN 'CLERK'  THEN  1.10*</a:t>
            </a:r>
            <a:r>
              <a:rPr lang="en-US" altLang="en-US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sal</a:t>
            </a:r>
            <a:endParaRPr lang="en-US" altLang="en-US" sz="16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              WHEN 'SALESMAN' THEN  1.15*</a:t>
            </a:r>
            <a:r>
              <a:rPr lang="en-US" altLang="en-US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sal</a:t>
            </a:r>
            <a:endParaRPr lang="en-US" altLang="en-US" sz="16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                   WHEN 'MANAGER'   THEN  1.20*</a:t>
            </a:r>
            <a:r>
              <a:rPr lang="en-US" altLang="en-US" sz="16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sal</a:t>
            </a:r>
            <a:endParaRPr lang="en-US" altLang="en-US" sz="1600" b="1" dirty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ELSE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END     "REVISED_SALARY"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   emp;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011A23EE-1024-EAB8-BC35-728196B41AB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09081" y="3207420"/>
            <a:ext cx="5668962" cy="1038225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6" name="Rectangle 20">
            <a:extLst>
              <a:ext uri="{FF2B5EF4-FFF2-40B4-BE49-F238E27FC236}">
                <a16:creationId xmlns:a16="http://schemas.microsoft.com/office/drawing/2014/main" id="{EEC5ED0B-BDC3-C3A1-E33A-384F0F0B91E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84971" y="4774016"/>
            <a:ext cx="7053263" cy="15811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2B528CCC-13CF-2091-CB55-1EAE49D0FC73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97671" y="4821641"/>
            <a:ext cx="6413500" cy="153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ename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job,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CASE WHEN SAL&lt;1500 THEN 'LOW'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     WHEN SAL&gt;=1500 AND SAL&lt;3000 THEN ‘AVG.'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       ELSE 'HIGH' END "SAL STATUS"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   emp;</a:t>
            </a: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4C985E6F-A804-299B-A281-4AE204C04B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610484" y="5229200"/>
            <a:ext cx="5667560" cy="792106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31F1EEEA-5C97-2953-F940-4A245D0871BC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35968" y="3048670"/>
            <a:ext cx="7053263" cy="1581150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B176423E-917A-E06D-87B6-C07BFFC7B00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48668" y="3096295"/>
            <a:ext cx="6413500" cy="153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ename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 job,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,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CASE job    WHEN 'CLERK'  THEN  1.10*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WHEN 'SALESMAN' THEN  1.15*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WHEN 'MANAGER'   THEN  1.20*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ELSE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END     "REVISED_SALARY"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   emp;</a:t>
            </a:r>
          </a:p>
        </p:txBody>
      </p:sp>
      <p:sp>
        <p:nvSpPr>
          <p:cNvPr id="21" name="Rectangle 25">
            <a:extLst>
              <a:ext uri="{FF2B5EF4-FFF2-40B4-BE49-F238E27FC236}">
                <a16:creationId xmlns:a16="http://schemas.microsoft.com/office/drawing/2014/main" id="{C2A4C185-D87A-025D-E597-92E4E873CFD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761481" y="3359820"/>
            <a:ext cx="5668962" cy="1038225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1806325308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9BA05-BC59-AA4F-EBF8-E28BADDF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0C6E20C-EC27-4300-DC83-10CDEA725B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31304"/>
            <a:ext cx="8280598" cy="533400"/>
          </a:xfrm>
        </p:spPr>
        <p:txBody>
          <a:bodyPr/>
          <a:lstStyle/>
          <a:p>
            <a:pPr eaLnBrk="1" hangingPunct="1"/>
            <a:r>
              <a:rPr lang="en-US" altLang="en-US" sz="2800" b="1" u="sng" dirty="0">
                <a:solidFill>
                  <a:srgbClr val="D34817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Nested Functions</a:t>
            </a:r>
            <a:endParaRPr lang="en-US" altLang="en-US" sz="2800" b="1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6B1E58F9-7B0A-2036-44D1-B5435C408E69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>
          <a:xfrm>
            <a:off x="425450" y="741784"/>
            <a:ext cx="8394700" cy="4343400"/>
          </a:xfrm>
        </p:spPr>
        <p:txBody>
          <a:bodyPr/>
          <a:lstStyle/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E30B08-7F2D-6FFB-2C41-5CA63C1B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55776" y="5805264"/>
            <a:ext cx="4876800" cy="45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Dr. Asif Sohail,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 Department of IT,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University of the Punjab, Lahore</a:t>
            </a:r>
          </a:p>
        </p:txBody>
      </p:sp>
      <p:sp>
        <p:nvSpPr>
          <p:cNvPr id="2" name="Slide Number Placeholder 23">
            <a:extLst>
              <a:ext uri="{FF2B5EF4-FFF2-40B4-BE49-F238E27FC236}">
                <a16:creationId xmlns:a16="http://schemas.microsoft.com/office/drawing/2014/main" id="{53A6F207-B219-097C-BB79-ECBB5055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59788" y="6165850"/>
            <a:ext cx="457200" cy="457200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0F9843-0372-4357-99AD-419BEB3ABF28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+mj-cs"/>
            </a:endParaRPr>
          </a:p>
        </p:txBody>
      </p:sp>
      <p:sp>
        <p:nvSpPr>
          <p:cNvPr id="31" name="Rectangle 3">
            <a:extLst>
              <a:ext uri="{FF2B5EF4-FFF2-40B4-BE49-F238E27FC236}">
                <a16:creationId xmlns:a16="http://schemas.microsoft.com/office/drawing/2014/main" id="{A5093CAD-68A2-88FE-9FBB-D197D0161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" y="764704"/>
            <a:ext cx="8394700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Single-row functions can be nested to any level.</a:t>
            </a: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r>
              <a:rPr lang="en-US" altLang="en-US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Nested functions are evaluated from deepest level to the least-deep level.</a:t>
            </a:r>
            <a:endParaRPr lang="en-US" altLang="en-US" sz="2400" dirty="0">
              <a:solidFill>
                <a:srgbClr val="0000FF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b="1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85750" indent="-285750" algn="just">
              <a:buSzPct val="50000"/>
              <a:buFont typeface="Wingdings" panose="05000000000000000000" pitchFamily="2" charset="2"/>
              <a:buChar char="l"/>
            </a:pP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228600" indent="-228600" eaLnBrk="1" hangingPunct="1"/>
            <a:endParaRPr lang="en-US" altLang="en-US" sz="2400" dirty="0"/>
          </a:p>
        </p:txBody>
      </p:sp>
      <p:sp>
        <p:nvSpPr>
          <p:cNvPr id="4" name="Freeform 2">
            <a:extLst>
              <a:ext uri="{FF2B5EF4-FFF2-40B4-BE49-F238E27FC236}">
                <a16:creationId xmlns:a16="http://schemas.microsoft.com/office/drawing/2014/main" id="{8D7D6F4E-6662-3E2F-FDEC-95D5982ECBD4}"/>
              </a:ext>
            </a:extLst>
          </p:cNvPr>
          <p:cNvSpPr>
            <a:spLocks/>
          </p:cNvSpPr>
          <p:nvPr/>
        </p:nvSpPr>
        <p:spPr bwMode="auto">
          <a:xfrm>
            <a:off x="1491456" y="2866542"/>
            <a:ext cx="5634037" cy="1543050"/>
          </a:xfrm>
          <a:custGeom>
            <a:avLst/>
            <a:gdLst>
              <a:gd name="T0" fmla="*/ 0 w 3549"/>
              <a:gd name="T1" fmla="*/ 0 h 972"/>
              <a:gd name="T2" fmla="*/ 0 w 3549"/>
              <a:gd name="T3" fmla="*/ 2147483646 h 972"/>
              <a:gd name="T4" fmla="*/ 2147483646 w 3549"/>
              <a:gd name="T5" fmla="*/ 2147483646 h 972"/>
              <a:gd name="T6" fmla="*/ 2147483646 w 3549"/>
              <a:gd name="T7" fmla="*/ 0 h 972"/>
              <a:gd name="T8" fmla="*/ 0 60000 65536"/>
              <a:gd name="T9" fmla="*/ 0 60000 65536"/>
              <a:gd name="T10" fmla="*/ 0 60000 65536"/>
              <a:gd name="T11" fmla="*/ 0 60000 65536"/>
              <a:gd name="T12" fmla="*/ 0 w 3549"/>
              <a:gd name="T13" fmla="*/ 0 h 972"/>
              <a:gd name="T14" fmla="*/ 3549 w 3549"/>
              <a:gd name="T15" fmla="*/ 972 h 9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49" h="972">
                <a:moveTo>
                  <a:pt x="0" y="0"/>
                </a:moveTo>
                <a:lnTo>
                  <a:pt x="0" y="971"/>
                </a:lnTo>
                <a:lnTo>
                  <a:pt x="3548" y="971"/>
                </a:lnTo>
                <a:lnTo>
                  <a:pt x="3548" y="0"/>
                </a:lnTo>
              </a:path>
            </a:pathLst>
          </a:custGeom>
          <a:noFill/>
          <a:ln w="50800" cap="rnd">
            <a:solidFill>
              <a:srgbClr val="FFCC00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E79BD9-B046-02B5-1CD9-3739EB054E66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21543" y="2166455"/>
            <a:ext cx="7300913" cy="681037"/>
          </a:xfrm>
          <a:prstGeom prst="rect">
            <a:avLst/>
          </a:prstGeom>
          <a:gradFill rotWithShape="0">
            <a:gsLst>
              <a:gs pos="0">
                <a:srgbClr val="0066CC"/>
              </a:gs>
              <a:gs pos="100000">
                <a:srgbClr val="005CB7"/>
              </a:gs>
            </a:gsLst>
            <a:lin ang="2700000" scaled="1"/>
          </a:gra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778A32-A9DA-D478-45C5-E8675FBC8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406" y="2334730"/>
            <a:ext cx="5286704" cy="386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ts val="2200"/>
              </a:lnSpc>
              <a:spcBef>
                <a:spcPct val="50000"/>
              </a:spcBef>
              <a:buFontTx/>
              <a:buNone/>
            </a:pPr>
            <a:r>
              <a:rPr lang="en-US" altLang="en-US" b="1">
                <a:solidFill>
                  <a:srgbClr val="FFCC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F3</a:t>
            </a:r>
            <a:r>
              <a:rPr lang="en-US" altLang="en-US" b="1">
                <a:solidFill>
                  <a:srgbClr val="8CF4E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(F2</a:t>
            </a:r>
            <a:r>
              <a:rPr lang="en-US" altLang="en-US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(F1(col,arg1)</a:t>
            </a:r>
            <a:r>
              <a:rPr lang="en-US" altLang="en-US" b="1">
                <a:solidFill>
                  <a:srgbClr val="8CF4E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,arg2)</a:t>
            </a:r>
            <a:r>
              <a:rPr lang="en-US" altLang="en-US" b="1">
                <a:solidFill>
                  <a:srgbClr val="FAFD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,</a:t>
            </a:r>
            <a:r>
              <a:rPr lang="en-US" altLang="en-US" b="1">
                <a:solidFill>
                  <a:srgbClr val="FFCC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arg3)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E215547A-0438-1EB3-D138-BD4E909E1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718" y="3009417"/>
            <a:ext cx="212224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latin typeface="Cambria" panose="02040503050406030204" pitchFamily="18" charset="0"/>
                <a:ea typeface="Cambria" panose="02040503050406030204" pitchFamily="18" charset="0"/>
              </a:rPr>
              <a:t>Step 1 = Result 1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2C18D680-F48A-3C92-11F1-559E2745F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718" y="3485667"/>
            <a:ext cx="212224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2 = Result 2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D4A58EF-8A5A-BCDD-8C32-11B10D6B6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718" y="3977792"/>
            <a:ext cx="212224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FFCC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Step 3 = Result 3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6F18046-51C7-E70A-8700-13B1CE3B381C}"/>
              </a:ext>
            </a:extLst>
          </p:cNvPr>
          <p:cNvSpPr>
            <a:spLocks/>
          </p:cNvSpPr>
          <p:nvPr/>
        </p:nvSpPr>
        <p:spPr bwMode="auto">
          <a:xfrm>
            <a:off x="2099468" y="2845905"/>
            <a:ext cx="3810000" cy="1055687"/>
          </a:xfrm>
          <a:custGeom>
            <a:avLst/>
            <a:gdLst>
              <a:gd name="T0" fmla="*/ 0 w 2400"/>
              <a:gd name="T1" fmla="*/ 0 h 665"/>
              <a:gd name="T2" fmla="*/ 0 w 2400"/>
              <a:gd name="T3" fmla="*/ 2147483646 h 665"/>
              <a:gd name="T4" fmla="*/ 2147483646 w 2400"/>
              <a:gd name="T5" fmla="*/ 2147483646 h 665"/>
              <a:gd name="T6" fmla="*/ 2147483646 w 2400"/>
              <a:gd name="T7" fmla="*/ 0 h 665"/>
              <a:gd name="T8" fmla="*/ 0 60000 65536"/>
              <a:gd name="T9" fmla="*/ 0 60000 65536"/>
              <a:gd name="T10" fmla="*/ 0 60000 65536"/>
              <a:gd name="T11" fmla="*/ 0 60000 65536"/>
              <a:gd name="T12" fmla="*/ 0 w 2400"/>
              <a:gd name="T13" fmla="*/ 0 h 665"/>
              <a:gd name="T14" fmla="*/ 2400 w 2400"/>
              <a:gd name="T15" fmla="*/ 665 h 6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00" h="665">
                <a:moveTo>
                  <a:pt x="0" y="0"/>
                </a:moveTo>
                <a:lnTo>
                  <a:pt x="0" y="664"/>
                </a:lnTo>
                <a:lnTo>
                  <a:pt x="2399" y="664"/>
                </a:lnTo>
                <a:lnTo>
                  <a:pt x="2399" y="0"/>
                </a:lnTo>
              </a:path>
            </a:pathLst>
          </a:custGeom>
          <a:noFill/>
          <a:ln w="50800" cap="rnd">
            <a:solidFill>
              <a:schemeClr val="hlink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C1BBDAF-9644-28EC-938C-EF590ED7EABC}"/>
              </a:ext>
            </a:extLst>
          </p:cNvPr>
          <p:cNvSpPr>
            <a:spLocks/>
          </p:cNvSpPr>
          <p:nvPr/>
        </p:nvSpPr>
        <p:spPr bwMode="auto">
          <a:xfrm>
            <a:off x="2564606" y="2864955"/>
            <a:ext cx="2473325" cy="569912"/>
          </a:xfrm>
          <a:custGeom>
            <a:avLst/>
            <a:gdLst>
              <a:gd name="T0" fmla="*/ 0 w 1558"/>
              <a:gd name="T1" fmla="*/ 0 h 359"/>
              <a:gd name="T2" fmla="*/ 0 w 1558"/>
              <a:gd name="T3" fmla="*/ 2147483646 h 359"/>
              <a:gd name="T4" fmla="*/ 2147483646 w 1558"/>
              <a:gd name="T5" fmla="*/ 2147483646 h 359"/>
              <a:gd name="T6" fmla="*/ 2147483646 w 1558"/>
              <a:gd name="T7" fmla="*/ 0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58"/>
              <a:gd name="T13" fmla="*/ 0 h 359"/>
              <a:gd name="T14" fmla="*/ 1558 w 1558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58" h="359">
                <a:moveTo>
                  <a:pt x="0" y="0"/>
                </a:moveTo>
                <a:lnTo>
                  <a:pt x="0" y="358"/>
                </a:lnTo>
                <a:lnTo>
                  <a:pt x="1557" y="358"/>
                </a:lnTo>
                <a:lnTo>
                  <a:pt x="1557" y="0"/>
                </a:lnTo>
              </a:path>
            </a:pathLst>
          </a:custGeom>
          <a:noFill/>
          <a:ln w="50800" cap="rnd">
            <a:solidFill>
              <a:schemeClr val="accent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9B0F387-42CC-D538-274D-104AFB824BF8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78071" y="4539010"/>
            <a:ext cx="7288213" cy="1211262"/>
          </a:xfrm>
          <a:prstGeom prst="rect">
            <a:avLst/>
          </a:prstGeom>
          <a:solidFill>
            <a:srgbClr val="FFFFCC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15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80028CB-7660-9B4B-706F-7469BB4AD97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78071" y="5828581"/>
            <a:ext cx="7288213" cy="860425"/>
          </a:xfrm>
          <a:prstGeom prst="rect">
            <a:avLst/>
          </a:prstGeom>
          <a:solidFill>
            <a:srgbClr val="DDDDDD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89803" dir="2700000" algn="ctr" rotWithShape="0">
              <a:srgbClr val="000000">
                <a:alpha val="50000"/>
              </a:srgbClr>
            </a:outerShdw>
          </a:effec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866BAC08-F134-D36E-0D50-742FB2A94EC8}"/>
              </a:ext>
            </a:extLst>
          </p:cNvPr>
          <p:cNvGrpSpPr>
            <a:grpSpLocks/>
          </p:cNvGrpSpPr>
          <p:nvPr/>
        </p:nvGrpSpPr>
        <p:grpSpPr bwMode="auto">
          <a:xfrm>
            <a:off x="2444934" y="4797152"/>
            <a:ext cx="4545012" cy="1868487"/>
            <a:chOff x="1585" y="1487"/>
            <a:chExt cx="2863" cy="1177"/>
          </a:xfrm>
        </p:grpSpPr>
        <p:sp>
          <p:nvSpPr>
            <p:cNvPr id="15" name="Rectangle 6">
              <a:extLst>
                <a:ext uri="{FF2B5EF4-FFF2-40B4-BE49-F238E27FC236}">
                  <a16:creationId xmlns:a16="http://schemas.microsoft.com/office/drawing/2014/main" id="{AA4F3695-037A-4876-B0CE-257AC3776BE4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801" y="1487"/>
              <a:ext cx="2647" cy="233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97C36449-01F0-E3EC-A870-AB839E6FC70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1585" y="2463"/>
              <a:ext cx="2583" cy="201"/>
            </a:xfrm>
            <a:prstGeom prst="rect">
              <a:avLst/>
            </a:prstGeom>
            <a:solidFill>
              <a:srgbClr val="FF5050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</p:grpSp>
      <p:sp>
        <p:nvSpPr>
          <p:cNvPr id="17" name="Rectangle 8">
            <a:extLst>
              <a:ext uri="{FF2B5EF4-FFF2-40B4-BE49-F238E27FC236}">
                <a16:creationId xmlns:a16="http://schemas.microsoft.com/office/drawing/2014/main" id="{26300C53-EA86-7891-4858-97C4CF944BEF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65371" y="4412010"/>
            <a:ext cx="7313613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/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SQL&gt; SELECT	ename,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2	     NVL(TO_CHAR(mgr),'No Manager')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3  FROM	emp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  4  WHERE	mgr IS NULL;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EB6A8F6B-6107-97D4-EDC2-73F95E73B9D5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890771" y="5841281"/>
            <a:ext cx="7262813" cy="83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2001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2001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2001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ENAME      NVL(TO_CHAR(MGR),'NOMANAGER')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---------- -----------------------------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Courier New" panose="02070309020205020404" pitchFamily="49" charset="0"/>
              </a:rPr>
              <a:t>KING       No Manager</a:t>
            </a:r>
          </a:p>
        </p:txBody>
      </p:sp>
    </p:spTree>
    <p:extLst>
      <p:ext uri="{BB962C8B-B14F-4D97-AF65-F5344CB8AC3E}">
        <p14:creationId xmlns:p14="http://schemas.microsoft.com/office/powerpoint/2010/main" val="3724762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ty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Overload Protection</Template>
  <TotalTime>32586</TotalTime>
  <Words>2886</Words>
  <Application>Microsoft Office PowerPoint</Application>
  <PresentationFormat>On-screen Show (4:3)</PresentationFormat>
  <Paragraphs>669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9" baseType="lpstr">
      <vt:lpstr>Arial</vt:lpstr>
      <vt:lpstr>Arial Black</vt:lpstr>
      <vt:lpstr>Cambria</vt:lpstr>
      <vt:lpstr>Courier New</vt:lpstr>
      <vt:lpstr>Franklin Gothic Book</vt:lpstr>
      <vt:lpstr>Perpetua</vt:lpstr>
      <vt:lpstr>Tahoma</vt:lpstr>
      <vt:lpstr>Times New Roman</vt:lpstr>
      <vt:lpstr>Wingdings</vt:lpstr>
      <vt:lpstr>Wingdings 2</vt:lpstr>
      <vt:lpstr>Equity</vt:lpstr>
      <vt:lpstr>CC-215-L Database Systems Lab</vt:lpstr>
      <vt:lpstr>  SQL Functions</vt:lpstr>
      <vt:lpstr>  Single Row Functions</vt:lpstr>
      <vt:lpstr>  Single Row Functions</vt:lpstr>
      <vt:lpstr>  Character Functions</vt:lpstr>
      <vt:lpstr>  Character Functions</vt:lpstr>
      <vt:lpstr>  Character Functions</vt:lpstr>
      <vt:lpstr>  Character Functions</vt:lpstr>
      <vt:lpstr>Number Functions</vt:lpstr>
      <vt:lpstr>  Number Functions</vt:lpstr>
      <vt:lpstr>Number Functions</vt:lpstr>
      <vt:lpstr>Using the MOD Function</vt:lpstr>
      <vt:lpstr>Number Functions</vt:lpstr>
      <vt:lpstr>  Working with Dates</vt:lpstr>
      <vt:lpstr>  Arithmetic with Dates</vt:lpstr>
      <vt:lpstr>  Arithmetic with Dates</vt:lpstr>
      <vt:lpstr>Date Functions</vt:lpstr>
      <vt:lpstr>Date Functions    Sysdate = '09/23/25'</vt:lpstr>
      <vt:lpstr>Conversion Functions</vt:lpstr>
      <vt:lpstr>TO_CHAR Function with Dates</vt:lpstr>
      <vt:lpstr>TO_CHAR Function with Dates    </vt:lpstr>
      <vt:lpstr>TO_CHAR Function with Numbers</vt:lpstr>
      <vt:lpstr>TO_CHAR Function with Numbers    </vt:lpstr>
      <vt:lpstr>TO_NUMBER and TO_DATE Functions</vt:lpstr>
      <vt:lpstr>General and Conditional Functions</vt:lpstr>
      <vt:lpstr>Decode Function</vt:lpstr>
      <vt:lpstr>Case Expression</vt:lpstr>
      <vt:lpstr>Nested Functions</vt:lpstr>
    </vt:vector>
  </TitlesOfParts>
  <Company>TU - Wien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Analytical Model for Performance Measurement of Queueing Systems</dc:title>
  <dc:creator>ssarwar</dc:creator>
  <cp:lastModifiedBy>Dr.Asif Sohail</cp:lastModifiedBy>
  <cp:revision>791</cp:revision>
  <dcterms:created xsi:type="dcterms:W3CDTF">2006-05-17T12:38:56Z</dcterms:created>
  <dcterms:modified xsi:type="dcterms:W3CDTF">2025-10-01T08:09:23Z</dcterms:modified>
</cp:coreProperties>
</file>