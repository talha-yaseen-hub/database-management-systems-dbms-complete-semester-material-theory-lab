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heme/themeOverride2.xml" ContentType="application/vnd.openxmlformats-officedocument.themeOverr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 id="2147483662" r:id="rId2"/>
  </p:sldMasterIdLst>
  <p:notesMasterIdLst>
    <p:notesMasterId r:id="rId29"/>
  </p:notesMasterIdLst>
  <p:handoutMasterIdLst>
    <p:handoutMasterId r:id="rId30"/>
  </p:handoutMasterIdLst>
  <p:sldIdLst>
    <p:sldId id="435" r:id="rId3"/>
    <p:sldId id="443" r:id="rId4"/>
    <p:sldId id="442" r:id="rId5"/>
    <p:sldId id="449" r:id="rId6"/>
    <p:sldId id="448" r:id="rId7"/>
    <p:sldId id="374" r:id="rId8"/>
    <p:sldId id="375" r:id="rId9"/>
    <p:sldId id="376" r:id="rId10"/>
    <p:sldId id="377" r:id="rId11"/>
    <p:sldId id="378" r:id="rId12"/>
    <p:sldId id="379" r:id="rId13"/>
    <p:sldId id="391" r:id="rId14"/>
    <p:sldId id="393" r:id="rId15"/>
    <p:sldId id="380" r:id="rId16"/>
    <p:sldId id="381" r:id="rId17"/>
    <p:sldId id="382" r:id="rId18"/>
    <p:sldId id="383" r:id="rId19"/>
    <p:sldId id="392" r:id="rId20"/>
    <p:sldId id="384" r:id="rId21"/>
    <p:sldId id="389" r:id="rId22"/>
    <p:sldId id="444" r:id="rId23"/>
    <p:sldId id="445" r:id="rId24"/>
    <p:sldId id="446" r:id="rId25"/>
    <p:sldId id="447" r:id="rId26"/>
    <p:sldId id="390" r:id="rId27"/>
    <p:sldId id="341" r:id="rId28"/>
  </p:sldIdLst>
  <p:sldSz cx="9144000" cy="6858000" type="screen4x3"/>
  <p:notesSz cx="6858000" cy="9296400"/>
  <p:defaultTextStyle>
    <a:defPPr>
      <a:defRPr lang="de-AT"/>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6600"/>
    <a:srgbClr val="FFFF66"/>
    <a:srgbClr val="FF0000"/>
    <a:srgbClr val="00FF00"/>
    <a:srgbClr val="FFFFCC"/>
    <a:srgbClr val="99CCFF"/>
    <a:srgbClr val="3399FF"/>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868" autoAdjust="0"/>
    <p:restoredTop sz="85572" autoAdjust="0"/>
  </p:normalViewPr>
  <p:slideViewPr>
    <p:cSldViewPr>
      <p:cViewPr varScale="1">
        <p:scale>
          <a:sx n="83" d="100"/>
          <a:sy n="83" d="100"/>
        </p:scale>
        <p:origin x="1502"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45C0B04E-1945-7584-1321-225E1FC25B4B}"/>
              </a:ext>
            </a:extLst>
          </p:cNvPr>
          <p:cNvSpPr>
            <a:spLocks noGrp="1" noChangeArrowheads="1"/>
          </p:cNvSpPr>
          <p:nvPr>
            <p:ph type="hdr" sz="quarter"/>
          </p:nvPr>
        </p:nvSpPr>
        <p:spPr bwMode="auto">
          <a:xfrm>
            <a:off x="0"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7" name="Rectangle 3">
            <a:extLst>
              <a:ext uri="{FF2B5EF4-FFF2-40B4-BE49-F238E27FC236}">
                <a16:creationId xmlns:a16="http://schemas.microsoft.com/office/drawing/2014/main" id="{51BF5949-1727-2D8B-D369-F2CFBDBEC82B}"/>
              </a:ext>
            </a:extLst>
          </p:cNvPr>
          <p:cNvSpPr>
            <a:spLocks noGrp="1" noChangeArrowheads="1"/>
          </p:cNvSpPr>
          <p:nvPr>
            <p:ph type="dt" sz="quarter" idx="1"/>
          </p:nvPr>
        </p:nvSpPr>
        <p:spPr bwMode="auto">
          <a:xfrm>
            <a:off x="3884613" y="0"/>
            <a:ext cx="2973387"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en-GB"/>
          </a:p>
        </p:txBody>
      </p:sp>
      <p:sp>
        <p:nvSpPr>
          <p:cNvPr id="159748" name="Rectangle 4">
            <a:extLst>
              <a:ext uri="{FF2B5EF4-FFF2-40B4-BE49-F238E27FC236}">
                <a16:creationId xmlns:a16="http://schemas.microsoft.com/office/drawing/2014/main" id="{F65DA1C5-5301-132F-CE98-DD0986A4C7D2}"/>
              </a:ext>
            </a:extLst>
          </p:cNvPr>
          <p:cNvSpPr>
            <a:spLocks noGrp="1" noChangeArrowheads="1"/>
          </p:cNvSpPr>
          <p:nvPr>
            <p:ph type="ftr" sz="quarter" idx="2"/>
          </p:nvPr>
        </p:nvSpPr>
        <p:spPr bwMode="auto">
          <a:xfrm>
            <a:off x="0" y="8831263"/>
            <a:ext cx="2973388" cy="465137"/>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9" name="Rectangle 5">
            <a:extLst>
              <a:ext uri="{FF2B5EF4-FFF2-40B4-BE49-F238E27FC236}">
                <a16:creationId xmlns:a16="http://schemas.microsoft.com/office/drawing/2014/main" id="{B307F33D-3BC1-A3A7-AE0E-32286A13B7AB}"/>
              </a:ext>
            </a:extLst>
          </p:cNvPr>
          <p:cNvSpPr>
            <a:spLocks noGrp="1" noChangeArrowheads="1"/>
          </p:cNvSpPr>
          <p:nvPr>
            <p:ph type="sldNum" sz="quarter" idx="3"/>
          </p:nvPr>
        </p:nvSpPr>
        <p:spPr bwMode="auto">
          <a:xfrm>
            <a:off x="3884613" y="8831263"/>
            <a:ext cx="2973387" cy="465137"/>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a:lvl1pPr>
          </a:lstStyle>
          <a:p>
            <a:pPr>
              <a:defRPr/>
            </a:pPr>
            <a:fld id="{BCE5AE36-3159-46F4-A36D-9FD0A5233F4F}" type="slidenum">
              <a:rPr lang="en-GB" altLang="en-US"/>
              <a:pPr>
                <a:defRPr/>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0CBB31C-024A-E1D8-144D-B8B3EBA89E5F}"/>
              </a:ext>
            </a:extLst>
          </p:cNvPr>
          <p:cNvSpPr>
            <a:spLocks noGrp="1" noChangeArrowheads="1"/>
          </p:cNvSpPr>
          <p:nvPr>
            <p:ph type="hdr" sz="quarter"/>
          </p:nvPr>
        </p:nvSpPr>
        <p:spPr bwMode="auto">
          <a:xfrm>
            <a:off x="0"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47" name="Rectangle 3">
            <a:extLst>
              <a:ext uri="{FF2B5EF4-FFF2-40B4-BE49-F238E27FC236}">
                <a16:creationId xmlns:a16="http://schemas.microsoft.com/office/drawing/2014/main" id="{104BE85C-6F64-A57A-36A6-6C27C716EA76}"/>
              </a:ext>
            </a:extLst>
          </p:cNvPr>
          <p:cNvSpPr>
            <a:spLocks noGrp="1" noChangeArrowheads="1"/>
          </p:cNvSpPr>
          <p:nvPr>
            <p:ph type="dt" idx="1"/>
          </p:nvPr>
        </p:nvSpPr>
        <p:spPr bwMode="auto">
          <a:xfrm>
            <a:off x="3883025"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de-AT"/>
          </a:p>
        </p:txBody>
      </p:sp>
      <p:sp>
        <p:nvSpPr>
          <p:cNvPr id="2052" name="Rectangle 4">
            <a:extLst>
              <a:ext uri="{FF2B5EF4-FFF2-40B4-BE49-F238E27FC236}">
                <a16:creationId xmlns:a16="http://schemas.microsoft.com/office/drawing/2014/main" id="{5778A548-EEA1-E6D5-3861-3A2D434F68EE}"/>
              </a:ext>
            </a:extLst>
          </p:cNvPr>
          <p:cNvSpPr>
            <a:spLocks noGrp="1" noRot="1" noChangeAspect="1" noChangeArrowheads="1" noTextEdit="1"/>
          </p:cNvSpPr>
          <p:nvPr>
            <p:ph type="sldImg" idx="2"/>
          </p:nvPr>
        </p:nvSpPr>
        <p:spPr bwMode="auto">
          <a:xfrm>
            <a:off x="11049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CA546DD7-6BEE-74E5-B95F-2AC9B15B6AF2}"/>
              </a:ext>
            </a:extLst>
          </p:cNvPr>
          <p:cNvSpPr>
            <a:spLocks noGrp="1" noChangeArrowheads="1"/>
          </p:cNvSpPr>
          <p:nvPr>
            <p:ph type="body" sz="quarter" idx="3"/>
          </p:nvPr>
        </p:nvSpPr>
        <p:spPr bwMode="auto">
          <a:xfrm>
            <a:off x="685800" y="4416425"/>
            <a:ext cx="5486400" cy="41830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p>
            <a:pPr lvl="0"/>
            <a:r>
              <a:rPr lang="de-AT" noProof="0"/>
              <a:t>Click to edit Master text styles</a:t>
            </a:r>
          </a:p>
          <a:p>
            <a:pPr lvl="1"/>
            <a:r>
              <a:rPr lang="de-AT" noProof="0"/>
              <a:t>Second level</a:t>
            </a:r>
          </a:p>
          <a:p>
            <a:pPr lvl="2"/>
            <a:r>
              <a:rPr lang="de-AT" noProof="0"/>
              <a:t>Third level</a:t>
            </a:r>
          </a:p>
          <a:p>
            <a:pPr lvl="3"/>
            <a:r>
              <a:rPr lang="de-AT" noProof="0"/>
              <a:t>Fourth level</a:t>
            </a:r>
          </a:p>
          <a:p>
            <a:pPr lvl="4"/>
            <a:r>
              <a:rPr lang="de-AT" noProof="0"/>
              <a:t>Fifth level</a:t>
            </a:r>
          </a:p>
        </p:txBody>
      </p:sp>
      <p:sp>
        <p:nvSpPr>
          <p:cNvPr id="6150" name="Rectangle 6">
            <a:extLst>
              <a:ext uri="{FF2B5EF4-FFF2-40B4-BE49-F238E27FC236}">
                <a16:creationId xmlns:a16="http://schemas.microsoft.com/office/drawing/2014/main" id="{82D0D041-1B0C-9B08-4AF7-BE3F6FD6D5B0}"/>
              </a:ext>
            </a:extLst>
          </p:cNvPr>
          <p:cNvSpPr>
            <a:spLocks noGrp="1" noChangeArrowheads="1"/>
          </p:cNvSpPr>
          <p:nvPr>
            <p:ph type="ftr" sz="quarter" idx="4"/>
          </p:nvPr>
        </p:nvSpPr>
        <p:spPr bwMode="auto">
          <a:xfrm>
            <a:off x="0" y="8829675"/>
            <a:ext cx="2973388" cy="465138"/>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51" name="Rectangle 7">
            <a:extLst>
              <a:ext uri="{FF2B5EF4-FFF2-40B4-BE49-F238E27FC236}">
                <a16:creationId xmlns:a16="http://schemas.microsoft.com/office/drawing/2014/main" id="{C513EABD-320A-7E97-EC42-D6A8F66D5E49}"/>
              </a:ext>
            </a:extLst>
          </p:cNvPr>
          <p:cNvSpPr>
            <a:spLocks noGrp="1" noChangeArrowheads="1"/>
          </p:cNvSpPr>
          <p:nvPr>
            <p:ph type="sldNum" sz="quarter" idx="5"/>
          </p:nvPr>
        </p:nvSpPr>
        <p:spPr bwMode="auto">
          <a:xfrm>
            <a:off x="3883025" y="8829675"/>
            <a:ext cx="2973388" cy="465138"/>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a:lvl1pPr>
          </a:lstStyle>
          <a:p>
            <a:pPr>
              <a:defRPr/>
            </a:pPr>
            <a:fld id="{EDC64C79-DB1F-4E34-8067-248E078E98F6}" type="slidenum">
              <a:rPr lang="de-AT" altLang="en-US"/>
              <a:pPr>
                <a:defRPr/>
              </a:pPr>
              <a:t>‹#›</a:t>
            </a:fld>
            <a:endParaRPr lang="de-AT"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 Target="../slides/slide7.xml"/><Relationship Id="rId1" Type="http://schemas.openxmlformats.org/officeDocument/2006/relationships/notesMaster" Target="../notesMasters/notesMaster1.xml"/><Relationship Id="rId4" Type="http://schemas.openxmlformats.org/officeDocument/2006/relationships/image" Target="../media/image4.wmf"/></Relationships>
</file>

<file path=ppt/notesSlides/_rels/note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image" Target="../media/image5.wmf"/></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 Target="../slides/slide17.xml"/><Relationship Id="rId1" Type="http://schemas.openxmlformats.org/officeDocument/2006/relationships/notesMaster" Target="../notesMasters/notesMaster1.xml"/><Relationship Id="rId4" Type="http://schemas.openxmlformats.org/officeDocument/2006/relationships/image" Target="../media/image6.wmf"/></Relationships>
</file>

<file path=ppt/notesSlides/_rels/notesSlide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 Target="../slides/slide18.xml"/><Relationship Id="rId1" Type="http://schemas.openxmlformats.org/officeDocument/2006/relationships/notesMaster" Target="../notesMasters/notesMaster1.xml"/><Relationship Id="rId4" Type="http://schemas.openxmlformats.org/officeDocument/2006/relationships/image" Target="../media/image6.wmf"/></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5FDFF-64AB-7B3D-EF50-F1C201F9F2B7}"/>
            </a:ext>
          </a:extLst>
        </p:cNvPr>
        <p:cNvGrpSpPr/>
        <p:nvPr/>
      </p:nvGrpSpPr>
      <p:grpSpPr>
        <a:xfrm>
          <a:off x="0" y="0"/>
          <a:ext cx="0" cy="0"/>
          <a:chOff x="0" y="0"/>
          <a:chExt cx="0" cy="0"/>
        </a:xfrm>
      </p:grpSpPr>
      <p:sp>
        <p:nvSpPr>
          <p:cNvPr id="8194" name="Rectangle 2">
            <a:extLst>
              <a:ext uri="{FF2B5EF4-FFF2-40B4-BE49-F238E27FC236}">
                <a16:creationId xmlns:a16="http://schemas.microsoft.com/office/drawing/2014/main" id="{AA840CD9-785A-988D-2AF8-A6BE9887D9D1}"/>
              </a:ext>
            </a:extLst>
          </p:cNvPr>
          <p:cNvSpPr>
            <a:spLocks noGrp="1" noRot="1" noChangeAspect="1" noChangeArrowheads="1" noTextEdit="1"/>
          </p:cNvSpPr>
          <p:nvPr>
            <p:ph type="sldImg"/>
          </p:nvPr>
        </p:nvSpPr>
        <p:spPr>
          <a:xfrm>
            <a:off x="434975" y="155575"/>
            <a:ext cx="5983288" cy="4487863"/>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195" name="Rectangle 3">
            <a:extLst>
              <a:ext uri="{FF2B5EF4-FFF2-40B4-BE49-F238E27FC236}">
                <a16:creationId xmlns:a16="http://schemas.microsoft.com/office/drawing/2014/main" id="{43D024EA-6847-ADB7-AB84-8ED37CA363B1}"/>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3272" tIns="46636" rIns="93272" bIns="46636"/>
          <a:lstStyle/>
          <a:p>
            <a:r>
              <a:rPr lang="en-US" altLang="en-US">
                <a:latin typeface="Arial" panose="020B0604020202020204" pitchFamily="34" charset="0"/>
              </a:rPr>
              <a:t>Limiting Rows Using a Selection</a:t>
            </a:r>
          </a:p>
          <a:p>
            <a:pPr lvl="1"/>
            <a:r>
              <a:rPr lang="en-US" altLang="en-US">
                <a:solidFill>
                  <a:srgbClr val="000000"/>
                </a:solidFill>
                <a:latin typeface="Arial" panose="020B0604020202020204" pitchFamily="34" charset="0"/>
              </a:rPr>
              <a:t>In the example on the slide, assume that you want to display all the employees in department 10. The highlighted set of rows with a value of 10 in DEPTNO column are the only ones returned. This method of restriction is the basis of the WHERE clause in SQL.</a:t>
            </a:r>
          </a:p>
          <a:p>
            <a:endParaRPr lang="en-US" altLang="en-US">
              <a:solidFill>
                <a:schemeClr val="accent1"/>
              </a:solidFill>
              <a:latin typeface="Arial" panose="020B0604020202020204" pitchFamily="34" charset="0"/>
            </a:endParaRPr>
          </a:p>
          <a:p>
            <a:endParaRPr lang="en-US" altLang="en-US">
              <a:solidFill>
                <a:schemeClr val="accent1"/>
              </a:solidFill>
              <a:latin typeface="Arial" panose="020B0604020202020204" pitchFamily="34" charset="0"/>
            </a:endParaRPr>
          </a:p>
        </p:txBody>
      </p:sp>
    </p:spTree>
    <p:extLst>
      <p:ext uri="{BB962C8B-B14F-4D97-AF65-F5344CB8AC3E}">
        <p14:creationId xmlns:p14="http://schemas.microsoft.com/office/powerpoint/2010/main" val="15727366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BA5BDCF9-3835-8236-D551-BEE981B7B589}"/>
              </a:ext>
            </a:extLst>
          </p:cNvPr>
          <p:cNvSpPr>
            <a:spLocks noGrp="1" noRot="1" noChangeAspect="1" noChangeArrowheads="1" noTextEdit="1"/>
          </p:cNvSpPr>
          <p:nvPr>
            <p:ph type="sldImg"/>
          </p:nvPr>
        </p:nvSpPr>
        <p:spPr>
          <a:xfrm>
            <a:off x="434975" y="155575"/>
            <a:ext cx="5983288" cy="4487863"/>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6387" name="Rectangle 3">
            <a:extLst>
              <a:ext uri="{FF2B5EF4-FFF2-40B4-BE49-F238E27FC236}">
                <a16:creationId xmlns:a16="http://schemas.microsoft.com/office/drawing/2014/main" id="{AFA60726-5868-E283-8F1E-367D8E50E805}"/>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3272" tIns="46636" rIns="93272" bIns="46636"/>
          <a:lstStyle/>
          <a:p>
            <a:r>
              <a:rPr lang="en-US" altLang="en-US">
                <a:latin typeface="Arial" panose="020B0604020202020204" pitchFamily="34" charset="0"/>
              </a:rPr>
              <a:t>Logical Operators</a:t>
            </a:r>
          </a:p>
          <a:p>
            <a:pPr lvl="1"/>
            <a:r>
              <a:rPr lang="en-US" altLang="en-US">
                <a:latin typeface="Arial" panose="020B0604020202020204" pitchFamily="34" charset="0"/>
              </a:rPr>
              <a:t>A logical operator combines the result of two component conditions to produce a single result based on them or to invert the result of a single condition. Three </a:t>
            </a:r>
            <a:r>
              <a:rPr lang="en-US" altLang="en-US">
                <a:solidFill>
                  <a:srgbClr val="FC0128"/>
                </a:solidFill>
                <a:latin typeface="Arial" panose="020B0604020202020204" pitchFamily="34" charset="0"/>
              </a:rPr>
              <a:t>logical operators </a:t>
            </a:r>
            <a:r>
              <a:rPr lang="en-US" altLang="en-US">
                <a:latin typeface="Arial" panose="020B0604020202020204" pitchFamily="34" charset="0"/>
              </a:rPr>
              <a:t>are available in SQL:</a:t>
            </a:r>
          </a:p>
          <a:p>
            <a:pPr lvl="2"/>
            <a:r>
              <a:rPr lang="en-US" altLang="en-US">
                <a:latin typeface="Arial" panose="020B0604020202020204" pitchFamily="34" charset="0"/>
              </a:rPr>
              <a:t>AND</a:t>
            </a:r>
          </a:p>
          <a:p>
            <a:pPr lvl="2"/>
            <a:r>
              <a:rPr lang="en-US" altLang="en-US">
                <a:latin typeface="Arial" panose="020B0604020202020204" pitchFamily="34" charset="0"/>
              </a:rPr>
              <a:t>OR</a:t>
            </a:r>
          </a:p>
          <a:p>
            <a:pPr lvl="2"/>
            <a:r>
              <a:rPr lang="en-US" altLang="en-US">
                <a:latin typeface="Arial" panose="020B0604020202020204" pitchFamily="34" charset="0"/>
              </a:rPr>
              <a:t>NOT</a:t>
            </a:r>
          </a:p>
          <a:p>
            <a:pPr lvl="1"/>
            <a:r>
              <a:rPr lang="en-US" altLang="en-US">
                <a:solidFill>
                  <a:srgbClr val="000000"/>
                </a:solidFill>
                <a:latin typeface="Arial" panose="020B0604020202020204" pitchFamily="34" charset="0"/>
              </a:rPr>
              <a:t>All the examples so far have specified only one condition in the WHERE clause. You can use several conditions in one WHERE clause using the AND and OR operators.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E89C3DED-2798-D717-B7B0-DA3307387C4D}"/>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3272" tIns="46636" rIns="93272" bIns="46636"/>
          <a:lstStyle/>
          <a:p>
            <a:pPr defTabSz="401638"/>
            <a:r>
              <a:rPr lang="en-US" altLang="en-US">
                <a:latin typeface="Arial" panose="020B0604020202020204" pitchFamily="34" charset="0"/>
              </a:rPr>
              <a:t>The AND Operator</a:t>
            </a:r>
          </a:p>
          <a:p>
            <a:pPr marL="114300" lvl="1" defTabSz="401638"/>
            <a:r>
              <a:rPr lang="en-US" altLang="en-US">
                <a:solidFill>
                  <a:srgbClr val="000000"/>
                </a:solidFill>
                <a:latin typeface="Arial" panose="020B0604020202020204" pitchFamily="34" charset="0"/>
              </a:rPr>
              <a:t>In the example, both conditions must be true for any record to be selected. Therefore, an employee who has a job title of CLERK </a:t>
            </a:r>
            <a:r>
              <a:rPr lang="en-US" altLang="en-US" i="1">
                <a:solidFill>
                  <a:srgbClr val="000000"/>
                </a:solidFill>
                <a:latin typeface="Arial" panose="020B0604020202020204" pitchFamily="34" charset="0"/>
              </a:rPr>
              <a:t>and</a:t>
            </a:r>
            <a:r>
              <a:rPr lang="en-US" altLang="en-US">
                <a:solidFill>
                  <a:srgbClr val="000000"/>
                </a:solidFill>
                <a:latin typeface="Arial" panose="020B0604020202020204" pitchFamily="34" charset="0"/>
              </a:rPr>
              <a:t> earns more than $1100 will be selected.</a:t>
            </a:r>
          </a:p>
          <a:p>
            <a:pPr marL="114300" lvl="1" defTabSz="401638"/>
            <a:r>
              <a:rPr lang="en-US" altLang="en-US">
                <a:solidFill>
                  <a:srgbClr val="000000"/>
                </a:solidFill>
                <a:latin typeface="Arial" panose="020B0604020202020204" pitchFamily="34" charset="0"/>
              </a:rPr>
              <a:t>All character searches are case sensitive. No rows are returned if CLERK is not in uppercase. Character strings must be enclosed in quotation marks.</a:t>
            </a:r>
          </a:p>
          <a:p>
            <a:pPr defTabSz="401638"/>
            <a:r>
              <a:rPr lang="en-US" altLang="en-US">
                <a:latin typeface="Arial" panose="020B0604020202020204" pitchFamily="34" charset="0"/>
              </a:rPr>
              <a:t>AND Truth Table</a:t>
            </a:r>
          </a:p>
          <a:p>
            <a:pPr marL="114300" lvl="1" defTabSz="401638"/>
            <a:r>
              <a:rPr lang="en-US" altLang="en-US">
                <a:latin typeface="Arial" panose="020B0604020202020204" pitchFamily="34" charset="0"/>
              </a:rPr>
              <a:t>The following table shows the results of combining two expressions with AND:</a:t>
            </a:r>
          </a:p>
          <a:p>
            <a:pPr marL="114300" lvl="1" defTabSz="401638"/>
            <a:endParaRPr lang="en-US" altLang="en-US">
              <a:latin typeface="Arial" panose="020B0604020202020204" pitchFamily="34" charset="0"/>
            </a:endParaRPr>
          </a:p>
          <a:p>
            <a:pPr marL="114300" lvl="1" defTabSz="401638"/>
            <a:endParaRPr lang="en-US" altLang="en-US">
              <a:latin typeface="Arial" panose="020B0604020202020204" pitchFamily="34" charset="0"/>
            </a:endParaRPr>
          </a:p>
          <a:p>
            <a:pPr marL="114300" lvl="1" defTabSz="401638"/>
            <a:endParaRPr lang="en-US" altLang="en-US">
              <a:latin typeface="Arial" panose="020B0604020202020204" pitchFamily="34" charset="0"/>
            </a:endParaRPr>
          </a:p>
          <a:p>
            <a:pPr marL="114300" lvl="1" defTabSz="401638"/>
            <a:endParaRPr lang="en-US" altLang="en-US">
              <a:latin typeface="Arial" panose="020B0604020202020204" pitchFamily="34" charset="0"/>
            </a:endParaRPr>
          </a:p>
          <a:p>
            <a:pPr marL="114300" lvl="1" defTabSz="401638"/>
            <a:endParaRPr lang="en-US" altLang="en-US">
              <a:latin typeface="Arial" panose="020B0604020202020204" pitchFamily="34" charset="0"/>
            </a:endParaRPr>
          </a:p>
          <a:p>
            <a:pPr marL="114300" lvl="1" defTabSz="401638"/>
            <a:endParaRPr lang="en-US" altLang="en-US">
              <a:latin typeface="Arial" panose="020B0604020202020204" pitchFamily="34" charset="0"/>
            </a:endParaRPr>
          </a:p>
          <a:p>
            <a:pPr marL="114300" lvl="1" defTabSz="401638"/>
            <a:endParaRPr lang="en-US" altLang="en-US">
              <a:latin typeface="Arial" panose="020B0604020202020204" pitchFamily="34" charset="0"/>
            </a:endParaRPr>
          </a:p>
          <a:p>
            <a:pPr defTabSz="401638"/>
            <a:r>
              <a:rPr lang="en-US" altLang="en-US">
                <a:solidFill>
                  <a:schemeClr val="accent2"/>
                </a:solidFill>
                <a:latin typeface="Arial" panose="020B0604020202020204" pitchFamily="34" charset="0"/>
              </a:rPr>
              <a:t>Class Management Note</a:t>
            </a:r>
          </a:p>
          <a:p>
            <a:pPr marL="114300" lvl="1" defTabSz="401638"/>
            <a:r>
              <a:rPr lang="en-US" altLang="en-US">
                <a:solidFill>
                  <a:schemeClr val="accent2"/>
                </a:solidFill>
                <a:latin typeface="Arial" panose="020B0604020202020204" pitchFamily="34" charset="0"/>
              </a:rPr>
              <a:t>Demo: </a:t>
            </a:r>
            <a:r>
              <a:rPr lang="en-US" altLang="en-US" i="1">
                <a:solidFill>
                  <a:schemeClr val="accent2"/>
                </a:solidFill>
                <a:latin typeface="Arial" panose="020B0604020202020204" pitchFamily="34" charset="0"/>
              </a:rPr>
              <a:t>l2and.sql</a:t>
            </a:r>
          </a:p>
          <a:p>
            <a:pPr marL="114300" lvl="1" defTabSz="401638"/>
            <a:r>
              <a:rPr lang="en-US" altLang="en-US">
                <a:solidFill>
                  <a:schemeClr val="accent2"/>
                </a:solidFill>
                <a:latin typeface="Arial" panose="020B0604020202020204" pitchFamily="34" charset="0"/>
              </a:rPr>
              <a:t>Purpose: To illustrate using the AND operator. </a:t>
            </a:r>
          </a:p>
          <a:p>
            <a:pPr marL="114300" lvl="1" defTabSz="401638"/>
            <a:endParaRPr lang="en-US" altLang="en-US" i="1">
              <a:solidFill>
                <a:schemeClr val="accent2"/>
              </a:solidFill>
              <a:latin typeface="Arial" panose="020B0604020202020204" pitchFamily="34" charset="0"/>
            </a:endParaRPr>
          </a:p>
          <a:p>
            <a:pPr defTabSz="401638"/>
            <a:endParaRPr lang="en-US" altLang="en-US" b="1" i="1">
              <a:solidFill>
                <a:schemeClr val="accent2"/>
              </a:solidFill>
              <a:latin typeface="Times New Roman" panose="02020603050405020304" pitchFamily="18" charset="0"/>
            </a:endParaRPr>
          </a:p>
        </p:txBody>
      </p:sp>
      <p:sp>
        <p:nvSpPr>
          <p:cNvPr id="18435" name="Rectangle 3">
            <a:extLst>
              <a:ext uri="{FF2B5EF4-FFF2-40B4-BE49-F238E27FC236}">
                <a16:creationId xmlns:a16="http://schemas.microsoft.com/office/drawing/2014/main" id="{ACF0311E-69FF-01CF-BBCD-312AB9481422}"/>
              </a:ext>
            </a:extLst>
          </p:cNvPr>
          <p:cNvSpPr>
            <a:spLocks noChangeArrowheads="1"/>
          </p:cNvSpPr>
          <p:nvPr/>
        </p:nvSpPr>
        <p:spPr bwMode="auto">
          <a:xfrm>
            <a:off x="3883025" y="0"/>
            <a:ext cx="2976563"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8436" name="Rectangle 4">
            <a:extLst>
              <a:ext uri="{FF2B5EF4-FFF2-40B4-BE49-F238E27FC236}">
                <a16:creationId xmlns:a16="http://schemas.microsoft.com/office/drawing/2014/main" id="{80EE8E69-E946-A4B9-2788-EF435BBCFF41}"/>
              </a:ext>
            </a:extLst>
          </p:cNvPr>
          <p:cNvSpPr>
            <a:spLocks noChangeArrowheads="1"/>
          </p:cNvSpPr>
          <p:nvPr/>
        </p:nvSpPr>
        <p:spPr bwMode="auto">
          <a:xfrm>
            <a:off x="-3175" y="0"/>
            <a:ext cx="2973388"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8437" name="Rectangle 5">
            <a:extLst>
              <a:ext uri="{FF2B5EF4-FFF2-40B4-BE49-F238E27FC236}">
                <a16:creationId xmlns:a16="http://schemas.microsoft.com/office/drawing/2014/main" id="{CDD9F9B5-FB4D-57CB-2015-2B9B055C15AD}"/>
              </a:ext>
            </a:extLst>
          </p:cNvPr>
          <p:cNvSpPr>
            <a:spLocks noGrp="1" noRot="1" noChangeAspect="1" noChangeArrowheads="1" noTextEdit="1"/>
          </p:cNvSpPr>
          <p:nvPr>
            <p:ph type="sldImg"/>
          </p:nvPr>
        </p:nvSpPr>
        <p:spPr>
          <a:xfrm>
            <a:off x="434975" y="155575"/>
            <a:ext cx="5983288" cy="4487863"/>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grpSp>
        <p:nvGrpSpPr>
          <p:cNvPr id="18438" name="Group 6">
            <a:extLst>
              <a:ext uri="{FF2B5EF4-FFF2-40B4-BE49-F238E27FC236}">
                <a16:creationId xmlns:a16="http://schemas.microsoft.com/office/drawing/2014/main" id="{41EED48C-3E80-D355-C534-A4AB2766983A}"/>
              </a:ext>
            </a:extLst>
          </p:cNvPr>
          <p:cNvGrpSpPr>
            <a:grpSpLocks/>
          </p:cNvGrpSpPr>
          <p:nvPr/>
        </p:nvGrpSpPr>
        <p:grpSpPr bwMode="auto">
          <a:xfrm>
            <a:off x="168275" y="5535613"/>
            <a:ext cx="287338" cy="311150"/>
            <a:chOff x="105" y="3424"/>
            <a:chExt cx="180" cy="192"/>
          </a:xfrm>
        </p:grpSpPr>
        <p:sp>
          <p:nvSpPr>
            <p:cNvPr id="18440" name="Freeform 7">
              <a:extLst>
                <a:ext uri="{FF2B5EF4-FFF2-40B4-BE49-F238E27FC236}">
                  <a16:creationId xmlns:a16="http://schemas.microsoft.com/office/drawing/2014/main" id="{4328AB37-4F11-E4BB-C488-C92822D66753}"/>
                </a:ext>
              </a:extLst>
            </p:cNvPr>
            <p:cNvSpPr>
              <a:spLocks/>
            </p:cNvSpPr>
            <p:nvPr/>
          </p:nvSpPr>
          <p:spPr bwMode="auto">
            <a:xfrm>
              <a:off x="105" y="3424"/>
              <a:ext cx="180" cy="184"/>
            </a:xfrm>
            <a:custGeom>
              <a:avLst/>
              <a:gdLst>
                <a:gd name="T0" fmla="*/ 179 w 180"/>
                <a:gd name="T1" fmla="*/ 183 h 184"/>
                <a:gd name="T2" fmla="*/ 179 w 180"/>
                <a:gd name="T3" fmla="*/ 0 h 184"/>
                <a:gd name="T4" fmla="*/ 0 w 180"/>
                <a:gd name="T5" fmla="*/ 0 h 184"/>
                <a:gd name="T6" fmla="*/ 0 w 180"/>
                <a:gd name="T7" fmla="*/ 183 h 184"/>
                <a:gd name="T8" fmla="*/ 179 w 180"/>
                <a:gd name="T9" fmla="*/ 183 h 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84">
                  <a:moveTo>
                    <a:pt x="179" y="183"/>
                  </a:moveTo>
                  <a:lnTo>
                    <a:pt x="179" y="0"/>
                  </a:lnTo>
                  <a:lnTo>
                    <a:pt x="0" y="0"/>
                  </a:lnTo>
                  <a:lnTo>
                    <a:pt x="0" y="183"/>
                  </a:lnTo>
                  <a:lnTo>
                    <a:pt x="179" y="183"/>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1" name="Freeform 8">
              <a:extLst>
                <a:ext uri="{FF2B5EF4-FFF2-40B4-BE49-F238E27FC236}">
                  <a16:creationId xmlns:a16="http://schemas.microsoft.com/office/drawing/2014/main" id="{B94A4264-1930-8050-6AC6-187269BABF7E}"/>
                </a:ext>
              </a:extLst>
            </p:cNvPr>
            <p:cNvSpPr>
              <a:spLocks/>
            </p:cNvSpPr>
            <p:nvPr/>
          </p:nvSpPr>
          <p:spPr bwMode="auto">
            <a:xfrm>
              <a:off x="186" y="3598"/>
              <a:ext cx="27" cy="18"/>
            </a:xfrm>
            <a:custGeom>
              <a:avLst/>
              <a:gdLst>
                <a:gd name="T0" fmla="*/ 26 w 27"/>
                <a:gd name="T1" fmla="*/ 17 h 18"/>
                <a:gd name="T2" fmla="*/ 26 w 27"/>
                <a:gd name="T3" fmla="*/ 0 h 18"/>
                <a:gd name="T4" fmla="*/ 0 w 27"/>
                <a:gd name="T5" fmla="*/ 0 h 18"/>
                <a:gd name="T6" fmla="*/ 0 w 27"/>
                <a:gd name="T7" fmla="*/ 17 h 18"/>
                <a:gd name="T8" fmla="*/ 26 w 27"/>
                <a:gd name="T9" fmla="*/ 17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8">
                  <a:moveTo>
                    <a:pt x="26" y="17"/>
                  </a:moveTo>
                  <a:lnTo>
                    <a:pt x="26" y="0"/>
                  </a:lnTo>
                  <a:lnTo>
                    <a:pt x="0" y="0"/>
                  </a:lnTo>
                  <a:lnTo>
                    <a:pt x="0" y="17"/>
                  </a:lnTo>
                  <a:lnTo>
                    <a:pt x="26" y="1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2" name="Freeform 9">
              <a:extLst>
                <a:ext uri="{FF2B5EF4-FFF2-40B4-BE49-F238E27FC236}">
                  <a16:creationId xmlns:a16="http://schemas.microsoft.com/office/drawing/2014/main" id="{D012B60F-59BB-0E13-B87E-404CA113CE2C}"/>
                </a:ext>
              </a:extLst>
            </p:cNvPr>
            <p:cNvSpPr>
              <a:spLocks/>
            </p:cNvSpPr>
            <p:nvPr/>
          </p:nvSpPr>
          <p:spPr bwMode="auto">
            <a:xfrm>
              <a:off x="128" y="3477"/>
              <a:ext cx="32" cy="20"/>
            </a:xfrm>
            <a:custGeom>
              <a:avLst/>
              <a:gdLst>
                <a:gd name="T0" fmla="*/ 0 w 32"/>
                <a:gd name="T1" fmla="*/ 0 h 20"/>
                <a:gd name="T2" fmla="*/ 25 w 32"/>
                <a:gd name="T3" fmla="*/ 19 h 20"/>
                <a:gd name="T4" fmla="*/ 31 w 32"/>
                <a:gd name="T5" fmla="*/ 8 h 20"/>
                <a:gd name="T6" fmla="*/ 0 w 32"/>
                <a:gd name="T7" fmla="*/ 0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2" h="20">
                  <a:moveTo>
                    <a:pt x="0" y="0"/>
                  </a:moveTo>
                  <a:lnTo>
                    <a:pt x="25" y="19"/>
                  </a:lnTo>
                  <a:lnTo>
                    <a:pt x="31" y="8"/>
                  </a:lnTo>
                  <a:lnTo>
                    <a:pt x="0"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3" name="Freeform 10">
              <a:extLst>
                <a:ext uri="{FF2B5EF4-FFF2-40B4-BE49-F238E27FC236}">
                  <a16:creationId xmlns:a16="http://schemas.microsoft.com/office/drawing/2014/main" id="{D69411A5-062C-36C9-3D5C-32243A5E2881}"/>
                </a:ext>
              </a:extLst>
            </p:cNvPr>
            <p:cNvSpPr>
              <a:spLocks/>
            </p:cNvSpPr>
            <p:nvPr/>
          </p:nvSpPr>
          <p:spPr bwMode="auto">
            <a:xfrm>
              <a:off x="238" y="3477"/>
              <a:ext cx="34" cy="20"/>
            </a:xfrm>
            <a:custGeom>
              <a:avLst/>
              <a:gdLst>
                <a:gd name="T0" fmla="*/ 33 w 34"/>
                <a:gd name="T1" fmla="*/ 0 h 20"/>
                <a:gd name="T2" fmla="*/ 6 w 34"/>
                <a:gd name="T3" fmla="*/ 19 h 20"/>
                <a:gd name="T4" fmla="*/ 0 w 34"/>
                <a:gd name="T5" fmla="*/ 9 h 20"/>
                <a:gd name="T6" fmla="*/ 33 w 34"/>
                <a:gd name="T7" fmla="*/ 0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4" h="20">
                  <a:moveTo>
                    <a:pt x="33" y="0"/>
                  </a:moveTo>
                  <a:lnTo>
                    <a:pt x="6" y="19"/>
                  </a:lnTo>
                  <a:lnTo>
                    <a:pt x="0" y="9"/>
                  </a:lnTo>
                  <a:lnTo>
                    <a:pt x="33"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4" name="Freeform 11">
              <a:extLst>
                <a:ext uri="{FF2B5EF4-FFF2-40B4-BE49-F238E27FC236}">
                  <a16:creationId xmlns:a16="http://schemas.microsoft.com/office/drawing/2014/main" id="{DA7D320F-80AA-BD9D-43A8-694D323AD27C}"/>
                </a:ext>
              </a:extLst>
            </p:cNvPr>
            <p:cNvSpPr>
              <a:spLocks/>
            </p:cNvSpPr>
            <p:nvPr/>
          </p:nvSpPr>
          <p:spPr bwMode="auto">
            <a:xfrm>
              <a:off x="125" y="3515"/>
              <a:ext cx="33" cy="19"/>
            </a:xfrm>
            <a:custGeom>
              <a:avLst/>
              <a:gdLst>
                <a:gd name="T0" fmla="*/ 0 w 33"/>
                <a:gd name="T1" fmla="*/ 18 h 19"/>
                <a:gd name="T2" fmla="*/ 32 w 33"/>
                <a:gd name="T3" fmla="*/ 14 h 19"/>
                <a:gd name="T4" fmla="*/ 30 w 33"/>
                <a:gd name="T5" fmla="*/ 0 h 19"/>
                <a:gd name="T6" fmla="*/ 0 w 33"/>
                <a:gd name="T7" fmla="*/ 18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3" h="19">
                  <a:moveTo>
                    <a:pt x="0" y="18"/>
                  </a:moveTo>
                  <a:lnTo>
                    <a:pt x="32" y="14"/>
                  </a:lnTo>
                  <a:lnTo>
                    <a:pt x="30" y="0"/>
                  </a:lnTo>
                  <a:lnTo>
                    <a:pt x="0" y="18"/>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5" name="Freeform 12">
              <a:extLst>
                <a:ext uri="{FF2B5EF4-FFF2-40B4-BE49-F238E27FC236}">
                  <a16:creationId xmlns:a16="http://schemas.microsoft.com/office/drawing/2014/main" id="{817E38CA-0152-8BFE-97AF-8EAC3A2E8A6D}"/>
                </a:ext>
              </a:extLst>
            </p:cNvPr>
            <p:cNvSpPr>
              <a:spLocks/>
            </p:cNvSpPr>
            <p:nvPr/>
          </p:nvSpPr>
          <p:spPr bwMode="auto">
            <a:xfrm>
              <a:off x="241" y="3516"/>
              <a:ext cx="34" cy="19"/>
            </a:xfrm>
            <a:custGeom>
              <a:avLst/>
              <a:gdLst>
                <a:gd name="T0" fmla="*/ 33 w 34"/>
                <a:gd name="T1" fmla="*/ 18 h 19"/>
                <a:gd name="T2" fmla="*/ 0 w 34"/>
                <a:gd name="T3" fmla="*/ 15 h 19"/>
                <a:gd name="T4" fmla="*/ 2 w 34"/>
                <a:gd name="T5" fmla="*/ 0 h 19"/>
                <a:gd name="T6" fmla="*/ 33 w 34"/>
                <a:gd name="T7" fmla="*/ 18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4" h="19">
                  <a:moveTo>
                    <a:pt x="33" y="18"/>
                  </a:moveTo>
                  <a:lnTo>
                    <a:pt x="0" y="15"/>
                  </a:lnTo>
                  <a:lnTo>
                    <a:pt x="2" y="0"/>
                  </a:lnTo>
                  <a:lnTo>
                    <a:pt x="33" y="18"/>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6" name="Freeform 13">
              <a:extLst>
                <a:ext uri="{FF2B5EF4-FFF2-40B4-BE49-F238E27FC236}">
                  <a16:creationId xmlns:a16="http://schemas.microsoft.com/office/drawing/2014/main" id="{C525BEDA-E6F5-CFAF-8889-E0C9B5660481}"/>
                </a:ext>
              </a:extLst>
            </p:cNvPr>
            <p:cNvSpPr>
              <a:spLocks/>
            </p:cNvSpPr>
            <p:nvPr/>
          </p:nvSpPr>
          <p:spPr bwMode="auto">
            <a:xfrm>
              <a:off x="150" y="3438"/>
              <a:ext cx="27" cy="30"/>
            </a:xfrm>
            <a:custGeom>
              <a:avLst/>
              <a:gdLst>
                <a:gd name="T0" fmla="*/ 0 w 27"/>
                <a:gd name="T1" fmla="*/ 0 h 30"/>
                <a:gd name="T2" fmla="*/ 15 w 27"/>
                <a:gd name="T3" fmla="*/ 29 h 30"/>
                <a:gd name="T4" fmla="*/ 26 w 27"/>
                <a:gd name="T5" fmla="*/ 22 h 30"/>
                <a:gd name="T6" fmla="*/ 0 w 2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30">
                  <a:moveTo>
                    <a:pt x="0" y="0"/>
                  </a:moveTo>
                  <a:lnTo>
                    <a:pt x="15" y="29"/>
                  </a:lnTo>
                  <a:lnTo>
                    <a:pt x="26" y="22"/>
                  </a:lnTo>
                  <a:lnTo>
                    <a:pt x="0"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7" name="Freeform 14">
              <a:extLst>
                <a:ext uri="{FF2B5EF4-FFF2-40B4-BE49-F238E27FC236}">
                  <a16:creationId xmlns:a16="http://schemas.microsoft.com/office/drawing/2014/main" id="{F222A6C7-D401-51F3-D5E0-CA30A54C1937}"/>
                </a:ext>
              </a:extLst>
            </p:cNvPr>
            <p:cNvSpPr>
              <a:spLocks/>
            </p:cNvSpPr>
            <p:nvPr/>
          </p:nvSpPr>
          <p:spPr bwMode="auto">
            <a:xfrm>
              <a:off x="216" y="3440"/>
              <a:ext cx="28" cy="32"/>
            </a:xfrm>
            <a:custGeom>
              <a:avLst/>
              <a:gdLst>
                <a:gd name="T0" fmla="*/ 27 w 28"/>
                <a:gd name="T1" fmla="*/ 0 h 32"/>
                <a:gd name="T2" fmla="*/ 11 w 28"/>
                <a:gd name="T3" fmla="*/ 31 h 32"/>
                <a:gd name="T4" fmla="*/ 0 w 28"/>
                <a:gd name="T5" fmla="*/ 23 h 32"/>
                <a:gd name="T6" fmla="*/ 27 w 28"/>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 h="32">
                  <a:moveTo>
                    <a:pt x="27" y="0"/>
                  </a:moveTo>
                  <a:lnTo>
                    <a:pt x="11" y="31"/>
                  </a:lnTo>
                  <a:lnTo>
                    <a:pt x="0" y="23"/>
                  </a:lnTo>
                  <a:lnTo>
                    <a:pt x="27"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8" name="Freeform 15">
              <a:extLst>
                <a:ext uri="{FF2B5EF4-FFF2-40B4-BE49-F238E27FC236}">
                  <a16:creationId xmlns:a16="http://schemas.microsoft.com/office/drawing/2014/main" id="{D42241E8-D0A4-DBD3-78E0-13401CEBE733}"/>
                </a:ext>
              </a:extLst>
            </p:cNvPr>
            <p:cNvSpPr>
              <a:spLocks/>
            </p:cNvSpPr>
            <p:nvPr/>
          </p:nvSpPr>
          <p:spPr bwMode="auto">
            <a:xfrm>
              <a:off x="190" y="3430"/>
              <a:ext cx="18" cy="30"/>
            </a:xfrm>
            <a:custGeom>
              <a:avLst/>
              <a:gdLst>
                <a:gd name="T0" fmla="*/ 7 w 18"/>
                <a:gd name="T1" fmla="*/ 0 h 30"/>
                <a:gd name="T2" fmla="*/ 0 w 18"/>
                <a:gd name="T3" fmla="*/ 29 h 30"/>
                <a:gd name="T4" fmla="*/ 17 w 18"/>
                <a:gd name="T5" fmla="*/ 28 h 30"/>
                <a:gd name="T6" fmla="*/ 7 w 18"/>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 h="30">
                  <a:moveTo>
                    <a:pt x="7" y="0"/>
                  </a:moveTo>
                  <a:lnTo>
                    <a:pt x="0" y="29"/>
                  </a:lnTo>
                  <a:lnTo>
                    <a:pt x="17" y="28"/>
                  </a:lnTo>
                  <a:lnTo>
                    <a:pt x="7"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9" name="Freeform 16">
              <a:extLst>
                <a:ext uri="{FF2B5EF4-FFF2-40B4-BE49-F238E27FC236}">
                  <a16:creationId xmlns:a16="http://schemas.microsoft.com/office/drawing/2014/main" id="{1E79712D-1175-84BF-2995-489C82757322}"/>
                </a:ext>
              </a:extLst>
            </p:cNvPr>
            <p:cNvSpPr>
              <a:spLocks/>
            </p:cNvSpPr>
            <p:nvPr/>
          </p:nvSpPr>
          <p:spPr bwMode="auto">
            <a:xfrm>
              <a:off x="165" y="3476"/>
              <a:ext cx="67" cy="115"/>
            </a:xfrm>
            <a:custGeom>
              <a:avLst/>
              <a:gdLst>
                <a:gd name="T0" fmla="*/ 21 w 67"/>
                <a:gd name="T1" fmla="*/ 114 h 115"/>
                <a:gd name="T2" fmla="*/ 22 w 67"/>
                <a:gd name="T3" fmla="*/ 94 h 115"/>
                <a:gd name="T4" fmla="*/ 20 w 67"/>
                <a:gd name="T5" fmla="*/ 91 h 115"/>
                <a:gd name="T6" fmla="*/ 14 w 67"/>
                <a:gd name="T7" fmla="*/ 83 h 115"/>
                <a:gd name="T8" fmla="*/ 8 w 67"/>
                <a:gd name="T9" fmla="*/ 72 h 115"/>
                <a:gd name="T10" fmla="*/ 3 w 67"/>
                <a:gd name="T11" fmla="*/ 58 h 115"/>
                <a:gd name="T12" fmla="*/ 0 w 67"/>
                <a:gd name="T13" fmla="*/ 42 h 115"/>
                <a:gd name="T14" fmla="*/ 0 w 67"/>
                <a:gd name="T15" fmla="*/ 27 h 115"/>
                <a:gd name="T16" fmla="*/ 7 w 67"/>
                <a:gd name="T17" fmla="*/ 12 h 115"/>
                <a:gd name="T18" fmla="*/ 22 w 67"/>
                <a:gd name="T19" fmla="*/ 0 h 115"/>
                <a:gd name="T20" fmla="*/ 42 w 67"/>
                <a:gd name="T21" fmla="*/ 0 h 115"/>
                <a:gd name="T22" fmla="*/ 45 w 67"/>
                <a:gd name="T23" fmla="*/ 1 h 115"/>
                <a:gd name="T24" fmla="*/ 50 w 67"/>
                <a:gd name="T25" fmla="*/ 5 h 115"/>
                <a:gd name="T26" fmla="*/ 56 w 67"/>
                <a:gd name="T27" fmla="*/ 11 h 115"/>
                <a:gd name="T28" fmla="*/ 62 w 67"/>
                <a:gd name="T29" fmla="*/ 20 h 115"/>
                <a:gd name="T30" fmla="*/ 66 w 67"/>
                <a:gd name="T31" fmla="*/ 32 h 115"/>
                <a:gd name="T32" fmla="*/ 65 w 67"/>
                <a:gd name="T33" fmla="*/ 48 h 115"/>
                <a:gd name="T34" fmla="*/ 58 w 67"/>
                <a:gd name="T35" fmla="*/ 68 h 115"/>
                <a:gd name="T36" fmla="*/ 42 w 67"/>
                <a:gd name="T37" fmla="*/ 91 h 115"/>
                <a:gd name="T38" fmla="*/ 42 w 67"/>
                <a:gd name="T39" fmla="*/ 114 h 115"/>
                <a:gd name="T40" fmla="*/ 21 w 67"/>
                <a:gd name="T41" fmla="*/ 114 h 11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67" h="115">
                  <a:moveTo>
                    <a:pt x="21" y="114"/>
                  </a:moveTo>
                  <a:lnTo>
                    <a:pt x="22" y="94"/>
                  </a:lnTo>
                  <a:lnTo>
                    <a:pt x="20" y="91"/>
                  </a:lnTo>
                  <a:lnTo>
                    <a:pt x="14" y="83"/>
                  </a:lnTo>
                  <a:lnTo>
                    <a:pt x="8" y="72"/>
                  </a:lnTo>
                  <a:lnTo>
                    <a:pt x="3" y="58"/>
                  </a:lnTo>
                  <a:lnTo>
                    <a:pt x="0" y="42"/>
                  </a:lnTo>
                  <a:lnTo>
                    <a:pt x="0" y="27"/>
                  </a:lnTo>
                  <a:lnTo>
                    <a:pt x="7" y="12"/>
                  </a:lnTo>
                  <a:lnTo>
                    <a:pt x="22" y="0"/>
                  </a:lnTo>
                  <a:lnTo>
                    <a:pt x="42" y="0"/>
                  </a:lnTo>
                  <a:lnTo>
                    <a:pt x="45" y="1"/>
                  </a:lnTo>
                  <a:lnTo>
                    <a:pt x="50" y="5"/>
                  </a:lnTo>
                  <a:lnTo>
                    <a:pt x="56" y="11"/>
                  </a:lnTo>
                  <a:lnTo>
                    <a:pt x="62" y="20"/>
                  </a:lnTo>
                  <a:lnTo>
                    <a:pt x="66" y="32"/>
                  </a:lnTo>
                  <a:lnTo>
                    <a:pt x="65" y="48"/>
                  </a:lnTo>
                  <a:lnTo>
                    <a:pt x="58" y="68"/>
                  </a:lnTo>
                  <a:lnTo>
                    <a:pt x="42" y="91"/>
                  </a:lnTo>
                  <a:lnTo>
                    <a:pt x="42" y="114"/>
                  </a:lnTo>
                  <a:lnTo>
                    <a:pt x="21" y="114"/>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50" name="Freeform 17">
              <a:extLst>
                <a:ext uri="{FF2B5EF4-FFF2-40B4-BE49-F238E27FC236}">
                  <a16:creationId xmlns:a16="http://schemas.microsoft.com/office/drawing/2014/main" id="{2718491D-0952-9316-1808-3973160F4ABD}"/>
                </a:ext>
              </a:extLst>
            </p:cNvPr>
            <p:cNvSpPr>
              <a:spLocks/>
            </p:cNvSpPr>
            <p:nvPr/>
          </p:nvSpPr>
          <p:spPr bwMode="auto">
            <a:xfrm>
              <a:off x="192" y="3497"/>
              <a:ext cx="17" cy="87"/>
            </a:xfrm>
            <a:custGeom>
              <a:avLst/>
              <a:gdLst>
                <a:gd name="T0" fmla="*/ 4 w 17"/>
                <a:gd name="T1" fmla="*/ 0 h 87"/>
                <a:gd name="T2" fmla="*/ 6 w 17"/>
                <a:gd name="T3" fmla="*/ 6 h 87"/>
                <a:gd name="T4" fmla="*/ 2 w 17"/>
                <a:gd name="T5" fmla="*/ 7 h 87"/>
                <a:gd name="T6" fmla="*/ 2 w 17"/>
                <a:gd name="T7" fmla="*/ 78 h 87"/>
                <a:gd name="T8" fmla="*/ 0 w 17"/>
                <a:gd name="T9" fmla="*/ 79 h 87"/>
                <a:gd name="T10" fmla="*/ 0 w 17"/>
                <a:gd name="T11" fmla="*/ 86 h 87"/>
                <a:gd name="T12" fmla="*/ 2 w 17"/>
                <a:gd name="T13" fmla="*/ 86 h 87"/>
                <a:gd name="T14" fmla="*/ 4 w 17"/>
                <a:gd name="T15" fmla="*/ 86 h 87"/>
                <a:gd name="T16" fmla="*/ 6 w 17"/>
                <a:gd name="T17" fmla="*/ 86 h 87"/>
                <a:gd name="T18" fmla="*/ 9 w 17"/>
                <a:gd name="T19" fmla="*/ 85 h 87"/>
                <a:gd name="T20" fmla="*/ 13 w 17"/>
                <a:gd name="T21" fmla="*/ 85 h 87"/>
                <a:gd name="T22" fmla="*/ 16 w 17"/>
                <a:gd name="T23" fmla="*/ 84 h 87"/>
                <a:gd name="T24" fmla="*/ 16 w 17"/>
                <a:gd name="T25" fmla="*/ 82 h 87"/>
                <a:gd name="T26" fmla="*/ 16 w 17"/>
                <a:gd name="T27" fmla="*/ 79 h 87"/>
                <a:gd name="T28" fmla="*/ 16 w 17"/>
                <a:gd name="T29" fmla="*/ 48 h 87"/>
                <a:gd name="T30" fmla="*/ 13 w 17"/>
                <a:gd name="T31" fmla="*/ 47 h 87"/>
                <a:gd name="T32" fmla="*/ 13 w 17"/>
                <a:gd name="T33" fmla="*/ 39 h 87"/>
                <a:gd name="T34" fmla="*/ 13 w 17"/>
                <a:gd name="T35" fmla="*/ 5 h 87"/>
                <a:gd name="T36" fmla="*/ 4 w 17"/>
                <a:gd name="T37" fmla="*/ 0 h 8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7" h="87">
                  <a:moveTo>
                    <a:pt x="4" y="0"/>
                  </a:moveTo>
                  <a:lnTo>
                    <a:pt x="6" y="6"/>
                  </a:lnTo>
                  <a:lnTo>
                    <a:pt x="2" y="7"/>
                  </a:lnTo>
                  <a:lnTo>
                    <a:pt x="2" y="78"/>
                  </a:lnTo>
                  <a:lnTo>
                    <a:pt x="0" y="79"/>
                  </a:lnTo>
                  <a:lnTo>
                    <a:pt x="0" y="86"/>
                  </a:lnTo>
                  <a:lnTo>
                    <a:pt x="2" y="86"/>
                  </a:lnTo>
                  <a:lnTo>
                    <a:pt x="4" y="86"/>
                  </a:lnTo>
                  <a:lnTo>
                    <a:pt x="6" y="86"/>
                  </a:lnTo>
                  <a:lnTo>
                    <a:pt x="9" y="85"/>
                  </a:lnTo>
                  <a:lnTo>
                    <a:pt x="13" y="85"/>
                  </a:lnTo>
                  <a:lnTo>
                    <a:pt x="16" y="84"/>
                  </a:lnTo>
                  <a:lnTo>
                    <a:pt x="16" y="82"/>
                  </a:lnTo>
                  <a:lnTo>
                    <a:pt x="16" y="79"/>
                  </a:lnTo>
                  <a:lnTo>
                    <a:pt x="16" y="48"/>
                  </a:lnTo>
                  <a:lnTo>
                    <a:pt x="13" y="47"/>
                  </a:lnTo>
                  <a:lnTo>
                    <a:pt x="13" y="39"/>
                  </a:lnTo>
                  <a:lnTo>
                    <a:pt x="13" y="5"/>
                  </a:lnTo>
                  <a:lnTo>
                    <a:pt x="4"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aphicFrame>
        <p:nvGraphicFramePr>
          <p:cNvPr id="18439" name="Object 18">
            <a:extLst>
              <a:ext uri="{FF2B5EF4-FFF2-40B4-BE49-F238E27FC236}">
                <a16:creationId xmlns:a16="http://schemas.microsoft.com/office/drawing/2014/main" id="{813D158D-FF8B-5BAA-BC45-FEE714293949}"/>
              </a:ext>
            </a:extLst>
          </p:cNvPr>
          <p:cNvGraphicFramePr>
            <a:graphicFrameLocks/>
          </p:cNvGraphicFramePr>
          <p:nvPr/>
        </p:nvGraphicFramePr>
        <p:xfrm>
          <a:off x="514350" y="6340475"/>
          <a:ext cx="6022975" cy="1030288"/>
        </p:xfrm>
        <a:graphic>
          <a:graphicData uri="http://schemas.openxmlformats.org/presentationml/2006/ole">
            <mc:AlternateContent xmlns:mc="http://schemas.openxmlformats.org/markup-compatibility/2006">
              <mc:Choice xmlns:v="urn:schemas-microsoft-com:vml" Requires="v">
                <p:oleObj name="Document" r:id="rId3" imgW="5987796" imgH="1011936" progId="Word.Document.6">
                  <p:embed/>
                </p:oleObj>
              </mc:Choice>
              <mc:Fallback>
                <p:oleObj name="Document" r:id="rId3" imgW="5987796" imgH="1011936" progId="Word.Document.6">
                  <p:embed/>
                  <p:pic>
                    <p:nvPicPr>
                      <p:cNvPr id="0" name="Object 1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350" y="6340475"/>
                        <a:ext cx="6022975" cy="1030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31D38B30-EDBF-1089-1FC8-DF59B0BC9BAE}"/>
              </a:ext>
            </a:extLst>
          </p:cNvPr>
          <p:cNvSpPr>
            <a:spLocks noGrp="1" noRot="1" noChangeAspect="1" noChangeArrowheads="1" noTextEdit="1"/>
          </p:cNvSpPr>
          <p:nvPr>
            <p:ph type="sldImg"/>
          </p:nvPr>
        </p:nvSpPr>
        <p:spPr>
          <a:xfrm>
            <a:off x="434975" y="155575"/>
            <a:ext cx="5983288" cy="4487863"/>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3" name="Rectangle 3">
            <a:extLst>
              <a:ext uri="{FF2B5EF4-FFF2-40B4-BE49-F238E27FC236}">
                <a16:creationId xmlns:a16="http://schemas.microsoft.com/office/drawing/2014/main" id="{7A18C423-2F0C-A883-97BB-B115305DC42D}"/>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3272" tIns="46636" rIns="93272" bIns="46636"/>
          <a:lstStyle/>
          <a:p>
            <a:r>
              <a:rPr lang="en-US" altLang="en-US">
                <a:latin typeface="Arial" panose="020B0604020202020204" pitchFamily="34" charset="0"/>
              </a:rPr>
              <a:t>The OR Operator</a:t>
            </a:r>
          </a:p>
          <a:p>
            <a:pPr lvl="1"/>
            <a:r>
              <a:rPr lang="en-US" altLang="en-US">
                <a:solidFill>
                  <a:srgbClr val="000000"/>
                </a:solidFill>
                <a:latin typeface="Arial" panose="020B0604020202020204" pitchFamily="34" charset="0"/>
              </a:rPr>
              <a:t>In the example, either condition can be true for any record to be selected. Therefore, an employee who has a job title of CLERK </a:t>
            </a:r>
            <a:r>
              <a:rPr lang="en-US" altLang="en-US" i="1">
                <a:solidFill>
                  <a:srgbClr val="000000"/>
                </a:solidFill>
                <a:latin typeface="Arial" panose="020B0604020202020204" pitchFamily="34" charset="0"/>
              </a:rPr>
              <a:t>or</a:t>
            </a:r>
            <a:r>
              <a:rPr lang="en-US" altLang="en-US" b="1">
                <a:solidFill>
                  <a:srgbClr val="000000"/>
                </a:solidFill>
                <a:latin typeface="Arial" panose="020B0604020202020204" pitchFamily="34" charset="0"/>
              </a:rPr>
              <a:t> </a:t>
            </a:r>
            <a:r>
              <a:rPr lang="en-US" altLang="en-US">
                <a:solidFill>
                  <a:srgbClr val="000000"/>
                </a:solidFill>
                <a:latin typeface="Arial" panose="020B0604020202020204" pitchFamily="34" charset="0"/>
              </a:rPr>
              <a:t>earns more than $1100 will be selected.</a:t>
            </a:r>
          </a:p>
          <a:p>
            <a:r>
              <a:rPr lang="en-US" altLang="en-US">
                <a:latin typeface="Arial" panose="020B0604020202020204" pitchFamily="34" charset="0"/>
              </a:rPr>
              <a:t>The OR Truth Table</a:t>
            </a:r>
          </a:p>
          <a:p>
            <a:pPr lvl="1"/>
            <a:r>
              <a:rPr lang="en-US" altLang="en-US">
                <a:latin typeface="Arial" panose="020B0604020202020204" pitchFamily="34" charset="0"/>
              </a:rPr>
              <a:t>The following table shows the results of combining two expressions with OR:</a:t>
            </a: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r>
              <a:rPr lang="en-US" altLang="en-US">
                <a:solidFill>
                  <a:schemeClr val="accent2"/>
                </a:solidFill>
                <a:latin typeface="Arial" panose="020B0604020202020204" pitchFamily="34" charset="0"/>
              </a:rPr>
              <a:t>Class Management Note</a:t>
            </a:r>
          </a:p>
          <a:p>
            <a:pPr lvl="1"/>
            <a:r>
              <a:rPr lang="en-US" altLang="en-US">
                <a:solidFill>
                  <a:schemeClr val="accent2"/>
                </a:solidFill>
                <a:latin typeface="Arial" panose="020B0604020202020204" pitchFamily="34" charset="0"/>
              </a:rPr>
              <a:t>Demo: </a:t>
            </a:r>
            <a:r>
              <a:rPr lang="en-US" altLang="en-US" i="1">
                <a:solidFill>
                  <a:schemeClr val="accent2"/>
                </a:solidFill>
                <a:latin typeface="Arial" panose="020B0604020202020204" pitchFamily="34" charset="0"/>
              </a:rPr>
              <a:t>l2or.sql</a:t>
            </a:r>
          </a:p>
          <a:p>
            <a:pPr lvl="1"/>
            <a:r>
              <a:rPr lang="en-US" altLang="en-US">
                <a:solidFill>
                  <a:schemeClr val="accent2"/>
                </a:solidFill>
                <a:latin typeface="Arial" panose="020B0604020202020204" pitchFamily="34" charset="0"/>
              </a:rPr>
              <a:t>Purpose: To illustrate using the OR operator.</a:t>
            </a:r>
            <a:endParaRPr lang="en-US" altLang="en-US" i="1">
              <a:latin typeface="Arial" panose="020B0604020202020204" pitchFamily="34" charset="0"/>
            </a:endParaRPr>
          </a:p>
          <a:p>
            <a:endParaRPr lang="en-US" altLang="en-US" b="1" i="1">
              <a:latin typeface="Times New Roman" panose="02020603050405020304" pitchFamily="18" charset="0"/>
            </a:endParaRPr>
          </a:p>
        </p:txBody>
      </p:sp>
      <p:graphicFrame>
        <p:nvGraphicFramePr>
          <p:cNvPr id="20484" name="Object 4">
            <a:extLst>
              <a:ext uri="{FF2B5EF4-FFF2-40B4-BE49-F238E27FC236}">
                <a16:creationId xmlns:a16="http://schemas.microsoft.com/office/drawing/2014/main" id="{8284DAF4-D9C5-582F-926C-675389A97FB7}"/>
              </a:ext>
            </a:extLst>
          </p:cNvPr>
          <p:cNvGraphicFramePr>
            <a:graphicFrameLocks/>
          </p:cNvGraphicFramePr>
          <p:nvPr/>
        </p:nvGraphicFramePr>
        <p:xfrm>
          <a:off x="519113" y="5961063"/>
          <a:ext cx="6022975" cy="1030287"/>
        </p:xfrm>
        <a:graphic>
          <a:graphicData uri="http://schemas.openxmlformats.org/presentationml/2006/ole">
            <mc:AlternateContent xmlns:mc="http://schemas.openxmlformats.org/markup-compatibility/2006">
              <mc:Choice xmlns:v="urn:schemas-microsoft-com:vml" Requires="v">
                <p:oleObj name="Document" r:id="rId3" imgW="5987796" imgH="1011936" progId="Word.Document.6">
                  <p:embed/>
                </p:oleObj>
              </mc:Choice>
              <mc:Fallback>
                <p:oleObj name="Document" r:id="rId3" imgW="5987796" imgH="1011936" progId="Word.Document.6">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113" y="5961063"/>
                        <a:ext cx="6022975" cy="1030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D9A6C5D-0CB6-FD81-7500-350C4C43D78C}"/>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3272" tIns="46636" rIns="93272" bIns="46636"/>
          <a:lstStyle/>
          <a:p>
            <a:pPr defTabSz="401638"/>
            <a:endParaRPr lang="en-US" altLang="en-US">
              <a:latin typeface="Arial" panose="020B0604020202020204" pitchFamily="34" charset="0"/>
            </a:endParaRPr>
          </a:p>
        </p:txBody>
      </p:sp>
      <p:sp>
        <p:nvSpPr>
          <p:cNvPr id="22531" name="Rectangle 3">
            <a:extLst>
              <a:ext uri="{FF2B5EF4-FFF2-40B4-BE49-F238E27FC236}">
                <a16:creationId xmlns:a16="http://schemas.microsoft.com/office/drawing/2014/main" id="{9F919142-A626-9B56-7674-8E8CD62BB57E}"/>
              </a:ext>
            </a:extLst>
          </p:cNvPr>
          <p:cNvSpPr>
            <a:spLocks noGrp="1" noRot="1" noChangeAspect="1" noChangeArrowheads="1" noTextEdit="1"/>
          </p:cNvSpPr>
          <p:nvPr>
            <p:ph type="sldImg"/>
          </p:nvPr>
        </p:nvSpPr>
        <p:spPr>
          <a:xfrm>
            <a:off x="434975" y="155575"/>
            <a:ext cx="5983288" cy="4487863"/>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F4D3D4D8-F884-D0C8-B39C-A54262E6747F}"/>
              </a:ext>
            </a:extLst>
          </p:cNvPr>
          <p:cNvSpPr>
            <a:spLocks noChangeArrowheads="1"/>
          </p:cNvSpPr>
          <p:nvPr/>
        </p:nvSpPr>
        <p:spPr bwMode="auto">
          <a:xfrm>
            <a:off x="3883025" y="0"/>
            <a:ext cx="2976563"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24579" name="Rectangle 3">
            <a:extLst>
              <a:ext uri="{FF2B5EF4-FFF2-40B4-BE49-F238E27FC236}">
                <a16:creationId xmlns:a16="http://schemas.microsoft.com/office/drawing/2014/main" id="{57D08D7B-5285-2598-F1FA-20A715FE23F6}"/>
              </a:ext>
            </a:extLst>
          </p:cNvPr>
          <p:cNvSpPr>
            <a:spLocks noChangeArrowheads="1"/>
          </p:cNvSpPr>
          <p:nvPr/>
        </p:nvSpPr>
        <p:spPr bwMode="auto">
          <a:xfrm>
            <a:off x="-3175" y="0"/>
            <a:ext cx="2973388"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24580" name="Rectangle 4">
            <a:extLst>
              <a:ext uri="{FF2B5EF4-FFF2-40B4-BE49-F238E27FC236}">
                <a16:creationId xmlns:a16="http://schemas.microsoft.com/office/drawing/2014/main" id="{78480AE5-E186-D98B-C921-654111B86069}"/>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3272" tIns="46636" rIns="93272" bIns="46636"/>
          <a:lstStyle/>
          <a:p>
            <a:pPr defTabSz="401638"/>
            <a:r>
              <a:rPr lang="en-US" altLang="en-US">
                <a:solidFill>
                  <a:srgbClr val="000000"/>
                </a:solidFill>
                <a:latin typeface="Arial" panose="020B0604020202020204" pitchFamily="34" charset="0"/>
              </a:rPr>
              <a:t>Example of Precedence of AND Operator </a:t>
            </a:r>
          </a:p>
          <a:p>
            <a:pPr marL="114300" lvl="1" defTabSz="401638"/>
            <a:r>
              <a:rPr lang="en-US" altLang="en-US">
                <a:solidFill>
                  <a:srgbClr val="000000"/>
                </a:solidFill>
                <a:latin typeface="Arial" panose="020B0604020202020204" pitchFamily="34" charset="0"/>
              </a:rPr>
              <a:t>In the slide example, there are two conditions:</a:t>
            </a:r>
          </a:p>
          <a:p>
            <a:pPr marL="450850" lvl="2" indent="-217488" defTabSz="401638"/>
            <a:r>
              <a:rPr lang="en-US" altLang="en-US">
                <a:solidFill>
                  <a:srgbClr val="000000"/>
                </a:solidFill>
                <a:latin typeface="Arial" panose="020B0604020202020204" pitchFamily="34" charset="0"/>
              </a:rPr>
              <a:t>The first condition is that job is PRESIDENT </a:t>
            </a:r>
            <a:r>
              <a:rPr lang="en-US" altLang="en-US" i="1">
                <a:solidFill>
                  <a:srgbClr val="000000"/>
                </a:solidFill>
                <a:latin typeface="Arial" panose="020B0604020202020204" pitchFamily="34" charset="0"/>
              </a:rPr>
              <a:t>and</a:t>
            </a:r>
            <a:r>
              <a:rPr lang="en-US" altLang="en-US">
                <a:solidFill>
                  <a:srgbClr val="000000"/>
                </a:solidFill>
                <a:latin typeface="Arial" panose="020B0604020202020204" pitchFamily="34" charset="0"/>
              </a:rPr>
              <a:t> salary is greater than 1500. </a:t>
            </a:r>
          </a:p>
          <a:p>
            <a:pPr marL="450850" lvl="2" indent="-217488" defTabSz="401638"/>
            <a:r>
              <a:rPr lang="en-US" altLang="en-US">
                <a:solidFill>
                  <a:srgbClr val="000000"/>
                </a:solidFill>
                <a:latin typeface="Arial" panose="020B0604020202020204" pitchFamily="34" charset="0"/>
              </a:rPr>
              <a:t>The second condition is that job is SALESMAN. </a:t>
            </a:r>
            <a:endParaRPr lang="en-US" altLang="en-US" b="1">
              <a:solidFill>
                <a:srgbClr val="000000"/>
              </a:solidFill>
              <a:latin typeface="Arial" panose="020B0604020202020204" pitchFamily="34" charset="0"/>
            </a:endParaRPr>
          </a:p>
          <a:p>
            <a:pPr marL="114300" lvl="1" defTabSz="401638"/>
            <a:r>
              <a:rPr lang="en-US" altLang="en-US">
                <a:solidFill>
                  <a:srgbClr val="000000"/>
                </a:solidFill>
                <a:latin typeface="Arial" panose="020B0604020202020204" pitchFamily="34" charset="0"/>
              </a:rPr>
              <a:t>Therefore, the SELECT statement reads as follows:</a:t>
            </a:r>
          </a:p>
          <a:p>
            <a:pPr marL="114300" lvl="1" defTabSz="401638"/>
            <a:r>
              <a:rPr lang="en-US" altLang="en-US">
                <a:solidFill>
                  <a:srgbClr val="000000"/>
                </a:solidFill>
                <a:latin typeface="Arial" panose="020B0604020202020204" pitchFamily="34" charset="0"/>
              </a:rPr>
              <a:t>“Select the row if an employee is a PRESIDENT </a:t>
            </a:r>
            <a:r>
              <a:rPr lang="en-US" altLang="en-US" i="1">
                <a:solidFill>
                  <a:srgbClr val="000000"/>
                </a:solidFill>
                <a:latin typeface="Arial" panose="020B0604020202020204" pitchFamily="34" charset="0"/>
              </a:rPr>
              <a:t>and</a:t>
            </a:r>
            <a:r>
              <a:rPr lang="en-US" altLang="en-US">
                <a:solidFill>
                  <a:srgbClr val="000000"/>
                </a:solidFill>
                <a:latin typeface="Arial" panose="020B0604020202020204" pitchFamily="34" charset="0"/>
              </a:rPr>
              <a:t> earns more than $1500 </a:t>
            </a:r>
            <a:r>
              <a:rPr lang="en-US" altLang="en-US" i="1">
                <a:solidFill>
                  <a:srgbClr val="000000"/>
                </a:solidFill>
                <a:latin typeface="Arial" panose="020B0604020202020204" pitchFamily="34" charset="0"/>
              </a:rPr>
              <a:t>or</a:t>
            </a:r>
            <a:r>
              <a:rPr lang="en-US" altLang="en-US">
                <a:solidFill>
                  <a:srgbClr val="000000"/>
                </a:solidFill>
                <a:latin typeface="Arial" panose="020B0604020202020204" pitchFamily="34" charset="0"/>
              </a:rPr>
              <a:t> if the employee is a SALESMAN.”</a:t>
            </a:r>
          </a:p>
          <a:p>
            <a:pPr marL="114300" lvl="1" defTabSz="401638"/>
            <a:endParaRPr lang="en-US" altLang="en-US">
              <a:solidFill>
                <a:srgbClr val="000000"/>
              </a:solidFill>
              <a:latin typeface="Arial" panose="020B0604020202020204" pitchFamily="34" charset="0"/>
            </a:endParaRPr>
          </a:p>
          <a:p>
            <a:pPr marL="114300" lvl="1" defTabSz="401638"/>
            <a:endParaRPr lang="en-US" altLang="en-US">
              <a:solidFill>
                <a:srgbClr val="000000"/>
              </a:solidFill>
              <a:latin typeface="Arial" panose="020B0604020202020204" pitchFamily="34" charset="0"/>
            </a:endParaRPr>
          </a:p>
          <a:p>
            <a:pPr marL="114300" lvl="1" defTabSz="401638"/>
            <a:endParaRPr lang="en-US" altLang="en-US">
              <a:solidFill>
                <a:srgbClr val="000000"/>
              </a:solidFill>
              <a:latin typeface="Arial" panose="020B0604020202020204" pitchFamily="34" charset="0"/>
            </a:endParaRPr>
          </a:p>
          <a:p>
            <a:pPr marL="114300" lvl="1" defTabSz="401638"/>
            <a:endParaRPr lang="en-US" altLang="en-US">
              <a:solidFill>
                <a:srgbClr val="000000"/>
              </a:solidFill>
              <a:latin typeface="Arial" panose="020B0604020202020204" pitchFamily="34" charset="0"/>
            </a:endParaRPr>
          </a:p>
          <a:p>
            <a:pPr marL="114300" lvl="1" defTabSz="401638"/>
            <a:endParaRPr lang="en-US" altLang="en-US">
              <a:solidFill>
                <a:srgbClr val="000000"/>
              </a:solidFill>
              <a:latin typeface="Arial" panose="020B0604020202020204" pitchFamily="34" charset="0"/>
            </a:endParaRPr>
          </a:p>
          <a:p>
            <a:pPr marL="114300" lvl="1" defTabSz="401638"/>
            <a:endParaRPr lang="en-US" altLang="en-US">
              <a:solidFill>
                <a:srgbClr val="000000"/>
              </a:solidFill>
              <a:latin typeface="Arial" panose="020B0604020202020204" pitchFamily="34" charset="0"/>
            </a:endParaRPr>
          </a:p>
          <a:p>
            <a:pPr marL="114300" lvl="1" defTabSz="401638"/>
            <a:endParaRPr lang="en-US" altLang="en-US">
              <a:solidFill>
                <a:srgbClr val="000000"/>
              </a:solidFill>
              <a:latin typeface="Arial" panose="020B0604020202020204" pitchFamily="34" charset="0"/>
            </a:endParaRPr>
          </a:p>
          <a:p>
            <a:pPr defTabSz="401638"/>
            <a:r>
              <a:rPr lang="en-US" altLang="en-US">
                <a:solidFill>
                  <a:schemeClr val="accent2"/>
                </a:solidFill>
                <a:latin typeface="Arial" panose="020B0604020202020204" pitchFamily="34" charset="0"/>
              </a:rPr>
              <a:t>Class Management Note</a:t>
            </a:r>
          </a:p>
          <a:p>
            <a:pPr marL="114300" lvl="1" defTabSz="401638"/>
            <a:r>
              <a:rPr lang="en-US" altLang="en-US">
                <a:solidFill>
                  <a:schemeClr val="accent2"/>
                </a:solidFill>
                <a:latin typeface="Arial" panose="020B0604020202020204" pitchFamily="34" charset="0"/>
              </a:rPr>
              <a:t>Demo: </a:t>
            </a:r>
            <a:r>
              <a:rPr lang="en-US" altLang="en-US" i="1">
                <a:solidFill>
                  <a:schemeClr val="accent2"/>
                </a:solidFill>
                <a:latin typeface="Arial" panose="020B0604020202020204" pitchFamily="34" charset="0"/>
              </a:rPr>
              <a:t>l2sal1.sql</a:t>
            </a:r>
          </a:p>
          <a:p>
            <a:pPr marL="114300" lvl="1" defTabSz="401638"/>
            <a:r>
              <a:rPr lang="en-US" altLang="en-US">
                <a:solidFill>
                  <a:schemeClr val="accent2"/>
                </a:solidFill>
                <a:latin typeface="Arial" panose="020B0604020202020204" pitchFamily="34" charset="0"/>
              </a:rPr>
              <a:t>Purpose: To illustrate the rules of precedence.</a:t>
            </a:r>
          </a:p>
        </p:txBody>
      </p:sp>
      <p:sp>
        <p:nvSpPr>
          <p:cNvPr id="24581" name="Rectangle 5">
            <a:extLst>
              <a:ext uri="{FF2B5EF4-FFF2-40B4-BE49-F238E27FC236}">
                <a16:creationId xmlns:a16="http://schemas.microsoft.com/office/drawing/2014/main" id="{16550C34-4CF6-4FC1-5E51-E22ACF84C0D1}"/>
              </a:ext>
            </a:extLst>
          </p:cNvPr>
          <p:cNvSpPr>
            <a:spLocks noGrp="1" noRot="1" noChangeAspect="1" noChangeArrowheads="1" noTextEdit="1"/>
          </p:cNvSpPr>
          <p:nvPr>
            <p:ph type="sldImg"/>
          </p:nvPr>
        </p:nvSpPr>
        <p:spPr>
          <a:xfrm>
            <a:off x="434975" y="155575"/>
            <a:ext cx="5983288" cy="4487863"/>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D37F320E-FF55-3EF5-8F69-67A27F8D3816}"/>
              </a:ext>
            </a:extLst>
          </p:cNvPr>
          <p:cNvSpPr>
            <a:spLocks noGrp="1" noRot="1" noChangeAspect="1" noChangeArrowheads="1" noTextEdit="1"/>
          </p:cNvSpPr>
          <p:nvPr>
            <p:ph type="sldImg"/>
          </p:nvPr>
        </p:nvSpPr>
        <p:spPr>
          <a:xfrm>
            <a:off x="434975" y="155575"/>
            <a:ext cx="5983288" cy="4487863"/>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6627" name="Rectangle 3">
            <a:extLst>
              <a:ext uri="{FF2B5EF4-FFF2-40B4-BE49-F238E27FC236}">
                <a16:creationId xmlns:a16="http://schemas.microsoft.com/office/drawing/2014/main" id="{802CE410-1205-A55B-A07C-1213D44AB96E}"/>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3272" tIns="46636" rIns="93272" bIns="46636"/>
          <a:lstStyle/>
          <a:p>
            <a:r>
              <a:rPr lang="en-US" altLang="en-US">
                <a:latin typeface="Arial" panose="020B0604020202020204" pitchFamily="34" charset="0"/>
              </a:rPr>
              <a:t>Using Parentheses</a:t>
            </a:r>
          </a:p>
          <a:p>
            <a:pPr lvl="1"/>
            <a:r>
              <a:rPr lang="en-US" altLang="en-US">
                <a:solidFill>
                  <a:srgbClr val="000000"/>
                </a:solidFill>
                <a:latin typeface="Arial" panose="020B0604020202020204" pitchFamily="34" charset="0"/>
              </a:rPr>
              <a:t>In the example, there are two conditions:</a:t>
            </a:r>
          </a:p>
          <a:p>
            <a:pPr lvl="2"/>
            <a:r>
              <a:rPr lang="en-US" altLang="en-US">
                <a:solidFill>
                  <a:srgbClr val="000000"/>
                </a:solidFill>
                <a:latin typeface="Arial" panose="020B0604020202020204" pitchFamily="34" charset="0"/>
              </a:rPr>
              <a:t>The first condition is that job is PRESIDENT </a:t>
            </a:r>
            <a:r>
              <a:rPr lang="en-US" altLang="en-US" i="1">
                <a:solidFill>
                  <a:srgbClr val="000000"/>
                </a:solidFill>
                <a:latin typeface="Arial" panose="020B0604020202020204" pitchFamily="34" charset="0"/>
              </a:rPr>
              <a:t>or</a:t>
            </a:r>
            <a:r>
              <a:rPr lang="en-US" altLang="en-US">
                <a:solidFill>
                  <a:srgbClr val="000000"/>
                </a:solidFill>
                <a:latin typeface="Arial" panose="020B0604020202020204" pitchFamily="34" charset="0"/>
              </a:rPr>
              <a:t> SALESMAN. </a:t>
            </a:r>
          </a:p>
          <a:p>
            <a:pPr lvl="2"/>
            <a:r>
              <a:rPr lang="en-US" altLang="en-US">
                <a:solidFill>
                  <a:srgbClr val="000000"/>
                </a:solidFill>
                <a:latin typeface="Arial" panose="020B0604020202020204" pitchFamily="34" charset="0"/>
              </a:rPr>
              <a:t>The second condition is that salary is greater than 1500. </a:t>
            </a:r>
            <a:endParaRPr lang="en-US" altLang="en-US" b="1">
              <a:solidFill>
                <a:srgbClr val="000000"/>
              </a:solidFill>
              <a:latin typeface="Arial" panose="020B0604020202020204" pitchFamily="34" charset="0"/>
            </a:endParaRPr>
          </a:p>
          <a:p>
            <a:pPr lvl="1"/>
            <a:r>
              <a:rPr lang="en-US" altLang="en-US">
                <a:solidFill>
                  <a:srgbClr val="000000"/>
                </a:solidFill>
                <a:latin typeface="Arial" panose="020B0604020202020204" pitchFamily="34" charset="0"/>
              </a:rPr>
              <a:t>Therefore, the SELECT statement reads as follows:</a:t>
            </a:r>
          </a:p>
          <a:p>
            <a:pPr lvl="1"/>
            <a:r>
              <a:rPr lang="en-US" altLang="en-US">
                <a:solidFill>
                  <a:srgbClr val="000000"/>
                </a:solidFill>
                <a:latin typeface="Arial" panose="020B0604020202020204" pitchFamily="34" charset="0"/>
              </a:rPr>
              <a:t>“Select the row if an employee is a PRESIDENT or a SALESMAN and if the employee earns more than $1500.”</a:t>
            </a: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r>
              <a:rPr lang="en-US" altLang="en-US">
                <a:solidFill>
                  <a:schemeClr val="accent2"/>
                </a:solidFill>
                <a:latin typeface="Arial" panose="020B0604020202020204" pitchFamily="34" charset="0"/>
              </a:rPr>
              <a:t>Class Management Note</a:t>
            </a:r>
          </a:p>
          <a:p>
            <a:pPr lvl="1"/>
            <a:r>
              <a:rPr lang="en-US" altLang="en-US">
                <a:solidFill>
                  <a:schemeClr val="accent2"/>
                </a:solidFill>
                <a:latin typeface="Arial" panose="020B0604020202020204" pitchFamily="34" charset="0"/>
              </a:rPr>
              <a:t>Demo: </a:t>
            </a:r>
            <a:r>
              <a:rPr lang="en-US" altLang="en-US" i="1">
                <a:solidFill>
                  <a:schemeClr val="accent2"/>
                </a:solidFill>
                <a:latin typeface="Arial" panose="020B0604020202020204" pitchFamily="34" charset="0"/>
              </a:rPr>
              <a:t>l2sal2.sql</a:t>
            </a:r>
          </a:p>
          <a:p>
            <a:pPr lvl="1"/>
            <a:r>
              <a:rPr lang="en-US" altLang="en-US">
                <a:solidFill>
                  <a:schemeClr val="accent2"/>
                </a:solidFill>
                <a:latin typeface="Arial" panose="020B0604020202020204" pitchFamily="34" charset="0"/>
              </a:rPr>
              <a:t>Purpose: To illustrate the rules of precedence.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BF47DA53-70A2-854B-AB18-2992FB63C98C}"/>
              </a:ext>
            </a:extLst>
          </p:cNvPr>
          <p:cNvSpPr>
            <a:spLocks noChangeArrowheads="1"/>
          </p:cNvSpPr>
          <p:nvPr/>
        </p:nvSpPr>
        <p:spPr bwMode="auto">
          <a:xfrm>
            <a:off x="3883025" y="0"/>
            <a:ext cx="2976563"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28675" name="Rectangle 3">
            <a:extLst>
              <a:ext uri="{FF2B5EF4-FFF2-40B4-BE49-F238E27FC236}">
                <a16:creationId xmlns:a16="http://schemas.microsoft.com/office/drawing/2014/main" id="{D79BF022-3F81-5589-77E3-FEDC0D69A331}"/>
              </a:ext>
            </a:extLst>
          </p:cNvPr>
          <p:cNvSpPr>
            <a:spLocks noChangeArrowheads="1"/>
          </p:cNvSpPr>
          <p:nvPr/>
        </p:nvSpPr>
        <p:spPr bwMode="auto">
          <a:xfrm>
            <a:off x="-3175" y="0"/>
            <a:ext cx="2973388"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28676" name="Rectangle 4">
            <a:extLst>
              <a:ext uri="{FF2B5EF4-FFF2-40B4-BE49-F238E27FC236}">
                <a16:creationId xmlns:a16="http://schemas.microsoft.com/office/drawing/2014/main" id="{C5ADFA6F-0F65-15DE-E2F6-8902930BF5BC}"/>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3272" tIns="46636" rIns="93272" bIns="46636"/>
          <a:lstStyle/>
          <a:p>
            <a:pPr defTabSz="401638">
              <a:tabLst>
                <a:tab pos="457200" algn="l"/>
              </a:tabLst>
            </a:pPr>
            <a:r>
              <a:rPr lang="en-US" altLang="en-US">
                <a:latin typeface="Arial" panose="020B0604020202020204" pitchFamily="34" charset="0"/>
              </a:rPr>
              <a:t>The ORDER BY Clause</a:t>
            </a:r>
          </a:p>
          <a:p>
            <a:pPr marL="114300" lvl="1" defTabSz="401638">
              <a:tabLst>
                <a:tab pos="457200" algn="l"/>
              </a:tabLst>
            </a:pPr>
            <a:r>
              <a:rPr lang="en-US" altLang="en-US">
                <a:latin typeface="Arial" panose="020B0604020202020204" pitchFamily="34" charset="0"/>
              </a:rPr>
              <a:t>The order of rows returned in a query result is undefined. The </a:t>
            </a:r>
            <a:r>
              <a:rPr lang="en-US" altLang="en-US">
                <a:solidFill>
                  <a:srgbClr val="FC0128"/>
                </a:solidFill>
                <a:latin typeface="Arial" panose="020B0604020202020204" pitchFamily="34" charset="0"/>
              </a:rPr>
              <a:t>ORDER BY </a:t>
            </a:r>
            <a:r>
              <a:rPr lang="en-US" altLang="en-US">
                <a:latin typeface="Arial" panose="020B0604020202020204" pitchFamily="34" charset="0"/>
              </a:rPr>
              <a:t>clause can be used to sort the rows. If you use the ORDER BY clause, you must place last. You can specify an expression or an alias to sort. </a:t>
            </a:r>
          </a:p>
          <a:p>
            <a:pPr defTabSz="401638">
              <a:tabLst>
                <a:tab pos="457200" algn="l"/>
              </a:tabLst>
            </a:pPr>
            <a:r>
              <a:rPr lang="en-US" altLang="en-US">
                <a:latin typeface="Arial" panose="020B0604020202020204" pitchFamily="34" charset="0"/>
              </a:rPr>
              <a:t>Syntax</a:t>
            </a:r>
          </a:p>
          <a:p>
            <a:pPr defTabSz="401638">
              <a:tabLst>
                <a:tab pos="457200" algn="l"/>
              </a:tabLst>
            </a:pPr>
            <a:endParaRPr lang="en-US" altLang="en-US" sz="500">
              <a:latin typeface="Arial" panose="020B0604020202020204" pitchFamily="34" charset="0"/>
            </a:endParaRPr>
          </a:p>
          <a:p>
            <a:pPr algn="just" defTabSz="401638">
              <a:spcBef>
                <a:spcPct val="0"/>
              </a:spcBef>
              <a:tabLst>
                <a:tab pos="457200" algn="l"/>
              </a:tabLst>
            </a:pPr>
            <a:r>
              <a:rPr lang="en-US" altLang="en-US" b="1">
                <a:latin typeface="Courier New" panose="02070309020205020404" pitchFamily="49" charset="0"/>
              </a:rPr>
              <a:t> 	</a:t>
            </a:r>
            <a:r>
              <a:rPr lang="en-US" altLang="en-US" b="1">
                <a:latin typeface="Times New Roman" panose="02020603050405020304" pitchFamily="18" charset="0"/>
              </a:rPr>
              <a:t>SELECT</a:t>
            </a:r>
            <a:r>
              <a:rPr lang="en-US" altLang="en-US" b="1" i="1">
                <a:latin typeface="Times New Roman" panose="02020603050405020304" pitchFamily="18" charset="0"/>
              </a:rPr>
              <a:t>	  	expr</a:t>
            </a:r>
            <a:r>
              <a:rPr lang="en-US" altLang="en-US" b="1">
                <a:latin typeface="Times New Roman" panose="02020603050405020304" pitchFamily="18" charset="0"/>
              </a:rPr>
              <a:t> </a:t>
            </a:r>
          </a:p>
          <a:p>
            <a:pPr defTabSz="401638">
              <a:spcBef>
                <a:spcPct val="0"/>
              </a:spcBef>
              <a:tabLst>
                <a:tab pos="457200" algn="l"/>
              </a:tabLst>
            </a:pPr>
            <a:r>
              <a:rPr lang="en-US" altLang="en-US" b="1">
                <a:latin typeface="Times New Roman" panose="02020603050405020304" pitchFamily="18" charset="0"/>
              </a:rPr>
              <a:t> 	FROM 	  	</a:t>
            </a:r>
            <a:r>
              <a:rPr lang="en-US" altLang="en-US" b="1" i="1">
                <a:latin typeface="Times New Roman" panose="02020603050405020304" pitchFamily="18" charset="0"/>
              </a:rPr>
              <a:t>table</a:t>
            </a:r>
            <a:endParaRPr lang="en-US" altLang="en-US" b="1">
              <a:latin typeface="Times New Roman" panose="02020603050405020304" pitchFamily="18" charset="0"/>
            </a:endParaRPr>
          </a:p>
          <a:p>
            <a:pPr defTabSz="401638">
              <a:spcBef>
                <a:spcPct val="0"/>
              </a:spcBef>
              <a:tabLst>
                <a:tab pos="457200" algn="l"/>
              </a:tabLst>
            </a:pPr>
            <a:r>
              <a:rPr lang="en-US" altLang="en-US" b="1">
                <a:latin typeface="Times New Roman" panose="02020603050405020304" pitchFamily="18" charset="0"/>
              </a:rPr>
              <a:t> 	[WHERE 	  	</a:t>
            </a:r>
            <a:r>
              <a:rPr lang="en-US" altLang="en-US" b="1" i="1">
                <a:latin typeface="Times New Roman" panose="02020603050405020304" pitchFamily="18" charset="0"/>
              </a:rPr>
              <a:t>condition(s)</a:t>
            </a:r>
            <a:r>
              <a:rPr lang="en-US" altLang="en-US" b="1">
                <a:latin typeface="Times New Roman" panose="02020603050405020304" pitchFamily="18" charset="0"/>
              </a:rPr>
              <a:t>]</a:t>
            </a:r>
          </a:p>
          <a:p>
            <a:pPr defTabSz="401638">
              <a:spcBef>
                <a:spcPct val="0"/>
              </a:spcBef>
              <a:tabLst>
                <a:tab pos="457200" algn="l"/>
              </a:tabLst>
            </a:pPr>
            <a:r>
              <a:rPr lang="en-US" altLang="en-US" b="1">
                <a:latin typeface="Times New Roman" panose="02020603050405020304" pitchFamily="18" charset="0"/>
              </a:rPr>
              <a:t> 	[ORDER BY	{</a:t>
            </a:r>
            <a:r>
              <a:rPr lang="en-US" altLang="en-US" b="1" i="1">
                <a:latin typeface="Times New Roman" panose="02020603050405020304" pitchFamily="18" charset="0"/>
              </a:rPr>
              <a:t>column</a:t>
            </a:r>
            <a:r>
              <a:rPr lang="en-US" altLang="en-US" b="1">
                <a:latin typeface="Times New Roman" panose="02020603050405020304" pitchFamily="18" charset="0"/>
              </a:rPr>
              <a:t>, </a:t>
            </a:r>
            <a:r>
              <a:rPr lang="en-US" altLang="en-US" b="1" i="1">
                <a:latin typeface="Times New Roman" panose="02020603050405020304" pitchFamily="18" charset="0"/>
              </a:rPr>
              <a:t>expr</a:t>
            </a:r>
            <a:r>
              <a:rPr lang="en-US" altLang="en-US" b="1">
                <a:latin typeface="Times New Roman" panose="02020603050405020304" pitchFamily="18" charset="0"/>
              </a:rPr>
              <a:t>} [ASC|DESC]];</a:t>
            </a:r>
          </a:p>
          <a:p>
            <a:pPr algn="just" defTabSz="401638">
              <a:lnSpc>
                <a:spcPct val="112000"/>
              </a:lnSpc>
              <a:spcBef>
                <a:spcPct val="0"/>
              </a:spcBef>
              <a:tabLst>
                <a:tab pos="457200" algn="l"/>
              </a:tabLst>
            </a:pPr>
            <a:endParaRPr lang="en-US" altLang="en-US" b="1">
              <a:latin typeface="Times" panose="02020603050405020304" pitchFamily="18" charset="0"/>
            </a:endParaRPr>
          </a:p>
          <a:p>
            <a:pPr marL="114300" lvl="1" defTabSz="401638">
              <a:spcBef>
                <a:spcPct val="0"/>
              </a:spcBef>
              <a:tabLst>
                <a:tab pos="457200" algn="l"/>
              </a:tabLst>
            </a:pPr>
            <a:r>
              <a:rPr lang="en-US" altLang="en-US" b="1">
                <a:latin typeface="Arial" panose="020B0604020202020204" pitchFamily="34" charset="0"/>
              </a:rPr>
              <a:t>where:</a:t>
            </a:r>
            <a:r>
              <a:rPr lang="en-US" altLang="en-US">
                <a:latin typeface="Arial" panose="020B0604020202020204" pitchFamily="34" charset="0"/>
              </a:rPr>
              <a:t>	ORDER BY		specifies the order in which the retrieved rows are displayed</a:t>
            </a:r>
            <a:endParaRPr lang="en-US" altLang="en-US">
              <a:latin typeface="Times" panose="02020603050405020304" pitchFamily="18" charset="0"/>
            </a:endParaRPr>
          </a:p>
          <a:p>
            <a:pPr marL="114300" lvl="1" defTabSz="401638">
              <a:spcBef>
                <a:spcPct val="0"/>
              </a:spcBef>
              <a:tabLst>
                <a:tab pos="457200" algn="l"/>
              </a:tabLst>
            </a:pPr>
            <a:r>
              <a:rPr lang="en-US" altLang="en-US">
                <a:latin typeface="Times" panose="02020603050405020304" pitchFamily="18" charset="0"/>
              </a:rPr>
              <a:t>		</a:t>
            </a:r>
            <a:r>
              <a:rPr lang="en-US" altLang="en-US">
                <a:solidFill>
                  <a:srgbClr val="FC0128"/>
                </a:solidFill>
                <a:latin typeface="Times" panose="02020603050405020304" pitchFamily="18" charset="0"/>
              </a:rPr>
              <a:t>ASC	</a:t>
            </a:r>
            <a:r>
              <a:rPr lang="en-US" altLang="en-US">
                <a:latin typeface="Times" panose="02020603050405020304" pitchFamily="18" charset="0"/>
              </a:rPr>
              <a:t>		orders the rows in ascending order (this is the default order)</a:t>
            </a:r>
          </a:p>
          <a:p>
            <a:pPr marL="114300" lvl="1" defTabSz="401638">
              <a:spcBef>
                <a:spcPct val="0"/>
              </a:spcBef>
              <a:tabLst>
                <a:tab pos="457200" algn="l"/>
              </a:tabLst>
            </a:pPr>
            <a:r>
              <a:rPr lang="en-US" altLang="en-US">
                <a:latin typeface="Times" panose="02020603050405020304" pitchFamily="18" charset="0"/>
              </a:rPr>
              <a:t>		</a:t>
            </a:r>
            <a:r>
              <a:rPr lang="en-US" altLang="en-US">
                <a:solidFill>
                  <a:srgbClr val="FC0128"/>
                </a:solidFill>
                <a:latin typeface="Times" panose="02020603050405020304" pitchFamily="18" charset="0"/>
              </a:rPr>
              <a:t>DESC	</a:t>
            </a:r>
            <a:r>
              <a:rPr lang="en-US" altLang="en-US">
                <a:latin typeface="Times" panose="02020603050405020304" pitchFamily="18" charset="0"/>
              </a:rPr>
              <a:t>		orders the rows in descending order</a:t>
            </a:r>
          </a:p>
          <a:p>
            <a:pPr marL="114300" lvl="1" defTabSz="401638">
              <a:spcBef>
                <a:spcPct val="0"/>
              </a:spcBef>
              <a:tabLst>
                <a:tab pos="457200" algn="l"/>
              </a:tabLst>
            </a:pPr>
            <a:endParaRPr lang="en-US" altLang="en-US">
              <a:latin typeface="Arial" panose="020B0604020202020204" pitchFamily="34" charset="0"/>
            </a:endParaRPr>
          </a:p>
          <a:p>
            <a:pPr marL="114300" lvl="1" defTabSz="401638">
              <a:spcBef>
                <a:spcPct val="0"/>
              </a:spcBef>
              <a:tabLst>
                <a:tab pos="457200" algn="l"/>
              </a:tabLst>
            </a:pPr>
            <a:r>
              <a:rPr lang="en-US" altLang="en-US">
                <a:latin typeface="Arial" panose="020B0604020202020204" pitchFamily="34" charset="0"/>
              </a:rPr>
              <a:t>If the ORDER BY clause is not used, the sort order is undefined, and the Oracle Server may not fetch rows in the same order for the same query twice. Use the ORDER BY clause to display the rows in a specific order.</a:t>
            </a:r>
          </a:p>
        </p:txBody>
      </p:sp>
      <p:sp>
        <p:nvSpPr>
          <p:cNvPr id="28677" name="Rectangle 5">
            <a:extLst>
              <a:ext uri="{FF2B5EF4-FFF2-40B4-BE49-F238E27FC236}">
                <a16:creationId xmlns:a16="http://schemas.microsoft.com/office/drawing/2014/main" id="{86447EF3-5A18-172B-68FC-43433A2A2562}"/>
              </a:ext>
            </a:extLst>
          </p:cNvPr>
          <p:cNvSpPr>
            <a:spLocks noGrp="1" noRot="1" noChangeAspect="1" noChangeArrowheads="1" noTextEdit="1"/>
          </p:cNvSpPr>
          <p:nvPr>
            <p:ph type="sldImg"/>
          </p:nvPr>
        </p:nvSpPr>
        <p:spPr>
          <a:xfrm>
            <a:off x="434975" y="155575"/>
            <a:ext cx="5983288" cy="4487863"/>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8678" name="Rectangle 6">
            <a:extLst>
              <a:ext uri="{FF2B5EF4-FFF2-40B4-BE49-F238E27FC236}">
                <a16:creationId xmlns:a16="http://schemas.microsoft.com/office/drawing/2014/main" id="{3290152D-DDF2-B2B1-3E29-66ADF9FDD807}"/>
              </a:ext>
            </a:extLst>
          </p:cNvPr>
          <p:cNvSpPr>
            <a:spLocks noChangeArrowheads="1"/>
          </p:cNvSpPr>
          <p:nvPr/>
        </p:nvSpPr>
        <p:spPr bwMode="auto">
          <a:xfrm>
            <a:off x="617538" y="5913438"/>
            <a:ext cx="5662612" cy="77787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grpSp>
        <p:nvGrpSpPr>
          <p:cNvPr id="28679" name="Group 7">
            <a:extLst>
              <a:ext uri="{FF2B5EF4-FFF2-40B4-BE49-F238E27FC236}">
                <a16:creationId xmlns:a16="http://schemas.microsoft.com/office/drawing/2014/main" id="{43F383C0-41CE-1590-9D37-ECB008ECFEB2}"/>
              </a:ext>
            </a:extLst>
          </p:cNvPr>
          <p:cNvGrpSpPr>
            <a:grpSpLocks/>
          </p:cNvGrpSpPr>
          <p:nvPr/>
        </p:nvGrpSpPr>
        <p:grpSpPr bwMode="auto">
          <a:xfrm>
            <a:off x="165100" y="7532688"/>
            <a:ext cx="285750" cy="307975"/>
            <a:chOff x="103" y="4659"/>
            <a:chExt cx="179" cy="191"/>
          </a:xfrm>
        </p:grpSpPr>
        <p:sp>
          <p:nvSpPr>
            <p:cNvPr id="28680" name="Freeform 8">
              <a:extLst>
                <a:ext uri="{FF2B5EF4-FFF2-40B4-BE49-F238E27FC236}">
                  <a16:creationId xmlns:a16="http://schemas.microsoft.com/office/drawing/2014/main" id="{F2B2D11B-5832-108B-46B6-D84ABAFA6B6A}"/>
                </a:ext>
              </a:extLst>
            </p:cNvPr>
            <p:cNvSpPr>
              <a:spLocks/>
            </p:cNvSpPr>
            <p:nvPr/>
          </p:nvSpPr>
          <p:spPr bwMode="auto">
            <a:xfrm>
              <a:off x="103" y="4659"/>
              <a:ext cx="179" cy="183"/>
            </a:xfrm>
            <a:custGeom>
              <a:avLst/>
              <a:gdLst>
                <a:gd name="T0" fmla="*/ 178 w 179"/>
                <a:gd name="T1" fmla="*/ 182 h 183"/>
                <a:gd name="T2" fmla="*/ 178 w 179"/>
                <a:gd name="T3" fmla="*/ 0 h 183"/>
                <a:gd name="T4" fmla="*/ 0 w 179"/>
                <a:gd name="T5" fmla="*/ 0 h 183"/>
                <a:gd name="T6" fmla="*/ 0 w 179"/>
                <a:gd name="T7" fmla="*/ 182 h 183"/>
                <a:gd name="T8" fmla="*/ 178 w 179"/>
                <a:gd name="T9" fmla="*/ 182 h 18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9" h="183">
                  <a:moveTo>
                    <a:pt x="178" y="182"/>
                  </a:moveTo>
                  <a:lnTo>
                    <a:pt x="178" y="0"/>
                  </a:lnTo>
                  <a:lnTo>
                    <a:pt x="0" y="0"/>
                  </a:lnTo>
                  <a:lnTo>
                    <a:pt x="0" y="182"/>
                  </a:lnTo>
                  <a:lnTo>
                    <a:pt x="178" y="182"/>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1" name="Freeform 9">
              <a:extLst>
                <a:ext uri="{FF2B5EF4-FFF2-40B4-BE49-F238E27FC236}">
                  <a16:creationId xmlns:a16="http://schemas.microsoft.com/office/drawing/2014/main" id="{9DC9D833-23A8-A0DF-512C-49478C251422}"/>
                </a:ext>
              </a:extLst>
            </p:cNvPr>
            <p:cNvSpPr>
              <a:spLocks/>
            </p:cNvSpPr>
            <p:nvPr/>
          </p:nvSpPr>
          <p:spPr bwMode="auto">
            <a:xfrm>
              <a:off x="184" y="4832"/>
              <a:ext cx="26" cy="18"/>
            </a:xfrm>
            <a:custGeom>
              <a:avLst/>
              <a:gdLst>
                <a:gd name="T0" fmla="*/ 25 w 26"/>
                <a:gd name="T1" fmla="*/ 17 h 18"/>
                <a:gd name="T2" fmla="*/ 25 w 26"/>
                <a:gd name="T3" fmla="*/ 0 h 18"/>
                <a:gd name="T4" fmla="*/ 0 w 26"/>
                <a:gd name="T5" fmla="*/ 0 h 18"/>
                <a:gd name="T6" fmla="*/ 0 w 26"/>
                <a:gd name="T7" fmla="*/ 17 h 18"/>
                <a:gd name="T8" fmla="*/ 25 w 26"/>
                <a:gd name="T9" fmla="*/ 17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8">
                  <a:moveTo>
                    <a:pt x="25" y="17"/>
                  </a:moveTo>
                  <a:lnTo>
                    <a:pt x="25" y="0"/>
                  </a:lnTo>
                  <a:lnTo>
                    <a:pt x="0" y="0"/>
                  </a:lnTo>
                  <a:lnTo>
                    <a:pt x="0" y="17"/>
                  </a:lnTo>
                  <a:lnTo>
                    <a:pt x="25" y="1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2" name="Freeform 10">
              <a:extLst>
                <a:ext uri="{FF2B5EF4-FFF2-40B4-BE49-F238E27FC236}">
                  <a16:creationId xmlns:a16="http://schemas.microsoft.com/office/drawing/2014/main" id="{FE5DE227-4A47-C20A-8C28-D2B2535DE6C8}"/>
                </a:ext>
              </a:extLst>
            </p:cNvPr>
            <p:cNvSpPr>
              <a:spLocks/>
            </p:cNvSpPr>
            <p:nvPr/>
          </p:nvSpPr>
          <p:spPr bwMode="auto">
            <a:xfrm>
              <a:off x="125" y="4711"/>
              <a:ext cx="33" cy="20"/>
            </a:xfrm>
            <a:custGeom>
              <a:avLst/>
              <a:gdLst>
                <a:gd name="T0" fmla="*/ 0 w 33"/>
                <a:gd name="T1" fmla="*/ 0 h 20"/>
                <a:gd name="T2" fmla="*/ 26 w 33"/>
                <a:gd name="T3" fmla="*/ 19 h 20"/>
                <a:gd name="T4" fmla="*/ 32 w 33"/>
                <a:gd name="T5" fmla="*/ 8 h 20"/>
                <a:gd name="T6" fmla="*/ 0 w 33"/>
                <a:gd name="T7" fmla="*/ 0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3" h="20">
                  <a:moveTo>
                    <a:pt x="0" y="0"/>
                  </a:moveTo>
                  <a:lnTo>
                    <a:pt x="26" y="19"/>
                  </a:lnTo>
                  <a:lnTo>
                    <a:pt x="32" y="8"/>
                  </a:lnTo>
                  <a:lnTo>
                    <a:pt x="0"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3" name="Freeform 11">
              <a:extLst>
                <a:ext uri="{FF2B5EF4-FFF2-40B4-BE49-F238E27FC236}">
                  <a16:creationId xmlns:a16="http://schemas.microsoft.com/office/drawing/2014/main" id="{841A8B93-62AC-8897-913A-B3927213BDBE}"/>
                </a:ext>
              </a:extLst>
            </p:cNvPr>
            <p:cNvSpPr>
              <a:spLocks/>
            </p:cNvSpPr>
            <p:nvPr/>
          </p:nvSpPr>
          <p:spPr bwMode="auto">
            <a:xfrm>
              <a:off x="236" y="4711"/>
              <a:ext cx="34" cy="20"/>
            </a:xfrm>
            <a:custGeom>
              <a:avLst/>
              <a:gdLst>
                <a:gd name="T0" fmla="*/ 33 w 34"/>
                <a:gd name="T1" fmla="*/ 0 h 20"/>
                <a:gd name="T2" fmla="*/ 6 w 34"/>
                <a:gd name="T3" fmla="*/ 19 h 20"/>
                <a:gd name="T4" fmla="*/ 0 w 34"/>
                <a:gd name="T5" fmla="*/ 9 h 20"/>
                <a:gd name="T6" fmla="*/ 33 w 34"/>
                <a:gd name="T7" fmla="*/ 0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4" h="20">
                  <a:moveTo>
                    <a:pt x="33" y="0"/>
                  </a:moveTo>
                  <a:lnTo>
                    <a:pt x="6" y="19"/>
                  </a:lnTo>
                  <a:lnTo>
                    <a:pt x="0" y="9"/>
                  </a:lnTo>
                  <a:lnTo>
                    <a:pt x="33"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4" name="Freeform 12">
              <a:extLst>
                <a:ext uri="{FF2B5EF4-FFF2-40B4-BE49-F238E27FC236}">
                  <a16:creationId xmlns:a16="http://schemas.microsoft.com/office/drawing/2014/main" id="{D1E16BFD-BDC0-32DB-55BC-2AEDD4CEE4F6}"/>
                </a:ext>
              </a:extLst>
            </p:cNvPr>
            <p:cNvSpPr>
              <a:spLocks/>
            </p:cNvSpPr>
            <p:nvPr/>
          </p:nvSpPr>
          <p:spPr bwMode="auto">
            <a:xfrm>
              <a:off x="122" y="4750"/>
              <a:ext cx="34" cy="18"/>
            </a:xfrm>
            <a:custGeom>
              <a:avLst/>
              <a:gdLst>
                <a:gd name="T0" fmla="*/ 0 w 34"/>
                <a:gd name="T1" fmla="*/ 17 h 18"/>
                <a:gd name="T2" fmla="*/ 33 w 34"/>
                <a:gd name="T3" fmla="*/ 13 h 18"/>
                <a:gd name="T4" fmla="*/ 31 w 34"/>
                <a:gd name="T5" fmla="*/ 0 h 18"/>
                <a:gd name="T6" fmla="*/ 0 w 34"/>
                <a:gd name="T7" fmla="*/ 17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4" h="18">
                  <a:moveTo>
                    <a:pt x="0" y="17"/>
                  </a:moveTo>
                  <a:lnTo>
                    <a:pt x="33" y="13"/>
                  </a:lnTo>
                  <a:lnTo>
                    <a:pt x="31" y="0"/>
                  </a:lnTo>
                  <a:lnTo>
                    <a:pt x="0" y="1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5" name="Freeform 13">
              <a:extLst>
                <a:ext uri="{FF2B5EF4-FFF2-40B4-BE49-F238E27FC236}">
                  <a16:creationId xmlns:a16="http://schemas.microsoft.com/office/drawing/2014/main" id="{FD1AFA0E-BB42-6C60-4B32-FB8410416811}"/>
                </a:ext>
              </a:extLst>
            </p:cNvPr>
            <p:cNvSpPr>
              <a:spLocks/>
            </p:cNvSpPr>
            <p:nvPr/>
          </p:nvSpPr>
          <p:spPr bwMode="auto">
            <a:xfrm>
              <a:off x="238" y="4751"/>
              <a:ext cx="35" cy="18"/>
            </a:xfrm>
            <a:custGeom>
              <a:avLst/>
              <a:gdLst>
                <a:gd name="T0" fmla="*/ 34 w 35"/>
                <a:gd name="T1" fmla="*/ 17 h 18"/>
                <a:gd name="T2" fmla="*/ 0 w 35"/>
                <a:gd name="T3" fmla="*/ 14 h 18"/>
                <a:gd name="T4" fmla="*/ 2 w 35"/>
                <a:gd name="T5" fmla="*/ 0 h 18"/>
                <a:gd name="T6" fmla="*/ 34 w 35"/>
                <a:gd name="T7" fmla="*/ 17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5" h="18">
                  <a:moveTo>
                    <a:pt x="34" y="17"/>
                  </a:moveTo>
                  <a:lnTo>
                    <a:pt x="0" y="14"/>
                  </a:lnTo>
                  <a:lnTo>
                    <a:pt x="2" y="0"/>
                  </a:lnTo>
                  <a:lnTo>
                    <a:pt x="34" y="1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6" name="Freeform 14">
              <a:extLst>
                <a:ext uri="{FF2B5EF4-FFF2-40B4-BE49-F238E27FC236}">
                  <a16:creationId xmlns:a16="http://schemas.microsoft.com/office/drawing/2014/main" id="{3642263E-AD5E-3A1C-FE87-862801F46C23}"/>
                </a:ext>
              </a:extLst>
            </p:cNvPr>
            <p:cNvSpPr>
              <a:spLocks/>
            </p:cNvSpPr>
            <p:nvPr/>
          </p:nvSpPr>
          <p:spPr bwMode="auto">
            <a:xfrm>
              <a:off x="148" y="4673"/>
              <a:ext cx="26" cy="29"/>
            </a:xfrm>
            <a:custGeom>
              <a:avLst/>
              <a:gdLst>
                <a:gd name="T0" fmla="*/ 0 w 26"/>
                <a:gd name="T1" fmla="*/ 0 h 29"/>
                <a:gd name="T2" fmla="*/ 15 w 26"/>
                <a:gd name="T3" fmla="*/ 28 h 29"/>
                <a:gd name="T4" fmla="*/ 25 w 26"/>
                <a:gd name="T5" fmla="*/ 21 h 29"/>
                <a:gd name="T6" fmla="*/ 0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0" y="0"/>
                  </a:moveTo>
                  <a:lnTo>
                    <a:pt x="15" y="28"/>
                  </a:lnTo>
                  <a:lnTo>
                    <a:pt x="25" y="21"/>
                  </a:lnTo>
                  <a:lnTo>
                    <a:pt x="0"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7" name="Freeform 15">
              <a:extLst>
                <a:ext uri="{FF2B5EF4-FFF2-40B4-BE49-F238E27FC236}">
                  <a16:creationId xmlns:a16="http://schemas.microsoft.com/office/drawing/2014/main" id="{4ACBE83C-6F9A-75C3-7076-5F99688AECA5}"/>
                </a:ext>
              </a:extLst>
            </p:cNvPr>
            <p:cNvSpPr>
              <a:spLocks/>
            </p:cNvSpPr>
            <p:nvPr/>
          </p:nvSpPr>
          <p:spPr bwMode="auto">
            <a:xfrm>
              <a:off x="213" y="4675"/>
              <a:ext cx="28" cy="31"/>
            </a:xfrm>
            <a:custGeom>
              <a:avLst/>
              <a:gdLst>
                <a:gd name="T0" fmla="*/ 27 w 28"/>
                <a:gd name="T1" fmla="*/ 0 h 31"/>
                <a:gd name="T2" fmla="*/ 11 w 28"/>
                <a:gd name="T3" fmla="*/ 30 h 31"/>
                <a:gd name="T4" fmla="*/ 0 w 28"/>
                <a:gd name="T5" fmla="*/ 22 h 31"/>
                <a:gd name="T6" fmla="*/ 27 w 28"/>
                <a:gd name="T7" fmla="*/ 0 h 3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 h="31">
                  <a:moveTo>
                    <a:pt x="27" y="0"/>
                  </a:moveTo>
                  <a:lnTo>
                    <a:pt x="11" y="30"/>
                  </a:lnTo>
                  <a:lnTo>
                    <a:pt x="0" y="22"/>
                  </a:lnTo>
                  <a:lnTo>
                    <a:pt x="27"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8" name="Freeform 16">
              <a:extLst>
                <a:ext uri="{FF2B5EF4-FFF2-40B4-BE49-F238E27FC236}">
                  <a16:creationId xmlns:a16="http://schemas.microsoft.com/office/drawing/2014/main" id="{E2CDA47C-10A7-CD64-5380-07D5B305857B}"/>
                </a:ext>
              </a:extLst>
            </p:cNvPr>
            <p:cNvSpPr>
              <a:spLocks/>
            </p:cNvSpPr>
            <p:nvPr/>
          </p:nvSpPr>
          <p:spPr bwMode="auto">
            <a:xfrm>
              <a:off x="188" y="4664"/>
              <a:ext cx="17" cy="31"/>
            </a:xfrm>
            <a:custGeom>
              <a:avLst/>
              <a:gdLst>
                <a:gd name="T0" fmla="*/ 7 w 17"/>
                <a:gd name="T1" fmla="*/ 0 h 31"/>
                <a:gd name="T2" fmla="*/ 0 w 17"/>
                <a:gd name="T3" fmla="*/ 30 h 31"/>
                <a:gd name="T4" fmla="*/ 16 w 17"/>
                <a:gd name="T5" fmla="*/ 29 h 31"/>
                <a:gd name="T6" fmla="*/ 7 w 17"/>
                <a:gd name="T7" fmla="*/ 0 h 3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31">
                  <a:moveTo>
                    <a:pt x="7" y="0"/>
                  </a:moveTo>
                  <a:lnTo>
                    <a:pt x="0" y="30"/>
                  </a:lnTo>
                  <a:lnTo>
                    <a:pt x="16" y="29"/>
                  </a:lnTo>
                  <a:lnTo>
                    <a:pt x="7"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9" name="Freeform 17">
              <a:extLst>
                <a:ext uri="{FF2B5EF4-FFF2-40B4-BE49-F238E27FC236}">
                  <a16:creationId xmlns:a16="http://schemas.microsoft.com/office/drawing/2014/main" id="{2F9D2473-D836-E59E-38BA-6E820CEE67E8}"/>
                </a:ext>
              </a:extLst>
            </p:cNvPr>
            <p:cNvSpPr>
              <a:spLocks/>
            </p:cNvSpPr>
            <p:nvPr/>
          </p:nvSpPr>
          <p:spPr bwMode="auto">
            <a:xfrm>
              <a:off x="162" y="4710"/>
              <a:ext cx="68" cy="115"/>
            </a:xfrm>
            <a:custGeom>
              <a:avLst/>
              <a:gdLst>
                <a:gd name="T0" fmla="*/ 22 w 68"/>
                <a:gd name="T1" fmla="*/ 114 h 115"/>
                <a:gd name="T2" fmla="*/ 23 w 68"/>
                <a:gd name="T3" fmla="*/ 94 h 115"/>
                <a:gd name="T4" fmla="*/ 21 w 68"/>
                <a:gd name="T5" fmla="*/ 91 h 115"/>
                <a:gd name="T6" fmla="*/ 15 w 68"/>
                <a:gd name="T7" fmla="*/ 83 h 115"/>
                <a:gd name="T8" fmla="*/ 9 w 68"/>
                <a:gd name="T9" fmla="*/ 72 h 115"/>
                <a:gd name="T10" fmla="*/ 4 w 68"/>
                <a:gd name="T11" fmla="*/ 58 h 115"/>
                <a:gd name="T12" fmla="*/ 0 w 68"/>
                <a:gd name="T13" fmla="*/ 42 h 115"/>
                <a:gd name="T14" fmla="*/ 1 w 68"/>
                <a:gd name="T15" fmla="*/ 27 h 115"/>
                <a:gd name="T16" fmla="*/ 8 w 68"/>
                <a:gd name="T17" fmla="*/ 12 h 115"/>
                <a:gd name="T18" fmla="*/ 23 w 68"/>
                <a:gd name="T19" fmla="*/ 0 h 115"/>
                <a:gd name="T20" fmla="*/ 43 w 68"/>
                <a:gd name="T21" fmla="*/ 0 h 115"/>
                <a:gd name="T22" fmla="*/ 46 w 68"/>
                <a:gd name="T23" fmla="*/ 1 h 115"/>
                <a:gd name="T24" fmla="*/ 51 w 68"/>
                <a:gd name="T25" fmla="*/ 5 h 115"/>
                <a:gd name="T26" fmla="*/ 57 w 68"/>
                <a:gd name="T27" fmla="*/ 11 h 115"/>
                <a:gd name="T28" fmla="*/ 63 w 68"/>
                <a:gd name="T29" fmla="*/ 20 h 115"/>
                <a:gd name="T30" fmla="*/ 67 w 68"/>
                <a:gd name="T31" fmla="*/ 32 h 115"/>
                <a:gd name="T32" fmla="*/ 66 w 68"/>
                <a:gd name="T33" fmla="*/ 48 h 115"/>
                <a:gd name="T34" fmla="*/ 59 w 68"/>
                <a:gd name="T35" fmla="*/ 68 h 115"/>
                <a:gd name="T36" fmla="*/ 43 w 68"/>
                <a:gd name="T37" fmla="*/ 91 h 115"/>
                <a:gd name="T38" fmla="*/ 43 w 68"/>
                <a:gd name="T39" fmla="*/ 114 h 115"/>
                <a:gd name="T40" fmla="*/ 22 w 68"/>
                <a:gd name="T41" fmla="*/ 114 h 11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68" h="115">
                  <a:moveTo>
                    <a:pt x="22" y="114"/>
                  </a:moveTo>
                  <a:lnTo>
                    <a:pt x="23" y="94"/>
                  </a:lnTo>
                  <a:lnTo>
                    <a:pt x="21" y="91"/>
                  </a:lnTo>
                  <a:lnTo>
                    <a:pt x="15" y="83"/>
                  </a:lnTo>
                  <a:lnTo>
                    <a:pt x="9" y="72"/>
                  </a:lnTo>
                  <a:lnTo>
                    <a:pt x="4" y="58"/>
                  </a:lnTo>
                  <a:lnTo>
                    <a:pt x="0" y="42"/>
                  </a:lnTo>
                  <a:lnTo>
                    <a:pt x="1" y="27"/>
                  </a:lnTo>
                  <a:lnTo>
                    <a:pt x="8" y="12"/>
                  </a:lnTo>
                  <a:lnTo>
                    <a:pt x="23" y="0"/>
                  </a:lnTo>
                  <a:lnTo>
                    <a:pt x="43" y="0"/>
                  </a:lnTo>
                  <a:lnTo>
                    <a:pt x="46" y="1"/>
                  </a:lnTo>
                  <a:lnTo>
                    <a:pt x="51" y="5"/>
                  </a:lnTo>
                  <a:lnTo>
                    <a:pt x="57" y="11"/>
                  </a:lnTo>
                  <a:lnTo>
                    <a:pt x="63" y="20"/>
                  </a:lnTo>
                  <a:lnTo>
                    <a:pt x="67" y="32"/>
                  </a:lnTo>
                  <a:lnTo>
                    <a:pt x="66" y="48"/>
                  </a:lnTo>
                  <a:lnTo>
                    <a:pt x="59" y="68"/>
                  </a:lnTo>
                  <a:lnTo>
                    <a:pt x="43" y="91"/>
                  </a:lnTo>
                  <a:lnTo>
                    <a:pt x="43" y="114"/>
                  </a:lnTo>
                  <a:lnTo>
                    <a:pt x="22" y="114"/>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90" name="Freeform 18">
              <a:extLst>
                <a:ext uri="{FF2B5EF4-FFF2-40B4-BE49-F238E27FC236}">
                  <a16:creationId xmlns:a16="http://schemas.microsoft.com/office/drawing/2014/main" id="{BAE3512F-E4C5-0933-86D3-DADAD4945D1C}"/>
                </a:ext>
              </a:extLst>
            </p:cNvPr>
            <p:cNvSpPr>
              <a:spLocks/>
            </p:cNvSpPr>
            <p:nvPr/>
          </p:nvSpPr>
          <p:spPr bwMode="auto">
            <a:xfrm>
              <a:off x="190" y="4731"/>
              <a:ext cx="17" cy="87"/>
            </a:xfrm>
            <a:custGeom>
              <a:avLst/>
              <a:gdLst>
                <a:gd name="T0" fmla="*/ 4 w 17"/>
                <a:gd name="T1" fmla="*/ 0 h 87"/>
                <a:gd name="T2" fmla="*/ 6 w 17"/>
                <a:gd name="T3" fmla="*/ 6 h 87"/>
                <a:gd name="T4" fmla="*/ 2 w 17"/>
                <a:gd name="T5" fmla="*/ 7 h 87"/>
                <a:gd name="T6" fmla="*/ 2 w 17"/>
                <a:gd name="T7" fmla="*/ 78 h 87"/>
                <a:gd name="T8" fmla="*/ 0 w 17"/>
                <a:gd name="T9" fmla="*/ 79 h 87"/>
                <a:gd name="T10" fmla="*/ 0 w 17"/>
                <a:gd name="T11" fmla="*/ 86 h 87"/>
                <a:gd name="T12" fmla="*/ 2 w 17"/>
                <a:gd name="T13" fmla="*/ 86 h 87"/>
                <a:gd name="T14" fmla="*/ 4 w 17"/>
                <a:gd name="T15" fmla="*/ 86 h 87"/>
                <a:gd name="T16" fmla="*/ 6 w 17"/>
                <a:gd name="T17" fmla="*/ 86 h 87"/>
                <a:gd name="T18" fmla="*/ 9 w 17"/>
                <a:gd name="T19" fmla="*/ 85 h 87"/>
                <a:gd name="T20" fmla="*/ 13 w 17"/>
                <a:gd name="T21" fmla="*/ 85 h 87"/>
                <a:gd name="T22" fmla="*/ 16 w 17"/>
                <a:gd name="T23" fmla="*/ 84 h 87"/>
                <a:gd name="T24" fmla="*/ 16 w 17"/>
                <a:gd name="T25" fmla="*/ 82 h 87"/>
                <a:gd name="T26" fmla="*/ 16 w 17"/>
                <a:gd name="T27" fmla="*/ 79 h 87"/>
                <a:gd name="T28" fmla="*/ 16 w 17"/>
                <a:gd name="T29" fmla="*/ 48 h 87"/>
                <a:gd name="T30" fmla="*/ 13 w 17"/>
                <a:gd name="T31" fmla="*/ 47 h 87"/>
                <a:gd name="T32" fmla="*/ 13 w 17"/>
                <a:gd name="T33" fmla="*/ 39 h 87"/>
                <a:gd name="T34" fmla="*/ 13 w 17"/>
                <a:gd name="T35" fmla="*/ 5 h 87"/>
                <a:gd name="T36" fmla="*/ 4 w 17"/>
                <a:gd name="T37" fmla="*/ 0 h 8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7" h="87">
                  <a:moveTo>
                    <a:pt x="4" y="0"/>
                  </a:moveTo>
                  <a:lnTo>
                    <a:pt x="6" y="6"/>
                  </a:lnTo>
                  <a:lnTo>
                    <a:pt x="2" y="7"/>
                  </a:lnTo>
                  <a:lnTo>
                    <a:pt x="2" y="78"/>
                  </a:lnTo>
                  <a:lnTo>
                    <a:pt x="0" y="79"/>
                  </a:lnTo>
                  <a:lnTo>
                    <a:pt x="0" y="86"/>
                  </a:lnTo>
                  <a:lnTo>
                    <a:pt x="2" y="86"/>
                  </a:lnTo>
                  <a:lnTo>
                    <a:pt x="4" y="86"/>
                  </a:lnTo>
                  <a:lnTo>
                    <a:pt x="6" y="86"/>
                  </a:lnTo>
                  <a:lnTo>
                    <a:pt x="9" y="85"/>
                  </a:lnTo>
                  <a:lnTo>
                    <a:pt x="13" y="85"/>
                  </a:lnTo>
                  <a:lnTo>
                    <a:pt x="16" y="84"/>
                  </a:lnTo>
                  <a:lnTo>
                    <a:pt x="16" y="82"/>
                  </a:lnTo>
                  <a:lnTo>
                    <a:pt x="16" y="79"/>
                  </a:lnTo>
                  <a:lnTo>
                    <a:pt x="16" y="48"/>
                  </a:lnTo>
                  <a:lnTo>
                    <a:pt x="13" y="47"/>
                  </a:lnTo>
                  <a:lnTo>
                    <a:pt x="13" y="39"/>
                  </a:lnTo>
                  <a:lnTo>
                    <a:pt x="13" y="5"/>
                  </a:lnTo>
                  <a:lnTo>
                    <a:pt x="4"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5C50C749-32AA-6420-B5C5-2DEC7BC767E5}"/>
              </a:ext>
            </a:extLst>
          </p:cNvPr>
          <p:cNvSpPr>
            <a:spLocks noChangeArrowheads="1"/>
          </p:cNvSpPr>
          <p:nvPr/>
        </p:nvSpPr>
        <p:spPr bwMode="auto">
          <a:xfrm>
            <a:off x="3883025" y="0"/>
            <a:ext cx="2976563"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30723" name="Rectangle 3">
            <a:extLst>
              <a:ext uri="{FF2B5EF4-FFF2-40B4-BE49-F238E27FC236}">
                <a16:creationId xmlns:a16="http://schemas.microsoft.com/office/drawing/2014/main" id="{21F114BB-6CE8-FBEF-6EB4-879E176D952B}"/>
              </a:ext>
            </a:extLst>
          </p:cNvPr>
          <p:cNvSpPr>
            <a:spLocks noChangeArrowheads="1"/>
          </p:cNvSpPr>
          <p:nvPr/>
        </p:nvSpPr>
        <p:spPr bwMode="auto">
          <a:xfrm>
            <a:off x="-3175" y="0"/>
            <a:ext cx="2973388"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30724" name="Rectangle 4">
            <a:extLst>
              <a:ext uri="{FF2B5EF4-FFF2-40B4-BE49-F238E27FC236}">
                <a16:creationId xmlns:a16="http://schemas.microsoft.com/office/drawing/2014/main" id="{143FAF2B-CC23-FDD2-5894-9A1F901BE850}"/>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3272" tIns="46636" rIns="93272" bIns="46636"/>
          <a:lstStyle/>
          <a:p>
            <a:pPr defTabSz="401638">
              <a:tabLst>
                <a:tab pos="457200" algn="l"/>
              </a:tabLst>
            </a:pPr>
            <a:r>
              <a:rPr lang="en-US" altLang="en-US">
                <a:latin typeface="Arial" panose="020B0604020202020204" pitchFamily="34" charset="0"/>
              </a:rPr>
              <a:t>The ORDER BY Clause</a:t>
            </a:r>
          </a:p>
          <a:p>
            <a:pPr marL="114300" lvl="1" defTabSz="401638">
              <a:tabLst>
                <a:tab pos="457200" algn="l"/>
              </a:tabLst>
            </a:pPr>
            <a:r>
              <a:rPr lang="en-US" altLang="en-US">
                <a:latin typeface="Arial" panose="020B0604020202020204" pitchFamily="34" charset="0"/>
              </a:rPr>
              <a:t>The order of rows returned in a query result is undefined. The </a:t>
            </a:r>
            <a:r>
              <a:rPr lang="en-US" altLang="en-US">
                <a:solidFill>
                  <a:srgbClr val="FC0128"/>
                </a:solidFill>
                <a:latin typeface="Arial" panose="020B0604020202020204" pitchFamily="34" charset="0"/>
              </a:rPr>
              <a:t>ORDER BY </a:t>
            </a:r>
            <a:r>
              <a:rPr lang="en-US" altLang="en-US">
                <a:latin typeface="Arial" panose="020B0604020202020204" pitchFamily="34" charset="0"/>
              </a:rPr>
              <a:t>clause can be used to sort the rows. If you use the ORDER BY clause, you must place last. You can specify an expression or an alias to sort. </a:t>
            </a:r>
          </a:p>
          <a:p>
            <a:pPr defTabSz="401638">
              <a:tabLst>
                <a:tab pos="457200" algn="l"/>
              </a:tabLst>
            </a:pPr>
            <a:r>
              <a:rPr lang="en-US" altLang="en-US">
                <a:latin typeface="Arial" panose="020B0604020202020204" pitchFamily="34" charset="0"/>
              </a:rPr>
              <a:t>Syntax</a:t>
            </a:r>
          </a:p>
          <a:p>
            <a:pPr defTabSz="401638">
              <a:tabLst>
                <a:tab pos="457200" algn="l"/>
              </a:tabLst>
            </a:pPr>
            <a:endParaRPr lang="en-US" altLang="en-US" sz="500">
              <a:latin typeface="Arial" panose="020B0604020202020204" pitchFamily="34" charset="0"/>
            </a:endParaRPr>
          </a:p>
          <a:p>
            <a:pPr algn="just" defTabSz="401638">
              <a:spcBef>
                <a:spcPct val="0"/>
              </a:spcBef>
              <a:tabLst>
                <a:tab pos="457200" algn="l"/>
              </a:tabLst>
            </a:pPr>
            <a:r>
              <a:rPr lang="en-US" altLang="en-US" b="1">
                <a:latin typeface="Courier New" panose="02070309020205020404" pitchFamily="49" charset="0"/>
              </a:rPr>
              <a:t> 	</a:t>
            </a:r>
            <a:r>
              <a:rPr lang="en-US" altLang="en-US" b="1">
                <a:latin typeface="Times New Roman" panose="02020603050405020304" pitchFamily="18" charset="0"/>
              </a:rPr>
              <a:t>SELECT</a:t>
            </a:r>
            <a:r>
              <a:rPr lang="en-US" altLang="en-US" b="1" i="1">
                <a:latin typeface="Times New Roman" panose="02020603050405020304" pitchFamily="18" charset="0"/>
              </a:rPr>
              <a:t>	  	expr</a:t>
            </a:r>
            <a:r>
              <a:rPr lang="en-US" altLang="en-US" b="1">
                <a:latin typeface="Times New Roman" panose="02020603050405020304" pitchFamily="18" charset="0"/>
              </a:rPr>
              <a:t> </a:t>
            </a:r>
          </a:p>
          <a:p>
            <a:pPr defTabSz="401638">
              <a:spcBef>
                <a:spcPct val="0"/>
              </a:spcBef>
              <a:tabLst>
                <a:tab pos="457200" algn="l"/>
              </a:tabLst>
            </a:pPr>
            <a:r>
              <a:rPr lang="en-US" altLang="en-US" b="1">
                <a:latin typeface="Times New Roman" panose="02020603050405020304" pitchFamily="18" charset="0"/>
              </a:rPr>
              <a:t> 	FROM 	  	</a:t>
            </a:r>
            <a:r>
              <a:rPr lang="en-US" altLang="en-US" b="1" i="1">
                <a:latin typeface="Times New Roman" panose="02020603050405020304" pitchFamily="18" charset="0"/>
              </a:rPr>
              <a:t>table</a:t>
            </a:r>
            <a:endParaRPr lang="en-US" altLang="en-US" b="1">
              <a:latin typeface="Times New Roman" panose="02020603050405020304" pitchFamily="18" charset="0"/>
            </a:endParaRPr>
          </a:p>
          <a:p>
            <a:pPr defTabSz="401638">
              <a:spcBef>
                <a:spcPct val="0"/>
              </a:spcBef>
              <a:tabLst>
                <a:tab pos="457200" algn="l"/>
              </a:tabLst>
            </a:pPr>
            <a:r>
              <a:rPr lang="en-US" altLang="en-US" b="1">
                <a:latin typeface="Times New Roman" panose="02020603050405020304" pitchFamily="18" charset="0"/>
              </a:rPr>
              <a:t> 	[WHERE 	  	</a:t>
            </a:r>
            <a:r>
              <a:rPr lang="en-US" altLang="en-US" b="1" i="1">
                <a:latin typeface="Times New Roman" panose="02020603050405020304" pitchFamily="18" charset="0"/>
              </a:rPr>
              <a:t>condition(s)</a:t>
            </a:r>
            <a:r>
              <a:rPr lang="en-US" altLang="en-US" b="1">
                <a:latin typeface="Times New Roman" panose="02020603050405020304" pitchFamily="18" charset="0"/>
              </a:rPr>
              <a:t>]</a:t>
            </a:r>
          </a:p>
          <a:p>
            <a:pPr defTabSz="401638">
              <a:spcBef>
                <a:spcPct val="0"/>
              </a:spcBef>
              <a:tabLst>
                <a:tab pos="457200" algn="l"/>
              </a:tabLst>
            </a:pPr>
            <a:r>
              <a:rPr lang="en-US" altLang="en-US" b="1">
                <a:latin typeface="Times New Roman" panose="02020603050405020304" pitchFamily="18" charset="0"/>
              </a:rPr>
              <a:t> 	[ORDER BY	{</a:t>
            </a:r>
            <a:r>
              <a:rPr lang="en-US" altLang="en-US" b="1" i="1">
                <a:latin typeface="Times New Roman" panose="02020603050405020304" pitchFamily="18" charset="0"/>
              </a:rPr>
              <a:t>column</a:t>
            </a:r>
            <a:r>
              <a:rPr lang="en-US" altLang="en-US" b="1">
                <a:latin typeface="Times New Roman" panose="02020603050405020304" pitchFamily="18" charset="0"/>
              </a:rPr>
              <a:t>, </a:t>
            </a:r>
            <a:r>
              <a:rPr lang="en-US" altLang="en-US" b="1" i="1">
                <a:latin typeface="Times New Roman" panose="02020603050405020304" pitchFamily="18" charset="0"/>
              </a:rPr>
              <a:t>expr</a:t>
            </a:r>
            <a:r>
              <a:rPr lang="en-US" altLang="en-US" b="1">
                <a:latin typeface="Times New Roman" panose="02020603050405020304" pitchFamily="18" charset="0"/>
              </a:rPr>
              <a:t>} [ASC|DESC]];</a:t>
            </a:r>
          </a:p>
          <a:p>
            <a:pPr algn="just" defTabSz="401638">
              <a:lnSpc>
                <a:spcPct val="112000"/>
              </a:lnSpc>
              <a:spcBef>
                <a:spcPct val="0"/>
              </a:spcBef>
              <a:tabLst>
                <a:tab pos="457200" algn="l"/>
              </a:tabLst>
            </a:pPr>
            <a:endParaRPr lang="en-US" altLang="en-US" b="1">
              <a:latin typeface="Times" panose="02020603050405020304" pitchFamily="18" charset="0"/>
            </a:endParaRPr>
          </a:p>
          <a:p>
            <a:pPr marL="114300" lvl="1" defTabSz="401638">
              <a:spcBef>
                <a:spcPct val="0"/>
              </a:spcBef>
              <a:tabLst>
                <a:tab pos="457200" algn="l"/>
              </a:tabLst>
            </a:pPr>
            <a:r>
              <a:rPr lang="en-US" altLang="en-US" b="1">
                <a:latin typeface="Arial" panose="020B0604020202020204" pitchFamily="34" charset="0"/>
              </a:rPr>
              <a:t>where:</a:t>
            </a:r>
            <a:r>
              <a:rPr lang="en-US" altLang="en-US">
                <a:latin typeface="Arial" panose="020B0604020202020204" pitchFamily="34" charset="0"/>
              </a:rPr>
              <a:t>	ORDER BY		specifies the order in which the retrieved rows are displayed</a:t>
            </a:r>
            <a:endParaRPr lang="en-US" altLang="en-US">
              <a:latin typeface="Times" panose="02020603050405020304" pitchFamily="18" charset="0"/>
            </a:endParaRPr>
          </a:p>
          <a:p>
            <a:pPr marL="114300" lvl="1" defTabSz="401638">
              <a:spcBef>
                <a:spcPct val="0"/>
              </a:spcBef>
              <a:tabLst>
                <a:tab pos="457200" algn="l"/>
              </a:tabLst>
            </a:pPr>
            <a:r>
              <a:rPr lang="en-US" altLang="en-US">
                <a:latin typeface="Times" panose="02020603050405020304" pitchFamily="18" charset="0"/>
              </a:rPr>
              <a:t>		</a:t>
            </a:r>
            <a:r>
              <a:rPr lang="en-US" altLang="en-US">
                <a:solidFill>
                  <a:srgbClr val="FC0128"/>
                </a:solidFill>
                <a:latin typeface="Times" panose="02020603050405020304" pitchFamily="18" charset="0"/>
              </a:rPr>
              <a:t>ASC	</a:t>
            </a:r>
            <a:r>
              <a:rPr lang="en-US" altLang="en-US">
                <a:latin typeface="Times" panose="02020603050405020304" pitchFamily="18" charset="0"/>
              </a:rPr>
              <a:t>		orders the rows in ascending order (this is the default order)</a:t>
            </a:r>
          </a:p>
          <a:p>
            <a:pPr marL="114300" lvl="1" defTabSz="401638">
              <a:spcBef>
                <a:spcPct val="0"/>
              </a:spcBef>
              <a:tabLst>
                <a:tab pos="457200" algn="l"/>
              </a:tabLst>
            </a:pPr>
            <a:r>
              <a:rPr lang="en-US" altLang="en-US">
                <a:latin typeface="Times" panose="02020603050405020304" pitchFamily="18" charset="0"/>
              </a:rPr>
              <a:t>		</a:t>
            </a:r>
            <a:r>
              <a:rPr lang="en-US" altLang="en-US">
                <a:solidFill>
                  <a:srgbClr val="FC0128"/>
                </a:solidFill>
                <a:latin typeface="Times" panose="02020603050405020304" pitchFamily="18" charset="0"/>
              </a:rPr>
              <a:t>DESC	</a:t>
            </a:r>
            <a:r>
              <a:rPr lang="en-US" altLang="en-US">
                <a:latin typeface="Times" panose="02020603050405020304" pitchFamily="18" charset="0"/>
              </a:rPr>
              <a:t>		orders the rows in descending order</a:t>
            </a:r>
          </a:p>
          <a:p>
            <a:pPr marL="114300" lvl="1" defTabSz="401638">
              <a:spcBef>
                <a:spcPct val="0"/>
              </a:spcBef>
              <a:tabLst>
                <a:tab pos="457200" algn="l"/>
              </a:tabLst>
            </a:pPr>
            <a:endParaRPr lang="en-US" altLang="en-US">
              <a:latin typeface="Arial" panose="020B0604020202020204" pitchFamily="34" charset="0"/>
            </a:endParaRPr>
          </a:p>
          <a:p>
            <a:pPr marL="114300" lvl="1" defTabSz="401638">
              <a:spcBef>
                <a:spcPct val="0"/>
              </a:spcBef>
              <a:tabLst>
                <a:tab pos="457200" algn="l"/>
              </a:tabLst>
            </a:pPr>
            <a:r>
              <a:rPr lang="en-US" altLang="en-US">
                <a:latin typeface="Arial" panose="020B0604020202020204" pitchFamily="34" charset="0"/>
              </a:rPr>
              <a:t>If the ORDER BY clause is not used, the sort order is undefined, and the Oracle Server may not fetch rows in the same order for the same query twice. Use the ORDER BY clause to display the rows in a specific order.</a:t>
            </a:r>
          </a:p>
        </p:txBody>
      </p:sp>
      <p:sp>
        <p:nvSpPr>
          <p:cNvPr id="30725" name="Rectangle 5">
            <a:extLst>
              <a:ext uri="{FF2B5EF4-FFF2-40B4-BE49-F238E27FC236}">
                <a16:creationId xmlns:a16="http://schemas.microsoft.com/office/drawing/2014/main" id="{F0408405-551E-389A-9FCD-F918250C76FF}"/>
              </a:ext>
            </a:extLst>
          </p:cNvPr>
          <p:cNvSpPr>
            <a:spLocks noGrp="1" noRot="1" noChangeAspect="1" noChangeArrowheads="1" noTextEdit="1"/>
          </p:cNvSpPr>
          <p:nvPr>
            <p:ph type="sldImg"/>
          </p:nvPr>
        </p:nvSpPr>
        <p:spPr>
          <a:xfrm>
            <a:off x="434975" y="155575"/>
            <a:ext cx="5983288" cy="4487863"/>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0726" name="Rectangle 6">
            <a:extLst>
              <a:ext uri="{FF2B5EF4-FFF2-40B4-BE49-F238E27FC236}">
                <a16:creationId xmlns:a16="http://schemas.microsoft.com/office/drawing/2014/main" id="{1A69A416-E9BF-BE66-5E22-490DF2D09C80}"/>
              </a:ext>
            </a:extLst>
          </p:cNvPr>
          <p:cNvSpPr>
            <a:spLocks noChangeArrowheads="1"/>
          </p:cNvSpPr>
          <p:nvPr/>
        </p:nvSpPr>
        <p:spPr bwMode="auto">
          <a:xfrm>
            <a:off x="617538" y="5913438"/>
            <a:ext cx="5662612" cy="77787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grpSp>
        <p:nvGrpSpPr>
          <p:cNvPr id="30727" name="Group 7">
            <a:extLst>
              <a:ext uri="{FF2B5EF4-FFF2-40B4-BE49-F238E27FC236}">
                <a16:creationId xmlns:a16="http://schemas.microsoft.com/office/drawing/2014/main" id="{9F56ADB5-D213-CCD5-D5A4-61B9DB73A850}"/>
              </a:ext>
            </a:extLst>
          </p:cNvPr>
          <p:cNvGrpSpPr>
            <a:grpSpLocks/>
          </p:cNvGrpSpPr>
          <p:nvPr/>
        </p:nvGrpSpPr>
        <p:grpSpPr bwMode="auto">
          <a:xfrm>
            <a:off x="165100" y="7532688"/>
            <a:ext cx="285750" cy="307975"/>
            <a:chOff x="103" y="4659"/>
            <a:chExt cx="179" cy="191"/>
          </a:xfrm>
        </p:grpSpPr>
        <p:sp>
          <p:nvSpPr>
            <p:cNvPr id="30728" name="Freeform 8">
              <a:extLst>
                <a:ext uri="{FF2B5EF4-FFF2-40B4-BE49-F238E27FC236}">
                  <a16:creationId xmlns:a16="http://schemas.microsoft.com/office/drawing/2014/main" id="{038D80A7-D81F-D53D-1F68-1AEB54DF5979}"/>
                </a:ext>
              </a:extLst>
            </p:cNvPr>
            <p:cNvSpPr>
              <a:spLocks/>
            </p:cNvSpPr>
            <p:nvPr/>
          </p:nvSpPr>
          <p:spPr bwMode="auto">
            <a:xfrm>
              <a:off x="103" y="4659"/>
              <a:ext cx="179" cy="183"/>
            </a:xfrm>
            <a:custGeom>
              <a:avLst/>
              <a:gdLst>
                <a:gd name="T0" fmla="*/ 178 w 179"/>
                <a:gd name="T1" fmla="*/ 182 h 183"/>
                <a:gd name="T2" fmla="*/ 178 w 179"/>
                <a:gd name="T3" fmla="*/ 0 h 183"/>
                <a:gd name="T4" fmla="*/ 0 w 179"/>
                <a:gd name="T5" fmla="*/ 0 h 183"/>
                <a:gd name="T6" fmla="*/ 0 w 179"/>
                <a:gd name="T7" fmla="*/ 182 h 183"/>
                <a:gd name="T8" fmla="*/ 178 w 179"/>
                <a:gd name="T9" fmla="*/ 182 h 18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9" h="183">
                  <a:moveTo>
                    <a:pt x="178" y="182"/>
                  </a:moveTo>
                  <a:lnTo>
                    <a:pt x="178" y="0"/>
                  </a:lnTo>
                  <a:lnTo>
                    <a:pt x="0" y="0"/>
                  </a:lnTo>
                  <a:lnTo>
                    <a:pt x="0" y="182"/>
                  </a:lnTo>
                  <a:lnTo>
                    <a:pt x="178" y="182"/>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29" name="Freeform 9">
              <a:extLst>
                <a:ext uri="{FF2B5EF4-FFF2-40B4-BE49-F238E27FC236}">
                  <a16:creationId xmlns:a16="http://schemas.microsoft.com/office/drawing/2014/main" id="{0886973D-F28F-28F5-792A-DAD45731FE71}"/>
                </a:ext>
              </a:extLst>
            </p:cNvPr>
            <p:cNvSpPr>
              <a:spLocks/>
            </p:cNvSpPr>
            <p:nvPr/>
          </p:nvSpPr>
          <p:spPr bwMode="auto">
            <a:xfrm>
              <a:off x="184" y="4832"/>
              <a:ext cx="26" cy="18"/>
            </a:xfrm>
            <a:custGeom>
              <a:avLst/>
              <a:gdLst>
                <a:gd name="T0" fmla="*/ 25 w 26"/>
                <a:gd name="T1" fmla="*/ 17 h 18"/>
                <a:gd name="T2" fmla="*/ 25 w 26"/>
                <a:gd name="T3" fmla="*/ 0 h 18"/>
                <a:gd name="T4" fmla="*/ 0 w 26"/>
                <a:gd name="T5" fmla="*/ 0 h 18"/>
                <a:gd name="T6" fmla="*/ 0 w 26"/>
                <a:gd name="T7" fmla="*/ 17 h 18"/>
                <a:gd name="T8" fmla="*/ 25 w 26"/>
                <a:gd name="T9" fmla="*/ 17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8">
                  <a:moveTo>
                    <a:pt x="25" y="17"/>
                  </a:moveTo>
                  <a:lnTo>
                    <a:pt x="25" y="0"/>
                  </a:lnTo>
                  <a:lnTo>
                    <a:pt x="0" y="0"/>
                  </a:lnTo>
                  <a:lnTo>
                    <a:pt x="0" y="17"/>
                  </a:lnTo>
                  <a:lnTo>
                    <a:pt x="25" y="1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30" name="Freeform 10">
              <a:extLst>
                <a:ext uri="{FF2B5EF4-FFF2-40B4-BE49-F238E27FC236}">
                  <a16:creationId xmlns:a16="http://schemas.microsoft.com/office/drawing/2014/main" id="{7EB0406B-7AE6-17A1-CA3B-9A1FD8950211}"/>
                </a:ext>
              </a:extLst>
            </p:cNvPr>
            <p:cNvSpPr>
              <a:spLocks/>
            </p:cNvSpPr>
            <p:nvPr/>
          </p:nvSpPr>
          <p:spPr bwMode="auto">
            <a:xfrm>
              <a:off x="125" y="4711"/>
              <a:ext cx="33" cy="20"/>
            </a:xfrm>
            <a:custGeom>
              <a:avLst/>
              <a:gdLst>
                <a:gd name="T0" fmla="*/ 0 w 33"/>
                <a:gd name="T1" fmla="*/ 0 h 20"/>
                <a:gd name="T2" fmla="*/ 26 w 33"/>
                <a:gd name="T3" fmla="*/ 19 h 20"/>
                <a:gd name="T4" fmla="*/ 32 w 33"/>
                <a:gd name="T5" fmla="*/ 8 h 20"/>
                <a:gd name="T6" fmla="*/ 0 w 33"/>
                <a:gd name="T7" fmla="*/ 0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3" h="20">
                  <a:moveTo>
                    <a:pt x="0" y="0"/>
                  </a:moveTo>
                  <a:lnTo>
                    <a:pt x="26" y="19"/>
                  </a:lnTo>
                  <a:lnTo>
                    <a:pt x="32" y="8"/>
                  </a:lnTo>
                  <a:lnTo>
                    <a:pt x="0"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31" name="Freeform 11">
              <a:extLst>
                <a:ext uri="{FF2B5EF4-FFF2-40B4-BE49-F238E27FC236}">
                  <a16:creationId xmlns:a16="http://schemas.microsoft.com/office/drawing/2014/main" id="{2D549D16-588A-336B-A61A-454EC5E77814}"/>
                </a:ext>
              </a:extLst>
            </p:cNvPr>
            <p:cNvSpPr>
              <a:spLocks/>
            </p:cNvSpPr>
            <p:nvPr/>
          </p:nvSpPr>
          <p:spPr bwMode="auto">
            <a:xfrm>
              <a:off x="236" y="4711"/>
              <a:ext cx="34" cy="20"/>
            </a:xfrm>
            <a:custGeom>
              <a:avLst/>
              <a:gdLst>
                <a:gd name="T0" fmla="*/ 33 w 34"/>
                <a:gd name="T1" fmla="*/ 0 h 20"/>
                <a:gd name="T2" fmla="*/ 6 w 34"/>
                <a:gd name="T3" fmla="*/ 19 h 20"/>
                <a:gd name="T4" fmla="*/ 0 w 34"/>
                <a:gd name="T5" fmla="*/ 9 h 20"/>
                <a:gd name="T6" fmla="*/ 33 w 34"/>
                <a:gd name="T7" fmla="*/ 0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4" h="20">
                  <a:moveTo>
                    <a:pt x="33" y="0"/>
                  </a:moveTo>
                  <a:lnTo>
                    <a:pt x="6" y="19"/>
                  </a:lnTo>
                  <a:lnTo>
                    <a:pt x="0" y="9"/>
                  </a:lnTo>
                  <a:lnTo>
                    <a:pt x="33"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32" name="Freeform 12">
              <a:extLst>
                <a:ext uri="{FF2B5EF4-FFF2-40B4-BE49-F238E27FC236}">
                  <a16:creationId xmlns:a16="http://schemas.microsoft.com/office/drawing/2014/main" id="{87E3CE20-4AF1-7A0D-FBEA-8855E1553B8E}"/>
                </a:ext>
              </a:extLst>
            </p:cNvPr>
            <p:cNvSpPr>
              <a:spLocks/>
            </p:cNvSpPr>
            <p:nvPr/>
          </p:nvSpPr>
          <p:spPr bwMode="auto">
            <a:xfrm>
              <a:off x="122" y="4750"/>
              <a:ext cx="34" cy="18"/>
            </a:xfrm>
            <a:custGeom>
              <a:avLst/>
              <a:gdLst>
                <a:gd name="T0" fmla="*/ 0 w 34"/>
                <a:gd name="T1" fmla="*/ 17 h 18"/>
                <a:gd name="T2" fmla="*/ 33 w 34"/>
                <a:gd name="T3" fmla="*/ 13 h 18"/>
                <a:gd name="T4" fmla="*/ 31 w 34"/>
                <a:gd name="T5" fmla="*/ 0 h 18"/>
                <a:gd name="T6" fmla="*/ 0 w 34"/>
                <a:gd name="T7" fmla="*/ 17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4" h="18">
                  <a:moveTo>
                    <a:pt x="0" y="17"/>
                  </a:moveTo>
                  <a:lnTo>
                    <a:pt x="33" y="13"/>
                  </a:lnTo>
                  <a:lnTo>
                    <a:pt x="31" y="0"/>
                  </a:lnTo>
                  <a:lnTo>
                    <a:pt x="0" y="1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33" name="Freeform 13">
              <a:extLst>
                <a:ext uri="{FF2B5EF4-FFF2-40B4-BE49-F238E27FC236}">
                  <a16:creationId xmlns:a16="http://schemas.microsoft.com/office/drawing/2014/main" id="{8D7F49A0-C631-50E8-4D65-71E528793E1A}"/>
                </a:ext>
              </a:extLst>
            </p:cNvPr>
            <p:cNvSpPr>
              <a:spLocks/>
            </p:cNvSpPr>
            <p:nvPr/>
          </p:nvSpPr>
          <p:spPr bwMode="auto">
            <a:xfrm>
              <a:off x="238" y="4751"/>
              <a:ext cx="35" cy="18"/>
            </a:xfrm>
            <a:custGeom>
              <a:avLst/>
              <a:gdLst>
                <a:gd name="T0" fmla="*/ 34 w 35"/>
                <a:gd name="T1" fmla="*/ 17 h 18"/>
                <a:gd name="T2" fmla="*/ 0 w 35"/>
                <a:gd name="T3" fmla="*/ 14 h 18"/>
                <a:gd name="T4" fmla="*/ 2 w 35"/>
                <a:gd name="T5" fmla="*/ 0 h 18"/>
                <a:gd name="T6" fmla="*/ 34 w 35"/>
                <a:gd name="T7" fmla="*/ 17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5" h="18">
                  <a:moveTo>
                    <a:pt x="34" y="17"/>
                  </a:moveTo>
                  <a:lnTo>
                    <a:pt x="0" y="14"/>
                  </a:lnTo>
                  <a:lnTo>
                    <a:pt x="2" y="0"/>
                  </a:lnTo>
                  <a:lnTo>
                    <a:pt x="34" y="1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34" name="Freeform 14">
              <a:extLst>
                <a:ext uri="{FF2B5EF4-FFF2-40B4-BE49-F238E27FC236}">
                  <a16:creationId xmlns:a16="http://schemas.microsoft.com/office/drawing/2014/main" id="{7A389F69-2742-D92E-937C-550E72049502}"/>
                </a:ext>
              </a:extLst>
            </p:cNvPr>
            <p:cNvSpPr>
              <a:spLocks/>
            </p:cNvSpPr>
            <p:nvPr/>
          </p:nvSpPr>
          <p:spPr bwMode="auto">
            <a:xfrm>
              <a:off x="148" y="4673"/>
              <a:ext cx="26" cy="29"/>
            </a:xfrm>
            <a:custGeom>
              <a:avLst/>
              <a:gdLst>
                <a:gd name="T0" fmla="*/ 0 w 26"/>
                <a:gd name="T1" fmla="*/ 0 h 29"/>
                <a:gd name="T2" fmla="*/ 15 w 26"/>
                <a:gd name="T3" fmla="*/ 28 h 29"/>
                <a:gd name="T4" fmla="*/ 25 w 26"/>
                <a:gd name="T5" fmla="*/ 21 h 29"/>
                <a:gd name="T6" fmla="*/ 0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0" y="0"/>
                  </a:moveTo>
                  <a:lnTo>
                    <a:pt x="15" y="28"/>
                  </a:lnTo>
                  <a:lnTo>
                    <a:pt x="25" y="21"/>
                  </a:lnTo>
                  <a:lnTo>
                    <a:pt x="0"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35" name="Freeform 15">
              <a:extLst>
                <a:ext uri="{FF2B5EF4-FFF2-40B4-BE49-F238E27FC236}">
                  <a16:creationId xmlns:a16="http://schemas.microsoft.com/office/drawing/2014/main" id="{CCDC8323-7F0E-B06B-ECBC-B0E7DD88197A}"/>
                </a:ext>
              </a:extLst>
            </p:cNvPr>
            <p:cNvSpPr>
              <a:spLocks/>
            </p:cNvSpPr>
            <p:nvPr/>
          </p:nvSpPr>
          <p:spPr bwMode="auto">
            <a:xfrm>
              <a:off x="213" y="4675"/>
              <a:ext cx="28" cy="31"/>
            </a:xfrm>
            <a:custGeom>
              <a:avLst/>
              <a:gdLst>
                <a:gd name="T0" fmla="*/ 27 w 28"/>
                <a:gd name="T1" fmla="*/ 0 h 31"/>
                <a:gd name="T2" fmla="*/ 11 w 28"/>
                <a:gd name="T3" fmla="*/ 30 h 31"/>
                <a:gd name="T4" fmla="*/ 0 w 28"/>
                <a:gd name="T5" fmla="*/ 22 h 31"/>
                <a:gd name="T6" fmla="*/ 27 w 28"/>
                <a:gd name="T7" fmla="*/ 0 h 3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 h="31">
                  <a:moveTo>
                    <a:pt x="27" y="0"/>
                  </a:moveTo>
                  <a:lnTo>
                    <a:pt x="11" y="30"/>
                  </a:lnTo>
                  <a:lnTo>
                    <a:pt x="0" y="22"/>
                  </a:lnTo>
                  <a:lnTo>
                    <a:pt x="27"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36" name="Freeform 16">
              <a:extLst>
                <a:ext uri="{FF2B5EF4-FFF2-40B4-BE49-F238E27FC236}">
                  <a16:creationId xmlns:a16="http://schemas.microsoft.com/office/drawing/2014/main" id="{D3121F9B-10C7-5EA3-A7CF-8C4E94BF3A87}"/>
                </a:ext>
              </a:extLst>
            </p:cNvPr>
            <p:cNvSpPr>
              <a:spLocks/>
            </p:cNvSpPr>
            <p:nvPr/>
          </p:nvSpPr>
          <p:spPr bwMode="auto">
            <a:xfrm>
              <a:off x="188" y="4664"/>
              <a:ext cx="17" cy="31"/>
            </a:xfrm>
            <a:custGeom>
              <a:avLst/>
              <a:gdLst>
                <a:gd name="T0" fmla="*/ 7 w 17"/>
                <a:gd name="T1" fmla="*/ 0 h 31"/>
                <a:gd name="T2" fmla="*/ 0 w 17"/>
                <a:gd name="T3" fmla="*/ 30 h 31"/>
                <a:gd name="T4" fmla="*/ 16 w 17"/>
                <a:gd name="T5" fmla="*/ 29 h 31"/>
                <a:gd name="T6" fmla="*/ 7 w 17"/>
                <a:gd name="T7" fmla="*/ 0 h 3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31">
                  <a:moveTo>
                    <a:pt x="7" y="0"/>
                  </a:moveTo>
                  <a:lnTo>
                    <a:pt x="0" y="30"/>
                  </a:lnTo>
                  <a:lnTo>
                    <a:pt x="16" y="29"/>
                  </a:lnTo>
                  <a:lnTo>
                    <a:pt x="7"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37" name="Freeform 17">
              <a:extLst>
                <a:ext uri="{FF2B5EF4-FFF2-40B4-BE49-F238E27FC236}">
                  <a16:creationId xmlns:a16="http://schemas.microsoft.com/office/drawing/2014/main" id="{0A66572A-256E-B31A-25FD-97A0CA65D4FE}"/>
                </a:ext>
              </a:extLst>
            </p:cNvPr>
            <p:cNvSpPr>
              <a:spLocks/>
            </p:cNvSpPr>
            <p:nvPr/>
          </p:nvSpPr>
          <p:spPr bwMode="auto">
            <a:xfrm>
              <a:off x="162" y="4710"/>
              <a:ext cx="68" cy="115"/>
            </a:xfrm>
            <a:custGeom>
              <a:avLst/>
              <a:gdLst>
                <a:gd name="T0" fmla="*/ 22 w 68"/>
                <a:gd name="T1" fmla="*/ 114 h 115"/>
                <a:gd name="T2" fmla="*/ 23 w 68"/>
                <a:gd name="T3" fmla="*/ 94 h 115"/>
                <a:gd name="T4" fmla="*/ 21 w 68"/>
                <a:gd name="T5" fmla="*/ 91 h 115"/>
                <a:gd name="T6" fmla="*/ 15 w 68"/>
                <a:gd name="T7" fmla="*/ 83 h 115"/>
                <a:gd name="T8" fmla="*/ 9 w 68"/>
                <a:gd name="T9" fmla="*/ 72 h 115"/>
                <a:gd name="T10" fmla="*/ 4 w 68"/>
                <a:gd name="T11" fmla="*/ 58 h 115"/>
                <a:gd name="T12" fmla="*/ 0 w 68"/>
                <a:gd name="T13" fmla="*/ 42 h 115"/>
                <a:gd name="T14" fmla="*/ 1 w 68"/>
                <a:gd name="T15" fmla="*/ 27 h 115"/>
                <a:gd name="T16" fmla="*/ 8 w 68"/>
                <a:gd name="T17" fmla="*/ 12 h 115"/>
                <a:gd name="T18" fmla="*/ 23 w 68"/>
                <a:gd name="T19" fmla="*/ 0 h 115"/>
                <a:gd name="T20" fmla="*/ 43 w 68"/>
                <a:gd name="T21" fmla="*/ 0 h 115"/>
                <a:gd name="T22" fmla="*/ 46 w 68"/>
                <a:gd name="T23" fmla="*/ 1 h 115"/>
                <a:gd name="T24" fmla="*/ 51 w 68"/>
                <a:gd name="T25" fmla="*/ 5 h 115"/>
                <a:gd name="T26" fmla="*/ 57 w 68"/>
                <a:gd name="T27" fmla="*/ 11 h 115"/>
                <a:gd name="T28" fmla="*/ 63 w 68"/>
                <a:gd name="T29" fmla="*/ 20 h 115"/>
                <a:gd name="T30" fmla="*/ 67 w 68"/>
                <a:gd name="T31" fmla="*/ 32 h 115"/>
                <a:gd name="T32" fmla="*/ 66 w 68"/>
                <a:gd name="T33" fmla="*/ 48 h 115"/>
                <a:gd name="T34" fmla="*/ 59 w 68"/>
                <a:gd name="T35" fmla="*/ 68 h 115"/>
                <a:gd name="T36" fmla="*/ 43 w 68"/>
                <a:gd name="T37" fmla="*/ 91 h 115"/>
                <a:gd name="T38" fmla="*/ 43 w 68"/>
                <a:gd name="T39" fmla="*/ 114 h 115"/>
                <a:gd name="T40" fmla="*/ 22 w 68"/>
                <a:gd name="T41" fmla="*/ 114 h 11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68" h="115">
                  <a:moveTo>
                    <a:pt x="22" y="114"/>
                  </a:moveTo>
                  <a:lnTo>
                    <a:pt x="23" y="94"/>
                  </a:lnTo>
                  <a:lnTo>
                    <a:pt x="21" y="91"/>
                  </a:lnTo>
                  <a:lnTo>
                    <a:pt x="15" y="83"/>
                  </a:lnTo>
                  <a:lnTo>
                    <a:pt x="9" y="72"/>
                  </a:lnTo>
                  <a:lnTo>
                    <a:pt x="4" y="58"/>
                  </a:lnTo>
                  <a:lnTo>
                    <a:pt x="0" y="42"/>
                  </a:lnTo>
                  <a:lnTo>
                    <a:pt x="1" y="27"/>
                  </a:lnTo>
                  <a:lnTo>
                    <a:pt x="8" y="12"/>
                  </a:lnTo>
                  <a:lnTo>
                    <a:pt x="23" y="0"/>
                  </a:lnTo>
                  <a:lnTo>
                    <a:pt x="43" y="0"/>
                  </a:lnTo>
                  <a:lnTo>
                    <a:pt x="46" y="1"/>
                  </a:lnTo>
                  <a:lnTo>
                    <a:pt x="51" y="5"/>
                  </a:lnTo>
                  <a:lnTo>
                    <a:pt x="57" y="11"/>
                  </a:lnTo>
                  <a:lnTo>
                    <a:pt x="63" y="20"/>
                  </a:lnTo>
                  <a:lnTo>
                    <a:pt x="67" y="32"/>
                  </a:lnTo>
                  <a:lnTo>
                    <a:pt x="66" y="48"/>
                  </a:lnTo>
                  <a:lnTo>
                    <a:pt x="59" y="68"/>
                  </a:lnTo>
                  <a:lnTo>
                    <a:pt x="43" y="91"/>
                  </a:lnTo>
                  <a:lnTo>
                    <a:pt x="43" y="114"/>
                  </a:lnTo>
                  <a:lnTo>
                    <a:pt x="22" y="114"/>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38" name="Freeform 18">
              <a:extLst>
                <a:ext uri="{FF2B5EF4-FFF2-40B4-BE49-F238E27FC236}">
                  <a16:creationId xmlns:a16="http://schemas.microsoft.com/office/drawing/2014/main" id="{153A7719-C489-D151-890B-C7C730968D59}"/>
                </a:ext>
              </a:extLst>
            </p:cNvPr>
            <p:cNvSpPr>
              <a:spLocks/>
            </p:cNvSpPr>
            <p:nvPr/>
          </p:nvSpPr>
          <p:spPr bwMode="auto">
            <a:xfrm>
              <a:off x="190" y="4731"/>
              <a:ext cx="17" cy="87"/>
            </a:xfrm>
            <a:custGeom>
              <a:avLst/>
              <a:gdLst>
                <a:gd name="T0" fmla="*/ 4 w 17"/>
                <a:gd name="T1" fmla="*/ 0 h 87"/>
                <a:gd name="T2" fmla="*/ 6 w 17"/>
                <a:gd name="T3" fmla="*/ 6 h 87"/>
                <a:gd name="T4" fmla="*/ 2 w 17"/>
                <a:gd name="T5" fmla="*/ 7 h 87"/>
                <a:gd name="T6" fmla="*/ 2 w 17"/>
                <a:gd name="T7" fmla="*/ 78 h 87"/>
                <a:gd name="T8" fmla="*/ 0 w 17"/>
                <a:gd name="T9" fmla="*/ 79 h 87"/>
                <a:gd name="T10" fmla="*/ 0 w 17"/>
                <a:gd name="T11" fmla="*/ 86 h 87"/>
                <a:gd name="T12" fmla="*/ 2 w 17"/>
                <a:gd name="T13" fmla="*/ 86 h 87"/>
                <a:gd name="T14" fmla="*/ 4 w 17"/>
                <a:gd name="T15" fmla="*/ 86 h 87"/>
                <a:gd name="T16" fmla="*/ 6 w 17"/>
                <a:gd name="T17" fmla="*/ 86 h 87"/>
                <a:gd name="T18" fmla="*/ 9 w 17"/>
                <a:gd name="T19" fmla="*/ 85 h 87"/>
                <a:gd name="T20" fmla="*/ 13 w 17"/>
                <a:gd name="T21" fmla="*/ 85 h 87"/>
                <a:gd name="T22" fmla="*/ 16 w 17"/>
                <a:gd name="T23" fmla="*/ 84 h 87"/>
                <a:gd name="T24" fmla="*/ 16 w 17"/>
                <a:gd name="T25" fmla="*/ 82 h 87"/>
                <a:gd name="T26" fmla="*/ 16 w 17"/>
                <a:gd name="T27" fmla="*/ 79 h 87"/>
                <a:gd name="T28" fmla="*/ 16 w 17"/>
                <a:gd name="T29" fmla="*/ 48 h 87"/>
                <a:gd name="T30" fmla="*/ 13 w 17"/>
                <a:gd name="T31" fmla="*/ 47 h 87"/>
                <a:gd name="T32" fmla="*/ 13 w 17"/>
                <a:gd name="T33" fmla="*/ 39 h 87"/>
                <a:gd name="T34" fmla="*/ 13 w 17"/>
                <a:gd name="T35" fmla="*/ 5 h 87"/>
                <a:gd name="T36" fmla="*/ 4 w 17"/>
                <a:gd name="T37" fmla="*/ 0 h 8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7" h="87">
                  <a:moveTo>
                    <a:pt x="4" y="0"/>
                  </a:moveTo>
                  <a:lnTo>
                    <a:pt x="6" y="6"/>
                  </a:lnTo>
                  <a:lnTo>
                    <a:pt x="2" y="7"/>
                  </a:lnTo>
                  <a:lnTo>
                    <a:pt x="2" y="78"/>
                  </a:lnTo>
                  <a:lnTo>
                    <a:pt x="0" y="79"/>
                  </a:lnTo>
                  <a:lnTo>
                    <a:pt x="0" y="86"/>
                  </a:lnTo>
                  <a:lnTo>
                    <a:pt x="2" y="86"/>
                  </a:lnTo>
                  <a:lnTo>
                    <a:pt x="4" y="86"/>
                  </a:lnTo>
                  <a:lnTo>
                    <a:pt x="6" y="86"/>
                  </a:lnTo>
                  <a:lnTo>
                    <a:pt x="9" y="85"/>
                  </a:lnTo>
                  <a:lnTo>
                    <a:pt x="13" y="85"/>
                  </a:lnTo>
                  <a:lnTo>
                    <a:pt x="16" y="84"/>
                  </a:lnTo>
                  <a:lnTo>
                    <a:pt x="16" y="82"/>
                  </a:lnTo>
                  <a:lnTo>
                    <a:pt x="16" y="79"/>
                  </a:lnTo>
                  <a:lnTo>
                    <a:pt x="16" y="48"/>
                  </a:lnTo>
                  <a:lnTo>
                    <a:pt x="13" y="47"/>
                  </a:lnTo>
                  <a:lnTo>
                    <a:pt x="13" y="39"/>
                  </a:lnTo>
                  <a:lnTo>
                    <a:pt x="13" y="5"/>
                  </a:lnTo>
                  <a:lnTo>
                    <a:pt x="4"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C62D6B22-308F-8275-798F-E41AB757389A}"/>
              </a:ext>
            </a:extLst>
          </p:cNvPr>
          <p:cNvSpPr>
            <a:spLocks noGrp="1" noRot="1" noChangeAspect="1" noChangeArrowheads="1" noTextEdit="1"/>
          </p:cNvSpPr>
          <p:nvPr>
            <p:ph type="sldImg"/>
          </p:nvPr>
        </p:nvSpPr>
        <p:spPr>
          <a:xfrm>
            <a:off x="434975" y="155575"/>
            <a:ext cx="5983288" cy="4487863"/>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2771" name="Rectangle 3">
            <a:extLst>
              <a:ext uri="{FF2B5EF4-FFF2-40B4-BE49-F238E27FC236}">
                <a16:creationId xmlns:a16="http://schemas.microsoft.com/office/drawing/2014/main" id="{87FCC8D4-F89F-C9CD-E6ED-F66FEC5DD976}"/>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3272" tIns="46636" rIns="93272" bIns="46636"/>
          <a:lstStyle/>
          <a:p>
            <a:endParaRPr lang="en-US"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D427412F-F0B0-6591-9B5D-0A3A690E505D}"/>
              </a:ext>
            </a:extLst>
          </p:cNvPr>
          <p:cNvSpPr>
            <a:spLocks noGrp="1" noChangeArrowheads="1"/>
          </p:cNvSpPr>
          <p:nvPr>
            <p:ph type="body" idx="1"/>
          </p:nvPr>
        </p:nvSpPr>
        <p:spPr>
          <a:xfrm>
            <a:off x="412750" y="4852988"/>
            <a:ext cx="6029325" cy="3819525"/>
          </a:xfrm>
          <a:ln/>
        </p:spPr>
        <p:txBody>
          <a:bodyPr lIns="93272" tIns="46636" rIns="93272" bIns="46636"/>
          <a:lstStyle/>
          <a:p>
            <a:pPr defTabSz="401638">
              <a:defRPr/>
            </a:pPr>
            <a:r>
              <a:rPr lang="en-US"/>
              <a:t>The BETWEEN Operator</a:t>
            </a:r>
          </a:p>
          <a:p>
            <a:pPr marL="114300" lvl="1" defTabSz="401638">
              <a:defRPr/>
            </a:pPr>
            <a:r>
              <a:rPr lang="en-US"/>
              <a:t>You can display rows based on a range of values using the </a:t>
            </a:r>
            <a:r>
              <a:rPr lang="en-US">
                <a:solidFill>
                  <a:srgbClr val="FC0128"/>
                </a:solidFill>
              </a:rPr>
              <a:t>BETWEEN </a:t>
            </a:r>
            <a:r>
              <a:rPr lang="en-US"/>
              <a:t>operator. The range that you specify contains a lower range and an upper range.</a:t>
            </a:r>
          </a:p>
          <a:p>
            <a:pPr marL="114300" lvl="1" defTabSz="401638">
              <a:lnSpc>
                <a:spcPct val="95000"/>
              </a:lnSpc>
              <a:spcBef>
                <a:spcPct val="35000"/>
              </a:spcBef>
              <a:defRPr/>
            </a:pPr>
            <a:r>
              <a:rPr lang="en-US"/>
              <a:t>The SELECT statement on the slide returns rows from the EMP table for any employee whose salary is between $1000 and $1500.</a:t>
            </a:r>
            <a:endParaRPr lang="en-US" sz="2500" b="1">
              <a:effectLst>
                <a:outerShdw blurRad="38100" dist="38100" dir="2700000" algn="tl">
                  <a:srgbClr val="C0C0C0"/>
                </a:outerShdw>
              </a:effectLst>
            </a:endParaRPr>
          </a:p>
          <a:p>
            <a:pPr marL="114300" lvl="1" defTabSz="401638">
              <a:defRPr/>
            </a:pPr>
            <a:r>
              <a:rPr lang="en-US"/>
              <a:t>Values specified with the BETWEEN operator are inclusive. You must specify the lower limit first.</a:t>
            </a:r>
          </a:p>
          <a:p>
            <a:pPr marL="114300" lvl="1" defTabSz="401638">
              <a:defRPr/>
            </a:pPr>
            <a:endParaRPr lang="en-US"/>
          </a:p>
          <a:p>
            <a:pPr marL="114300" lvl="1" defTabSz="401638">
              <a:defRPr/>
            </a:pPr>
            <a:endParaRPr lang="en-US"/>
          </a:p>
          <a:p>
            <a:pPr marL="114300" lvl="1" defTabSz="401638">
              <a:defRPr/>
            </a:pPr>
            <a:endParaRPr lang="en-US"/>
          </a:p>
          <a:p>
            <a:pPr marL="114300" lvl="1" defTabSz="401638">
              <a:defRPr/>
            </a:pPr>
            <a:endParaRPr lang="en-US"/>
          </a:p>
          <a:p>
            <a:pPr marL="114300" lvl="1" defTabSz="401638">
              <a:defRPr/>
            </a:pPr>
            <a:endParaRPr lang="en-US"/>
          </a:p>
          <a:p>
            <a:pPr marL="114300" lvl="1" defTabSz="401638">
              <a:defRPr/>
            </a:pPr>
            <a:endParaRPr lang="en-US"/>
          </a:p>
          <a:p>
            <a:pPr marL="114300" lvl="1" defTabSz="401638">
              <a:defRPr/>
            </a:pPr>
            <a:endParaRPr lang="en-US"/>
          </a:p>
          <a:p>
            <a:pPr defTabSz="401638">
              <a:defRPr/>
            </a:pPr>
            <a:r>
              <a:rPr lang="en-US">
                <a:solidFill>
                  <a:schemeClr val="accent2"/>
                </a:solidFill>
              </a:rPr>
              <a:t>Class Management Note</a:t>
            </a:r>
          </a:p>
          <a:p>
            <a:pPr marL="114300" lvl="1" defTabSz="401638">
              <a:defRPr/>
            </a:pPr>
            <a:r>
              <a:rPr lang="en-US">
                <a:solidFill>
                  <a:schemeClr val="accent2"/>
                </a:solidFill>
              </a:rPr>
              <a:t>Emphasize that the values specified with the BETWEEN operator in the example are inclusive. Point out that Turner, who earns $1500 (higher limit), is included in the output.</a:t>
            </a:r>
          </a:p>
          <a:p>
            <a:pPr marL="114300" lvl="1" defTabSz="401638">
              <a:defRPr/>
            </a:pPr>
            <a:r>
              <a:rPr lang="en-US">
                <a:solidFill>
                  <a:schemeClr val="accent2"/>
                </a:solidFill>
              </a:rPr>
              <a:t>Demo: </a:t>
            </a:r>
            <a:r>
              <a:rPr lang="en-US" i="1">
                <a:solidFill>
                  <a:schemeClr val="accent2"/>
                </a:solidFill>
              </a:rPr>
              <a:t>l2betw.sql</a:t>
            </a:r>
          </a:p>
          <a:p>
            <a:pPr marL="114300" lvl="1" defTabSz="401638">
              <a:defRPr/>
            </a:pPr>
            <a:r>
              <a:rPr lang="en-US">
                <a:solidFill>
                  <a:schemeClr val="accent2"/>
                </a:solidFill>
              </a:rPr>
              <a:t>Purpose: To illustrate using the BETWEEN operator.</a:t>
            </a:r>
            <a:endParaRPr lang="en-US"/>
          </a:p>
          <a:p>
            <a:pPr defTabSz="401638">
              <a:defRPr/>
            </a:pPr>
            <a:endParaRPr lang="en-US" b="1">
              <a:latin typeface="Times New Roman" charset="0"/>
            </a:endParaRPr>
          </a:p>
        </p:txBody>
      </p:sp>
      <p:sp>
        <p:nvSpPr>
          <p:cNvPr id="34819" name="Rectangle 3">
            <a:extLst>
              <a:ext uri="{FF2B5EF4-FFF2-40B4-BE49-F238E27FC236}">
                <a16:creationId xmlns:a16="http://schemas.microsoft.com/office/drawing/2014/main" id="{51565932-F303-DDC3-A57D-F8C280A3A533}"/>
              </a:ext>
            </a:extLst>
          </p:cNvPr>
          <p:cNvSpPr>
            <a:spLocks noGrp="1" noRot="1" noChangeAspect="1" noChangeArrowheads="1" noTextEdit="1"/>
          </p:cNvSpPr>
          <p:nvPr>
            <p:ph type="sldImg"/>
          </p:nvPr>
        </p:nvSpPr>
        <p:spPr>
          <a:xfrm>
            <a:off x="434975" y="155575"/>
            <a:ext cx="5983288" cy="4487863"/>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grpSp>
        <p:nvGrpSpPr>
          <p:cNvPr id="34820" name="Group 4">
            <a:extLst>
              <a:ext uri="{FF2B5EF4-FFF2-40B4-BE49-F238E27FC236}">
                <a16:creationId xmlns:a16="http://schemas.microsoft.com/office/drawing/2014/main" id="{CD001CD5-713D-8016-9DDF-F178F4046327}"/>
              </a:ext>
            </a:extLst>
          </p:cNvPr>
          <p:cNvGrpSpPr>
            <a:grpSpLocks/>
          </p:cNvGrpSpPr>
          <p:nvPr/>
        </p:nvGrpSpPr>
        <p:grpSpPr bwMode="auto">
          <a:xfrm>
            <a:off x="166688" y="5915025"/>
            <a:ext cx="285750" cy="311150"/>
            <a:chOff x="104" y="3659"/>
            <a:chExt cx="179" cy="192"/>
          </a:xfrm>
        </p:grpSpPr>
        <p:sp>
          <p:nvSpPr>
            <p:cNvPr id="34821" name="Freeform 5">
              <a:extLst>
                <a:ext uri="{FF2B5EF4-FFF2-40B4-BE49-F238E27FC236}">
                  <a16:creationId xmlns:a16="http://schemas.microsoft.com/office/drawing/2014/main" id="{6053C5B1-E85B-C405-1A06-C70D2B474250}"/>
                </a:ext>
              </a:extLst>
            </p:cNvPr>
            <p:cNvSpPr>
              <a:spLocks/>
            </p:cNvSpPr>
            <p:nvPr/>
          </p:nvSpPr>
          <p:spPr bwMode="auto">
            <a:xfrm>
              <a:off x="104" y="3659"/>
              <a:ext cx="179" cy="184"/>
            </a:xfrm>
            <a:custGeom>
              <a:avLst/>
              <a:gdLst>
                <a:gd name="T0" fmla="*/ 178 w 179"/>
                <a:gd name="T1" fmla="*/ 183 h 184"/>
                <a:gd name="T2" fmla="*/ 178 w 179"/>
                <a:gd name="T3" fmla="*/ 0 h 184"/>
                <a:gd name="T4" fmla="*/ 0 w 179"/>
                <a:gd name="T5" fmla="*/ 0 h 184"/>
                <a:gd name="T6" fmla="*/ 0 w 179"/>
                <a:gd name="T7" fmla="*/ 183 h 184"/>
                <a:gd name="T8" fmla="*/ 178 w 179"/>
                <a:gd name="T9" fmla="*/ 183 h 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9" h="184">
                  <a:moveTo>
                    <a:pt x="178" y="183"/>
                  </a:moveTo>
                  <a:lnTo>
                    <a:pt x="178" y="0"/>
                  </a:lnTo>
                  <a:lnTo>
                    <a:pt x="0" y="0"/>
                  </a:lnTo>
                  <a:lnTo>
                    <a:pt x="0" y="183"/>
                  </a:lnTo>
                  <a:lnTo>
                    <a:pt x="178" y="183"/>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2" name="Freeform 6">
              <a:extLst>
                <a:ext uri="{FF2B5EF4-FFF2-40B4-BE49-F238E27FC236}">
                  <a16:creationId xmlns:a16="http://schemas.microsoft.com/office/drawing/2014/main" id="{E82E2007-28BA-3FD1-CBC5-BEE1BE2C7E11}"/>
                </a:ext>
              </a:extLst>
            </p:cNvPr>
            <p:cNvSpPr>
              <a:spLocks/>
            </p:cNvSpPr>
            <p:nvPr/>
          </p:nvSpPr>
          <p:spPr bwMode="auto">
            <a:xfrm>
              <a:off x="185" y="3833"/>
              <a:ext cx="26" cy="18"/>
            </a:xfrm>
            <a:custGeom>
              <a:avLst/>
              <a:gdLst>
                <a:gd name="T0" fmla="*/ 25 w 26"/>
                <a:gd name="T1" fmla="*/ 17 h 18"/>
                <a:gd name="T2" fmla="*/ 25 w 26"/>
                <a:gd name="T3" fmla="*/ 0 h 18"/>
                <a:gd name="T4" fmla="*/ 0 w 26"/>
                <a:gd name="T5" fmla="*/ 0 h 18"/>
                <a:gd name="T6" fmla="*/ 0 w 26"/>
                <a:gd name="T7" fmla="*/ 17 h 18"/>
                <a:gd name="T8" fmla="*/ 25 w 26"/>
                <a:gd name="T9" fmla="*/ 17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8">
                  <a:moveTo>
                    <a:pt x="25" y="17"/>
                  </a:moveTo>
                  <a:lnTo>
                    <a:pt x="25" y="0"/>
                  </a:lnTo>
                  <a:lnTo>
                    <a:pt x="0" y="0"/>
                  </a:lnTo>
                  <a:lnTo>
                    <a:pt x="0" y="17"/>
                  </a:lnTo>
                  <a:lnTo>
                    <a:pt x="25" y="1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3" name="Freeform 7">
              <a:extLst>
                <a:ext uri="{FF2B5EF4-FFF2-40B4-BE49-F238E27FC236}">
                  <a16:creationId xmlns:a16="http://schemas.microsoft.com/office/drawing/2014/main" id="{0812ABEC-BA92-49E7-3018-24783D485D59}"/>
                </a:ext>
              </a:extLst>
            </p:cNvPr>
            <p:cNvSpPr>
              <a:spLocks/>
            </p:cNvSpPr>
            <p:nvPr/>
          </p:nvSpPr>
          <p:spPr bwMode="auto">
            <a:xfrm>
              <a:off x="126" y="3712"/>
              <a:ext cx="32" cy="20"/>
            </a:xfrm>
            <a:custGeom>
              <a:avLst/>
              <a:gdLst>
                <a:gd name="T0" fmla="*/ 0 w 32"/>
                <a:gd name="T1" fmla="*/ 0 h 20"/>
                <a:gd name="T2" fmla="*/ 25 w 32"/>
                <a:gd name="T3" fmla="*/ 19 h 20"/>
                <a:gd name="T4" fmla="*/ 31 w 32"/>
                <a:gd name="T5" fmla="*/ 8 h 20"/>
                <a:gd name="T6" fmla="*/ 0 w 32"/>
                <a:gd name="T7" fmla="*/ 0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2" h="20">
                  <a:moveTo>
                    <a:pt x="0" y="0"/>
                  </a:moveTo>
                  <a:lnTo>
                    <a:pt x="25" y="19"/>
                  </a:lnTo>
                  <a:lnTo>
                    <a:pt x="31" y="8"/>
                  </a:lnTo>
                  <a:lnTo>
                    <a:pt x="0"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4" name="Freeform 8">
              <a:extLst>
                <a:ext uri="{FF2B5EF4-FFF2-40B4-BE49-F238E27FC236}">
                  <a16:creationId xmlns:a16="http://schemas.microsoft.com/office/drawing/2014/main" id="{07767C55-D28F-7B93-A4B7-72C24E4C7E1A}"/>
                </a:ext>
              </a:extLst>
            </p:cNvPr>
            <p:cNvSpPr>
              <a:spLocks/>
            </p:cNvSpPr>
            <p:nvPr/>
          </p:nvSpPr>
          <p:spPr bwMode="auto">
            <a:xfrm>
              <a:off x="236" y="3712"/>
              <a:ext cx="34" cy="20"/>
            </a:xfrm>
            <a:custGeom>
              <a:avLst/>
              <a:gdLst>
                <a:gd name="T0" fmla="*/ 33 w 34"/>
                <a:gd name="T1" fmla="*/ 0 h 20"/>
                <a:gd name="T2" fmla="*/ 6 w 34"/>
                <a:gd name="T3" fmla="*/ 19 h 20"/>
                <a:gd name="T4" fmla="*/ 0 w 34"/>
                <a:gd name="T5" fmla="*/ 9 h 20"/>
                <a:gd name="T6" fmla="*/ 33 w 34"/>
                <a:gd name="T7" fmla="*/ 0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4" h="20">
                  <a:moveTo>
                    <a:pt x="33" y="0"/>
                  </a:moveTo>
                  <a:lnTo>
                    <a:pt x="6" y="19"/>
                  </a:lnTo>
                  <a:lnTo>
                    <a:pt x="0" y="9"/>
                  </a:lnTo>
                  <a:lnTo>
                    <a:pt x="33"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5" name="Freeform 9">
              <a:extLst>
                <a:ext uri="{FF2B5EF4-FFF2-40B4-BE49-F238E27FC236}">
                  <a16:creationId xmlns:a16="http://schemas.microsoft.com/office/drawing/2014/main" id="{4DB51915-B1CC-677B-43D5-F80185BD4874}"/>
                </a:ext>
              </a:extLst>
            </p:cNvPr>
            <p:cNvSpPr>
              <a:spLocks/>
            </p:cNvSpPr>
            <p:nvPr/>
          </p:nvSpPr>
          <p:spPr bwMode="auto">
            <a:xfrm>
              <a:off x="123" y="3750"/>
              <a:ext cx="33" cy="19"/>
            </a:xfrm>
            <a:custGeom>
              <a:avLst/>
              <a:gdLst>
                <a:gd name="T0" fmla="*/ 0 w 33"/>
                <a:gd name="T1" fmla="*/ 18 h 19"/>
                <a:gd name="T2" fmla="*/ 32 w 33"/>
                <a:gd name="T3" fmla="*/ 14 h 19"/>
                <a:gd name="T4" fmla="*/ 30 w 33"/>
                <a:gd name="T5" fmla="*/ 0 h 19"/>
                <a:gd name="T6" fmla="*/ 0 w 33"/>
                <a:gd name="T7" fmla="*/ 18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3" h="19">
                  <a:moveTo>
                    <a:pt x="0" y="18"/>
                  </a:moveTo>
                  <a:lnTo>
                    <a:pt x="32" y="14"/>
                  </a:lnTo>
                  <a:lnTo>
                    <a:pt x="30" y="0"/>
                  </a:lnTo>
                  <a:lnTo>
                    <a:pt x="0" y="18"/>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6" name="Freeform 10">
              <a:extLst>
                <a:ext uri="{FF2B5EF4-FFF2-40B4-BE49-F238E27FC236}">
                  <a16:creationId xmlns:a16="http://schemas.microsoft.com/office/drawing/2014/main" id="{B3EFC732-6A6D-EDBD-8E80-A8B2BE4B136C}"/>
                </a:ext>
              </a:extLst>
            </p:cNvPr>
            <p:cNvSpPr>
              <a:spLocks/>
            </p:cNvSpPr>
            <p:nvPr/>
          </p:nvSpPr>
          <p:spPr bwMode="auto">
            <a:xfrm>
              <a:off x="239" y="3751"/>
              <a:ext cx="34" cy="19"/>
            </a:xfrm>
            <a:custGeom>
              <a:avLst/>
              <a:gdLst>
                <a:gd name="T0" fmla="*/ 33 w 34"/>
                <a:gd name="T1" fmla="*/ 18 h 19"/>
                <a:gd name="T2" fmla="*/ 0 w 34"/>
                <a:gd name="T3" fmla="*/ 15 h 19"/>
                <a:gd name="T4" fmla="*/ 2 w 34"/>
                <a:gd name="T5" fmla="*/ 0 h 19"/>
                <a:gd name="T6" fmla="*/ 33 w 34"/>
                <a:gd name="T7" fmla="*/ 18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4" h="19">
                  <a:moveTo>
                    <a:pt x="33" y="18"/>
                  </a:moveTo>
                  <a:lnTo>
                    <a:pt x="0" y="15"/>
                  </a:lnTo>
                  <a:lnTo>
                    <a:pt x="2" y="0"/>
                  </a:lnTo>
                  <a:lnTo>
                    <a:pt x="33" y="18"/>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7" name="Freeform 11">
              <a:extLst>
                <a:ext uri="{FF2B5EF4-FFF2-40B4-BE49-F238E27FC236}">
                  <a16:creationId xmlns:a16="http://schemas.microsoft.com/office/drawing/2014/main" id="{35F72F1D-F52B-AFDE-F9CC-E246CEC3F096}"/>
                </a:ext>
              </a:extLst>
            </p:cNvPr>
            <p:cNvSpPr>
              <a:spLocks/>
            </p:cNvSpPr>
            <p:nvPr/>
          </p:nvSpPr>
          <p:spPr bwMode="auto">
            <a:xfrm>
              <a:off x="149" y="3674"/>
              <a:ext cx="26" cy="29"/>
            </a:xfrm>
            <a:custGeom>
              <a:avLst/>
              <a:gdLst>
                <a:gd name="T0" fmla="*/ 0 w 26"/>
                <a:gd name="T1" fmla="*/ 0 h 29"/>
                <a:gd name="T2" fmla="*/ 15 w 26"/>
                <a:gd name="T3" fmla="*/ 28 h 29"/>
                <a:gd name="T4" fmla="*/ 25 w 26"/>
                <a:gd name="T5" fmla="*/ 21 h 29"/>
                <a:gd name="T6" fmla="*/ 0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0" y="0"/>
                  </a:moveTo>
                  <a:lnTo>
                    <a:pt x="15" y="28"/>
                  </a:lnTo>
                  <a:lnTo>
                    <a:pt x="25" y="21"/>
                  </a:lnTo>
                  <a:lnTo>
                    <a:pt x="0"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8" name="Freeform 12">
              <a:extLst>
                <a:ext uri="{FF2B5EF4-FFF2-40B4-BE49-F238E27FC236}">
                  <a16:creationId xmlns:a16="http://schemas.microsoft.com/office/drawing/2014/main" id="{293CB62B-E665-2608-A36A-214DFF524B07}"/>
                </a:ext>
              </a:extLst>
            </p:cNvPr>
            <p:cNvSpPr>
              <a:spLocks/>
            </p:cNvSpPr>
            <p:nvPr/>
          </p:nvSpPr>
          <p:spPr bwMode="auto">
            <a:xfrm>
              <a:off x="214" y="3676"/>
              <a:ext cx="28" cy="31"/>
            </a:xfrm>
            <a:custGeom>
              <a:avLst/>
              <a:gdLst>
                <a:gd name="T0" fmla="*/ 27 w 28"/>
                <a:gd name="T1" fmla="*/ 0 h 31"/>
                <a:gd name="T2" fmla="*/ 11 w 28"/>
                <a:gd name="T3" fmla="*/ 30 h 31"/>
                <a:gd name="T4" fmla="*/ 0 w 28"/>
                <a:gd name="T5" fmla="*/ 22 h 31"/>
                <a:gd name="T6" fmla="*/ 27 w 28"/>
                <a:gd name="T7" fmla="*/ 0 h 3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 h="31">
                  <a:moveTo>
                    <a:pt x="27" y="0"/>
                  </a:moveTo>
                  <a:lnTo>
                    <a:pt x="11" y="30"/>
                  </a:lnTo>
                  <a:lnTo>
                    <a:pt x="0" y="22"/>
                  </a:lnTo>
                  <a:lnTo>
                    <a:pt x="27"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9" name="Freeform 13">
              <a:extLst>
                <a:ext uri="{FF2B5EF4-FFF2-40B4-BE49-F238E27FC236}">
                  <a16:creationId xmlns:a16="http://schemas.microsoft.com/office/drawing/2014/main" id="{3B18CC82-C740-E79C-31BC-71C6B0F20748}"/>
                </a:ext>
              </a:extLst>
            </p:cNvPr>
            <p:cNvSpPr>
              <a:spLocks/>
            </p:cNvSpPr>
            <p:nvPr/>
          </p:nvSpPr>
          <p:spPr bwMode="auto">
            <a:xfrm>
              <a:off x="188" y="3665"/>
              <a:ext cx="18" cy="30"/>
            </a:xfrm>
            <a:custGeom>
              <a:avLst/>
              <a:gdLst>
                <a:gd name="T0" fmla="*/ 7 w 18"/>
                <a:gd name="T1" fmla="*/ 0 h 30"/>
                <a:gd name="T2" fmla="*/ 0 w 18"/>
                <a:gd name="T3" fmla="*/ 29 h 30"/>
                <a:gd name="T4" fmla="*/ 17 w 18"/>
                <a:gd name="T5" fmla="*/ 28 h 30"/>
                <a:gd name="T6" fmla="*/ 7 w 18"/>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 h="30">
                  <a:moveTo>
                    <a:pt x="7" y="0"/>
                  </a:moveTo>
                  <a:lnTo>
                    <a:pt x="0" y="29"/>
                  </a:lnTo>
                  <a:lnTo>
                    <a:pt x="17" y="28"/>
                  </a:lnTo>
                  <a:lnTo>
                    <a:pt x="7"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30" name="Freeform 14">
              <a:extLst>
                <a:ext uri="{FF2B5EF4-FFF2-40B4-BE49-F238E27FC236}">
                  <a16:creationId xmlns:a16="http://schemas.microsoft.com/office/drawing/2014/main" id="{650C7BE0-8CE7-5571-E58A-C94B3BF6F0CE}"/>
                </a:ext>
              </a:extLst>
            </p:cNvPr>
            <p:cNvSpPr>
              <a:spLocks/>
            </p:cNvSpPr>
            <p:nvPr/>
          </p:nvSpPr>
          <p:spPr bwMode="auto">
            <a:xfrm>
              <a:off x="163" y="3711"/>
              <a:ext cx="67" cy="115"/>
            </a:xfrm>
            <a:custGeom>
              <a:avLst/>
              <a:gdLst>
                <a:gd name="T0" fmla="*/ 21 w 67"/>
                <a:gd name="T1" fmla="*/ 114 h 115"/>
                <a:gd name="T2" fmla="*/ 22 w 67"/>
                <a:gd name="T3" fmla="*/ 94 h 115"/>
                <a:gd name="T4" fmla="*/ 20 w 67"/>
                <a:gd name="T5" fmla="*/ 91 h 115"/>
                <a:gd name="T6" fmla="*/ 14 w 67"/>
                <a:gd name="T7" fmla="*/ 83 h 115"/>
                <a:gd name="T8" fmla="*/ 8 w 67"/>
                <a:gd name="T9" fmla="*/ 72 h 115"/>
                <a:gd name="T10" fmla="*/ 3 w 67"/>
                <a:gd name="T11" fmla="*/ 58 h 115"/>
                <a:gd name="T12" fmla="*/ 0 w 67"/>
                <a:gd name="T13" fmla="*/ 42 h 115"/>
                <a:gd name="T14" fmla="*/ 0 w 67"/>
                <a:gd name="T15" fmla="*/ 27 h 115"/>
                <a:gd name="T16" fmla="*/ 7 w 67"/>
                <a:gd name="T17" fmla="*/ 12 h 115"/>
                <a:gd name="T18" fmla="*/ 22 w 67"/>
                <a:gd name="T19" fmla="*/ 0 h 115"/>
                <a:gd name="T20" fmla="*/ 42 w 67"/>
                <a:gd name="T21" fmla="*/ 0 h 115"/>
                <a:gd name="T22" fmla="*/ 45 w 67"/>
                <a:gd name="T23" fmla="*/ 1 h 115"/>
                <a:gd name="T24" fmla="*/ 50 w 67"/>
                <a:gd name="T25" fmla="*/ 5 h 115"/>
                <a:gd name="T26" fmla="*/ 56 w 67"/>
                <a:gd name="T27" fmla="*/ 11 h 115"/>
                <a:gd name="T28" fmla="*/ 62 w 67"/>
                <a:gd name="T29" fmla="*/ 20 h 115"/>
                <a:gd name="T30" fmla="*/ 66 w 67"/>
                <a:gd name="T31" fmla="*/ 32 h 115"/>
                <a:gd name="T32" fmla="*/ 65 w 67"/>
                <a:gd name="T33" fmla="*/ 48 h 115"/>
                <a:gd name="T34" fmla="*/ 58 w 67"/>
                <a:gd name="T35" fmla="*/ 68 h 115"/>
                <a:gd name="T36" fmla="*/ 42 w 67"/>
                <a:gd name="T37" fmla="*/ 91 h 115"/>
                <a:gd name="T38" fmla="*/ 42 w 67"/>
                <a:gd name="T39" fmla="*/ 114 h 115"/>
                <a:gd name="T40" fmla="*/ 21 w 67"/>
                <a:gd name="T41" fmla="*/ 114 h 11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67" h="115">
                  <a:moveTo>
                    <a:pt x="21" y="114"/>
                  </a:moveTo>
                  <a:lnTo>
                    <a:pt x="22" y="94"/>
                  </a:lnTo>
                  <a:lnTo>
                    <a:pt x="20" y="91"/>
                  </a:lnTo>
                  <a:lnTo>
                    <a:pt x="14" y="83"/>
                  </a:lnTo>
                  <a:lnTo>
                    <a:pt x="8" y="72"/>
                  </a:lnTo>
                  <a:lnTo>
                    <a:pt x="3" y="58"/>
                  </a:lnTo>
                  <a:lnTo>
                    <a:pt x="0" y="42"/>
                  </a:lnTo>
                  <a:lnTo>
                    <a:pt x="0" y="27"/>
                  </a:lnTo>
                  <a:lnTo>
                    <a:pt x="7" y="12"/>
                  </a:lnTo>
                  <a:lnTo>
                    <a:pt x="22" y="0"/>
                  </a:lnTo>
                  <a:lnTo>
                    <a:pt x="42" y="0"/>
                  </a:lnTo>
                  <a:lnTo>
                    <a:pt x="45" y="1"/>
                  </a:lnTo>
                  <a:lnTo>
                    <a:pt x="50" y="5"/>
                  </a:lnTo>
                  <a:lnTo>
                    <a:pt x="56" y="11"/>
                  </a:lnTo>
                  <a:lnTo>
                    <a:pt x="62" y="20"/>
                  </a:lnTo>
                  <a:lnTo>
                    <a:pt x="66" y="32"/>
                  </a:lnTo>
                  <a:lnTo>
                    <a:pt x="65" y="48"/>
                  </a:lnTo>
                  <a:lnTo>
                    <a:pt x="58" y="68"/>
                  </a:lnTo>
                  <a:lnTo>
                    <a:pt x="42" y="91"/>
                  </a:lnTo>
                  <a:lnTo>
                    <a:pt x="42" y="114"/>
                  </a:lnTo>
                  <a:lnTo>
                    <a:pt x="21" y="114"/>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31" name="Freeform 15">
              <a:extLst>
                <a:ext uri="{FF2B5EF4-FFF2-40B4-BE49-F238E27FC236}">
                  <a16:creationId xmlns:a16="http://schemas.microsoft.com/office/drawing/2014/main" id="{29FC8F48-5567-5873-8FEB-A4F5F224A62A}"/>
                </a:ext>
              </a:extLst>
            </p:cNvPr>
            <p:cNvSpPr>
              <a:spLocks/>
            </p:cNvSpPr>
            <p:nvPr/>
          </p:nvSpPr>
          <p:spPr bwMode="auto">
            <a:xfrm>
              <a:off x="190" y="3732"/>
              <a:ext cx="17" cy="87"/>
            </a:xfrm>
            <a:custGeom>
              <a:avLst/>
              <a:gdLst>
                <a:gd name="T0" fmla="*/ 4 w 17"/>
                <a:gd name="T1" fmla="*/ 0 h 87"/>
                <a:gd name="T2" fmla="*/ 6 w 17"/>
                <a:gd name="T3" fmla="*/ 6 h 87"/>
                <a:gd name="T4" fmla="*/ 2 w 17"/>
                <a:gd name="T5" fmla="*/ 7 h 87"/>
                <a:gd name="T6" fmla="*/ 2 w 17"/>
                <a:gd name="T7" fmla="*/ 78 h 87"/>
                <a:gd name="T8" fmla="*/ 0 w 17"/>
                <a:gd name="T9" fmla="*/ 79 h 87"/>
                <a:gd name="T10" fmla="*/ 0 w 17"/>
                <a:gd name="T11" fmla="*/ 86 h 87"/>
                <a:gd name="T12" fmla="*/ 2 w 17"/>
                <a:gd name="T13" fmla="*/ 86 h 87"/>
                <a:gd name="T14" fmla="*/ 4 w 17"/>
                <a:gd name="T15" fmla="*/ 86 h 87"/>
                <a:gd name="T16" fmla="*/ 6 w 17"/>
                <a:gd name="T17" fmla="*/ 86 h 87"/>
                <a:gd name="T18" fmla="*/ 9 w 17"/>
                <a:gd name="T19" fmla="*/ 85 h 87"/>
                <a:gd name="T20" fmla="*/ 13 w 17"/>
                <a:gd name="T21" fmla="*/ 85 h 87"/>
                <a:gd name="T22" fmla="*/ 16 w 17"/>
                <a:gd name="T23" fmla="*/ 84 h 87"/>
                <a:gd name="T24" fmla="*/ 16 w 17"/>
                <a:gd name="T25" fmla="*/ 82 h 87"/>
                <a:gd name="T26" fmla="*/ 16 w 17"/>
                <a:gd name="T27" fmla="*/ 79 h 87"/>
                <a:gd name="T28" fmla="*/ 16 w 17"/>
                <a:gd name="T29" fmla="*/ 48 h 87"/>
                <a:gd name="T30" fmla="*/ 13 w 17"/>
                <a:gd name="T31" fmla="*/ 47 h 87"/>
                <a:gd name="T32" fmla="*/ 13 w 17"/>
                <a:gd name="T33" fmla="*/ 39 h 87"/>
                <a:gd name="T34" fmla="*/ 13 w 17"/>
                <a:gd name="T35" fmla="*/ 5 h 87"/>
                <a:gd name="T36" fmla="*/ 4 w 17"/>
                <a:gd name="T37" fmla="*/ 0 h 8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7" h="87">
                  <a:moveTo>
                    <a:pt x="4" y="0"/>
                  </a:moveTo>
                  <a:lnTo>
                    <a:pt x="6" y="6"/>
                  </a:lnTo>
                  <a:lnTo>
                    <a:pt x="2" y="7"/>
                  </a:lnTo>
                  <a:lnTo>
                    <a:pt x="2" y="78"/>
                  </a:lnTo>
                  <a:lnTo>
                    <a:pt x="0" y="79"/>
                  </a:lnTo>
                  <a:lnTo>
                    <a:pt x="0" y="86"/>
                  </a:lnTo>
                  <a:lnTo>
                    <a:pt x="2" y="86"/>
                  </a:lnTo>
                  <a:lnTo>
                    <a:pt x="4" y="86"/>
                  </a:lnTo>
                  <a:lnTo>
                    <a:pt x="6" y="86"/>
                  </a:lnTo>
                  <a:lnTo>
                    <a:pt x="9" y="85"/>
                  </a:lnTo>
                  <a:lnTo>
                    <a:pt x="13" y="85"/>
                  </a:lnTo>
                  <a:lnTo>
                    <a:pt x="16" y="84"/>
                  </a:lnTo>
                  <a:lnTo>
                    <a:pt x="16" y="82"/>
                  </a:lnTo>
                  <a:lnTo>
                    <a:pt x="16" y="79"/>
                  </a:lnTo>
                  <a:lnTo>
                    <a:pt x="16" y="48"/>
                  </a:lnTo>
                  <a:lnTo>
                    <a:pt x="13" y="47"/>
                  </a:lnTo>
                  <a:lnTo>
                    <a:pt x="13" y="39"/>
                  </a:lnTo>
                  <a:lnTo>
                    <a:pt x="13" y="5"/>
                  </a:lnTo>
                  <a:lnTo>
                    <a:pt x="4"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A04009DF-3070-DF62-FA4B-5D5A7A022460}"/>
              </a:ext>
            </a:extLst>
          </p:cNvPr>
          <p:cNvSpPr>
            <a:spLocks noGrp="1" noRot="1" noChangeAspect="1" noChangeArrowheads="1" noTextEdit="1"/>
          </p:cNvSpPr>
          <p:nvPr>
            <p:ph type="sldImg"/>
          </p:nvPr>
        </p:nvSpPr>
        <p:spPr>
          <a:xfrm>
            <a:off x="434975" y="155575"/>
            <a:ext cx="5983288" cy="4487863"/>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867" name="Rectangle 3">
            <a:extLst>
              <a:ext uri="{FF2B5EF4-FFF2-40B4-BE49-F238E27FC236}">
                <a16:creationId xmlns:a16="http://schemas.microsoft.com/office/drawing/2014/main" id="{94912196-BCD3-B883-980A-36F428807C82}"/>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3272" tIns="46636" rIns="93272" bIns="46636"/>
          <a:lstStyle/>
          <a:p>
            <a:r>
              <a:rPr lang="en-US" altLang="en-US">
                <a:latin typeface="Arial" panose="020B0604020202020204" pitchFamily="34" charset="0"/>
              </a:rPr>
              <a:t>The IN Operator</a:t>
            </a:r>
          </a:p>
          <a:p>
            <a:pPr lvl="1"/>
            <a:r>
              <a:rPr lang="en-US" altLang="en-US">
                <a:latin typeface="Arial" panose="020B0604020202020204" pitchFamily="34" charset="0"/>
              </a:rPr>
              <a:t>To test for values in a specified list, use the </a:t>
            </a:r>
            <a:r>
              <a:rPr lang="en-US" altLang="en-US">
                <a:solidFill>
                  <a:srgbClr val="FC0128"/>
                </a:solidFill>
                <a:latin typeface="Arial" panose="020B0604020202020204" pitchFamily="34" charset="0"/>
              </a:rPr>
              <a:t>IN </a:t>
            </a:r>
            <a:r>
              <a:rPr lang="en-US" altLang="en-US">
                <a:latin typeface="Arial" panose="020B0604020202020204" pitchFamily="34" charset="0"/>
              </a:rPr>
              <a:t>operator. </a:t>
            </a:r>
          </a:p>
          <a:p>
            <a:pPr lvl="1"/>
            <a:r>
              <a:rPr lang="en-US" altLang="en-US">
                <a:latin typeface="Arial" panose="020B0604020202020204" pitchFamily="34" charset="0"/>
              </a:rPr>
              <a:t>The slide example displays employee number, name, salary, and manager’s employee number of all the employees whose manager’s employee number is 7902, 7566, or 7788.</a:t>
            </a:r>
          </a:p>
          <a:p>
            <a:pPr lvl="1"/>
            <a:r>
              <a:rPr lang="en-US" altLang="en-US">
                <a:latin typeface="Arial" panose="020B0604020202020204" pitchFamily="34" charset="0"/>
              </a:rPr>
              <a:t>The IN operator can be used with any datatype. The following example </a:t>
            </a:r>
            <a:r>
              <a:rPr lang="en-US" altLang="en-US">
                <a:solidFill>
                  <a:srgbClr val="000000"/>
                </a:solidFill>
                <a:latin typeface="Arial" panose="020B0604020202020204" pitchFamily="34" charset="0"/>
              </a:rPr>
              <a:t>returns a row from the EMP table for any employee whose name is included in the list of names in the WHERE clause:</a:t>
            </a:r>
          </a:p>
          <a:p>
            <a:pPr lvl="1"/>
            <a:endParaRPr lang="en-US" altLang="en-US" sz="800">
              <a:latin typeface="Arial" panose="020B0604020202020204" pitchFamily="34" charset="0"/>
            </a:endParaRPr>
          </a:p>
          <a:p>
            <a:pPr>
              <a:spcBef>
                <a:spcPct val="0"/>
              </a:spcBef>
            </a:pPr>
            <a:r>
              <a:rPr lang="en-US" altLang="en-US">
                <a:latin typeface="Courier New" panose="02070309020205020404" pitchFamily="49" charset="0"/>
              </a:rPr>
              <a:t>  SQL&gt; SELECT	 empno,  ename,  mgr, deptno</a:t>
            </a:r>
          </a:p>
          <a:p>
            <a:pPr>
              <a:spcBef>
                <a:spcPct val="0"/>
              </a:spcBef>
            </a:pPr>
            <a:r>
              <a:rPr lang="en-US" altLang="en-US">
                <a:latin typeface="Courier New" panose="02070309020205020404" pitchFamily="49" charset="0"/>
              </a:rPr>
              <a:t>    2	  FROM  	 emp</a:t>
            </a:r>
          </a:p>
          <a:p>
            <a:pPr>
              <a:spcBef>
                <a:spcPct val="0"/>
              </a:spcBef>
            </a:pPr>
            <a:r>
              <a:rPr lang="en-US" altLang="en-US">
                <a:latin typeface="Courier New" panose="02070309020205020404" pitchFamily="49" charset="0"/>
              </a:rPr>
              <a:t>    3	  WHERE 	 ename IN ('FORD' , 'ALLEN');</a:t>
            </a:r>
          </a:p>
          <a:p>
            <a:pPr>
              <a:spcBef>
                <a:spcPct val="0"/>
              </a:spcBef>
            </a:pPr>
            <a:endParaRPr lang="en-US" altLang="en-US" sz="700">
              <a:latin typeface="Times New Roman" panose="02020603050405020304" pitchFamily="18" charset="0"/>
            </a:endParaRPr>
          </a:p>
          <a:p>
            <a:pPr lvl="1"/>
            <a:r>
              <a:rPr lang="en-US" altLang="en-US">
                <a:latin typeface="Arial" panose="020B0604020202020204" pitchFamily="34" charset="0"/>
              </a:rPr>
              <a:t>If characters or dates are used in the list, they must be enclosed in single quotation marks (</a:t>
            </a:r>
            <a:r>
              <a:rPr lang="en-US" altLang="en-US">
                <a:latin typeface="Courier New" panose="02070309020205020404" pitchFamily="49" charset="0"/>
              </a:rPr>
              <a:t>''</a:t>
            </a:r>
            <a:r>
              <a:rPr lang="en-US" altLang="en-US">
                <a:latin typeface="Arial" panose="020B0604020202020204" pitchFamily="34" charset="0"/>
              </a:rPr>
              <a:t>).</a:t>
            </a: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r>
              <a:rPr lang="en-US" altLang="en-US">
                <a:solidFill>
                  <a:schemeClr val="accent2"/>
                </a:solidFill>
                <a:latin typeface="Arial" panose="020B0604020202020204" pitchFamily="34" charset="0"/>
              </a:rPr>
              <a:t>Class Management Note</a:t>
            </a:r>
          </a:p>
          <a:p>
            <a:pPr lvl="1"/>
            <a:r>
              <a:rPr lang="en-US" altLang="en-US">
                <a:solidFill>
                  <a:schemeClr val="accent2"/>
                </a:solidFill>
                <a:latin typeface="Arial" panose="020B0604020202020204" pitchFamily="34" charset="0"/>
              </a:rPr>
              <a:t>Demo: </a:t>
            </a:r>
            <a:r>
              <a:rPr lang="en-US" altLang="en-US" i="1">
                <a:solidFill>
                  <a:schemeClr val="accent2"/>
                </a:solidFill>
                <a:latin typeface="Arial" panose="020B0604020202020204" pitchFamily="34" charset="0"/>
              </a:rPr>
              <a:t>l2in.sql</a:t>
            </a:r>
          </a:p>
          <a:p>
            <a:pPr lvl="1"/>
            <a:r>
              <a:rPr lang="en-US" altLang="en-US">
                <a:solidFill>
                  <a:schemeClr val="accent2"/>
                </a:solidFill>
                <a:latin typeface="Arial" panose="020B0604020202020204" pitchFamily="34" charset="0"/>
              </a:rPr>
              <a:t>Purpose: To illustrate using the IN operator.</a:t>
            </a:r>
            <a:endParaRPr lang="en-US" altLang="en-US" i="1">
              <a:solidFill>
                <a:schemeClr val="accent2"/>
              </a:solidFill>
              <a:latin typeface="Arial" panose="020B0604020202020204" pitchFamily="34" charset="0"/>
            </a:endParaRPr>
          </a:p>
          <a:p>
            <a:endParaRPr lang="en-US" altLang="en-US" b="1" i="1">
              <a:solidFill>
                <a:schemeClr val="accent2"/>
              </a:solidFill>
              <a:latin typeface="Times New Roman" panose="02020603050405020304" pitchFamily="18" charset="0"/>
            </a:endParaRPr>
          </a:p>
        </p:txBody>
      </p:sp>
      <p:sp>
        <p:nvSpPr>
          <p:cNvPr id="36868" name="Rectangle 4">
            <a:extLst>
              <a:ext uri="{FF2B5EF4-FFF2-40B4-BE49-F238E27FC236}">
                <a16:creationId xmlns:a16="http://schemas.microsoft.com/office/drawing/2014/main" id="{E53AD085-19AB-57FF-4007-26F23DD5A375}"/>
              </a:ext>
            </a:extLst>
          </p:cNvPr>
          <p:cNvSpPr>
            <a:spLocks noChangeArrowheads="1"/>
          </p:cNvSpPr>
          <p:nvPr/>
        </p:nvSpPr>
        <p:spPr bwMode="auto">
          <a:xfrm>
            <a:off x="622300" y="6157913"/>
            <a:ext cx="5619750" cy="617537"/>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grpSp>
        <p:nvGrpSpPr>
          <p:cNvPr id="36869" name="Group 5">
            <a:extLst>
              <a:ext uri="{FF2B5EF4-FFF2-40B4-BE49-F238E27FC236}">
                <a16:creationId xmlns:a16="http://schemas.microsoft.com/office/drawing/2014/main" id="{096F2AFD-B263-4304-276E-19F31B0E2702}"/>
              </a:ext>
            </a:extLst>
          </p:cNvPr>
          <p:cNvGrpSpPr>
            <a:grpSpLocks/>
          </p:cNvGrpSpPr>
          <p:nvPr/>
        </p:nvGrpSpPr>
        <p:grpSpPr bwMode="auto">
          <a:xfrm>
            <a:off x="168275" y="6905625"/>
            <a:ext cx="285750" cy="307975"/>
            <a:chOff x="105" y="4271"/>
            <a:chExt cx="179" cy="191"/>
          </a:xfrm>
        </p:grpSpPr>
        <p:sp>
          <p:nvSpPr>
            <p:cNvPr id="36870" name="Freeform 6">
              <a:extLst>
                <a:ext uri="{FF2B5EF4-FFF2-40B4-BE49-F238E27FC236}">
                  <a16:creationId xmlns:a16="http://schemas.microsoft.com/office/drawing/2014/main" id="{86EF1FF8-A3F5-945A-50B8-2D3C52E79E08}"/>
                </a:ext>
              </a:extLst>
            </p:cNvPr>
            <p:cNvSpPr>
              <a:spLocks/>
            </p:cNvSpPr>
            <p:nvPr/>
          </p:nvSpPr>
          <p:spPr bwMode="auto">
            <a:xfrm>
              <a:off x="105" y="4271"/>
              <a:ext cx="179" cy="184"/>
            </a:xfrm>
            <a:custGeom>
              <a:avLst/>
              <a:gdLst>
                <a:gd name="T0" fmla="*/ 178 w 179"/>
                <a:gd name="T1" fmla="*/ 183 h 184"/>
                <a:gd name="T2" fmla="*/ 178 w 179"/>
                <a:gd name="T3" fmla="*/ 0 h 184"/>
                <a:gd name="T4" fmla="*/ 0 w 179"/>
                <a:gd name="T5" fmla="*/ 0 h 184"/>
                <a:gd name="T6" fmla="*/ 0 w 179"/>
                <a:gd name="T7" fmla="*/ 183 h 184"/>
                <a:gd name="T8" fmla="*/ 178 w 179"/>
                <a:gd name="T9" fmla="*/ 183 h 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9" h="184">
                  <a:moveTo>
                    <a:pt x="178" y="183"/>
                  </a:moveTo>
                  <a:lnTo>
                    <a:pt x="178" y="0"/>
                  </a:lnTo>
                  <a:lnTo>
                    <a:pt x="0" y="0"/>
                  </a:lnTo>
                  <a:lnTo>
                    <a:pt x="0" y="183"/>
                  </a:lnTo>
                  <a:lnTo>
                    <a:pt x="178" y="183"/>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871" name="Freeform 7">
              <a:extLst>
                <a:ext uri="{FF2B5EF4-FFF2-40B4-BE49-F238E27FC236}">
                  <a16:creationId xmlns:a16="http://schemas.microsoft.com/office/drawing/2014/main" id="{131C3326-E832-92FD-B2AF-B4EA8A8AAFB2}"/>
                </a:ext>
              </a:extLst>
            </p:cNvPr>
            <p:cNvSpPr>
              <a:spLocks/>
            </p:cNvSpPr>
            <p:nvPr/>
          </p:nvSpPr>
          <p:spPr bwMode="auto">
            <a:xfrm>
              <a:off x="186" y="4445"/>
              <a:ext cx="26" cy="17"/>
            </a:xfrm>
            <a:custGeom>
              <a:avLst/>
              <a:gdLst>
                <a:gd name="T0" fmla="*/ 25 w 26"/>
                <a:gd name="T1" fmla="*/ 16 h 17"/>
                <a:gd name="T2" fmla="*/ 25 w 26"/>
                <a:gd name="T3" fmla="*/ 0 h 17"/>
                <a:gd name="T4" fmla="*/ 0 w 26"/>
                <a:gd name="T5" fmla="*/ 0 h 17"/>
                <a:gd name="T6" fmla="*/ 0 w 26"/>
                <a:gd name="T7" fmla="*/ 16 h 17"/>
                <a:gd name="T8" fmla="*/ 25 w 26"/>
                <a:gd name="T9" fmla="*/ 1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7">
                  <a:moveTo>
                    <a:pt x="25" y="16"/>
                  </a:moveTo>
                  <a:lnTo>
                    <a:pt x="25" y="0"/>
                  </a:lnTo>
                  <a:lnTo>
                    <a:pt x="0" y="0"/>
                  </a:lnTo>
                  <a:lnTo>
                    <a:pt x="0" y="16"/>
                  </a:lnTo>
                  <a:lnTo>
                    <a:pt x="25" y="16"/>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872" name="Freeform 8">
              <a:extLst>
                <a:ext uri="{FF2B5EF4-FFF2-40B4-BE49-F238E27FC236}">
                  <a16:creationId xmlns:a16="http://schemas.microsoft.com/office/drawing/2014/main" id="{C283BD2C-ED00-6F7B-2861-ED368499B389}"/>
                </a:ext>
              </a:extLst>
            </p:cNvPr>
            <p:cNvSpPr>
              <a:spLocks/>
            </p:cNvSpPr>
            <p:nvPr/>
          </p:nvSpPr>
          <p:spPr bwMode="auto">
            <a:xfrm>
              <a:off x="127" y="4324"/>
              <a:ext cx="32" cy="19"/>
            </a:xfrm>
            <a:custGeom>
              <a:avLst/>
              <a:gdLst>
                <a:gd name="T0" fmla="*/ 0 w 32"/>
                <a:gd name="T1" fmla="*/ 0 h 19"/>
                <a:gd name="T2" fmla="*/ 25 w 32"/>
                <a:gd name="T3" fmla="*/ 18 h 19"/>
                <a:gd name="T4" fmla="*/ 31 w 32"/>
                <a:gd name="T5" fmla="*/ 8 h 19"/>
                <a:gd name="T6" fmla="*/ 0 w 32"/>
                <a:gd name="T7" fmla="*/ 0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2" h="19">
                  <a:moveTo>
                    <a:pt x="0" y="0"/>
                  </a:moveTo>
                  <a:lnTo>
                    <a:pt x="25" y="18"/>
                  </a:lnTo>
                  <a:lnTo>
                    <a:pt x="31" y="8"/>
                  </a:lnTo>
                  <a:lnTo>
                    <a:pt x="0"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873" name="Freeform 9">
              <a:extLst>
                <a:ext uri="{FF2B5EF4-FFF2-40B4-BE49-F238E27FC236}">
                  <a16:creationId xmlns:a16="http://schemas.microsoft.com/office/drawing/2014/main" id="{79D14F49-849D-AE0E-877E-F38A7869D225}"/>
                </a:ext>
              </a:extLst>
            </p:cNvPr>
            <p:cNvSpPr>
              <a:spLocks/>
            </p:cNvSpPr>
            <p:nvPr/>
          </p:nvSpPr>
          <p:spPr bwMode="auto">
            <a:xfrm>
              <a:off x="237" y="4324"/>
              <a:ext cx="35" cy="19"/>
            </a:xfrm>
            <a:custGeom>
              <a:avLst/>
              <a:gdLst>
                <a:gd name="T0" fmla="*/ 34 w 35"/>
                <a:gd name="T1" fmla="*/ 0 h 19"/>
                <a:gd name="T2" fmla="*/ 6 w 35"/>
                <a:gd name="T3" fmla="*/ 18 h 19"/>
                <a:gd name="T4" fmla="*/ 0 w 35"/>
                <a:gd name="T5" fmla="*/ 8 h 19"/>
                <a:gd name="T6" fmla="*/ 34 w 35"/>
                <a:gd name="T7" fmla="*/ 0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5" h="19">
                  <a:moveTo>
                    <a:pt x="34" y="0"/>
                  </a:moveTo>
                  <a:lnTo>
                    <a:pt x="6" y="18"/>
                  </a:lnTo>
                  <a:lnTo>
                    <a:pt x="0" y="8"/>
                  </a:lnTo>
                  <a:lnTo>
                    <a:pt x="34"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874" name="Freeform 10">
              <a:extLst>
                <a:ext uri="{FF2B5EF4-FFF2-40B4-BE49-F238E27FC236}">
                  <a16:creationId xmlns:a16="http://schemas.microsoft.com/office/drawing/2014/main" id="{548B7BF5-7E06-7EDF-9037-4D708CC26AFA}"/>
                </a:ext>
              </a:extLst>
            </p:cNvPr>
            <p:cNvSpPr>
              <a:spLocks/>
            </p:cNvSpPr>
            <p:nvPr/>
          </p:nvSpPr>
          <p:spPr bwMode="auto">
            <a:xfrm>
              <a:off x="124" y="4362"/>
              <a:ext cx="34" cy="19"/>
            </a:xfrm>
            <a:custGeom>
              <a:avLst/>
              <a:gdLst>
                <a:gd name="T0" fmla="*/ 0 w 34"/>
                <a:gd name="T1" fmla="*/ 18 h 19"/>
                <a:gd name="T2" fmla="*/ 33 w 34"/>
                <a:gd name="T3" fmla="*/ 14 h 19"/>
                <a:gd name="T4" fmla="*/ 31 w 34"/>
                <a:gd name="T5" fmla="*/ 0 h 19"/>
                <a:gd name="T6" fmla="*/ 0 w 34"/>
                <a:gd name="T7" fmla="*/ 18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4" h="19">
                  <a:moveTo>
                    <a:pt x="0" y="18"/>
                  </a:moveTo>
                  <a:lnTo>
                    <a:pt x="33" y="14"/>
                  </a:lnTo>
                  <a:lnTo>
                    <a:pt x="31" y="0"/>
                  </a:lnTo>
                  <a:lnTo>
                    <a:pt x="0" y="18"/>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875" name="Freeform 11">
              <a:extLst>
                <a:ext uri="{FF2B5EF4-FFF2-40B4-BE49-F238E27FC236}">
                  <a16:creationId xmlns:a16="http://schemas.microsoft.com/office/drawing/2014/main" id="{B2188BFD-88D2-186B-345C-2D5357DA68B3}"/>
                </a:ext>
              </a:extLst>
            </p:cNvPr>
            <p:cNvSpPr>
              <a:spLocks/>
            </p:cNvSpPr>
            <p:nvPr/>
          </p:nvSpPr>
          <p:spPr bwMode="auto">
            <a:xfrm>
              <a:off x="240" y="4363"/>
              <a:ext cx="35" cy="19"/>
            </a:xfrm>
            <a:custGeom>
              <a:avLst/>
              <a:gdLst>
                <a:gd name="T0" fmla="*/ 34 w 35"/>
                <a:gd name="T1" fmla="*/ 18 h 19"/>
                <a:gd name="T2" fmla="*/ 0 w 35"/>
                <a:gd name="T3" fmla="*/ 15 h 19"/>
                <a:gd name="T4" fmla="*/ 2 w 35"/>
                <a:gd name="T5" fmla="*/ 0 h 19"/>
                <a:gd name="T6" fmla="*/ 34 w 35"/>
                <a:gd name="T7" fmla="*/ 18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5" h="19">
                  <a:moveTo>
                    <a:pt x="34" y="18"/>
                  </a:moveTo>
                  <a:lnTo>
                    <a:pt x="0" y="15"/>
                  </a:lnTo>
                  <a:lnTo>
                    <a:pt x="2" y="0"/>
                  </a:lnTo>
                  <a:lnTo>
                    <a:pt x="34" y="18"/>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876" name="Freeform 12">
              <a:extLst>
                <a:ext uri="{FF2B5EF4-FFF2-40B4-BE49-F238E27FC236}">
                  <a16:creationId xmlns:a16="http://schemas.microsoft.com/office/drawing/2014/main" id="{C59C9554-27D2-855C-41EE-EFFC2FC8878D}"/>
                </a:ext>
              </a:extLst>
            </p:cNvPr>
            <p:cNvSpPr>
              <a:spLocks/>
            </p:cNvSpPr>
            <p:nvPr/>
          </p:nvSpPr>
          <p:spPr bwMode="auto">
            <a:xfrm>
              <a:off x="150" y="4285"/>
              <a:ext cx="26" cy="30"/>
            </a:xfrm>
            <a:custGeom>
              <a:avLst/>
              <a:gdLst>
                <a:gd name="T0" fmla="*/ 0 w 26"/>
                <a:gd name="T1" fmla="*/ 0 h 30"/>
                <a:gd name="T2" fmla="*/ 15 w 26"/>
                <a:gd name="T3" fmla="*/ 29 h 30"/>
                <a:gd name="T4" fmla="*/ 25 w 26"/>
                <a:gd name="T5" fmla="*/ 22 h 30"/>
                <a:gd name="T6" fmla="*/ 0 w 26"/>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30">
                  <a:moveTo>
                    <a:pt x="0" y="0"/>
                  </a:moveTo>
                  <a:lnTo>
                    <a:pt x="15" y="29"/>
                  </a:lnTo>
                  <a:lnTo>
                    <a:pt x="25" y="22"/>
                  </a:lnTo>
                  <a:lnTo>
                    <a:pt x="0"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877" name="Freeform 13">
              <a:extLst>
                <a:ext uri="{FF2B5EF4-FFF2-40B4-BE49-F238E27FC236}">
                  <a16:creationId xmlns:a16="http://schemas.microsoft.com/office/drawing/2014/main" id="{A67871F5-A6FE-24E5-1882-9BB4353A28E1}"/>
                </a:ext>
              </a:extLst>
            </p:cNvPr>
            <p:cNvSpPr>
              <a:spLocks/>
            </p:cNvSpPr>
            <p:nvPr/>
          </p:nvSpPr>
          <p:spPr bwMode="auto">
            <a:xfrm>
              <a:off x="215" y="4287"/>
              <a:ext cx="28" cy="32"/>
            </a:xfrm>
            <a:custGeom>
              <a:avLst/>
              <a:gdLst>
                <a:gd name="T0" fmla="*/ 27 w 28"/>
                <a:gd name="T1" fmla="*/ 0 h 32"/>
                <a:gd name="T2" fmla="*/ 11 w 28"/>
                <a:gd name="T3" fmla="*/ 31 h 32"/>
                <a:gd name="T4" fmla="*/ 0 w 28"/>
                <a:gd name="T5" fmla="*/ 23 h 32"/>
                <a:gd name="T6" fmla="*/ 27 w 28"/>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 h="32">
                  <a:moveTo>
                    <a:pt x="27" y="0"/>
                  </a:moveTo>
                  <a:lnTo>
                    <a:pt x="11" y="31"/>
                  </a:lnTo>
                  <a:lnTo>
                    <a:pt x="0" y="23"/>
                  </a:lnTo>
                  <a:lnTo>
                    <a:pt x="27"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878" name="Freeform 14">
              <a:extLst>
                <a:ext uri="{FF2B5EF4-FFF2-40B4-BE49-F238E27FC236}">
                  <a16:creationId xmlns:a16="http://schemas.microsoft.com/office/drawing/2014/main" id="{BBE88D50-C548-9A5E-6EEE-32D94E24D19C}"/>
                </a:ext>
              </a:extLst>
            </p:cNvPr>
            <p:cNvSpPr>
              <a:spLocks/>
            </p:cNvSpPr>
            <p:nvPr/>
          </p:nvSpPr>
          <p:spPr bwMode="auto">
            <a:xfrm>
              <a:off x="190" y="4277"/>
              <a:ext cx="17" cy="30"/>
            </a:xfrm>
            <a:custGeom>
              <a:avLst/>
              <a:gdLst>
                <a:gd name="T0" fmla="*/ 7 w 17"/>
                <a:gd name="T1" fmla="*/ 0 h 30"/>
                <a:gd name="T2" fmla="*/ 0 w 17"/>
                <a:gd name="T3" fmla="*/ 29 h 30"/>
                <a:gd name="T4" fmla="*/ 16 w 17"/>
                <a:gd name="T5" fmla="*/ 28 h 30"/>
                <a:gd name="T6" fmla="*/ 7 w 1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30">
                  <a:moveTo>
                    <a:pt x="7" y="0"/>
                  </a:moveTo>
                  <a:lnTo>
                    <a:pt x="0" y="29"/>
                  </a:lnTo>
                  <a:lnTo>
                    <a:pt x="16" y="28"/>
                  </a:lnTo>
                  <a:lnTo>
                    <a:pt x="7"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879" name="Freeform 15">
              <a:extLst>
                <a:ext uri="{FF2B5EF4-FFF2-40B4-BE49-F238E27FC236}">
                  <a16:creationId xmlns:a16="http://schemas.microsoft.com/office/drawing/2014/main" id="{8A947189-37A6-A6B7-BFAA-E856334FE42F}"/>
                </a:ext>
              </a:extLst>
            </p:cNvPr>
            <p:cNvSpPr>
              <a:spLocks/>
            </p:cNvSpPr>
            <p:nvPr/>
          </p:nvSpPr>
          <p:spPr bwMode="auto">
            <a:xfrm>
              <a:off x="164" y="4323"/>
              <a:ext cx="68" cy="115"/>
            </a:xfrm>
            <a:custGeom>
              <a:avLst/>
              <a:gdLst>
                <a:gd name="T0" fmla="*/ 22 w 68"/>
                <a:gd name="T1" fmla="*/ 114 h 115"/>
                <a:gd name="T2" fmla="*/ 23 w 68"/>
                <a:gd name="T3" fmla="*/ 94 h 115"/>
                <a:gd name="T4" fmla="*/ 21 w 68"/>
                <a:gd name="T5" fmla="*/ 91 h 115"/>
                <a:gd name="T6" fmla="*/ 15 w 68"/>
                <a:gd name="T7" fmla="*/ 83 h 115"/>
                <a:gd name="T8" fmla="*/ 9 w 68"/>
                <a:gd name="T9" fmla="*/ 72 h 115"/>
                <a:gd name="T10" fmla="*/ 4 w 68"/>
                <a:gd name="T11" fmla="*/ 58 h 115"/>
                <a:gd name="T12" fmla="*/ 0 w 68"/>
                <a:gd name="T13" fmla="*/ 42 h 115"/>
                <a:gd name="T14" fmla="*/ 1 w 68"/>
                <a:gd name="T15" fmla="*/ 27 h 115"/>
                <a:gd name="T16" fmla="*/ 8 w 68"/>
                <a:gd name="T17" fmla="*/ 12 h 115"/>
                <a:gd name="T18" fmla="*/ 23 w 68"/>
                <a:gd name="T19" fmla="*/ 0 h 115"/>
                <a:gd name="T20" fmla="*/ 43 w 68"/>
                <a:gd name="T21" fmla="*/ 0 h 115"/>
                <a:gd name="T22" fmla="*/ 46 w 68"/>
                <a:gd name="T23" fmla="*/ 1 h 115"/>
                <a:gd name="T24" fmla="*/ 51 w 68"/>
                <a:gd name="T25" fmla="*/ 5 h 115"/>
                <a:gd name="T26" fmla="*/ 57 w 68"/>
                <a:gd name="T27" fmla="*/ 11 h 115"/>
                <a:gd name="T28" fmla="*/ 63 w 68"/>
                <a:gd name="T29" fmla="*/ 20 h 115"/>
                <a:gd name="T30" fmla="*/ 67 w 68"/>
                <a:gd name="T31" fmla="*/ 32 h 115"/>
                <a:gd name="T32" fmla="*/ 66 w 68"/>
                <a:gd name="T33" fmla="*/ 48 h 115"/>
                <a:gd name="T34" fmla="*/ 59 w 68"/>
                <a:gd name="T35" fmla="*/ 68 h 115"/>
                <a:gd name="T36" fmla="*/ 43 w 68"/>
                <a:gd name="T37" fmla="*/ 91 h 115"/>
                <a:gd name="T38" fmla="*/ 43 w 68"/>
                <a:gd name="T39" fmla="*/ 114 h 115"/>
                <a:gd name="T40" fmla="*/ 22 w 68"/>
                <a:gd name="T41" fmla="*/ 114 h 11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68" h="115">
                  <a:moveTo>
                    <a:pt x="22" y="114"/>
                  </a:moveTo>
                  <a:lnTo>
                    <a:pt x="23" y="94"/>
                  </a:lnTo>
                  <a:lnTo>
                    <a:pt x="21" y="91"/>
                  </a:lnTo>
                  <a:lnTo>
                    <a:pt x="15" y="83"/>
                  </a:lnTo>
                  <a:lnTo>
                    <a:pt x="9" y="72"/>
                  </a:lnTo>
                  <a:lnTo>
                    <a:pt x="4" y="58"/>
                  </a:lnTo>
                  <a:lnTo>
                    <a:pt x="0" y="42"/>
                  </a:lnTo>
                  <a:lnTo>
                    <a:pt x="1" y="27"/>
                  </a:lnTo>
                  <a:lnTo>
                    <a:pt x="8" y="12"/>
                  </a:lnTo>
                  <a:lnTo>
                    <a:pt x="23" y="0"/>
                  </a:lnTo>
                  <a:lnTo>
                    <a:pt x="43" y="0"/>
                  </a:lnTo>
                  <a:lnTo>
                    <a:pt x="46" y="1"/>
                  </a:lnTo>
                  <a:lnTo>
                    <a:pt x="51" y="5"/>
                  </a:lnTo>
                  <a:lnTo>
                    <a:pt x="57" y="11"/>
                  </a:lnTo>
                  <a:lnTo>
                    <a:pt x="63" y="20"/>
                  </a:lnTo>
                  <a:lnTo>
                    <a:pt x="67" y="32"/>
                  </a:lnTo>
                  <a:lnTo>
                    <a:pt x="66" y="48"/>
                  </a:lnTo>
                  <a:lnTo>
                    <a:pt x="59" y="68"/>
                  </a:lnTo>
                  <a:lnTo>
                    <a:pt x="43" y="91"/>
                  </a:lnTo>
                  <a:lnTo>
                    <a:pt x="43" y="114"/>
                  </a:lnTo>
                  <a:lnTo>
                    <a:pt x="22" y="114"/>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880" name="Freeform 16">
              <a:extLst>
                <a:ext uri="{FF2B5EF4-FFF2-40B4-BE49-F238E27FC236}">
                  <a16:creationId xmlns:a16="http://schemas.microsoft.com/office/drawing/2014/main" id="{E556F647-3161-F6CF-75E9-4D27C730633D}"/>
                </a:ext>
              </a:extLst>
            </p:cNvPr>
            <p:cNvSpPr>
              <a:spLocks/>
            </p:cNvSpPr>
            <p:nvPr/>
          </p:nvSpPr>
          <p:spPr bwMode="auto">
            <a:xfrm>
              <a:off x="192" y="4343"/>
              <a:ext cx="17" cy="88"/>
            </a:xfrm>
            <a:custGeom>
              <a:avLst/>
              <a:gdLst>
                <a:gd name="T0" fmla="*/ 4 w 17"/>
                <a:gd name="T1" fmla="*/ 0 h 88"/>
                <a:gd name="T2" fmla="*/ 6 w 17"/>
                <a:gd name="T3" fmla="*/ 6 h 88"/>
                <a:gd name="T4" fmla="*/ 2 w 17"/>
                <a:gd name="T5" fmla="*/ 7 h 88"/>
                <a:gd name="T6" fmla="*/ 2 w 17"/>
                <a:gd name="T7" fmla="*/ 78 h 88"/>
                <a:gd name="T8" fmla="*/ 0 w 17"/>
                <a:gd name="T9" fmla="*/ 79 h 88"/>
                <a:gd name="T10" fmla="*/ 0 w 17"/>
                <a:gd name="T11" fmla="*/ 87 h 88"/>
                <a:gd name="T12" fmla="*/ 2 w 17"/>
                <a:gd name="T13" fmla="*/ 87 h 88"/>
                <a:gd name="T14" fmla="*/ 4 w 17"/>
                <a:gd name="T15" fmla="*/ 87 h 88"/>
                <a:gd name="T16" fmla="*/ 6 w 17"/>
                <a:gd name="T17" fmla="*/ 87 h 88"/>
                <a:gd name="T18" fmla="*/ 9 w 17"/>
                <a:gd name="T19" fmla="*/ 85 h 88"/>
                <a:gd name="T20" fmla="*/ 13 w 17"/>
                <a:gd name="T21" fmla="*/ 85 h 88"/>
                <a:gd name="T22" fmla="*/ 16 w 17"/>
                <a:gd name="T23" fmla="*/ 84 h 88"/>
                <a:gd name="T24" fmla="*/ 16 w 17"/>
                <a:gd name="T25" fmla="*/ 82 h 88"/>
                <a:gd name="T26" fmla="*/ 16 w 17"/>
                <a:gd name="T27" fmla="*/ 79 h 88"/>
                <a:gd name="T28" fmla="*/ 16 w 17"/>
                <a:gd name="T29" fmla="*/ 48 h 88"/>
                <a:gd name="T30" fmla="*/ 13 w 17"/>
                <a:gd name="T31" fmla="*/ 47 h 88"/>
                <a:gd name="T32" fmla="*/ 13 w 17"/>
                <a:gd name="T33" fmla="*/ 39 h 88"/>
                <a:gd name="T34" fmla="*/ 13 w 17"/>
                <a:gd name="T35" fmla="*/ 5 h 88"/>
                <a:gd name="T36" fmla="*/ 4 w 17"/>
                <a:gd name="T37" fmla="*/ 0 h 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7" h="88">
                  <a:moveTo>
                    <a:pt x="4" y="0"/>
                  </a:moveTo>
                  <a:lnTo>
                    <a:pt x="6" y="6"/>
                  </a:lnTo>
                  <a:lnTo>
                    <a:pt x="2" y="7"/>
                  </a:lnTo>
                  <a:lnTo>
                    <a:pt x="2" y="78"/>
                  </a:lnTo>
                  <a:lnTo>
                    <a:pt x="0" y="79"/>
                  </a:lnTo>
                  <a:lnTo>
                    <a:pt x="0" y="87"/>
                  </a:lnTo>
                  <a:lnTo>
                    <a:pt x="2" y="87"/>
                  </a:lnTo>
                  <a:lnTo>
                    <a:pt x="4" y="87"/>
                  </a:lnTo>
                  <a:lnTo>
                    <a:pt x="6" y="87"/>
                  </a:lnTo>
                  <a:lnTo>
                    <a:pt x="9" y="85"/>
                  </a:lnTo>
                  <a:lnTo>
                    <a:pt x="13" y="85"/>
                  </a:lnTo>
                  <a:lnTo>
                    <a:pt x="16" y="84"/>
                  </a:lnTo>
                  <a:lnTo>
                    <a:pt x="16" y="82"/>
                  </a:lnTo>
                  <a:lnTo>
                    <a:pt x="16" y="79"/>
                  </a:lnTo>
                  <a:lnTo>
                    <a:pt x="16" y="48"/>
                  </a:lnTo>
                  <a:lnTo>
                    <a:pt x="13" y="47"/>
                  </a:lnTo>
                  <a:lnTo>
                    <a:pt x="13" y="39"/>
                  </a:lnTo>
                  <a:lnTo>
                    <a:pt x="13" y="5"/>
                  </a:lnTo>
                  <a:lnTo>
                    <a:pt x="4"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1C74E9FE-5C83-DBA0-3026-4B3EAF1975B9}"/>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3272" tIns="46636" rIns="93272" bIns="46636"/>
          <a:lstStyle/>
          <a:p>
            <a:pPr defTabSz="401638"/>
            <a:r>
              <a:rPr lang="en-US" altLang="en-US">
                <a:latin typeface="Arial" panose="020B0604020202020204" pitchFamily="34" charset="0"/>
              </a:rPr>
              <a:t>The LIKE Operator</a:t>
            </a:r>
          </a:p>
          <a:p>
            <a:pPr marL="114300" lvl="1" defTabSz="401638"/>
            <a:r>
              <a:rPr lang="en-US" altLang="en-US">
                <a:latin typeface="Arial" panose="020B0604020202020204" pitchFamily="34" charset="0"/>
              </a:rPr>
              <a:t>You may not always know the exact value to search for. You can select rows that match a character pattern by using the </a:t>
            </a:r>
            <a:r>
              <a:rPr lang="en-US" altLang="en-US">
                <a:solidFill>
                  <a:srgbClr val="FC0128"/>
                </a:solidFill>
                <a:latin typeface="Arial" panose="020B0604020202020204" pitchFamily="34" charset="0"/>
              </a:rPr>
              <a:t>LIKE </a:t>
            </a:r>
            <a:r>
              <a:rPr lang="en-US" altLang="en-US">
                <a:latin typeface="Arial" panose="020B0604020202020204" pitchFamily="34" charset="0"/>
              </a:rPr>
              <a:t>operator. The character pattern-matching operation is referred to as a </a:t>
            </a:r>
            <a:r>
              <a:rPr lang="en-US" altLang="en-US" i="1">
                <a:latin typeface="Arial" panose="020B0604020202020204" pitchFamily="34" charset="0"/>
              </a:rPr>
              <a:t>wildcard </a:t>
            </a:r>
            <a:r>
              <a:rPr lang="en-US" altLang="en-US">
                <a:latin typeface="Arial" panose="020B0604020202020204" pitchFamily="34" charset="0"/>
              </a:rPr>
              <a:t>search. Two symbols can be used to construct the search string. </a:t>
            </a:r>
          </a:p>
          <a:p>
            <a:pPr marL="114300" lvl="1" defTabSz="401638"/>
            <a:endParaRPr lang="en-US" altLang="en-US">
              <a:latin typeface="Arial" panose="020B0604020202020204" pitchFamily="34" charset="0"/>
            </a:endParaRPr>
          </a:p>
          <a:p>
            <a:pPr marL="114300" lvl="1" defTabSz="401638"/>
            <a:endParaRPr lang="en-US" altLang="en-US">
              <a:latin typeface="Arial" panose="020B0604020202020204" pitchFamily="34" charset="0"/>
            </a:endParaRPr>
          </a:p>
          <a:p>
            <a:pPr marL="114300" lvl="1" defTabSz="401638"/>
            <a:endParaRPr lang="en-US" altLang="en-US">
              <a:latin typeface="Arial" panose="020B0604020202020204" pitchFamily="34" charset="0"/>
            </a:endParaRPr>
          </a:p>
          <a:p>
            <a:pPr marL="114300" lvl="1" defTabSz="401638"/>
            <a:endParaRPr lang="en-US" altLang="en-US" sz="500">
              <a:latin typeface="Arial" panose="020B0604020202020204" pitchFamily="34" charset="0"/>
            </a:endParaRPr>
          </a:p>
          <a:p>
            <a:pPr marL="114300" lvl="1" defTabSz="401638">
              <a:spcBef>
                <a:spcPct val="0"/>
              </a:spcBef>
            </a:pPr>
            <a:r>
              <a:rPr lang="en-US" altLang="en-US">
                <a:latin typeface="Arial" panose="020B0604020202020204" pitchFamily="34" charset="0"/>
              </a:rPr>
              <a:t>The SELECT statement above returns the employee name from the EMP table for any employee whose name begins with an “S.” Note the uppercase “S.” Names beginning with an “s” will not be returned. </a:t>
            </a:r>
          </a:p>
          <a:p>
            <a:pPr marL="114300" lvl="1" defTabSz="401638">
              <a:spcBef>
                <a:spcPct val="0"/>
              </a:spcBef>
            </a:pPr>
            <a:r>
              <a:rPr lang="en-US" altLang="en-US">
                <a:latin typeface="Arial" panose="020B0604020202020204" pitchFamily="34" charset="0"/>
              </a:rPr>
              <a:t>The LIKE operator can be used as a shortcut for some BETWEEN comparisons. The following example displays names and hire dates of all employees who joined between January 1981 and December 1981: </a:t>
            </a:r>
            <a:endParaRPr lang="en-US" altLang="en-US">
              <a:latin typeface="Courier New" panose="02070309020205020404" pitchFamily="49" charset="0"/>
            </a:endParaRPr>
          </a:p>
          <a:p>
            <a:pPr marL="114300" lvl="1" defTabSz="401638">
              <a:spcBef>
                <a:spcPct val="0"/>
              </a:spcBef>
            </a:pPr>
            <a:endParaRPr lang="en-US" altLang="en-US">
              <a:latin typeface="Courier New" panose="02070309020205020404" pitchFamily="49" charset="0"/>
            </a:endParaRPr>
          </a:p>
          <a:p>
            <a:pPr marL="114300" lvl="1" defTabSz="401638">
              <a:spcBef>
                <a:spcPct val="0"/>
              </a:spcBef>
            </a:pPr>
            <a:r>
              <a:rPr lang="en-US" altLang="en-US">
                <a:latin typeface="Courier New" panose="02070309020205020404" pitchFamily="49" charset="0"/>
              </a:rPr>
              <a:t>  </a:t>
            </a:r>
            <a:r>
              <a:rPr lang="en-US" altLang="en-US" b="1">
                <a:latin typeface="Courier New" panose="02070309020205020404" pitchFamily="49" charset="0"/>
              </a:rPr>
              <a:t>SQL&gt;  SELECT	ename, hiredate</a:t>
            </a:r>
          </a:p>
          <a:p>
            <a:pPr marL="114300" lvl="1" defTabSz="401638">
              <a:spcBef>
                <a:spcPct val="0"/>
              </a:spcBef>
            </a:pPr>
            <a:r>
              <a:rPr lang="en-US" altLang="en-US" b="1">
                <a:latin typeface="Courier New" panose="02070309020205020404" pitchFamily="49" charset="0"/>
              </a:rPr>
              <a:t>    2   FROM		emp</a:t>
            </a:r>
          </a:p>
          <a:p>
            <a:pPr marL="114300" lvl="1" defTabSz="401638">
              <a:spcBef>
                <a:spcPct val="0"/>
              </a:spcBef>
            </a:pPr>
            <a:r>
              <a:rPr lang="en-US" altLang="en-US" b="1">
                <a:latin typeface="Courier New" panose="02070309020205020404" pitchFamily="49" charset="0"/>
              </a:rPr>
              <a:t>    3   WHERE	hiredate LIKE '%81';</a:t>
            </a:r>
          </a:p>
        </p:txBody>
      </p:sp>
      <p:sp>
        <p:nvSpPr>
          <p:cNvPr id="38915" name="Rectangle 3">
            <a:extLst>
              <a:ext uri="{FF2B5EF4-FFF2-40B4-BE49-F238E27FC236}">
                <a16:creationId xmlns:a16="http://schemas.microsoft.com/office/drawing/2014/main" id="{EE6B358F-C3C7-00C7-22EE-0E9E576A4187}"/>
              </a:ext>
            </a:extLst>
          </p:cNvPr>
          <p:cNvSpPr>
            <a:spLocks noGrp="1" noRot="1" noChangeAspect="1" noChangeArrowheads="1" noTextEdit="1"/>
          </p:cNvSpPr>
          <p:nvPr>
            <p:ph type="sldImg"/>
          </p:nvPr>
        </p:nvSpPr>
        <p:spPr>
          <a:xfrm>
            <a:off x="434975" y="155575"/>
            <a:ext cx="5983288" cy="4487863"/>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graphicFrame>
        <p:nvGraphicFramePr>
          <p:cNvPr id="38916" name="Object 4">
            <a:extLst>
              <a:ext uri="{FF2B5EF4-FFF2-40B4-BE49-F238E27FC236}">
                <a16:creationId xmlns:a16="http://schemas.microsoft.com/office/drawing/2014/main" id="{4736E5B5-2017-E7E3-2B26-4F3E783960C9}"/>
              </a:ext>
            </a:extLst>
          </p:cNvPr>
          <p:cNvGraphicFramePr>
            <a:graphicFrameLocks/>
          </p:cNvGraphicFramePr>
          <p:nvPr/>
        </p:nvGraphicFramePr>
        <p:xfrm>
          <a:off x="598488" y="5692775"/>
          <a:ext cx="5686425" cy="822325"/>
        </p:xfrm>
        <a:graphic>
          <a:graphicData uri="http://schemas.openxmlformats.org/presentationml/2006/ole">
            <mc:AlternateContent xmlns:mc="http://schemas.openxmlformats.org/markup-compatibility/2006">
              <mc:Choice xmlns:v="urn:schemas-microsoft-com:vml" Requires="v">
                <p:oleObj name="Document" r:id="rId3" imgW="5654040" imgH="807720" progId="Word.Document.6">
                  <p:embed/>
                </p:oleObj>
              </mc:Choice>
              <mc:Fallback>
                <p:oleObj name="Document" r:id="rId3" imgW="5654040" imgH="807720" progId="Word.Document.6">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488" y="5692775"/>
                        <a:ext cx="56864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8917" name="Rectangle 5">
            <a:extLst>
              <a:ext uri="{FF2B5EF4-FFF2-40B4-BE49-F238E27FC236}">
                <a16:creationId xmlns:a16="http://schemas.microsoft.com/office/drawing/2014/main" id="{CA97E797-43A3-5C3B-77A9-52B4A63299BE}"/>
              </a:ext>
            </a:extLst>
          </p:cNvPr>
          <p:cNvSpPr>
            <a:spLocks noChangeArrowheads="1"/>
          </p:cNvSpPr>
          <p:nvPr/>
        </p:nvSpPr>
        <p:spPr bwMode="auto">
          <a:xfrm>
            <a:off x="617538" y="7507288"/>
            <a:ext cx="5662612" cy="65246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C8C389BD-BD2F-EE9D-37D3-C4B18EF5D729}"/>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3272" tIns="46636" rIns="93272" bIns="46636"/>
          <a:lstStyle/>
          <a:p>
            <a:pPr defTabSz="401638"/>
            <a:r>
              <a:rPr lang="en-US" altLang="en-US">
                <a:latin typeface="Arial" panose="020B0604020202020204" pitchFamily="34" charset="0"/>
              </a:rPr>
              <a:t>The LIKE Operator</a:t>
            </a:r>
          </a:p>
          <a:p>
            <a:pPr marL="114300" lvl="1" defTabSz="401638"/>
            <a:r>
              <a:rPr lang="en-US" altLang="en-US">
                <a:latin typeface="Arial" panose="020B0604020202020204" pitchFamily="34" charset="0"/>
              </a:rPr>
              <a:t>You may not always know the exact value to search for. You can select rows that match a character pattern by using the </a:t>
            </a:r>
            <a:r>
              <a:rPr lang="en-US" altLang="en-US">
                <a:solidFill>
                  <a:srgbClr val="FC0128"/>
                </a:solidFill>
                <a:latin typeface="Arial" panose="020B0604020202020204" pitchFamily="34" charset="0"/>
              </a:rPr>
              <a:t>LIKE </a:t>
            </a:r>
            <a:r>
              <a:rPr lang="en-US" altLang="en-US">
                <a:latin typeface="Arial" panose="020B0604020202020204" pitchFamily="34" charset="0"/>
              </a:rPr>
              <a:t>operator. The character pattern-matching operation is referred to as a </a:t>
            </a:r>
            <a:r>
              <a:rPr lang="en-US" altLang="en-US" i="1">
                <a:latin typeface="Arial" panose="020B0604020202020204" pitchFamily="34" charset="0"/>
              </a:rPr>
              <a:t>wildcard </a:t>
            </a:r>
            <a:r>
              <a:rPr lang="en-US" altLang="en-US">
                <a:latin typeface="Arial" panose="020B0604020202020204" pitchFamily="34" charset="0"/>
              </a:rPr>
              <a:t>search. Two symbols can be used to construct the search string. </a:t>
            </a:r>
          </a:p>
          <a:p>
            <a:pPr marL="114300" lvl="1" defTabSz="401638"/>
            <a:endParaRPr lang="en-US" altLang="en-US">
              <a:latin typeface="Arial" panose="020B0604020202020204" pitchFamily="34" charset="0"/>
            </a:endParaRPr>
          </a:p>
          <a:p>
            <a:pPr marL="114300" lvl="1" defTabSz="401638"/>
            <a:endParaRPr lang="en-US" altLang="en-US">
              <a:latin typeface="Arial" panose="020B0604020202020204" pitchFamily="34" charset="0"/>
            </a:endParaRPr>
          </a:p>
          <a:p>
            <a:pPr marL="114300" lvl="1" defTabSz="401638"/>
            <a:endParaRPr lang="en-US" altLang="en-US">
              <a:latin typeface="Arial" panose="020B0604020202020204" pitchFamily="34" charset="0"/>
            </a:endParaRPr>
          </a:p>
          <a:p>
            <a:pPr marL="114300" lvl="1" defTabSz="401638"/>
            <a:endParaRPr lang="en-US" altLang="en-US" sz="500">
              <a:latin typeface="Arial" panose="020B0604020202020204" pitchFamily="34" charset="0"/>
            </a:endParaRPr>
          </a:p>
          <a:p>
            <a:pPr marL="114300" lvl="1" defTabSz="401638">
              <a:spcBef>
                <a:spcPct val="0"/>
              </a:spcBef>
            </a:pPr>
            <a:r>
              <a:rPr lang="en-US" altLang="en-US">
                <a:latin typeface="Arial" panose="020B0604020202020204" pitchFamily="34" charset="0"/>
              </a:rPr>
              <a:t>The SELECT statement above returns the employee name from the EMP table for any employee whose name begins with an “S.” Note the uppercase “S.” Names beginning with an “s” will not be returned. </a:t>
            </a:r>
          </a:p>
          <a:p>
            <a:pPr marL="114300" lvl="1" defTabSz="401638">
              <a:spcBef>
                <a:spcPct val="0"/>
              </a:spcBef>
            </a:pPr>
            <a:r>
              <a:rPr lang="en-US" altLang="en-US">
                <a:latin typeface="Arial" panose="020B0604020202020204" pitchFamily="34" charset="0"/>
              </a:rPr>
              <a:t>The LIKE operator can be used as a shortcut for some BETWEEN comparisons. The following example displays names and hire dates of all employees who joined between January 1981 and December 1981: </a:t>
            </a:r>
            <a:endParaRPr lang="en-US" altLang="en-US">
              <a:latin typeface="Courier New" panose="02070309020205020404" pitchFamily="49" charset="0"/>
            </a:endParaRPr>
          </a:p>
          <a:p>
            <a:pPr marL="114300" lvl="1" defTabSz="401638">
              <a:spcBef>
                <a:spcPct val="0"/>
              </a:spcBef>
            </a:pPr>
            <a:endParaRPr lang="en-US" altLang="en-US">
              <a:latin typeface="Courier New" panose="02070309020205020404" pitchFamily="49" charset="0"/>
            </a:endParaRPr>
          </a:p>
          <a:p>
            <a:pPr marL="114300" lvl="1" defTabSz="401638">
              <a:spcBef>
                <a:spcPct val="0"/>
              </a:spcBef>
            </a:pPr>
            <a:r>
              <a:rPr lang="en-US" altLang="en-US">
                <a:latin typeface="Courier New" panose="02070309020205020404" pitchFamily="49" charset="0"/>
              </a:rPr>
              <a:t>  </a:t>
            </a:r>
            <a:r>
              <a:rPr lang="en-US" altLang="en-US" b="1">
                <a:latin typeface="Courier New" panose="02070309020205020404" pitchFamily="49" charset="0"/>
              </a:rPr>
              <a:t>SQL&gt;  SELECT	ename, hiredate</a:t>
            </a:r>
          </a:p>
          <a:p>
            <a:pPr marL="114300" lvl="1" defTabSz="401638">
              <a:spcBef>
                <a:spcPct val="0"/>
              </a:spcBef>
            </a:pPr>
            <a:r>
              <a:rPr lang="en-US" altLang="en-US" b="1">
                <a:latin typeface="Courier New" panose="02070309020205020404" pitchFamily="49" charset="0"/>
              </a:rPr>
              <a:t>    2   FROM		emp</a:t>
            </a:r>
          </a:p>
          <a:p>
            <a:pPr marL="114300" lvl="1" defTabSz="401638">
              <a:spcBef>
                <a:spcPct val="0"/>
              </a:spcBef>
            </a:pPr>
            <a:r>
              <a:rPr lang="en-US" altLang="en-US" b="1">
                <a:latin typeface="Courier New" panose="02070309020205020404" pitchFamily="49" charset="0"/>
              </a:rPr>
              <a:t>    3   WHERE	hiredate LIKE '%81';</a:t>
            </a:r>
          </a:p>
        </p:txBody>
      </p:sp>
      <p:sp>
        <p:nvSpPr>
          <p:cNvPr id="40963" name="Rectangle 3">
            <a:extLst>
              <a:ext uri="{FF2B5EF4-FFF2-40B4-BE49-F238E27FC236}">
                <a16:creationId xmlns:a16="http://schemas.microsoft.com/office/drawing/2014/main" id="{4990B2C2-6244-C3E1-F6ED-793626CC1023}"/>
              </a:ext>
            </a:extLst>
          </p:cNvPr>
          <p:cNvSpPr>
            <a:spLocks noGrp="1" noRot="1" noChangeAspect="1" noChangeArrowheads="1" noTextEdit="1"/>
          </p:cNvSpPr>
          <p:nvPr>
            <p:ph type="sldImg"/>
          </p:nvPr>
        </p:nvSpPr>
        <p:spPr>
          <a:xfrm>
            <a:off x="434975" y="155575"/>
            <a:ext cx="5983288" cy="4487863"/>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graphicFrame>
        <p:nvGraphicFramePr>
          <p:cNvPr id="40964" name="Object 4">
            <a:extLst>
              <a:ext uri="{FF2B5EF4-FFF2-40B4-BE49-F238E27FC236}">
                <a16:creationId xmlns:a16="http://schemas.microsoft.com/office/drawing/2014/main" id="{DA5D29D3-E443-C034-E1F5-AD05F20E7AF5}"/>
              </a:ext>
            </a:extLst>
          </p:cNvPr>
          <p:cNvGraphicFramePr>
            <a:graphicFrameLocks/>
          </p:cNvGraphicFramePr>
          <p:nvPr/>
        </p:nvGraphicFramePr>
        <p:xfrm>
          <a:off x="598488" y="5692775"/>
          <a:ext cx="5686425" cy="822325"/>
        </p:xfrm>
        <a:graphic>
          <a:graphicData uri="http://schemas.openxmlformats.org/presentationml/2006/ole">
            <mc:AlternateContent xmlns:mc="http://schemas.openxmlformats.org/markup-compatibility/2006">
              <mc:Choice xmlns:v="urn:schemas-microsoft-com:vml" Requires="v">
                <p:oleObj name="Document" r:id="rId3" imgW="5654040" imgH="807720" progId="Word.Document.6">
                  <p:embed/>
                </p:oleObj>
              </mc:Choice>
              <mc:Fallback>
                <p:oleObj name="Document" r:id="rId3" imgW="5654040" imgH="807720" progId="Word.Document.6">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488" y="5692775"/>
                        <a:ext cx="56864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965" name="Rectangle 5">
            <a:extLst>
              <a:ext uri="{FF2B5EF4-FFF2-40B4-BE49-F238E27FC236}">
                <a16:creationId xmlns:a16="http://schemas.microsoft.com/office/drawing/2014/main" id="{C69BD2C2-EFB7-22B8-EFC5-4ADB2CF4B1A3}"/>
              </a:ext>
            </a:extLst>
          </p:cNvPr>
          <p:cNvSpPr>
            <a:spLocks noChangeArrowheads="1"/>
          </p:cNvSpPr>
          <p:nvPr/>
        </p:nvSpPr>
        <p:spPr bwMode="auto">
          <a:xfrm>
            <a:off x="617538" y="7507288"/>
            <a:ext cx="5662612" cy="65246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568868C2-368A-012B-102E-D9E370BC868B}"/>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3272" tIns="46636" rIns="93272" bIns="46636"/>
          <a:lstStyle/>
          <a:p>
            <a:pPr defTabSz="401638"/>
            <a:r>
              <a:rPr lang="en-US" altLang="en-US">
                <a:latin typeface="Arial" panose="020B0604020202020204" pitchFamily="34" charset="0"/>
              </a:rPr>
              <a:t>The IS NULL Operator</a:t>
            </a:r>
          </a:p>
          <a:p>
            <a:pPr marL="114300" lvl="1" defTabSz="401638"/>
            <a:r>
              <a:rPr lang="en-US" altLang="en-US">
                <a:latin typeface="Arial" panose="020B0604020202020204" pitchFamily="34" charset="0"/>
              </a:rPr>
              <a:t>The </a:t>
            </a:r>
            <a:r>
              <a:rPr lang="en-US" altLang="en-US">
                <a:solidFill>
                  <a:srgbClr val="FC0128"/>
                </a:solidFill>
                <a:latin typeface="Arial" panose="020B0604020202020204" pitchFamily="34" charset="0"/>
              </a:rPr>
              <a:t>IS NULL </a:t>
            </a:r>
            <a:r>
              <a:rPr lang="en-US" altLang="en-US">
                <a:latin typeface="Arial" panose="020B0604020202020204" pitchFamily="34" charset="0"/>
              </a:rPr>
              <a:t>operator tests for values that are null. A null value means the value is unavailable, unassigned, unknown, or inapplicable. Therefore, you cannot test with (=) because a null value cannot be equal or unequal to any value. The slide example retrieves the name and manager of all employees who do not have a manager.</a:t>
            </a:r>
          </a:p>
          <a:p>
            <a:pPr marL="114300" lvl="1" defTabSz="401638"/>
            <a:r>
              <a:rPr lang="en-US" altLang="en-US">
                <a:latin typeface="Arial" panose="020B0604020202020204" pitchFamily="34" charset="0"/>
              </a:rPr>
              <a:t>For example, to display name, job title, and commission for all employees who are not entitled to get a commission, use the following SQL statement:</a:t>
            </a:r>
          </a:p>
          <a:p>
            <a:pPr defTabSz="401638"/>
            <a:endParaRPr lang="en-US" altLang="en-US" b="1">
              <a:latin typeface="Times New Roman" panose="02020603050405020304" pitchFamily="18" charset="0"/>
            </a:endParaRPr>
          </a:p>
        </p:txBody>
      </p:sp>
      <p:sp>
        <p:nvSpPr>
          <p:cNvPr id="43011" name="Rectangle 3">
            <a:extLst>
              <a:ext uri="{FF2B5EF4-FFF2-40B4-BE49-F238E27FC236}">
                <a16:creationId xmlns:a16="http://schemas.microsoft.com/office/drawing/2014/main" id="{45C81992-9906-1368-E9DA-2CE3147E7D82}"/>
              </a:ext>
            </a:extLst>
          </p:cNvPr>
          <p:cNvSpPr>
            <a:spLocks noGrp="1" noRot="1" noChangeAspect="1" noChangeArrowheads="1" noTextEdit="1"/>
          </p:cNvSpPr>
          <p:nvPr>
            <p:ph type="sldImg"/>
          </p:nvPr>
        </p:nvSpPr>
        <p:spPr>
          <a:xfrm>
            <a:off x="434975" y="155575"/>
            <a:ext cx="5983288" cy="4487863"/>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grpSp>
        <p:nvGrpSpPr>
          <p:cNvPr id="43012" name="Group 4">
            <a:extLst>
              <a:ext uri="{FF2B5EF4-FFF2-40B4-BE49-F238E27FC236}">
                <a16:creationId xmlns:a16="http://schemas.microsoft.com/office/drawing/2014/main" id="{2A82A36D-A4F7-09D5-7F21-9C7A355F7E0E}"/>
              </a:ext>
            </a:extLst>
          </p:cNvPr>
          <p:cNvGrpSpPr>
            <a:grpSpLocks/>
          </p:cNvGrpSpPr>
          <p:nvPr/>
        </p:nvGrpSpPr>
        <p:grpSpPr bwMode="auto">
          <a:xfrm>
            <a:off x="614363" y="6240463"/>
            <a:ext cx="5676900" cy="765175"/>
            <a:chOff x="385" y="3860"/>
            <a:chExt cx="3555" cy="473"/>
          </a:xfrm>
        </p:grpSpPr>
        <p:sp>
          <p:nvSpPr>
            <p:cNvPr id="43015" name="Rectangle 5">
              <a:extLst>
                <a:ext uri="{FF2B5EF4-FFF2-40B4-BE49-F238E27FC236}">
                  <a16:creationId xmlns:a16="http://schemas.microsoft.com/office/drawing/2014/main" id="{2D3449D9-14AC-910B-A6C3-80E8866D5FE5}"/>
                </a:ext>
              </a:extLst>
            </p:cNvPr>
            <p:cNvSpPr>
              <a:spLocks noChangeArrowheads="1"/>
            </p:cNvSpPr>
            <p:nvPr/>
          </p:nvSpPr>
          <p:spPr bwMode="auto">
            <a:xfrm>
              <a:off x="393" y="3860"/>
              <a:ext cx="3547" cy="37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43016" name="Rectangle 6">
              <a:extLst>
                <a:ext uri="{FF2B5EF4-FFF2-40B4-BE49-F238E27FC236}">
                  <a16:creationId xmlns:a16="http://schemas.microsoft.com/office/drawing/2014/main" id="{F77B6324-6451-746A-47E6-EC496DCD44A7}"/>
                </a:ext>
              </a:extLst>
            </p:cNvPr>
            <p:cNvSpPr>
              <a:spLocks noChangeArrowheads="1"/>
            </p:cNvSpPr>
            <p:nvPr/>
          </p:nvSpPr>
          <p:spPr bwMode="auto">
            <a:xfrm>
              <a:off x="385" y="3874"/>
              <a:ext cx="2290" cy="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272" tIns="46636" rIns="93272" bIns="46636">
              <a:spAutoFit/>
            </a:bodyPr>
            <a:lstStyle>
              <a:lvl1pPr defTabSz="427038">
                <a:spcBef>
                  <a:spcPct val="30000"/>
                </a:spcBef>
                <a:defRPr sz="1200">
                  <a:solidFill>
                    <a:schemeClr val="tx1"/>
                  </a:solidFill>
                  <a:latin typeface="Arial" panose="020B0604020202020204" pitchFamily="34" charset="0"/>
                </a:defRPr>
              </a:lvl1pPr>
              <a:lvl2pPr marL="742950" indent="-285750" defTabSz="427038">
                <a:spcBef>
                  <a:spcPct val="30000"/>
                </a:spcBef>
                <a:defRPr sz="1200">
                  <a:solidFill>
                    <a:schemeClr val="tx1"/>
                  </a:solidFill>
                  <a:latin typeface="Arial" panose="020B0604020202020204" pitchFamily="34" charset="0"/>
                </a:defRPr>
              </a:lvl2pPr>
              <a:lvl3pPr marL="1143000" indent="-228600" defTabSz="427038">
                <a:spcBef>
                  <a:spcPct val="30000"/>
                </a:spcBef>
                <a:defRPr sz="1200">
                  <a:solidFill>
                    <a:schemeClr val="tx1"/>
                  </a:solidFill>
                  <a:latin typeface="Arial" panose="020B0604020202020204" pitchFamily="34" charset="0"/>
                </a:defRPr>
              </a:lvl3pPr>
              <a:lvl4pPr marL="1600200" indent="-228600" defTabSz="427038">
                <a:spcBef>
                  <a:spcPct val="30000"/>
                </a:spcBef>
                <a:defRPr sz="1200">
                  <a:solidFill>
                    <a:schemeClr val="tx1"/>
                  </a:solidFill>
                  <a:latin typeface="Arial" panose="020B0604020202020204" pitchFamily="34" charset="0"/>
                </a:defRPr>
              </a:lvl4pPr>
              <a:lvl5pPr marL="2057400" indent="-228600" defTabSz="427038">
                <a:spcBef>
                  <a:spcPct val="30000"/>
                </a:spcBef>
                <a:defRPr sz="1200">
                  <a:solidFill>
                    <a:schemeClr val="tx1"/>
                  </a:solidFill>
                  <a:latin typeface="Arial" panose="020B0604020202020204" pitchFamily="34" charset="0"/>
                </a:defRPr>
              </a:lvl5pPr>
              <a:lvl6pPr marL="2514600" indent="-228600" defTabSz="42703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42703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42703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427038" eaLnBrk="0" fontAlgn="base" hangingPunct="0">
                <a:spcBef>
                  <a:spcPct val="30000"/>
                </a:spcBef>
                <a:spcAft>
                  <a:spcPct val="0"/>
                </a:spcAft>
                <a:defRPr sz="1200">
                  <a:solidFill>
                    <a:schemeClr val="tx1"/>
                  </a:solidFill>
                  <a:latin typeface="Arial" panose="020B0604020202020204" pitchFamily="34" charset="0"/>
                </a:defRPr>
              </a:lvl9pPr>
            </a:lstStyle>
            <a:p>
              <a:pPr>
                <a:lnSpc>
                  <a:spcPct val="65000"/>
                </a:lnSpc>
                <a:spcBef>
                  <a:spcPct val="0"/>
                </a:spcBef>
                <a:spcAft>
                  <a:spcPct val="24000"/>
                </a:spcAft>
              </a:pPr>
              <a:r>
                <a:rPr lang="en-US" altLang="en-US" sz="1100" b="1">
                  <a:latin typeface="Courier New" panose="02070309020205020404" pitchFamily="49" charset="0"/>
                </a:rPr>
                <a:t>SQL&gt; 	SELECT	ename,  job, comm </a:t>
              </a:r>
            </a:p>
            <a:p>
              <a:pPr>
                <a:lnSpc>
                  <a:spcPct val="65000"/>
                </a:lnSpc>
                <a:spcBef>
                  <a:spcPct val="0"/>
                </a:spcBef>
                <a:spcAft>
                  <a:spcPct val="24000"/>
                </a:spcAft>
              </a:pPr>
              <a:r>
                <a:rPr lang="en-US" altLang="en-US" sz="1100" b="1">
                  <a:latin typeface="Courier New" panose="02070309020205020404" pitchFamily="49" charset="0"/>
                </a:rPr>
                <a:t>  2	FROM 		emp</a:t>
              </a:r>
            </a:p>
            <a:p>
              <a:pPr>
                <a:lnSpc>
                  <a:spcPct val="65000"/>
                </a:lnSpc>
                <a:spcBef>
                  <a:spcPct val="0"/>
                </a:spcBef>
                <a:spcAft>
                  <a:spcPct val="24000"/>
                </a:spcAft>
              </a:pPr>
              <a:r>
                <a:rPr lang="en-US" altLang="en-US" sz="1100" b="1">
                  <a:latin typeface="Courier New" panose="02070309020205020404" pitchFamily="49" charset="0"/>
                </a:rPr>
                <a:t>  3	WHERE 	comm  IS  NULL;</a:t>
              </a:r>
            </a:p>
            <a:p>
              <a:pPr>
                <a:lnSpc>
                  <a:spcPct val="112000"/>
                </a:lnSpc>
                <a:spcBef>
                  <a:spcPct val="0"/>
                </a:spcBef>
                <a:spcAft>
                  <a:spcPct val="24000"/>
                </a:spcAft>
              </a:pPr>
              <a:endParaRPr lang="en-US" altLang="en-US" sz="1100" b="1">
                <a:latin typeface="Courier New" panose="02070309020205020404" pitchFamily="49" charset="0"/>
              </a:endParaRPr>
            </a:p>
          </p:txBody>
        </p:sp>
      </p:grpSp>
      <p:sp>
        <p:nvSpPr>
          <p:cNvPr id="43013" name="Rectangle 7">
            <a:extLst>
              <a:ext uri="{FF2B5EF4-FFF2-40B4-BE49-F238E27FC236}">
                <a16:creationId xmlns:a16="http://schemas.microsoft.com/office/drawing/2014/main" id="{5244D734-F1E1-9F54-14CE-AB73A7D7A611}"/>
              </a:ext>
            </a:extLst>
          </p:cNvPr>
          <p:cNvSpPr>
            <a:spLocks noChangeArrowheads="1"/>
          </p:cNvSpPr>
          <p:nvPr/>
        </p:nvSpPr>
        <p:spPr bwMode="auto">
          <a:xfrm>
            <a:off x="620713" y="7153275"/>
            <a:ext cx="5664200" cy="104933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43014" name="Rectangle 8">
            <a:extLst>
              <a:ext uri="{FF2B5EF4-FFF2-40B4-BE49-F238E27FC236}">
                <a16:creationId xmlns:a16="http://schemas.microsoft.com/office/drawing/2014/main" id="{BF481336-F880-8F51-98F9-30761D8DFCBA}"/>
              </a:ext>
            </a:extLst>
          </p:cNvPr>
          <p:cNvSpPr>
            <a:spLocks noChangeArrowheads="1"/>
          </p:cNvSpPr>
          <p:nvPr/>
        </p:nvSpPr>
        <p:spPr bwMode="auto">
          <a:xfrm>
            <a:off x="625475" y="7200900"/>
            <a:ext cx="4953000" cy="96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664" tIns="45028" rIns="91664" bIns="45028">
            <a:spAutoFit/>
          </a:bodyPr>
          <a:lstStyle>
            <a:lvl1pPr defTabSz="406400">
              <a:spcBef>
                <a:spcPct val="30000"/>
              </a:spcBef>
              <a:defRPr sz="1200">
                <a:solidFill>
                  <a:schemeClr val="tx1"/>
                </a:solidFill>
                <a:latin typeface="Arial" panose="020B0604020202020204" pitchFamily="34" charset="0"/>
              </a:defRPr>
            </a:lvl1pPr>
            <a:lvl2pPr marL="742950" indent="-285750" defTabSz="406400">
              <a:spcBef>
                <a:spcPct val="30000"/>
              </a:spcBef>
              <a:defRPr sz="1200">
                <a:solidFill>
                  <a:schemeClr val="tx1"/>
                </a:solidFill>
                <a:latin typeface="Arial" panose="020B0604020202020204" pitchFamily="34" charset="0"/>
              </a:defRPr>
            </a:lvl2pPr>
            <a:lvl3pPr marL="1143000" indent="-228600" defTabSz="406400">
              <a:spcBef>
                <a:spcPct val="30000"/>
              </a:spcBef>
              <a:defRPr sz="1200">
                <a:solidFill>
                  <a:schemeClr val="tx1"/>
                </a:solidFill>
                <a:latin typeface="Arial" panose="020B0604020202020204" pitchFamily="34" charset="0"/>
              </a:defRPr>
            </a:lvl3pPr>
            <a:lvl4pPr marL="1600200" indent="-228600" defTabSz="406400">
              <a:spcBef>
                <a:spcPct val="30000"/>
              </a:spcBef>
              <a:defRPr sz="1200">
                <a:solidFill>
                  <a:schemeClr val="tx1"/>
                </a:solidFill>
                <a:latin typeface="Arial" panose="020B0604020202020204" pitchFamily="34" charset="0"/>
              </a:defRPr>
            </a:lvl4pPr>
            <a:lvl5pPr marL="2057400" indent="-228600" defTabSz="406400">
              <a:spcBef>
                <a:spcPct val="30000"/>
              </a:spcBef>
              <a:defRPr sz="1200">
                <a:solidFill>
                  <a:schemeClr val="tx1"/>
                </a:solidFill>
                <a:latin typeface="Arial" panose="020B0604020202020204" pitchFamily="34" charset="0"/>
              </a:defRPr>
            </a:lvl5pPr>
            <a:lvl6pPr marL="2514600" indent="-228600" defTabSz="4064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4064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4064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406400" eaLnBrk="0" fontAlgn="base" hangingPunct="0">
              <a:spcBef>
                <a:spcPct val="30000"/>
              </a:spcBef>
              <a:spcAft>
                <a:spcPct val="0"/>
              </a:spcAft>
              <a:defRPr sz="1200">
                <a:solidFill>
                  <a:schemeClr val="tx1"/>
                </a:solidFill>
                <a:latin typeface="Arial" panose="020B0604020202020204" pitchFamily="34" charset="0"/>
              </a:defRPr>
            </a:lvl9pPr>
          </a:lstStyle>
          <a:p>
            <a:pPr>
              <a:lnSpc>
                <a:spcPct val="65000"/>
              </a:lnSpc>
              <a:spcBef>
                <a:spcPct val="0"/>
              </a:spcBef>
              <a:spcAft>
                <a:spcPct val="24000"/>
              </a:spcAft>
            </a:pPr>
            <a:r>
              <a:rPr lang="en-US" altLang="en-US" sz="1100">
                <a:latin typeface="Courier New" panose="02070309020205020404" pitchFamily="49" charset="0"/>
              </a:rPr>
              <a:t>ENAME    JOB           COMM</a:t>
            </a:r>
          </a:p>
          <a:p>
            <a:pPr>
              <a:lnSpc>
                <a:spcPct val="65000"/>
              </a:lnSpc>
              <a:spcBef>
                <a:spcPct val="0"/>
              </a:spcBef>
              <a:spcAft>
                <a:spcPct val="24000"/>
              </a:spcAft>
            </a:pPr>
            <a:r>
              <a:rPr lang="en-US" altLang="en-US" sz="1100">
                <a:latin typeface="Courier New" panose="02070309020205020404" pitchFamily="49" charset="0"/>
              </a:rPr>
              <a:t>-------- ----------- ------</a:t>
            </a:r>
          </a:p>
          <a:p>
            <a:pPr>
              <a:lnSpc>
                <a:spcPct val="65000"/>
              </a:lnSpc>
              <a:spcBef>
                <a:spcPct val="0"/>
              </a:spcBef>
              <a:spcAft>
                <a:spcPct val="24000"/>
              </a:spcAft>
            </a:pPr>
            <a:r>
              <a:rPr lang="en-US" altLang="en-US" sz="1100">
                <a:latin typeface="Courier New" panose="02070309020205020404" pitchFamily="49" charset="0"/>
              </a:rPr>
              <a:t>KING     PRESIDENT      </a:t>
            </a:r>
          </a:p>
          <a:p>
            <a:pPr>
              <a:lnSpc>
                <a:spcPct val="65000"/>
              </a:lnSpc>
              <a:spcBef>
                <a:spcPct val="0"/>
              </a:spcBef>
              <a:spcAft>
                <a:spcPct val="24000"/>
              </a:spcAft>
            </a:pPr>
            <a:r>
              <a:rPr lang="en-US" altLang="en-US" sz="1100">
                <a:latin typeface="Courier New" panose="02070309020205020404" pitchFamily="49" charset="0"/>
              </a:rPr>
              <a:t>BLAKE    MANAGER       </a:t>
            </a:r>
          </a:p>
          <a:p>
            <a:pPr>
              <a:lnSpc>
                <a:spcPct val="65000"/>
              </a:lnSpc>
              <a:spcBef>
                <a:spcPct val="0"/>
              </a:spcBef>
              <a:spcAft>
                <a:spcPct val="24000"/>
              </a:spcAft>
            </a:pPr>
            <a:r>
              <a:rPr lang="en-US" altLang="en-US" sz="1100">
                <a:latin typeface="Courier New" panose="02070309020205020404" pitchFamily="49" charset="0"/>
              </a:rPr>
              <a:t>CLARK    MANAGER</a:t>
            </a:r>
          </a:p>
          <a:p>
            <a:pPr>
              <a:lnSpc>
                <a:spcPct val="65000"/>
              </a:lnSpc>
              <a:spcBef>
                <a:spcPct val="0"/>
              </a:spcBef>
              <a:spcAft>
                <a:spcPct val="24000"/>
              </a:spcAft>
            </a:pPr>
            <a:r>
              <a:rPr lang="en-US" altLang="en-US" sz="1100">
                <a:latin typeface="Courier New" panose="02070309020205020404" pitchFamily="49" charset="0"/>
              </a:rPr>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BFB475DA-88D5-93DB-DB64-3DBFB401EA53}"/>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3272" tIns="46636" rIns="93272" bIns="46636"/>
          <a:lstStyle/>
          <a:p>
            <a:pPr defTabSz="401638"/>
            <a:endParaRPr lang="en-US" altLang="en-US">
              <a:latin typeface="Arial" panose="020B0604020202020204" pitchFamily="34" charset="0"/>
            </a:endParaRPr>
          </a:p>
        </p:txBody>
      </p:sp>
      <p:sp>
        <p:nvSpPr>
          <p:cNvPr id="45059" name="Rectangle 3">
            <a:extLst>
              <a:ext uri="{FF2B5EF4-FFF2-40B4-BE49-F238E27FC236}">
                <a16:creationId xmlns:a16="http://schemas.microsoft.com/office/drawing/2014/main" id="{D4D60A0D-35AE-544A-B49E-D5F920B114DC}"/>
              </a:ext>
            </a:extLst>
          </p:cNvPr>
          <p:cNvSpPr>
            <a:spLocks noGrp="1" noRot="1" noChangeAspect="1" noChangeArrowheads="1" noTextEdit="1"/>
          </p:cNvSpPr>
          <p:nvPr>
            <p:ph type="sldImg"/>
          </p:nvPr>
        </p:nvSpPr>
        <p:spPr>
          <a:xfrm>
            <a:off x="434975" y="155575"/>
            <a:ext cx="5983288" cy="4487863"/>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B2E23FEF-9C52-2613-757C-35741D3EA47D}"/>
              </a:ext>
            </a:extLst>
          </p:cNvPr>
          <p:cNvSpPr>
            <a:spLocks noGrp="1" noChangeArrowheads="1"/>
          </p:cNvSpPr>
          <p:nvPr>
            <p:ph type="body" idx="1"/>
          </p:nvPr>
        </p:nvSpPr>
        <p:spPr>
          <a:xfrm>
            <a:off x="412750" y="4852988"/>
            <a:ext cx="6029325" cy="38163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164" tIns="45582" rIns="91164" bIns="45582"/>
          <a:lstStyle/>
          <a:p>
            <a:pPr defTabSz="425450"/>
            <a:r>
              <a:rPr lang="en-US" altLang="en-US">
                <a:latin typeface="Arial" panose="020B0604020202020204" pitchFamily="34" charset="0"/>
              </a:rPr>
              <a:t>Summary</a:t>
            </a:r>
          </a:p>
          <a:p>
            <a:pPr marL="119063" lvl="1" defTabSz="425450"/>
            <a:r>
              <a:rPr lang="en-US" altLang="en-US">
                <a:latin typeface="Arial" panose="020B0604020202020204" pitchFamily="34" charset="0"/>
              </a:rPr>
              <a:t>In this lesson, you should have learned about restricting and sorting rows returned by the </a:t>
            </a:r>
            <a:r>
              <a:rPr lang="en-US" altLang="en-US">
                <a:latin typeface="Courier New" panose="02070309020205020404" pitchFamily="49" charset="0"/>
              </a:rPr>
              <a:t>SELECT</a:t>
            </a:r>
            <a:r>
              <a:rPr lang="en-US" altLang="en-US">
                <a:latin typeface="Arial" panose="020B0604020202020204" pitchFamily="34" charset="0"/>
              </a:rPr>
              <a:t> statement. You should also have learned how to implement various operators and conditions.</a:t>
            </a:r>
          </a:p>
        </p:txBody>
      </p:sp>
      <p:sp>
        <p:nvSpPr>
          <p:cNvPr id="53251" name="Rectangle 3">
            <a:extLst>
              <a:ext uri="{FF2B5EF4-FFF2-40B4-BE49-F238E27FC236}">
                <a16:creationId xmlns:a16="http://schemas.microsoft.com/office/drawing/2014/main" id="{9278F99D-5048-495A-3480-E796BB9C02E2}"/>
              </a:ext>
            </a:extLst>
          </p:cNvPr>
          <p:cNvSpPr>
            <a:spLocks noGrp="1" noRot="1" noChangeAspect="1" noChangeArrowheads="1" noTextEdit="1"/>
          </p:cNvSpPr>
          <p:nvPr>
            <p:ph type="sldImg"/>
          </p:nvPr>
        </p:nvSpPr>
        <p:spPr>
          <a:xfrm>
            <a:off x="438150" y="157163"/>
            <a:ext cx="5980113" cy="4484687"/>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7AF67111-1E3C-CF36-F71A-F7DEE204D1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175">
              <a:spcBef>
                <a:spcPct val="30000"/>
              </a:spcBef>
              <a:defRPr sz="1200">
                <a:solidFill>
                  <a:schemeClr val="tx1"/>
                </a:solidFill>
                <a:latin typeface="Arial" panose="020B0604020202020204" pitchFamily="34" charset="0"/>
              </a:defRPr>
            </a:lvl1pPr>
            <a:lvl2pPr marL="742950" indent="-285750" defTabSz="892175">
              <a:spcBef>
                <a:spcPct val="30000"/>
              </a:spcBef>
              <a:defRPr sz="1200">
                <a:solidFill>
                  <a:schemeClr val="tx1"/>
                </a:solidFill>
                <a:latin typeface="Arial" panose="020B0604020202020204" pitchFamily="34" charset="0"/>
              </a:defRPr>
            </a:lvl2pPr>
            <a:lvl3pPr marL="1143000" indent="-228600" defTabSz="892175">
              <a:spcBef>
                <a:spcPct val="30000"/>
              </a:spcBef>
              <a:defRPr sz="1200">
                <a:solidFill>
                  <a:schemeClr val="tx1"/>
                </a:solidFill>
                <a:latin typeface="Arial" panose="020B0604020202020204" pitchFamily="34" charset="0"/>
              </a:defRPr>
            </a:lvl3pPr>
            <a:lvl4pPr marL="1600200" indent="-228600" defTabSz="892175">
              <a:spcBef>
                <a:spcPct val="30000"/>
              </a:spcBef>
              <a:defRPr sz="1200">
                <a:solidFill>
                  <a:schemeClr val="tx1"/>
                </a:solidFill>
                <a:latin typeface="Arial" panose="020B0604020202020204" pitchFamily="34" charset="0"/>
              </a:defRPr>
            </a:lvl4pPr>
            <a:lvl5pPr marL="2057400" indent="-228600" defTabSz="892175">
              <a:spcBef>
                <a:spcPct val="30000"/>
              </a:spcBef>
              <a:defRPr sz="1200">
                <a:solidFill>
                  <a:schemeClr val="tx1"/>
                </a:solidFill>
                <a:latin typeface="Arial" panose="020B0604020202020204" pitchFamily="34" charset="0"/>
              </a:defRPr>
            </a:lvl5pPr>
            <a:lvl6pPr marL="2514600" indent="-228600" defTabSz="892175"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92175"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92175"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92175"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175887F-7F25-4FAE-9CF9-A23CCB906D2F}" type="slidenum">
              <a:rPr lang="de-AT" altLang="en-US" smtClean="0"/>
              <a:pPr>
                <a:spcBef>
                  <a:spcPct val="0"/>
                </a:spcBef>
              </a:pPr>
              <a:t>26</a:t>
            </a:fld>
            <a:endParaRPr lang="de-AT" altLang="en-US"/>
          </a:p>
        </p:txBody>
      </p:sp>
      <p:sp>
        <p:nvSpPr>
          <p:cNvPr id="55299" name="Rectangle 2">
            <a:extLst>
              <a:ext uri="{FF2B5EF4-FFF2-40B4-BE49-F238E27FC236}">
                <a16:creationId xmlns:a16="http://schemas.microsoft.com/office/drawing/2014/main" id="{4E41F298-0737-A376-FE48-4C8199AF54F1}"/>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36682758-768C-F8B3-ED35-31EDC75F83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
        <p:nvSpPr>
          <p:cNvPr id="4" name="Rectangle 4">
            <a:extLst>
              <a:ext uri="{FF2B5EF4-FFF2-40B4-BE49-F238E27FC236}">
                <a16:creationId xmlns:a16="http://schemas.microsoft.com/office/drawing/2014/main" id="{2BF8A398-FB73-B850-5411-A4404380D35A}"/>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9262869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C46FB78-5460-24CE-2CC6-D47B67B10AAD}"/>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2393923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CDC3B96E-4B9F-4988-8A95-9A01FA1494FF}"/>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581283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33388" y="1524000"/>
            <a:ext cx="4062412" cy="4641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24000"/>
            <a:ext cx="4062413" cy="4641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8BC9101F-32BE-9720-7A5F-EA508899EA38}"/>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529769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E9A1E8A7-BB5D-9693-2BD0-E28F2F334FDE}"/>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667308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3A26C17A-29FB-E56F-ACE6-CC176D120474}"/>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29818110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09A0AFAC-DB3B-C03A-9D83-52B8758F5C5F}"/>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4118696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39780181-BB80-CDFC-DF2A-D9735668DE4C}"/>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567740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5D81B5BF-B9A5-A5D7-CE10-DE2DD1738D97}"/>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3537944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C836615A-074D-691F-9BB4-1FF6817D5A1F}"/>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6926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2100" y="228600"/>
            <a:ext cx="2068513"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33388" y="228600"/>
            <a:ext cx="6056312"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C73FA8FD-9C92-82D2-DE24-7537466A14DD}"/>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2428856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3388" y="228600"/>
            <a:ext cx="8277225" cy="1219200"/>
          </a:xfrm>
        </p:spPr>
        <p:txBody>
          <a:bodyPr/>
          <a:lstStyle/>
          <a:p>
            <a:r>
              <a:rPr lang="en-US"/>
              <a:t>Click to edit Master title style</a:t>
            </a:r>
          </a:p>
        </p:txBody>
      </p:sp>
      <p:sp>
        <p:nvSpPr>
          <p:cNvPr id="3" name="Text Placeholder 2"/>
          <p:cNvSpPr>
            <a:spLocks noGrp="1"/>
          </p:cNvSpPr>
          <p:nvPr>
            <p:ph type="body" sz="half" idx="1"/>
          </p:nvPr>
        </p:nvSpPr>
        <p:spPr>
          <a:xfrm>
            <a:off x="433388" y="1524000"/>
            <a:ext cx="4062412" cy="4641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24000"/>
            <a:ext cx="4062413" cy="4641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D480B441-F73F-229C-394B-22898F303270}"/>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3748242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5853C4-58D4-E12E-F9D3-6DFE43E741A7}"/>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 name="Rounded Rectangle 4">
            <a:extLst>
              <a:ext uri="{FF2B5EF4-FFF2-40B4-BE49-F238E27FC236}">
                <a16:creationId xmlns:a16="http://schemas.microsoft.com/office/drawing/2014/main" id="{A0D65C4C-8978-E965-904E-825D91967615}"/>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23136D3B-1E38-B128-44B3-6A013A7071FF}"/>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9D193835-2205-D195-3A01-FB691AD2829B}"/>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E83FC762-605F-3A7B-E754-8B8554C5378A}"/>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dirty="0"/>
              <a:t>Click to edit Master title style</a:t>
            </a:r>
          </a:p>
        </p:txBody>
      </p:sp>
      <p:sp>
        <p:nvSpPr>
          <p:cNvPr id="10" name="Footer Placeholder 16">
            <a:extLst>
              <a:ext uri="{FF2B5EF4-FFF2-40B4-BE49-F238E27FC236}">
                <a16:creationId xmlns:a16="http://schemas.microsoft.com/office/drawing/2014/main" id="{5A97B514-3D2A-02CC-4EBE-220DF49B070A}"/>
              </a:ext>
            </a:extLst>
          </p:cNvPr>
          <p:cNvSpPr>
            <a:spLocks noGrp="1"/>
          </p:cNvSpPr>
          <p:nvPr>
            <p:ph type="ftr" sz="quarter" idx="11"/>
          </p:nvPr>
        </p:nvSpPr>
        <p:spPr>
          <a:xfrm>
            <a:off x="2483768" y="6428184"/>
            <a:ext cx="48768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11" name="Slide Number Placeholder 28">
            <a:extLst>
              <a:ext uri="{FF2B5EF4-FFF2-40B4-BE49-F238E27FC236}">
                <a16:creationId xmlns:a16="http://schemas.microsoft.com/office/drawing/2014/main" id="{A7231800-4E93-AC45-26C7-F83BA69F8A74}"/>
              </a:ext>
            </a:extLst>
          </p:cNvPr>
          <p:cNvSpPr>
            <a:spLocks noGrp="1"/>
          </p:cNvSpPr>
          <p:nvPr>
            <p:ph type="sldNum" sz="quarter" idx="12"/>
          </p:nvPr>
        </p:nvSpPr>
        <p:spPr/>
        <p:txBody>
          <a:bodyPr/>
          <a:lstStyle>
            <a:lvl1pPr>
              <a:defRPr sz="1400">
                <a:solidFill>
                  <a:srgbClr val="FFFFFF"/>
                </a:solidFill>
              </a:defRPr>
            </a:lvl1pPr>
          </a:lstStyle>
          <a:p>
            <a:pPr>
              <a:defRPr/>
            </a:pPr>
            <a:fld id="{5E4C22A4-67DC-44A8-A4FC-CE49B2567C98}" type="slidenum">
              <a:rPr lang="en-US"/>
              <a:pPr>
                <a:defRPr/>
              </a:pPr>
              <a:t>‹#›</a:t>
            </a:fld>
            <a:endParaRPr lang="en-US" dirty="0"/>
          </a:p>
        </p:txBody>
      </p:sp>
    </p:spTree>
    <p:extLst>
      <p:ext uri="{BB962C8B-B14F-4D97-AF65-F5344CB8AC3E}">
        <p14:creationId xmlns:p14="http://schemas.microsoft.com/office/powerpoint/2010/main" val="538132830"/>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2">
            <a:extLst>
              <a:ext uri="{FF2B5EF4-FFF2-40B4-BE49-F238E27FC236}">
                <a16:creationId xmlns:a16="http://schemas.microsoft.com/office/drawing/2014/main" id="{BD19D621-57AE-DF6C-3CB8-DA450630DD65}"/>
              </a:ext>
            </a:extLst>
          </p:cNvPr>
          <p:cNvSpPr>
            <a:spLocks noGrp="1"/>
          </p:cNvSpPr>
          <p:nvPr>
            <p:ph type="ftr" sz="quarter" idx="11"/>
          </p:nvPr>
        </p:nvSpPr>
        <p:spPr>
          <a:xfrm>
            <a:off x="2555776" y="6500192"/>
            <a:ext cx="48768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5" name="Slide Number Placeholder 22">
            <a:extLst>
              <a:ext uri="{FF2B5EF4-FFF2-40B4-BE49-F238E27FC236}">
                <a16:creationId xmlns:a16="http://schemas.microsoft.com/office/drawing/2014/main" id="{0AA46312-DD6F-C5AE-2F1E-907F31E829E1}"/>
              </a:ext>
            </a:extLst>
          </p:cNvPr>
          <p:cNvSpPr>
            <a:spLocks noGrp="1"/>
          </p:cNvSpPr>
          <p:nvPr>
            <p:ph type="sldNum" sz="quarter" idx="12"/>
          </p:nvPr>
        </p:nvSpPr>
        <p:spPr/>
        <p:txBody>
          <a:bodyPr/>
          <a:lstStyle>
            <a:lvl1pPr>
              <a:defRPr/>
            </a:lvl1pPr>
          </a:lstStyle>
          <a:p>
            <a:pPr>
              <a:defRPr/>
            </a:pPr>
            <a:fld id="{83AC8CC2-3150-4BDA-BDF0-6D695CA2D84D}" type="slidenum">
              <a:rPr lang="en-US"/>
              <a:pPr>
                <a:defRPr/>
              </a:pPr>
              <a:t>‹#›</a:t>
            </a:fld>
            <a:endParaRPr lang="en-US" dirty="0"/>
          </a:p>
        </p:txBody>
      </p:sp>
    </p:spTree>
    <p:extLst>
      <p:ext uri="{BB962C8B-B14F-4D97-AF65-F5344CB8AC3E}">
        <p14:creationId xmlns:p14="http://schemas.microsoft.com/office/powerpoint/2010/main" val="29683986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2">
            <a:extLst>
              <a:ext uri="{FF2B5EF4-FFF2-40B4-BE49-F238E27FC236}">
                <a16:creationId xmlns:a16="http://schemas.microsoft.com/office/drawing/2014/main" id="{0679A2C8-7DC8-AD37-9652-ABC5705D59FA}"/>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5" name="Slide Number Placeholder 22">
            <a:extLst>
              <a:ext uri="{FF2B5EF4-FFF2-40B4-BE49-F238E27FC236}">
                <a16:creationId xmlns:a16="http://schemas.microsoft.com/office/drawing/2014/main" id="{8D45CD1B-92F4-C034-40EE-43ED7BDDC965}"/>
              </a:ext>
            </a:extLst>
          </p:cNvPr>
          <p:cNvSpPr>
            <a:spLocks noGrp="1"/>
          </p:cNvSpPr>
          <p:nvPr>
            <p:ph type="sldNum" sz="quarter" idx="12"/>
          </p:nvPr>
        </p:nvSpPr>
        <p:spPr/>
        <p:txBody>
          <a:bodyPr/>
          <a:lstStyle>
            <a:lvl1pPr>
              <a:defRPr/>
            </a:lvl1pPr>
          </a:lstStyle>
          <a:p>
            <a:pPr>
              <a:defRPr/>
            </a:pPr>
            <a:fld id="{A6BCF859-27D9-4B15-909C-5A9275A8D5B1}" type="slidenum">
              <a:rPr lang="en-US"/>
              <a:pPr>
                <a:defRPr/>
              </a:pPr>
              <a:t>‹#›</a:t>
            </a:fld>
            <a:endParaRPr lang="en-US" dirty="0"/>
          </a:p>
        </p:txBody>
      </p:sp>
    </p:spTree>
    <p:extLst>
      <p:ext uri="{BB962C8B-B14F-4D97-AF65-F5344CB8AC3E}">
        <p14:creationId xmlns:p14="http://schemas.microsoft.com/office/powerpoint/2010/main" val="26132551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B13B5C1E-CA92-F658-DEB4-E6BCB21E8297}"/>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dirty="0"/>
          </a:p>
        </p:txBody>
      </p:sp>
      <p:sp>
        <p:nvSpPr>
          <p:cNvPr id="3" name="Footer Placeholder 2">
            <a:extLst>
              <a:ext uri="{FF2B5EF4-FFF2-40B4-BE49-F238E27FC236}">
                <a16:creationId xmlns:a16="http://schemas.microsoft.com/office/drawing/2014/main" id="{135B8D15-F384-5726-1DB0-82AA26D5A7CE}"/>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4" name="Slide Number Placeholder 22">
            <a:extLst>
              <a:ext uri="{FF2B5EF4-FFF2-40B4-BE49-F238E27FC236}">
                <a16:creationId xmlns:a16="http://schemas.microsoft.com/office/drawing/2014/main" id="{7465CA12-935B-2EC7-0FD8-A29FFD9FDF20}"/>
              </a:ext>
            </a:extLst>
          </p:cNvPr>
          <p:cNvSpPr>
            <a:spLocks noGrp="1"/>
          </p:cNvSpPr>
          <p:nvPr>
            <p:ph type="sldNum" sz="quarter" idx="12"/>
          </p:nvPr>
        </p:nvSpPr>
        <p:spPr/>
        <p:txBody>
          <a:bodyPr/>
          <a:lstStyle>
            <a:lvl1pPr>
              <a:defRPr/>
            </a:lvl1pPr>
          </a:lstStyle>
          <a:p>
            <a:pPr>
              <a:defRPr/>
            </a:pPr>
            <a:fld id="{B60D0497-D7DF-42C1-83D6-B069BC9C71F9}" type="slidenum">
              <a:rPr lang="en-US"/>
              <a:pPr>
                <a:defRPr/>
              </a:pPr>
              <a:t>‹#›</a:t>
            </a:fld>
            <a:endParaRPr lang="en-US" dirty="0"/>
          </a:p>
        </p:txBody>
      </p:sp>
    </p:spTree>
    <p:extLst>
      <p:ext uri="{BB962C8B-B14F-4D97-AF65-F5344CB8AC3E}">
        <p14:creationId xmlns:p14="http://schemas.microsoft.com/office/powerpoint/2010/main" val="16092065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6C7B262-B703-0618-42D2-9A058F2E459A}"/>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5">
            <a:extLst>
              <a:ext uri="{FF2B5EF4-FFF2-40B4-BE49-F238E27FC236}">
                <a16:creationId xmlns:a16="http://schemas.microsoft.com/office/drawing/2014/main" id="{2FF425DD-7DE3-3B8E-5719-78BCA9A8DE51}"/>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786D1F94-4295-F397-8F57-1D0E383BD251}"/>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a:p>
        </p:txBody>
      </p:sp>
      <p:sp>
        <p:nvSpPr>
          <p:cNvPr id="7" name="Footer Placeholder 5">
            <a:extLst>
              <a:ext uri="{FF2B5EF4-FFF2-40B4-BE49-F238E27FC236}">
                <a16:creationId xmlns:a16="http://schemas.microsoft.com/office/drawing/2014/main" id="{6B009F90-231B-A3B6-5380-34C6E1C7CB21}"/>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8" name="Slide Number Placeholder 6">
            <a:extLst>
              <a:ext uri="{FF2B5EF4-FFF2-40B4-BE49-F238E27FC236}">
                <a16:creationId xmlns:a16="http://schemas.microsoft.com/office/drawing/2014/main" id="{7CCDB2AA-14FD-D925-D8FA-266FCFE64152}"/>
              </a:ext>
            </a:extLst>
          </p:cNvPr>
          <p:cNvSpPr>
            <a:spLocks noGrp="1"/>
          </p:cNvSpPr>
          <p:nvPr>
            <p:ph type="sldNum" sz="quarter" idx="12"/>
          </p:nvPr>
        </p:nvSpPr>
        <p:spPr/>
        <p:txBody>
          <a:bodyPr/>
          <a:lstStyle>
            <a:lvl1pPr>
              <a:defRPr/>
            </a:lvl1pPr>
          </a:lstStyle>
          <a:p>
            <a:pPr>
              <a:defRPr/>
            </a:pPr>
            <a:fld id="{2C82827D-15A4-4A3F-A005-421DE1CEC59D}" type="slidenum">
              <a:rPr lang="en-US"/>
              <a:pPr>
                <a:defRPr/>
              </a:pPr>
              <a:t>‹#›</a:t>
            </a:fld>
            <a:endParaRPr lang="en-US"/>
          </a:p>
        </p:txBody>
      </p:sp>
    </p:spTree>
    <p:extLst>
      <p:ext uri="{BB962C8B-B14F-4D97-AF65-F5344CB8AC3E}">
        <p14:creationId xmlns:p14="http://schemas.microsoft.com/office/powerpoint/2010/main" val="25651936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2E54CA-1402-D265-65C1-CAA477A5FCEF}"/>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5937FA26-21AA-4604-50B9-4AF1C1E5953D}"/>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B548A5EB-ECFF-0D60-907E-B4566654DEA1}"/>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dirty="0"/>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dirty="0"/>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03D557F4-1C10-84D5-70B1-B3F6002D602F}"/>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a:p>
        </p:txBody>
      </p:sp>
      <p:sp>
        <p:nvSpPr>
          <p:cNvPr id="9" name="Footer Placeholder 5">
            <a:extLst>
              <a:ext uri="{FF2B5EF4-FFF2-40B4-BE49-F238E27FC236}">
                <a16:creationId xmlns:a16="http://schemas.microsoft.com/office/drawing/2014/main" id="{1D25602D-131F-6FC6-D193-E0E3803E1E51}"/>
              </a:ext>
            </a:extLst>
          </p:cNvPr>
          <p:cNvSpPr>
            <a:spLocks noGrp="1"/>
          </p:cNvSpPr>
          <p:nvPr>
            <p:ph type="ftr" sz="quarter" idx="11"/>
          </p:nvPr>
        </p:nvSpPr>
        <p:spPr>
          <a:xfrm>
            <a:off x="914400" y="6172200"/>
            <a:ext cx="38862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10" name="Slide Number Placeholder 6">
            <a:extLst>
              <a:ext uri="{FF2B5EF4-FFF2-40B4-BE49-F238E27FC236}">
                <a16:creationId xmlns:a16="http://schemas.microsoft.com/office/drawing/2014/main" id="{D0109AE1-27A9-8EB7-803F-D676F48820DA}"/>
              </a:ext>
            </a:extLst>
          </p:cNvPr>
          <p:cNvSpPr>
            <a:spLocks noGrp="1"/>
          </p:cNvSpPr>
          <p:nvPr>
            <p:ph type="sldNum" sz="quarter" idx="12"/>
          </p:nvPr>
        </p:nvSpPr>
        <p:spPr>
          <a:xfrm>
            <a:off x="146050" y="6208713"/>
            <a:ext cx="457200" cy="457200"/>
          </a:xfrm>
        </p:spPr>
        <p:txBody>
          <a:bodyPr/>
          <a:lstStyle>
            <a:lvl1pPr>
              <a:defRPr/>
            </a:lvl1pPr>
          </a:lstStyle>
          <a:p>
            <a:pPr>
              <a:defRPr/>
            </a:pPr>
            <a:fld id="{F7562DC6-6DC9-45E2-AAC4-454004E6E023}" type="slidenum">
              <a:rPr lang="en-US"/>
              <a:pPr>
                <a:defRPr/>
              </a:pPr>
              <a:t>‹#›</a:t>
            </a:fld>
            <a:endParaRPr lang="en-US" dirty="0"/>
          </a:p>
        </p:txBody>
      </p:sp>
    </p:spTree>
    <p:extLst>
      <p:ext uri="{BB962C8B-B14F-4D97-AF65-F5344CB8AC3E}">
        <p14:creationId xmlns:p14="http://schemas.microsoft.com/office/powerpoint/2010/main" val="10676599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DF2C48B0-ABFE-CE4D-6188-9A9EAD773F61}"/>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dirty="0"/>
          </a:p>
        </p:txBody>
      </p:sp>
      <p:sp>
        <p:nvSpPr>
          <p:cNvPr id="5" name="Footer Placeholder 2">
            <a:extLst>
              <a:ext uri="{FF2B5EF4-FFF2-40B4-BE49-F238E27FC236}">
                <a16:creationId xmlns:a16="http://schemas.microsoft.com/office/drawing/2014/main" id="{2618189D-098F-74CA-DD3F-C7F3B7D6831E}"/>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6" name="Slide Number Placeholder 22">
            <a:extLst>
              <a:ext uri="{FF2B5EF4-FFF2-40B4-BE49-F238E27FC236}">
                <a16:creationId xmlns:a16="http://schemas.microsoft.com/office/drawing/2014/main" id="{06CD0044-3E35-3EB6-7892-259BA5B8A6D9}"/>
              </a:ext>
            </a:extLst>
          </p:cNvPr>
          <p:cNvSpPr>
            <a:spLocks noGrp="1"/>
          </p:cNvSpPr>
          <p:nvPr>
            <p:ph type="sldNum" sz="quarter" idx="12"/>
          </p:nvPr>
        </p:nvSpPr>
        <p:spPr/>
        <p:txBody>
          <a:bodyPr/>
          <a:lstStyle>
            <a:lvl1pPr>
              <a:defRPr/>
            </a:lvl1pPr>
          </a:lstStyle>
          <a:p>
            <a:pPr>
              <a:defRPr/>
            </a:pPr>
            <a:fld id="{C65D5C55-6BCA-4DBD-BE3B-26D0EAB7959A}" type="slidenum">
              <a:rPr lang="en-US"/>
              <a:pPr>
                <a:defRPr/>
              </a:pPr>
              <a:t>‹#›</a:t>
            </a:fld>
            <a:endParaRPr lang="en-US" dirty="0"/>
          </a:p>
        </p:txBody>
      </p:sp>
    </p:spTree>
    <p:extLst>
      <p:ext uri="{BB962C8B-B14F-4D97-AF65-F5344CB8AC3E}">
        <p14:creationId xmlns:p14="http://schemas.microsoft.com/office/powerpoint/2010/main" val="526466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ACCB8A88-F492-5F85-398F-3DBBF85B3C62}"/>
              </a:ext>
            </a:extLst>
          </p:cNvPr>
          <p:cNvSpPr>
            <a:spLocks noGrp="1" noChangeArrowheads="1"/>
          </p:cNvSpPr>
          <p:nvPr>
            <p:ph type="title"/>
          </p:nvPr>
        </p:nvSpPr>
        <p:spPr bwMode="auto">
          <a:xfrm>
            <a:off x="433388" y="228600"/>
            <a:ext cx="82772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de-DE" altLang="en-US"/>
              <a:t>Titel bearbeiten</a:t>
            </a:r>
          </a:p>
        </p:txBody>
      </p:sp>
      <p:sp>
        <p:nvSpPr>
          <p:cNvPr id="1027" name="Rectangle 3">
            <a:extLst>
              <a:ext uri="{FF2B5EF4-FFF2-40B4-BE49-F238E27FC236}">
                <a16:creationId xmlns:a16="http://schemas.microsoft.com/office/drawing/2014/main" id="{3E9EE0E9-0956-9EA6-D322-42046FB16F10}"/>
              </a:ext>
            </a:extLst>
          </p:cNvPr>
          <p:cNvSpPr>
            <a:spLocks noGrp="1" noChangeArrowheads="1"/>
          </p:cNvSpPr>
          <p:nvPr>
            <p:ph type="body" idx="1"/>
          </p:nvPr>
        </p:nvSpPr>
        <p:spPr bwMode="auto">
          <a:xfrm>
            <a:off x="433388" y="1524000"/>
            <a:ext cx="8277225" cy="464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en-US"/>
              <a:t>Erste Ebene</a:t>
            </a:r>
          </a:p>
          <a:p>
            <a:pPr lvl="1"/>
            <a:r>
              <a:rPr lang="de-DE" altLang="en-US"/>
              <a:t>Zweite Ebene</a:t>
            </a:r>
          </a:p>
          <a:p>
            <a:pPr lvl="2"/>
            <a:r>
              <a:rPr lang="de-DE" altLang="en-US"/>
              <a:t>Dritte Ebene</a:t>
            </a:r>
          </a:p>
          <a:p>
            <a:pPr lvl="3"/>
            <a:r>
              <a:rPr lang="de-DE" altLang="en-US"/>
              <a:t>Vierte Ebene</a:t>
            </a:r>
          </a:p>
          <a:p>
            <a:pPr lvl="4"/>
            <a:r>
              <a:rPr lang="de-DE" altLang="en-US"/>
              <a:t>Fünfte Ebene</a:t>
            </a:r>
          </a:p>
        </p:txBody>
      </p:sp>
      <p:sp>
        <p:nvSpPr>
          <p:cNvPr id="4100" name="Rectangle 4">
            <a:extLst>
              <a:ext uri="{FF2B5EF4-FFF2-40B4-BE49-F238E27FC236}">
                <a16:creationId xmlns:a16="http://schemas.microsoft.com/office/drawing/2014/main" id="{D09FE7C4-AB18-D2A0-C56E-4A6C5ACAE408}"/>
              </a:ext>
            </a:extLst>
          </p:cNvPr>
          <p:cNvSpPr>
            <a:spLocks noGrp="1" noChangeArrowheads="1"/>
          </p:cNvSpPr>
          <p:nvPr>
            <p:ph type="dt" sz="half" idx="2"/>
          </p:nvPr>
        </p:nvSpPr>
        <p:spPr bwMode="auto">
          <a:xfrm>
            <a:off x="0" y="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de-DE"/>
          </a:p>
        </p:txBody>
      </p:sp>
      <p:sp>
        <p:nvSpPr>
          <p:cNvPr id="1029" name="Rectangle 14">
            <a:extLst>
              <a:ext uri="{FF2B5EF4-FFF2-40B4-BE49-F238E27FC236}">
                <a16:creationId xmlns:a16="http://schemas.microsoft.com/office/drawing/2014/main" id="{2C18A741-D2BC-C724-DF19-DDA8CFB9AE7C}"/>
              </a:ext>
            </a:extLst>
          </p:cNvPr>
          <p:cNvSpPr>
            <a:spLocks noChangeArrowheads="1"/>
          </p:cNvSpPr>
          <p:nvPr userDrawn="1"/>
        </p:nvSpPr>
        <p:spPr bwMode="auto">
          <a:xfrm>
            <a:off x="395288" y="1125538"/>
            <a:ext cx="8748712" cy="73025"/>
          </a:xfrm>
          <a:prstGeom prst="rect">
            <a:avLst/>
          </a:prstGeom>
          <a:gradFill rotWithShape="1">
            <a:gsLst>
              <a:gs pos="0">
                <a:srgbClr val="800000"/>
              </a:gs>
              <a:gs pos="100000">
                <a:srgbClr val="FF8585">
                  <a:alpha val="0"/>
                </a:srgbClr>
              </a:gs>
            </a:gsLst>
            <a:lin ang="0" scaled="1"/>
          </a:gradFill>
          <a:ln>
            <a:noFill/>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p>
        </p:txBody>
      </p:sp>
      <p:sp>
        <p:nvSpPr>
          <p:cNvPr id="1030" name="Rectangle 10">
            <a:extLst>
              <a:ext uri="{FF2B5EF4-FFF2-40B4-BE49-F238E27FC236}">
                <a16:creationId xmlns:a16="http://schemas.microsoft.com/office/drawing/2014/main" id="{A38A6454-F5A8-050F-E182-1C6205483925}"/>
              </a:ext>
            </a:extLst>
          </p:cNvPr>
          <p:cNvSpPr>
            <a:spLocks noChangeArrowheads="1"/>
          </p:cNvSpPr>
          <p:nvPr userDrawn="1"/>
        </p:nvSpPr>
        <p:spPr bwMode="auto">
          <a:xfrm>
            <a:off x="0" y="6569075"/>
            <a:ext cx="9167813" cy="315913"/>
          </a:xfrm>
          <a:prstGeom prst="rect">
            <a:avLst/>
          </a:prstGeom>
          <a:gradFill rotWithShape="1">
            <a:gsLst>
              <a:gs pos="0">
                <a:srgbClr val="800000"/>
              </a:gs>
              <a:gs pos="100000">
                <a:srgbClr val="FF8585">
                  <a:alpha val="0"/>
                </a:srgbClr>
              </a:gs>
            </a:gsLst>
            <a:lin ang="0" scaled="1"/>
          </a:gradFill>
          <a:ln>
            <a:noFill/>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p>
        </p:txBody>
      </p:sp>
      <p:sp>
        <p:nvSpPr>
          <p:cNvPr id="4107" name="Text Box 11">
            <a:extLst>
              <a:ext uri="{FF2B5EF4-FFF2-40B4-BE49-F238E27FC236}">
                <a16:creationId xmlns:a16="http://schemas.microsoft.com/office/drawing/2014/main" id="{F730650D-1FDC-6F9E-B192-549F85C38F6F}"/>
              </a:ext>
            </a:extLst>
          </p:cNvPr>
          <p:cNvSpPr txBox="1">
            <a:spLocks noChangeArrowheads="1"/>
          </p:cNvSpPr>
          <p:nvPr userDrawn="1"/>
        </p:nvSpPr>
        <p:spPr bwMode="auto">
          <a:xfrm>
            <a:off x="-36513" y="6583363"/>
            <a:ext cx="2016225" cy="304800"/>
          </a:xfrm>
          <a:prstGeom prst="rect">
            <a:avLst/>
          </a:prstGeom>
          <a:noFill/>
          <a:ln w="9525">
            <a:noFill/>
            <a:miter lim="800000"/>
            <a:headEnd/>
            <a:tailEnd/>
          </a:ln>
          <a:effectLst/>
        </p:spPr>
        <p:txBody>
          <a:bodyPr wrap="square">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spcBef>
                <a:spcPct val="50000"/>
              </a:spcBef>
              <a:defRPr/>
            </a:pPr>
            <a:r>
              <a:rPr lang="de-DE" sz="1400">
                <a:solidFill>
                  <a:srgbClr val="FFFF66"/>
                </a:solidFill>
                <a:cs typeface="Arial" charset="0"/>
              </a:rPr>
              <a:t>Database Systems</a:t>
            </a:r>
            <a:endParaRPr lang="de-DE" sz="1400">
              <a:solidFill>
                <a:srgbClr val="FFFF66"/>
              </a:solidFill>
            </a:endParaRPr>
          </a:p>
        </p:txBody>
      </p:sp>
      <p:sp>
        <p:nvSpPr>
          <p:cNvPr id="1032" name="Rectangle 12">
            <a:extLst>
              <a:ext uri="{FF2B5EF4-FFF2-40B4-BE49-F238E27FC236}">
                <a16:creationId xmlns:a16="http://schemas.microsoft.com/office/drawing/2014/main" id="{E96B8476-5339-C7CE-981A-66357BDBC982}"/>
              </a:ext>
            </a:extLst>
          </p:cNvPr>
          <p:cNvSpPr>
            <a:spLocks noChangeArrowheads="1"/>
          </p:cNvSpPr>
          <p:nvPr userDrawn="1"/>
        </p:nvSpPr>
        <p:spPr bwMode="auto">
          <a:xfrm>
            <a:off x="7596188" y="6640513"/>
            <a:ext cx="1905000" cy="215900"/>
          </a:xfrm>
          <a:prstGeom prst="rect">
            <a:avLst/>
          </a:prstGeom>
          <a:noFill/>
          <a:ln>
            <a:noFill/>
          </a:ln>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r>
              <a:rPr lang="de-DE" altLang="en-US" sz="1000"/>
              <a:t>Slide </a:t>
            </a:r>
            <a:fld id="{ED5C4CE0-BA1E-47FB-B100-B797FE0F3B64}" type="slidenum">
              <a:rPr lang="de-DE" altLang="en-US" sz="1000" smtClean="0"/>
              <a:pPr algn="ctr" eaLnBrk="1" hangingPunct="1">
                <a:defRPr/>
              </a:pPr>
              <a:t>‹#›</a:t>
            </a:fld>
            <a:endParaRPr lang="de-DE" altLang="en-US" sz="1000"/>
          </a:p>
        </p:txBody>
      </p:sp>
      <p:sp>
        <p:nvSpPr>
          <p:cNvPr id="2" name="Text Box 11">
            <a:extLst>
              <a:ext uri="{FF2B5EF4-FFF2-40B4-BE49-F238E27FC236}">
                <a16:creationId xmlns:a16="http://schemas.microsoft.com/office/drawing/2014/main" id="{21C6166B-9EB4-7D3D-6173-0D92D8B9FBC7}"/>
              </a:ext>
            </a:extLst>
          </p:cNvPr>
          <p:cNvSpPr txBox="1">
            <a:spLocks noChangeArrowheads="1"/>
          </p:cNvSpPr>
          <p:nvPr userDrawn="1"/>
        </p:nvSpPr>
        <p:spPr bwMode="auto">
          <a:xfrm>
            <a:off x="3923928" y="6564723"/>
            <a:ext cx="2016225" cy="304800"/>
          </a:xfrm>
          <a:prstGeom prst="rect">
            <a:avLst/>
          </a:prstGeom>
          <a:noFill/>
          <a:ln w="9525">
            <a:noFill/>
            <a:miter lim="800000"/>
            <a:headEnd/>
            <a:tailEnd/>
          </a:ln>
          <a:effectLst/>
        </p:spPr>
        <p:txBody>
          <a:bodyPr wrap="square">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spcBef>
                <a:spcPct val="50000"/>
              </a:spcBef>
              <a:defRPr/>
            </a:pPr>
            <a:r>
              <a:rPr lang="de-DE" sz="1400" b="1" dirty="0">
                <a:solidFill>
                  <a:schemeClr val="accent2"/>
                </a:solidFill>
                <a:cs typeface="Arial" charset="0"/>
              </a:rPr>
              <a:t>Dr. Asif Sohail</a:t>
            </a:r>
            <a:endParaRPr lang="de-DE" sz="1400" b="1" dirty="0">
              <a:solidFill>
                <a:schemeClr val="accent2"/>
              </a:solidFill>
            </a:endParaRP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charset="0"/>
        </a:defRPr>
      </a:lvl2pPr>
      <a:lvl3pPr algn="l" rtl="0" eaLnBrk="0" fontAlgn="base" hangingPunct="0">
        <a:spcBef>
          <a:spcPct val="0"/>
        </a:spcBef>
        <a:spcAft>
          <a:spcPct val="0"/>
        </a:spcAft>
        <a:defRPr sz="4000">
          <a:solidFill>
            <a:schemeClr val="tx2"/>
          </a:solidFill>
          <a:latin typeface="Arial" charset="0"/>
        </a:defRPr>
      </a:lvl3pPr>
      <a:lvl4pPr algn="l" rtl="0" eaLnBrk="0" fontAlgn="base" hangingPunct="0">
        <a:spcBef>
          <a:spcPct val="0"/>
        </a:spcBef>
        <a:spcAft>
          <a:spcPct val="0"/>
        </a:spcAft>
        <a:defRPr sz="4000">
          <a:solidFill>
            <a:schemeClr val="tx2"/>
          </a:solidFill>
          <a:latin typeface="Arial" charset="0"/>
        </a:defRPr>
      </a:lvl4pPr>
      <a:lvl5pPr algn="l" rtl="0" eaLnBrk="0" fontAlgn="base" hangingPunct="0">
        <a:spcBef>
          <a:spcPct val="0"/>
        </a:spcBef>
        <a:spcAft>
          <a:spcPct val="0"/>
        </a:spcAft>
        <a:defRPr sz="4000">
          <a:solidFill>
            <a:schemeClr val="tx2"/>
          </a:solidFill>
          <a:latin typeface="Arial" charset="0"/>
        </a:defRPr>
      </a:lvl5pPr>
      <a:lvl6pPr marL="457200" algn="l" rtl="0" fontAlgn="base">
        <a:spcBef>
          <a:spcPct val="0"/>
        </a:spcBef>
        <a:spcAft>
          <a:spcPct val="0"/>
        </a:spcAft>
        <a:defRPr sz="4000">
          <a:solidFill>
            <a:schemeClr val="tx2"/>
          </a:solidFill>
          <a:latin typeface="Arial" charset="0"/>
        </a:defRPr>
      </a:lvl6pPr>
      <a:lvl7pPr marL="914400" algn="l" rtl="0" fontAlgn="base">
        <a:spcBef>
          <a:spcPct val="0"/>
        </a:spcBef>
        <a:spcAft>
          <a:spcPct val="0"/>
        </a:spcAft>
        <a:defRPr sz="4000">
          <a:solidFill>
            <a:schemeClr val="tx2"/>
          </a:solidFill>
          <a:latin typeface="Arial" charset="0"/>
        </a:defRPr>
      </a:lvl7pPr>
      <a:lvl8pPr marL="1371600" algn="l" rtl="0" fontAlgn="base">
        <a:spcBef>
          <a:spcPct val="0"/>
        </a:spcBef>
        <a:spcAft>
          <a:spcPct val="0"/>
        </a:spcAft>
        <a:defRPr sz="4000">
          <a:solidFill>
            <a:schemeClr val="tx2"/>
          </a:solidFill>
          <a:latin typeface="Arial" charset="0"/>
        </a:defRPr>
      </a:lvl8pPr>
      <a:lvl9pPr marL="1828800" algn="l"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7CEB16-177C-11F3-6488-15217609B1F8}"/>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8" name="Rounded Rectangle 7">
            <a:extLst>
              <a:ext uri="{FF2B5EF4-FFF2-40B4-BE49-F238E27FC236}">
                <a16:creationId xmlns:a16="http://schemas.microsoft.com/office/drawing/2014/main" id="{41EAD4DD-9D27-1FFD-AF29-68BC36D3A352}"/>
              </a:ext>
            </a:extLst>
          </p:cNvPr>
          <p:cNvSpPr/>
          <p:nvPr/>
        </p:nvSpPr>
        <p:spPr>
          <a:xfrm>
            <a:off x="112590" y="16510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76" name="Title Placeholder 21">
            <a:extLst>
              <a:ext uri="{FF2B5EF4-FFF2-40B4-BE49-F238E27FC236}">
                <a16:creationId xmlns:a16="http://schemas.microsoft.com/office/drawing/2014/main" id="{2B8B0024-D6D1-A70C-46F3-E369B45B67D1}"/>
              </a:ext>
            </a:extLst>
          </p:cNvPr>
          <p:cNvSpPr>
            <a:spLocks noGrp="1" noChangeArrowheads="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dirty="0"/>
              <a:t>Click to edit Master title style</a:t>
            </a:r>
          </a:p>
        </p:txBody>
      </p:sp>
      <p:sp>
        <p:nvSpPr>
          <p:cNvPr id="3077" name="Text Placeholder 12">
            <a:extLst>
              <a:ext uri="{FF2B5EF4-FFF2-40B4-BE49-F238E27FC236}">
                <a16:creationId xmlns:a16="http://schemas.microsoft.com/office/drawing/2014/main" id="{3488A6D1-71AB-0EF0-882A-8AEDA58A8733}"/>
              </a:ext>
            </a:extLst>
          </p:cNvPr>
          <p:cNvSpPr>
            <a:spLocks noGrp="1" noChangeArrowheads="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3" name="Footer Placeholder 2">
            <a:extLst>
              <a:ext uri="{FF2B5EF4-FFF2-40B4-BE49-F238E27FC236}">
                <a16:creationId xmlns:a16="http://schemas.microsoft.com/office/drawing/2014/main" id="{F37FCC0C-B39C-DCE5-066A-B9F6AFE491FC}"/>
              </a:ext>
            </a:extLst>
          </p:cNvPr>
          <p:cNvSpPr>
            <a:spLocks noGrp="1"/>
          </p:cNvSpPr>
          <p:nvPr>
            <p:ph type="ftr" sz="quarter" idx="3"/>
          </p:nvPr>
        </p:nvSpPr>
        <p:spPr>
          <a:xfrm>
            <a:off x="2555776" y="6500192"/>
            <a:ext cx="48768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cs typeface="+mn-cs"/>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23" name="Slide Number Placeholder 22">
            <a:extLst>
              <a:ext uri="{FF2B5EF4-FFF2-40B4-BE49-F238E27FC236}">
                <a16:creationId xmlns:a16="http://schemas.microsoft.com/office/drawing/2014/main" id="{7CCC2D68-25F4-B5E2-90AE-129685EECD21}"/>
              </a:ext>
            </a:extLst>
          </p:cNvPr>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fontAlgn="auto" latinLnBrk="0" hangingPunct="1">
              <a:spcBef>
                <a:spcPts val="0"/>
              </a:spcBef>
              <a:spcAft>
                <a:spcPts val="0"/>
              </a:spcAft>
              <a:defRPr kumimoji="0" sz="1400">
                <a:solidFill>
                  <a:srgbClr val="FFFFFF"/>
                </a:solidFill>
                <a:latin typeface="+mj-lt"/>
                <a:ea typeface="+mj-ea"/>
                <a:cs typeface="+mj-cs"/>
              </a:defRPr>
            </a:lvl1pPr>
          </a:lstStyle>
          <a:p>
            <a:pPr>
              <a:defRPr/>
            </a:pPr>
            <a:fld id="{688D1139-B686-4DC4-A8B1-655130D02E34}" type="slidenum">
              <a:rPr lang="en-US"/>
              <a:pPr>
                <a:defRPr/>
              </a:pPr>
              <a:t>‹#›</a:t>
            </a:fld>
            <a:endParaRPr lang="en-US" dirty="0"/>
          </a:p>
        </p:txBody>
      </p:sp>
    </p:spTree>
    <p:extLst>
      <p:ext uri="{BB962C8B-B14F-4D97-AF65-F5344CB8AC3E}">
        <p14:creationId xmlns:p14="http://schemas.microsoft.com/office/powerpoint/2010/main" val="3835215726"/>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Lst>
  <p:hf hd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a:defRPr>
      </a:lvl2pPr>
      <a:lvl3pPr algn="l" rtl="0" eaLnBrk="0" fontAlgn="base" hangingPunct="0">
        <a:spcBef>
          <a:spcPct val="0"/>
        </a:spcBef>
        <a:spcAft>
          <a:spcPct val="0"/>
        </a:spcAft>
        <a:defRPr sz="4000">
          <a:solidFill>
            <a:schemeClr val="tx2"/>
          </a:solidFill>
          <a:latin typeface="Franklin Gothic Book"/>
        </a:defRPr>
      </a:lvl3pPr>
      <a:lvl4pPr algn="l" rtl="0" eaLnBrk="0" fontAlgn="base" hangingPunct="0">
        <a:spcBef>
          <a:spcPct val="0"/>
        </a:spcBef>
        <a:spcAft>
          <a:spcPct val="0"/>
        </a:spcAft>
        <a:defRPr sz="4000">
          <a:solidFill>
            <a:schemeClr val="tx2"/>
          </a:solidFill>
          <a:latin typeface="Franklin Gothic Book"/>
        </a:defRPr>
      </a:lvl4pPr>
      <a:lvl5pPr algn="l" rtl="0" eaLnBrk="0" fontAlgn="base" hangingPunct="0">
        <a:spcBef>
          <a:spcPct val="0"/>
        </a:spcBef>
        <a:spcAft>
          <a:spcPct val="0"/>
        </a:spcAft>
        <a:defRPr sz="4000">
          <a:solidFill>
            <a:schemeClr val="tx2"/>
          </a:solidFill>
          <a:latin typeface="Franklin Gothic Book"/>
        </a:defRPr>
      </a:lvl5pPr>
      <a:lvl6pPr marL="457200" algn="l" rtl="0" fontAlgn="base">
        <a:spcBef>
          <a:spcPct val="0"/>
        </a:spcBef>
        <a:spcAft>
          <a:spcPct val="0"/>
        </a:spcAft>
        <a:defRPr sz="4000">
          <a:solidFill>
            <a:schemeClr val="tx2"/>
          </a:solidFill>
          <a:latin typeface="Franklin Gothic Book"/>
        </a:defRPr>
      </a:lvl6pPr>
      <a:lvl7pPr marL="914400" algn="l" rtl="0" fontAlgn="base">
        <a:spcBef>
          <a:spcPct val="0"/>
        </a:spcBef>
        <a:spcAft>
          <a:spcPct val="0"/>
        </a:spcAft>
        <a:defRPr sz="4000">
          <a:solidFill>
            <a:schemeClr val="tx2"/>
          </a:solidFill>
          <a:latin typeface="Franklin Gothic Book"/>
        </a:defRPr>
      </a:lvl7pPr>
      <a:lvl8pPr marL="1371600" algn="l" rtl="0" fontAlgn="base">
        <a:spcBef>
          <a:spcPct val="0"/>
        </a:spcBef>
        <a:spcAft>
          <a:spcPct val="0"/>
        </a:spcAft>
        <a:defRPr sz="4000">
          <a:solidFill>
            <a:schemeClr val="tx2"/>
          </a:solidFill>
          <a:latin typeface="Franklin Gothic Book"/>
        </a:defRPr>
      </a:lvl8pPr>
      <a:lvl9pPr marL="1828800" algn="l" rtl="0" fontAlgn="base">
        <a:spcBef>
          <a:spcPct val="0"/>
        </a:spcBef>
        <a:spcAft>
          <a:spcPct val="0"/>
        </a:spcAft>
        <a:defRPr sz="4000">
          <a:solidFill>
            <a:schemeClr val="tx2"/>
          </a:solidFill>
          <a:latin typeface="Franklin Gothic Book"/>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wmf"/><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hemeOverride" Target="../theme/themeOverr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hemeOverride" Target="../theme/themeOverr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2">
            <a:extLst>
              <a:ext uri="{FF2B5EF4-FFF2-40B4-BE49-F238E27FC236}">
                <a16:creationId xmlns:a16="http://schemas.microsoft.com/office/drawing/2014/main" id="{6E223CA5-28DF-4EB8-9015-D48A747CA2F9}"/>
              </a:ext>
            </a:extLst>
          </p:cNvPr>
          <p:cNvSpPr>
            <a:spLocks noGrp="1" noChangeArrowheads="1"/>
          </p:cNvSpPr>
          <p:nvPr>
            <p:ph type="ctrTitle"/>
          </p:nvPr>
        </p:nvSpPr>
        <p:spPr>
          <a:xfrm>
            <a:off x="457200" y="1506538"/>
            <a:ext cx="8229600" cy="1470025"/>
          </a:xfrm>
        </p:spPr>
        <p:txBody>
          <a:bodyPr/>
          <a:lstStyle/>
          <a:p>
            <a:pPr eaLnBrk="1" hangingPunct="1"/>
            <a:r>
              <a:rPr altLang="en-US" dirty="0">
                <a:solidFill>
                  <a:srgbClr val="000099"/>
                </a:solidFill>
                <a:latin typeface="Arial Black" panose="020B0A04020102020204" pitchFamily="34" charset="0"/>
              </a:rPr>
              <a:t>CC-215-L</a:t>
            </a:r>
            <a:br>
              <a:rPr altLang="en-US" dirty="0">
                <a:solidFill>
                  <a:srgbClr val="000099"/>
                </a:solidFill>
                <a:latin typeface="Arial Black" panose="020B0A04020102020204" pitchFamily="34" charset="0"/>
              </a:rPr>
            </a:br>
            <a:r>
              <a:rPr altLang="en-US" dirty="0">
                <a:solidFill>
                  <a:srgbClr val="FFFF00"/>
                </a:solidFill>
                <a:latin typeface="Arial Black" panose="020B0A04020102020204" pitchFamily="34" charset="0"/>
              </a:rPr>
              <a:t>Database Systems Lab</a:t>
            </a:r>
          </a:p>
        </p:txBody>
      </p:sp>
      <p:sp>
        <p:nvSpPr>
          <p:cNvPr id="2" name="Rectangle 2">
            <a:extLst>
              <a:ext uri="{FF2B5EF4-FFF2-40B4-BE49-F238E27FC236}">
                <a16:creationId xmlns:a16="http://schemas.microsoft.com/office/drawing/2014/main" id="{BE4B3138-A767-7D60-38B3-56978D7D4200}"/>
              </a:ext>
            </a:extLst>
          </p:cNvPr>
          <p:cNvSpPr txBox="1">
            <a:spLocks noChangeArrowheads="1"/>
          </p:cNvSpPr>
          <p:nvPr/>
        </p:nvSpPr>
        <p:spPr bwMode="auto">
          <a:xfrm>
            <a:off x="1256191" y="3171999"/>
            <a:ext cx="6477000" cy="1279530"/>
          </a:xfrm>
          <a:prstGeom prst="rect">
            <a:avLst/>
          </a:prstGeom>
          <a:noFill/>
          <a:ln w="19050">
            <a:solidFill>
              <a:schemeClr val="tx1"/>
            </a:solidFill>
          </a:ln>
        </p:spPr>
        <p:txBody>
          <a:bodyPr tIns="274320" bIns="182880"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ctr" defTabSz="914400" rtl="0" eaLnBrk="1" fontAlgn="base" latinLnBrk="0" hangingPunct="1">
              <a:lnSpc>
                <a:spcPct val="100000"/>
              </a:lnSpc>
              <a:spcBef>
                <a:spcPts val="1200"/>
              </a:spcBef>
              <a:spcAft>
                <a:spcPts val="0"/>
              </a:spcAft>
              <a:buClrTx/>
              <a:buSzTx/>
              <a:buFontTx/>
              <a:buNone/>
              <a:tabLst/>
              <a:defRPr/>
            </a:pPr>
            <a:r>
              <a:rPr kumimoji="0" lang="en-US" sz="3200" b="1" i="0" u="none" strike="noStrike" kern="0" cap="none" spc="0" normalizeH="0" baseline="0" noProof="0" dirty="0">
                <a:ln>
                  <a:noFill/>
                </a:ln>
                <a:solidFill>
                  <a:srgbClr val="C00000"/>
                </a:solidFill>
                <a:effectLst/>
                <a:uLnTx/>
                <a:uFillTx/>
                <a:latin typeface="Tahoma"/>
                <a:ea typeface="+mj-ea"/>
                <a:cs typeface="+mj-cs"/>
              </a:rPr>
              <a:t>— Unit 2 —</a:t>
            </a:r>
            <a:br>
              <a:rPr kumimoji="0" lang="en-US" sz="3200" b="1" i="0" u="none" strike="noStrike" kern="0" cap="none" spc="0" normalizeH="0" baseline="0" noProof="0" dirty="0">
                <a:ln>
                  <a:noFill/>
                </a:ln>
                <a:solidFill>
                  <a:srgbClr val="333399"/>
                </a:solidFill>
                <a:effectLst/>
                <a:uLnTx/>
                <a:uFillTx/>
                <a:latin typeface="Tahoma"/>
                <a:ea typeface="+mj-ea"/>
                <a:cs typeface="+mj-cs"/>
              </a:rPr>
            </a:br>
            <a:r>
              <a:rPr kumimoji="0" lang="en-US" sz="3200" b="1" i="0" u="none" strike="noStrike" kern="0" cap="none" spc="0" normalizeH="0" baseline="0" noProof="0" dirty="0">
                <a:ln>
                  <a:noFill/>
                </a:ln>
                <a:solidFill>
                  <a:srgbClr val="C00000"/>
                </a:solidFill>
                <a:effectLst/>
                <a:uLnTx/>
                <a:uFillTx/>
                <a:latin typeface="Tahoma"/>
                <a:ea typeface="+mj-ea"/>
                <a:cs typeface="+mj-cs"/>
              </a:rPr>
              <a:t>Limiting the output rows </a:t>
            </a:r>
            <a:endParaRPr kumimoji="0" lang="en-US" sz="2400" b="1" i="0" u="none" strike="noStrike" kern="1200" cap="none" spc="0" normalizeH="0" baseline="0" noProof="0" dirty="0">
              <a:ln>
                <a:noFill/>
              </a:ln>
              <a:solidFill>
                <a:srgbClr val="333399"/>
              </a:solidFill>
              <a:effectLst/>
              <a:uLnTx/>
              <a:uFillTx/>
              <a:latin typeface="Tahoma"/>
              <a:ea typeface="+mj-ea"/>
              <a:cs typeface="+mj-cs"/>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Tahoma"/>
              <a:ea typeface="+mj-ea"/>
              <a:cs typeface="+mj-cs"/>
            </a:endParaRPr>
          </a:p>
        </p:txBody>
      </p:sp>
      <p:sp>
        <p:nvSpPr>
          <p:cNvPr id="7" name="Rectangle 2">
            <a:extLst>
              <a:ext uri="{FF2B5EF4-FFF2-40B4-BE49-F238E27FC236}">
                <a16:creationId xmlns:a16="http://schemas.microsoft.com/office/drawing/2014/main" id="{157297BE-EE28-F676-BE56-7D8A7B565F16}"/>
              </a:ext>
            </a:extLst>
          </p:cNvPr>
          <p:cNvSpPr txBox="1">
            <a:spLocks noChangeArrowheads="1"/>
          </p:cNvSpPr>
          <p:nvPr/>
        </p:nvSpPr>
        <p:spPr bwMode="auto">
          <a:xfrm>
            <a:off x="1256191" y="4610893"/>
            <a:ext cx="6477000" cy="1481137"/>
          </a:xfrm>
          <a:prstGeom prst="rect">
            <a:avLst/>
          </a:prstGeom>
          <a:noFill/>
          <a:ln w="19050">
            <a:solidFill>
              <a:srgbClr val="000000"/>
            </a:solidFill>
            <a:miter lim="800000"/>
            <a:headEnd/>
            <a:tailEnd/>
          </a:ln>
        </p:spPr>
        <p:txBody>
          <a:bodyPr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ctr" defTabSz="914400" rtl="0" eaLnBrk="1" fontAlgn="base" latinLnBrk="0" hangingPunct="1">
              <a:lnSpc>
                <a:spcPct val="100000"/>
              </a:lnSpc>
              <a:spcBef>
                <a:spcPts val="1800"/>
              </a:spcBef>
              <a:spcAft>
                <a:spcPts val="600"/>
              </a:spcAft>
              <a:buClrTx/>
              <a:buSzTx/>
              <a:buFontTx/>
              <a:buNone/>
              <a:tabLst/>
              <a:defRPr/>
            </a:pPr>
            <a:br>
              <a:rPr kumimoji="0" lang="en-US" sz="3200" b="1" i="0" u="none" strike="noStrike" kern="0" cap="none" spc="0" normalizeH="0" baseline="0" noProof="0" dirty="0">
                <a:ln>
                  <a:noFill/>
                </a:ln>
                <a:solidFill>
                  <a:srgbClr val="C00000"/>
                </a:solidFill>
                <a:effectLst/>
                <a:uLnTx/>
                <a:uFillTx/>
                <a:latin typeface="Tahoma"/>
                <a:ea typeface="+mj-ea"/>
                <a:cs typeface="+mj-cs"/>
              </a:rPr>
            </a:br>
            <a:r>
              <a:rPr kumimoji="0" lang="en-US" sz="2800" b="1" i="0" u="none" strike="noStrike" kern="0" cap="none" spc="0" normalizeH="0" baseline="0" noProof="0" dirty="0">
                <a:ln>
                  <a:noFill/>
                </a:ln>
                <a:solidFill>
                  <a:srgbClr val="333399"/>
                </a:solidFill>
                <a:effectLst/>
                <a:uLnTx/>
                <a:uFillTx/>
                <a:latin typeface="Tahoma"/>
                <a:ea typeface="+mj-ea"/>
                <a:cs typeface="+mj-cs"/>
              </a:rPr>
              <a:t>Dr. Asif Sohail</a:t>
            </a:r>
            <a:br>
              <a:rPr kumimoji="0" lang="en-US" sz="2800" b="1" i="0" u="none" strike="noStrike" kern="0" cap="none" spc="0" normalizeH="0" baseline="0" noProof="0" dirty="0">
                <a:ln>
                  <a:noFill/>
                </a:ln>
                <a:solidFill>
                  <a:srgbClr val="333399"/>
                </a:solidFill>
                <a:effectLst/>
                <a:uLnTx/>
                <a:uFillTx/>
                <a:latin typeface="Tahoma"/>
                <a:ea typeface="+mj-ea"/>
                <a:cs typeface="+mj-cs"/>
              </a:rPr>
            </a:br>
            <a:br>
              <a:rPr kumimoji="0" lang="en-US" sz="1200" b="1" i="0" u="none" strike="noStrike" kern="0" cap="none" spc="0" normalizeH="0" baseline="0" noProof="0" dirty="0">
                <a:ln>
                  <a:noFill/>
                </a:ln>
                <a:solidFill>
                  <a:srgbClr val="333399"/>
                </a:solidFill>
                <a:effectLst/>
                <a:uLnTx/>
                <a:uFillTx/>
                <a:latin typeface="Tahoma"/>
                <a:ea typeface="+mj-ea"/>
                <a:cs typeface="+mj-cs"/>
              </a:rPr>
            </a:br>
            <a:r>
              <a:rPr kumimoji="0" lang="en-US" altLang="en-US" sz="2000" b="0" i="0" u="none" strike="noStrike" kern="0" cap="none" spc="0" normalizeH="0" baseline="0" noProof="0" dirty="0">
                <a:ln>
                  <a:noFill/>
                </a:ln>
                <a:solidFill>
                  <a:srgbClr val="000000"/>
                </a:solidFill>
                <a:effectLst/>
                <a:uLnTx/>
                <a:uFillTx/>
                <a:latin typeface="Tahoma"/>
                <a:ea typeface="+mj-ea"/>
                <a:cs typeface="+mj-cs"/>
              </a:rPr>
              <a:t>University of the Punjab</a:t>
            </a:r>
            <a:br>
              <a:rPr kumimoji="0" lang="en-US" altLang="en-US" sz="2000" b="0" i="0" u="none" strike="noStrike" kern="0" cap="none" spc="0" normalizeH="0" baseline="0" noProof="0" dirty="0">
                <a:ln>
                  <a:noFill/>
                </a:ln>
                <a:solidFill>
                  <a:srgbClr val="000000"/>
                </a:solidFill>
                <a:effectLst/>
                <a:uLnTx/>
                <a:uFillTx/>
                <a:latin typeface="Tahoma"/>
                <a:ea typeface="+mj-ea"/>
                <a:cs typeface="+mj-cs"/>
              </a:rPr>
            </a:br>
            <a:r>
              <a:rPr kumimoji="0" lang="en-US" altLang="en-US" sz="2000" b="0" i="0" u="none" strike="noStrike" kern="0" cap="none" spc="0" normalizeH="0" baseline="0" noProof="0" dirty="0">
                <a:ln>
                  <a:noFill/>
                </a:ln>
                <a:solidFill>
                  <a:srgbClr val="000000"/>
                </a:solidFill>
                <a:effectLst/>
                <a:uLnTx/>
                <a:uFillTx/>
                <a:latin typeface="Tahoma"/>
                <a:ea typeface="+mj-ea"/>
                <a:cs typeface="+mj-cs"/>
              </a:rPr>
              <a:t>Department of Information Technology, FCIT</a:t>
            </a:r>
            <a:br>
              <a:rPr kumimoji="0" lang="de-AT" altLang="en-US" sz="1800" b="0" i="0" u="none" strike="noStrike" kern="0" cap="none" spc="0" normalizeH="0" baseline="0" noProof="0" dirty="0">
                <a:ln>
                  <a:noFill/>
                </a:ln>
                <a:solidFill>
                  <a:srgbClr val="000000"/>
                </a:solidFill>
                <a:effectLst/>
                <a:uLnTx/>
                <a:uFillTx/>
                <a:latin typeface="Tahoma"/>
                <a:ea typeface="+mj-ea"/>
                <a:cs typeface="+mj-cs"/>
              </a:rPr>
            </a:br>
            <a:endParaRPr kumimoji="0" lang="en-US" sz="3200" b="0" i="0" u="none" strike="noStrike" kern="0" cap="none" spc="0" normalizeH="0" baseline="0" noProof="0" dirty="0">
              <a:ln>
                <a:noFill/>
              </a:ln>
              <a:solidFill>
                <a:srgbClr val="000000"/>
              </a:solidFill>
              <a:effectLst/>
              <a:uLnTx/>
              <a:uFillTx/>
              <a:latin typeface="Tahoma"/>
              <a:ea typeface="+mj-ea"/>
              <a:cs typeface="+mj-cs"/>
            </a:endParaRPr>
          </a:p>
        </p:txBody>
      </p:sp>
      <p:sp>
        <p:nvSpPr>
          <p:cNvPr id="3" name="TextBox 2">
            <a:extLst>
              <a:ext uri="{FF2B5EF4-FFF2-40B4-BE49-F238E27FC236}">
                <a16:creationId xmlns:a16="http://schemas.microsoft.com/office/drawing/2014/main" id="{EE45C58E-0F41-E365-5874-2471AB0F60B5}"/>
              </a:ext>
            </a:extLst>
          </p:cNvPr>
          <p:cNvSpPr txBox="1"/>
          <p:nvPr/>
        </p:nvSpPr>
        <p:spPr>
          <a:xfrm>
            <a:off x="438448" y="6309320"/>
            <a:ext cx="7712703" cy="33855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Arial" panose="020B0604020202020204" pitchFamily="34" charset="0"/>
                <a:ea typeface="+mn-ea"/>
                <a:cs typeface="+mn-cs"/>
              </a:rPr>
              <a:t>Some of the slides are adapted from </a:t>
            </a:r>
            <a:r>
              <a:rPr kumimoji="0" lang="en-US" sz="1600" b="1" i="0" u="none" strike="noStrike" kern="1200" cap="none" spc="0" normalizeH="0" baseline="0" noProof="0" dirty="0">
                <a:ln>
                  <a:noFill/>
                </a:ln>
                <a:solidFill>
                  <a:srgbClr val="0000FF"/>
                </a:solidFill>
                <a:effectLst/>
                <a:uLnTx/>
                <a:uFillTx/>
                <a:latin typeface="Arial" panose="020B0604020202020204" pitchFamily="34" charset="0"/>
                <a:ea typeface="+mn-ea"/>
                <a:cs typeface="+mn-cs"/>
              </a:rPr>
              <a:t>Oracle Corporation.</a:t>
            </a:r>
            <a:endParaRPr kumimoji="0" lang="en-US" sz="16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Arial" panose="020B0604020202020204" pitchFamily="34" charset="0"/>
              <a:ea typeface="+mn-ea"/>
              <a:cs typeface="+mn-cs"/>
            </a:endParaRPr>
          </a:p>
        </p:txBody>
      </p:sp>
      <p:pic>
        <p:nvPicPr>
          <p:cNvPr id="4" name="Picture 11">
            <a:extLst>
              <a:ext uri="{FF2B5EF4-FFF2-40B4-BE49-F238E27FC236}">
                <a16:creationId xmlns:a16="http://schemas.microsoft.com/office/drawing/2014/main" id="{52263002-B443-FA9E-DD31-44571C4582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8353" y="191419"/>
            <a:ext cx="9556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9">
            <a:extLst>
              <a:ext uri="{FF2B5EF4-FFF2-40B4-BE49-F238E27FC236}">
                <a16:creationId xmlns:a16="http://schemas.microsoft.com/office/drawing/2014/main" id="{0664FCA6-02D3-5FBE-852B-E0830F9F3F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7625" y="188640"/>
            <a:ext cx="8032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52C13-6093-8DE3-935E-DCE3F66FDB92}"/>
            </a:ext>
          </a:extLst>
        </p:cNvPr>
        <p:cNvGrpSpPr/>
        <p:nvPr/>
      </p:nvGrpSpPr>
      <p:grpSpPr>
        <a:xfrm>
          <a:off x="0" y="0"/>
          <a:ext cx="0" cy="0"/>
          <a:chOff x="0" y="0"/>
          <a:chExt cx="0" cy="0"/>
        </a:xfrm>
      </p:grpSpPr>
      <p:sp>
        <p:nvSpPr>
          <p:cNvPr id="7170" name="Rectangle 2">
            <a:extLst>
              <a:ext uri="{FF2B5EF4-FFF2-40B4-BE49-F238E27FC236}">
                <a16:creationId xmlns:a16="http://schemas.microsoft.com/office/drawing/2014/main" id="{864A01FD-50B0-6733-15E6-449637E91E3A}"/>
              </a:ext>
            </a:extLst>
          </p:cNvPr>
          <p:cNvSpPr>
            <a:spLocks noGrp="1" noChangeArrowheads="1"/>
          </p:cNvSpPr>
          <p:nvPr>
            <p:ph type="title"/>
          </p:nvPr>
        </p:nvSpPr>
        <p:spPr>
          <a:xfrm>
            <a:off x="467544" y="337825"/>
            <a:ext cx="5362575" cy="536575"/>
          </a:xfrm>
          <a:noFill/>
          <a:extLs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Limiting Rows Using a Selection</a:t>
            </a:r>
          </a:p>
        </p:txBody>
      </p:sp>
      <p:grpSp>
        <p:nvGrpSpPr>
          <p:cNvPr id="71683" name="Group 3">
            <a:extLst>
              <a:ext uri="{FF2B5EF4-FFF2-40B4-BE49-F238E27FC236}">
                <a16:creationId xmlns:a16="http://schemas.microsoft.com/office/drawing/2014/main" id="{A237A198-FD82-B677-A0A6-44641FEA29CA}"/>
              </a:ext>
            </a:extLst>
          </p:cNvPr>
          <p:cNvGrpSpPr>
            <a:grpSpLocks/>
          </p:cNvGrpSpPr>
          <p:nvPr/>
        </p:nvGrpSpPr>
        <p:grpSpPr bwMode="auto">
          <a:xfrm>
            <a:off x="5970588" y="1712913"/>
            <a:ext cx="2716212" cy="2227262"/>
            <a:chOff x="3761" y="1079"/>
            <a:chExt cx="1711" cy="1403"/>
          </a:xfrm>
        </p:grpSpPr>
        <p:sp>
          <p:nvSpPr>
            <p:cNvPr id="71684" name="Rectangle 4">
              <a:extLst>
                <a:ext uri="{FF2B5EF4-FFF2-40B4-BE49-F238E27FC236}">
                  <a16:creationId xmlns:a16="http://schemas.microsoft.com/office/drawing/2014/main" id="{AA61544D-E7B8-C13D-9437-4BD87E54AEAA}"/>
                </a:ext>
              </a:extLst>
            </p:cNvPr>
            <p:cNvSpPr>
              <a:spLocks noChangeArrowheads="1"/>
            </p:cNvSpPr>
            <p:nvPr/>
          </p:nvSpPr>
          <p:spPr bwMode="auto">
            <a:xfrm>
              <a:off x="3761" y="1079"/>
              <a:ext cx="1711" cy="666"/>
            </a:xfrm>
            <a:prstGeom prst="rect">
              <a:avLst/>
            </a:prstGeom>
            <a:noFill/>
            <a:ln>
              <a:noFill/>
            </a:ln>
            <a:effectLst/>
          </p:spPr>
          <p:txBody>
            <a:bodyPr lIns="92075" tIns="46038" rIns="92075" bIns="46038">
              <a:spAutoFit/>
            </a:bodyPr>
            <a:lstStyle/>
            <a:p>
              <a:pPr algn="ctr" defTabSz="346075">
                <a:lnSpc>
                  <a:spcPct val="95000"/>
                </a:lnSpc>
                <a:spcBef>
                  <a:spcPct val="35000"/>
                </a:spcBef>
                <a:tabLst>
                  <a:tab pos="576263" algn="l"/>
                </a:tabLst>
                <a:defRPr/>
              </a:pPr>
              <a:r>
                <a:rPr lang="en-US" sz="2200" b="1" dirty="0">
                  <a:solidFill>
                    <a:srgbClr val="0000FF"/>
                  </a:solidFill>
                  <a:latin typeface="Arial" charset="0"/>
                </a:rPr>
                <a:t>"…retrieve all</a:t>
              </a:r>
              <a:br>
                <a:rPr lang="en-US" sz="2200" b="1" dirty="0">
                  <a:solidFill>
                    <a:srgbClr val="0000FF"/>
                  </a:solidFill>
                  <a:latin typeface="Arial" charset="0"/>
                </a:rPr>
              </a:br>
              <a:r>
                <a:rPr lang="en-US" sz="2200" b="1" dirty="0">
                  <a:solidFill>
                    <a:srgbClr val="0000FF"/>
                  </a:solidFill>
                  <a:latin typeface="Arial" charset="0"/>
                </a:rPr>
                <a:t>employees</a:t>
              </a:r>
              <a:br>
                <a:rPr lang="en-US" sz="2200" b="1" dirty="0">
                  <a:solidFill>
                    <a:srgbClr val="0000FF"/>
                  </a:solidFill>
                  <a:latin typeface="Arial" charset="0"/>
                </a:rPr>
              </a:br>
              <a:r>
                <a:rPr lang="en-US" sz="2200" b="1" dirty="0">
                  <a:solidFill>
                    <a:srgbClr val="0000FF"/>
                  </a:solidFill>
                  <a:latin typeface="Arial" charset="0"/>
                </a:rPr>
                <a:t>in department 10"</a:t>
              </a:r>
            </a:p>
          </p:txBody>
        </p:sp>
        <p:sp>
          <p:nvSpPr>
            <p:cNvPr id="7198" name="Arc 5">
              <a:extLst>
                <a:ext uri="{FF2B5EF4-FFF2-40B4-BE49-F238E27FC236}">
                  <a16:creationId xmlns:a16="http://schemas.microsoft.com/office/drawing/2014/main" id="{3BA1F60D-EB9E-3F18-043B-A83E6617EE43}"/>
                </a:ext>
              </a:extLst>
            </p:cNvPr>
            <p:cNvSpPr>
              <a:spLocks/>
            </p:cNvSpPr>
            <p:nvPr/>
          </p:nvSpPr>
          <p:spPr bwMode="auto">
            <a:xfrm>
              <a:off x="3875" y="1834"/>
              <a:ext cx="997" cy="648"/>
            </a:xfrm>
            <a:custGeom>
              <a:avLst/>
              <a:gdLst>
                <a:gd name="T0" fmla="*/ 0 w 21608"/>
                <a:gd name="T1" fmla="*/ 0 h 21600"/>
                <a:gd name="T2" fmla="*/ 0 w 21608"/>
                <a:gd name="T3" fmla="*/ 0 h 21600"/>
                <a:gd name="T4" fmla="*/ 0 w 21608"/>
                <a:gd name="T5" fmla="*/ 0 h 21600"/>
                <a:gd name="T6" fmla="*/ 0 60000 65536"/>
                <a:gd name="T7" fmla="*/ 0 60000 65536"/>
                <a:gd name="T8" fmla="*/ 0 60000 65536"/>
              </a:gdLst>
              <a:ahLst/>
              <a:cxnLst>
                <a:cxn ang="T6">
                  <a:pos x="T0" y="T1"/>
                </a:cxn>
                <a:cxn ang="T7">
                  <a:pos x="T2" y="T3"/>
                </a:cxn>
                <a:cxn ang="T8">
                  <a:pos x="T4" y="T5"/>
                </a:cxn>
              </a:cxnLst>
              <a:rect l="0" t="0" r="r" b="b"/>
              <a:pathLst>
                <a:path w="21608" h="21600" fill="none" extrusionOk="0">
                  <a:moveTo>
                    <a:pt x="0" y="0"/>
                  </a:moveTo>
                  <a:cubicBezTo>
                    <a:pt x="7" y="0"/>
                    <a:pt x="14" y="-1"/>
                    <a:pt x="22" y="0"/>
                  </a:cubicBezTo>
                  <a:cubicBezTo>
                    <a:pt x="11652" y="0"/>
                    <a:pt x="21195" y="9209"/>
                    <a:pt x="21608" y="20832"/>
                  </a:cubicBezTo>
                </a:path>
                <a:path w="21608" h="21600" stroke="0" extrusionOk="0">
                  <a:moveTo>
                    <a:pt x="0" y="0"/>
                  </a:moveTo>
                  <a:cubicBezTo>
                    <a:pt x="7" y="0"/>
                    <a:pt x="14" y="-1"/>
                    <a:pt x="22" y="0"/>
                  </a:cubicBezTo>
                  <a:cubicBezTo>
                    <a:pt x="11652" y="0"/>
                    <a:pt x="21195" y="9209"/>
                    <a:pt x="21608" y="20832"/>
                  </a:cubicBezTo>
                  <a:lnTo>
                    <a:pt x="22" y="21600"/>
                  </a:lnTo>
                  <a:lnTo>
                    <a:pt x="0" y="0"/>
                  </a:lnTo>
                  <a:close/>
                </a:path>
              </a:pathLst>
            </a:custGeom>
            <a:noFill/>
            <a:ln w="50800" cap="rnd">
              <a:solidFill>
                <a:srgbClr val="FFCC00"/>
              </a:solidFill>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grpSp>
      <p:grpSp>
        <p:nvGrpSpPr>
          <p:cNvPr id="7172" name="Group 6">
            <a:extLst>
              <a:ext uri="{FF2B5EF4-FFF2-40B4-BE49-F238E27FC236}">
                <a16:creationId xmlns:a16="http://schemas.microsoft.com/office/drawing/2014/main" id="{4E4CA1D1-D57E-41C1-3C7C-5067D012C80E}"/>
              </a:ext>
            </a:extLst>
          </p:cNvPr>
          <p:cNvGrpSpPr>
            <a:grpSpLocks/>
          </p:cNvGrpSpPr>
          <p:nvPr/>
        </p:nvGrpSpPr>
        <p:grpSpPr bwMode="auto">
          <a:xfrm>
            <a:off x="596900" y="1193800"/>
            <a:ext cx="5746750" cy="2360613"/>
            <a:chOff x="376" y="752"/>
            <a:chExt cx="3620" cy="1487"/>
          </a:xfrm>
        </p:grpSpPr>
        <p:sp>
          <p:nvSpPr>
            <p:cNvPr id="7185" name="Rectangle 7">
              <a:extLst>
                <a:ext uri="{FF2B5EF4-FFF2-40B4-BE49-F238E27FC236}">
                  <a16:creationId xmlns:a16="http://schemas.microsoft.com/office/drawing/2014/main" id="{13CB3E05-1C11-701A-8AFD-3ACF1F57A059}"/>
                </a:ext>
              </a:extLst>
            </p:cNvPr>
            <p:cNvSpPr>
              <a:spLocks noChangeArrowheads="1"/>
            </p:cNvSpPr>
            <p:nvPr/>
          </p:nvSpPr>
          <p:spPr bwMode="blackWhite">
            <a:xfrm>
              <a:off x="431" y="987"/>
              <a:ext cx="3299" cy="1222"/>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71688" name="Rectangle 8">
              <a:extLst>
                <a:ext uri="{FF2B5EF4-FFF2-40B4-BE49-F238E27FC236}">
                  <a16:creationId xmlns:a16="http://schemas.microsoft.com/office/drawing/2014/main" id="{C86EC693-B6CF-2BA1-0720-8F087FF8BE42}"/>
                </a:ext>
              </a:extLst>
            </p:cNvPr>
            <p:cNvSpPr>
              <a:spLocks noChangeArrowheads="1"/>
            </p:cNvSpPr>
            <p:nvPr/>
          </p:nvSpPr>
          <p:spPr bwMode="auto">
            <a:xfrm>
              <a:off x="376" y="752"/>
              <a:ext cx="463" cy="250"/>
            </a:xfrm>
            <a:prstGeom prst="rect">
              <a:avLst/>
            </a:prstGeom>
            <a:noFill/>
            <a:ln>
              <a:noFill/>
            </a:ln>
            <a:effectLst/>
          </p:spPr>
          <p:txBody>
            <a:bodyPr wrap="none" lIns="92075" tIns="46038" rIns="92075" bIns="46038">
              <a:spAutoFit/>
            </a:bodyPr>
            <a:lstStyle/>
            <a:p>
              <a:pPr>
                <a:defRPr/>
              </a:pPr>
              <a:r>
                <a:rPr lang="en-US" sz="2000" b="1">
                  <a:effectLst>
                    <a:outerShdw blurRad="38100" dist="38100" dir="2700000" algn="tl">
                      <a:srgbClr val="FFFFFF"/>
                    </a:outerShdw>
                  </a:effectLst>
                  <a:latin typeface="Arial" charset="0"/>
                </a:rPr>
                <a:t>EMP</a:t>
              </a:r>
            </a:p>
          </p:txBody>
        </p:sp>
        <p:sp>
          <p:nvSpPr>
            <p:cNvPr id="7187" name="Line 9">
              <a:extLst>
                <a:ext uri="{FF2B5EF4-FFF2-40B4-BE49-F238E27FC236}">
                  <a16:creationId xmlns:a16="http://schemas.microsoft.com/office/drawing/2014/main" id="{0E234B6C-A9EB-4242-680F-C1C46FFA01EA}"/>
                </a:ext>
              </a:extLst>
            </p:cNvPr>
            <p:cNvSpPr>
              <a:spLocks noChangeShapeType="1"/>
            </p:cNvSpPr>
            <p:nvPr/>
          </p:nvSpPr>
          <p:spPr bwMode="auto">
            <a:xfrm>
              <a:off x="432" y="1273"/>
              <a:ext cx="3312" cy="0"/>
            </a:xfrm>
            <a:prstGeom prst="line">
              <a:avLst/>
            </a:prstGeom>
            <a:noFill/>
            <a:ln w="508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88" name="Line 10">
              <a:extLst>
                <a:ext uri="{FF2B5EF4-FFF2-40B4-BE49-F238E27FC236}">
                  <a16:creationId xmlns:a16="http://schemas.microsoft.com/office/drawing/2014/main" id="{6569404D-29B4-AD72-9DD4-CF1364C614CE}"/>
                </a:ext>
              </a:extLst>
            </p:cNvPr>
            <p:cNvSpPr>
              <a:spLocks noChangeShapeType="1"/>
            </p:cNvSpPr>
            <p:nvPr/>
          </p:nvSpPr>
          <p:spPr bwMode="auto">
            <a:xfrm>
              <a:off x="428" y="1521"/>
              <a:ext cx="3328"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89" name="Line 11">
              <a:extLst>
                <a:ext uri="{FF2B5EF4-FFF2-40B4-BE49-F238E27FC236}">
                  <a16:creationId xmlns:a16="http://schemas.microsoft.com/office/drawing/2014/main" id="{994939AF-5582-4513-11DA-F96FA884288D}"/>
                </a:ext>
              </a:extLst>
            </p:cNvPr>
            <p:cNvSpPr>
              <a:spLocks noChangeShapeType="1"/>
            </p:cNvSpPr>
            <p:nvPr/>
          </p:nvSpPr>
          <p:spPr bwMode="auto">
            <a:xfrm>
              <a:off x="1060" y="981"/>
              <a:ext cx="0" cy="1252"/>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0" name="Line 12">
              <a:extLst>
                <a:ext uri="{FF2B5EF4-FFF2-40B4-BE49-F238E27FC236}">
                  <a16:creationId xmlns:a16="http://schemas.microsoft.com/office/drawing/2014/main" id="{8E63FE6D-32E5-43EF-A728-2B525D559496}"/>
                </a:ext>
              </a:extLst>
            </p:cNvPr>
            <p:cNvSpPr>
              <a:spLocks noChangeShapeType="1"/>
            </p:cNvSpPr>
            <p:nvPr/>
          </p:nvSpPr>
          <p:spPr bwMode="auto">
            <a:xfrm>
              <a:off x="1596" y="981"/>
              <a:ext cx="0" cy="1246"/>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1" name="Line 13">
              <a:extLst>
                <a:ext uri="{FF2B5EF4-FFF2-40B4-BE49-F238E27FC236}">
                  <a16:creationId xmlns:a16="http://schemas.microsoft.com/office/drawing/2014/main" id="{6C342F1B-B729-2B31-B818-A20436041E02}"/>
                </a:ext>
              </a:extLst>
            </p:cNvPr>
            <p:cNvSpPr>
              <a:spLocks noChangeShapeType="1"/>
            </p:cNvSpPr>
            <p:nvPr/>
          </p:nvSpPr>
          <p:spPr bwMode="auto">
            <a:xfrm>
              <a:off x="2538" y="981"/>
              <a:ext cx="0" cy="1234"/>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2" name="Line 14">
              <a:extLst>
                <a:ext uri="{FF2B5EF4-FFF2-40B4-BE49-F238E27FC236}">
                  <a16:creationId xmlns:a16="http://schemas.microsoft.com/office/drawing/2014/main" id="{69CAC7B0-6FB0-7DFA-3DB9-0F0DB93B367A}"/>
                </a:ext>
              </a:extLst>
            </p:cNvPr>
            <p:cNvSpPr>
              <a:spLocks noChangeShapeType="1"/>
            </p:cNvSpPr>
            <p:nvPr/>
          </p:nvSpPr>
          <p:spPr bwMode="auto">
            <a:xfrm>
              <a:off x="2928" y="981"/>
              <a:ext cx="0" cy="1258"/>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3" name="Line 15">
              <a:extLst>
                <a:ext uri="{FF2B5EF4-FFF2-40B4-BE49-F238E27FC236}">
                  <a16:creationId xmlns:a16="http://schemas.microsoft.com/office/drawing/2014/main" id="{60900E4A-015E-D32B-88DC-A07015E92FE8}"/>
                </a:ext>
              </a:extLst>
            </p:cNvPr>
            <p:cNvSpPr>
              <a:spLocks noChangeShapeType="1"/>
            </p:cNvSpPr>
            <p:nvPr/>
          </p:nvSpPr>
          <p:spPr bwMode="auto">
            <a:xfrm>
              <a:off x="428" y="2029"/>
              <a:ext cx="3322"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4" name="Rectangle 16">
              <a:extLst>
                <a:ext uri="{FF2B5EF4-FFF2-40B4-BE49-F238E27FC236}">
                  <a16:creationId xmlns:a16="http://schemas.microsoft.com/office/drawing/2014/main" id="{12A1F971-8BE9-9E80-CC31-20D99BA1D11B}"/>
                </a:ext>
              </a:extLst>
            </p:cNvPr>
            <p:cNvSpPr>
              <a:spLocks noChangeArrowheads="1"/>
            </p:cNvSpPr>
            <p:nvPr/>
          </p:nvSpPr>
          <p:spPr bwMode="blackWhite">
            <a:xfrm>
              <a:off x="451" y="1013"/>
              <a:ext cx="3545" cy="1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tabLst>
                  <a:tab pos="966788" algn="l"/>
                  <a:tab pos="1885950" algn="l"/>
                  <a:tab pos="2457450" algn="l"/>
                  <a:tab pos="3200400" algn="l"/>
                  <a:tab pos="377190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 pos="3200400" algn="l"/>
                  <a:tab pos="377190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 pos="3200400" algn="l"/>
                  <a:tab pos="377190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 pos="3200400" algn="l"/>
                  <a:tab pos="377190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 pos="3200400" algn="l"/>
                  <a:tab pos="37719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 pos="3200400" algn="l"/>
                  <a:tab pos="37719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 pos="3200400" algn="l"/>
                  <a:tab pos="37719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 pos="3200400" algn="l"/>
                  <a:tab pos="37719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 pos="3200400" algn="l"/>
                  <a:tab pos="377190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EMPNO 	ENAME 	JOB		 ...  DEPTNO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r>
                <a:rPr lang="en-US" altLang="en-US" sz="1800" b="1">
                  <a:solidFill>
                    <a:srgbClr val="000000"/>
                  </a:solidFill>
                  <a:latin typeface="Courier New" panose="02070309020205020404" pitchFamily="49" charset="0"/>
                </a:rPr>
                <a:t>  7839	KING	PRESIDENT		      10</a:t>
              </a:r>
            </a:p>
            <a:p>
              <a:pPr>
                <a:lnSpc>
                  <a:spcPct val="95000"/>
                </a:lnSpc>
                <a:spcBef>
                  <a:spcPct val="0"/>
                </a:spcBef>
                <a:buFontTx/>
                <a:buNone/>
              </a:pPr>
              <a:r>
                <a:rPr lang="en-US" altLang="en-US" sz="1800" b="1">
                  <a:solidFill>
                    <a:srgbClr val="000000"/>
                  </a:solidFill>
                  <a:latin typeface="Courier New" panose="02070309020205020404" pitchFamily="49" charset="0"/>
                </a:rPr>
                <a:t>  7698	BLAKE	MANAGER		      30</a:t>
              </a:r>
            </a:p>
            <a:p>
              <a:pPr>
                <a:lnSpc>
                  <a:spcPct val="95000"/>
                </a:lnSpc>
                <a:spcBef>
                  <a:spcPct val="0"/>
                </a:spcBef>
                <a:buFontTx/>
                <a:buNone/>
              </a:pPr>
              <a:r>
                <a:rPr lang="en-US" altLang="en-US" sz="1800" b="1">
                  <a:solidFill>
                    <a:srgbClr val="000000"/>
                  </a:solidFill>
                  <a:latin typeface="Courier New" panose="02070309020205020404" pitchFamily="49" charset="0"/>
                </a:rPr>
                <a:t>  7782	CLARK	MANAGER		      10</a:t>
              </a:r>
            </a:p>
            <a:p>
              <a:pPr>
                <a:lnSpc>
                  <a:spcPct val="95000"/>
                </a:lnSpc>
                <a:spcBef>
                  <a:spcPct val="0"/>
                </a:spcBef>
                <a:buFontTx/>
                <a:buNone/>
              </a:pPr>
              <a:r>
                <a:rPr lang="en-US" altLang="en-US" sz="1800" b="1">
                  <a:solidFill>
                    <a:srgbClr val="000000"/>
                  </a:solidFill>
                  <a:latin typeface="Courier New" panose="02070309020205020404" pitchFamily="49" charset="0"/>
                </a:rPr>
                <a:t>  7566	JONES	MANAGER		      20</a:t>
              </a:r>
            </a:p>
            <a:p>
              <a:pPr>
                <a:lnSpc>
                  <a:spcPct val="95000"/>
                </a:lnSpc>
                <a:spcBef>
                  <a:spcPct val="0"/>
                </a:spcBef>
                <a:buFontTx/>
                <a:buNone/>
              </a:pPr>
              <a:r>
                <a:rPr lang="en-US" altLang="en-US" sz="1800" b="1">
                  <a:solidFill>
                    <a:srgbClr val="000000"/>
                  </a:solidFill>
                  <a:latin typeface="Courier New" panose="02070309020205020404" pitchFamily="49" charset="0"/>
                </a:rPr>
                <a:t>  ...</a:t>
              </a:r>
            </a:p>
          </p:txBody>
        </p:sp>
        <p:sp>
          <p:nvSpPr>
            <p:cNvPr id="7195" name="Line 17">
              <a:extLst>
                <a:ext uri="{FF2B5EF4-FFF2-40B4-BE49-F238E27FC236}">
                  <a16:creationId xmlns:a16="http://schemas.microsoft.com/office/drawing/2014/main" id="{CF4E6A77-6A78-56F8-4B58-EAA96E483487}"/>
                </a:ext>
              </a:extLst>
            </p:cNvPr>
            <p:cNvSpPr>
              <a:spLocks noChangeShapeType="1"/>
            </p:cNvSpPr>
            <p:nvPr/>
          </p:nvSpPr>
          <p:spPr bwMode="auto">
            <a:xfrm>
              <a:off x="428" y="1677"/>
              <a:ext cx="3328"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6" name="Line 18">
              <a:extLst>
                <a:ext uri="{FF2B5EF4-FFF2-40B4-BE49-F238E27FC236}">
                  <a16:creationId xmlns:a16="http://schemas.microsoft.com/office/drawing/2014/main" id="{1D6CFE11-1431-E7CA-765F-3258DBF30501}"/>
                </a:ext>
              </a:extLst>
            </p:cNvPr>
            <p:cNvSpPr>
              <a:spLocks noChangeShapeType="1"/>
            </p:cNvSpPr>
            <p:nvPr/>
          </p:nvSpPr>
          <p:spPr bwMode="auto">
            <a:xfrm>
              <a:off x="428" y="1845"/>
              <a:ext cx="3328"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71699" name="Group 19">
            <a:extLst>
              <a:ext uri="{FF2B5EF4-FFF2-40B4-BE49-F238E27FC236}">
                <a16:creationId xmlns:a16="http://schemas.microsoft.com/office/drawing/2014/main" id="{1F1A913E-65A7-C307-5A99-9BF6860AB8DA}"/>
              </a:ext>
            </a:extLst>
          </p:cNvPr>
          <p:cNvGrpSpPr>
            <a:grpSpLocks/>
          </p:cNvGrpSpPr>
          <p:nvPr/>
        </p:nvGrpSpPr>
        <p:grpSpPr bwMode="auto">
          <a:xfrm>
            <a:off x="3321050" y="3765550"/>
            <a:ext cx="5746750" cy="1808163"/>
            <a:chOff x="2092" y="2372"/>
            <a:chExt cx="3620" cy="1139"/>
          </a:xfrm>
        </p:grpSpPr>
        <p:sp>
          <p:nvSpPr>
            <p:cNvPr id="7174" name="Rectangle 20">
              <a:extLst>
                <a:ext uri="{FF2B5EF4-FFF2-40B4-BE49-F238E27FC236}">
                  <a16:creationId xmlns:a16="http://schemas.microsoft.com/office/drawing/2014/main" id="{A2CEADB5-4A64-48B5-E12B-2A059A539816}"/>
                </a:ext>
              </a:extLst>
            </p:cNvPr>
            <p:cNvSpPr>
              <a:spLocks noChangeArrowheads="1"/>
            </p:cNvSpPr>
            <p:nvPr/>
          </p:nvSpPr>
          <p:spPr bwMode="blackWhite">
            <a:xfrm>
              <a:off x="2147" y="2607"/>
              <a:ext cx="3299" cy="894"/>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71701" name="Rectangle 21">
              <a:extLst>
                <a:ext uri="{FF2B5EF4-FFF2-40B4-BE49-F238E27FC236}">
                  <a16:creationId xmlns:a16="http://schemas.microsoft.com/office/drawing/2014/main" id="{1A320989-38BD-4BDF-8EEE-292836EA8DBB}"/>
                </a:ext>
              </a:extLst>
            </p:cNvPr>
            <p:cNvSpPr>
              <a:spLocks noChangeArrowheads="1"/>
            </p:cNvSpPr>
            <p:nvPr/>
          </p:nvSpPr>
          <p:spPr bwMode="auto">
            <a:xfrm>
              <a:off x="2092" y="2372"/>
              <a:ext cx="463" cy="250"/>
            </a:xfrm>
            <a:prstGeom prst="rect">
              <a:avLst/>
            </a:prstGeom>
            <a:noFill/>
            <a:ln>
              <a:noFill/>
            </a:ln>
            <a:effectLst/>
          </p:spPr>
          <p:txBody>
            <a:bodyPr wrap="none" lIns="92075" tIns="46038" rIns="92075" bIns="46038">
              <a:spAutoFit/>
            </a:bodyPr>
            <a:lstStyle/>
            <a:p>
              <a:pPr>
                <a:defRPr/>
              </a:pPr>
              <a:r>
                <a:rPr lang="en-US" sz="2000" b="1">
                  <a:effectLst>
                    <a:outerShdw blurRad="38100" dist="38100" dir="2700000" algn="tl">
                      <a:srgbClr val="FFFFFF"/>
                    </a:outerShdw>
                  </a:effectLst>
                  <a:latin typeface="Arial" charset="0"/>
                </a:rPr>
                <a:t>EMP</a:t>
              </a:r>
            </a:p>
          </p:txBody>
        </p:sp>
        <p:sp>
          <p:nvSpPr>
            <p:cNvPr id="7176" name="Line 22">
              <a:extLst>
                <a:ext uri="{FF2B5EF4-FFF2-40B4-BE49-F238E27FC236}">
                  <a16:creationId xmlns:a16="http://schemas.microsoft.com/office/drawing/2014/main" id="{3A90EB80-EB9B-5A4D-1168-0C5C2037DE3B}"/>
                </a:ext>
              </a:extLst>
            </p:cNvPr>
            <p:cNvSpPr>
              <a:spLocks noChangeShapeType="1"/>
            </p:cNvSpPr>
            <p:nvPr/>
          </p:nvSpPr>
          <p:spPr bwMode="auto">
            <a:xfrm>
              <a:off x="2148" y="2893"/>
              <a:ext cx="3312" cy="0"/>
            </a:xfrm>
            <a:prstGeom prst="line">
              <a:avLst/>
            </a:prstGeom>
            <a:noFill/>
            <a:ln w="508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77" name="Line 23">
              <a:extLst>
                <a:ext uri="{FF2B5EF4-FFF2-40B4-BE49-F238E27FC236}">
                  <a16:creationId xmlns:a16="http://schemas.microsoft.com/office/drawing/2014/main" id="{595C4A6E-FF6F-A5EF-FCCD-417919CD03A8}"/>
                </a:ext>
              </a:extLst>
            </p:cNvPr>
            <p:cNvSpPr>
              <a:spLocks noChangeShapeType="1"/>
            </p:cNvSpPr>
            <p:nvPr/>
          </p:nvSpPr>
          <p:spPr bwMode="auto">
            <a:xfrm>
              <a:off x="2144" y="3141"/>
              <a:ext cx="3328"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7178" name="Group 24">
              <a:extLst>
                <a:ext uri="{FF2B5EF4-FFF2-40B4-BE49-F238E27FC236}">
                  <a16:creationId xmlns:a16="http://schemas.microsoft.com/office/drawing/2014/main" id="{8F82B9A1-B6CF-EAA3-C300-FB277913C8BA}"/>
                </a:ext>
              </a:extLst>
            </p:cNvPr>
            <p:cNvGrpSpPr>
              <a:grpSpLocks/>
            </p:cNvGrpSpPr>
            <p:nvPr/>
          </p:nvGrpSpPr>
          <p:grpSpPr bwMode="auto">
            <a:xfrm>
              <a:off x="2776" y="2601"/>
              <a:ext cx="1868" cy="903"/>
              <a:chOff x="2776" y="2601"/>
              <a:chExt cx="1868" cy="903"/>
            </a:xfrm>
          </p:grpSpPr>
          <p:sp>
            <p:nvSpPr>
              <p:cNvPr id="7181" name="Line 25">
                <a:extLst>
                  <a:ext uri="{FF2B5EF4-FFF2-40B4-BE49-F238E27FC236}">
                    <a16:creationId xmlns:a16="http://schemas.microsoft.com/office/drawing/2014/main" id="{C1B30916-13B1-7479-D507-2E4A3C33D944}"/>
                  </a:ext>
                </a:extLst>
              </p:cNvPr>
              <p:cNvSpPr>
                <a:spLocks noChangeShapeType="1"/>
              </p:cNvSpPr>
              <p:nvPr/>
            </p:nvSpPr>
            <p:spPr bwMode="auto">
              <a:xfrm>
                <a:off x="2776" y="2601"/>
                <a:ext cx="0" cy="899"/>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82" name="Line 26">
                <a:extLst>
                  <a:ext uri="{FF2B5EF4-FFF2-40B4-BE49-F238E27FC236}">
                    <a16:creationId xmlns:a16="http://schemas.microsoft.com/office/drawing/2014/main" id="{C3A7056D-6BC0-2AF9-66B4-47720224330B}"/>
                  </a:ext>
                </a:extLst>
              </p:cNvPr>
              <p:cNvSpPr>
                <a:spLocks noChangeShapeType="1"/>
              </p:cNvSpPr>
              <p:nvPr/>
            </p:nvSpPr>
            <p:spPr bwMode="auto">
              <a:xfrm>
                <a:off x="3384" y="2601"/>
                <a:ext cx="0" cy="895"/>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83" name="Line 27">
                <a:extLst>
                  <a:ext uri="{FF2B5EF4-FFF2-40B4-BE49-F238E27FC236}">
                    <a16:creationId xmlns:a16="http://schemas.microsoft.com/office/drawing/2014/main" id="{24A82017-EBB5-CF4B-7A65-1782AA647979}"/>
                  </a:ext>
                </a:extLst>
              </p:cNvPr>
              <p:cNvSpPr>
                <a:spLocks noChangeShapeType="1"/>
              </p:cNvSpPr>
              <p:nvPr/>
            </p:nvSpPr>
            <p:spPr bwMode="auto">
              <a:xfrm>
                <a:off x="4254" y="2601"/>
                <a:ext cx="0" cy="885"/>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84" name="Line 28">
                <a:extLst>
                  <a:ext uri="{FF2B5EF4-FFF2-40B4-BE49-F238E27FC236}">
                    <a16:creationId xmlns:a16="http://schemas.microsoft.com/office/drawing/2014/main" id="{83A4F462-79EE-C567-0BB0-6998318A6C4C}"/>
                  </a:ext>
                </a:extLst>
              </p:cNvPr>
              <p:cNvSpPr>
                <a:spLocks noChangeShapeType="1"/>
              </p:cNvSpPr>
              <p:nvPr/>
            </p:nvSpPr>
            <p:spPr bwMode="auto">
              <a:xfrm>
                <a:off x="4644" y="2601"/>
                <a:ext cx="0" cy="903"/>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7179" name="Rectangle 29">
              <a:extLst>
                <a:ext uri="{FF2B5EF4-FFF2-40B4-BE49-F238E27FC236}">
                  <a16:creationId xmlns:a16="http://schemas.microsoft.com/office/drawing/2014/main" id="{E474CA85-5EB4-9A55-E579-7084547ED3BD}"/>
                </a:ext>
              </a:extLst>
            </p:cNvPr>
            <p:cNvSpPr>
              <a:spLocks noChangeArrowheads="1"/>
            </p:cNvSpPr>
            <p:nvPr/>
          </p:nvSpPr>
          <p:spPr bwMode="blackWhite">
            <a:xfrm>
              <a:off x="2167" y="2633"/>
              <a:ext cx="3545" cy="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tabLst>
                  <a:tab pos="966788" algn="l"/>
                  <a:tab pos="1885950" algn="l"/>
                  <a:tab pos="1943100" algn="l"/>
                  <a:tab pos="2457450" algn="l"/>
                  <a:tab pos="3200400" algn="l"/>
                  <a:tab pos="377190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1943100" algn="l"/>
                  <a:tab pos="2457450" algn="l"/>
                  <a:tab pos="3200400" algn="l"/>
                  <a:tab pos="377190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1943100" algn="l"/>
                  <a:tab pos="2457450" algn="l"/>
                  <a:tab pos="3200400" algn="l"/>
                  <a:tab pos="377190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1943100" algn="l"/>
                  <a:tab pos="2457450" algn="l"/>
                  <a:tab pos="3200400" algn="l"/>
                  <a:tab pos="377190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1943100" algn="l"/>
                  <a:tab pos="2457450" algn="l"/>
                  <a:tab pos="3200400" algn="l"/>
                  <a:tab pos="37719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1943100" algn="l"/>
                  <a:tab pos="2457450" algn="l"/>
                  <a:tab pos="3200400" algn="l"/>
                  <a:tab pos="37719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1943100" algn="l"/>
                  <a:tab pos="2457450" algn="l"/>
                  <a:tab pos="3200400" algn="l"/>
                  <a:tab pos="37719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1943100" algn="l"/>
                  <a:tab pos="2457450" algn="l"/>
                  <a:tab pos="3200400" algn="l"/>
                  <a:tab pos="37719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1943100" algn="l"/>
                  <a:tab pos="2457450" algn="l"/>
                  <a:tab pos="3200400" algn="l"/>
                  <a:tab pos="377190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EMPNO 	ENAME 		JOB		 ...  DEPTNO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r>
                <a:rPr lang="en-US" altLang="en-US" sz="1800" b="1">
                  <a:solidFill>
                    <a:srgbClr val="000000"/>
                  </a:solidFill>
                  <a:latin typeface="Courier New" panose="02070309020205020404" pitchFamily="49" charset="0"/>
                </a:rPr>
                <a:t>  7839	KING		PRESIDENT		      10</a:t>
              </a:r>
            </a:p>
            <a:p>
              <a:pPr>
                <a:lnSpc>
                  <a:spcPct val="95000"/>
                </a:lnSpc>
                <a:spcBef>
                  <a:spcPct val="0"/>
                </a:spcBef>
                <a:buFontTx/>
                <a:buNone/>
              </a:pPr>
              <a:r>
                <a:rPr lang="en-US" altLang="en-US" sz="1800" b="1">
                  <a:solidFill>
                    <a:srgbClr val="000000"/>
                  </a:solidFill>
                  <a:latin typeface="Courier New" panose="02070309020205020404" pitchFamily="49" charset="0"/>
                </a:rPr>
                <a:t>  7782	CLARK		MANAGER		      10</a:t>
              </a:r>
            </a:p>
            <a:p>
              <a:pPr>
                <a:lnSpc>
                  <a:spcPct val="95000"/>
                </a:lnSpc>
                <a:spcBef>
                  <a:spcPct val="0"/>
                </a:spcBef>
                <a:buFontTx/>
                <a:buNone/>
              </a:pPr>
              <a:r>
                <a:rPr lang="en-US" altLang="en-US" sz="1800" b="1">
                  <a:solidFill>
                    <a:srgbClr val="000000"/>
                  </a:solidFill>
                  <a:latin typeface="Courier New" panose="02070309020205020404" pitchFamily="49" charset="0"/>
                </a:rPr>
                <a:t>  7934	MILLER		CLERK		      10</a:t>
              </a:r>
            </a:p>
          </p:txBody>
        </p:sp>
        <p:sp>
          <p:nvSpPr>
            <p:cNvPr id="7180" name="Line 30">
              <a:extLst>
                <a:ext uri="{FF2B5EF4-FFF2-40B4-BE49-F238E27FC236}">
                  <a16:creationId xmlns:a16="http://schemas.microsoft.com/office/drawing/2014/main" id="{370B2B48-94E6-935A-D228-8D6E0BD71C58}"/>
                </a:ext>
              </a:extLst>
            </p:cNvPr>
            <p:cNvSpPr>
              <a:spLocks noChangeShapeType="1"/>
            </p:cNvSpPr>
            <p:nvPr/>
          </p:nvSpPr>
          <p:spPr bwMode="auto">
            <a:xfrm>
              <a:off x="2144" y="3297"/>
              <a:ext cx="3328"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 name="Footer Placeholder 2">
            <a:extLst>
              <a:ext uri="{FF2B5EF4-FFF2-40B4-BE49-F238E27FC236}">
                <a16:creationId xmlns:a16="http://schemas.microsoft.com/office/drawing/2014/main" id="{C6647778-8DF9-3130-C33B-7ABE863C2F82}"/>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Slide Number Placeholder 23">
            <a:extLst>
              <a:ext uri="{FF2B5EF4-FFF2-40B4-BE49-F238E27FC236}">
                <a16:creationId xmlns:a16="http://schemas.microsoft.com/office/drawing/2014/main" id="{616EA6C4-0401-962B-1FA5-83635121FF8F}"/>
              </a:ext>
            </a:extLst>
          </p:cNvPr>
          <p:cNvSpPr>
            <a:spLocks noGrp="1"/>
          </p:cNvSpPr>
          <p:nvPr>
            <p:ph type="sldNum" sz="quarter" idx="12"/>
          </p:nvPr>
        </p:nvSpPr>
        <p:spPr>
          <a:xfrm>
            <a:off x="8459788" y="630932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90281967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1683"/>
                                        </p:tgtEl>
                                        <p:attrNameLst>
                                          <p:attrName>style.visibility</p:attrName>
                                        </p:attrNameLst>
                                      </p:cBhvr>
                                      <p:to>
                                        <p:strVal val="visible"/>
                                      </p:to>
                                    </p:set>
                                    <p:animEffect transition="in" filter="wipe(left)">
                                      <p:cBhvr>
                                        <p:cTn id="7" dur="500"/>
                                        <p:tgtEl>
                                          <p:spTgt spid="71683"/>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71699"/>
                                        </p:tgtEl>
                                        <p:attrNameLst>
                                          <p:attrName>style.visibility</p:attrName>
                                        </p:attrNameLst>
                                      </p:cBhvr>
                                      <p:to>
                                        <p:strVal val="visible"/>
                                      </p:to>
                                    </p:set>
                                    <p:animEffect transition="in" filter="wipe(up)">
                                      <p:cBhvr>
                                        <p:cTn id="11" dur="500"/>
                                        <p:tgtEl>
                                          <p:spTgt spid="716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547AD0BE-3D34-A0CD-B207-54A69D35063F}"/>
              </a:ext>
            </a:extLst>
          </p:cNvPr>
          <p:cNvSpPr>
            <a:spLocks noGrp="1" noChangeArrowheads="1"/>
          </p:cNvSpPr>
          <p:nvPr>
            <p:ph type="title"/>
          </p:nvPr>
        </p:nvSpPr>
        <p:spPr>
          <a:xfrm>
            <a:off x="323850" y="23130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Limiting Rows Using a Selection</a:t>
            </a:r>
          </a:p>
        </p:txBody>
      </p:sp>
      <p:sp>
        <p:nvSpPr>
          <p:cNvPr id="38915" name="Rectangle 3">
            <a:extLst>
              <a:ext uri="{FF2B5EF4-FFF2-40B4-BE49-F238E27FC236}">
                <a16:creationId xmlns:a16="http://schemas.microsoft.com/office/drawing/2014/main" id="{FB66AF34-8BB8-1133-8B11-0E3531D67976}"/>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r>
              <a:rPr lang="en-US" alt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WHERE clause</a:t>
            </a:r>
            <a:r>
              <a:rPr lang="en-US" altLang="en-US" sz="2400" dirty="0">
                <a:latin typeface="Cambria" panose="02040503050406030204" pitchFamily="18" charset="0"/>
                <a:ea typeface="Cambria" panose="02040503050406030204" pitchFamily="18" charset="0"/>
                <a:cs typeface="Calibri" panose="020F0502020204030204" pitchFamily="34" charset="0"/>
              </a:rPr>
              <a:t> is used to restrict the output rows.</a:t>
            </a:r>
          </a:p>
          <a:p>
            <a:pPr marL="285750" indent="-285750" algn="just">
              <a:buSzPct val="50000"/>
              <a:buFont typeface="Wingdings" panose="05000000000000000000" pitchFamily="2" charset="2"/>
              <a:buChar char="l"/>
            </a:pPr>
            <a:r>
              <a:rPr lang="en-US" alt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WHERE clause</a:t>
            </a:r>
            <a:r>
              <a:rPr lang="en-US" altLang="en-US" sz="2400" dirty="0">
                <a:latin typeface="Cambria" panose="02040503050406030204" pitchFamily="18" charset="0"/>
                <a:ea typeface="Cambria" panose="02040503050406030204" pitchFamily="18" charset="0"/>
                <a:cs typeface="Calibri" panose="020F0502020204030204" pitchFamily="34" charset="0"/>
              </a:rPr>
              <a:t> follows the FROM clause.</a:t>
            </a: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0" indent="0" algn="just">
              <a:buSzPct val="50000"/>
              <a:buNone/>
            </a:pPr>
            <a:r>
              <a:rPr lang="en-US" altLang="en-US" sz="2400" b="1" dirty="0">
                <a:solidFill>
                  <a:srgbClr val="0000FF"/>
                </a:solidFill>
                <a:latin typeface="Cambria" panose="02040503050406030204" pitchFamily="18" charset="0"/>
                <a:ea typeface="Cambria" panose="02040503050406030204" pitchFamily="18" charset="0"/>
                <a:cs typeface="Calibri" panose="020F0502020204030204" pitchFamily="34" charset="0"/>
              </a:rPr>
              <a:t>Comparison or Relational Operators</a:t>
            </a:r>
          </a:p>
          <a:p>
            <a:pPr marL="285750" indent="-285750" algn="just">
              <a:buSzPct val="50000"/>
              <a:buFont typeface="Wingdings" panose="05000000000000000000" pitchFamily="2" charset="2"/>
              <a:buChar char="l"/>
            </a:pPr>
            <a:r>
              <a:rPr lang="en-US" altLang="en-US" sz="2800" b="1" dirty="0">
                <a:solidFill>
                  <a:srgbClr val="FF0000"/>
                </a:solidFill>
                <a:latin typeface="Cambria" panose="02040503050406030204" pitchFamily="18" charset="0"/>
                <a:ea typeface="Cambria" panose="02040503050406030204" pitchFamily="18" charset="0"/>
                <a:cs typeface="Calibri" panose="020F0502020204030204" pitchFamily="34" charset="0"/>
              </a:rPr>
              <a:t>=, &lt;, &gt;, &lt;=, &gt;=, != or &lt;&gt;</a:t>
            </a:r>
          </a:p>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Character strings and date values are enclosed in single quotation marks.</a:t>
            </a:r>
          </a:p>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Character values are case sensitive and date values are format sensitive.</a:t>
            </a:r>
          </a:p>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The default date format is DD-MON-YY or mm/dd/</a:t>
            </a:r>
            <a:r>
              <a:rPr lang="en-US" altLang="en-US" sz="2400" dirty="0" err="1">
                <a:latin typeface="Cambria" panose="02040503050406030204" pitchFamily="18" charset="0"/>
                <a:ea typeface="Cambria" panose="02040503050406030204" pitchFamily="18" charset="0"/>
                <a:cs typeface="Calibri" panose="020F0502020204030204" pitchFamily="34" charset="0"/>
              </a:rPr>
              <a:t>yyyy</a:t>
            </a:r>
            <a:r>
              <a:rPr lang="en-US" altLang="en-US" sz="2400" dirty="0">
                <a:latin typeface="Cambria" panose="02040503050406030204" pitchFamily="18" charset="0"/>
                <a:ea typeface="Cambria" panose="02040503050406030204" pitchFamily="18" charset="0"/>
                <a:cs typeface="Calibri" panose="020F0502020204030204" pitchFamily="34" charset="0"/>
              </a:rPr>
              <a:t>.</a:t>
            </a: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3" name="Footer Placeholder 2">
            <a:extLst>
              <a:ext uri="{FF2B5EF4-FFF2-40B4-BE49-F238E27FC236}">
                <a16:creationId xmlns:a16="http://schemas.microsoft.com/office/drawing/2014/main" id="{57930DB6-28B3-8B2F-E873-CB67BEEFCB04}"/>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7DF2036A-035F-B920-4CA7-D6292A5FA8CA}"/>
              </a:ext>
            </a:extLst>
          </p:cNvPr>
          <p:cNvSpPr>
            <a:spLocks noGrp="1"/>
          </p:cNvSpPr>
          <p:nvPr>
            <p:ph type="sldNum" sz="quarter" idx="12"/>
          </p:nvPr>
        </p:nvSpPr>
        <p:spPr>
          <a:xfrm>
            <a:off x="8603804" y="6166335"/>
            <a:ext cx="356469"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14" name="Rectangle 2">
            <a:extLst>
              <a:ext uri="{FF2B5EF4-FFF2-40B4-BE49-F238E27FC236}">
                <a16:creationId xmlns:a16="http://schemas.microsoft.com/office/drawing/2014/main" id="{5D2B7492-62FE-500C-D79C-00A701FBF05C}"/>
              </a:ext>
            </a:extLst>
          </p:cNvPr>
          <p:cNvSpPr>
            <a:spLocks noChangeArrowheads="1"/>
          </p:cNvSpPr>
          <p:nvPr/>
        </p:nvSpPr>
        <p:spPr bwMode="blackWhite">
          <a:xfrm>
            <a:off x="985837" y="1857524"/>
            <a:ext cx="7197725" cy="97790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15" name="Rectangle 5">
            <a:extLst>
              <a:ext uri="{FF2B5EF4-FFF2-40B4-BE49-F238E27FC236}">
                <a16:creationId xmlns:a16="http://schemas.microsoft.com/office/drawing/2014/main" id="{CB2ABC73-D95F-D68D-8CD0-8E0120E23F33}"/>
              </a:ext>
            </a:extLst>
          </p:cNvPr>
          <p:cNvSpPr>
            <a:spLocks noChangeArrowheads="1"/>
          </p:cNvSpPr>
          <p:nvPr/>
        </p:nvSpPr>
        <p:spPr bwMode="ltGray">
          <a:xfrm>
            <a:off x="1052512" y="2511574"/>
            <a:ext cx="3709987" cy="260350"/>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6" name="Rectangle 6">
            <a:extLst>
              <a:ext uri="{FF2B5EF4-FFF2-40B4-BE49-F238E27FC236}">
                <a16:creationId xmlns:a16="http://schemas.microsoft.com/office/drawing/2014/main" id="{B616236B-3F35-391E-121F-F8BE0B7297C4}"/>
              </a:ext>
            </a:extLst>
          </p:cNvPr>
          <p:cNvSpPr>
            <a:spLocks noChangeArrowheads="1"/>
          </p:cNvSpPr>
          <p:nvPr/>
        </p:nvSpPr>
        <p:spPr bwMode="blackWhite">
          <a:xfrm>
            <a:off x="960437" y="1844824"/>
            <a:ext cx="7223125" cy="100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SELECT		[DISTINCT] {*| </a:t>
            </a:r>
            <a:r>
              <a:rPr lang="en-US" altLang="en-US" sz="1800" b="1" i="1" dirty="0">
                <a:solidFill>
                  <a:srgbClr val="000000"/>
                </a:solidFill>
                <a:latin typeface="Courier New" panose="02070309020205020404" pitchFamily="49" charset="0"/>
              </a:rPr>
              <a:t>column </a:t>
            </a:r>
            <a:r>
              <a:rPr lang="en-US" altLang="en-US" sz="1800" b="1" dirty="0">
                <a:solidFill>
                  <a:srgbClr val="000000"/>
                </a:solidFill>
                <a:latin typeface="Courier New" panose="02070309020205020404" pitchFamily="49" charset="0"/>
              </a:rPr>
              <a:t>[</a:t>
            </a:r>
            <a:r>
              <a:rPr lang="en-US" altLang="en-US" sz="1800" b="1" i="1" dirty="0">
                <a:solidFill>
                  <a:srgbClr val="000000"/>
                </a:solidFill>
                <a:latin typeface="Courier New" panose="02070309020205020404" pitchFamily="49" charset="0"/>
              </a:rPr>
              <a:t>alias</a:t>
            </a:r>
            <a:r>
              <a:rPr lang="en-US" altLang="en-US" sz="1800" b="1" dirty="0">
                <a:solidFill>
                  <a:srgbClr val="000000"/>
                </a:solidFill>
                <a:latin typeface="Courier New" panose="02070309020205020404" pitchFamily="49" charset="0"/>
              </a:rPr>
              <a:t>], ...}</a:t>
            </a:r>
          </a:p>
          <a:p>
            <a:pPr>
              <a:spcBef>
                <a:spcPct val="0"/>
              </a:spcBef>
              <a:buFontTx/>
              <a:buNone/>
            </a:pPr>
            <a:r>
              <a:rPr lang="en-US" altLang="en-US" sz="1800" b="1" dirty="0">
                <a:solidFill>
                  <a:srgbClr val="000000"/>
                </a:solidFill>
                <a:latin typeface="Courier New" panose="02070309020205020404" pitchFamily="49" charset="0"/>
              </a:rPr>
              <a:t>FROM 		</a:t>
            </a:r>
            <a:r>
              <a:rPr lang="en-US" altLang="en-US" sz="1800" b="1" i="1" dirty="0">
                <a:solidFill>
                  <a:srgbClr val="000000"/>
                </a:solidFill>
                <a:latin typeface="Courier New" panose="02070309020205020404" pitchFamily="49" charset="0"/>
              </a:rPr>
              <a:t>table</a:t>
            </a: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[WHERE		</a:t>
            </a:r>
            <a:r>
              <a:rPr lang="en-US" altLang="en-US" sz="1800" b="1" i="1" dirty="0">
                <a:solidFill>
                  <a:srgbClr val="000000"/>
                </a:solidFill>
                <a:latin typeface="Courier New" panose="02070309020205020404" pitchFamily="49" charset="0"/>
              </a:rPr>
              <a:t>condition(s)</a:t>
            </a:r>
            <a:r>
              <a:rPr lang="en-US" altLang="en-US" sz="1800" b="1" dirty="0">
                <a:solidFill>
                  <a:srgbClr val="000000"/>
                </a:solidFill>
                <a:latin typeface="Courier New" panose="02070309020205020404" pitchFamily="49" charset="0"/>
              </a:rPr>
              <a:t>];</a:t>
            </a:r>
          </a:p>
        </p:txBody>
      </p:sp>
    </p:spTree>
  </p:cSld>
  <p:clrMapOvr>
    <a:overrideClrMapping bg1="lt1" tx1="dk1" bg2="lt2" tx2="dk2" accent1="accent1" accent2="accent2" accent3="accent3" accent4="accent4" accent5="accent5" accent6="accent6" hlink="hlink" folHlink="folHlink"/>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DD7AA-DF70-293E-0D0B-5C13248BF837}"/>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BF3819B8-D164-03DA-14CC-FED40411112B}"/>
              </a:ext>
            </a:extLst>
          </p:cNvPr>
          <p:cNvSpPr>
            <a:spLocks noGrp="1" noChangeArrowheads="1"/>
          </p:cNvSpPr>
          <p:nvPr>
            <p:ph type="title"/>
          </p:nvPr>
        </p:nvSpPr>
        <p:spPr>
          <a:xfrm>
            <a:off x="323850" y="23130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Limiting Rows Using a Selection</a:t>
            </a:r>
          </a:p>
        </p:txBody>
      </p:sp>
      <p:sp>
        <p:nvSpPr>
          <p:cNvPr id="38915" name="Rectangle 3">
            <a:extLst>
              <a:ext uri="{FF2B5EF4-FFF2-40B4-BE49-F238E27FC236}">
                <a16:creationId xmlns:a16="http://schemas.microsoft.com/office/drawing/2014/main" id="{E3913106-05ED-82F5-EFDA-16F102281E01}"/>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3" name="Footer Placeholder 2">
            <a:extLst>
              <a:ext uri="{FF2B5EF4-FFF2-40B4-BE49-F238E27FC236}">
                <a16:creationId xmlns:a16="http://schemas.microsoft.com/office/drawing/2014/main" id="{7B909EF5-7712-2A84-D2AE-D80D8BD3D0EC}"/>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D0B270CA-BA31-6863-526B-2C55140791FC}"/>
              </a:ext>
            </a:extLst>
          </p:cNvPr>
          <p:cNvSpPr>
            <a:spLocks noGrp="1"/>
          </p:cNvSpPr>
          <p:nvPr>
            <p:ph type="sldNum" sz="quarter" idx="12"/>
          </p:nvPr>
        </p:nvSpPr>
        <p:spPr>
          <a:xfrm>
            <a:off x="8603804" y="6166335"/>
            <a:ext cx="356469"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11" name="Rectangle 4">
            <a:extLst>
              <a:ext uri="{FF2B5EF4-FFF2-40B4-BE49-F238E27FC236}">
                <a16:creationId xmlns:a16="http://schemas.microsoft.com/office/drawing/2014/main" id="{D9C48CBE-C971-C0D3-19C6-903A6387BF16}"/>
              </a:ext>
            </a:extLst>
          </p:cNvPr>
          <p:cNvSpPr>
            <a:spLocks noChangeArrowheads="1"/>
          </p:cNvSpPr>
          <p:nvPr/>
        </p:nvSpPr>
        <p:spPr bwMode="blackWhite">
          <a:xfrm>
            <a:off x="1245383" y="1556792"/>
            <a:ext cx="6264696" cy="91598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ename, job, deptno</a:t>
            </a:r>
          </a:p>
          <a:p>
            <a:pPr>
              <a:spcBef>
                <a:spcPct val="0"/>
              </a:spcBef>
              <a:buFontTx/>
              <a:buNone/>
            </a:pPr>
            <a:r>
              <a:rPr lang="en-US" altLang="en-US" sz="1800" b="1">
                <a:solidFill>
                  <a:srgbClr val="000000"/>
                </a:solidFill>
                <a:latin typeface="Courier New" panose="02070309020205020404" pitchFamily="49" charset="0"/>
              </a:rPr>
              <a:t>  2  FROM 	emp</a:t>
            </a:r>
          </a:p>
          <a:p>
            <a:pPr>
              <a:spcBef>
                <a:spcPct val="0"/>
              </a:spcBef>
              <a:buFontTx/>
              <a:buNone/>
            </a:pPr>
            <a:r>
              <a:rPr lang="en-US" altLang="en-US" sz="1800" b="1">
                <a:solidFill>
                  <a:srgbClr val="000000"/>
                </a:solidFill>
                <a:latin typeface="Courier New" panose="02070309020205020404" pitchFamily="49" charset="0"/>
              </a:rPr>
              <a:t>  3  WHERE	ename = 'JAMES';</a:t>
            </a:r>
          </a:p>
        </p:txBody>
      </p:sp>
      <p:sp>
        <p:nvSpPr>
          <p:cNvPr id="12" name="Rectangle 4">
            <a:extLst>
              <a:ext uri="{FF2B5EF4-FFF2-40B4-BE49-F238E27FC236}">
                <a16:creationId xmlns:a16="http://schemas.microsoft.com/office/drawing/2014/main" id="{EABDD693-746C-8526-0AB2-E5152A51783D}"/>
              </a:ext>
            </a:extLst>
          </p:cNvPr>
          <p:cNvSpPr>
            <a:spLocks noChangeArrowheads="1"/>
          </p:cNvSpPr>
          <p:nvPr/>
        </p:nvSpPr>
        <p:spPr bwMode="blackWhite">
          <a:xfrm>
            <a:off x="1245383" y="2652309"/>
            <a:ext cx="6264696" cy="91598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SQL&gt; SELECT	</a:t>
            </a:r>
            <a:r>
              <a:rPr lang="en-US" altLang="en-US" sz="1800" b="1" dirty="0" err="1">
                <a:solidFill>
                  <a:srgbClr val="000000"/>
                </a:solidFill>
                <a:latin typeface="Courier New" panose="02070309020205020404" pitchFamily="49" charset="0"/>
              </a:rPr>
              <a:t>ename</a:t>
            </a:r>
            <a:r>
              <a:rPr lang="en-US" altLang="en-US" sz="1800" b="1" dirty="0">
                <a:solidFill>
                  <a:srgbClr val="000000"/>
                </a:solidFill>
                <a:latin typeface="Courier New" panose="02070309020205020404" pitchFamily="49" charset="0"/>
              </a:rPr>
              <a:t>, job, </a:t>
            </a:r>
            <a:r>
              <a:rPr lang="en-US" altLang="en-US" sz="1800" b="1" dirty="0" err="1">
                <a:solidFill>
                  <a:srgbClr val="000000"/>
                </a:solidFill>
                <a:latin typeface="Courier New" panose="02070309020205020404" pitchFamily="49" charset="0"/>
              </a:rPr>
              <a:t>deptno</a:t>
            </a: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  2  FROM 	emp</a:t>
            </a:r>
          </a:p>
          <a:p>
            <a:pPr>
              <a:spcBef>
                <a:spcPct val="0"/>
              </a:spcBef>
              <a:buFontTx/>
              <a:buNone/>
            </a:pPr>
            <a:r>
              <a:rPr lang="en-US" altLang="en-US" sz="1800" b="1" dirty="0">
                <a:solidFill>
                  <a:srgbClr val="000000"/>
                </a:solidFill>
                <a:latin typeface="Courier New" panose="02070309020205020404" pitchFamily="49" charset="0"/>
              </a:rPr>
              <a:t>  3  WHERE	</a:t>
            </a:r>
            <a:r>
              <a:rPr lang="en-US" altLang="en-US" sz="1800" b="1" dirty="0" err="1">
                <a:solidFill>
                  <a:srgbClr val="000000"/>
                </a:solidFill>
                <a:latin typeface="Courier New" panose="02070309020205020404" pitchFamily="49" charset="0"/>
              </a:rPr>
              <a:t>hiredate</a:t>
            </a:r>
            <a:r>
              <a:rPr lang="en-US" altLang="en-US" sz="1800" b="1" dirty="0">
                <a:solidFill>
                  <a:srgbClr val="000000"/>
                </a:solidFill>
                <a:latin typeface="Courier New" panose="02070309020205020404" pitchFamily="49" charset="0"/>
              </a:rPr>
              <a:t> = '01-JAN-25';</a:t>
            </a:r>
          </a:p>
        </p:txBody>
      </p:sp>
      <p:sp>
        <p:nvSpPr>
          <p:cNvPr id="4" name="Rectangle 4">
            <a:extLst>
              <a:ext uri="{FF2B5EF4-FFF2-40B4-BE49-F238E27FC236}">
                <a16:creationId xmlns:a16="http://schemas.microsoft.com/office/drawing/2014/main" id="{7FEBA14F-23D1-2C1C-7188-2B85DD2469B0}"/>
              </a:ext>
            </a:extLst>
          </p:cNvPr>
          <p:cNvSpPr>
            <a:spLocks noChangeArrowheads="1"/>
          </p:cNvSpPr>
          <p:nvPr/>
        </p:nvSpPr>
        <p:spPr bwMode="blackWhite">
          <a:xfrm>
            <a:off x="1259632" y="811478"/>
            <a:ext cx="6264696" cy="60129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SELECT	* FROM emp</a:t>
            </a:r>
          </a:p>
          <a:p>
            <a:pPr>
              <a:spcBef>
                <a:spcPct val="0"/>
              </a:spcBef>
              <a:buFontTx/>
              <a:buNone/>
            </a:pPr>
            <a:r>
              <a:rPr lang="en-US" altLang="en-US" sz="1800" b="1" dirty="0">
                <a:solidFill>
                  <a:srgbClr val="000000"/>
                </a:solidFill>
                <a:latin typeface="Courier New" panose="02070309020205020404" pitchFamily="49" charset="0"/>
              </a:rPr>
              <a:t>WHERE	</a:t>
            </a:r>
            <a:r>
              <a:rPr lang="en-US" altLang="en-US" sz="1800" b="1" dirty="0" err="1">
                <a:solidFill>
                  <a:srgbClr val="000000"/>
                </a:solidFill>
                <a:latin typeface="Courier New" panose="02070309020205020404" pitchFamily="49" charset="0"/>
              </a:rPr>
              <a:t>empno</a:t>
            </a:r>
            <a:r>
              <a:rPr lang="en-US" altLang="en-US" sz="1800" b="1" dirty="0">
                <a:solidFill>
                  <a:srgbClr val="000000"/>
                </a:solidFill>
                <a:latin typeface="Courier New" panose="02070309020205020404" pitchFamily="49" charset="0"/>
              </a:rPr>
              <a:t> = 7369;</a:t>
            </a:r>
          </a:p>
        </p:txBody>
      </p:sp>
      <p:sp>
        <p:nvSpPr>
          <p:cNvPr id="5" name="Rectangle 4">
            <a:extLst>
              <a:ext uri="{FF2B5EF4-FFF2-40B4-BE49-F238E27FC236}">
                <a16:creationId xmlns:a16="http://schemas.microsoft.com/office/drawing/2014/main" id="{0442A2E0-9980-3AC8-2763-CF7E75913CD5}"/>
              </a:ext>
            </a:extLst>
          </p:cNvPr>
          <p:cNvSpPr>
            <a:spLocks noChangeArrowheads="1"/>
          </p:cNvSpPr>
          <p:nvPr/>
        </p:nvSpPr>
        <p:spPr bwMode="blackWhite">
          <a:xfrm>
            <a:off x="1269047" y="3725442"/>
            <a:ext cx="6264696" cy="60129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SELECT	* FROM emp</a:t>
            </a:r>
          </a:p>
          <a:p>
            <a:pPr>
              <a:spcBef>
                <a:spcPct val="0"/>
              </a:spcBef>
              <a:buFontTx/>
              <a:buNone/>
            </a:pPr>
            <a:r>
              <a:rPr lang="en-US" altLang="en-US" sz="1800" b="1" dirty="0">
                <a:solidFill>
                  <a:srgbClr val="000000"/>
                </a:solidFill>
                <a:latin typeface="Courier New" panose="02070309020205020404" pitchFamily="49" charset="0"/>
              </a:rPr>
              <a:t>WHERE	job = 'CLERK';</a:t>
            </a:r>
          </a:p>
        </p:txBody>
      </p:sp>
      <p:sp>
        <p:nvSpPr>
          <p:cNvPr id="6" name="Rectangle 4">
            <a:extLst>
              <a:ext uri="{FF2B5EF4-FFF2-40B4-BE49-F238E27FC236}">
                <a16:creationId xmlns:a16="http://schemas.microsoft.com/office/drawing/2014/main" id="{A4F3D899-D5B2-ADA5-206E-208D3C0CDCBB}"/>
              </a:ext>
            </a:extLst>
          </p:cNvPr>
          <p:cNvSpPr>
            <a:spLocks noChangeArrowheads="1"/>
          </p:cNvSpPr>
          <p:nvPr/>
        </p:nvSpPr>
        <p:spPr bwMode="blackWhite">
          <a:xfrm>
            <a:off x="1263220" y="4483885"/>
            <a:ext cx="6264696" cy="60129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SELECT	* FROM emp</a:t>
            </a:r>
          </a:p>
          <a:p>
            <a:pPr>
              <a:spcBef>
                <a:spcPct val="0"/>
              </a:spcBef>
              <a:buFontTx/>
              <a:buNone/>
            </a:pPr>
            <a:r>
              <a:rPr lang="en-US" altLang="en-US" sz="1800" b="1" dirty="0">
                <a:solidFill>
                  <a:srgbClr val="000000"/>
                </a:solidFill>
                <a:latin typeface="Courier New" panose="02070309020205020404" pitchFamily="49" charset="0"/>
              </a:rPr>
              <a:t>WHERE	</a:t>
            </a:r>
            <a:r>
              <a:rPr lang="en-US" altLang="en-US" sz="1800" b="1" dirty="0" err="1">
                <a:solidFill>
                  <a:srgbClr val="000000"/>
                </a:solidFill>
                <a:latin typeface="Courier New" panose="02070309020205020404" pitchFamily="49" charset="0"/>
              </a:rPr>
              <a:t>deptno</a:t>
            </a:r>
            <a:r>
              <a:rPr lang="en-US" altLang="en-US" sz="1800" b="1" dirty="0">
                <a:solidFill>
                  <a:srgbClr val="000000"/>
                </a:solidFill>
                <a:latin typeface="Courier New" panose="02070309020205020404" pitchFamily="49" charset="0"/>
              </a:rPr>
              <a:t> != 10;</a:t>
            </a:r>
          </a:p>
        </p:txBody>
      </p:sp>
      <p:sp>
        <p:nvSpPr>
          <p:cNvPr id="7" name="Rectangle 4">
            <a:extLst>
              <a:ext uri="{FF2B5EF4-FFF2-40B4-BE49-F238E27FC236}">
                <a16:creationId xmlns:a16="http://schemas.microsoft.com/office/drawing/2014/main" id="{29135B2F-A8B5-C3E7-3869-6C131D25518F}"/>
              </a:ext>
            </a:extLst>
          </p:cNvPr>
          <p:cNvSpPr>
            <a:spLocks noChangeArrowheads="1"/>
          </p:cNvSpPr>
          <p:nvPr/>
        </p:nvSpPr>
        <p:spPr bwMode="blackWhite">
          <a:xfrm>
            <a:off x="1259632" y="5238422"/>
            <a:ext cx="6264696" cy="60129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SELECT	* FROM emp</a:t>
            </a:r>
          </a:p>
          <a:p>
            <a:pPr>
              <a:spcBef>
                <a:spcPct val="0"/>
              </a:spcBef>
              <a:buFontTx/>
              <a:buNone/>
            </a:pPr>
            <a:r>
              <a:rPr lang="en-US" altLang="en-US" sz="1800" b="1" dirty="0">
                <a:solidFill>
                  <a:srgbClr val="000000"/>
                </a:solidFill>
                <a:latin typeface="Courier New" panose="02070309020205020404" pitchFamily="49" charset="0"/>
              </a:rPr>
              <a:t>WHERE	</a:t>
            </a:r>
            <a:r>
              <a:rPr lang="en-US" altLang="en-US" sz="1800" b="1" dirty="0" err="1">
                <a:solidFill>
                  <a:srgbClr val="000000"/>
                </a:solidFill>
                <a:latin typeface="Courier New" panose="02070309020205020404" pitchFamily="49" charset="0"/>
              </a:rPr>
              <a:t>sal</a:t>
            </a:r>
            <a:r>
              <a:rPr lang="en-US" altLang="en-US" sz="1800" b="1" dirty="0">
                <a:solidFill>
                  <a:srgbClr val="000000"/>
                </a:solidFill>
                <a:latin typeface="Courier New" panose="02070309020205020404" pitchFamily="49" charset="0"/>
              </a:rPr>
              <a:t> &lt;= 1500;</a:t>
            </a:r>
          </a:p>
        </p:txBody>
      </p:sp>
    </p:spTree>
    <p:extLst>
      <p:ext uri="{BB962C8B-B14F-4D97-AF65-F5344CB8AC3E}">
        <p14:creationId xmlns:p14="http://schemas.microsoft.com/office/powerpoint/2010/main" val="1730183229"/>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95567-2E33-BBA5-E883-EAAD38C695D8}"/>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FDEE7CD5-73AE-10DC-9037-3DCD656606CD}"/>
              </a:ext>
            </a:extLst>
          </p:cNvPr>
          <p:cNvSpPr>
            <a:spLocks noGrp="1" noChangeArrowheads="1"/>
          </p:cNvSpPr>
          <p:nvPr>
            <p:ph type="title"/>
          </p:nvPr>
        </p:nvSpPr>
        <p:spPr>
          <a:xfrm>
            <a:off x="323850" y="231304"/>
            <a:ext cx="5486400" cy="533400"/>
          </a:xfrm>
        </p:spPr>
        <p:txBody>
          <a:bodyPr/>
          <a:lstStyle/>
          <a:p>
            <a:pPr eaLnBrk="1" hangingPunct="1"/>
            <a:r>
              <a:rPr lang="en-US" altLang="en-US" sz="2800" b="1" u="sng" dirty="0">
                <a:solidFill>
                  <a:srgbClr val="D34817"/>
                </a:solidFill>
                <a:latin typeface="Cambria" panose="02040503050406030204" pitchFamily="18" charset="0"/>
                <a:ea typeface="Cambria" panose="02040503050406030204" pitchFamily="18" charset="0"/>
              </a:rPr>
              <a:t>Objectives</a:t>
            </a:r>
          </a:p>
        </p:txBody>
      </p:sp>
      <p:sp>
        <p:nvSpPr>
          <p:cNvPr id="38915" name="Rectangle 3">
            <a:extLst>
              <a:ext uri="{FF2B5EF4-FFF2-40B4-BE49-F238E27FC236}">
                <a16:creationId xmlns:a16="http://schemas.microsoft.com/office/drawing/2014/main" id="{D6D25E39-51A2-37A8-5237-620D2621B7F9}"/>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Restrict the rows returned by using the WHERE clause.</a:t>
            </a: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The WHERE clause follows the FROM clause.</a:t>
            </a:r>
          </a:p>
          <a:p>
            <a:pPr marL="228600" indent="-228600" eaLnBrk="1" hangingPunct="1"/>
            <a:endParaRPr lang="en-US" altLang="en-US" dirty="0"/>
          </a:p>
        </p:txBody>
      </p:sp>
      <p:sp>
        <p:nvSpPr>
          <p:cNvPr id="3" name="Footer Placeholder 2">
            <a:extLst>
              <a:ext uri="{FF2B5EF4-FFF2-40B4-BE49-F238E27FC236}">
                <a16:creationId xmlns:a16="http://schemas.microsoft.com/office/drawing/2014/main" id="{67FC8E4D-FB5D-DFD9-B567-610717CA8E82}"/>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B3AA32B4-30BE-9AEE-6497-18F1E0930C53}"/>
              </a:ext>
            </a:extLst>
          </p:cNvPr>
          <p:cNvSpPr>
            <a:spLocks noGrp="1"/>
          </p:cNvSpPr>
          <p:nvPr>
            <p:ph type="sldNum" sz="quarter" idx="12"/>
          </p:nvPr>
        </p:nvSpPr>
        <p:spPr>
          <a:xfrm>
            <a:off x="8459788" y="616585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2">
            <a:extLst>
              <a:ext uri="{FF2B5EF4-FFF2-40B4-BE49-F238E27FC236}">
                <a16:creationId xmlns:a16="http://schemas.microsoft.com/office/drawing/2014/main" id="{99060396-7468-2B4B-3AAA-8F62729F362E}"/>
              </a:ext>
            </a:extLst>
          </p:cNvPr>
          <p:cNvSpPr>
            <a:spLocks noChangeArrowheads="1"/>
          </p:cNvSpPr>
          <p:nvPr/>
        </p:nvSpPr>
        <p:spPr bwMode="blackWhite">
          <a:xfrm>
            <a:off x="780976" y="1365936"/>
            <a:ext cx="7197725" cy="97790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5" name="Rectangle 5">
            <a:extLst>
              <a:ext uri="{FF2B5EF4-FFF2-40B4-BE49-F238E27FC236}">
                <a16:creationId xmlns:a16="http://schemas.microsoft.com/office/drawing/2014/main" id="{D74BBB4A-F4BE-594B-8890-A95E5601925B}"/>
              </a:ext>
            </a:extLst>
          </p:cNvPr>
          <p:cNvSpPr>
            <a:spLocks noChangeArrowheads="1"/>
          </p:cNvSpPr>
          <p:nvPr/>
        </p:nvSpPr>
        <p:spPr bwMode="ltGray">
          <a:xfrm>
            <a:off x="847651" y="2019986"/>
            <a:ext cx="3709987" cy="260350"/>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6" name="Rectangle 6">
            <a:extLst>
              <a:ext uri="{FF2B5EF4-FFF2-40B4-BE49-F238E27FC236}">
                <a16:creationId xmlns:a16="http://schemas.microsoft.com/office/drawing/2014/main" id="{A649C0AD-A984-8C78-32C3-35D51CA9285D}"/>
              </a:ext>
            </a:extLst>
          </p:cNvPr>
          <p:cNvSpPr>
            <a:spLocks noChangeArrowheads="1"/>
          </p:cNvSpPr>
          <p:nvPr/>
        </p:nvSpPr>
        <p:spPr bwMode="blackWhite">
          <a:xfrm>
            <a:off x="755576" y="1353236"/>
            <a:ext cx="7223125" cy="100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SELECT		[DISTINCT] {*| </a:t>
            </a:r>
            <a:r>
              <a:rPr lang="en-US" altLang="en-US" sz="1800" b="1" i="1" dirty="0">
                <a:solidFill>
                  <a:srgbClr val="000000"/>
                </a:solidFill>
                <a:latin typeface="Courier New" panose="02070309020205020404" pitchFamily="49" charset="0"/>
              </a:rPr>
              <a:t>column </a:t>
            </a:r>
            <a:r>
              <a:rPr lang="en-US" altLang="en-US" sz="1800" b="1" dirty="0">
                <a:solidFill>
                  <a:srgbClr val="000000"/>
                </a:solidFill>
                <a:latin typeface="Courier New" panose="02070309020205020404" pitchFamily="49" charset="0"/>
              </a:rPr>
              <a:t>[</a:t>
            </a:r>
            <a:r>
              <a:rPr lang="en-US" altLang="en-US" sz="1800" b="1" i="1" dirty="0">
                <a:solidFill>
                  <a:srgbClr val="000000"/>
                </a:solidFill>
                <a:latin typeface="Courier New" panose="02070309020205020404" pitchFamily="49" charset="0"/>
              </a:rPr>
              <a:t>alias</a:t>
            </a:r>
            <a:r>
              <a:rPr lang="en-US" altLang="en-US" sz="1800" b="1" dirty="0">
                <a:solidFill>
                  <a:srgbClr val="000000"/>
                </a:solidFill>
                <a:latin typeface="Courier New" panose="02070309020205020404" pitchFamily="49" charset="0"/>
              </a:rPr>
              <a:t>], ...}</a:t>
            </a:r>
          </a:p>
          <a:p>
            <a:pPr>
              <a:spcBef>
                <a:spcPct val="0"/>
              </a:spcBef>
              <a:buFontTx/>
              <a:buNone/>
            </a:pPr>
            <a:r>
              <a:rPr lang="en-US" altLang="en-US" sz="1800" b="1" dirty="0">
                <a:solidFill>
                  <a:srgbClr val="000000"/>
                </a:solidFill>
                <a:latin typeface="Courier New" panose="02070309020205020404" pitchFamily="49" charset="0"/>
              </a:rPr>
              <a:t>FROM 		</a:t>
            </a:r>
            <a:r>
              <a:rPr lang="en-US" altLang="en-US" sz="1800" b="1" i="1" dirty="0">
                <a:solidFill>
                  <a:srgbClr val="000000"/>
                </a:solidFill>
                <a:latin typeface="Courier New" panose="02070309020205020404" pitchFamily="49" charset="0"/>
              </a:rPr>
              <a:t>table</a:t>
            </a: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[WHERE		</a:t>
            </a:r>
            <a:r>
              <a:rPr lang="en-US" altLang="en-US" sz="1800" b="1" i="1" dirty="0">
                <a:solidFill>
                  <a:srgbClr val="000000"/>
                </a:solidFill>
                <a:latin typeface="Courier New" panose="02070309020205020404" pitchFamily="49" charset="0"/>
              </a:rPr>
              <a:t>condition(s)</a:t>
            </a:r>
            <a:r>
              <a:rPr lang="en-US" altLang="en-US" sz="1800" b="1" dirty="0">
                <a:solidFill>
                  <a:srgbClr val="000000"/>
                </a:solidFill>
                <a:latin typeface="Courier New" panose="02070309020205020404" pitchFamily="49" charset="0"/>
              </a:rPr>
              <a:t>];</a:t>
            </a:r>
          </a:p>
        </p:txBody>
      </p:sp>
      <p:sp>
        <p:nvSpPr>
          <p:cNvPr id="7" name="Rectangle 8">
            <a:extLst>
              <a:ext uri="{FF2B5EF4-FFF2-40B4-BE49-F238E27FC236}">
                <a16:creationId xmlns:a16="http://schemas.microsoft.com/office/drawing/2014/main" id="{45B522AB-92BF-5751-9F0D-6E41A96C9F47}"/>
              </a:ext>
            </a:extLst>
          </p:cNvPr>
          <p:cNvSpPr>
            <a:spLocks noChangeArrowheads="1"/>
          </p:cNvSpPr>
          <p:nvPr/>
        </p:nvSpPr>
        <p:spPr bwMode="blackWhite">
          <a:xfrm>
            <a:off x="765390" y="3038419"/>
            <a:ext cx="7289800" cy="91598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8" name="Rectangle 9">
            <a:extLst>
              <a:ext uri="{FF2B5EF4-FFF2-40B4-BE49-F238E27FC236}">
                <a16:creationId xmlns:a16="http://schemas.microsoft.com/office/drawing/2014/main" id="{BD790DA3-F6C4-4FB5-2FB2-BC9FAFEFC2F7}"/>
              </a:ext>
            </a:extLst>
          </p:cNvPr>
          <p:cNvSpPr>
            <a:spLocks noChangeArrowheads="1"/>
          </p:cNvSpPr>
          <p:nvPr/>
        </p:nvSpPr>
        <p:spPr bwMode="blackWhite">
          <a:xfrm>
            <a:off x="778090" y="3013019"/>
            <a:ext cx="7315200" cy="941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ename, job, deptno</a:t>
            </a:r>
          </a:p>
          <a:p>
            <a:pPr>
              <a:spcBef>
                <a:spcPct val="0"/>
              </a:spcBef>
              <a:buFontTx/>
              <a:buNone/>
            </a:pPr>
            <a:r>
              <a:rPr lang="en-US" altLang="en-US" sz="1800" b="1">
                <a:solidFill>
                  <a:srgbClr val="000000"/>
                </a:solidFill>
                <a:latin typeface="Courier New" panose="02070309020205020404" pitchFamily="49" charset="0"/>
              </a:rPr>
              <a:t>  2  FROM   emp</a:t>
            </a:r>
          </a:p>
          <a:p>
            <a:pPr>
              <a:spcBef>
                <a:spcPct val="0"/>
              </a:spcBef>
              <a:buFontTx/>
              <a:buNone/>
            </a:pPr>
            <a:r>
              <a:rPr lang="en-US" altLang="en-US" sz="1800" b="1">
                <a:solidFill>
                  <a:srgbClr val="000000"/>
                </a:solidFill>
                <a:latin typeface="Courier New" panose="02070309020205020404" pitchFamily="49" charset="0"/>
              </a:rPr>
              <a:t>  3  WHERE  job='CLERK';</a:t>
            </a:r>
          </a:p>
        </p:txBody>
      </p:sp>
    </p:spTree>
    <p:extLst>
      <p:ext uri="{BB962C8B-B14F-4D97-AF65-F5344CB8AC3E}">
        <p14:creationId xmlns:p14="http://schemas.microsoft.com/office/powerpoint/2010/main" val="408144619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7D3B9CAB-9DDC-9190-C8C0-D7D879848001}"/>
              </a:ext>
            </a:extLst>
          </p:cNvPr>
          <p:cNvSpPr>
            <a:spLocks noGrp="1" noChangeArrowheads="1"/>
          </p:cNvSpPr>
          <p:nvPr>
            <p:ph type="title"/>
          </p:nvPr>
        </p:nvSpPr>
        <p:spPr>
          <a:xfrm>
            <a:off x="323850" y="660400"/>
            <a:ext cx="3130550" cy="53657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Logical Operators</a:t>
            </a:r>
          </a:p>
        </p:txBody>
      </p:sp>
      <p:sp>
        <p:nvSpPr>
          <p:cNvPr id="15363" name="Rectangle 3">
            <a:extLst>
              <a:ext uri="{FF2B5EF4-FFF2-40B4-BE49-F238E27FC236}">
                <a16:creationId xmlns:a16="http://schemas.microsoft.com/office/drawing/2014/main" id="{77E4340A-44D1-EB47-DDEE-5F94595420AD}"/>
              </a:ext>
            </a:extLst>
          </p:cNvPr>
          <p:cNvSpPr>
            <a:spLocks noChangeArrowheads="1"/>
          </p:cNvSpPr>
          <p:nvPr/>
        </p:nvSpPr>
        <p:spPr bwMode="blackWhite">
          <a:xfrm>
            <a:off x="1473200" y="1897063"/>
            <a:ext cx="1758950" cy="2871787"/>
          </a:xfrm>
          <a:prstGeom prst="rect">
            <a:avLst/>
          </a:prstGeom>
          <a:solidFill>
            <a:srgbClr val="FF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30000"/>
              </a:lnSpc>
              <a:spcBef>
                <a:spcPct val="60000"/>
              </a:spcBef>
              <a:buFontTx/>
              <a:buNone/>
            </a:pPr>
            <a:r>
              <a:rPr lang="en-US" altLang="en-US" sz="1800" b="1">
                <a:solidFill>
                  <a:srgbClr val="000000"/>
                </a:solidFill>
              </a:rPr>
              <a:t>Operator</a:t>
            </a:r>
          </a:p>
          <a:p>
            <a:pPr>
              <a:lnSpc>
                <a:spcPct val="130000"/>
              </a:lnSpc>
              <a:spcBef>
                <a:spcPct val="60000"/>
              </a:spcBef>
              <a:buFontTx/>
              <a:buNone/>
            </a:pPr>
            <a:r>
              <a:rPr lang="en-US" altLang="en-US" sz="1800" b="1">
                <a:solidFill>
                  <a:srgbClr val="000000"/>
                </a:solidFill>
              </a:rPr>
              <a:t>AND</a:t>
            </a:r>
            <a:br>
              <a:rPr lang="en-US" altLang="en-US" sz="1800" b="1">
                <a:solidFill>
                  <a:srgbClr val="000000"/>
                </a:solidFill>
              </a:rPr>
            </a:br>
            <a:br>
              <a:rPr lang="en-US" altLang="en-US" sz="1800" b="1">
                <a:solidFill>
                  <a:srgbClr val="000000"/>
                </a:solidFill>
              </a:rPr>
            </a:br>
            <a:r>
              <a:rPr lang="en-US" altLang="en-US" sz="1800" b="1">
                <a:solidFill>
                  <a:srgbClr val="000000"/>
                </a:solidFill>
              </a:rPr>
              <a:t>OR</a:t>
            </a:r>
          </a:p>
          <a:p>
            <a:pPr>
              <a:lnSpc>
                <a:spcPct val="130000"/>
              </a:lnSpc>
              <a:spcBef>
                <a:spcPct val="60000"/>
              </a:spcBef>
              <a:buFontTx/>
              <a:buNone/>
            </a:pPr>
            <a:br>
              <a:rPr lang="en-US" altLang="en-US" sz="1800" b="1">
                <a:solidFill>
                  <a:srgbClr val="000000"/>
                </a:solidFill>
              </a:rPr>
            </a:br>
            <a:r>
              <a:rPr lang="en-US" altLang="en-US" sz="1800" b="1">
                <a:solidFill>
                  <a:srgbClr val="000000"/>
                </a:solidFill>
              </a:rPr>
              <a:t>NOT</a:t>
            </a:r>
          </a:p>
        </p:txBody>
      </p:sp>
      <p:sp>
        <p:nvSpPr>
          <p:cNvPr id="15364" name="Rectangle 4">
            <a:extLst>
              <a:ext uri="{FF2B5EF4-FFF2-40B4-BE49-F238E27FC236}">
                <a16:creationId xmlns:a16="http://schemas.microsoft.com/office/drawing/2014/main" id="{7E28385C-4DC6-80CA-C02E-2BAF2C728549}"/>
              </a:ext>
            </a:extLst>
          </p:cNvPr>
          <p:cNvSpPr>
            <a:spLocks noChangeArrowheads="1"/>
          </p:cNvSpPr>
          <p:nvPr/>
        </p:nvSpPr>
        <p:spPr bwMode="blackWhite">
          <a:xfrm>
            <a:off x="3213100" y="1897063"/>
            <a:ext cx="4298950" cy="2867025"/>
          </a:xfrm>
          <a:prstGeom prst="rect">
            <a:avLst/>
          </a:prstGeom>
          <a:solidFill>
            <a:srgbClr val="FF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20000"/>
              </a:lnSpc>
              <a:spcBef>
                <a:spcPct val="60000"/>
              </a:spcBef>
              <a:buFontTx/>
              <a:buNone/>
            </a:pPr>
            <a:r>
              <a:rPr lang="en-US" altLang="en-US" sz="1800" b="1">
                <a:solidFill>
                  <a:srgbClr val="000000"/>
                </a:solidFill>
              </a:rPr>
              <a:t>Meaning</a:t>
            </a:r>
          </a:p>
          <a:p>
            <a:pPr>
              <a:lnSpc>
                <a:spcPct val="120000"/>
              </a:lnSpc>
              <a:spcBef>
                <a:spcPct val="60000"/>
              </a:spcBef>
              <a:buFontTx/>
              <a:buNone/>
            </a:pPr>
            <a:r>
              <a:rPr lang="en-US" altLang="en-US" sz="1800" b="1">
                <a:solidFill>
                  <a:srgbClr val="000000"/>
                </a:solidFill>
              </a:rPr>
              <a:t>Returns TRUE if </a:t>
            </a:r>
            <a:r>
              <a:rPr lang="en-US" altLang="en-US" sz="1800" b="1" i="1">
                <a:solidFill>
                  <a:srgbClr val="000000"/>
                </a:solidFill>
              </a:rPr>
              <a:t>both </a:t>
            </a:r>
            <a:r>
              <a:rPr lang="en-US" altLang="en-US" sz="1800" b="1">
                <a:solidFill>
                  <a:srgbClr val="000000"/>
                </a:solidFill>
              </a:rPr>
              <a:t>component conditions are TRUE	</a:t>
            </a:r>
          </a:p>
          <a:p>
            <a:pPr>
              <a:lnSpc>
                <a:spcPct val="120000"/>
              </a:lnSpc>
              <a:spcBef>
                <a:spcPct val="60000"/>
              </a:spcBef>
              <a:buFontTx/>
              <a:buNone/>
            </a:pPr>
            <a:r>
              <a:rPr lang="en-US" altLang="en-US" sz="1800" b="1">
                <a:solidFill>
                  <a:srgbClr val="000000"/>
                </a:solidFill>
              </a:rPr>
              <a:t>Returns TRUE if </a:t>
            </a:r>
            <a:r>
              <a:rPr lang="en-US" altLang="en-US" sz="1800" b="1" i="1">
                <a:solidFill>
                  <a:srgbClr val="000000"/>
                </a:solidFill>
              </a:rPr>
              <a:t>either </a:t>
            </a:r>
            <a:r>
              <a:rPr lang="en-US" altLang="en-US" sz="1800" b="1">
                <a:solidFill>
                  <a:srgbClr val="000000"/>
                </a:solidFill>
              </a:rPr>
              <a:t>component condition is TRUE</a:t>
            </a:r>
          </a:p>
          <a:p>
            <a:pPr>
              <a:lnSpc>
                <a:spcPct val="110000"/>
              </a:lnSpc>
              <a:spcBef>
                <a:spcPct val="60000"/>
              </a:spcBef>
              <a:buFontTx/>
              <a:buNone/>
            </a:pPr>
            <a:r>
              <a:rPr lang="en-US" altLang="en-US" sz="1800" b="1">
                <a:solidFill>
                  <a:srgbClr val="000000"/>
                </a:solidFill>
              </a:rPr>
              <a:t>Returns TRUE if the following  condition is FALSE</a:t>
            </a:r>
          </a:p>
        </p:txBody>
      </p:sp>
      <p:sp>
        <p:nvSpPr>
          <p:cNvPr id="15365" name="Line 5">
            <a:extLst>
              <a:ext uri="{FF2B5EF4-FFF2-40B4-BE49-F238E27FC236}">
                <a16:creationId xmlns:a16="http://schemas.microsoft.com/office/drawing/2014/main" id="{5EC6B73A-B16E-EF78-935D-1B46C1A0114C}"/>
              </a:ext>
            </a:extLst>
          </p:cNvPr>
          <p:cNvSpPr>
            <a:spLocks noChangeShapeType="1"/>
          </p:cNvSpPr>
          <p:nvPr/>
        </p:nvSpPr>
        <p:spPr bwMode="auto">
          <a:xfrm>
            <a:off x="1471613" y="2316163"/>
            <a:ext cx="6032500" cy="7937"/>
          </a:xfrm>
          <a:prstGeom prst="line">
            <a:avLst/>
          </a:prstGeom>
          <a:noFill/>
          <a:ln w="508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66" name="Line 6">
            <a:extLst>
              <a:ext uri="{FF2B5EF4-FFF2-40B4-BE49-F238E27FC236}">
                <a16:creationId xmlns:a16="http://schemas.microsoft.com/office/drawing/2014/main" id="{98FA2B8B-3348-BE04-1796-85D2E0A8A2AE}"/>
              </a:ext>
            </a:extLst>
          </p:cNvPr>
          <p:cNvSpPr>
            <a:spLocks noChangeShapeType="1"/>
          </p:cNvSpPr>
          <p:nvPr/>
        </p:nvSpPr>
        <p:spPr bwMode="auto">
          <a:xfrm>
            <a:off x="1470025" y="3184525"/>
            <a:ext cx="6035675"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67" name="Line 7">
            <a:extLst>
              <a:ext uri="{FF2B5EF4-FFF2-40B4-BE49-F238E27FC236}">
                <a16:creationId xmlns:a16="http://schemas.microsoft.com/office/drawing/2014/main" id="{3D837EAC-45AE-B20D-FE36-4820495519D5}"/>
              </a:ext>
            </a:extLst>
          </p:cNvPr>
          <p:cNvSpPr>
            <a:spLocks noChangeShapeType="1"/>
          </p:cNvSpPr>
          <p:nvPr/>
        </p:nvSpPr>
        <p:spPr bwMode="auto">
          <a:xfrm>
            <a:off x="1470025" y="4014788"/>
            <a:ext cx="6048375"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765A8ED7-3F06-477E-AADD-EEF597E4307D}"/>
              </a:ext>
            </a:extLst>
          </p:cNvPr>
          <p:cNvSpPr>
            <a:spLocks noChangeArrowheads="1"/>
          </p:cNvSpPr>
          <p:nvPr/>
        </p:nvSpPr>
        <p:spPr bwMode="blackWhite">
          <a:xfrm>
            <a:off x="990600" y="2346325"/>
            <a:ext cx="7289800" cy="11906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17411" name="Rectangle 3">
            <a:extLst>
              <a:ext uri="{FF2B5EF4-FFF2-40B4-BE49-F238E27FC236}">
                <a16:creationId xmlns:a16="http://schemas.microsoft.com/office/drawing/2014/main" id="{DC6C1538-994E-32D9-BA0D-6DFEFE9E60CE}"/>
              </a:ext>
            </a:extLst>
          </p:cNvPr>
          <p:cNvSpPr>
            <a:spLocks noChangeArrowheads="1"/>
          </p:cNvSpPr>
          <p:nvPr/>
        </p:nvSpPr>
        <p:spPr bwMode="blackWhite">
          <a:xfrm>
            <a:off x="990600" y="3938588"/>
            <a:ext cx="7289800" cy="1190625"/>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17412" name="Rectangle 4">
            <a:extLst>
              <a:ext uri="{FF2B5EF4-FFF2-40B4-BE49-F238E27FC236}">
                <a16:creationId xmlns:a16="http://schemas.microsoft.com/office/drawing/2014/main" id="{A5184898-8F8B-375E-2D58-32A8CE8FFB81}"/>
              </a:ext>
            </a:extLst>
          </p:cNvPr>
          <p:cNvSpPr>
            <a:spLocks noGrp="1" noChangeArrowheads="1"/>
          </p:cNvSpPr>
          <p:nvPr>
            <p:ph type="title"/>
          </p:nvPr>
        </p:nvSpPr>
        <p:spPr>
          <a:xfrm>
            <a:off x="360363" y="620713"/>
            <a:ext cx="4067175" cy="53657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Using the AND Operator</a:t>
            </a:r>
          </a:p>
        </p:txBody>
      </p:sp>
      <p:sp>
        <p:nvSpPr>
          <p:cNvPr id="83973" name="Rectangle 5">
            <a:extLst>
              <a:ext uri="{FF2B5EF4-FFF2-40B4-BE49-F238E27FC236}">
                <a16:creationId xmlns:a16="http://schemas.microsoft.com/office/drawing/2014/main" id="{8DC8F857-C886-3E10-D5CC-619EF5A25B63}"/>
              </a:ext>
            </a:extLst>
          </p:cNvPr>
          <p:cNvSpPr>
            <a:spLocks noChangeArrowheads="1"/>
          </p:cNvSpPr>
          <p:nvPr/>
        </p:nvSpPr>
        <p:spPr bwMode="auto">
          <a:xfrm>
            <a:off x="936625" y="1401763"/>
            <a:ext cx="7342188" cy="498475"/>
          </a:xfrm>
          <a:prstGeom prst="rect">
            <a:avLst/>
          </a:prstGeom>
          <a:noFill/>
          <a:ln>
            <a:noFill/>
          </a:ln>
          <a:effectLst/>
        </p:spPr>
        <p:txBody>
          <a:bodyPr wrap="none" lIns="92075" tIns="46038" rIns="92075" bIns="46038">
            <a:spAutoFit/>
          </a:bodyPr>
          <a:lstStyle/>
          <a:p>
            <a:pPr defTabSz="346075">
              <a:lnSpc>
                <a:spcPct val="95000"/>
              </a:lnSpc>
              <a:spcBef>
                <a:spcPct val="35000"/>
              </a:spcBef>
              <a:tabLst>
                <a:tab pos="571500" algn="l"/>
              </a:tabLst>
              <a:defRPr/>
            </a:pPr>
            <a:r>
              <a:rPr lang="en-US" sz="2800" b="1">
                <a:effectLst>
                  <a:outerShdw blurRad="38100" dist="38100" dir="2700000" algn="tl">
                    <a:srgbClr val="FFFFFF"/>
                  </a:outerShdw>
                </a:effectLst>
                <a:latin typeface="Arial" charset="0"/>
              </a:rPr>
              <a:t>AND requires both conditions to be TRUE.</a:t>
            </a:r>
          </a:p>
        </p:txBody>
      </p:sp>
      <p:grpSp>
        <p:nvGrpSpPr>
          <p:cNvPr id="83974" name="Group 6">
            <a:extLst>
              <a:ext uri="{FF2B5EF4-FFF2-40B4-BE49-F238E27FC236}">
                <a16:creationId xmlns:a16="http://schemas.microsoft.com/office/drawing/2014/main" id="{77134F94-B478-3DF0-65A2-2FA202EC5DB0}"/>
              </a:ext>
            </a:extLst>
          </p:cNvPr>
          <p:cNvGrpSpPr>
            <a:grpSpLocks/>
          </p:cNvGrpSpPr>
          <p:nvPr/>
        </p:nvGrpSpPr>
        <p:grpSpPr bwMode="auto">
          <a:xfrm>
            <a:off x="1701800" y="2967038"/>
            <a:ext cx="4940300" cy="2138362"/>
            <a:chOff x="1072" y="1869"/>
            <a:chExt cx="3112" cy="1347"/>
          </a:xfrm>
        </p:grpSpPr>
        <p:sp>
          <p:nvSpPr>
            <p:cNvPr id="17417" name="Rectangle 7">
              <a:extLst>
                <a:ext uri="{FF2B5EF4-FFF2-40B4-BE49-F238E27FC236}">
                  <a16:creationId xmlns:a16="http://schemas.microsoft.com/office/drawing/2014/main" id="{9D2CC769-7124-C678-0936-F4C607CFE88A}"/>
                </a:ext>
              </a:extLst>
            </p:cNvPr>
            <p:cNvSpPr>
              <a:spLocks noChangeArrowheads="1"/>
            </p:cNvSpPr>
            <p:nvPr/>
          </p:nvSpPr>
          <p:spPr bwMode="ltGray">
            <a:xfrm>
              <a:off x="1072" y="1869"/>
              <a:ext cx="1616" cy="351"/>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7418" name="Rectangle 8">
              <a:extLst>
                <a:ext uri="{FF2B5EF4-FFF2-40B4-BE49-F238E27FC236}">
                  <a16:creationId xmlns:a16="http://schemas.microsoft.com/office/drawing/2014/main" id="{DDF15C98-887C-9F87-9916-AE4724AFB69C}"/>
                </a:ext>
              </a:extLst>
            </p:cNvPr>
            <p:cNvSpPr>
              <a:spLocks noChangeArrowheads="1"/>
            </p:cNvSpPr>
            <p:nvPr/>
          </p:nvSpPr>
          <p:spPr bwMode="ltGray">
            <a:xfrm>
              <a:off x="2451" y="2521"/>
              <a:ext cx="837" cy="695"/>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7419" name="Rectangle 9">
              <a:extLst>
                <a:ext uri="{FF2B5EF4-FFF2-40B4-BE49-F238E27FC236}">
                  <a16:creationId xmlns:a16="http://schemas.microsoft.com/office/drawing/2014/main" id="{831E1422-B4B2-B946-601A-86C4222CFFE3}"/>
                </a:ext>
              </a:extLst>
            </p:cNvPr>
            <p:cNvSpPr>
              <a:spLocks noChangeArrowheads="1"/>
            </p:cNvSpPr>
            <p:nvPr/>
          </p:nvSpPr>
          <p:spPr bwMode="ltGray">
            <a:xfrm>
              <a:off x="3347" y="2521"/>
              <a:ext cx="837" cy="695"/>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sp>
        <p:nvSpPr>
          <p:cNvPr id="17415" name="Rectangle 10">
            <a:extLst>
              <a:ext uri="{FF2B5EF4-FFF2-40B4-BE49-F238E27FC236}">
                <a16:creationId xmlns:a16="http://schemas.microsoft.com/office/drawing/2014/main" id="{F1FC78D0-C628-2F6A-1176-BAB98410616A}"/>
              </a:ext>
            </a:extLst>
          </p:cNvPr>
          <p:cNvSpPr>
            <a:spLocks noChangeArrowheads="1"/>
          </p:cNvSpPr>
          <p:nvPr/>
        </p:nvSpPr>
        <p:spPr bwMode="blackWhite">
          <a:xfrm>
            <a:off x="965200" y="2333625"/>
            <a:ext cx="7315200" cy="121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empno, ename, job, sal</a:t>
            </a:r>
          </a:p>
          <a:p>
            <a:pPr>
              <a:spcBef>
                <a:spcPct val="0"/>
              </a:spcBef>
              <a:buFontTx/>
              <a:buNone/>
            </a:pPr>
            <a:r>
              <a:rPr lang="en-US" altLang="en-US" sz="1800" b="1">
                <a:solidFill>
                  <a:srgbClr val="000000"/>
                </a:solidFill>
                <a:latin typeface="Courier New" panose="02070309020205020404" pitchFamily="49" charset="0"/>
              </a:rPr>
              <a:t>  2  FROM   emp</a:t>
            </a:r>
          </a:p>
          <a:p>
            <a:pPr>
              <a:spcBef>
                <a:spcPct val="0"/>
              </a:spcBef>
              <a:buFontTx/>
              <a:buNone/>
            </a:pPr>
            <a:r>
              <a:rPr lang="en-US" altLang="en-US" sz="1800" b="1">
                <a:solidFill>
                  <a:srgbClr val="000000"/>
                </a:solidFill>
                <a:latin typeface="Courier New" panose="02070309020205020404" pitchFamily="49" charset="0"/>
              </a:rPr>
              <a:t>  3  WHERE  sal&gt;=1100</a:t>
            </a:r>
          </a:p>
          <a:p>
            <a:pPr>
              <a:spcBef>
                <a:spcPct val="0"/>
              </a:spcBef>
              <a:buFontTx/>
              <a:buNone/>
            </a:pPr>
            <a:r>
              <a:rPr lang="en-US" altLang="en-US" sz="1800" b="1">
                <a:solidFill>
                  <a:srgbClr val="000000"/>
                </a:solidFill>
                <a:latin typeface="Courier New" panose="02070309020205020404" pitchFamily="49" charset="0"/>
              </a:rPr>
              <a:t>  4  AND    job='CLERK';</a:t>
            </a:r>
          </a:p>
        </p:txBody>
      </p:sp>
      <p:sp>
        <p:nvSpPr>
          <p:cNvPr id="17416" name="Rectangle 11">
            <a:extLst>
              <a:ext uri="{FF2B5EF4-FFF2-40B4-BE49-F238E27FC236}">
                <a16:creationId xmlns:a16="http://schemas.microsoft.com/office/drawing/2014/main" id="{5037AAF7-040B-5AB4-A852-64B00970C9BD}"/>
              </a:ext>
            </a:extLst>
          </p:cNvPr>
          <p:cNvSpPr>
            <a:spLocks noChangeArrowheads="1"/>
          </p:cNvSpPr>
          <p:nvPr/>
        </p:nvSpPr>
        <p:spPr bwMode="blackWhite">
          <a:xfrm>
            <a:off x="965200" y="3925888"/>
            <a:ext cx="7315200" cy="121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EMPNO ENAME      JOB             SAL</a:t>
            </a:r>
          </a:p>
          <a:p>
            <a:pPr>
              <a:spcBef>
                <a:spcPct val="0"/>
              </a:spcBef>
              <a:buFontTx/>
              <a:buNone/>
            </a:pPr>
            <a:r>
              <a:rPr lang="en-US" altLang="en-US" sz="1800" b="1">
                <a:solidFill>
                  <a:srgbClr val="000000"/>
                </a:solidFill>
                <a:latin typeface="Courier New" panose="02070309020205020404" pitchFamily="49" charset="0"/>
              </a:rPr>
              <a:t>--------- ---------- --------- ---------</a:t>
            </a:r>
          </a:p>
          <a:p>
            <a:pPr>
              <a:spcBef>
                <a:spcPct val="0"/>
              </a:spcBef>
              <a:buFontTx/>
              <a:buNone/>
            </a:pPr>
            <a:r>
              <a:rPr lang="en-US" altLang="en-US" sz="1800" b="1">
                <a:solidFill>
                  <a:srgbClr val="000000"/>
                </a:solidFill>
                <a:latin typeface="Courier New" panose="02070309020205020404" pitchFamily="49" charset="0"/>
              </a:rPr>
              <a:t>     7876 ADAMS      CLERK          1100</a:t>
            </a:r>
          </a:p>
          <a:p>
            <a:pPr>
              <a:spcBef>
                <a:spcPct val="0"/>
              </a:spcBef>
              <a:buFontTx/>
              <a:buNone/>
            </a:pPr>
            <a:r>
              <a:rPr lang="en-US" altLang="en-US" sz="1800" b="1">
                <a:solidFill>
                  <a:srgbClr val="000000"/>
                </a:solidFill>
                <a:latin typeface="Courier New" panose="02070309020205020404" pitchFamily="49" charset="0"/>
              </a:rPr>
              <a:t>     7934 MILLER     CLERK          1300</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83974"/>
                                        </p:tgtEl>
                                        <p:attrNameLst>
                                          <p:attrName>style.visibility</p:attrName>
                                        </p:attrNameLst>
                                      </p:cBhvr>
                                      <p:to>
                                        <p:strVal val="visible"/>
                                      </p:to>
                                    </p:set>
                                    <p:animEffect transition="in" filter="wipe(up)">
                                      <p:cBhvr>
                                        <p:cTn id="7" dur="500"/>
                                        <p:tgtEl>
                                          <p:spTgt spid="839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579CB830-C2BF-95A3-FF11-73F4DE0DAA60}"/>
              </a:ext>
            </a:extLst>
          </p:cNvPr>
          <p:cNvSpPr>
            <a:spLocks noChangeArrowheads="1"/>
          </p:cNvSpPr>
          <p:nvPr/>
        </p:nvSpPr>
        <p:spPr bwMode="blackWhite">
          <a:xfrm>
            <a:off x="990600" y="1862138"/>
            <a:ext cx="7289800" cy="11906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19459" name="Rectangle 3">
            <a:extLst>
              <a:ext uri="{FF2B5EF4-FFF2-40B4-BE49-F238E27FC236}">
                <a16:creationId xmlns:a16="http://schemas.microsoft.com/office/drawing/2014/main" id="{47788E5A-AD36-4FF3-B481-7C4EB33BF16E}"/>
              </a:ext>
            </a:extLst>
          </p:cNvPr>
          <p:cNvSpPr>
            <a:spLocks noChangeArrowheads="1"/>
          </p:cNvSpPr>
          <p:nvPr/>
        </p:nvSpPr>
        <p:spPr bwMode="blackWhite">
          <a:xfrm>
            <a:off x="990600" y="3098800"/>
            <a:ext cx="7289800" cy="3122613"/>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19460" name="Rectangle 4">
            <a:extLst>
              <a:ext uri="{FF2B5EF4-FFF2-40B4-BE49-F238E27FC236}">
                <a16:creationId xmlns:a16="http://schemas.microsoft.com/office/drawing/2014/main" id="{866678B7-20E1-AD04-2B6F-7902B4B382E5}"/>
              </a:ext>
            </a:extLst>
          </p:cNvPr>
          <p:cNvSpPr>
            <a:spLocks noGrp="1" noChangeArrowheads="1"/>
          </p:cNvSpPr>
          <p:nvPr>
            <p:ph type="title"/>
          </p:nvPr>
        </p:nvSpPr>
        <p:spPr>
          <a:xfrm>
            <a:off x="323850" y="660400"/>
            <a:ext cx="3922713" cy="53657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Using the OR Operator</a:t>
            </a:r>
          </a:p>
        </p:txBody>
      </p:sp>
      <p:sp>
        <p:nvSpPr>
          <p:cNvPr id="86021" name="Rectangle 5">
            <a:extLst>
              <a:ext uri="{FF2B5EF4-FFF2-40B4-BE49-F238E27FC236}">
                <a16:creationId xmlns:a16="http://schemas.microsoft.com/office/drawing/2014/main" id="{ACBB1FAC-BA7D-957F-BC91-A9DD1CB28185}"/>
              </a:ext>
            </a:extLst>
          </p:cNvPr>
          <p:cNvSpPr>
            <a:spLocks noChangeArrowheads="1"/>
          </p:cNvSpPr>
          <p:nvPr/>
        </p:nvSpPr>
        <p:spPr bwMode="auto">
          <a:xfrm>
            <a:off x="250825" y="1260475"/>
            <a:ext cx="7724775" cy="439738"/>
          </a:xfrm>
          <a:prstGeom prst="rect">
            <a:avLst/>
          </a:prstGeom>
          <a:noFill/>
          <a:ln>
            <a:noFill/>
          </a:ln>
          <a:effectLst/>
        </p:spPr>
        <p:txBody>
          <a:bodyPr lIns="92075" tIns="46038" rIns="92075" bIns="46038">
            <a:spAutoFit/>
          </a:bodyPr>
          <a:lstStyle/>
          <a:p>
            <a:pPr marL="341313" lvl="1" indent="-227013" defTabSz="346075">
              <a:lnSpc>
                <a:spcPct val="95000"/>
              </a:lnSpc>
              <a:spcBef>
                <a:spcPct val="35000"/>
              </a:spcBef>
              <a:tabLst>
                <a:tab pos="571500" algn="l"/>
              </a:tabLst>
              <a:defRPr/>
            </a:pPr>
            <a:r>
              <a:rPr lang="en-US">
                <a:effectLst>
                  <a:outerShdw blurRad="38100" dist="38100" dir="2700000" algn="tl">
                    <a:srgbClr val="FFFFFF"/>
                  </a:outerShdw>
                </a:effectLst>
                <a:latin typeface="Arial" charset="0"/>
              </a:rPr>
              <a:t>OR requires either condition to be TRUE.</a:t>
            </a:r>
          </a:p>
        </p:txBody>
      </p:sp>
      <p:grpSp>
        <p:nvGrpSpPr>
          <p:cNvPr id="86022" name="Group 6">
            <a:extLst>
              <a:ext uri="{FF2B5EF4-FFF2-40B4-BE49-F238E27FC236}">
                <a16:creationId xmlns:a16="http://schemas.microsoft.com/office/drawing/2014/main" id="{B97B0E22-37B9-BDF4-6A24-EF4D780A5C0C}"/>
              </a:ext>
            </a:extLst>
          </p:cNvPr>
          <p:cNvGrpSpPr>
            <a:grpSpLocks/>
          </p:cNvGrpSpPr>
          <p:nvPr/>
        </p:nvGrpSpPr>
        <p:grpSpPr bwMode="auto">
          <a:xfrm>
            <a:off x="1643063" y="2424113"/>
            <a:ext cx="5024437" cy="3362325"/>
            <a:chOff x="1035" y="1527"/>
            <a:chExt cx="3165" cy="2118"/>
          </a:xfrm>
        </p:grpSpPr>
        <p:sp>
          <p:nvSpPr>
            <p:cNvPr id="19465" name="Rectangle 7">
              <a:extLst>
                <a:ext uri="{FF2B5EF4-FFF2-40B4-BE49-F238E27FC236}">
                  <a16:creationId xmlns:a16="http://schemas.microsoft.com/office/drawing/2014/main" id="{212A5FE8-0C72-FCE2-30F9-69D1C4603ED2}"/>
                </a:ext>
              </a:extLst>
            </p:cNvPr>
            <p:cNvSpPr>
              <a:spLocks noChangeArrowheads="1"/>
            </p:cNvSpPr>
            <p:nvPr/>
          </p:nvSpPr>
          <p:spPr bwMode="ltGray">
            <a:xfrm>
              <a:off x="1035" y="1527"/>
              <a:ext cx="1693" cy="358"/>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9466" name="Rectangle 8">
              <a:extLst>
                <a:ext uri="{FF2B5EF4-FFF2-40B4-BE49-F238E27FC236}">
                  <a16:creationId xmlns:a16="http://schemas.microsoft.com/office/drawing/2014/main" id="{9DDD3178-B189-FF47-27E5-7286C1A1DEBD}"/>
                </a:ext>
              </a:extLst>
            </p:cNvPr>
            <p:cNvSpPr>
              <a:spLocks noChangeArrowheads="1"/>
            </p:cNvSpPr>
            <p:nvPr/>
          </p:nvSpPr>
          <p:spPr bwMode="ltGray">
            <a:xfrm>
              <a:off x="2451" y="2019"/>
              <a:ext cx="845" cy="1626"/>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9467" name="Rectangle 9">
              <a:extLst>
                <a:ext uri="{FF2B5EF4-FFF2-40B4-BE49-F238E27FC236}">
                  <a16:creationId xmlns:a16="http://schemas.microsoft.com/office/drawing/2014/main" id="{591959DB-D99A-1EEC-34D8-924DC114F169}"/>
                </a:ext>
              </a:extLst>
            </p:cNvPr>
            <p:cNvSpPr>
              <a:spLocks noChangeArrowheads="1"/>
            </p:cNvSpPr>
            <p:nvPr/>
          </p:nvSpPr>
          <p:spPr bwMode="ltGray">
            <a:xfrm>
              <a:off x="3355" y="2019"/>
              <a:ext cx="845" cy="1626"/>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sp>
        <p:nvSpPr>
          <p:cNvPr id="19463" name="Rectangle 10">
            <a:extLst>
              <a:ext uri="{FF2B5EF4-FFF2-40B4-BE49-F238E27FC236}">
                <a16:creationId xmlns:a16="http://schemas.microsoft.com/office/drawing/2014/main" id="{56569A1B-095B-047F-25DE-CD809369717E}"/>
              </a:ext>
            </a:extLst>
          </p:cNvPr>
          <p:cNvSpPr>
            <a:spLocks noChangeArrowheads="1"/>
          </p:cNvSpPr>
          <p:nvPr/>
        </p:nvSpPr>
        <p:spPr bwMode="blackWhite">
          <a:xfrm>
            <a:off x="969963" y="1849438"/>
            <a:ext cx="7315200" cy="121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empno, ename, job, sal</a:t>
            </a:r>
          </a:p>
          <a:p>
            <a:pPr>
              <a:spcBef>
                <a:spcPct val="0"/>
              </a:spcBef>
              <a:buFontTx/>
              <a:buNone/>
            </a:pPr>
            <a:r>
              <a:rPr lang="en-US" altLang="en-US" sz="1800" b="1">
                <a:solidFill>
                  <a:srgbClr val="000000"/>
                </a:solidFill>
                <a:latin typeface="Courier New" panose="02070309020205020404" pitchFamily="49" charset="0"/>
              </a:rPr>
              <a:t>  2  FROM   emp</a:t>
            </a:r>
          </a:p>
          <a:p>
            <a:pPr>
              <a:spcBef>
                <a:spcPct val="0"/>
              </a:spcBef>
              <a:buFontTx/>
              <a:buNone/>
            </a:pPr>
            <a:r>
              <a:rPr lang="en-US" altLang="en-US" sz="1800" b="1">
                <a:solidFill>
                  <a:srgbClr val="000000"/>
                </a:solidFill>
                <a:latin typeface="Courier New" panose="02070309020205020404" pitchFamily="49" charset="0"/>
              </a:rPr>
              <a:t>  3  WHERE  sal&gt;=1100</a:t>
            </a:r>
          </a:p>
          <a:p>
            <a:pPr>
              <a:spcBef>
                <a:spcPct val="0"/>
              </a:spcBef>
              <a:buFontTx/>
              <a:buNone/>
            </a:pPr>
            <a:r>
              <a:rPr lang="en-US" altLang="en-US" sz="1800" b="1">
                <a:solidFill>
                  <a:srgbClr val="000000"/>
                </a:solidFill>
                <a:latin typeface="Courier New" panose="02070309020205020404" pitchFamily="49" charset="0"/>
              </a:rPr>
              <a:t>  4  OR     job='CLERK';</a:t>
            </a:r>
          </a:p>
        </p:txBody>
      </p:sp>
      <p:sp>
        <p:nvSpPr>
          <p:cNvPr id="19464" name="Rectangle 11">
            <a:extLst>
              <a:ext uri="{FF2B5EF4-FFF2-40B4-BE49-F238E27FC236}">
                <a16:creationId xmlns:a16="http://schemas.microsoft.com/office/drawing/2014/main" id="{08EB66A6-2F57-7151-9483-DECB76B0E742}"/>
              </a:ext>
            </a:extLst>
          </p:cNvPr>
          <p:cNvSpPr>
            <a:spLocks noChangeArrowheads="1"/>
          </p:cNvSpPr>
          <p:nvPr/>
        </p:nvSpPr>
        <p:spPr bwMode="blackWhite">
          <a:xfrm>
            <a:off x="969963" y="3265488"/>
            <a:ext cx="7315200" cy="286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EMPNO ENAME      JOB             SAL</a:t>
            </a:r>
          </a:p>
          <a:p>
            <a:pPr>
              <a:spcBef>
                <a:spcPct val="0"/>
              </a:spcBef>
              <a:buFontTx/>
              <a:buNone/>
            </a:pPr>
            <a:r>
              <a:rPr lang="en-US" altLang="en-US" sz="1800" b="1">
                <a:solidFill>
                  <a:srgbClr val="000000"/>
                </a:solidFill>
                <a:latin typeface="Courier New" panose="02070309020205020404" pitchFamily="49" charset="0"/>
              </a:rPr>
              <a:t>--------- ---------- --------- ---------</a:t>
            </a:r>
          </a:p>
          <a:p>
            <a:pPr>
              <a:spcBef>
                <a:spcPct val="0"/>
              </a:spcBef>
              <a:buFontTx/>
              <a:buNone/>
            </a:pPr>
            <a:r>
              <a:rPr lang="en-US" altLang="en-US" sz="1800" b="1">
                <a:solidFill>
                  <a:srgbClr val="000000"/>
                </a:solidFill>
                <a:latin typeface="Courier New" panose="02070309020205020404" pitchFamily="49" charset="0"/>
              </a:rPr>
              <a:t>     7839 KING       PRESIDENT      5000</a:t>
            </a:r>
          </a:p>
          <a:p>
            <a:pPr>
              <a:spcBef>
                <a:spcPct val="0"/>
              </a:spcBef>
              <a:buFontTx/>
              <a:buNone/>
            </a:pPr>
            <a:r>
              <a:rPr lang="en-US" altLang="en-US" sz="1800" b="1">
                <a:solidFill>
                  <a:srgbClr val="000000"/>
                </a:solidFill>
                <a:latin typeface="Courier New" panose="02070309020205020404" pitchFamily="49" charset="0"/>
              </a:rPr>
              <a:t>     7698 BLAKE      MANAGER        2850</a:t>
            </a:r>
          </a:p>
          <a:p>
            <a:pPr>
              <a:spcBef>
                <a:spcPct val="0"/>
              </a:spcBef>
              <a:buFontTx/>
              <a:buNone/>
            </a:pPr>
            <a:r>
              <a:rPr lang="en-US" altLang="en-US" sz="1800" b="1">
                <a:solidFill>
                  <a:srgbClr val="000000"/>
                </a:solidFill>
                <a:latin typeface="Courier New" panose="02070309020205020404" pitchFamily="49" charset="0"/>
              </a:rPr>
              <a:t>     7782 CLARK      MANAGER        2450</a:t>
            </a:r>
          </a:p>
          <a:p>
            <a:pPr>
              <a:spcBef>
                <a:spcPct val="0"/>
              </a:spcBef>
              <a:buFontTx/>
              <a:buNone/>
            </a:pPr>
            <a:r>
              <a:rPr lang="en-US" altLang="en-US" sz="1800" b="1">
                <a:solidFill>
                  <a:srgbClr val="000000"/>
                </a:solidFill>
                <a:latin typeface="Courier New" panose="02070309020205020404" pitchFamily="49" charset="0"/>
              </a:rPr>
              <a:t>     7566 JONES      MANAGER        2975</a:t>
            </a:r>
          </a:p>
          <a:p>
            <a:pPr>
              <a:spcBef>
                <a:spcPct val="0"/>
              </a:spcBef>
              <a:buFontTx/>
              <a:buNone/>
            </a:pPr>
            <a:r>
              <a:rPr lang="en-US" altLang="en-US" sz="1800" b="1">
                <a:solidFill>
                  <a:srgbClr val="000000"/>
                </a:solidFill>
                <a:latin typeface="Courier New" panose="02070309020205020404" pitchFamily="49" charset="0"/>
              </a:rPr>
              <a:t>     7654 MARTIN     SALESMAN       1250</a:t>
            </a:r>
          </a:p>
          <a:p>
            <a:pPr>
              <a:spcBef>
                <a:spcPct val="0"/>
              </a:spcBef>
              <a:buFontTx/>
              <a:buNone/>
            </a:pPr>
            <a:r>
              <a:rPr lang="en-US" altLang="en-US" sz="1800" b="1">
                <a:solidFill>
                  <a:srgbClr val="000000"/>
                </a:solidFill>
                <a:latin typeface="Courier New" panose="02070309020205020404" pitchFamily="49" charset="0"/>
              </a:rPr>
              <a:t>     ... </a:t>
            </a:r>
          </a:p>
          <a:p>
            <a:pPr>
              <a:spcBef>
                <a:spcPct val="0"/>
              </a:spcBef>
              <a:buFontTx/>
              <a:buNone/>
            </a:pPr>
            <a:r>
              <a:rPr lang="en-US" altLang="en-US" sz="1800" b="1">
                <a:solidFill>
                  <a:srgbClr val="000000"/>
                </a:solidFill>
                <a:latin typeface="Courier New" panose="02070309020205020404" pitchFamily="49" charset="0"/>
              </a:rPr>
              <a:t>     7900 JAMES      CLERK           950</a:t>
            </a:r>
          </a:p>
          <a:p>
            <a:pPr>
              <a:spcBef>
                <a:spcPct val="0"/>
              </a:spcBef>
              <a:buFontTx/>
              <a:buNone/>
            </a:pPr>
            <a:r>
              <a:rPr lang="en-US" altLang="en-US" sz="1800" b="1">
                <a:solidFill>
                  <a:srgbClr val="000000"/>
                </a:solidFill>
                <a:latin typeface="Courier New" panose="02070309020205020404" pitchFamily="49" charset="0"/>
              </a:rPr>
              <a:t>     ...</a:t>
            </a:r>
          </a:p>
          <a:p>
            <a:pPr>
              <a:spcBef>
                <a:spcPct val="0"/>
              </a:spcBef>
              <a:buFontTx/>
              <a:buNone/>
            </a:pPr>
            <a:r>
              <a:rPr lang="en-US" altLang="en-US" sz="1800" b="1">
                <a:solidFill>
                  <a:srgbClr val="000000"/>
                </a:solidFill>
                <a:latin typeface="Courier New" panose="02070309020205020404" pitchFamily="49" charset="0"/>
              </a:rPr>
              <a:t>14 rows selected.</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86022"/>
                                        </p:tgtEl>
                                        <p:attrNameLst>
                                          <p:attrName>style.visibility</p:attrName>
                                        </p:attrNameLst>
                                      </p:cBhvr>
                                      <p:to>
                                        <p:strVal val="visible"/>
                                      </p:to>
                                    </p:set>
                                    <p:animEffect transition="in" filter="wipe(up)">
                                      <p:cBhvr>
                                        <p:cTn id="7" dur="500"/>
                                        <p:tgtEl>
                                          <p:spTgt spid="860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38005EE3-EE5F-FCB9-15E0-47EFCAB0AAAF}"/>
              </a:ext>
            </a:extLst>
          </p:cNvPr>
          <p:cNvSpPr>
            <a:spLocks noGrp="1" noChangeArrowheads="1"/>
          </p:cNvSpPr>
          <p:nvPr>
            <p:ph type="title"/>
          </p:nvPr>
        </p:nvSpPr>
        <p:spPr>
          <a:xfrm>
            <a:off x="323850" y="660400"/>
            <a:ext cx="3633788" cy="53657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Rules of Precedence</a:t>
            </a:r>
          </a:p>
        </p:txBody>
      </p:sp>
      <p:sp>
        <p:nvSpPr>
          <p:cNvPr id="21507" name="Rectangle 3">
            <a:extLst>
              <a:ext uri="{FF2B5EF4-FFF2-40B4-BE49-F238E27FC236}">
                <a16:creationId xmlns:a16="http://schemas.microsoft.com/office/drawing/2014/main" id="{C781479D-6B94-1BCF-6B24-E22BECF94841}"/>
              </a:ext>
            </a:extLst>
          </p:cNvPr>
          <p:cNvSpPr>
            <a:spLocks noGrp="1" noChangeArrowheads="1"/>
          </p:cNvSpPr>
          <p:nvPr>
            <p:ph type="body" idx="1"/>
          </p:nvPr>
        </p:nvSpPr>
        <p:spPr>
          <a:xfrm>
            <a:off x="955675" y="4910138"/>
            <a:ext cx="7385050" cy="946150"/>
          </a:xfrm>
          <a:noFill/>
          <a:extLs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spAutoFit/>
          </a:bodyPr>
          <a:lstStyle/>
          <a:p>
            <a:r>
              <a:rPr lang="en-US" altLang="en-US"/>
              <a:t>Override rules of precedence by using parentheses.</a:t>
            </a:r>
          </a:p>
        </p:txBody>
      </p:sp>
      <p:sp>
        <p:nvSpPr>
          <p:cNvPr id="21508" name="Rectangle 4">
            <a:extLst>
              <a:ext uri="{FF2B5EF4-FFF2-40B4-BE49-F238E27FC236}">
                <a16:creationId xmlns:a16="http://schemas.microsoft.com/office/drawing/2014/main" id="{91B5D754-782B-F17A-52D1-795C59BEF6AF}"/>
              </a:ext>
            </a:extLst>
          </p:cNvPr>
          <p:cNvSpPr>
            <a:spLocks noChangeArrowheads="1"/>
          </p:cNvSpPr>
          <p:nvPr/>
        </p:nvSpPr>
        <p:spPr bwMode="blackWhite">
          <a:xfrm>
            <a:off x="774700" y="1546225"/>
            <a:ext cx="7626350" cy="2984500"/>
          </a:xfrm>
          <a:prstGeom prst="rect">
            <a:avLst/>
          </a:prstGeom>
          <a:solidFill>
            <a:srgbClr val="FF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1509" name="Line 5">
            <a:extLst>
              <a:ext uri="{FF2B5EF4-FFF2-40B4-BE49-F238E27FC236}">
                <a16:creationId xmlns:a16="http://schemas.microsoft.com/office/drawing/2014/main" id="{75F212C3-FE5D-B906-576D-B553130A2019}"/>
              </a:ext>
            </a:extLst>
          </p:cNvPr>
          <p:cNvSpPr>
            <a:spLocks noChangeShapeType="1"/>
          </p:cNvSpPr>
          <p:nvPr/>
        </p:nvSpPr>
        <p:spPr bwMode="auto">
          <a:xfrm>
            <a:off x="774700" y="2151063"/>
            <a:ext cx="7620000" cy="0"/>
          </a:xfrm>
          <a:prstGeom prst="line">
            <a:avLst/>
          </a:prstGeom>
          <a:noFill/>
          <a:ln w="508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10" name="Line 6">
            <a:extLst>
              <a:ext uri="{FF2B5EF4-FFF2-40B4-BE49-F238E27FC236}">
                <a16:creationId xmlns:a16="http://schemas.microsoft.com/office/drawing/2014/main" id="{F7B9A993-4BF1-0EE6-731E-D63F83459E89}"/>
              </a:ext>
            </a:extLst>
          </p:cNvPr>
          <p:cNvSpPr>
            <a:spLocks noChangeShapeType="1"/>
          </p:cNvSpPr>
          <p:nvPr/>
        </p:nvSpPr>
        <p:spPr bwMode="auto">
          <a:xfrm>
            <a:off x="774700" y="3482975"/>
            <a:ext cx="7639050"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11" name="Line 7">
            <a:extLst>
              <a:ext uri="{FF2B5EF4-FFF2-40B4-BE49-F238E27FC236}">
                <a16:creationId xmlns:a16="http://schemas.microsoft.com/office/drawing/2014/main" id="{0F594970-27F5-08E2-11F2-69AC4AC58D3B}"/>
              </a:ext>
            </a:extLst>
          </p:cNvPr>
          <p:cNvSpPr>
            <a:spLocks noChangeShapeType="1"/>
          </p:cNvSpPr>
          <p:nvPr/>
        </p:nvSpPr>
        <p:spPr bwMode="auto">
          <a:xfrm>
            <a:off x="4000500" y="1533525"/>
            <a:ext cx="0" cy="300990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12" name="Rectangle 8">
            <a:extLst>
              <a:ext uri="{FF2B5EF4-FFF2-40B4-BE49-F238E27FC236}">
                <a16:creationId xmlns:a16="http://schemas.microsoft.com/office/drawing/2014/main" id="{6CFAA125-4081-2CE7-DCE6-224219AC97C6}"/>
              </a:ext>
            </a:extLst>
          </p:cNvPr>
          <p:cNvSpPr>
            <a:spLocks noChangeArrowheads="1"/>
          </p:cNvSpPr>
          <p:nvPr/>
        </p:nvSpPr>
        <p:spPr bwMode="auto">
          <a:xfrm>
            <a:off x="984250" y="1719263"/>
            <a:ext cx="7747000" cy="273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tabLst>
                <a:tab pos="1371600" algn="r"/>
                <a:tab pos="3270250" algn="l"/>
              </a:tabLst>
              <a:defRPr sz="2800">
                <a:solidFill>
                  <a:schemeClr val="tx1"/>
                </a:solidFill>
                <a:latin typeface="Arial" panose="020B0604020202020204" pitchFamily="34" charset="0"/>
              </a:defRPr>
            </a:lvl1pPr>
            <a:lvl2pPr marL="742950" indent="-285750">
              <a:spcBef>
                <a:spcPct val="20000"/>
              </a:spcBef>
              <a:buChar char="–"/>
              <a:tabLst>
                <a:tab pos="1371600" algn="r"/>
                <a:tab pos="3270250" algn="l"/>
              </a:tabLst>
              <a:defRPr sz="2400">
                <a:solidFill>
                  <a:schemeClr val="tx1"/>
                </a:solidFill>
                <a:latin typeface="Arial" panose="020B0604020202020204" pitchFamily="34" charset="0"/>
              </a:defRPr>
            </a:lvl2pPr>
            <a:lvl3pPr marL="1143000" indent="-228600">
              <a:spcBef>
                <a:spcPct val="20000"/>
              </a:spcBef>
              <a:buChar char="•"/>
              <a:tabLst>
                <a:tab pos="1371600" algn="r"/>
                <a:tab pos="3270250" algn="l"/>
              </a:tabLst>
              <a:defRPr sz="2000">
                <a:solidFill>
                  <a:schemeClr val="tx1"/>
                </a:solidFill>
                <a:latin typeface="Arial" panose="020B0604020202020204" pitchFamily="34" charset="0"/>
              </a:defRPr>
            </a:lvl3pPr>
            <a:lvl4pPr marL="1600200" indent="-228600">
              <a:spcBef>
                <a:spcPct val="20000"/>
              </a:spcBef>
              <a:buChar char="–"/>
              <a:tabLst>
                <a:tab pos="1371600" algn="r"/>
                <a:tab pos="3270250" algn="l"/>
              </a:tabLst>
              <a:defRPr sz="2000">
                <a:solidFill>
                  <a:schemeClr val="tx1"/>
                </a:solidFill>
                <a:latin typeface="Arial" panose="020B0604020202020204" pitchFamily="34" charset="0"/>
              </a:defRPr>
            </a:lvl4pPr>
            <a:lvl5pPr marL="2057400" indent="-228600">
              <a:spcBef>
                <a:spcPct val="20000"/>
              </a:spcBef>
              <a:buChar char="»"/>
              <a:tabLst>
                <a:tab pos="1371600" algn="r"/>
                <a:tab pos="32702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371600" algn="r"/>
                <a:tab pos="32702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371600" algn="r"/>
                <a:tab pos="32702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371600" algn="r"/>
                <a:tab pos="32702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371600" algn="r"/>
                <a:tab pos="3270250" algn="l"/>
              </a:tabLst>
              <a:defRPr sz="2000">
                <a:solidFill>
                  <a:schemeClr val="tx1"/>
                </a:solidFill>
                <a:latin typeface="Arial" panose="020B0604020202020204" pitchFamily="34" charset="0"/>
              </a:defRPr>
            </a:lvl9pPr>
          </a:lstStyle>
          <a:p>
            <a:pPr>
              <a:lnSpc>
                <a:spcPct val="80000"/>
              </a:lnSpc>
              <a:spcBef>
                <a:spcPct val="35000"/>
              </a:spcBef>
              <a:buFontTx/>
              <a:buNone/>
            </a:pPr>
            <a:r>
              <a:rPr lang="en-US" altLang="en-US" b="1">
                <a:solidFill>
                  <a:srgbClr val="000000"/>
                </a:solidFill>
              </a:rPr>
              <a:t>Order Evaluated	Operator</a:t>
            </a:r>
          </a:p>
          <a:p>
            <a:pPr>
              <a:lnSpc>
                <a:spcPct val="80000"/>
              </a:lnSpc>
              <a:spcBef>
                <a:spcPct val="35000"/>
              </a:spcBef>
              <a:buFontTx/>
              <a:buNone/>
            </a:pPr>
            <a:r>
              <a:rPr lang="en-US" altLang="en-US" b="1">
                <a:solidFill>
                  <a:srgbClr val="000000"/>
                </a:solidFill>
              </a:rPr>
              <a:t>    	1	All comparison </a:t>
            </a:r>
            <a:br>
              <a:rPr lang="en-US" altLang="en-US" b="1">
                <a:solidFill>
                  <a:srgbClr val="000000"/>
                </a:solidFill>
              </a:rPr>
            </a:br>
            <a:r>
              <a:rPr lang="en-US" altLang="en-US" b="1">
                <a:solidFill>
                  <a:srgbClr val="000000"/>
                </a:solidFill>
              </a:rPr>
              <a:t>		operators</a:t>
            </a:r>
          </a:p>
          <a:p>
            <a:pPr>
              <a:lnSpc>
                <a:spcPct val="80000"/>
              </a:lnSpc>
              <a:spcBef>
                <a:spcPct val="35000"/>
              </a:spcBef>
              <a:buFontTx/>
              <a:buNone/>
            </a:pPr>
            <a:r>
              <a:rPr lang="en-US" altLang="en-US" b="1">
                <a:solidFill>
                  <a:srgbClr val="000000"/>
                </a:solidFill>
              </a:rPr>
              <a:t>	2	NOT</a:t>
            </a:r>
          </a:p>
          <a:p>
            <a:pPr>
              <a:lnSpc>
                <a:spcPct val="80000"/>
              </a:lnSpc>
              <a:spcBef>
                <a:spcPct val="35000"/>
              </a:spcBef>
              <a:buFontTx/>
              <a:buNone/>
            </a:pPr>
            <a:r>
              <a:rPr lang="en-US" altLang="en-US" b="1">
                <a:solidFill>
                  <a:srgbClr val="000000"/>
                </a:solidFill>
              </a:rPr>
              <a:t>	3	AND</a:t>
            </a:r>
          </a:p>
          <a:p>
            <a:pPr>
              <a:lnSpc>
                <a:spcPct val="80000"/>
              </a:lnSpc>
              <a:spcBef>
                <a:spcPct val="35000"/>
              </a:spcBef>
              <a:buFontTx/>
              <a:buNone/>
            </a:pPr>
            <a:r>
              <a:rPr lang="en-US" altLang="en-US" b="1">
                <a:solidFill>
                  <a:srgbClr val="000000"/>
                </a:solidFill>
              </a:rPr>
              <a:t>	4	OR</a:t>
            </a:r>
          </a:p>
        </p:txBody>
      </p:sp>
      <p:sp>
        <p:nvSpPr>
          <p:cNvPr id="21513" name="Line 9">
            <a:extLst>
              <a:ext uri="{FF2B5EF4-FFF2-40B4-BE49-F238E27FC236}">
                <a16:creationId xmlns:a16="http://schemas.microsoft.com/office/drawing/2014/main" id="{5804E62D-7741-BBAA-D683-D991678EA77A}"/>
              </a:ext>
            </a:extLst>
          </p:cNvPr>
          <p:cNvSpPr>
            <a:spLocks noChangeShapeType="1"/>
          </p:cNvSpPr>
          <p:nvPr/>
        </p:nvSpPr>
        <p:spPr bwMode="auto">
          <a:xfrm>
            <a:off x="771525" y="2987675"/>
            <a:ext cx="7623175"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14" name="Line 10">
            <a:extLst>
              <a:ext uri="{FF2B5EF4-FFF2-40B4-BE49-F238E27FC236}">
                <a16:creationId xmlns:a16="http://schemas.microsoft.com/office/drawing/2014/main" id="{97F9D93F-1C0D-EDD6-FECE-F05A0DBD15E9}"/>
              </a:ext>
            </a:extLst>
          </p:cNvPr>
          <p:cNvSpPr>
            <a:spLocks noChangeShapeType="1"/>
          </p:cNvSpPr>
          <p:nvPr/>
        </p:nvSpPr>
        <p:spPr bwMode="auto">
          <a:xfrm>
            <a:off x="755650" y="3978275"/>
            <a:ext cx="7639050"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F48265CB-218D-DD51-3530-C20B22DAF76A}"/>
              </a:ext>
            </a:extLst>
          </p:cNvPr>
          <p:cNvSpPr>
            <a:spLocks noChangeArrowheads="1"/>
          </p:cNvSpPr>
          <p:nvPr/>
        </p:nvSpPr>
        <p:spPr bwMode="blackWhite">
          <a:xfrm>
            <a:off x="925513" y="1482725"/>
            <a:ext cx="7289800" cy="146526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23555" name="Rectangle 3">
            <a:extLst>
              <a:ext uri="{FF2B5EF4-FFF2-40B4-BE49-F238E27FC236}">
                <a16:creationId xmlns:a16="http://schemas.microsoft.com/office/drawing/2014/main" id="{0F358809-5B04-6E48-3E90-13A33E6B8836}"/>
              </a:ext>
            </a:extLst>
          </p:cNvPr>
          <p:cNvSpPr>
            <a:spLocks noGrp="1" noChangeArrowheads="1"/>
          </p:cNvSpPr>
          <p:nvPr>
            <p:ph type="title"/>
          </p:nvPr>
        </p:nvSpPr>
        <p:spPr>
          <a:xfrm>
            <a:off x="323850" y="611188"/>
            <a:ext cx="3816350" cy="514350"/>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Rules of Precedence</a:t>
            </a:r>
          </a:p>
        </p:txBody>
      </p:sp>
      <p:sp>
        <p:nvSpPr>
          <p:cNvPr id="23556" name="Rectangle 4">
            <a:extLst>
              <a:ext uri="{FF2B5EF4-FFF2-40B4-BE49-F238E27FC236}">
                <a16:creationId xmlns:a16="http://schemas.microsoft.com/office/drawing/2014/main" id="{87901B2B-220E-7DF9-ACDF-478E125A985E}"/>
              </a:ext>
            </a:extLst>
          </p:cNvPr>
          <p:cNvSpPr>
            <a:spLocks noChangeArrowheads="1"/>
          </p:cNvSpPr>
          <p:nvPr/>
        </p:nvSpPr>
        <p:spPr bwMode="blackWhite">
          <a:xfrm>
            <a:off x="925513" y="3530600"/>
            <a:ext cx="7289800" cy="2014538"/>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ENAME      JOB             SAL</a:t>
            </a:r>
          </a:p>
          <a:p>
            <a:pPr>
              <a:spcBef>
                <a:spcPct val="0"/>
              </a:spcBef>
              <a:buFontTx/>
              <a:buNone/>
            </a:pPr>
            <a:r>
              <a:rPr lang="en-US" altLang="en-US" sz="1800" b="1">
                <a:solidFill>
                  <a:srgbClr val="000000"/>
                </a:solidFill>
                <a:latin typeface="Courier New" panose="02070309020205020404" pitchFamily="49" charset="0"/>
              </a:rPr>
              <a:t>---------- --------- ---------</a:t>
            </a:r>
          </a:p>
          <a:p>
            <a:pPr>
              <a:spcBef>
                <a:spcPct val="0"/>
              </a:spcBef>
              <a:buFontTx/>
              <a:buNone/>
            </a:pPr>
            <a:r>
              <a:rPr lang="en-US" altLang="en-US" sz="1800" b="1">
                <a:solidFill>
                  <a:srgbClr val="000000"/>
                </a:solidFill>
                <a:latin typeface="Courier New" panose="02070309020205020404" pitchFamily="49" charset="0"/>
              </a:rPr>
              <a:t>KING       PRESIDENT      5000</a:t>
            </a:r>
          </a:p>
          <a:p>
            <a:pPr>
              <a:spcBef>
                <a:spcPct val="0"/>
              </a:spcBef>
              <a:buFontTx/>
              <a:buNone/>
            </a:pPr>
            <a:r>
              <a:rPr lang="en-US" altLang="en-US" sz="1800" b="1">
                <a:solidFill>
                  <a:srgbClr val="000000"/>
                </a:solidFill>
                <a:latin typeface="Courier New" panose="02070309020205020404" pitchFamily="49" charset="0"/>
              </a:rPr>
              <a:t>MARTIN     SALESMAN       1250</a:t>
            </a:r>
          </a:p>
          <a:p>
            <a:pPr>
              <a:spcBef>
                <a:spcPct val="0"/>
              </a:spcBef>
              <a:buFontTx/>
              <a:buNone/>
            </a:pPr>
            <a:r>
              <a:rPr lang="en-US" altLang="en-US" sz="1800" b="1">
                <a:solidFill>
                  <a:srgbClr val="000000"/>
                </a:solidFill>
                <a:latin typeface="Courier New" panose="02070309020205020404" pitchFamily="49" charset="0"/>
              </a:rPr>
              <a:t>ALLEN      SALESMAN       1600</a:t>
            </a:r>
          </a:p>
          <a:p>
            <a:pPr>
              <a:spcBef>
                <a:spcPct val="0"/>
              </a:spcBef>
              <a:buFontTx/>
              <a:buNone/>
            </a:pPr>
            <a:r>
              <a:rPr lang="en-US" altLang="en-US" sz="1800" b="1">
                <a:solidFill>
                  <a:srgbClr val="000000"/>
                </a:solidFill>
                <a:latin typeface="Courier New" panose="02070309020205020404" pitchFamily="49" charset="0"/>
              </a:rPr>
              <a:t>TURNER     SALESMAN       1500</a:t>
            </a:r>
          </a:p>
          <a:p>
            <a:pPr>
              <a:spcBef>
                <a:spcPct val="0"/>
              </a:spcBef>
              <a:buFontTx/>
              <a:buNone/>
            </a:pPr>
            <a:r>
              <a:rPr lang="en-US" altLang="en-US" sz="1800" b="1">
                <a:solidFill>
                  <a:srgbClr val="000000"/>
                </a:solidFill>
                <a:latin typeface="Courier New" panose="02070309020205020404" pitchFamily="49" charset="0"/>
              </a:rPr>
              <a:t>WARD       SALESMAN       1250</a:t>
            </a:r>
          </a:p>
        </p:txBody>
      </p:sp>
      <p:grpSp>
        <p:nvGrpSpPr>
          <p:cNvPr id="90117" name="Group 5">
            <a:extLst>
              <a:ext uri="{FF2B5EF4-FFF2-40B4-BE49-F238E27FC236}">
                <a16:creationId xmlns:a16="http://schemas.microsoft.com/office/drawing/2014/main" id="{1D4E95C2-DF1F-2024-F0B2-CDB53E4F2BD9}"/>
              </a:ext>
            </a:extLst>
          </p:cNvPr>
          <p:cNvGrpSpPr>
            <a:grpSpLocks/>
          </p:cNvGrpSpPr>
          <p:nvPr/>
        </p:nvGrpSpPr>
        <p:grpSpPr bwMode="auto">
          <a:xfrm>
            <a:off x="1592263" y="2519363"/>
            <a:ext cx="1062037" cy="374650"/>
            <a:chOff x="1003" y="1587"/>
            <a:chExt cx="669" cy="236"/>
          </a:xfrm>
        </p:grpSpPr>
        <p:sp>
          <p:nvSpPr>
            <p:cNvPr id="23560" name="Rectangle 6">
              <a:extLst>
                <a:ext uri="{FF2B5EF4-FFF2-40B4-BE49-F238E27FC236}">
                  <a16:creationId xmlns:a16="http://schemas.microsoft.com/office/drawing/2014/main" id="{569CB5F1-4691-480B-97D6-7207073B26BC}"/>
                </a:ext>
              </a:extLst>
            </p:cNvPr>
            <p:cNvSpPr>
              <a:spLocks noChangeArrowheads="1"/>
            </p:cNvSpPr>
            <p:nvPr/>
          </p:nvSpPr>
          <p:spPr bwMode="ltGray">
            <a:xfrm>
              <a:off x="1003" y="1651"/>
              <a:ext cx="386" cy="172"/>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3561" name="Freeform 7">
              <a:extLst>
                <a:ext uri="{FF2B5EF4-FFF2-40B4-BE49-F238E27FC236}">
                  <a16:creationId xmlns:a16="http://schemas.microsoft.com/office/drawing/2014/main" id="{3A862020-5F9B-8710-FF61-792BB49F59EB}"/>
                </a:ext>
              </a:extLst>
            </p:cNvPr>
            <p:cNvSpPr>
              <a:spLocks/>
            </p:cNvSpPr>
            <p:nvPr/>
          </p:nvSpPr>
          <p:spPr bwMode="auto">
            <a:xfrm>
              <a:off x="1444" y="1587"/>
              <a:ext cx="228" cy="147"/>
            </a:xfrm>
            <a:custGeom>
              <a:avLst/>
              <a:gdLst>
                <a:gd name="T0" fmla="*/ 0 w 228"/>
                <a:gd name="T1" fmla="*/ 146 h 147"/>
                <a:gd name="T2" fmla="*/ 0 w 228"/>
                <a:gd name="T3" fmla="*/ 0 h 147"/>
                <a:gd name="T4" fmla="*/ 227 w 228"/>
                <a:gd name="T5" fmla="*/ 0 h 147"/>
                <a:gd name="T6" fmla="*/ 0 60000 65536"/>
                <a:gd name="T7" fmla="*/ 0 60000 65536"/>
                <a:gd name="T8" fmla="*/ 0 60000 65536"/>
              </a:gdLst>
              <a:ahLst/>
              <a:cxnLst>
                <a:cxn ang="T6">
                  <a:pos x="T0" y="T1"/>
                </a:cxn>
                <a:cxn ang="T7">
                  <a:pos x="T2" y="T3"/>
                </a:cxn>
                <a:cxn ang="T8">
                  <a:pos x="T4" y="T5"/>
                </a:cxn>
              </a:cxnLst>
              <a:rect l="0" t="0" r="r" b="b"/>
              <a:pathLst>
                <a:path w="228" h="147">
                  <a:moveTo>
                    <a:pt x="0" y="146"/>
                  </a:moveTo>
                  <a:lnTo>
                    <a:pt x="0" y="0"/>
                  </a:lnTo>
                  <a:lnTo>
                    <a:pt x="227" y="0"/>
                  </a:lnTo>
                </a:path>
              </a:pathLst>
            </a:custGeom>
            <a:noFill/>
            <a:ln w="25400" cap="rnd" cmpd="sng">
              <a:solidFill>
                <a:srgbClr val="FF0033"/>
              </a:solidFill>
              <a:prstDash val="solid"/>
              <a:round/>
              <a:headEnd type="none" w="sm" len="sm"/>
              <a:tailEnd type="stealth" w="med" len="lg"/>
            </a:ln>
            <a:effectLst>
              <a:outerShdw dist="1796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23562" name="Line 8">
              <a:extLst>
                <a:ext uri="{FF2B5EF4-FFF2-40B4-BE49-F238E27FC236}">
                  <a16:creationId xmlns:a16="http://schemas.microsoft.com/office/drawing/2014/main" id="{B4C49586-F607-0F44-4FA9-58BD36997BCC}"/>
                </a:ext>
              </a:extLst>
            </p:cNvPr>
            <p:cNvSpPr>
              <a:spLocks noChangeShapeType="1"/>
            </p:cNvSpPr>
            <p:nvPr/>
          </p:nvSpPr>
          <p:spPr bwMode="auto">
            <a:xfrm>
              <a:off x="1389" y="1744"/>
              <a:ext cx="282" cy="0"/>
            </a:xfrm>
            <a:prstGeom prst="line">
              <a:avLst/>
            </a:prstGeom>
            <a:noFill/>
            <a:ln w="25400">
              <a:solidFill>
                <a:srgbClr val="FF0033"/>
              </a:solidFill>
              <a:round/>
              <a:headEnd type="none" w="sm" len="sm"/>
              <a:tailEnd type="stealth" w="med" len="lg"/>
            </a:ln>
            <a:effectLst>
              <a:outerShdw dist="17961"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sp>
        <p:nvSpPr>
          <p:cNvPr id="90121" name="Rectangle 9">
            <a:extLst>
              <a:ext uri="{FF2B5EF4-FFF2-40B4-BE49-F238E27FC236}">
                <a16:creationId xmlns:a16="http://schemas.microsoft.com/office/drawing/2014/main" id="{F56B2C47-F597-6901-5C33-1E726BEB8492}"/>
              </a:ext>
            </a:extLst>
          </p:cNvPr>
          <p:cNvSpPr>
            <a:spLocks noChangeArrowheads="1"/>
          </p:cNvSpPr>
          <p:nvPr/>
        </p:nvSpPr>
        <p:spPr bwMode="ltGray">
          <a:xfrm>
            <a:off x="1592263" y="2346325"/>
            <a:ext cx="612775" cy="273050"/>
          </a:xfrm>
          <a:prstGeom prst="rect">
            <a:avLst/>
          </a:prstGeom>
          <a:solidFill>
            <a:srgbClr val="0099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3559" name="Rectangle 10">
            <a:extLst>
              <a:ext uri="{FF2B5EF4-FFF2-40B4-BE49-F238E27FC236}">
                <a16:creationId xmlns:a16="http://schemas.microsoft.com/office/drawing/2014/main" id="{7A755014-49FB-9E45-19E2-27EC5A932E8B}"/>
              </a:ext>
            </a:extLst>
          </p:cNvPr>
          <p:cNvSpPr>
            <a:spLocks noChangeArrowheads="1"/>
          </p:cNvSpPr>
          <p:nvPr/>
        </p:nvSpPr>
        <p:spPr bwMode="blackWhite">
          <a:xfrm>
            <a:off x="912813" y="1470025"/>
            <a:ext cx="7315200" cy="149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ename, job, sal</a:t>
            </a:r>
          </a:p>
          <a:p>
            <a:pPr>
              <a:spcBef>
                <a:spcPct val="0"/>
              </a:spcBef>
              <a:buFontTx/>
              <a:buNone/>
            </a:pPr>
            <a:r>
              <a:rPr lang="en-US" altLang="en-US" sz="1800" b="1">
                <a:solidFill>
                  <a:srgbClr val="000000"/>
                </a:solidFill>
                <a:latin typeface="Courier New" panose="02070309020205020404" pitchFamily="49" charset="0"/>
              </a:rPr>
              <a:t>  2  FROM   emp</a:t>
            </a:r>
          </a:p>
          <a:p>
            <a:pPr>
              <a:spcBef>
                <a:spcPct val="0"/>
              </a:spcBef>
              <a:buFontTx/>
              <a:buNone/>
            </a:pPr>
            <a:r>
              <a:rPr lang="en-US" altLang="en-US" sz="1800" b="1">
                <a:solidFill>
                  <a:srgbClr val="000000"/>
                </a:solidFill>
                <a:latin typeface="Courier New" panose="02070309020205020404" pitchFamily="49" charset="0"/>
              </a:rPr>
              <a:t>  3  WHERE  job='SALESMAN'</a:t>
            </a:r>
          </a:p>
          <a:p>
            <a:pPr>
              <a:spcBef>
                <a:spcPct val="0"/>
              </a:spcBef>
              <a:buFontTx/>
              <a:buNone/>
            </a:pPr>
            <a:r>
              <a:rPr lang="en-US" altLang="en-US" sz="1800" b="1">
                <a:solidFill>
                  <a:srgbClr val="000000"/>
                </a:solidFill>
                <a:latin typeface="Courier New" panose="02070309020205020404" pitchFamily="49" charset="0"/>
              </a:rPr>
              <a:t>  4  OR     job='PRESIDENT'</a:t>
            </a:r>
          </a:p>
          <a:p>
            <a:pPr>
              <a:spcBef>
                <a:spcPct val="0"/>
              </a:spcBef>
              <a:buFontTx/>
              <a:buNone/>
            </a:pPr>
            <a:r>
              <a:rPr lang="en-US" altLang="en-US" sz="1800" b="1">
                <a:solidFill>
                  <a:srgbClr val="000000"/>
                </a:solidFill>
                <a:latin typeface="Courier New" panose="02070309020205020404" pitchFamily="49" charset="0"/>
              </a:rPr>
              <a:t>  5  AND    sal&gt;1500;</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0117"/>
                                        </p:tgtEl>
                                        <p:attrNameLst>
                                          <p:attrName>style.visibility</p:attrName>
                                        </p:attrNameLst>
                                      </p:cBhvr>
                                      <p:to>
                                        <p:strVal val="visible"/>
                                      </p:to>
                                    </p:set>
                                    <p:animEffect transition="in" filter="wipe(left)">
                                      <p:cBhvr>
                                        <p:cTn id="7" dur="500"/>
                                        <p:tgtEl>
                                          <p:spTgt spid="90117"/>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0121"/>
                                        </p:tgtEl>
                                        <p:attrNameLst>
                                          <p:attrName>style.visibility</p:attrName>
                                        </p:attrNameLst>
                                      </p:cBhvr>
                                      <p:to>
                                        <p:strVal val="visible"/>
                                      </p:to>
                                    </p:set>
                                    <p:animEffect transition="in" filter="wipe(left)">
                                      <p:cBhvr>
                                        <p:cTn id="11" dur="500"/>
                                        <p:tgtEl>
                                          <p:spTgt spid="90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2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1840393E-0E7B-8629-C323-3372CB2F16CE}"/>
              </a:ext>
            </a:extLst>
          </p:cNvPr>
          <p:cNvSpPr>
            <a:spLocks noChangeArrowheads="1"/>
          </p:cNvSpPr>
          <p:nvPr/>
        </p:nvSpPr>
        <p:spPr bwMode="blackWhite">
          <a:xfrm>
            <a:off x="938213" y="2025650"/>
            <a:ext cx="7289800" cy="146526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25603" name="Rectangle 3">
            <a:extLst>
              <a:ext uri="{FF2B5EF4-FFF2-40B4-BE49-F238E27FC236}">
                <a16:creationId xmlns:a16="http://schemas.microsoft.com/office/drawing/2014/main" id="{556B599A-45C7-69B9-2071-A772FAF95DA9}"/>
              </a:ext>
            </a:extLst>
          </p:cNvPr>
          <p:cNvSpPr>
            <a:spLocks noGrp="1" noChangeArrowheads="1"/>
          </p:cNvSpPr>
          <p:nvPr>
            <p:ph type="title"/>
          </p:nvPr>
        </p:nvSpPr>
        <p:spPr>
          <a:xfrm>
            <a:off x="361950" y="588963"/>
            <a:ext cx="3633788" cy="463550"/>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Rules of Precedence</a:t>
            </a:r>
          </a:p>
        </p:txBody>
      </p:sp>
      <p:sp>
        <p:nvSpPr>
          <p:cNvPr id="25604" name="Rectangle 4">
            <a:extLst>
              <a:ext uri="{FF2B5EF4-FFF2-40B4-BE49-F238E27FC236}">
                <a16:creationId xmlns:a16="http://schemas.microsoft.com/office/drawing/2014/main" id="{BC2EB344-D5C3-7E93-7D89-EAADC4BBC0BA}"/>
              </a:ext>
            </a:extLst>
          </p:cNvPr>
          <p:cNvSpPr>
            <a:spLocks noChangeArrowheads="1"/>
          </p:cNvSpPr>
          <p:nvPr/>
        </p:nvSpPr>
        <p:spPr bwMode="blackWhite">
          <a:xfrm>
            <a:off x="938213" y="4035425"/>
            <a:ext cx="7289800" cy="1190625"/>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ENAME      JOB             SAL</a:t>
            </a:r>
          </a:p>
          <a:p>
            <a:pPr>
              <a:spcBef>
                <a:spcPct val="0"/>
              </a:spcBef>
              <a:buFontTx/>
              <a:buNone/>
            </a:pPr>
            <a:r>
              <a:rPr lang="en-US" altLang="en-US" sz="1800" b="1">
                <a:solidFill>
                  <a:srgbClr val="000000"/>
                </a:solidFill>
                <a:latin typeface="Courier New" panose="02070309020205020404" pitchFamily="49" charset="0"/>
              </a:rPr>
              <a:t>---------- --------- ---------</a:t>
            </a:r>
          </a:p>
          <a:p>
            <a:pPr>
              <a:spcBef>
                <a:spcPct val="0"/>
              </a:spcBef>
              <a:buFontTx/>
              <a:buNone/>
            </a:pPr>
            <a:r>
              <a:rPr lang="en-US" altLang="en-US" sz="1800" b="1">
                <a:solidFill>
                  <a:srgbClr val="000000"/>
                </a:solidFill>
                <a:latin typeface="Courier New" panose="02070309020205020404" pitchFamily="49" charset="0"/>
              </a:rPr>
              <a:t>KING       PRESIDENT      5000</a:t>
            </a:r>
          </a:p>
          <a:p>
            <a:pPr>
              <a:spcBef>
                <a:spcPct val="0"/>
              </a:spcBef>
              <a:buFontTx/>
              <a:buNone/>
            </a:pPr>
            <a:r>
              <a:rPr lang="en-US" altLang="en-US" sz="1800" b="1">
                <a:solidFill>
                  <a:srgbClr val="000000"/>
                </a:solidFill>
                <a:latin typeface="Courier New" panose="02070309020205020404" pitchFamily="49" charset="0"/>
              </a:rPr>
              <a:t>ALLEN      SALESMAN       1600</a:t>
            </a:r>
          </a:p>
        </p:txBody>
      </p:sp>
      <p:sp>
        <p:nvSpPr>
          <p:cNvPr id="92165" name="Rectangle 5">
            <a:extLst>
              <a:ext uri="{FF2B5EF4-FFF2-40B4-BE49-F238E27FC236}">
                <a16:creationId xmlns:a16="http://schemas.microsoft.com/office/drawing/2014/main" id="{AF955F85-3B16-B170-8BBE-431DF1BDAFCF}"/>
              </a:ext>
            </a:extLst>
          </p:cNvPr>
          <p:cNvSpPr>
            <a:spLocks noChangeArrowheads="1"/>
          </p:cNvSpPr>
          <p:nvPr/>
        </p:nvSpPr>
        <p:spPr bwMode="auto">
          <a:xfrm>
            <a:off x="900113" y="1346200"/>
            <a:ext cx="5864225" cy="498475"/>
          </a:xfrm>
          <a:prstGeom prst="rect">
            <a:avLst/>
          </a:prstGeom>
          <a:noFill/>
          <a:ln>
            <a:noFill/>
          </a:ln>
          <a:effectLst/>
        </p:spPr>
        <p:txBody>
          <a:bodyPr wrap="none" lIns="92075" tIns="46038" rIns="92075" bIns="46038">
            <a:spAutoFit/>
          </a:bodyPr>
          <a:lstStyle/>
          <a:p>
            <a:pPr defTabSz="346075">
              <a:lnSpc>
                <a:spcPct val="95000"/>
              </a:lnSpc>
              <a:spcBef>
                <a:spcPct val="35000"/>
              </a:spcBef>
              <a:tabLst>
                <a:tab pos="571500" algn="l"/>
              </a:tabLst>
              <a:defRPr/>
            </a:pPr>
            <a:r>
              <a:rPr lang="en-US" sz="2800" b="1">
                <a:effectLst>
                  <a:outerShdw blurRad="38100" dist="38100" dir="2700000" algn="tl">
                    <a:srgbClr val="FFFFFF"/>
                  </a:outerShdw>
                </a:effectLst>
                <a:latin typeface="Arial" charset="0"/>
              </a:rPr>
              <a:t>Use parentheses to force priority.</a:t>
            </a:r>
          </a:p>
        </p:txBody>
      </p:sp>
      <p:grpSp>
        <p:nvGrpSpPr>
          <p:cNvPr id="92166" name="Group 6">
            <a:extLst>
              <a:ext uri="{FF2B5EF4-FFF2-40B4-BE49-F238E27FC236}">
                <a16:creationId xmlns:a16="http://schemas.microsoft.com/office/drawing/2014/main" id="{DDCAEEB4-34F9-85EB-B08A-153260BEE5A8}"/>
              </a:ext>
            </a:extLst>
          </p:cNvPr>
          <p:cNvGrpSpPr>
            <a:grpSpLocks/>
          </p:cNvGrpSpPr>
          <p:nvPr/>
        </p:nvGrpSpPr>
        <p:grpSpPr bwMode="auto">
          <a:xfrm>
            <a:off x="1633538" y="2778125"/>
            <a:ext cx="1208087" cy="374650"/>
            <a:chOff x="1029" y="1750"/>
            <a:chExt cx="761" cy="236"/>
          </a:xfrm>
        </p:grpSpPr>
        <p:sp>
          <p:nvSpPr>
            <p:cNvPr id="25609" name="Rectangle 7">
              <a:extLst>
                <a:ext uri="{FF2B5EF4-FFF2-40B4-BE49-F238E27FC236}">
                  <a16:creationId xmlns:a16="http://schemas.microsoft.com/office/drawing/2014/main" id="{F498A0B1-05A6-E657-A852-8B19AE8F5789}"/>
                </a:ext>
              </a:extLst>
            </p:cNvPr>
            <p:cNvSpPr>
              <a:spLocks noChangeArrowheads="1"/>
            </p:cNvSpPr>
            <p:nvPr/>
          </p:nvSpPr>
          <p:spPr bwMode="ltGray">
            <a:xfrm>
              <a:off x="1029" y="1814"/>
              <a:ext cx="386" cy="172"/>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5610" name="Freeform 8">
              <a:extLst>
                <a:ext uri="{FF2B5EF4-FFF2-40B4-BE49-F238E27FC236}">
                  <a16:creationId xmlns:a16="http://schemas.microsoft.com/office/drawing/2014/main" id="{C2897E40-57DF-FE6C-B10C-821F24C7E37C}"/>
                </a:ext>
              </a:extLst>
            </p:cNvPr>
            <p:cNvSpPr>
              <a:spLocks/>
            </p:cNvSpPr>
            <p:nvPr/>
          </p:nvSpPr>
          <p:spPr bwMode="auto">
            <a:xfrm>
              <a:off x="1562" y="1750"/>
              <a:ext cx="228" cy="147"/>
            </a:xfrm>
            <a:custGeom>
              <a:avLst/>
              <a:gdLst>
                <a:gd name="T0" fmla="*/ 0 w 228"/>
                <a:gd name="T1" fmla="*/ 146 h 147"/>
                <a:gd name="T2" fmla="*/ 0 w 228"/>
                <a:gd name="T3" fmla="*/ 0 h 147"/>
                <a:gd name="T4" fmla="*/ 227 w 228"/>
                <a:gd name="T5" fmla="*/ 0 h 147"/>
                <a:gd name="T6" fmla="*/ 0 60000 65536"/>
                <a:gd name="T7" fmla="*/ 0 60000 65536"/>
                <a:gd name="T8" fmla="*/ 0 60000 65536"/>
              </a:gdLst>
              <a:ahLst/>
              <a:cxnLst>
                <a:cxn ang="T6">
                  <a:pos x="T0" y="T1"/>
                </a:cxn>
                <a:cxn ang="T7">
                  <a:pos x="T2" y="T3"/>
                </a:cxn>
                <a:cxn ang="T8">
                  <a:pos x="T4" y="T5"/>
                </a:cxn>
              </a:cxnLst>
              <a:rect l="0" t="0" r="r" b="b"/>
              <a:pathLst>
                <a:path w="228" h="147">
                  <a:moveTo>
                    <a:pt x="0" y="146"/>
                  </a:moveTo>
                  <a:lnTo>
                    <a:pt x="0" y="0"/>
                  </a:lnTo>
                  <a:lnTo>
                    <a:pt x="227" y="0"/>
                  </a:lnTo>
                </a:path>
              </a:pathLst>
            </a:custGeom>
            <a:noFill/>
            <a:ln w="25400" cap="rnd" cmpd="sng">
              <a:solidFill>
                <a:srgbClr val="FF0033"/>
              </a:solidFill>
              <a:prstDash val="solid"/>
              <a:round/>
              <a:headEnd type="none" w="sm" len="sm"/>
              <a:tailEnd type="stealth" w="med" len="lg"/>
            </a:ln>
            <a:effectLst>
              <a:outerShdw dist="1796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25611" name="Line 9">
              <a:extLst>
                <a:ext uri="{FF2B5EF4-FFF2-40B4-BE49-F238E27FC236}">
                  <a16:creationId xmlns:a16="http://schemas.microsoft.com/office/drawing/2014/main" id="{55C1DB29-5885-BEA1-F97B-25C0ED0FBAC2}"/>
                </a:ext>
              </a:extLst>
            </p:cNvPr>
            <p:cNvSpPr>
              <a:spLocks noChangeShapeType="1"/>
            </p:cNvSpPr>
            <p:nvPr/>
          </p:nvSpPr>
          <p:spPr bwMode="auto">
            <a:xfrm>
              <a:off x="1420" y="1907"/>
              <a:ext cx="369" cy="0"/>
            </a:xfrm>
            <a:prstGeom prst="line">
              <a:avLst/>
            </a:prstGeom>
            <a:noFill/>
            <a:ln w="25400">
              <a:solidFill>
                <a:srgbClr val="FF0033"/>
              </a:solidFill>
              <a:round/>
              <a:headEnd type="none" w="sm" len="sm"/>
              <a:tailEnd type="stealth" w="med" len="lg"/>
            </a:ln>
            <a:effectLst>
              <a:outerShdw dist="17961"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sp>
        <p:nvSpPr>
          <p:cNvPr id="92170" name="Rectangle 10">
            <a:extLst>
              <a:ext uri="{FF2B5EF4-FFF2-40B4-BE49-F238E27FC236}">
                <a16:creationId xmlns:a16="http://schemas.microsoft.com/office/drawing/2014/main" id="{9F24D4E4-7953-8C33-D9C8-05D0E6CD172B}"/>
              </a:ext>
            </a:extLst>
          </p:cNvPr>
          <p:cNvSpPr>
            <a:spLocks noChangeArrowheads="1"/>
          </p:cNvSpPr>
          <p:nvPr/>
        </p:nvSpPr>
        <p:spPr bwMode="ltGray">
          <a:xfrm>
            <a:off x="1631950" y="3155950"/>
            <a:ext cx="612775" cy="273050"/>
          </a:xfrm>
          <a:prstGeom prst="rect">
            <a:avLst/>
          </a:prstGeom>
          <a:solidFill>
            <a:srgbClr val="0099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5608" name="Rectangle 11">
            <a:extLst>
              <a:ext uri="{FF2B5EF4-FFF2-40B4-BE49-F238E27FC236}">
                <a16:creationId xmlns:a16="http://schemas.microsoft.com/office/drawing/2014/main" id="{57BBDAEC-85E6-000C-DE3C-133D611BD1C7}"/>
              </a:ext>
            </a:extLst>
          </p:cNvPr>
          <p:cNvSpPr>
            <a:spLocks noChangeArrowheads="1"/>
          </p:cNvSpPr>
          <p:nvPr/>
        </p:nvSpPr>
        <p:spPr bwMode="blackWhite">
          <a:xfrm>
            <a:off x="938213" y="2012950"/>
            <a:ext cx="7315200" cy="149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ename, job, sal</a:t>
            </a:r>
          </a:p>
          <a:p>
            <a:pPr>
              <a:spcBef>
                <a:spcPct val="0"/>
              </a:spcBef>
              <a:buFontTx/>
              <a:buNone/>
            </a:pPr>
            <a:r>
              <a:rPr lang="en-US" altLang="en-US" sz="1800" b="1">
                <a:solidFill>
                  <a:srgbClr val="000000"/>
                </a:solidFill>
                <a:latin typeface="Courier New" panose="02070309020205020404" pitchFamily="49" charset="0"/>
              </a:rPr>
              <a:t>  2  FROM     emp</a:t>
            </a:r>
          </a:p>
          <a:p>
            <a:pPr>
              <a:spcBef>
                <a:spcPct val="0"/>
              </a:spcBef>
              <a:buFontTx/>
              <a:buNone/>
            </a:pPr>
            <a:r>
              <a:rPr lang="en-US" altLang="en-US" sz="1800" b="1">
                <a:solidFill>
                  <a:srgbClr val="000000"/>
                </a:solidFill>
                <a:latin typeface="Courier New" panose="02070309020205020404" pitchFamily="49" charset="0"/>
              </a:rPr>
              <a:t>  3  WHERE    (job='SALESMAN'</a:t>
            </a:r>
          </a:p>
          <a:p>
            <a:pPr>
              <a:spcBef>
                <a:spcPct val="0"/>
              </a:spcBef>
              <a:buFontTx/>
              <a:buNone/>
            </a:pPr>
            <a:r>
              <a:rPr lang="en-US" altLang="en-US" sz="1800" b="1">
                <a:solidFill>
                  <a:srgbClr val="000000"/>
                </a:solidFill>
                <a:latin typeface="Courier New" panose="02070309020205020404" pitchFamily="49" charset="0"/>
              </a:rPr>
              <a:t>  4  OR       job='PRESIDENT')</a:t>
            </a:r>
          </a:p>
          <a:p>
            <a:pPr>
              <a:spcBef>
                <a:spcPct val="0"/>
              </a:spcBef>
              <a:buFontTx/>
              <a:buNone/>
            </a:pPr>
            <a:r>
              <a:rPr lang="en-US" altLang="en-US" sz="1800" b="1">
                <a:solidFill>
                  <a:srgbClr val="000000"/>
                </a:solidFill>
                <a:latin typeface="Courier New" panose="02070309020205020404" pitchFamily="49" charset="0"/>
              </a:rPr>
              <a:t>  5  AND      sal&gt;1500;</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2166"/>
                                        </p:tgtEl>
                                        <p:attrNameLst>
                                          <p:attrName>style.visibility</p:attrName>
                                        </p:attrNameLst>
                                      </p:cBhvr>
                                      <p:to>
                                        <p:strVal val="visible"/>
                                      </p:to>
                                    </p:set>
                                    <p:animEffect transition="in" filter="wipe(left)">
                                      <p:cBhvr>
                                        <p:cTn id="7" dur="500"/>
                                        <p:tgtEl>
                                          <p:spTgt spid="92166"/>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2170"/>
                                        </p:tgtEl>
                                        <p:attrNameLst>
                                          <p:attrName>style.visibility</p:attrName>
                                        </p:attrNameLst>
                                      </p:cBhvr>
                                      <p:to>
                                        <p:strVal val="visible"/>
                                      </p:to>
                                    </p:set>
                                    <p:animEffect transition="in" filter="wipe(left)">
                                      <p:cBhvr>
                                        <p:cTn id="11" dur="500"/>
                                        <p:tgtEl>
                                          <p:spTgt spid="92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7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a:extLst>
              <a:ext uri="{FF2B5EF4-FFF2-40B4-BE49-F238E27FC236}">
                <a16:creationId xmlns:a16="http://schemas.microsoft.com/office/drawing/2014/main" id="{7618CC4F-BA82-78C9-6C88-34D5AFA72300}"/>
              </a:ext>
            </a:extLst>
          </p:cNvPr>
          <p:cNvSpPr>
            <a:spLocks noGrp="1" noChangeArrowheads="1"/>
          </p:cNvSpPr>
          <p:nvPr>
            <p:ph type="title"/>
          </p:nvPr>
        </p:nvSpPr>
        <p:spPr>
          <a:xfrm>
            <a:off x="323850" y="617538"/>
            <a:ext cx="3362325" cy="43497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Pseudo Columns</a:t>
            </a:r>
          </a:p>
        </p:txBody>
      </p:sp>
      <p:sp>
        <p:nvSpPr>
          <p:cNvPr id="46083" name="Rectangle 5">
            <a:extLst>
              <a:ext uri="{FF2B5EF4-FFF2-40B4-BE49-F238E27FC236}">
                <a16:creationId xmlns:a16="http://schemas.microsoft.com/office/drawing/2014/main" id="{EB359632-E2FB-204C-548F-52DD101EA587}"/>
              </a:ext>
            </a:extLst>
          </p:cNvPr>
          <p:cNvSpPr>
            <a:spLocks noGrp="1" noChangeArrowheads="1"/>
          </p:cNvSpPr>
          <p:nvPr>
            <p:ph type="body" idx="1"/>
          </p:nvPr>
        </p:nvSpPr>
        <p:spPr>
          <a:xfrm>
            <a:off x="395288" y="1285875"/>
            <a:ext cx="8208962" cy="2160588"/>
          </a:xfrm>
        </p:spPr>
        <p:txBody>
          <a:bodyPr lIns="92075" tIns="46038" rIns="92075" bIns="46038">
            <a:spAutoFit/>
          </a:bodyPr>
          <a:lstStyle/>
          <a:p>
            <a:pPr marL="0" indent="0" algn="just">
              <a:buFontTx/>
              <a:buNone/>
              <a:defRPr/>
            </a:pPr>
            <a:r>
              <a:rPr lang="en-US" altLang="en-US" sz="2400" dirty="0">
                <a:solidFill>
                  <a:schemeClr val="accent2"/>
                </a:solidFill>
              </a:rPr>
              <a:t>Row Identifier (ROWID)</a:t>
            </a:r>
          </a:p>
          <a:p>
            <a:pPr algn="just">
              <a:buFont typeface="Arial" panose="020B0604020202020204" pitchFamily="34" charset="0"/>
              <a:buChar char="•"/>
              <a:defRPr/>
            </a:pPr>
            <a:r>
              <a:rPr lang="en-US" altLang="en-US" sz="2400" dirty="0"/>
              <a:t>Each row has an 18-digit unique identifier (ROWID), which is used internally by Oracle database. </a:t>
            </a:r>
          </a:p>
          <a:p>
            <a:pPr marL="0" indent="0" algn="just">
              <a:buFontTx/>
              <a:buNone/>
              <a:defRPr/>
            </a:pPr>
            <a:r>
              <a:rPr lang="en-US" altLang="en-US" sz="2400" dirty="0">
                <a:solidFill>
                  <a:schemeClr val="accent2"/>
                </a:solidFill>
              </a:rPr>
              <a:t>Row Number (ROWNUM)</a:t>
            </a:r>
          </a:p>
          <a:p>
            <a:pPr algn="just">
              <a:buFont typeface="Arial" panose="020B0604020202020204" pitchFamily="34" charset="0"/>
              <a:buChar char="•"/>
              <a:defRPr/>
            </a:pPr>
            <a:r>
              <a:rPr lang="en-US" altLang="en-US" sz="2400" dirty="0"/>
              <a:t>A unique row number of the rows returned by a query. </a:t>
            </a:r>
            <a:endParaRPr lang="en-US" altLang="en-US" dirty="0"/>
          </a:p>
        </p:txBody>
      </p:sp>
      <p:sp>
        <p:nvSpPr>
          <p:cNvPr id="27652" name="Rectangle 11">
            <a:extLst>
              <a:ext uri="{FF2B5EF4-FFF2-40B4-BE49-F238E27FC236}">
                <a16:creationId xmlns:a16="http://schemas.microsoft.com/office/drawing/2014/main" id="{25F5F6C5-805B-0763-1DF3-113314022F1A}"/>
              </a:ext>
            </a:extLst>
          </p:cNvPr>
          <p:cNvSpPr>
            <a:spLocks noChangeArrowheads="1"/>
          </p:cNvSpPr>
          <p:nvPr/>
        </p:nvSpPr>
        <p:spPr bwMode="blackWhite">
          <a:xfrm>
            <a:off x="973138" y="5013325"/>
            <a:ext cx="7197725" cy="11906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27653" name="Rectangle 13">
            <a:extLst>
              <a:ext uri="{FF2B5EF4-FFF2-40B4-BE49-F238E27FC236}">
                <a16:creationId xmlns:a16="http://schemas.microsoft.com/office/drawing/2014/main" id="{58CFA09E-BCA1-4CAD-3E3F-C7590287EF62}"/>
              </a:ext>
            </a:extLst>
          </p:cNvPr>
          <p:cNvSpPr>
            <a:spLocks noChangeArrowheads="1"/>
          </p:cNvSpPr>
          <p:nvPr/>
        </p:nvSpPr>
        <p:spPr bwMode="blackWhite">
          <a:xfrm>
            <a:off x="960438" y="5022850"/>
            <a:ext cx="7223125" cy="121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SELECT		[DISTINCT] {*| </a:t>
            </a:r>
            <a:r>
              <a:rPr lang="en-US" altLang="en-US" sz="1800" b="1" i="1" dirty="0">
                <a:solidFill>
                  <a:srgbClr val="000000"/>
                </a:solidFill>
                <a:latin typeface="Courier New" panose="02070309020205020404" pitchFamily="49" charset="0"/>
              </a:rPr>
              <a:t>column </a:t>
            </a:r>
            <a:r>
              <a:rPr lang="en-US" altLang="en-US" sz="1800" b="1" dirty="0">
                <a:solidFill>
                  <a:srgbClr val="000000"/>
                </a:solidFill>
                <a:latin typeface="Courier New" panose="02070309020205020404" pitchFamily="49" charset="0"/>
              </a:rPr>
              <a:t>[</a:t>
            </a:r>
            <a:r>
              <a:rPr lang="en-US" altLang="en-US" sz="1800" b="1" i="1" dirty="0">
                <a:solidFill>
                  <a:srgbClr val="000000"/>
                </a:solidFill>
                <a:latin typeface="Courier New" panose="02070309020205020404" pitchFamily="49" charset="0"/>
              </a:rPr>
              <a:t>alias</a:t>
            </a:r>
            <a:r>
              <a:rPr lang="en-US" altLang="en-US" sz="1800" b="1" dirty="0">
                <a:solidFill>
                  <a:srgbClr val="000000"/>
                </a:solidFill>
                <a:latin typeface="Courier New" panose="02070309020205020404" pitchFamily="49" charset="0"/>
              </a:rPr>
              <a:t>], ...}</a:t>
            </a:r>
          </a:p>
          <a:p>
            <a:pPr>
              <a:spcBef>
                <a:spcPct val="0"/>
              </a:spcBef>
              <a:buFontTx/>
              <a:buNone/>
            </a:pPr>
            <a:r>
              <a:rPr lang="en-US" altLang="en-US" sz="1800" b="1" dirty="0">
                <a:solidFill>
                  <a:srgbClr val="000000"/>
                </a:solidFill>
                <a:latin typeface="Courier New" panose="02070309020205020404" pitchFamily="49" charset="0"/>
              </a:rPr>
              <a:t>FROM 		</a:t>
            </a:r>
            <a:r>
              <a:rPr lang="en-US" altLang="en-US" sz="1800" b="1" i="1" dirty="0">
                <a:solidFill>
                  <a:srgbClr val="000000"/>
                </a:solidFill>
                <a:latin typeface="Courier New" panose="02070309020205020404" pitchFamily="49" charset="0"/>
              </a:rPr>
              <a:t>table</a:t>
            </a: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chemeClr val="accent2"/>
                </a:solidFill>
                <a:latin typeface="Courier New" panose="02070309020205020404" pitchFamily="49" charset="0"/>
              </a:rPr>
              <a:t>WHERE		</a:t>
            </a:r>
            <a:r>
              <a:rPr lang="en-US" altLang="en-US" sz="1800" b="1" dirty="0" err="1">
                <a:solidFill>
                  <a:schemeClr val="accent2"/>
                </a:solidFill>
                <a:latin typeface="Courier New" panose="02070309020205020404" pitchFamily="49" charset="0"/>
              </a:rPr>
              <a:t>rownum</a:t>
            </a:r>
            <a:r>
              <a:rPr lang="en-US" altLang="en-US" sz="1800" b="1" dirty="0">
                <a:solidFill>
                  <a:schemeClr val="accent2"/>
                </a:solidFill>
                <a:latin typeface="Courier New" panose="02070309020205020404" pitchFamily="49" charset="0"/>
              </a:rPr>
              <a:t> &lt;=10;</a:t>
            </a:r>
          </a:p>
        </p:txBody>
      </p:sp>
      <p:graphicFrame>
        <p:nvGraphicFramePr>
          <p:cNvPr id="2" name="Table 1">
            <a:extLst>
              <a:ext uri="{FF2B5EF4-FFF2-40B4-BE49-F238E27FC236}">
                <a16:creationId xmlns:a16="http://schemas.microsoft.com/office/drawing/2014/main" id="{4D20222A-6303-89BC-303B-1220A81D7C40}"/>
              </a:ext>
            </a:extLst>
          </p:cNvPr>
          <p:cNvGraphicFramePr>
            <a:graphicFrameLocks noGrp="1"/>
          </p:cNvGraphicFramePr>
          <p:nvPr/>
        </p:nvGraphicFramePr>
        <p:xfrm>
          <a:off x="960438" y="3455988"/>
          <a:ext cx="7197724" cy="1327151"/>
        </p:xfrm>
        <a:graphic>
          <a:graphicData uri="http://schemas.openxmlformats.org/drawingml/2006/table">
            <a:tbl>
              <a:tblPr/>
              <a:tblGrid>
                <a:gridCol w="3392283">
                  <a:extLst>
                    <a:ext uri="{9D8B030D-6E8A-4147-A177-3AD203B41FA5}">
                      <a16:colId xmlns:a16="http://schemas.microsoft.com/office/drawing/2014/main" val="20000"/>
                    </a:ext>
                  </a:extLst>
                </a:gridCol>
                <a:gridCol w="1432591">
                  <a:extLst>
                    <a:ext uri="{9D8B030D-6E8A-4147-A177-3AD203B41FA5}">
                      <a16:colId xmlns:a16="http://schemas.microsoft.com/office/drawing/2014/main" val="20001"/>
                    </a:ext>
                  </a:extLst>
                </a:gridCol>
                <a:gridCol w="1145092">
                  <a:extLst>
                    <a:ext uri="{9D8B030D-6E8A-4147-A177-3AD203B41FA5}">
                      <a16:colId xmlns:a16="http://schemas.microsoft.com/office/drawing/2014/main" val="20002"/>
                    </a:ext>
                  </a:extLst>
                </a:gridCol>
                <a:gridCol w="1227758">
                  <a:extLst>
                    <a:ext uri="{9D8B030D-6E8A-4147-A177-3AD203B41FA5}">
                      <a16:colId xmlns:a16="http://schemas.microsoft.com/office/drawing/2014/main" val="20003"/>
                    </a:ext>
                  </a:extLst>
                </a:gridCol>
              </a:tblGrid>
              <a:tr h="366110">
                <a:tc>
                  <a:txBody>
                    <a:bodyPr/>
                    <a:lstStyle/>
                    <a:p>
                      <a:pPr fontAlgn="b"/>
                      <a:r>
                        <a:rPr lang="en-US" sz="1800" b="1">
                          <a:solidFill>
                            <a:srgbClr val="FFFFFF"/>
                          </a:solidFill>
                          <a:effectLst/>
                        </a:rPr>
                        <a:t>ROWID</a:t>
                      </a:r>
                    </a:p>
                  </a:txBody>
                  <a:tcPr marL="68580" marR="68580" marT="45764" marB="45764"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a:solidFill>
                            <a:srgbClr val="FFFFFF"/>
                          </a:solidFill>
                          <a:effectLst/>
                        </a:rPr>
                        <a:t>ROWNUM</a:t>
                      </a:r>
                    </a:p>
                  </a:txBody>
                  <a:tcPr marL="68580" marR="68580" marT="45764" marB="45764"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a:solidFill>
                            <a:srgbClr val="FFFFFF"/>
                          </a:solidFill>
                          <a:effectLst/>
                        </a:rPr>
                        <a:t>EMPNO</a:t>
                      </a:r>
                    </a:p>
                  </a:txBody>
                  <a:tcPr marL="68580" marR="68580" marT="45764" marB="45764"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a:solidFill>
                            <a:srgbClr val="FFFFFF"/>
                          </a:solidFill>
                          <a:effectLst/>
                        </a:rPr>
                        <a:t>ENAME</a:t>
                      </a:r>
                    </a:p>
                  </a:txBody>
                  <a:tcPr marL="68580" marR="68580" marT="45764" marB="45764"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10000"/>
                  </a:ext>
                </a:extLst>
              </a:tr>
              <a:tr h="320347">
                <a:tc>
                  <a:txBody>
                    <a:bodyPr/>
                    <a:lstStyle/>
                    <a:p>
                      <a:r>
                        <a:rPr lang="en-US" sz="1800">
                          <a:effectLst/>
                        </a:rPr>
                        <a:t>AAAE5hAAEAAAAFeAAA</a:t>
                      </a:r>
                    </a:p>
                  </a:txBody>
                  <a:tcPr marL="68580" marR="68580" marT="22882" marB="22882"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1</a:t>
                      </a:r>
                    </a:p>
                  </a:txBody>
                  <a:tcPr marL="68580" marR="68580" marT="22882" marB="22882"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7839</a:t>
                      </a:r>
                    </a:p>
                  </a:txBody>
                  <a:tcPr marL="68580" marR="68580" marT="22882" marB="22882"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KING</a:t>
                      </a:r>
                    </a:p>
                  </a:txBody>
                  <a:tcPr marL="68580" marR="68580" marT="22882" marB="22882"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1"/>
                  </a:ext>
                </a:extLst>
              </a:tr>
              <a:tr h="320347">
                <a:tc>
                  <a:txBody>
                    <a:bodyPr/>
                    <a:lstStyle/>
                    <a:p>
                      <a:r>
                        <a:rPr lang="en-US" sz="1800">
                          <a:effectLst/>
                        </a:rPr>
                        <a:t>AAAE5hAAEAAAAFeAAC</a:t>
                      </a:r>
                    </a:p>
                  </a:txBody>
                  <a:tcPr marL="68580" marR="68580" marT="22882" marB="22882"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2</a:t>
                      </a:r>
                    </a:p>
                  </a:txBody>
                  <a:tcPr marL="68580" marR="68580" marT="22882" marB="22882"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7782</a:t>
                      </a:r>
                    </a:p>
                  </a:txBody>
                  <a:tcPr marL="68580" marR="68580" marT="22882" marB="22882"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CLARK</a:t>
                      </a:r>
                    </a:p>
                  </a:txBody>
                  <a:tcPr marL="68580" marR="68580" marT="22882" marB="22882"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2"/>
                  </a:ext>
                </a:extLst>
              </a:tr>
              <a:tr h="320347">
                <a:tc>
                  <a:txBody>
                    <a:bodyPr/>
                    <a:lstStyle/>
                    <a:p>
                      <a:r>
                        <a:rPr lang="en-US" sz="1800">
                          <a:effectLst/>
                        </a:rPr>
                        <a:t>AAAE5hAAEAAAAFeAAN</a:t>
                      </a:r>
                    </a:p>
                  </a:txBody>
                  <a:tcPr marL="68580" marR="68580" marT="22882" marB="22882"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1800">
                          <a:effectLst/>
                        </a:rPr>
                        <a:t>3</a:t>
                      </a:r>
                    </a:p>
                  </a:txBody>
                  <a:tcPr marL="68580" marR="68580" marT="22882" marB="22882"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1800">
                          <a:effectLst/>
                        </a:rPr>
                        <a:t>7934</a:t>
                      </a:r>
                    </a:p>
                  </a:txBody>
                  <a:tcPr marL="68580" marR="68580" marT="22882" marB="22882"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1800" dirty="0">
                          <a:effectLst/>
                        </a:rPr>
                        <a:t>MILLER</a:t>
                      </a:r>
                    </a:p>
                  </a:txBody>
                  <a:tcPr marL="68580" marR="68580" marT="22882" marB="22882"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10003"/>
                  </a:ext>
                </a:extLst>
              </a:tr>
            </a:tbl>
          </a:graphicData>
        </a:graphic>
      </p:graphicFrame>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a:extLst>
              <a:ext uri="{FF2B5EF4-FFF2-40B4-BE49-F238E27FC236}">
                <a16:creationId xmlns:a16="http://schemas.microsoft.com/office/drawing/2014/main" id="{BD1959D9-7E42-3262-CD9C-B1DFEB4E6B06}"/>
              </a:ext>
            </a:extLst>
          </p:cNvPr>
          <p:cNvSpPr>
            <a:spLocks noGrp="1" noChangeArrowheads="1"/>
          </p:cNvSpPr>
          <p:nvPr>
            <p:ph type="title"/>
          </p:nvPr>
        </p:nvSpPr>
        <p:spPr>
          <a:xfrm>
            <a:off x="323850" y="617538"/>
            <a:ext cx="3362325" cy="434975"/>
          </a:xfrm>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The DUAL Table</a:t>
            </a:r>
          </a:p>
        </p:txBody>
      </p:sp>
      <p:sp>
        <p:nvSpPr>
          <p:cNvPr id="29699" name="Rectangle 5">
            <a:extLst>
              <a:ext uri="{FF2B5EF4-FFF2-40B4-BE49-F238E27FC236}">
                <a16:creationId xmlns:a16="http://schemas.microsoft.com/office/drawing/2014/main" id="{D6AC7BC2-A113-C4E6-6206-618A8B5701AC}"/>
              </a:ext>
            </a:extLst>
          </p:cNvPr>
          <p:cNvSpPr>
            <a:spLocks noGrp="1" noChangeArrowheads="1"/>
          </p:cNvSpPr>
          <p:nvPr>
            <p:ph type="body" idx="1"/>
          </p:nvPr>
        </p:nvSpPr>
        <p:spPr>
          <a:xfrm>
            <a:off x="395288" y="1285875"/>
            <a:ext cx="8208962" cy="3490913"/>
          </a:xfrm>
        </p:spPr>
        <p:txBody>
          <a:bodyPr lIns="92075" tIns="46038" rIns="92075" bIns="46038">
            <a:spAutoFit/>
          </a:bodyPr>
          <a:lstStyle/>
          <a:p>
            <a:pPr algn="just"/>
            <a:r>
              <a:rPr lang="en-US" altLang="en-US" sz="2400"/>
              <a:t>The DUAL table is a dummy table. </a:t>
            </a:r>
          </a:p>
          <a:p>
            <a:pPr algn="just"/>
            <a:r>
              <a:rPr lang="en-US" altLang="en-US" sz="2400"/>
              <a:t>It has one column and one row. </a:t>
            </a:r>
          </a:p>
          <a:p>
            <a:pPr algn="just"/>
            <a:r>
              <a:rPr lang="en-US" altLang="en-US" sz="2400"/>
              <a:t>It is used to access </a:t>
            </a:r>
            <a:r>
              <a:rPr lang="en-US" altLang="en-US" sz="2400">
                <a:solidFill>
                  <a:schemeClr val="accent2"/>
                </a:solidFill>
              </a:rPr>
              <a:t>system variables</a:t>
            </a:r>
            <a:r>
              <a:rPr lang="en-US" altLang="en-US" sz="2400"/>
              <a:t> or the evaluate an expression. </a:t>
            </a:r>
          </a:p>
          <a:p>
            <a:pPr algn="just"/>
            <a:r>
              <a:rPr lang="en-US" altLang="en-US" sz="2400">
                <a:solidFill>
                  <a:schemeClr val="accent2"/>
                </a:solidFill>
              </a:rPr>
              <a:t>Examples:</a:t>
            </a:r>
          </a:p>
          <a:p>
            <a:pPr algn="just"/>
            <a:r>
              <a:rPr lang="en-US" altLang="en-US" sz="2400"/>
              <a:t>SELECT * FROM DUAL;</a:t>
            </a:r>
          </a:p>
          <a:p>
            <a:pPr algn="just"/>
            <a:r>
              <a:rPr lang="en-US" altLang="en-US" sz="2400"/>
              <a:t>SELECT SYSDATE,USER FROM DUAL;</a:t>
            </a:r>
          </a:p>
          <a:p>
            <a:pPr algn="just"/>
            <a:r>
              <a:rPr lang="en-US" altLang="en-US" sz="2400"/>
              <a:t>SELECT 2+3 FROM DUAL;</a:t>
            </a:r>
            <a:endParaRPr lang="en-US" altLang="en-US"/>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82DE2E05-0EC8-26AC-1F59-D53D9CD87A6B}"/>
              </a:ext>
            </a:extLst>
          </p:cNvPr>
          <p:cNvSpPr>
            <a:spLocks noGrp="1" noChangeArrowheads="1"/>
          </p:cNvSpPr>
          <p:nvPr>
            <p:ph type="title"/>
          </p:nvPr>
        </p:nvSpPr>
        <p:spPr>
          <a:xfrm>
            <a:off x="327025" y="660400"/>
            <a:ext cx="8277225" cy="53657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Other Comparison Operators</a:t>
            </a:r>
          </a:p>
        </p:txBody>
      </p:sp>
      <p:sp>
        <p:nvSpPr>
          <p:cNvPr id="31747" name="Rectangle 3">
            <a:extLst>
              <a:ext uri="{FF2B5EF4-FFF2-40B4-BE49-F238E27FC236}">
                <a16:creationId xmlns:a16="http://schemas.microsoft.com/office/drawing/2014/main" id="{C1303BC0-3700-AF9B-8FEB-0702A58A4368}"/>
              </a:ext>
            </a:extLst>
          </p:cNvPr>
          <p:cNvSpPr>
            <a:spLocks noChangeArrowheads="1"/>
          </p:cNvSpPr>
          <p:nvPr/>
        </p:nvSpPr>
        <p:spPr bwMode="blackWhite">
          <a:xfrm>
            <a:off x="1682750" y="1897063"/>
            <a:ext cx="1673225" cy="2759075"/>
          </a:xfrm>
          <a:prstGeom prst="rect">
            <a:avLst/>
          </a:prstGeom>
          <a:solidFill>
            <a:srgbClr val="FF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20000"/>
              </a:lnSpc>
              <a:spcBef>
                <a:spcPct val="60000"/>
              </a:spcBef>
              <a:buFontTx/>
              <a:buNone/>
            </a:pPr>
            <a:r>
              <a:rPr lang="en-US" altLang="en-US" sz="1800" b="1">
                <a:solidFill>
                  <a:srgbClr val="000000"/>
                </a:solidFill>
              </a:rPr>
              <a:t>Operator</a:t>
            </a:r>
          </a:p>
          <a:p>
            <a:pPr>
              <a:lnSpc>
                <a:spcPct val="120000"/>
              </a:lnSpc>
              <a:spcBef>
                <a:spcPct val="60000"/>
              </a:spcBef>
              <a:buFontTx/>
              <a:buNone/>
            </a:pPr>
            <a:r>
              <a:rPr lang="en-US" altLang="en-US" sz="1800" b="1">
                <a:solidFill>
                  <a:srgbClr val="000000"/>
                </a:solidFill>
              </a:rPr>
              <a:t>BETWEEN</a:t>
            </a:r>
            <a:br>
              <a:rPr lang="en-US" altLang="en-US" sz="1800" b="1">
                <a:solidFill>
                  <a:srgbClr val="000000"/>
                </a:solidFill>
              </a:rPr>
            </a:br>
            <a:r>
              <a:rPr lang="en-US" altLang="en-US" sz="1800" b="1">
                <a:solidFill>
                  <a:srgbClr val="000000"/>
                </a:solidFill>
              </a:rPr>
              <a:t>...AND...</a:t>
            </a:r>
          </a:p>
          <a:p>
            <a:pPr>
              <a:lnSpc>
                <a:spcPct val="120000"/>
              </a:lnSpc>
              <a:spcBef>
                <a:spcPct val="60000"/>
              </a:spcBef>
              <a:buFontTx/>
              <a:buNone/>
            </a:pPr>
            <a:r>
              <a:rPr lang="en-US" altLang="en-US" sz="1800" b="1">
                <a:solidFill>
                  <a:srgbClr val="000000"/>
                </a:solidFill>
              </a:rPr>
              <a:t>IN(list)</a:t>
            </a:r>
          </a:p>
          <a:p>
            <a:pPr>
              <a:lnSpc>
                <a:spcPct val="120000"/>
              </a:lnSpc>
              <a:spcBef>
                <a:spcPct val="60000"/>
              </a:spcBef>
              <a:buFontTx/>
              <a:buNone/>
            </a:pPr>
            <a:r>
              <a:rPr lang="en-US" altLang="en-US" sz="1800" b="1">
                <a:solidFill>
                  <a:srgbClr val="000000"/>
                </a:solidFill>
              </a:rPr>
              <a:t>LIKE</a:t>
            </a:r>
          </a:p>
          <a:p>
            <a:pPr>
              <a:lnSpc>
                <a:spcPct val="120000"/>
              </a:lnSpc>
              <a:spcBef>
                <a:spcPct val="60000"/>
              </a:spcBef>
              <a:buFontTx/>
              <a:buNone/>
            </a:pPr>
            <a:r>
              <a:rPr lang="en-US" altLang="en-US" sz="1800" b="1">
                <a:solidFill>
                  <a:srgbClr val="000000"/>
                </a:solidFill>
              </a:rPr>
              <a:t>IS NULL</a:t>
            </a:r>
          </a:p>
        </p:txBody>
      </p:sp>
      <p:sp>
        <p:nvSpPr>
          <p:cNvPr id="31748" name="Rectangle 4">
            <a:extLst>
              <a:ext uri="{FF2B5EF4-FFF2-40B4-BE49-F238E27FC236}">
                <a16:creationId xmlns:a16="http://schemas.microsoft.com/office/drawing/2014/main" id="{D0F19B5A-945A-30F2-C289-7F8F4F912E98}"/>
              </a:ext>
            </a:extLst>
          </p:cNvPr>
          <p:cNvSpPr>
            <a:spLocks noChangeArrowheads="1"/>
          </p:cNvSpPr>
          <p:nvPr/>
        </p:nvSpPr>
        <p:spPr bwMode="blackWhite">
          <a:xfrm>
            <a:off x="3338513" y="1897063"/>
            <a:ext cx="4090987" cy="2759075"/>
          </a:xfrm>
          <a:prstGeom prst="rect">
            <a:avLst/>
          </a:prstGeom>
          <a:solidFill>
            <a:srgbClr val="FF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20000"/>
              </a:lnSpc>
              <a:spcBef>
                <a:spcPct val="60000"/>
              </a:spcBef>
              <a:buFontTx/>
              <a:buNone/>
            </a:pPr>
            <a:r>
              <a:rPr lang="en-US" altLang="en-US" sz="1800" b="1">
                <a:solidFill>
                  <a:srgbClr val="000000"/>
                </a:solidFill>
              </a:rPr>
              <a:t>Meaning</a:t>
            </a:r>
          </a:p>
          <a:p>
            <a:pPr>
              <a:lnSpc>
                <a:spcPct val="120000"/>
              </a:lnSpc>
              <a:spcBef>
                <a:spcPct val="60000"/>
              </a:spcBef>
              <a:buFontTx/>
              <a:buNone/>
            </a:pPr>
            <a:r>
              <a:rPr lang="en-US" altLang="en-US" sz="1800" b="1">
                <a:solidFill>
                  <a:srgbClr val="000000"/>
                </a:solidFill>
              </a:rPr>
              <a:t>Between two values (inclusive)	</a:t>
            </a:r>
            <a:br>
              <a:rPr lang="en-US" altLang="en-US" sz="1800" b="1">
                <a:solidFill>
                  <a:srgbClr val="000000"/>
                </a:solidFill>
              </a:rPr>
            </a:br>
            <a:endParaRPr lang="en-US" altLang="en-US" sz="1800" b="1">
              <a:solidFill>
                <a:srgbClr val="000000"/>
              </a:solidFill>
            </a:endParaRPr>
          </a:p>
          <a:p>
            <a:pPr>
              <a:lnSpc>
                <a:spcPct val="120000"/>
              </a:lnSpc>
              <a:spcBef>
                <a:spcPct val="60000"/>
              </a:spcBef>
              <a:buFontTx/>
              <a:buNone/>
            </a:pPr>
            <a:r>
              <a:rPr lang="en-US" altLang="en-US" sz="1800" b="1">
                <a:solidFill>
                  <a:srgbClr val="000000"/>
                </a:solidFill>
              </a:rPr>
              <a:t>Match any of a list of values </a:t>
            </a:r>
          </a:p>
          <a:p>
            <a:pPr>
              <a:lnSpc>
                <a:spcPct val="120000"/>
              </a:lnSpc>
              <a:spcBef>
                <a:spcPct val="60000"/>
              </a:spcBef>
              <a:buFontTx/>
              <a:buNone/>
            </a:pPr>
            <a:r>
              <a:rPr lang="en-US" altLang="en-US" sz="1800" b="1">
                <a:solidFill>
                  <a:srgbClr val="000000"/>
                </a:solidFill>
              </a:rPr>
              <a:t>Match a character pattern </a:t>
            </a:r>
          </a:p>
          <a:p>
            <a:pPr>
              <a:lnSpc>
                <a:spcPct val="120000"/>
              </a:lnSpc>
              <a:spcBef>
                <a:spcPct val="60000"/>
              </a:spcBef>
              <a:buFontTx/>
              <a:buNone/>
            </a:pPr>
            <a:r>
              <a:rPr lang="en-US" altLang="en-US" sz="1800" b="1">
                <a:solidFill>
                  <a:srgbClr val="000000"/>
                </a:solidFill>
              </a:rPr>
              <a:t>Is a null value </a:t>
            </a:r>
          </a:p>
        </p:txBody>
      </p:sp>
      <p:sp>
        <p:nvSpPr>
          <p:cNvPr id="31749" name="Line 5">
            <a:extLst>
              <a:ext uri="{FF2B5EF4-FFF2-40B4-BE49-F238E27FC236}">
                <a16:creationId xmlns:a16="http://schemas.microsoft.com/office/drawing/2014/main" id="{018F5FF0-D629-30E1-BCFA-4EF1370475E8}"/>
              </a:ext>
            </a:extLst>
          </p:cNvPr>
          <p:cNvSpPr>
            <a:spLocks noChangeShapeType="1"/>
          </p:cNvSpPr>
          <p:nvPr/>
        </p:nvSpPr>
        <p:spPr bwMode="auto">
          <a:xfrm>
            <a:off x="1682750" y="2316163"/>
            <a:ext cx="5735638" cy="7937"/>
          </a:xfrm>
          <a:prstGeom prst="line">
            <a:avLst/>
          </a:prstGeom>
          <a:noFill/>
          <a:ln w="508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50" name="Line 6">
            <a:extLst>
              <a:ext uri="{FF2B5EF4-FFF2-40B4-BE49-F238E27FC236}">
                <a16:creationId xmlns:a16="http://schemas.microsoft.com/office/drawing/2014/main" id="{40839068-F8A9-E23F-1AE1-54A94AD37B3B}"/>
              </a:ext>
            </a:extLst>
          </p:cNvPr>
          <p:cNvSpPr>
            <a:spLocks noChangeShapeType="1"/>
          </p:cNvSpPr>
          <p:nvPr/>
        </p:nvSpPr>
        <p:spPr bwMode="auto">
          <a:xfrm>
            <a:off x="1663700" y="3178175"/>
            <a:ext cx="5765800"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51" name="Line 7">
            <a:extLst>
              <a:ext uri="{FF2B5EF4-FFF2-40B4-BE49-F238E27FC236}">
                <a16:creationId xmlns:a16="http://schemas.microsoft.com/office/drawing/2014/main" id="{36699906-A9A9-7AD1-60AA-B39B4A4EF13F}"/>
              </a:ext>
            </a:extLst>
          </p:cNvPr>
          <p:cNvSpPr>
            <a:spLocks noChangeShapeType="1"/>
          </p:cNvSpPr>
          <p:nvPr/>
        </p:nvSpPr>
        <p:spPr bwMode="auto">
          <a:xfrm>
            <a:off x="1676400" y="3678238"/>
            <a:ext cx="5746750"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52" name="Line 8">
            <a:extLst>
              <a:ext uri="{FF2B5EF4-FFF2-40B4-BE49-F238E27FC236}">
                <a16:creationId xmlns:a16="http://schemas.microsoft.com/office/drawing/2014/main" id="{3AA641FA-5D9C-4557-13C8-83A2A86F5778}"/>
              </a:ext>
            </a:extLst>
          </p:cNvPr>
          <p:cNvSpPr>
            <a:spLocks noChangeShapeType="1"/>
          </p:cNvSpPr>
          <p:nvPr/>
        </p:nvSpPr>
        <p:spPr bwMode="auto">
          <a:xfrm>
            <a:off x="1676400" y="4171950"/>
            <a:ext cx="5746750"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AC15AD2C-EFE6-36A7-8E52-D8D150E2EA14}"/>
              </a:ext>
            </a:extLst>
          </p:cNvPr>
          <p:cNvSpPr>
            <a:spLocks noChangeArrowheads="1"/>
          </p:cNvSpPr>
          <p:nvPr/>
        </p:nvSpPr>
        <p:spPr bwMode="blackWhite">
          <a:xfrm>
            <a:off x="925513" y="2393950"/>
            <a:ext cx="7265987" cy="91598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33795" name="Rectangle 3">
            <a:extLst>
              <a:ext uri="{FF2B5EF4-FFF2-40B4-BE49-F238E27FC236}">
                <a16:creationId xmlns:a16="http://schemas.microsoft.com/office/drawing/2014/main" id="{9A9945F7-8B3C-1032-A09C-31A28B41AAD9}"/>
              </a:ext>
            </a:extLst>
          </p:cNvPr>
          <p:cNvSpPr>
            <a:spLocks noChangeArrowheads="1"/>
          </p:cNvSpPr>
          <p:nvPr/>
        </p:nvSpPr>
        <p:spPr bwMode="blackWhite">
          <a:xfrm>
            <a:off x="925513" y="3487738"/>
            <a:ext cx="7289800" cy="2138362"/>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33796" name="Rectangle 4">
            <a:extLst>
              <a:ext uri="{FF2B5EF4-FFF2-40B4-BE49-F238E27FC236}">
                <a16:creationId xmlns:a16="http://schemas.microsoft.com/office/drawing/2014/main" id="{2455C088-1CD8-DF20-8A10-C9B0CBB003CE}"/>
              </a:ext>
            </a:extLst>
          </p:cNvPr>
          <p:cNvSpPr>
            <a:spLocks noGrp="1" noChangeArrowheads="1"/>
          </p:cNvSpPr>
          <p:nvPr>
            <p:ph type="title"/>
          </p:nvPr>
        </p:nvSpPr>
        <p:spPr>
          <a:xfrm>
            <a:off x="323850" y="620713"/>
            <a:ext cx="5075238" cy="53657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dirty="0">
                <a:solidFill>
                  <a:srgbClr val="800000"/>
                </a:solidFill>
              </a:rPr>
              <a:t>BETWEEN Operator</a:t>
            </a:r>
          </a:p>
        </p:txBody>
      </p:sp>
      <p:grpSp>
        <p:nvGrpSpPr>
          <p:cNvPr id="96261" name="Group 5">
            <a:extLst>
              <a:ext uri="{FF2B5EF4-FFF2-40B4-BE49-F238E27FC236}">
                <a16:creationId xmlns:a16="http://schemas.microsoft.com/office/drawing/2014/main" id="{EE0CBBBB-43F4-84B3-57AC-9A15D09230E0}"/>
              </a:ext>
            </a:extLst>
          </p:cNvPr>
          <p:cNvGrpSpPr>
            <a:grpSpLocks/>
          </p:cNvGrpSpPr>
          <p:nvPr/>
        </p:nvGrpSpPr>
        <p:grpSpPr bwMode="auto">
          <a:xfrm>
            <a:off x="2506663" y="2968625"/>
            <a:ext cx="3932237" cy="2536825"/>
            <a:chOff x="1579" y="1870"/>
            <a:chExt cx="2477" cy="1598"/>
          </a:xfrm>
        </p:grpSpPr>
        <p:sp>
          <p:nvSpPr>
            <p:cNvPr id="33811" name="Rectangle 6">
              <a:extLst>
                <a:ext uri="{FF2B5EF4-FFF2-40B4-BE49-F238E27FC236}">
                  <a16:creationId xmlns:a16="http://schemas.microsoft.com/office/drawing/2014/main" id="{2792B4AE-ABE9-C273-BA17-14AA354D61FC}"/>
                </a:ext>
              </a:extLst>
            </p:cNvPr>
            <p:cNvSpPr>
              <a:spLocks noChangeArrowheads="1"/>
            </p:cNvSpPr>
            <p:nvPr/>
          </p:nvSpPr>
          <p:spPr bwMode="ltGray">
            <a:xfrm>
              <a:off x="1763" y="1870"/>
              <a:ext cx="2293" cy="195"/>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3812" name="Rectangle 7">
              <a:extLst>
                <a:ext uri="{FF2B5EF4-FFF2-40B4-BE49-F238E27FC236}">
                  <a16:creationId xmlns:a16="http://schemas.microsoft.com/office/drawing/2014/main" id="{D86C5EC3-128E-07E9-F2CC-BDA9641EAD35}"/>
                </a:ext>
              </a:extLst>
            </p:cNvPr>
            <p:cNvSpPr>
              <a:spLocks noChangeArrowheads="1"/>
            </p:cNvSpPr>
            <p:nvPr/>
          </p:nvSpPr>
          <p:spPr bwMode="ltGray">
            <a:xfrm>
              <a:off x="1579" y="2238"/>
              <a:ext cx="845" cy="1230"/>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sp>
        <p:nvSpPr>
          <p:cNvPr id="33798" name="Rectangle 8">
            <a:extLst>
              <a:ext uri="{FF2B5EF4-FFF2-40B4-BE49-F238E27FC236}">
                <a16:creationId xmlns:a16="http://schemas.microsoft.com/office/drawing/2014/main" id="{4A69D53A-74F7-6281-141B-E4A3EDA8C08D}"/>
              </a:ext>
            </a:extLst>
          </p:cNvPr>
          <p:cNvSpPr>
            <a:spLocks noChangeArrowheads="1"/>
          </p:cNvSpPr>
          <p:nvPr/>
        </p:nvSpPr>
        <p:spPr bwMode="blackWhite">
          <a:xfrm>
            <a:off x="925513" y="3246438"/>
            <a:ext cx="7315200" cy="286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ENAME            SAL</a:t>
            </a:r>
          </a:p>
          <a:p>
            <a:pPr>
              <a:spcBef>
                <a:spcPct val="0"/>
              </a:spcBef>
              <a:buFontTx/>
              <a:buNone/>
            </a:pPr>
            <a:r>
              <a:rPr lang="en-US" altLang="en-US" sz="1800" b="1">
                <a:solidFill>
                  <a:srgbClr val="000000"/>
                </a:solidFill>
                <a:latin typeface="Courier New" panose="02070309020205020404" pitchFamily="49" charset="0"/>
              </a:rPr>
              <a:t>---------- ---------</a:t>
            </a:r>
          </a:p>
          <a:p>
            <a:pPr>
              <a:spcBef>
                <a:spcPct val="0"/>
              </a:spcBef>
              <a:buFontTx/>
              <a:buNone/>
            </a:pPr>
            <a:r>
              <a:rPr lang="en-US" altLang="en-US" sz="1800" b="1">
                <a:solidFill>
                  <a:srgbClr val="000000"/>
                </a:solidFill>
                <a:latin typeface="Courier New" panose="02070309020205020404" pitchFamily="49" charset="0"/>
              </a:rPr>
              <a:t>MARTIN          1250</a:t>
            </a:r>
          </a:p>
          <a:p>
            <a:pPr>
              <a:spcBef>
                <a:spcPct val="0"/>
              </a:spcBef>
              <a:buFontTx/>
              <a:buNone/>
            </a:pPr>
            <a:r>
              <a:rPr lang="en-US" altLang="en-US" sz="1800" b="1">
                <a:solidFill>
                  <a:srgbClr val="000000"/>
                </a:solidFill>
                <a:latin typeface="Courier New" panose="02070309020205020404" pitchFamily="49" charset="0"/>
              </a:rPr>
              <a:t>TURNER          1500</a:t>
            </a:r>
          </a:p>
          <a:p>
            <a:pPr>
              <a:spcBef>
                <a:spcPct val="0"/>
              </a:spcBef>
              <a:buFontTx/>
              <a:buNone/>
            </a:pPr>
            <a:r>
              <a:rPr lang="en-US" altLang="en-US" sz="1800" b="1">
                <a:solidFill>
                  <a:srgbClr val="000000"/>
                </a:solidFill>
                <a:latin typeface="Courier New" panose="02070309020205020404" pitchFamily="49" charset="0"/>
              </a:rPr>
              <a:t>WARD            1250</a:t>
            </a:r>
          </a:p>
          <a:p>
            <a:pPr>
              <a:spcBef>
                <a:spcPct val="0"/>
              </a:spcBef>
              <a:buFontTx/>
              <a:buNone/>
            </a:pPr>
            <a:r>
              <a:rPr lang="en-US" altLang="en-US" sz="1800" b="1">
                <a:solidFill>
                  <a:srgbClr val="000000"/>
                </a:solidFill>
                <a:latin typeface="Courier New" panose="02070309020205020404" pitchFamily="49" charset="0"/>
              </a:rPr>
              <a:t>ADAMS           1100</a:t>
            </a:r>
          </a:p>
          <a:p>
            <a:pPr>
              <a:spcBef>
                <a:spcPct val="0"/>
              </a:spcBef>
              <a:buFontTx/>
              <a:buNone/>
            </a:pPr>
            <a:r>
              <a:rPr lang="en-US" altLang="en-US" sz="1800" b="1">
                <a:solidFill>
                  <a:srgbClr val="000000"/>
                </a:solidFill>
                <a:latin typeface="Courier New" panose="02070309020205020404" pitchFamily="49" charset="0"/>
              </a:rPr>
              <a:t>MILLER          1300</a:t>
            </a:r>
          </a:p>
          <a:p>
            <a:pPr>
              <a:spcBef>
                <a:spcPct val="0"/>
              </a:spcBef>
              <a:buFontTx/>
              <a:buNone/>
            </a:pPr>
            <a:endParaRPr lang="en-US" altLang="en-US" sz="1800" b="1">
              <a:solidFill>
                <a:srgbClr val="000000"/>
              </a:solidFill>
              <a:latin typeface="Courier New" panose="02070309020205020404" pitchFamily="49" charset="0"/>
            </a:endParaRPr>
          </a:p>
        </p:txBody>
      </p:sp>
      <p:grpSp>
        <p:nvGrpSpPr>
          <p:cNvPr id="96265" name="Group 9">
            <a:extLst>
              <a:ext uri="{FF2B5EF4-FFF2-40B4-BE49-F238E27FC236}">
                <a16:creationId xmlns:a16="http://schemas.microsoft.com/office/drawing/2014/main" id="{96677988-A8CF-A058-1E26-27F5451D0329}"/>
              </a:ext>
            </a:extLst>
          </p:cNvPr>
          <p:cNvGrpSpPr>
            <a:grpSpLocks/>
          </p:cNvGrpSpPr>
          <p:nvPr/>
        </p:nvGrpSpPr>
        <p:grpSpPr bwMode="auto">
          <a:xfrm>
            <a:off x="3365500" y="2971800"/>
            <a:ext cx="2311400" cy="307975"/>
            <a:chOff x="2120" y="1872"/>
            <a:chExt cx="1456" cy="194"/>
          </a:xfrm>
        </p:grpSpPr>
        <p:sp>
          <p:nvSpPr>
            <p:cNvPr id="33809" name="Rectangle 10">
              <a:extLst>
                <a:ext uri="{FF2B5EF4-FFF2-40B4-BE49-F238E27FC236}">
                  <a16:creationId xmlns:a16="http://schemas.microsoft.com/office/drawing/2014/main" id="{B88FD4EC-A090-FB98-7A8D-426325F8BD8B}"/>
                </a:ext>
              </a:extLst>
            </p:cNvPr>
            <p:cNvSpPr>
              <a:spLocks noChangeArrowheads="1"/>
            </p:cNvSpPr>
            <p:nvPr/>
          </p:nvSpPr>
          <p:spPr bwMode="ltGray">
            <a:xfrm>
              <a:off x="2120" y="1872"/>
              <a:ext cx="664" cy="194"/>
            </a:xfrm>
            <a:prstGeom prst="rect">
              <a:avLst/>
            </a:prstGeom>
            <a:solidFill>
              <a:srgbClr val="FF00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3810" name="Rectangle 11">
              <a:extLst>
                <a:ext uri="{FF2B5EF4-FFF2-40B4-BE49-F238E27FC236}">
                  <a16:creationId xmlns:a16="http://schemas.microsoft.com/office/drawing/2014/main" id="{085140D6-BDE3-6763-5ADA-2B59D525C758}"/>
                </a:ext>
              </a:extLst>
            </p:cNvPr>
            <p:cNvSpPr>
              <a:spLocks noChangeArrowheads="1"/>
            </p:cNvSpPr>
            <p:nvPr/>
          </p:nvSpPr>
          <p:spPr bwMode="ltGray">
            <a:xfrm>
              <a:off x="3236" y="1872"/>
              <a:ext cx="340" cy="194"/>
            </a:xfrm>
            <a:prstGeom prst="rect">
              <a:avLst/>
            </a:prstGeom>
            <a:solidFill>
              <a:srgbClr val="FF00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sp>
        <p:nvSpPr>
          <p:cNvPr id="33800" name="Rectangle 12">
            <a:extLst>
              <a:ext uri="{FF2B5EF4-FFF2-40B4-BE49-F238E27FC236}">
                <a16:creationId xmlns:a16="http://schemas.microsoft.com/office/drawing/2014/main" id="{948648C5-FD64-DB45-8731-4ED743920FE7}"/>
              </a:ext>
            </a:extLst>
          </p:cNvPr>
          <p:cNvSpPr>
            <a:spLocks noChangeArrowheads="1"/>
          </p:cNvSpPr>
          <p:nvPr/>
        </p:nvSpPr>
        <p:spPr bwMode="blackWhite">
          <a:xfrm>
            <a:off x="925513" y="2381250"/>
            <a:ext cx="7291387" cy="941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ename, sal</a:t>
            </a:r>
          </a:p>
          <a:p>
            <a:pPr>
              <a:spcBef>
                <a:spcPct val="0"/>
              </a:spcBef>
              <a:buFontTx/>
              <a:buNone/>
            </a:pPr>
            <a:r>
              <a:rPr lang="en-US" altLang="en-US" sz="1800" b="1">
                <a:solidFill>
                  <a:srgbClr val="000000"/>
                </a:solidFill>
                <a:latin typeface="Courier New" panose="02070309020205020404" pitchFamily="49" charset="0"/>
              </a:rPr>
              <a:t>  2  FROM 	emp</a:t>
            </a:r>
          </a:p>
          <a:p>
            <a:pPr>
              <a:spcBef>
                <a:spcPct val="0"/>
              </a:spcBef>
              <a:buFontTx/>
              <a:buNone/>
            </a:pPr>
            <a:r>
              <a:rPr lang="en-US" altLang="en-US" sz="1800" b="1">
                <a:solidFill>
                  <a:srgbClr val="000000"/>
                </a:solidFill>
                <a:latin typeface="Courier New" panose="02070309020205020404" pitchFamily="49" charset="0"/>
              </a:rPr>
              <a:t>  3  WHERE	sal BETWEEN 1000 AND 1500;</a:t>
            </a:r>
          </a:p>
        </p:txBody>
      </p:sp>
      <p:grpSp>
        <p:nvGrpSpPr>
          <p:cNvPr id="96269" name="Group 13">
            <a:extLst>
              <a:ext uri="{FF2B5EF4-FFF2-40B4-BE49-F238E27FC236}">
                <a16:creationId xmlns:a16="http://schemas.microsoft.com/office/drawing/2014/main" id="{05639379-62CA-F6DD-C4B3-41DD31348B1A}"/>
              </a:ext>
            </a:extLst>
          </p:cNvPr>
          <p:cNvGrpSpPr>
            <a:grpSpLocks/>
          </p:cNvGrpSpPr>
          <p:nvPr/>
        </p:nvGrpSpPr>
        <p:grpSpPr bwMode="auto">
          <a:xfrm>
            <a:off x="4316413" y="3200400"/>
            <a:ext cx="2139950" cy="1212850"/>
            <a:chOff x="2719" y="2016"/>
            <a:chExt cx="1348" cy="764"/>
          </a:xfrm>
        </p:grpSpPr>
        <p:grpSp>
          <p:nvGrpSpPr>
            <p:cNvPr id="33803" name="Group 14">
              <a:extLst>
                <a:ext uri="{FF2B5EF4-FFF2-40B4-BE49-F238E27FC236}">
                  <a16:creationId xmlns:a16="http://schemas.microsoft.com/office/drawing/2014/main" id="{22A5E5E0-A3D5-14B5-CD4C-6DAA82B23DAD}"/>
                </a:ext>
              </a:extLst>
            </p:cNvPr>
            <p:cNvGrpSpPr>
              <a:grpSpLocks/>
            </p:cNvGrpSpPr>
            <p:nvPr/>
          </p:nvGrpSpPr>
          <p:grpSpPr bwMode="auto">
            <a:xfrm>
              <a:off x="2719" y="2016"/>
              <a:ext cx="540" cy="764"/>
              <a:chOff x="2719" y="2016"/>
              <a:chExt cx="540" cy="764"/>
            </a:xfrm>
          </p:grpSpPr>
          <p:sp>
            <p:nvSpPr>
              <p:cNvPr id="33807" name="Rectangle 15">
                <a:extLst>
                  <a:ext uri="{FF2B5EF4-FFF2-40B4-BE49-F238E27FC236}">
                    <a16:creationId xmlns:a16="http://schemas.microsoft.com/office/drawing/2014/main" id="{C1575731-A250-BFAD-CD1E-745CCF3556CD}"/>
                  </a:ext>
                </a:extLst>
              </p:cNvPr>
              <p:cNvSpPr>
                <a:spLocks noChangeArrowheads="1"/>
              </p:cNvSpPr>
              <p:nvPr/>
            </p:nvSpPr>
            <p:spPr bwMode="auto">
              <a:xfrm>
                <a:off x="2719" y="2376"/>
                <a:ext cx="54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60000"/>
                  </a:spcBef>
                  <a:buFontTx/>
                  <a:buNone/>
                </a:pPr>
                <a:r>
                  <a:rPr lang="en-US" altLang="en-US" sz="1800" b="1">
                    <a:solidFill>
                      <a:srgbClr val="000000"/>
                    </a:solidFill>
                  </a:rPr>
                  <a:t>Lower</a:t>
                </a:r>
                <a:br>
                  <a:rPr lang="en-US" altLang="en-US" sz="1800" b="1">
                    <a:solidFill>
                      <a:srgbClr val="000000"/>
                    </a:solidFill>
                  </a:rPr>
                </a:br>
                <a:r>
                  <a:rPr lang="en-US" altLang="en-US" sz="1800" b="1">
                    <a:solidFill>
                      <a:srgbClr val="000000"/>
                    </a:solidFill>
                  </a:rPr>
                  <a:t>limit</a:t>
                </a:r>
              </a:p>
            </p:txBody>
          </p:sp>
          <p:sp>
            <p:nvSpPr>
              <p:cNvPr id="33808" name="Line 16">
                <a:extLst>
                  <a:ext uri="{FF2B5EF4-FFF2-40B4-BE49-F238E27FC236}">
                    <a16:creationId xmlns:a16="http://schemas.microsoft.com/office/drawing/2014/main" id="{F1484612-C0FA-5964-F5D7-EA309F811BDA}"/>
                  </a:ext>
                </a:extLst>
              </p:cNvPr>
              <p:cNvSpPr>
                <a:spLocks noChangeShapeType="1"/>
              </p:cNvSpPr>
              <p:nvPr/>
            </p:nvSpPr>
            <p:spPr bwMode="auto">
              <a:xfrm>
                <a:off x="2976" y="2016"/>
                <a:ext cx="0" cy="324"/>
              </a:xfrm>
              <a:prstGeom prst="line">
                <a:avLst/>
              </a:prstGeom>
              <a:noFill/>
              <a:ln w="25400">
                <a:solidFill>
                  <a:srgbClr val="FF0033"/>
                </a:solidFill>
                <a:round/>
                <a:headEnd type="stealth" w="med" len="lg"/>
                <a:tailEnd type="none" w="sm" len="sm"/>
              </a:ln>
              <a:effectLst>
                <a:outerShdw dist="17961"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grpSp>
          <p:nvGrpSpPr>
            <p:cNvPr id="33804" name="Group 17">
              <a:extLst>
                <a:ext uri="{FF2B5EF4-FFF2-40B4-BE49-F238E27FC236}">
                  <a16:creationId xmlns:a16="http://schemas.microsoft.com/office/drawing/2014/main" id="{E5C9A094-6B80-876A-4893-B91B21130301}"/>
                </a:ext>
              </a:extLst>
            </p:cNvPr>
            <p:cNvGrpSpPr>
              <a:grpSpLocks/>
            </p:cNvGrpSpPr>
            <p:nvPr/>
          </p:nvGrpSpPr>
          <p:grpSpPr bwMode="auto">
            <a:xfrm>
              <a:off x="3495" y="2016"/>
              <a:ext cx="572" cy="764"/>
              <a:chOff x="3495" y="2016"/>
              <a:chExt cx="572" cy="764"/>
            </a:xfrm>
          </p:grpSpPr>
          <p:sp>
            <p:nvSpPr>
              <p:cNvPr id="33805" name="Rectangle 18">
                <a:extLst>
                  <a:ext uri="{FF2B5EF4-FFF2-40B4-BE49-F238E27FC236}">
                    <a16:creationId xmlns:a16="http://schemas.microsoft.com/office/drawing/2014/main" id="{867CE4D7-B8B1-5810-BB5B-E14D0B6FDE7C}"/>
                  </a:ext>
                </a:extLst>
              </p:cNvPr>
              <p:cNvSpPr>
                <a:spLocks noChangeArrowheads="1"/>
              </p:cNvSpPr>
              <p:nvPr/>
            </p:nvSpPr>
            <p:spPr bwMode="auto">
              <a:xfrm>
                <a:off x="3495" y="2376"/>
                <a:ext cx="57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60000"/>
                  </a:spcBef>
                  <a:buFontTx/>
                  <a:buNone/>
                </a:pPr>
                <a:r>
                  <a:rPr lang="en-US" altLang="en-US" sz="1800" b="1">
                    <a:solidFill>
                      <a:srgbClr val="000000"/>
                    </a:solidFill>
                  </a:rPr>
                  <a:t>Higher</a:t>
                </a:r>
                <a:br>
                  <a:rPr lang="en-US" altLang="en-US" sz="1800" b="1">
                    <a:solidFill>
                      <a:srgbClr val="000000"/>
                    </a:solidFill>
                  </a:rPr>
                </a:br>
                <a:r>
                  <a:rPr lang="en-US" altLang="en-US" sz="1800" b="1">
                    <a:solidFill>
                      <a:srgbClr val="000000"/>
                    </a:solidFill>
                  </a:rPr>
                  <a:t>limit</a:t>
                </a:r>
              </a:p>
            </p:txBody>
          </p:sp>
          <p:sp>
            <p:nvSpPr>
              <p:cNvPr id="33806" name="Line 19">
                <a:extLst>
                  <a:ext uri="{FF2B5EF4-FFF2-40B4-BE49-F238E27FC236}">
                    <a16:creationId xmlns:a16="http://schemas.microsoft.com/office/drawing/2014/main" id="{E600160F-3EE1-DEB2-EDAC-A43F78122430}"/>
                  </a:ext>
                </a:extLst>
              </p:cNvPr>
              <p:cNvSpPr>
                <a:spLocks noChangeShapeType="1"/>
              </p:cNvSpPr>
              <p:nvPr/>
            </p:nvSpPr>
            <p:spPr bwMode="auto">
              <a:xfrm>
                <a:off x="3768" y="2016"/>
                <a:ext cx="0" cy="324"/>
              </a:xfrm>
              <a:prstGeom prst="line">
                <a:avLst/>
              </a:prstGeom>
              <a:noFill/>
              <a:ln w="25400">
                <a:solidFill>
                  <a:srgbClr val="FF0033"/>
                </a:solidFill>
                <a:round/>
                <a:headEnd type="stealth" w="med" len="lg"/>
                <a:tailEnd type="none" w="sm" len="sm"/>
              </a:ln>
              <a:effectLst>
                <a:outerShdw dist="17961"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grpSp>
      <p:sp>
        <p:nvSpPr>
          <p:cNvPr id="33802" name="Rectangle 20">
            <a:extLst>
              <a:ext uri="{FF2B5EF4-FFF2-40B4-BE49-F238E27FC236}">
                <a16:creationId xmlns:a16="http://schemas.microsoft.com/office/drawing/2014/main" id="{CDDED378-30AB-735E-1BF8-111A0E72964F}"/>
              </a:ext>
            </a:extLst>
          </p:cNvPr>
          <p:cNvSpPr>
            <a:spLocks noGrp="1" noChangeArrowheads="1"/>
          </p:cNvSpPr>
          <p:nvPr>
            <p:ph type="body" idx="1"/>
          </p:nvPr>
        </p:nvSpPr>
        <p:spPr>
          <a:xfrm>
            <a:off x="755650" y="1341438"/>
            <a:ext cx="7385050" cy="946150"/>
          </a:xfrm>
          <a:noFill/>
          <a:extLs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spAutoFit/>
          </a:bodyPr>
          <a:lstStyle/>
          <a:p>
            <a:r>
              <a:rPr lang="en-US" altLang="en-US"/>
              <a:t>Use the BETWEEN operator to display rows based on a range of values.</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96261"/>
                                        </p:tgtEl>
                                        <p:attrNameLst>
                                          <p:attrName>style.visibility</p:attrName>
                                        </p:attrNameLst>
                                      </p:cBhvr>
                                      <p:to>
                                        <p:strVal val="visible"/>
                                      </p:to>
                                    </p:set>
                                    <p:animEffect transition="in" filter="wipe(up)">
                                      <p:cBhvr>
                                        <p:cTn id="7" dur="500"/>
                                        <p:tgtEl>
                                          <p:spTgt spid="96261"/>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96265"/>
                                        </p:tgtEl>
                                        <p:attrNameLst>
                                          <p:attrName>style.visibility</p:attrName>
                                        </p:attrNameLst>
                                      </p:cBhvr>
                                      <p:to>
                                        <p:strVal val="visible"/>
                                      </p:to>
                                    </p:set>
                                    <p:animEffect transition="in" filter="wipe(left)">
                                      <p:cBhvr>
                                        <p:cTn id="11" dur="500"/>
                                        <p:tgtEl>
                                          <p:spTgt spid="96265"/>
                                        </p:tgtEl>
                                      </p:cBhvr>
                                    </p:animEffect>
                                  </p:childTnLst>
                                </p:cTn>
                              </p:par>
                            </p:childTnLst>
                          </p:cTn>
                        </p:par>
                        <p:par>
                          <p:cTn id="12" fill="hold" nodeType="afterGroup">
                            <p:stCondLst>
                              <p:cond delay="1000"/>
                            </p:stCondLst>
                            <p:childTnLst>
                              <p:par>
                                <p:cTn id="13" presetID="2" presetClass="entr" presetSubtype="4" fill="hold" nodeType="afterEffect">
                                  <p:stCondLst>
                                    <p:cond delay="0"/>
                                  </p:stCondLst>
                                  <p:childTnLst>
                                    <p:set>
                                      <p:cBhvr>
                                        <p:cTn id="14" dur="1" fill="hold">
                                          <p:stCondLst>
                                            <p:cond delay="0"/>
                                          </p:stCondLst>
                                        </p:cTn>
                                        <p:tgtEl>
                                          <p:spTgt spid="96269"/>
                                        </p:tgtEl>
                                        <p:attrNameLst>
                                          <p:attrName>style.visibility</p:attrName>
                                        </p:attrNameLst>
                                      </p:cBhvr>
                                      <p:to>
                                        <p:strVal val="visible"/>
                                      </p:to>
                                    </p:set>
                                    <p:anim calcmode="lin" valueType="num">
                                      <p:cBhvr additive="base">
                                        <p:cTn id="15" dur="500" fill="hold"/>
                                        <p:tgtEl>
                                          <p:spTgt spid="96269"/>
                                        </p:tgtEl>
                                        <p:attrNameLst>
                                          <p:attrName>ppt_x</p:attrName>
                                        </p:attrNameLst>
                                      </p:cBhvr>
                                      <p:tavLst>
                                        <p:tav tm="0">
                                          <p:val>
                                            <p:strVal val="#ppt_x"/>
                                          </p:val>
                                        </p:tav>
                                        <p:tav tm="100000">
                                          <p:val>
                                            <p:strVal val="#ppt_x"/>
                                          </p:val>
                                        </p:tav>
                                      </p:tavLst>
                                    </p:anim>
                                    <p:anim calcmode="lin" valueType="num">
                                      <p:cBhvr additive="base">
                                        <p:cTn id="16" dur="500" fill="hold"/>
                                        <p:tgtEl>
                                          <p:spTgt spid="962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CF875616-9A86-3424-EFD6-13A9221AD73E}"/>
              </a:ext>
            </a:extLst>
          </p:cNvPr>
          <p:cNvSpPr>
            <a:spLocks noChangeArrowheads="1"/>
          </p:cNvSpPr>
          <p:nvPr/>
        </p:nvSpPr>
        <p:spPr bwMode="blackWhite">
          <a:xfrm>
            <a:off x="977900" y="2706688"/>
            <a:ext cx="7289800" cy="91598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35843" name="Rectangle 3">
            <a:extLst>
              <a:ext uri="{FF2B5EF4-FFF2-40B4-BE49-F238E27FC236}">
                <a16:creationId xmlns:a16="http://schemas.microsoft.com/office/drawing/2014/main" id="{48F1362B-1DB7-8735-94DA-B8EFE164FD1C}"/>
              </a:ext>
            </a:extLst>
          </p:cNvPr>
          <p:cNvSpPr>
            <a:spLocks noChangeArrowheads="1"/>
          </p:cNvSpPr>
          <p:nvPr/>
        </p:nvSpPr>
        <p:spPr bwMode="blackWhite">
          <a:xfrm>
            <a:off x="977900" y="4092575"/>
            <a:ext cx="7289800" cy="1739900"/>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35844" name="Rectangle 4">
            <a:extLst>
              <a:ext uri="{FF2B5EF4-FFF2-40B4-BE49-F238E27FC236}">
                <a16:creationId xmlns:a16="http://schemas.microsoft.com/office/drawing/2014/main" id="{84685274-5414-6CAF-5479-7A9923295CC4}"/>
              </a:ext>
            </a:extLst>
          </p:cNvPr>
          <p:cNvSpPr>
            <a:spLocks noGrp="1" noChangeArrowheads="1"/>
          </p:cNvSpPr>
          <p:nvPr>
            <p:ph type="title"/>
          </p:nvPr>
        </p:nvSpPr>
        <p:spPr>
          <a:xfrm>
            <a:off x="323850" y="620713"/>
            <a:ext cx="3778250" cy="503237"/>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dirty="0">
                <a:solidFill>
                  <a:srgbClr val="800000"/>
                </a:solidFill>
              </a:rPr>
              <a:t>IN Operator</a:t>
            </a:r>
          </a:p>
        </p:txBody>
      </p:sp>
      <p:sp>
        <p:nvSpPr>
          <p:cNvPr id="35845" name="Rectangle 5">
            <a:extLst>
              <a:ext uri="{FF2B5EF4-FFF2-40B4-BE49-F238E27FC236}">
                <a16:creationId xmlns:a16="http://schemas.microsoft.com/office/drawing/2014/main" id="{5CB1A704-9E9A-D1C6-1B02-3EA422F451CA}"/>
              </a:ext>
            </a:extLst>
          </p:cNvPr>
          <p:cNvSpPr>
            <a:spLocks noGrp="1" noChangeArrowheads="1"/>
          </p:cNvSpPr>
          <p:nvPr>
            <p:ph type="body" idx="1"/>
          </p:nvPr>
        </p:nvSpPr>
        <p:spPr>
          <a:xfrm>
            <a:off x="1006475" y="1408113"/>
            <a:ext cx="7385050" cy="946150"/>
          </a:xfrm>
          <a:noFill/>
          <a:extLs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spAutoFit/>
          </a:bodyPr>
          <a:lstStyle/>
          <a:p>
            <a:r>
              <a:rPr lang="en-US" altLang="en-US"/>
              <a:t>Use the IN operator to test for values in a list.</a:t>
            </a:r>
          </a:p>
        </p:txBody>
      </p:sp>
      <p:grpSp>
        <p:nvGrpSpPr>
          <p:cNvPr id="98310" name="Group 6">
            <a:extLst>
              <a:ext uri="{FF2B5EF4-FFF2-40B4-BE49-F238E27FC236}">
                <a16:creationId xmlns:a16="http://schemas.microsoft.com/office/drawing/2014/main" id="{B13236F4-0766-C05C-70E7-DAA72216A7B7}"/>
              </a:ext>
            </a:extLst>
          </p:cNvPr>
          <p:cNvGrpSpPr>
            <a:grpSpLocks/>
          </p:cNvGrpSpPr>
          <p:nvPr/>
        </p:nvGrpSpPr>
        <p:grpSpPr bwMode="auto">
          <a:xfrm>
            <a:off x="2773363" y="3290888"/>
            <a:ext cx="3843337" cy="2500312"/>
            <a:chOff x="1747" y="2073"/>
            <a:chExt cx="2421" cy="1575"/>
          </a:xfrm>
        </p:grpSpPr>
        <p:sp>
          <p:nvSpPr>
            <p:cNvPr id="35849" name="Rectangle 7">
              <a:extLst>
                <a:ext uri="{FF2B5EF4-FFF2-40B4-BE49-F238E27FC236}">
                  <a16:creationId xmlns:a16="http://schemas.microsoft.com/office/drawing/2014/main" id="{D7C40AC0-8760-4E8A-464B-1F73725BE240}"/>
                </a:ext>
              </a:extLst>
            </p:cNvPr>
            <p:cNvSpPr>
              <a:spLocks noChangeArrowheads="1"/>
            </p:cNvSpPr>
            <p:nvPr/>
          </p:nvSpPr>
          <p:spPr bwMode="ltGray">
            <a:xfrm>
              <a:off x="1747" y="2073"/>
              <a:ext cx="2229" cy="195"/>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5850" name="Rectangle 8">
              <a:extLst>
                <a:ext uri="{FF2B5EF4-FFF2-40B4-BE49-F238E27FC236}">
                  <a16:creationId xmlns:a16="http://schemas.microsoft.com/office/drawing/2014/main" id="{523489AD-4E0B-1DBA-52FA-FD60F5C2D568}"/>
                </a:ext>
              </a:extLst>
            </p:cNvPr>
            <p:cNvSpPr>
              <a:spLocks noChangeArrowheads="1"/>
            </p:cNvSpPr>
            <p:nvPr/>
          </p:nvSpPr>
          <p:spPr bwMode="ltGray">
            <a:xfrm>
              <a:off x="3323" y="2609"/>
              <a:ext cx="845" cy="1039"/>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sp>
        <p:nvSpPr>
          <p:cNvPr id="35847" name="Rectangle 9">
            <a:extLst>
              <a:ext uri="{FF2B5EF4-FFF2-40B4-BE49-F238E27FC236}">
                <a16:creationId xmlns:a16="http://schemas.microsoft.com/office/drawing/2014/main" id="{F7EB11ED-318E-5426-B864-26E764B6ED63}"/>
              </a:ext>
            </a:extLst>
          </p:cNvPr>
          <p:cNvSpPr>
            <a:spLocks noChangeArrowheads="1"/>
          </p:cNvSpPr>
          <p:nvPr/>
        </p:nvSpPr>
        <p:spPr bwMode="blackWhite">
          <a:xfrm>
            <a:off x="952500" y="2693988"/>
            <a:ext cx="7315200" cy="941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empno, ename, sal, mgr</a:t>
            </a:r>
          </a:p>
          <a:p>
            <a:pPr>
              <a:spcBef>
                <a:spcPct val="0"/>
              </a:spcBef>
              <a:buFontTx/>
              <a:buNone/>
            </a:pPr>
            <a:r>
              <a:rPr lang="en-US" altLang="en-US" sz="1800" b="1">
                <a:solidFill>
                  <a:srgbClr val="000000"/>
                </a:solidFill>
                <a:latin typeface="Courier New" panose="02070309020205020404" pitchFamily="49" charset="0"/>
              </a:rPr>
              <a:t>  2  FROM 	emp</a:t>
            </a:r>
          </a:p>
          <a:p>
            <a:pPr>
              <a:spcBef>
                <a:spcPct val="0"/>
              </a:spcBef>
              <a:buFontTx/>
              <a:buNone/>
            </a:pPr>
            <a:r>
              <a:rPr lang="en-US" altLang="en-US" sz="1800" b="1">
                <a:solidFill>
                  <a:srgbClr val="000000"/>
                </a:solidFill>
                <a:latin typeface="Courier New" panose="02070309020205020404" pitchFamily="49" charset="0"/>
              </a:rPr>
              <a:t>  3  WHERE	mgr IN (7902, 7566, 7788);</a:t>
            </a:r>
          </a:p>
        </p:txBody>
      </p:sp>
      <p:sp>
        <p:nvSpPr>
          <p:cNvPr id="35848" name="Rectangle 10">
            <a:extLst>
              <a:ext uri="{FF2B5EF4-FFF2-40B4-BE49-F238E27FC236}">
                <a16:creationId xmlns:a16="http://schemas.microsoft.com/office/drawing/2014/main" id="{CAF062A6-6093-19E6-70D9-7365F45CD45C}"/>
              </a:ext>
            </a:extLst>
          </p:cNvPr>
          <p:cNvSpPr>
            <a:spLocks noChangeArrowheads="1"/>
          </p:cNvSpPr>
          <p:nvPr/>
        </p:nvSpPr>
        <p:spPr bwMode="blackWhite">
          <a:xfrm>
            <a:off x="952500" y="4079875"/>
            <a:ext cx="7315200" cy="176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EMPNO ENAME            SAL       MGR</a:t>
            </a:r>
          </a:p>
          <a:p>
            <a:pPr>
              <a:spcBef>
                <a:spcPct val="0"/>
              </a:spcBef>
              <a:buFontTx/>
              <a:buNone/>
            </a:pPr>
            <a:r>
              <a:rPr lang="en-US" altLang="en-US" sz="1800" b="1">
                <a:solidFill>
                  <a:srgbClr val="000000"/>
                </a:solidFill>
                <a:latin typeface="Courier New" panose="02070309020205020404" pitchFamily="49" charset="0"/>
              </a:rPr>
              <a:t>--------- ---------- --------- ---------</a:t>
            </a:r>
          </a:p>
          <a:p>
            <a:pPr>
              <a:spcBef>
                <a:spcPct val="0"/>
              </a:spcBef>
              <a:buFontTx/>
              <a:buNone/>
            </a:pPr>
            <a:r>
              <a:rPr lang="en-US" altLang="en-US" sz="1800" b="1">
                <a:solidFill>
                  <a:srgbClr val="000000"/>
                </a:solidFill>
                <a:latin typeface="Courier New" panose="02070309020205020404" pitchFamily="49" charset="0"/>
              </a:rPr>
              <a:t>     7902 FORD            3000      7566</a:t>
            </a:r>
          </a:p>
          <a:p>
            <a:pPr>
              <a:spcBef>
                <a:spcPct val="0"/>
              </a:spcBef>
              <a:buFontTx/>
              <a:buNone/>
            </a:pPr>
            <a:r>
              <a:rPr lang="en-US" altLang="en-US" sz="1800" b="1">
                <a:solidFill>
                  <a:srgbClr val="000000"/>
                </a:solidFill>
                <a:latin typeface="Courier New" panose="02070309020205020404" pitchFamily="49" charset="0"/>
              </a:rPr>
              <a:t>     7369 SMITH            800      7902</a:t>
            </a:r>
          </a:p>
          <a:p>
            <a:pPr>
              <a:spcBef>
                <a:spcPct val="0"/>
              </a:spcBef>
              <a:buFontTx/>
              <a:buNone/>
            </a:pPr>
            <a:r>
              <a:rPr lang="en-US" altLang="en-US" sz="1800" b="1">
                <a:solidFill>
                  <a:srgbClr val="000000"/>
                </a:solidFill>
                <a:latin typeface="Courier New" panose="02070309020205020404" pitchFamily="49" charset="0"/>
              </a:rPr>
              <a:t>     7788 SCOTT           3000      7566</a:t>
            </a:r>
          </a:p>
          <a:p>
            <a:pPr>
              <a:spcBef>
                <a:spcPct val="0"/>
              </a:spcBef>
              <a:buFontTx/>
              <a:buNone/>
            </a:pPr>
            <a:r>
              <a:rPr lang="en-US" altLang="en-US" sz="1800" b="1">
                <a:solidFill>
                  <a:srgbClr val="000000"/>
                </a:solidFill>
                <a:latin typeface="Courier New" panose="02070309020205020404" pitchFamily="49" charset="0"/>
              </a:rPr>
              <a:t>     7876 ADAMS           1100      7788</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98310"/>
                                        </p:tgtEl>
                                        <p:attrNameLst>
                                          <p:attrName>style.visibility</p:attrName>
                                        </p:attrNameLst>
                                      </p:cBhvr>
                                      <p:to>
                                        <p:strVal val="visible"/>
                                      </p:to>
                                    </p:set>
                                    <p:animEffect transition="in" filter="wipe(up)">
                                      <p:cBhvr>
                                        <p:cTn id="7" dur="500"/>
                                        <p:tgtEl>
                                          <p:spTgt spid="98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56198EE6-A6F0-8060-88DB-BD6EFF6C1899}"/>
              </a:ext>
            </a:extLst>
          </p:cNvPr>
          <p:cNvSpPr>
            <a:spLocks noChangeArrowheads="1"/>
          </p:cNvSpPr>
          <p:nvPr/>
        </p:nvSpPr>
        <p:spPr bwMode="blackWhite">
          <a:xfrm>
            <a:off x="925513" y="3933825"/>
            <a:ext cx="7278687" cy="91598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37891" name="Rectangle 3">
            <a:extLst>
              <a:ext uri="{FF2B5EF4-FFF2-40B4-BE49-F238E27FC236}">
                <a16:creationId xmlns:a16="http://schemas.microsoft.com/office/drawing/2014/main" id="{04F8AD49-0062-574E-2CF5-78B42AA26B68}"/>
              </a:ext>
            </a:extLst>
          </p:cNvPr>
          <p:cNvSpPr>
            <a:spLocks noGrp="1" noChangeArrowheads="1"/>
          </p:cNvSpPr>
          <p:nvPr>
            <p:ph type="title"/>
          </p:nvPr>
        </p:nvSpPr>
        <p:spPr>
          <a:xfrm>
            <a:off x="323850" y="660400"/>
            <a:ext cx="4210050" cy="53657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dirty="0">
                <a:solidFill>
                  <a:srgbClr val="800000"/>
                </a:solidFill>
              </a:rPr>
              <a:t>LIKE Operator</a:t>
            </a:r>
          </a:p>
        </p:txBody>
      </p:sp>
      <p:sp>
        <p:nvSpPr>
          <p:cNvPr id="37892" name="Rectangle 4">
            <a:extLst>
              <a:ext uri="{FF2B5EF4-FFF2-40B4-BE49-F238E27FC236}">
                <a16:creationId xmlns:a16="http://schemas.microsoft.com/office/drawing/2014/main" id="{E2E36002-3E92-45DB-CB89-A12E9EFB5C5A}"/>
              </a:ext>
            </a:extLst>
          </p:cNvPr>
          <p:cNvSpPr>
            <a:spLocks noChangeArrowheads="1"/>
          </p:cNvSpPr>
          <p:nvPr/>
        </p:nvSpPr>
        <p:spPr bwMode="auto">
          <a:xfrm>
            <a:off x="879475" y="6257925"/>
            <a:ext cx="18415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7893" name="Rectangle 5">
            <a:extLst>
              <a:ext uri="{FF2B5EF4-FFF2-40B4-BE49-F238E27FC236}">
                <a16:creationId xmlns:a16="http://schemas.microsoft.com/office/drawing/2014/main" id="{80EBCD9F-0EE7-189C-316F-87557FA802C3}"/>
              </a:ext>
            </a:extLst>
          </p:cNvPr>
          <p:cNvSpPr>
            <a:spLocks noChangeArrowheads="1"/>
          </p:cNvSpPr>
          <p:nvPr/>
        </p:nvSpPr>
        <p:spPr bwMode="auto">
          <a:xfrm>
            <a:off x="395288" y="1262063"/>
            <a:ext cx="8353425" cy="256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spAutoFit/>
          </a:bodyPr>
          <a:lstStyle>
            <a:lvl1pPr marL="342900" indent="-342900" defTabSz="346075">
              <a:spcBef>
                <a:spcPct val="20000"/>
              </a:spcBef>
              <a:buChar char="•"/>
              <a:tabLst>
                <a:tab pos="571500" algn="l"/>
              </a:tabLst>
              <a:defRPr sz="2800">
                <a:solidFill>
                  <a:schemeClr val="tx1"/>
                </a:solidFill>
                <a:latin typeface="Arial" panose="020B0604020202020204" pitchFamily="34" charset="0"/>
              </a:defRPr>
            </a:lvl1pPr>
            <a:lvl2pPr marL="341313" indent="-227013" defTabSz="346075">
              <a:spcBef>
                <a:spcPct val="20000"/>
              </a:spcBef>
              <a:buChar char="–"/>
              <a:tabLst>
                <a:tab pos="571500" algn="l"/>
              </a:tabLst>
              <a:defRPr sz="2400">
                <a:solidFill>
                  <a:schemeClr val="tx1"/>
                </a:solidFill>
                <a:latin typeface="Arial" panose="020B0604020202020204" pitchFamily="34" charset="0"/>
              </a:defRPr>
            </a:lvl2pPr>
            <a:lvl3pPr marL="741363" indent="-285750" defTabSz="346075">
              <a:spcBef>
                <a:spcPct val="20000"/>
              </a:spcBef>
              <a:buChar char="•"/>
              <a:tabLst>
                <a:tab pos="571500" algn="l"/>
              </a:tabLst>
              <a:defRPr sz="2000">
                <a:solidFill>
                  <a:schemeClr val="tx1"/>
                </a:solidFill>
                <a:latin typeface="Arial" panose="020B0604020202020204" pitchFamily="34" charset="0"/>
              </a:defRPr>
            </a:lvl3pPr>
            <a:lvl4pPr marL="1600200" indent="-228600" defTabSz="346075">
              <a:spcBef>
                <a:spcPct val="20000"/>
              </a:spcBef>
              <a:buChar char="–"/>
              <a:tabLst>
                <a:tab pos="571500" algn="l"/>
              </a:tabLst>
              <a:defRPr sz="2000">
                <a:solidFill>
                  <a:schemeClr val="tx1"/>
                </a:solidFill>
                <a:latin typeface="Arial" panose="020B0604020202020204" pitchFamily="34" charset="0"/>
              </a:defRPr>
            </a:lvl4pPr>
            <a:lvl5pPr marL="2057400" indent="-228600" defTabSz="346075">
              <a:spcBef>
                <a:spcPct val="20000"/>
              </a:spcBef>
              <a:buChar char="»"/>
              <a:tabLst>
                <a:tab pos="571500" algn="l"/>
              </a:tabLst>
              <a:defRPr sz="2000">
                <a:solidFill>
                  <a:schemeClr val="tx1"/>
                </a:solidFill>
                <a:latin typeface="Arial" panose="020B0604020202020204" pitchFamily="34" charset="0"/>
              </a:defRPr>
            </a:lvl5pPr>
            <a:lvl6pPr marL="25146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6pPr>
            <a:lvl7pPr marL="29718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7pPr>
            <a:lvl8pPr marL="34290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8pPr>
            <a:lvl9pPr marL="38862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9pPr>
          </a:lstStyle>
          <a:p>
            <a:pPr lvl="1">
              <a:lnSpc>
                <a:spcPct val="95000"/>
              </a:lnSpc>
              <a:spcBef>
                <a:spcPct val="35000"/>
              </a:spcBef>
              <a:buClr>
                <a:srgbClr val="FFCC66"/>
              </a:buClr>
              <a:buFontTx/>
              <a:buChar char="•"/>
            </a:pPr>
            <a:r>
              <a:rPr lang="en-US" altLang="en-US"/>
              <a:t>Use the LIKE operator to perform wildcard searches of valid search string values.</a:t>
            </a:r>
          </a:p>
          <a:p>
            <a:pPr lvl="1">
              <a:lnSpc>
                <a:spcPct val="95000"/>
              </a:lnSpc>
              <a:spcBef>
                <a:spcPct val="35000"/>
              </a:spcBef>
              <a:buClr>
                <a:srgbClr val="FFCC66"/>
              </a:buClr>
              <a:buFontTx/>
              <a:buChar char="•"/>
            </a:pPr>
            <a:r>
              <a:rPr lang="en-US" altLang="en-US"/>
              <a:t>Search conditions can contain either literal characters or numbers.</a:t>
            </a:r>
          </a:p>
          <a:p>
            <a:pPr lvl="2">
              <a:lnSpc>
                <a:spcPct val="95000"/>
              </a:lnSpc>
              <a:spcBef>
                <a:spcPct val="35000"/>
              </a:spcBef>
              <a:buClr>
                <a:srgbClr val="FFCC66"/>
              </a:buClr>
              <a:buSzPct val="90000"/>
              <a:buFontTx/>
              <a:buChar char="–"/>
            </a:pPr>
            <a:r>
              <a:rPr lang="en-US" altLang="en-US" sz="2400"/>
              <a:t>% denotes zero or many characters.</a:t>
            </a:r>
          </a:p>
          <a:p>
            <a:pPr lvl="2">
              <a:lnSpc>
                <a:spcPct val="95000"/>
              </a:lnSpc>
              <a:spcBef>
                <a:spcPct val="35000"/>
              </a:spcBef>
              <a:buClr>
                <a:srgbClr val="FFCC66"/>
              </a:buClr>
              <a:buSzPct val="90000"/>
              <a:buFontTx/>
              <a:buChar char="–"/>
            </a:pPr>
            <a:r>
              <a:rPr lang="en-US" altLang="en-US" sz="2400"/>
              <a:t> _ denotes one character.</a:t>
            </a:r>
          </a:p>
        </p:txBody>
      </p:sp>
      <p:sp>
        <p:nvSpPr>
          <p:cNvPr id="100358" name="Rectangle 6">
            <a:extLst>
              <a:ext uri="{FF2B5EF4-FFF2-40B4-BE49-F238E27FC236}">
                <a16:creationId xmlns:a16="http://schemas.microsoft.com/office/drawing/2014/main" id="{C15A7940-F319-C9F8-C28A-1B422CFEB04B}"/>
              </a:ext>
            </a:extLst>
          </p:cNvPr>
          <p:cNvSpPr>
            <a:spLocks noChangeArrowheads="1"/>
          </p:cNvSpPr>
          <p:nvPr/>
        </p:nvSpPr>
        <p:spPr bwMode="ltGray">
          <a:xfrm>
            <a:off x="3630613" y="4516438"/>
            <a:ext cx="1525587" cy="309562"/>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7895" name="Rectangle 7">
            <a:extLst>
              <a:ext uri="{FF2B5EF4-FFF2-40B4-BE49-F238E27FC236}">
                <a16:creationId xmlns:a16="http://schemas.microsoft.com/office/drawing/2014/main" id="{58B2CA6E-633F-75F2-3588-5A0935E07881}"/>
              </a:ext>
            </a:extLst>
          </p:cNvPr>
          <p:cNvSpPr>
            <a:spLocks noChangeArrowheads="1"/>
          </p:cNvSpPr>
          <p:nvPr/>
        </p:nvSpPr>
        <p:spPr bwMode="blackWhite">
          <a:xfrm>
            <a:off x="1001713" y="3941763"/>
            <a:ext cx="7304087" cy="941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ename</a:t>
            </a:r>
          </a:p>
          <a:p>
            <a:pPr>
              <a:spcBef>
                <a:spcPct val="0"/>
              </a:spcBef>
              <a:buFontTx/>
              <a:buNone/>
            </a:pPr>
            <a:r>
              <a:rPr lang="en-US" altLang="en-US" sz="1800" b="1">
                <a:solidFill>
                  <a:srgbClr val="000000"/>
                </a:solidFill>
                <a:latin typeface="Courier New" panose="02070309020205020404" pitchFamily="49" charset="0"/>
              </a:rPr>
              <a:t>  2  FROM 	emp</a:t>
            </a:r>
          </a:p>
          <a:p>
            <a:pPr>
              <a:spcBef>
                <a:spcPct val="0"/>
              </a:spcBef>
              <a:buFontTx/>
              <a:buNone/>
            </a:pPr>
            <a:r>
              <a:rPr lang="en-US" altLang="en-US" sz="1800" b="1">
                <a:solidFill>
                  <a:srgbClr val="000000"/>
                </a:solidFill>
                <a:latin typeface="Courier New" panose="02070309020205020404" pitchFamily="49" charset="0"/>
              </a:rPr>
              <a:t>  3  WHERE	ename LIKE 'S%';</a:t>
            </a:r>
          </a:p>
        </p:txBody>
      </p:sp>
      <p:sp>
        <p:nvSpPr>
          <p:cNvPr id="37896" name="Rectangle 8">
            <a:extLst>
              <a:ext uri="{FF2B5EF4-FFF2-40B4-BE49-F238E27FC236}">
                <a16:creationId xmlns:a16="http://schemas.microsoft.com/office/drawing/2014/main" id="{2CBEA394-7505-A9D7-CE41-08E7395DA2CF}"/>
              </a:ext>
            </a:extLst>
          </p:cNvPr>
          <p:cNvSpPr>
            <a:spLocks noChangeArrowheads="1"/>
          </p:cNvSpPr>
          <p:nvPr/>
        </p:nvSpPr>
        <p:spPr bwMode="blackWhite">
          <a:xfrm>
            <a:off x="987425" y="5040313"/>
            <a:ext cx="7278688" cy="11969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37897" name="Rectangle 9">
            <a:extLst>
              <a:ext uri="{FF2B5EF4-FFF2-40B4-BE49-F238E27FC236}">
                <a16:creationId xmlns:a16="http://schemas.microsoft.com/office/drawing/2014/main" id="{F7C2ECC0-750E-50D7-12F3-7C99C74736CE}"/>
              </a:ext>
            </a:extLst>
          </p:cNvPr>
          <p:cNvSpPr>
            <a:spLocks noChangeArrowheads="1"/>
          </p:cNvSpPr>
          <p:nvPr/>
        </p:nvSpPr>
        <p:spPr bwMode="auto">
          <a:xfrm>
            <a:off x="1028700" y="5178425"/>
            <a:ext cx="4333875"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ename</a:t>
            </a:r>
          </a:p>
          <a:p>
            <a:pPr>
              <a:spcBef>
                <a:spcPct val="0"/>
              </a:spcBef>
              <a:buFontTx/>
              <a:buNone/>
            </a:pPr>
            <a:r>
              <a:rPr lang="en-US" altLang="en-US" sz="1800" b="1">
                <a:solidFill>
                  <a:srgbClr val="000000"/>
                </a:solidFill>
                <a:latin typeface="Courier New" panose="02070309020205020404" pitchFamily="49" charset="0"/>
              </a:rPr>
              <a:t>  2  FROM	emp</a:t>
            </a:r>
          </a:p>
          <a:p>
            <a:pPr>
              <a:spcBef>
                <a:spcPct val="0"/>
              </a:spcBef>
              <a:buFontTx/>
              <a:buNone/>
            </a:pPr>
            <a:r>
              <a:rPr lang="en-US" altLang="en-US" sz="1800" b="1">
                <a:solidFill>
                  <a:srgbClr val="000000"/>
                </a:solidFill>
                <a:latin typeface="Courier New" panose="02070309020205020404" pitchFamily="49" charset="0"/>
              </a:rPr>
              <a:t>  3  WHERE	ename LIKE '_A%';</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0358"/>
                                        </p:tgtEl>
                                        <p:attrNameLst>
                                          <p:attrName>style.visibility</p:attrName>
                                        </p:attrNameLst>
                                      </p:cBhvr>
                                      <p:to>
                                        <p:strVal val="visible"/>
                                      </p:to>
                                    </p:set>
                                    <p:animEffect transition="in" filter="wipe(up)">
                                      <p:cBhvr>
                                        <p:cTn id="7" dur="500"/>
                                        <p:tgtEl>
                                          <p:spTgt spid="1003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4C376CD1-CF62-2222-2386-F2E26628CFB8}"/>
              </a:ext>
            </a:extLst>
          </p:cNvPr>
          <p:cNvSpPr>
            <a:spLocks noChangeArrowheads="1"/>
          </p:cNvSpPr>
          <p:nvPr/>
        </p:nvSpPr>
        <p:spPr bwMode="blackWhite">
          <a:xfrm>
            <a:off x="925513" y="3270250"/>
            <a:ext cx="7278687" cy="91598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39939" name="Rectangle 3">
            <a:extLst>
              <a:ext uri="{FF2B5EF4-FFF2-40B4-BE49-F238E27FC236}">
                <a16:creationId xmlns:a16="http://schemas.microsoft.com/office/drawing/2014/main" id="{11969B77-5F9A-CC0C-1BF3-291B9CAE3207}"/>
              </a:ext>
            </a:extLst>
          </p:cNvPr>
          <p:cNvSpPr>
            <a:spLocks noGrp="1" noChangeArrowheads="1"/>
          </p:cNvSpPr>
          <p:nvPr>
            <p:ph type="title"/>
          </p:nvPr>
        </p:nvSpPr>
        <p:spPr>
          <a:xfrm>
            <a:off x="323850" y="660400"/>
            <a:ext cx="4210050" cy="53657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dirty="0">
                <a:solidFill>
                  <a:srgbClr val="800000"/>
                </a:solidFill>
              </a:rPr>
              <a:t>LIKE Operator</a:t>
            </a:r>
          </a:p>
        </p:txBody>
      </p:sp>
      <p:sp>
        <p:nvSpPr>
          <p:cNvPr id="39940" name="Rectangle 4">
            <a:extLst>
              <a:ext uri="{FF2B5EF4-FFF2-40B4-BE49-F238E27FC236}">
                <a16:creationId xmlns:a16="http://schemas.microsoft.com/office/drawing/2014/main" id="{01AA3C7E-B821-5869-4B88-EE5FF19380DC}"/>
              </a:ext>
            </a:extLst>
          </p:cNvPr>
          <p:cNvSpPr>
            <a:spLocks noChangeArrowheads="1"/>
          </p:cNvSpPr>
          <p:nvPr/>
        </p:nvSpPr>
        <p:spPr bwMode="auto">
          <a:xfrm>
            <a:off x="879475" y="5594350"/>
            <a:ext cx="18415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9941" name="Rectangle 5">
            <a:extLst>
              <a:ext uri="{FF2B5EF4-FFF2-40B4-BE49-F238E27FC236}">
                <a16:creationId xmlns:a16="http://schemas.microsoft.com/office/drawing/2014/main" id="{323CF5DD-E812-ACD9-241F-DB9BDA8D20D1}"/>
              </a:ext>
            </a:extLst>
          </p:cNvPr>
          <p:cNvSpPr>
            <a:spLocks noChangeArrowheads="1"/>
          </p:cNvSpPr>
          <p:nvPr/>
        </p:nvSpPr>
        <p:spPr bwMode="auto">
          <a:xfrm>
            <a:off x="395288" y="1262063"/>
            <a:ext cx="8353425" cy="1754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spAutoFit/>
          </a:bodyPr>
          <a:lstStyle>
            <a:lvl1pPr marL="342900" indent="-342900" defTabSz="346075">
              <a:spcBef>
                <a:spcPct val="20000"/>
              </a:spcBef>
              <a:buChar char="•"/>
              <a:tabLst>
                <a:tab pos="571500" algn="l"/>
              </a:tabLst>
              <a:defRPr sz="2800">
                <a:solidFill>
                  <a:schemeClr val="tx1"/>
                </a:solidFill>
                <a:latin typeface="Arial" panose="020B0604020202020204" pitchFamily="34" charset="0"/>
              </a:defRPr>
            </a:lvl1pPr>
            <a:lvl2pPr marL="341313" indent="-227013" defTabSz="346075">
              <a:spcBef>
                <a:spcPct val="20000"/>
              </a:spcBef>
              <a:buChar char="–"/>
              <a:tabLst>
                <a:tab pos="571500" algn="l"/>
              </a:tabLst>
              <a:defRPr sz="2400">
                <a:solidFill>
                  <a:schemeClr val="tx1"/>
                </a:solidFill>
                <a:latin typeface="Arial" panose="020B0604020202020204" pitchFamily="34" charset="0"/>
              </a:defRPr>
            </a:lvl2pPr>
            <a:lvl3pPr marL="741363" indent="-285750" defTabSz="346075">
              <a:spcBef>
                <a:spcPct val="20000"/>
              </a:spcBef>
              <a:buChar char="•"/>
              <a:tabLst>
                <a:tab pos="571500" algn="l"/>
              </a:tabLst>
              <a:defRPr sz="2000">
                <a:solidFill>
                  <a:schemeClr val="tx1"/>
                </a:solidFill>
                <a:latin typeface="Arial" panose="020B0604020202020204" pitchFamily="34" charset="0"/>
              </a:defRPr>
            </a:lvl3pPr>
            <a:lvl4pPr marL="1600200" indent="-228600" defTabSz="346075">
              <a:spcBef>
                <a:spcPct val="20000"/>
              </a:spcBef>
              <a:buChar char="–"/>
              <a:tabLst>
                <a:tab pos="571500" algn="l"/>
              </a:tabLst>
              <a:defRPr sz="2000">
                <a:solidFill>
                  <a:schemeClr val="tx1"/>
                </a:solidFill>
                <a:latin typeface="Arial" panose="020B0604020202020204" pitchFamily="34" charset="0"/>
              </a:defRPr>
            </a:lvl4pPr>
            <a:lvl5pPr marL="2057400" indent="-228600" defTabSz="346075">
              <a:spcBef>
                <a:spcPct val="20000"/>
              </a:spcBef>
              <a:buChar char="»"/>
              <a:tabLst>
                <a:tab pos="571500" algn="l"/>
              </a:tabLst>
              <a:defRPr sz="2000">
                <a:solidFill>
                  <a:schemeClr val="tx1"/>
                </a:solidFill>
                <a:latin typeface="Arial" panose="020B0604020202020204" pitchFamily="34" charset="0"/>
              </a:defRPr>
            </a:lvl5pPr>
            <a:lvl6pPr marL="25146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6pPr>
            <a:lvl7pPr marL="29718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7pPr>
            <a:lvl8pPr marL="34290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8pPr>
            <a:lvl9pPr marL="38862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9pPr>
          </a:lstStyle>
          <a:p>
            <a:pPr lvl="1">
              <a:lnSpc>
                <a:spcPct val="95000"/>
              </a:lnSpc>
              <a:spcBef>
                <a:spcPct val="35000"/>
              </a:spcBef>
              <a:buClr>
                <a:srgbClr val="FFCC66"/>
              </a:buClr>
              <a:buFontTx/>
              <a:buChar char="•"/>
            </a:pPr>
            <a:r>
              <a:rPr lang="en-US" altLang="en-US"/>
              <a:t>For searching a string that contains underscore(_) or % as a character:</a:t>
            </a:r>
          </a:p>
          <a:p>
            <a:pPr lvl="1">
              <a:lnSpc>
                <a:spcPct val="95000"/>
              </a:lnSpc>
              <a:spcBef>
                <a:spcPct val="35000"/>
              </a:spcBef>
              <a:buClr>
                <a:srgbClr val="FFCC66"/>
              </a:buClr>
              <a:buFontTx/>
              <a:buChar char="•"/>
            </a:pPr>
            <a:r>
              <a:rPr lang="en-US" altLang="en-US"/>
              <a:t>‘\_’ escape ‘\’</a:t>
            </a:r>
          </a:p>
          <a:p>
            <a:pPr lvl="1">
              <a:lnSpc>
                <a:spcPct val="95000"/>
              </a:lnSpc>
              <a:spcBef>
                <a:spcPct val="35000"/>
              </a:spcBef>
              <a:buClr>
                <a:srgbClr val="FFCC66"/>
              </a:buClr>
              <a:buFontTx/>
              <a:buChar char="•"/>
            </a:pPr>
            <a:r>
              <a:rPr lang="en-US" altLang="en-US"/>
              <a:t>‘%\_%\%%’ escape '\’</a:t>
            </a:r>
          </a:p>
        </p:txBody>
      </p:sp>
      <p:sp>
        <p:nvSpPr>
          <p:cNvPr id="100358" name="Rectangle 6">
            <a:extLst>
              <a:ext uri="{FF2B5EF4-FFF2-40B4-BE49-F238E27FC236}">
                <a16:creationId xmlns:a16="http://schemas.microsoft.com/office/drawing/2014/main" id="{F30BFCB4-031E-66C1-99AC-A1CBE7F06617}"/>
              </a:ext>
            </a:extLst>
          </p:cNvPr>
          <p:cNvSpPr>
            <a:spLocks noChangeArrowheads="1"/>
          </p:cNvSpPr>
          <p:nvPr/>
        </p:nvSpPr>
        <p:spPr bwMode="ltGray">
          <a:xfrm>
            <a:off x="3630613" y="3852863"/>
            <a:ext cx="1525587" cy="309562"/>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9943" name="Rectangle 7">
            <a:extLst>
              <a:ext uri="{FF2B5EF4-FFF2-40B4-BE49-F238E27FC236}">
                <a16:creationId xmlns:a16="http://schemas.microsoft.com/office/drawing/2014/main" id="{CE25AD6C-E1CF-62B0-9C52-176E9B25E983}"/>
              </a:ext>
            </a:extLst>
          </p:cNvPr>
          <p:cNvSpPr>
            <a:spLocks noChangeArrowheads="1"/>
          </p:cNvSpPr>
          <p:nvPr/>
        </p:nvSpPr>
        <p:spPr bwMode="blackWhite">
          <a:xfrm>
            <a:off x="1001713" y="3278188"/>
            <a:ext cx="7304087" cy="941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ename</a:t>
            </a:r>
          </a:p>
          <a:p>
            <a:pPr>
              <a:spcBef>
                <a:spcPct val="0"/>
              </a:spcBef>
              <a:buFontTx/>
              <a:buNone/>
            </a:pPr>
            <a:r>
              <a:rPr lang="en-US" altLang="en-US" sz="1800" b="1">
                <a:solidFill>
                  <a:srgbClr val="000000"/>
                </a:solidFill>
                <a:latin typeface="Courier New" panose="02070309020205020404" pitchFamily="49" charset="0"/>
              </a:rPr>
              <a:t>  2  FROM 	emp</a:t>
            </a:r>
          </a:p>
          <a:p>
            <a:pPr>
              <a:spcBef>
                <a:spcPct val="0"/>
              </a:spcBef>
              <a:buFontTx/>
              <a:buNone/>
            </a:pPr>
            <a:r>
              <a:rPr lang="en-US" altLang="en-US" sz="1800" b="1">
                <a:solidFill>
                  <a:srgbClr val="000000"/>
                </a:solidFill>
                <a:latin typeface="Courier New" panose="02070309020205020404" pitchFamily="49" charset="0"/>
              </a:rPr>
              <a:t>  3  WHERE	ename LIKE ‘S%\_%’ escape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0358"/>
                                        </p:tgtEl>
                                        <p:attrNameLst>
                                          <p:attrName>style.visibility</p:attrName>
                                        </p:attrNameLst>
                                      </p:cBhvr>
                                      <p:to>
                                        <p:strVal val="visible"/>
                                      </p:to>
                                    </p:set>
                                    <p:animEffect transition="in" filter="wipe(up)">
                                      <p:cBhvr>
                                        <p:cTn id="7" dur="500"/>
                                        <p:tgtEl>
                                          <p:spTgt spid="1003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D8F532CF-923D-6F97-7515-AE75BD2B4E9C}"/>
              </a:ext>
            </a:extLst>
          </p:cNvPr>
          <p:cNvSpPr>
            <a:spLocks noChangeArrowheads="1"/>
          </p:cNvSpPr>
          <p:nvPr/>
        </p:nvSpPr>
        <p:spPr bwMode="blackWhite">
          <a:xfrm>
            <a:off x="976313" y="1841500"/>
            <a:ext cx="7289800" cy="91598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41987" name="Rectangle 3">
            <a:extLst>
              <a:ext uri="{FF2B5EF4-FFF2-40B4-BE49-F238E27FC236}">
                <a16:creationId xmlns:a16="http://schemas.microsoft.com/office/drawing/2014/main" id="{D1CA1FF6-70A0-B8CE-9075-536C897D9C19}"/>
              </a:ext>
            </a:extLst>
          </p:cNvPr>
          <p:cNvSpPr>
            <a:spLocks noChangeArrowheads="1"/>
          </p:cNvSpPr>
          <p:nvPr/>
        </p:nvSpPr>
        <p:spPr bwMode="blackWhite">
          <a:xfrm>
            <a:off x="976313" y="3292475"/>
            <a:ext cx="7289800" cy="915988"/>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41988" name="Rectangle 4">
            <a:extLst>
              <a:ext uri="{FF2B5EF4-FFF2-40B4-BE49-F238E27FC236}">
                <a16:creationId xmlns:a16="http://schemas.microsoft.com/office/drawing/2014/main" id="{1766EC47-E5A1-C84C-103C-195299CFC9DE}"/>
              </a:ext>
            </a:extLst>
          </p:cNvPr>
          <p:cNvSpPr>
            <a:spLocks noGrp="1" noChangeArrowheads="1"/>
          </p:cNvSpPr>
          <p:nvPr>
            <p:ph type="title"/>
          </p:nvPr>
        </p:nvSpPr>
        <p:spPr>
          <a:xfrm>
            <a:off x="323850" y="660400"/>
            <a:ext cx="4714875" cy="53657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dirty="0">
                <a:solidFill>
                  <a:srgbClr val="800000"/>
                </a:solidFill>
              </a:rPr>
              <a:t>IS NULL Operator</a:t>
            </a:r>
          </a:p>
        </p:txBody>
      </p:sp>
      <p:sp>
        <p:nvSpPr>
          <p:cNvPr id="41989" name="Rectangle 5">
            <a:extLst>
              <a:ext uri="{FF2B5EF4-FFF2-40B4-BE49-F238E27FC236}">
                <a16:creationId xmlns:a16="http://schemas.microsoft.com/office/drawing/2014/main" id="{F79DAFCE-5EC4-4810-5558-32EF239B12E1}"/>
              </a:ext>
            </a:extLst>
          </p:cNvPr>
          <p:cNvSpPr>
            <a:spLocks noGrp="1" noChangeArrowheads="1"/>
          </p:cNvSpPr>
          <p:nvPr>
            <p:ph type="body" idx="1"/>
          </p:nvPr>
        </p:nvSpPr>
        <p:spPr>
          <a:xfrm>
            <a:off x="395288" y="1268413"/>
            <a:ext cx="7385050" cy="457200"/>
          </a:xfrm>
          <a:noFill/>
          <a:extLs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spAutoFit/>
          </a:bodyPr>
          <a:lstStyle/>
          <a:p>
            <a:r>
              <a:rPr lang="en-US" altLang="en-US" sz="2400"/>
              <a:t>Test for null values with the IS NULL operator.</a:t>
            </a:r>
          </a:p>
        </p:txBody>
      </p:sp>
      <p:grpSp>
        <p:nvGrpSpPr>
          <p:cNvPr id="108550" name="Group 6">
            <a:extLst>
              <a:ext uri="{FF2B5EF4-FFF2-40B4-BE49-F238E27FC236}">
                <a16:creationId xmlns:a16="http://schemas.microsoft.com/office/drawing/2014/main" id="{042B7772-0207-2B8D-4505-3A42BFF4672A}"/>
              </a:ext>
            </a:extLst>
          </p:cNvPr>
          <p:cNvGrpSpPr>
            <a:grpSpLocks/>
          </p:cNvGrpSpPr>
          <p:nvPr/>
        </p:nvGrpSpPr>
        <p:grpSpPr bwMode="auto">
          <a:xfrm>
            <a:off x="2506663" y="2433638"/>
            <a:ext cx="2027237" cy="1712912"/>
            <a:chOff x="1579" y="2297"/>
            <a:chExt cx="1277" cy="1079"/>
          </a:xfrm>
        </p:grpSpPr>
        <p:sp>
          <p:nvSpPr>
            <p:cNvPr id="41995" name="Rectangle 7">
              <a:extLst>
                <a:ext uri="{FF2B5EF4-FFF2-40B4-BE49-F238E27FC236}">
                  <a16:creationId xmlns:a16="http://schemas.microsoft.com/office/drawing/2014/main" id="{B598F0E7-96A4-5861-A391-F7E4BA6E253B}"/>
                </a:ext>
              </a:extLst>
            </p:cNvPr>
            <p:cNvSpPr>
              <a:spLocks noChangeArrowheads="1"/>
            </p:cNvSpPr>
            <p:nvPr/>
          </p:nvSpPr>
          <p:spPr bwMode="ltGray">
            <a:xfrm>
              <a:off x="1731" y="2297"/>
              <a:ext cx="1125" cy="195"/>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1996" name="Rectangle 8">
              <a:extLst>
                <a:ext uri="{FF2B5EF4-FFF2-40B4-BE49-F238E27FC236}">
                  <a16:creationId xmlns:a16="http://schemas.microsoft.com/office/drawing/2014/main" id="{2E74C257-B8C6-FDA9-5A48-E339E451E713}"/>
                </a:ext>
              </a:extLst>
            </p:cNvPr>
            <p:cNvSpPr>
              <a:spLocks noChangeArrowheads="1"/>
            </p:cNvSpPr>
            <p:nvPr/>
          </p:nvSpPr>
          <p:spPr bwMode="ltGray">
            <a:xfrm>
              <a:off x="1579" y="2873"/>
              <a:ext cx="845" cy="503"/>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sp>
        <p:nvSpPr>
          <p:cNvPr id="41991" name="Rectangle 9">
            <a:extLst>
              <a:ext uri="{FF2B5EF4-FFF2-40B4-BE49-F238E27FC236}">
                <a16:creationId xmlns:a16="http://schemas.microsoft.com/office/drawing/2014/main" id="{4A4807EB-C8BF-8273-FC77-111759CF2028}"/>
              </a:ext>
            </a:extLst>
          </p:cNvPr>
          <p:cNvSpPr>
            <a:spLocks noChangeArrowheads="1"/>
          </p:cNvSpPr>
          <p:nvPr/>
        </p:nvSpPr>
        <p:spPr bwMode="blackWhite">
          <a:xfrm>
            <a:off x="950913" y="1828800"/>
            <a:ext cx="7315200" cy="941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ename, mgr</a:t>
            </a:r>
          </a:p>
          <a:p>
            <a:pPr>
              <a:spcBef>
                <a:spcPct val="0"/>
              </a:spcBef>
              <a:buFontTx/>
              <a:buNone/>
            </a:pPr>
            <a:r>
              <a:rPr lang="en-US" altLang="en-US" sz="1800" b="1">
                <a:solidFill>
                  <a:srgbClr val="000000"/>
                </a:solidFill>
                <a:latin typeface="Courier New" panose="02070309020205020404" pitchFamily="49" charset="0"/>
              </a:rPr>
              <a:t>  2  FROM    emp</a:t>
            </a:r>
          </a:p>
          <a:p>
            <a:pPr>
              <a:spcBef>
                <a:spcPct val="0"/>
              </a:spcBef>
              <a:buFontTx/>
              <a:buNone/>
            </a:pPr>
            <a:r>
              <a:rPr lang="en-US" altLang="en-US" sz="1800" b="1">
                <a:solidFill>
                  <a:srgbClr val="000000"/>
                </a:solidFill>
                <a:latin typeface="Courier New" panose="02070309020205020404" pitchFamily="49" charset="0"/>
              </a:rPr>
              <a:t>  3  WHERE   mgr IS NULL;</a:t>
            </a:r>
          </a:p>
        </p:txBody>
      </p:sp>
      <p:sp>
        <p:nvSpPr>
          <p:cNvPr id="41992" name="Rectangle 10">
            <a:extLst>
              <a:ext uri="{FF2B5EF4-FFF2-40B4-BE49-F238E27FC236}">
                <a16:creationId xmlns:a16="http://schemas.microsoft.com/office/drawing/2014/main" id="{7B1CB6EF-0181-D051-75ED-DE6061948569}"/>
              </a:ext>
            </a:extLst>
          </p:cNvPr>
          <p:cNvSpPr>
            <a:spLocks noChangeArrowheads="1"/>
          </p:cNvSpPr>
          <p:nvPr/>
        </p:nvSpPr>
        <p:spPr bwMode="blackWhite">
          <a:xfrm>
            <a:off x="950913" y="3279775"/>
            <a:ext cx="7315200" cy="941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ENAME            MGR</a:t>
            </a:r>
          </a:p>
          <a:p>
            <a:pPr>
              <a:spcBef>
                <a:spcPct val="0"/>
              </a:spcBef>
              <a:buFontTx/>
              <a:buNone/>
            </a:pPr>
            <a:r>
              <a:rPr lang="en-US" altLang="en-US" sz="1800" b="1">
                <a:solidFill>
                  <a:srgbClr val="000000"/>
                </a:solidFill>
                <a:latin typeface="Courier New" panose="02070309020205020404" pitchFamily="49" charset="0"/>
              </a:rPr>
              <a:t>---------- ---------</a:t>
            </a:r>
          </a:p>
          <a:p>
            <a:pPr>
              <a:spcBef>
                <a:spcPct val="0"/>
              </a:spcBef>
              <a:buFontTx/>
              <a:buNone/>
            </a:pPr>
            <a:r>
              <a:rPr lang="en-US" altLang="en-US" sz="1800" b="1">
                <a:solidFill>
                  <a:srgbClr val="000000"/>
                </a:solidFill>
                <a:latin typeface="Courier New" panose="02070309020205020404" pitchFamily="49" charset="0"/>
              </a:rPr>
              <a:t>KING</a:t>
            </a:r>
          </a:p>
        </p:txBody>
      </p:sp>
      <p:sp>
        <p:nvSpPr>
          <p:cNvPr id="41993" name="Rectangle 11">
            <a:extLst>
              <a:ext uri="{FF2B5EF4-FFF2-40B4-BE49-F238E27FC236}">
                <a16:creationId xmlns:a16="http://schemas.microsoft.com/office/drawing/2014/main" id="{E4A85684-887C-B988-4B8F-B5490187008D}"/>
              </a:ext>
            </a:extLst>
          </p:cNvPr>
          <p:cNvSpPr>
            <a:spLocks noChangeArrowheads="1"/>
          </p:cNvSpPr>
          <p:nvPr/>
        </p:nvSpPr>
        <p:spPr bwMode="blackWhite">
          <a:xfrm>
            <a:off x="954088" y="4732338"/>
            <a:ext cx="7289800" cy="91598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41994" name="Rectangle 12">
            <a:extLst>
              <a:ext uri="{FF2B5EF4-FFF2-40B4-BE49-F238E27FC236}">
                <a16:creationId xmlns:a16="http://schemas.microsoft.com/office/drawing/2014/main" id="{14443FEC-0252-DD43-C6B8-615D889809F5}"/>
              </a:ext>
            </a:extLst>
          </p:cNvPr>
          <p:cNvSpPr>
            <a:spLocks noChangeArrowheads="1"/>
          </p:cNvSpPr>
          <p:nvPr/>
        </p:nvSpPr>
        <p:spPr bwMode="blackWhite">
          <a:xfrm>
            <a:off x="928688" y="4719638"/>
            <a:ext cx="7315200" cy="941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empno, ename, comm</a:t>
            </a:r>
          </a:p>
          <a:p>
            <a:pPr>
              <a:spcBef>
                <a:spcPct val="0"/>
              </a:spcBef>
              <a:buFontTx/>
              <a:buNone/>
            </a:pPr>
            <a:r>
              <a:rPr lang="en-US" altLang="en-US" sz="1800" b="1">
                <a:solidFill>
                  <a:srgbClr val="000000"/>
                </a:solidFill>
                <a:latin typeface="Courier New" panose="02070309020205020404" pitchFamily="49" charset="0"/>
              </a:rPr>
              <a:t>  2  FROM    emp</a:t>
            </a:r>
          </a:p>
          <a:p>
            <a:pPr>
              <a:spcBef>
                <a:spcPct val="0"/>
              </a:spcBef>
              <a:buFontTx/>
              <a:buNone/>
            </a:pPr>
            <a:r>
              <a:rPr lang="en-US" altLang="en-US" sz="1800" b="1">
                <a:solidFill>
                  <a:srgbClr val="000000"/>
                </a:solidFill>
                <a:latin typeface="Courier New" panose="02070309020205020404" pitchFamily="49" charset="0"/>
              </a:rPr>
              <a:t>  3  WHERE   comm IS NOT NULL;</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08550"/>
                                        </p:tgtEl>
                                        <p:attrNameLst>
                                          <p:attrName>style.visibility</p:attrName>
                                        </p:attrNameLst>
                                      </p:cBhvr>
                                      <p:to>
                                        <p:strVal val="visible"/>
                                      </p:to>
                                    </p:set>
                                    <p:animEffect transition="in" filter="wipe(up)">
                                      <p:cBhvr>
                                        <p:cTn id="7" dur="500"/>
                                        <p:tgtEl>
                                          <p:spTgt spid="1085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CA6BB3F9-3505-14A9-DD50-7B632B7E3805}"/>
              </a:ext>
            </a:extLst>
          </p:cNvPr>
          <p:cNvSpPr>
            <a:spLocks noGrp="1" noChangeArrowheads="1"/>
          </p:cNvSpPr>
          <p:nvPr>
            <p:ph type="title"/>
          </p:nvPr>
        </p:nvSpPr>
        <p:spPr>
          <a:xfrm>
            <a:off x="323850" y="660400"/>
            <a:ext cx="3633788" cy="53657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Rules of Precedence</a:t>
            </a:r>
          </a:p>
        </p:txBody>
      </p:sp>
      <p:sp>
        <p:nvSpPr>
          <p:cNvPr id="44035" name="Rectangle 3">
            <a:extLst>
              <a:ext uri="{FF2B5EF4-FFF2-40B4-BE49-F238E27FC236}">
                <a16:creationId xmlns:a16="http://schemas.microsoft.com/office/drawing/2014/main" id="{4ADB9827-E904-5ECE-9308-33F4EEB50751}"/>
              </a:ext>
            </a:extLst>
          </p:cNvPr>
          <p:cNvSpPr>
            <a:spLocks noGrp="1" noChangeArrowheads="1"/>
          </p:cNvSpPr>
          <p:nvPr>
            <p:ph type="body" idx="1"/>
          </p:nvPr>
        </p:nvSpPr>
        <p:spPr>
          <a:xfrm>
            <a:off x="827088" y="5564188"/>
            <a:ext cx="7705725" cy="457200"/>
          </a:xfrm>
          <a:noFill/>
          <a:extLs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spAutoFit/>
          </a:bodyPr>
          <a:lstStyle/>
          <a:p>
            <a:r>
              <a:rPr lang="en-US" altLang="en-US" sz="2400"/>
              <a:t>Override rules of precedence by using parentheses.</a:t>
            </a:r>
          </a:p>
        </p:txBody>
      </p:sp>
      <p:sp>
        <p:nvSpPr>
          <p:cNvPr id="44036" name="Rectangle 11">
            <a:extLst>
              <a:ext uri="{FF2B5EF4-FFF2-40B4-BE49-F238E27FC236}">
                <a16:creationId xmlns:a16="http://schemas.microsoft.com/office/drawing/2014/main" id="{4C259039-522E-BF7A-5FEA-6402E2029DF7}"/>
              </a:ext>
            </a:extLst>
          </p:cNvPr>
          <p:cNvSpPr>
            <a:spLocks noChangeArrowheads="1"/>
          </p:cNvSpPr>
          <p:nvPr/>
        </p:nvSpPr>
        <p:spPr bwMode="blackWhite">
          <a:xfrm>
            <a:off x="774700" y="1698625"/>
            <a:ext cx="7685088" cy="3622675"/>
          </a:xfrm>
          <a:prstGeom prst="rect">
            <a:avLst/>
          </a:prstGeom>
          <a:solidFill>
            <a:srgbClr val="FF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4037" name="Line 12">
            <a:extLst>
              <a:ext uri="{FF2B5EF4-FFF2-40B4-BE49-F238E27FC236}">
                <a16:creationId xmlns:a16="http://schemas.microsoft.com/office/drawing/2014/main" id="{18A2C266-4E3E-9AE2-08F1-493899004988}"/>
              </a:ext>
            </a:extLst>
          </p:cNvPr>
          <p:cNvSpPr>
            <a:spLocks noChangeShapeType="1"/>
          </p:cNvSpPr>
          <p:nvPr/>
        </p:nvSpPr>
        <p:spPr bwMode="auto">
          <a:xfrm>
            <a:off x="774700" y="2252663"/>
            <a:ext cx="7620000" cy="1587"/>
          </a:xfrm>
          <a:prstGeom prst="line">
            <a:avLst/>
          </a:prstGeom>
          <a:noFill/>
          <a:ln w="508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38" name="Line 13">
            <a:extLst>
              <a:ext uri="{FF2B5EF4-FFF2-40B4-BE49-F238E27FC236}">
                <a16:creationId xmlns:a16="http://schemas.microsoft.com/office/drawing/2014/main" id="{FCA85042-E32B-09DB-CE89-28BB5C9AEB25}"/>
              </a:ext>
            </a:extLst>
          </p:cNvPr>
          <p:cNvSpPr>
            <a:spLocks noChangeShapeType="1"/>
          </p:cNvSpPr>
          <p:nvPr/>
        </p:nvSpPr>
        <p:spPr bwMode="auto">
          <a:xfrm>
            <a:off x="758825" y="3395663"/>
            <a:ext cx="7626350" cy="1587"/>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39" name="Line 14">
            <a:extLst>
              <a:ext uri="{FF2B5EF4-FFF2-40B4-BE49-F238E27FC236}">
                <a16:creationId xmlns:a16="http://schemas.microsoft.com/office/drawing/2014/main" id="{58974240-B9AF-FFA3-5BB3-9323013936F0}"/>
              </a:ext>
            </a:extLst>
          </p:cNvPr>
          <p:cNvSpPr>
            <a:spLocks noChangeShapeType="1"/>
          </p:cNvSpPr>
          <p:nvPr/>
        </p:nvSpPr>
        <p:spPr bwMode="auto">
          <a:xfrm>
            <a:off x="4013200" y="1706563"/>
            <a:ext cx="0" cy="3652837"/>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0" name="Rectangle 15">
            <a:extLst>
              <a:ext uri="{FF2B5EF4-FFF2-40B4-BE49-F238E27FC236}">
                <a16:creationId xmlns:a16="http://schemas.microsoft.com/office/drawing/2014/main" id="{8DE2A951-35A5-3955-8B4F-FFFBD6736532}"/>
              </a:ext>
            </a:extLst>
          </p:cNvPr>
          <p:cNvSpPr>
            <a:spLocks noChangeArrowheads="1"/>
          </p:cNvSpPr>
          <p:nvPr/>
        </p:nvSpPr>
        <p:spPr bwMode="auto">
          <a:xfrm>
            <a:off x="869950" y="1884363"/>
            <a:ext cx="7654925" cy="3446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tabLst>
                <a:tab pos="1371600" algn="r"/>
                <a:tab pos="3270250" algn="l"/>
              </a:tabLst>
              <a:defRPr sz="2800">
                <a:solidFill>
                  <a:schemeClr val="tx1"/>
                </a:solidFill>
                <a:latin typeface="Arial" panose="020B0604020202020204" pitchFamily="34" charset="0"/>
              </a:defRPr>
            </a:lvl1pPr>
            <a:lvl2pPr marL="742950" indent="-285750">
              <a:spcBef>
                <a:spcPct val="20000"/>
              </a:spcBef>
              <a:buChar char="–"/>
              <a:tabLst>
                <a:tab pos="1371600" algn="r"/>
                <a:tab pos="3270250" algn="l"/>
              </a:tabLst>
              <a:defRPr sz="2400">
                <a:solidFill>
                  <a:schemeClr val="tx1"/>
                </a:solidFill>
                <a:latin typeface="Arial" panose="020B0604020202020204" pitchFamily="34" charset="0"/>
              </a:defRPr>
            </a:lvl2pPr>
            <a:lvl3pPr marL="1143000" indent="-228600">
              <a:spcBef>
                <a:spcPct val="20000"/>
              </a:spcBef>
              <a:buChar char="•"/>
              <a:tabLst>
                <a:tab pos="1371600" algn="r"/>
                <a:tab pos="3270250" algn="l"/>
              </a:tabLst>
              <a:defRPr sz="2000">
                <a:solidFill>
                  <a:schemeClr val="tx1"/>
                </a:solidFill>
                <a:latin typeface="Arial" panose="020B0604020202020204" pitchFamily="34" charset="0"/>
              </a:defRPr>
            </a:lvl3pPr>
            <a:lvl4pPr marL="1600200" indent="-228600">
              <a:spcBef>
                <a:spcPct val="20000"/>
              </a:spcBef>
              <a:buChar char="–"/>
              <a:tabLst>
                <a:tab pos="1371600" algn="r"/>
                <a:tab pos="3270250" algn="l"/>
              </a:tabLst>
              <a:defRPr sz="2000">
                <a:solidFill>
                  <a:schemeClr val="tx1"/>
                </a:solidFill>
                <a:latin typeface="Arial" panose="020B0604020202020204" pitchFamily="34" charset="0"/>
              </a:defRPr>
            </a:lvl4pPr>
            <a:lvl5pPr marL="2057400" indent="-228600">
              <a:spcBef>
                <a:spcPct val="20000"/>
              </a:spcBef>
              <a:buChar char="»"/>
              <a:tabLst>
                <a:tab pos="1371600" algn="r"/>
                <a:tab pos="32702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371600" algn="r"/>
                <a:tab pos="32702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371600" algn="r"/>
                <a:tab pos="32702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371600" algn="r"/>
                <a:tab pos="32702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371600" algn="r"/>
                <a:tab pos="3270250" algn="l"/>
              </a:tabLst>
              <a:defRPr sz="2000">
                <a:solidFill>
                  <a:schemeClr val="tx1"/>
                </a:solidFill>
                <a:latin typeface="Arial" panose="020B0604020202020204" pitchFamily="34" charset="0"/>
              </a:defRPr>
            </a:lvl9pPr>
          </a:lstStyle>
          <a:p>
            <a:pPr>
              <a:lnSpc>
                <a:spcPct val="80000"/>
              </a:lnSpc>
              <a:spcBef>
                <a:spcPct val="35000"/>
              </a:spcBef>
              <a:buFontTx/>
              <a:buNone/>
            </a:pPr>
            <a:r>
              <a:rPr lang="en-US" altLang="en-US" sz="2200" b="1"/>
              <a:t>Order Evaluated	Operator</a:t>
            </a:r>
          </a:p>
          <a:p>
            <a:pPr>
              <a:lnSpc>
                <a:spcPct val="80000"/>
              </a:lnSpc>
              <a:spcBef>
                <a:spcPct val="35000"/>
              </a:spcBef>
              <a:buFontTx/>
              <a:buNone/>
            </a:pPr>
            <a:r>
              <a:rPr lang="en-US" altLang="en-US" sz="2200" b="1"/>
              <a:t>    	1	Arithmetic operators </a:t>
            </a:r>
          </a:p>
          <a:p>
            <a:pPr>
              <a:lnSpc>
                <a:spcPct val="80000"/>
              </a:lnSpc>
              <a:spcBef>
                <a:spcPct val="35000"/>
              </a:spcBef>
              <a:buFontTx/>
              <a:buNone/>
            </a:pPr>
            <a:r>
              <a:rPr lang="en-US" altLang="en-US" sz="2200" b="1"/>
              <a:t>	2	Concatenation operator</a:t>
            </a:r>
          </a:p>
          <a:p>
            <a:pPr>
              <a:lnSpc>
                <a:spcPct val="80000"/>
              </a:lnSpc>
              <a:spcBef>
                <a:spcPct val="35000"/>
              </a:spcBef>
              <a:buFontTx/>
              <a:buNone/>
            </a:pPr>
            <a:r>
              <a:rPr lang="en-US" altLang="en-US" sz="2200" b="1"/>
              <a:t>	3	Comparison conditions</a:t>
            </a:r>
          </a:p>
          <a:p>
            <a:pPr>
              <a:lnSpc>
                <a:spcPct val="80000"/>
              </a:lnSpc>
              <a:spcBef>
                <a:spcPct val="35000"/>
              </a:spcBef>
              <a:buFontTx/>
              <a:buNone/>
            </a:pPr>
            <a:r>
              <a:rPr lang="en-US" altLang="en-US" sz="2200" b="1"/>
              <a:t>	4	</a:t>
            </a:r>
            <a:r>
              <a:rPr lang="en-US" altLang="en-US" sz="2200" b="1">
                <a:latin typeface="Courier New" panose="02070309020205020404" pitchFamily="49" charset="0"/>
              </a:rPr>
              <a:t>IS</a:t>
            </a:r>
            <a:r>
              <a:rPr lang="en-US" altLang="en-US" sz="2200" b="1">
                <a:latin typeface="Times New Roman" panose="02020603050405020304" pitchFamily="18" charset="0"/>
              </a:rPr>
              <a:t> </a:t>
            </a:r>
            <a:r>
              <a:rPr lang="en-US" altLang="en-US" sz="2200" b="1">
                <a:latin typeface="Courier New" panose="02070309020205020404" pitchFamily="49" charset="0"/>
              </a:rPr>
              <a:t>[NOT]</a:t>
            </a:r>
            <a:r>
              <a:rPr lang="en-US" altLang="en-US" sz="2200" b="1">
                <a:latin typeface="Times New Roman" panose="02020603050405020304" pitchFamily="18" charset="0"/>
              </a:rPr>
              <a:t> </a:t>
            </a:r>
            <a:r>
              <a:rPr lang="en-US" altLang="en-US" sz="2200" b="1">
                <a:latin typeface="Courier New" panose="02070309020205020404" pitchFamily="49" charset="0"/>
              </a:rPr>
              <a:t>NULL</a:t>
            </a:r>
            <a:r>
              <a:rPr lang="en-US" altLang="en-US" sz="2200" b="1">
                <a:latin typeface="Times New Roman" panose="02020603050405020304" pitchFamily="18" charset="0"/>
              </a:rPr>
              <a:t>, </a:t>
            </a:r>
            <a:r>
              <a:rPr lang="en-US" altLang="en-US" sz="2200" b="1">
                <a:latin typeface="Courier New" panose="02070309020205020404" pitchFamily="49" charset="0"/>
              </a:rPr>
              <a:t>LIKE</a:t>
            </a:r>
            <a:r>
              <a:rPr lang="en-US" altLang="en-US" sz="2200" b="1">
                <a:latin typeface="Times New Roman" panose="02020603050405020304" pitchFamily="18" charset="0"/>
              </a:rPr>
              <a:t>, </a:t>
            </a:r>
            <a:r>
              <a:rPr lang="en-US" altLang="en-US" sz="2200" b="1">
                <a:latin typeface="Courier New" panose="02070309020205020404" pitchFamily="49" charset="0"/>
              </a:rPr>
              <a:t>[NOT]</a:t>
            </a:r>
            <a:r>
              <a:rPr lang="en-US" altLang="en-US" sz="2200" b="1">
                <a:latin typeface="Times New Roman" panose="02020603050405020304" pitchFamily="18" charset="0"/>
              </a:rPr>
              <a:t> </a:t>
            </a:r>
            <a:r>
              <a:rPr lang="en-US" altLang="en-US" sz="2200" b="1">
                <a:latin typeface="Courier New" panose="02070309020205020404" pitchFamily="49" charset="0"/>
              </a:rPr>
              <a:t>IN</a:t>
            </a:r>
            <a:endParaRPr lang="en-US" altLang="en-US" sz="2200" b="1"/>
          </a:p>
          <a:p>
            <a:pPr>
              <a:lnSpc>
                <a:spcPct val="80000"/>
              </a:lnSpc>
              <a:spcBef>
                <a:spcPct val="35000"/>
              </a:spcBef>
              <a:buFontTx/>
              <a:buNone/>
            </a:pPr>
            <a:r>
              <a:rPr lang="en-US" altLang="en-US" sz="2200" b="1"/>
              <a:t>	5	</a:t>
            </a:r>
            <a:r>
              <a:rPr lang="en-US" altLang="en-US" sz="2200" b="1">
                <a:latin typeface="Courier New" panose="02070309020205020404" pitchFamily="49" charset="0"/>
              </a:rPr>
              <a:t>[NOT] BETWEEN</a:t>
            </a:r>
          </a:p>
          <a:p>
            <a:pPr>
              <a:lnSpc>
                <a:spcPct val="80000"/>
              </a:lnSpc>
              <a:spcBef>
                <a:spcPct val="35000"/>
              </a:spcBef>
              <a:buFontTx/>
              <a:buNone/>
            </a:pPr>
            <a:r>
              <a:rPr lang="en-US" altLang="en-US" sz="2200" b="1"/>
              <a:t>	6	</a:t>
            </a:r>
            <a:r>
              <a:rPr lang="en-US" altLang="en-US" sz="2200" b="1">
                <a:latin typeface="Courier New" panose="02070309020205020404" pitchFamily="49" charset="0"/>
              </a:rPr>
              <a:t>NOT</a:t>
            </a:r>
            <a:r>
              <a:rPr lang="en-US" altLang="en-US" sz="2200" b="1"/>
              <a:t> logical condition</a:t>
            </a:r>
          </a:p>
          <a:p>
            <a:pPr>
              <a:lnSpc>
                <a:spcPct val="80000"/>
              </a:lnSpc>
              <a:spcBef>
                <a:spcPct val="35000"/>
              </a:spcBef>
              <a:buFontTx/>
              <a:buNone/>
            </a:pPr>
            <a:r>
              <a:rPr lang="en-US" altLang="en-US" sz="2200" b="1"/>
              <a:t>	7	</a:t>
            </a:r>
            <a:r>
              <a:rPr lang="en-US" altLang="en-US" sz="2200" b="1">
                <a:latin typeface="Courier New" panose="02070309020205020404" pitchFamily="49" charset="0"/>
              </a:rPr>
              <a:t>AND</a:t>
            </a:r>
            <a:r>
              <a:rPr lang="en-US" altLang="en-US" sz="2200" b="1"/>
              <a:t> logical condition</a:t>
            </a:r>
          </a:p>
          <a:p>
            <a:pPr>
              <a:lnSpc>
                <a:spcPct val="80000"/>
              </a:lnSpc>
              <a:spcBef>
                <a:spcPct val="35000"/>
              </a:spcBef>
              <a:buFontTx/>
              <a:buNone/>
            </a:pPr>
            <a:r>
              <a:rPr lang="en-US" altLang="en-US" sz="2200" b="1"/>
              <a:t>	8	</a:t>
            </a:r>
            <a:r>
              <a:rPr lang="en-US" altLang="en-US" sz="2200" b="1">
                <a:latin typeface="Courier New" panose="02070309020205020404" pitchFamily="49" charset="0"/>
              </a:rPr>
              <a:t>OR</a:t>
            </a:r>
            <a:r>
              <a:rPr lang="en-US" altLang="en-US" sz="2200" b="1"/>
              <a:t> logical condition</a:t>
            </a:r>
          </a:p>
        </p:txBody>
      </p:sp>
      <p:sp>
        <p:nvSpPr>
          <p:cNvPr id="44041" name="Line 16">
            <a:extLst>
              <a:ext uri="{FF2B5EF4-FFF2-40B4-BE49-F238E27FC236}">
                <a16:creationId xmlns:a16="http://schemas.microsoft.com/office/drawing/2014/main" id="{EE618D6B-8C9E-116E-FDB0-A9DD000BA856}"/>
              </a:ext>
            </a:extLst>
          </p:cNvPr>
          <p:cNvSpPr>
            <a:spLocks noChangeShapeType="1"/>
          </p:cNvSpPr>
          <p:nvPr/>
        </p:nvSpPr>
        <p:spPr bwMode="auto">
          <a:xfrm>
            <a:off x="760413" y="2652713"/>
            <a:ext cx="7623175" cy="1587"/>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2" name="Line 17">
            <a:extLst>
              <a:ext uri="{FF2B5EF4-FFF2-40B4-BE49-F238E27FC236}">
                <a16:creationId xmlns:a16="http://schemas.microsoft.com/office/drawing/2014/main" id="{2F6D9538-9341-80E9-4318-2D28FC737178}"/>
              </a:ext>
            </a:extLst>
          </p:cNvPr>
          <p:cNvSpPr>
            <a:spLocks noChangeShapeType="1"/>
          </p:cNvSpPr>
          <p:nvPr/>
        </p:nvSpPr>
        <p:spPr bwMode="auto">
          <a:xfrm>
            <a:off x="758825" y="3757613"/>
            <a:ext cx="7621588" cy="1587"/>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3" name="Line 18">
            <a:extLst>
              <a:ext uri="{FF2B5EF4-FFF2-40B4-BE49-F238E27FC236}">
                <a16:creationId xmlns:a16="http://schemas.microsoft.com/office/drawing/2014/main" id="{FDDC7F5A-00D5-1C19-019E-5B369191F309}"/>
              </a:ext>
            </a:extLst>
          </p:cNvPr>
          <p:cNvSpPr>
            <a:spLocks noChangeShapeType="1"/>
          </p:cNvSpPr>
          <p:nvPr/>
        </p:nvSpPr>
        <p:spPr bwMode="auto">
          <a:xfrm>
            <a:off x="758825" y="4527550"/>
            <a:ext cx="7623175" cy="1588"/>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4" name="Line 19">
            <a:extLst>
              <a:ext uri="{FF2B5EF4-FFF2-40B4-BE49-F238E27FC236}">
                <a16:creationId xmlns:a16="http://schemas.microsoft.com/office/drawing/2014/main" id="{470E0637-50C4-43B0-6671-352519867FB2}"/>
              </a:ext>
            </a:extLst>
          </p:cNvPr>
          <p:cNvSpPr>
            <a:spLocks noChangeShapeType="1"/>
          </p:cNvSpPr>
          <p:nvPr/>
        </p:nvSpPr>
        <p:spPr bwMode="auto">
          <a:xfrm>
            <a:off x="758825" y="4152900"/>
            <a:ext cx="7623175" cy="1588"/>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5" name="Line 20">
            <a:extLst>
              <a:ext uri="{FF2B5EF4-FFF2-40B4-BE49-F238E27FC236}">
                <a16:creationId xmlns:a16="http://schemas.microsoft.com/office/drawing/2014/main" id="{E0DFCC97-8E1C-AD0E-A549-6ABB9308D1B9}"/>
              </a:ext>
            </a:extLst>
          </p:cNvPr>
          <p:cNvSpPr>
            <a:spLocks noChangeShapeType="1"/>
          </p:cNvSpPr>
          <p:nvPr/>
        </p:nvSpPr>
        <p:spPr bwMode="auto">
          <a:xfrm>
            <a:off x="760413" y="4948238"/>
            <a:ext cx="7623175" cy="1587"/>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6" name="Line 21">
            <a:extLst>
              <a:ext uri="{FF2B5EF4-FFF2-40B4-BE49-F238E27FC236}">
                <a16:creationId xmlns:a16="http://schemas.microsoft.com/office/drawing/2014/main" id="{F9FA923C-D005-051F-AA59-E21028BD4DE5}"/>
              </a:ext>
            </a:extLst>
          </p:cNvPr>
          <p:cNvSpPr>
            <a:spLocks noChangeShapeType="1"/>
          </p:cNvSpPr>
          <p:nvPr/>
        </p:nvSpPr>
        <p:spPr bwMode="auto">
          <a:xfrm>
            <a:off x="758825" y="3021013"/>
            <a:ext cx="7626350" cy="1587"/>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F39F01-9CC6-2F3D-126A-6B7A1931B88D}"/>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2C358A95-2D74-A063-5A77-84A4E4998108}"/>
              </a:ext>
            </a:extLst>
          </p:cNvPr>
          <p:cNvSpPr>
            <a:spLocks noGrp="1" noChangeArrowheads="1"/>
          </p:cNvSpPr>
          <p:nvPr>
            <p:ph type="title"/>
          </p:nvPr>
        </p:nvSpPr>
        <p:spPr>
          <a:xfrm>
            <a:off x="323850" y="231304"/>
            <a:ext cx="6192366" cy="533400"/>
          </a:xfrm>
        </p:spPr>
        <p:txBody>
          <a:bodyPr/>
          <a:lstStyle/>
          <a:p>
            <a:pPr eaLnBrk="1" hangingPunct="1"/>
            <a:r>
              <a:rPr lang="en-US" altLang="en-US" sz="2800" b="1" u="sng" dirty="0">
                <a:solidFill>
                  <a:srgbClr val="D34817"/>
                </a:solidFill>
                <a:latin typeface="Cambria" panose="02040503050406030204" pitchFamily="18" charset="0"/>
                <a:ea typeface="Cambria" panose="02040503050406030204" pitchFamily="18" charset="0"/>
              </a:rPr>
              <a:t>Regular Expression</a:t>
            </a:r>
            <a:endParaRPr lang="en-US" altLang="en-US" sz="2800" b="1" dirty="0">
              <a:solidFill>
                <a:srgbClr val="0000FF"/>
              </a:solidFill>
              <a:latin typeface="Cambria" panose="02040503050406030204" pitchFamily="18" charset="0"/>
              <a:ea typeface="Cambria" panose="02040503050406030204" pitchFamily="18" charset="0"/>
            </a:endParaRPr>
          </a:p>
        </p:txBody>
      </p:sp>
      <p:sp>
        <p:nvSpPr>
          <p:cNvPr id="38915" name="Rectangle 3">
            <a:extLst>
              <a:ext uri="{FF2B5EF4-FFF2-40B4-BE49-F238E27FC236}">
                <a16:creationId xmlns:a16="http://schemas.microsoft.com/office/drawing/2014/main" id="{D51CF7D9-518C-457F-4CB7-5DC0577C0733}"/>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Allow you to search for a pattern of characters in a string.</a:t>
            </a:r>
          </a:p>
          <a:p>
            <a:pPr marL="285750" indent="-285750" algn="just">
              <a:buSzPct val="50000"/>
              <a:buFont typeface="Wingdings" panose="05000000000000000000" pitchFamily="2" charset="2"/>
              <a:buChar char="l"/>
            </a:pPr>
            <a:r>
              <a:rPr lang="en-US" alt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REGEXP_LIKE(expression, pattern, [,parameter])</a:t>
            </a: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dirty="0"/>
          </a:p>
        </p:txBody>
      </p:sp>
      <p:sp>
        <p:nvSpPr>
          <p:cNvPr id="3" name="Footer Placeholder 2">
            <a:extLst>
              <a:ext uri="{FF2B5EF4-FFF2-40B4-BE49-F238E27FC236}">
                <a16:creationId xmlns:a16="http://schemas.microsoft.com/office/drawing/2014/main" id="{97BF0FB5-34A7-3F09-9B3E-DF2C51625234}"/>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F179FA9D-62D6-5F56-FE1E-6A9100A3ECFA}"/>
              </a:ext>
            </a:extLst>
          </p:cNvPr>
          <p:cNvSpPr>
            <a:spLocks noGrp="1"/>
          </p:cNvSpPr>
          <p:nvPr>
            <p:ph type="sldNum" sz="quarter" idx="12"/>
          </p:nvPr>
        </p:nvSpPr>
        <p:spPr>
          <a:xfrm>
            <a:off x="8459788" y="616585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graphicFrame>
        <p:nvGraphicFramePr>
          <p:cNvPr id="9" name="Table 8">
            <a:extLst>
              <a:ext uri="{FF2B5EF4-FFF2-40B4-BE49-F238E27FC236}">
                <a16:creationId xmlns:a16="http://schemas.microsoft.com/office/drawing/2014/main" id="{6307CAD6-A0AD-B046-B87D-F44790CE31F9}"/>
              </a:ext>
            </a:extLst>
          </p:cNvPr>
          <p:cNvGraphicFramePr>
            <a:graphicFrameLocks noGrp="1"/>
          </p:cNvGraphicFramePr>
          <p:nvPr>
            <p:extLst>
              <p:ext uri="{D42A27DB-BD31-4B8C-83A1-F6EECF244321}">
                <p14:modId xmlns:p14="http://schemas.microsoft.com/office/powerpoint/2010/main" val="3315961034"/>
              </p:ext>
            </p:extLst>
          </p:nvPr>
        </p:nvGraphicFramePr>
        <p:xfrm>
          <a:off x="323850" y="1700808"/>
          <a:ext cx="8496301" cy="4394067"/>
        </p:xfrm>
        <a:graphic>
          <a:graphicData uri="http://schemas.openxmlformats.org/drawingml/2006/table">
            <a:tbl>
              <a:tblPr firstRow="1" firstCol="1" bandRow="1">
                <a:tableStyleId>{5C22544A-7EE6-4342-B048-85BDC9FD1C3A}</a:tableStyleId>
              </a:tblPr>
              <a:tblGrid>
                <a:gridCol w="719758">
                  <a:extLst>
                    <a:ext uri="{9D8B030D-6E8A-4147-A177-3AD203B41FA5}">
                      <a16:colId xmlns:a16="http://schemas.microsoft.com/office/drawing/2014/main" val="3249494418"/>
                    </a:ext>
                  </a:extLst>
                </a:gridCol>
                <a:gridCol w="2899289">
                  <a:extLst>
                    <a:ext uri="{9D8B030D-6E8A-4147-A177-3AD203B41FA5}">
                      <a16:colId xmlns:a16="http://schemas.microsoft.com/office/drawing/2014/main" val="240752400"/>
                    </a:ext>
                  </a:extLst>
                </a:gridCol>
                <a:gridCol w="2503577">
                  <a:extLst>
                    <a:ext uri="{9D8B030D-6E8A-4147-A177-3AD203B41FA5}">
                      <a16:colId xmlns:a16="http://schemas.microsoft.com/office/drawing/2014/main" val="3612207679"/>
                    </a:ext>
                  </a:extLst>
                </a:gridCol>
                <a:gridCol w="2373677">
                  <a:extLst>
                    <a:ext uri="{9D8B030D-6E8A-4147-A177-3AD203B41FA5}">
                      <a16:colId xmlns:a16="http://schemas.microsoft.com/office/drawing/2014/main" val="618583757"/>
                    </a:ext>
                  </a:extLst>
                </a:gridCol>
              </a:tblGrid>
              <a:tr h="360040">
                <a:tc>
                  <a:txBody>
                    <a:bodyPr/>
                    <a:lstStyle/>
                    <a:p>
                      <a:pPr marL="0" marR="0" algn="ctr">
                        <a:lnSpc>
                          <a:spcPct val="115000"/>
                        </a:lnSpc>
                        <a:spcAft>
                          <a:spcPts val="800"/>
                        </a:spcAft>
                        <a:buNone/>
                      </a:pPr>
                      <a:r>
                        <a:rPr lang="en-US" sz="2000" kern="100" dirty="0" err="1">
                          <a:solidFill>
                            <a:srgbClr val="FFFF00"/>
                          </a:solidFill>
                          <a:effectLst/>
                          <a:latin typeface="Cambria" panose="02040503050406030204" pitchFamily="18" charset="0"/>
                          <a:ea typeface="Cambria" panose="02040503050406030204" pitchFamily="18" charset="0"/>
                        </a:rPr>
                        <a:t>Ptrn</a:t>
                      </a:r>
                      <a:r>
                        <a:rPr lang="en-US" sz="2000" kern="100" dirty="0">
                          <a:solidFill>
                            <a:srgbClr val="FFFF00"/>
                          </a:solidFill>
                          <a:effectLst/>
                          <a:latin typeface="Cambria" panose="02040503050406030204" pitchFamily="18" charset="0"/>
                          <a:ea typeface="Cambria" panose="02040503050406030204" pitchFamily="18" charset="0"/>
                        </a:rPr>
                        <a:t>.</a:t>
                      </a:r>
                      <a:endParaRPr lang="en-US" sz="2000" kern="100"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100" dirty="0">
                          <a:solidFill>
                            <a:srgbClr val="FFFF00"/>
                          </a:solidFill>
                          <a:effectLst/>
                          <a:latin typeface="Cambria" panose="02040503050406030204" pitchFamily="18" charset="0"/>
                          <a:ea typeface="Cambria" panose="02040503050406030204" pitchFamily="18" charset="0"/>
                        </a:rPr>
                        <a:t>Description</a:t>
                      </a:r>
                      <a:endParaRPr lang="en-US" sz="2000" kern="100"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100" dirty="0">
                          <a:solidFill>
                            <a:srgbClr val="FFFF00"/>
                          </a:solidFill>
                          <a:effectLst/>
                          <a:latin typeface="Cambria" panose="02040503050406030204" pitchFamily="18" charset="0"/>
                          <a:ea typeface="Cambria" panose="02040503050406030204" pitchFamily="18" charset="0"/>
                        </a:rPr>
                        <a:t>Example</a:t>
                      </a:r>
                      <a:endParaRPr lang="en-US" sz="2000" kern="100"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100" dirty="0">
                          <a:solidFill>
                            <a:srgbClr val="FFFF00"/>
                          </a:solidFill>
                          <a:effectLst/>
                          <a:latin typeface="Cambria" panose="02040503050406030204" pitchFamily="18" charset="0"/>
                          <a:ea typeface="Cambria" panose="02040503050406030204" pitchFamily="18" charset="0"/>
                        </a:rPr>
                        <a:t>Output</a:t>
                      </a:r>
                      <a:endParaRPr lang="en-US" sz="2000" kern="100"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905078150"/>
                  </a:ext>
                </a:extLst>
              </a:tr>
              <a:tr h="327532">
                <a:tc>
                  <a:txBody>
                    <a:bodyPr/>
                    <a:lstStyle/>
                    <a:p>
                      <a:pPr marL="0" marR="0" algn="ctr">
                        <a:lnSpc>
                          <a:spcPct val="115000"/>
                        </a:lnSpc>
                        <a:spcAft>
                          <a:spcPts val="800"/>
                        </a:spcAft>
                        <a:buNone/>
                      </a:pPr>
                      <a:r>
                        <a:rPr lang="en-US" sz="2000" kern="100" dirty="0">
                          <a:effectLst/>
                          <a:latin typeface="Cambria" panose="02040503050406030204" pitchFamily="18" charset="0"/>
                          <a:ea typeface="Cambria" panose="02040503050406030204" pitchFamily="18" charset="0"/>
                        </a:rPr>
                        <a:t> </a:t>
                      </a:r>
                      <a:endParaRPr lang="en-US" sz="2000" kern="1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000" kern="100" dirty="0">
                          <a:effectLst/>
                          <a:latin typeface="Cambria" panose="02040503050406030204" pitchFamily="18" charset="0"/>
                          <a:ea typeface="Cambria" panose="02040503050406030204" pitchFamily="18" charset="0"/>
                        </a:rPr>
                        <a:t>Matches the given string</a:t>
                      </a:r>
                      <a:endParaRPr lang="en-US" sz="2000" kern="1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000" kern="100" dirty="0">
                          <a:effectLst/>
                          <a:latin typeface="Cambria" panose="02040503050406030204" pitchFamily="18" charset="0"/>
                          <a:ea typeface="Cambria" panose="02040503050406030204" pitchFamily="18" charset="0"/>
                        </a:rPr>
                        <a:t>(</a:t>
                      </a:r>
                      <a:r>
                        <a:rPr lang="en-US" sz="2000" kern="100" dirty="0" err="1">
                          <a:effectLst/>
                          <a:latin typeface="Cambria" panose="02040503050406030204" pitchFamily="18" charset="0"/>
                          <a:ea typeface="Cambria" panose="02040503050406030204" pitchFamily="18" charset="0"/>
                        </a:rPr>
                        <a:t>ename</a:t>
                      </a:r>
                      <a:r>
                        <a:rPr lang="en-US" sz="2000" kern="100" dirty="0">
                          <a:effectLst/>
                          <a:latin typeface="Cambria" panose="02040503050406030204" pitchFamily="18" charset="0"/>
                          <a:ea typeface="Cambria" panose="02040503050406030204" pitchFamily="18" charset="0"/>
                        </a:rPr>
                        <a:t>,  'A');</a:t>
                      </a:r>
                      <a:endParaRPr lang="en-US" sz="2000" kern="1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000" kern="100">
                          <a:effectLst/>
                          <a:latin typeface="Cambria" panose="02040503050406030204" pitchFamily="18" charset="0"/>
                          <a:ea typeface="Cambria" panose="02040503050406030204" pitchFamily="18" charset="0"/>
                        </a:rPr>
                        <a:t>All enames with A</a:t>
                      </a:r>
                      <a:endParaRPr lang="en-US" sz="2000" kern="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600707966"/>
                  </a:ext>
                </a:extLst>
              </a:tr>
              <a:tr h="666105">
                <a:tc>
                  <a:txBody>
                    <a:bodyPr/>
                    <a:lstStyle/>
                    <a:p>
                      <a:pPr marL="0" marR="0" algn="ctr">
                        <a:lnSpc>
                          <a:spcPct val="115000"/>
                        </a:lnSpc>
                        <a:spcAft>
                          <a:spcPts val="800"/>
                        </a:spcAft>
                        <a:buNone/>
                      </a:pPr>
                      <a:r>
                        <a:rPr lang="en-US" sz="2000" kern="100" dirty="0">
                          <a:effectLst/>
                          <a:latin typeface="Cambria" panose="02040503050406030204" pitchFamily="18" charset="0"/>
                          <a:ea typeface="Cambria" panose="02040503050406030204" pitchFamily="18" charset="0"/>
                        </a:rPr>
                        <a:t>^</a:t>
                      </a:r>
                      <a:endParaRPr lang="en-US" sz="2000" kern="1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000" kern="100">
                          <a:effectLst/>
                          <a:latin typeface="Cambria" panose="02040503050406030204" pitchFamily="18" charset="0"/>
                          <a:ea typeface="Cambria" panose="02040503050406030204" pitchFamily="18" charset="0"/>
                        </a:rPr>
                        <a:t>Matches the beginning of a string.</a:t>
                      </a:r>
                      <a:endParaRPr lang="en-US" sz="2000" kern="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000" kern="100" dirty="0">
                          <a:effectLst/>
                          <a:latin typeface="Cambria" panose="02040503050406030204" pitchFamily="18" charset="0"/>
                          <a:ea typeface="Cambria" panose="02040503050406030204" pitchFamily="18" charset="0"/>
                        </a:rPr>
                        <a:t>(</a:t>
                      </a:r>
                      <a:r>
                        <a:rPr lang="en-US" sz="2000" kern="100" dirty="0" err="1">
                          <a:effectLst/>
                          <a:latin typeface="Cambria" panose="02040503050406030204" pitchFamily="18" charset="0"/>
                          <a:ea typeface="Cambria" panose="02040503050406030204" pitchFamily="18" charset="0"/>
                        </a:rPr>
                        <a:t>ename</a:t>
                      </a:r>
                      <a:r>
                        <a:rPr lang="en-US" sz="2000" kern="100" dirty="0">
                          <a:effectLst/>
                          <a:latin typeface="Cambria" panose="02040503050406030204" pitchFamily="18" charset="0"/>
                          <a:ea typeface="Cambria" panose="02040503050406030204" pitchFamily="18" charset="0"/>
                        </a:rPr>
                        <a:t>,  '^A');</a:t>
                      </a:r>
                      <a:endParaRPr lang="en-US" sz="2000" kern="1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000" kern="100">
                          <a:effectLst/>
                          <a:latin typeface="Cambria" panose="02040503050406030204" pitchFamily="18" charset="0"/>
                          <a:ea typeface="Cambria" panose="02040503050406030204" pitchFamily="18" charset="0"/>
                        </a:rPr>
                        <a:t>All enames starting with A</a:t>
                      </a:r>
                      <a:endParaRPr lang="en-US" sz="2000" kern="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789694141"/>
                  </a:ext>
                </a:extLst>
              </a:tr>
              <a:tr h="327532">
                <a:tc>
                  <a:txBody>
                    <a:bodyPr/>
                    <a:lstStyle/>
                    <a:p>
                      <a:pPr marL="0" marR="0" algn="ctr">
                        <a:lnSpc>
                          <a:spcPct val="115000"/>
                        </a:lnSpc>
                        <a:spcAft>
                          <a:spcPts val="800"/>
                        </a:spcAft>
                        <a:buNone/>
                      </a:pPr>
                      <a:r>
                        <a:rPr lang="en-US" sz="2000" kern="100" dirty="0">
                          <a:effectLst/>
                          <a:latin typeface="Cambria" panose="02040503050406030204" pitchFamily="18" charset="0"/>
                          <a:ea typeface="Cambria" panose="02040503050406030204" pitchFamily="18" charset="0"/>
                        </a:rPr>
                        <a:t>$</a:t>
                      </a:r>
                      <a:endParaRPr lang="en-US" sz="2000" kern="1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000" kern="100" dirty="0">
                          <a:effectLst/>
                          <a:latin typeface="Cambria" panose="02040503050406030204" pitchFamily="18" charset="0"/>
                          <a:ea typeface="Cambria" panose="02040503050406030204" pitchFamily="18" charset="0"/>
                        </a:rPr>
                        <a:t>Matches the END of a string.</a:t>
                      </a:r>
                      <a:endParaRPr lang="en-US" sz="2000" kern="1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000" kern="100" dirty="0">
                          <a:effectLst/>
                          <a:latin typeface="Cambria" panose="02040503050406030204" pitchFamily="18" charset="0"/>
                          <a:ea typeface="Cambria" panose="02040503050406030204" pitchFamily="18" charset="0"/>
                        </a:rPr>
                        <a:t>(</a:t>
                      </a:r>
                      <a:r>
                        <a:rPr lang="en-US" sz="2000" kern="100" dirty="0" err="1">
                          <a:effectLst/>
                          <a:latin typeface="Cambria" panose="02040503050406030204" pitchFamily="18" charset="0"/>
                          <a:ea typeface="Cambria" panose="02040503050406030204" pitchFamily="18" charset="0"/>
                        </a:rPr>
                        <a:t>ename</a:t>
                      </a:r>
                      <a:r>
                        <a:rPr lang="en-US" sz="2000" kern="100" dirty="0">
                          <a:effectLst/>
                          <a:latin typeface="Cambria" panose="02040503050406030204" pitchFamily="18" charset="0"/>
                          <a:ea typeface="Cambria" panose="02040503050406030204" pitchFamily="18" charset="0"/>
                        </a:rPr>
                        <a:t>,  'A$');</a:t>
                      </a:r>
                      <a:endParaRPr lang="en-US" sz="2000" kern="1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000" kern="100">
                          <a:effectLst/>
                          <a:latin typeface="Cambria" panose="02040503050406030204" pitchFamily="18" charset="0"/>
                          <a:ea typeface="Cambria" panose="02040503050406030204" pitchFamily="18" charset="0"/>
                        </a:rPr>
                        <a:t>All enames ending with A.</a:t>
                      </a:r>
                      <a:endParaRPr lang="en-US" sz="2000" kern="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570133783"/>
                  </a:ext>
                </a:extLst>
              </a:tr>
              <a:tr h="327532">
                <a:tc>
                  <a:txBody>
                    <a:bodyPr/>
                    <a:lstStyle/>
                    <a:p>
                      <a:pPr marL="0" marR="0" algn="ctr">
                        <a:lnSpc>
                          <a:spcPct val="115000"/>
                        </a:lnSpc>
                        <a:spcAft>
                          <a:spcPts val="800"/>
                        </a:spcAft>
                        <a:buNone/>
                      </a:pPr>
                      <a:r>
                        <a:rPr lang="en-US" sz="2000" kern="100" dirty="0">
                          <a:effectLst/>
                          <a:latin typeface="Cambria" panose="02040503050406030204" pitchFamily="18" charset="0"/>
                          <a:ea typeface="Cambria" panose="02040503050406030204" pitchFamily="18" charset="0"/>
                        </a:rPr>
                        <a:t>.</a:t>
                      </a:r>
                      <a:endParaRPr lang="en-US" sz="2000" kern="1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000" kern="100">
                          <a:effectLst/>
                          <a:latin typeface="Cambria" panose="02040503050406030204" pitchFamily="18" charset="0"/>
                          <a:ea typeface="Cambria" panose="02040503050406030204" pitchFamily="18" charset="0"/>
                        </a:rPr>
                        <a:t>matches any character except NULL.</a:t>
                      </a:r>
                      <a:endParaRPr lang="en-US" sz="2000" kern="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000" kern="100" dirty="0">
                          <a:effectLst/>
                          <a:latin typeface="Cambria" panose="02040503050406030204" pitchFamily="18" charset="0"/>
                          <a:ea typeface="Cambria" panose="02040503050406030204" pitchFamily="18" charset="0"/>
                        </a:rPr>
                        <a:t>(</a:t>
                      </a:r>
                      <a:r>
                        <a:rPr lang="en-US" sz="2000" kern="100" dirty="0" err="1">
                          <a:effectLst/>
                          <a:latin typeface="Cambria" panose="02040503050406030204" pitchFamily="18" charset="0"/>
                          <a:ea typeface="Cambria" panose="02040503050406030204" pitchFamily="18" charset="0"/>
                        </a:rPr>
                        <a:t>ename</a:t>
                      </a:r>
                      <a:r>
                        <a:rPr lang="en-US" sz="2000" kern="100" dirty="0">
                          <a:effectLst/>
                          <a:latin typeface="Cambria" panose="02040503050406030204" pitchFamily="18" charset="0"/>
                          <a:ea typeface="Cambria" panose="02040503050406030204" pitchFamily="18" charset="0"/>
                        </a:rPr>
                        <a:t>,  'ALL.N');</a:t>
                      </a:r>
                      <a:endParaRPr lang="en-US" sz="2000" kern="1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000" kern="100">
                          <a:effectLst/>
                          <a:latin typeface="Cambria" panose="02040503050406030204" pitchFamily="18" charset="0"/>
                          <a:ea typeface="Cambria" panose="02040503050406030204" pitchFamily="18" charset="0"/>
                        </a:rPr>
                        <a:t> </a:t>
                      </a:r>
                      <a:endParaRPr lang="en-US" sz="2000" kern="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023969343"/>
                  </a:ext>
                </a:extLst>
              </a:tr>
              <a:tr h="666105">
                <a:tc>
                  <a:txBody>
                    <a:bodyPr/>
                    <a:lstStyle/>
                    <a:p>
                      <a:pPr marL="0" marR="0" algn="ctr">
                        <a:lnSpc>
                          <a:spcPct val="115000"/>
                        </a:lnSpc>
                        <a:spcAft>
                          <a:spcPts val="800"/>
                        </a:spcAft>
                        <a:buNone/>
                      </a:pPr>
                      <a:r>
                        <a:rPr lang="en-US" sz="2000" kern="100" dirty="0">
                          <a:effectLst/>
                          <a:latin typeface="Cambria" panose="02040503050406030204" pitchFamily="18" charset="0"/>
                          <a:ea typeface="Cambria" panose="02040503050406030204" pitchFamily="18" charset="0"/>
                        </a:rPr>
                        <a:t>|</a:t>
                      </a:r>
                      <a:endParaRPr lang="en-US" sz="2000" kern="1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000" kern="100" dirty="0">
                          <a:effectLst/>
                          <a:latin typeface="Cambria" panose="02040503050406030204" pitchFamily="18" charset="0"/>
                          <a:ea typeface="Cambria" panose="02040503050406030204" pitchFamily="18" charset="0"/>
                        </a:rPr>
                        <a:t>OR operator for providing the alternatives.</a:t>
                      </a:r>
                      <a:endParaRPr lang="en-US" sz="2000" kern="1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000" kern="100" dirty="0">
                          <a:effectLst/>
                          <a:latin typeface="Cambria" panose="02040503050406030204" pitchFamily="18" charset="0"/>
                          <a:ea typeface="Cambria" panose="02040503050406030204" pitchFamily="18" charset="0"/>
                        </a:rPr>
                        <a:t>(</a:t>
                      </a:r>
                      <a:r>
                        <a:rPr lang="en-US" sz="2000" kern="100" dirty="0" err="1">
                          <a:effectLst/>
                          <a:latin typeface="Cambria" panose="02040503050406030204" pitchFamily="18" charset="0"/>
                          <a:ea typeface="Cambria" panose="02040503050406030204" pitchFamily="18" charset="0"/>
                        </a:rPr>
                        <a:t>ename</a:t>
                      </a:r>
                      <a:r>
                        <a:rPr lang="en-US" sz="2000" kern="100" dirty="0">
                          <a:effectLst/>
                          <a:latin typeface="Cambria" panose="02040503050406030204" pitchFamily="18" charset="0"/>
                          <a:ea typeface="Cambria" panose="02040503050406030204" pitchFamily="18" charset="0"/>
                        </a:rPr>
                        <a:t>, '^A|+F$')</a:t>
                      </a:r>
                      <a:endParaRPr lang="en-US" sz="2000" kern="1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000" kern="100" dirty="0">
                          <a:effectLst/>
                          <a:latin typeface="Cambria" panose="02040503050406030204" pitchFamily="18" charset="0"/>
                          <a:ea typeface="Cambria" panose="02040503050406030204" pitchFamily="18" charset="0"/>
                        </a:rPr>
                        <a:t>Starts with A or ends with F.</a:t>
                      </a:r>
                      <a:endParaRPr lang="en-US" sz="2000" kern="1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77052819"/>
                  </a:ext>
                </a:extLst>
              </a:tr>
              <a:tr h="666105">
                <a:tc>
                  <a:txBody>
                    <a:bodyPr/>
                    <a:lstStyle/>
                    <a:p>
                      <a:pPr marL="0" marR="0" algn="ctr">
                        <a:lnSpc>
                          <a:spcPct val="115000"/>
                        </a:lnSpc>
                        <a:spcAft>
                          <a:spcPts val="800"/>
                        </a:spcAft>
                        <a:buNone/>
                      </a:pPr>
                      <a:r>
                        <a:rPr lang="en-US" sz="2000" b="1" kern="100" dirty="0">
                          <a:effectLst/>
                          <a:latin typeface="Cambria" panose="02040503050406030204" pitchFamily="18" charset="0"/>
                          <a:ea typeface="Cambria" panose="02040503050406030204" pitchFamily="18" charset="0"/>
                          <a:cs typeface="Times New Roman" panose="02020603050405020304" pitchFamily="18" charset="0"/>
                        </a:rPr>
                        <a:t>{m}</a:t>
                      </a:r>
                      <a:endParaRPr lang="en-US" sz="2000" kern="1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000" kern="100">
                          <a:effectLst/>
                          <a:latin typeface="Cambria" panose="02040503050406030204" pitchFamily="18" charset="0"/>
                          <a:ea typeface="Cambria" panose="02040503050406030204" pitchFamily="18" charset="0"/>
                          <a:cs typeface="Times New Roman" panose="02020603050405020304" pitchFamily="18" charset="0"/>
                        </a:rPr>
                        <a:t>Matches m times</a:t>
                      </a:r>
                    </a:p>
                  </a:txBody>
                  <a:tcPr marL="68580" marR="68580" marT="0" marB="0" anchor="ctr"/>
                </a:tc>
                <a:tc>
                  <a:txBody>
                    <a:bodyPr/>
                    <a:lstStyle/>
                    <a:p>
                      <a:pPr marL="0" marR="0">
                        <a:lnSpc>
                          <a:spcPct val="115000"/>
                        </a:lnSpc>
                        <a:spcAft>
                          <a:spcPts val="800"/>
                        </a:spcAft>
                        <a:buNone/>
                      </a:pP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a:t>
                      </a:r>
                      <a:r>
                        <a:rPr lang="en-US" sz="2000" kern="100" dirty="0" err="1">
                          <a:effectLst/>
                          <a:latin typeface="Cambria" panose="02040503050406030204" pitchFamily="18" charset="0"/>
                          <a:ea typeface="Cambria" panose="02040503050406030204" pitchFamily="18" charset="0"/>
                          <a:cs typeface="Times New Roman" panose="02020603050405020304" pitchFamily="18" charset="0"/>
                        </a:rPr>
                        <a:t>ename</a:t>
                      </a: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 'A{2}')</a:t>
                      </a:r>
                    </a:p>
                  </a:txBody>
                  <a:tcPr marL="68580" marR="68580" marT="0" marB="0" anchor="ctr"/>
                </a:tc>
                <a:tc>
                  <a:txBody>
                    <a:bodyPr/>
                    <a:lstStyle/>
                    <a:p>
                      <a:pPr marL="0" marR="0">
                        <a:lnSpc>
                          <a:spcPct val="115000"/>
                        </a:lnSpc>
                        <a:spcAft>
                          <a:spcPts val="800"/>
                        </a:spcAft>
                        <a:buNone/>
                      </a:pPr>
                      <a:r>
                        <a:rPr lang="en-US" sz="2000" kern="100" dirty="0" err="1">
                          <a:effectLst/>
                          <a:latin typeface="Cambria" panose="02040503050406030204" pitchFamily="18" charset="0"/>
                          <a:ea typeface="Cambria" panose="02040503050406030204" pitchFamily="18" charset="0"/>
                          <a:cs typeface="Times New Roman" panose="02020603050405020304" pitchFamily="18" charset="0"/>
                        </a:rPr>
                        <a:t>enames</a:t>
                      </a: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 with at least 2 consecutive As</a:t>
                      </a:r>
                    </a:p>
                  </a:txBody>
                  <a:tcPr marL="68580" marR="68580" marT="0" marB="0" anchor="ctr"/>
                </a:tc>
                <a:extLst>
                  <a:ext uri="{0D108BD9-81ED-4DB2-BD59-A6C34878D82A}">
                    <a16:rowId xmlns:a16="http://schemas.microsoft.com/office/drawing/2014/main" val="3645023623"/>
                  </a:ext>
                </a:extLst>
              </a:tr>
            </a:tbl>
          </a:graphicData>
        </a:graphic>
      </p:graphicFrame>
    </p:spTree>
    <p:extLst>
      <p:ext uri="{BB962C8B-B14F-4D97-AF65-F5344CB8AC3E}">
        <p14:creationId xmlns:p14="http://schemas.microsoft.com/office/powerpoint/2010/main" val="2165579415"/>
      </p:ext>
    </p:extLst>
  </p:cSld>
  <p:clrMapOvr>
    <a:overrideClrMapping bg1="lt1" tx1="dk1" bg2="lt2" tx2="dk2" accent1="accent1" accent2="accent2" accent3="accent3" accent4="accent4" accent5="accent5" accent6="accent6" hlink="hlink" folHlink="folHlink"/>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33D49-8D12-CADD-BA6B-87A694206086}"/>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A9090239-E5BF-36F3-8FE4-82787E948A60}"/>
              </a:ext>
            </a:extLst>
          </p:cNvPr>
          <p:cNvSpPr>
            <a:spLocks noGrp="1" noChangeArrowheads="1"/>
          </p:cNvSpPr>
          <p:nvPr>
            <p:ph type="title"/>
          </p:nvPr>
        </p:nvSpPr>
        <p:spPr>
          <a:xfrm>
            <a:off x="323850" y="231304"/>
            <a:ext cx="6192366" cy="533400"/>
          </a:xfrm>
        </p:spPr>
        <p:txBody>
          <a:bodyPr/>
          <a:lstStyle/>
          <a:p>
            <a:pPr eaLnBrk="1" hangingPunct="1"/>
            <a:r>
              <a:rPr lang="en-US" altLang="en-US" sz="2800" b="1" u="sng" dirty="0">
                <a:solidFill>
                  <a:srgbClr val="D34817"/>
                </a:solidFill>
                <a:latin typeface="Cambria" panose="02040503050406030204" pitchFamily="18" charset="0"/>
                <a:ea typeface="Cambria" panose="02040503050406030204" pitchFamily="18" charset="0"/>
              </a:rPr>
              <a:t>Regular Expression</a:t>
            </a:r>
            <a:endParaRPr lang="en-US" altLang="en-US" sz="2800" b="1" dirty="0">
              <a:solidFill>
                <a:srgbClr val="0000FF"/>
              </a:solidFill>
              <a:latin typeface="Cambria" panose="02040503050406030204" pitchFamily="18" charset="0"/>
              <a:ea typeface="Cambria" panose="02040503050406030204" pitchFamily="18" charset="0"/>
            </a:endParaRPr>
          </a:p>
        </p:txBody>
      </p:sp>
      <p:sp>
        <p:nvSpPr>
          <p:cNvPr id="38915" name="Rectangle 3">
            <a:extLst>
              <a:ext uri="{FF2B5EF4-FFF2-40B4-BE49-F238E27FC236}">
                <a16:creationId xmlns:a16="http://schemas.microsoft.com/office/drawing/2014/main" id="{A8BF04D3-2ADD-9667-0BE9-F5FFA27836B0}"/>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dirty="0"/>
          </a:p>
        </p:txBody>
      </p:sp>
      <p:sp>
        <p:nvSpPr>
          <p:cNvPr id="3" name="Footer Placeholder 2">
            <a:extLst>
              <a:ext uri="{FF2B5EF4-FFF2-40B4-BE49-F238E27FC236}">
                <a16:creationId xmlns:a16="http://schemas.microsoft.com/office/drawing/2014/main" id="{1A529DCC-3FF1-7A26-EFC2-E4EAA68E4072}"/>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273096B4-014E-C1E1-BBA6-D8F99904330A}"/>
              </a:ext>
            </a:extLst>
          </p:cNvPr>
          <p:cNvSpPr>
            <a:spLocks noGrp="1"/>
          </p:cNvSpPr>
          <p:nvPr>
            <p:ph type="sldNum" sz="quarter" idx="12"/>
          </p:nvPr>
        </p:nvSpPr>
        <p:spPr>
          <a:xfrm>
            <a:off x="8459788" y="616585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graphicFrame>
        <p:nvGraphicFramePr>
          <p:cNvPr id="9" name="Table 8">
            <a:extLst>
              <a:ext uri="{FF2B5EF4-FFF2-40B4-BE49-F238E27FC236}">
                <a16:creationId xmlns:a16="http://schemas.microsoft.com/office/drawing/2014/main" id="{8100E7AE-A383-3E09-F13B-1E2D2B6DF479}"/>
              </a:ext>
            </a:extLst>
          </p:cNvPr>
          <p:cNvGraphicFramePr>
            <a:graphicFrameLocks noGrp="1"/>
          </p:cNvGraphicFramePr>
          <p:nvPr>
            <p:extLst>
              <p:ext uri="{D42A27DB-BD31-4B8C-83A1-F6EECF244321}">
                <p14:modId xmlns:p14="http://schemas.microsoft.com/office/powerpoint/2010/main" val="1374159531"/>
              </p:ext>
            </p:extLst>
          </p:nvPr>
        </p:nvGraphicFramePr>
        <p:xfrm>
          <a:off x="319448" y="766021"/>
          <a:ext cx="8496301" cy="6047090"/>
        </p:xfrm>
        <a:graphic>
          <a:graphicData uri="http://schemas.openxmlformats.org/drawingml/2006/table">
            <a:tbl>
              <a:tblPr firstRow="1" firstCol="1" bandRow="1">
                <a:tableStyleId>{5C22544A-7EE6-4342-B048-85BDC9FD1C3A}</a:tableStyleId>
              </a:tblPr>
              <a:tblGrid>
                <a:gridCol w="796168">
                  <a:extLst>
                    <a:ext uri="{9D8B030D-6E8A-4147-A177-3AD203B41FA5}">
                      <a16:colId xmlns:a16="http://schemas.microsoft.com/office/drawing/2014/main" val="3249494418"/>
                    </a:ext>
                  </a:extLst>
                </a:gridCol>
                <a:gridCol w="2822879">
                  <a:extLst>
                    <a:ext uri="{9D8B030D-6E8A-4147-A177-3AD203B41FA5}">
                      <a16:colId xmlns:a16="http://schemas.microsoft.com/office/drawing/2014/main" val="240752400"/>
                    </a:ext>
                  </a:extLst>
                </a:gridCol>
                <a:gridCol w="2503577">
                  <a:extLst>
                    <a:ext uri="{9D8B030D-6E8A-4147-A177-3AD203B41FA5}">
                      <a16:colId xmlns:a16="http://schemas.microsoft.com/office/drawing/2014/main" val="3612207679"/>
                    </a:ext>
                  </a:extLst>
                </a:gridCol>
                <a:gridCol w="2373677">
                  <a:extLst>
                    <a:ext uri="{9D8B030D-6E8A-4147-A177-3AD203B41FA5}">
                      <a16:colId xmlns:a16="http://schemas.microsoft.com/office/drawing/2014/main" val="618583757"/>
                    </a:ext>
                  </a:extLst>
                </a:gridCol>
              </a:tblGrid>
              <a:tr h="360040">
                <a:tc>
                  <a:txBody>
                    <a:bodyPr/>
                    <a:lstStyle/>
                    <a:p>
                      <a:pPr marL="0" marR="0" algn="ctr">
                        <a:lnSpc>
                          <a:spcPct val="115000"/>
                        </a:lnSpc>
                        <a:spcAft>
                          <a:spcPts val="800"/>
                        </a:spcAft>
                        <a:buNone/>
                      </a:pPr>
                      <a:r>
                        <a:rPr lang="en-US" sz="2000" kern="100" dirty="0" err="1">
                          <a:solidFill>
                            <a:srgbClr val="FFFF00"/>
                          </a:solidFill>
                          <a:effectLst/>
                          <a:latin typeface="Cambria" panose="02040503050406030204" pitchFamily="18" charset="0"/>
                          <a:ea typeface="Cambria" panose="02040503050406030204" pitchFamily="18" charset="0"/>
                        </a:rPr>
                        <a:t>Ptrn</a:t>
                      </a:r>
                      <a:r>
                        <a:rPr lang="en-US" sz="2000" kern="100" dirty="0">
                          <a:solidFill>
                            <a:srgbClr val="FFFF00"/>
                          </a:solidFill>
                          <a:effectLst/>
                          <a:latin typeface="Cambria" panose="02040503050406030204" pitchFamily="18" charset="0"/>
                          <a:ea typeface="Cambria" panose="02040503050406030204" pitchFamily="18" charset="0"/>
                        </a:rPr>
                        <a:t>.</a:t>
                      </a:r>
                      <a:endParaRPr lang="en-US" sz="2000" kern="100"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100" dirty="0">
                          <a:solidFill>
                            <a:srgbClr val="FFFF00"/>
                          </a:solidFill>
                          <a:effectLst/>
                          <a:latin typeface="Cambria" panose="02040503050406030204" pitchFamily="18" charset="0"/>
                          <a:ea typeface="Cambria" panose="02040503050406030204" pitchFamily="18" charset="0"/>
                        </a:rPr>
                        <a:t>Description</a:t>
                      </a:r>
                      <a:endParaRPr lang="en-US" sz="2000" kern="100"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100" dirty="0">
                          <a:solidFill>
                            <a:srgbClr val="FFFF00"/>
                          </a:solidFill>
                          <a:effectLst/>
                          <a:latin typeface="Cambria" panose="02040503050406030204" pitchFamily="18" charset="0"/>
                          <a:ea typeface="Cambria" panose="02040503050406030204" pitchFamily="18" charset="0"/>
                        </a:rPr>
                        <a:t>Example</a:t>
                      </a:r>
                      <a:endParaRPr lang="en-US" sz="2000" kern="100"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100" dirty="0">
                          <a:solidFill>
                            <a:srgbClr val="FFFF00"/>
                          </a:solidFill>
                          <a:effectLst/>
                          <a:latin typeface="Cambria" panose="02040503050406030204" pitchFamily="18" charset="0"/>
                          <a:ea typeface="Cambria" panose="02040503050406030204" pitchFamily="18" charset="0"/>
                        </a:rPr>
                        <a:t>Output</a:t>
                      </a:r>
                      <a:endParaRPr lang="en-US" sz="2000" kern="100"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905078150"/>
                  </a:ext>
                </a:extLst>
              </a:tr>
              <a:tr h="327532">
                <a:tc>
                  <a:txBody>
                    <a:bodyPr/>
                    <a:lstStyle/>
                    <a:p>
                      <a:pPr marL="0" marR="0" algn="ctr">
                        <a:lnSpc>
                          <a:spcPct val="115000"/>
                        </a:lnSpc>
                        <a:spcAft>
                          <a:spcPts val="800"/>
                        </a:spcAft>
                        <a:buNone/>
                      </a:pPr>
                      <a:r>
                        <a:rPr lang="en-US" sz="2000" b="1" kern="100" dirty="0">
                          <a:effectLst/>
                          <a:latin typeface="Cambria" panose="02040503050406030204" pitchFamily="18" charset="0"/>
                          <a:ea typeface="Cambria" panose="02040503050406030204" pitchFamily="18" charset="0"/>
                          <a:cs typeface="Times New Roman" panose="02020603050405020304" pitchFamily="18" charset="0"/>
                        </a:rPr>
                        <a:t>{</a:t>
                      </a:r>
                      <a:r>
                        <a:rPr lang="en-US" sz="2000" b="1" kern="100" dirty="0" err="1">
                          <a:effectLst/>
                          <a:latin typeface="Cambria" panose="02040503050406030204" pitchFamily="18" charset="0"/>
                          <a:ea typeface="Cambria" panose="02040503050406030204" pitchFamily="18" charset="0"/>
                          <a:cs typeface="Times New Roman" panose="02020603050405020304" pitchFamily="18" charset="0"/>
                        </a:rPr>
                        <a:t>m,n</a:t>
                      </a:r>
                      <a:r>
                        <a:rPr lang="en-US" sz="2000" b="1" kern="100" dirty="0">
                          <a:effectLst/>
                          <a:latin typeface="Cambria" panose="02040503050406030204" pitchFamily="18" charset="0"/>
                          <a:ea typeface="Cambria" panose="02040503050406030204" pitchFamily="18" charset="0"/>
                          <a:cs typeface="Times New Roman" panose="02020603050405020304" pitchFamily="18" charset="0"/>
                        </a:rPr>
                        <a:t>}</a:t>
                      </a:r>
                      <a:endParaRPr lang="en-US" sz="2000" kern="1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Matches at least m times, but no more than n times.</a:t>
                      </a:r>
                    </a:p>
                  </a:txBody>
                  <a:tcPr marL="68580" marR="68580" marT="0" marB="0" anchor="ctr"/>
                </a:tc>
                <a:tc>
                  <a:txBody>
                    <a:bodyPr/>
                    <a:lstStyle/>
                    <a:p>
                      <a:pPr marL="0" marR="0">
                        <a:lnSpc>
                          <a:spcPct val="115000"/>
                        </a:lnSpc>
                        <a:spcAft>
                          <a:spcPts val="800"/>
                        </a:spcAft>
                        <a:buNone/>
                      </a:pPr>
                      <a:r>
                        <a:rPr lang="en-US" sz="2000" kern="100">
                          <a:effectLst/>
                          <a:latin typeface="Cambria" panose="02040503050406030204" pitchFamily="18" charset="0"/>
                          <a:ea typeface="Cambria" panose="02040503050406030204" pitchFamily="18" charset="0"/>
                          <a:cs typeface="Times New Roman" panose="02020603050405020304" pitchFamily="18" charset="0"/>
                        </a:rPr>
                        <a:t>REGEXP_LIKE (ename,'A{2,3}')</a:t>
                      </a:r>
                    </a:p>
                  </a:txBody>
                  <a:tcPr marL="68580" marR="68580" marT="0" marB="0" anchor="ctr"/>
                </a:tc>
                <a:tc>
                  <a:txBody>
                    <a:bodyPr/>
                    <a:lstStyle/>
                    <a:p>
                      <a:pPr marL="0" marR="0">
                        <a:lnSpc>
                          <a:spcPct val="115000"/>
                        </a:lnSpc>
                        <a:spcAft>
                          <a:spcPts val="800"/>
                        </a:spcAft>
                        <a:buNone/>
                      </a:pPr>
                      <a:r>
                        <a:rPr lang="en-US" sz="2000" kern="100">
                          <a:effectLst/>
                          <a:latin typeface="Cambria" panose="02040503050406030204" pitchFamily="18" charset="0"/>
                          <a:ea typeface="Cambria" panose="02040503050406030204" pitchFamily="18" charset="0"/>
                          <a:cs typeface="Times New Roman" panose="02020603050405020304" pitchFamily="18" charset="0"/>
                        </a:rPr>
                        <a:t>All enames with at least 2 consecutive As, but not more than 3 As.</a:t>
                      </a:r>
                    </a:p>
                  </a:txBody>
                  <a:tcPr marL="68580" marR="68580" marT="0" marB="0" anchor="ctr"/>
                </a:tc>
                <a:extLst>
                  <a:ext uri="{0D108BD9-81ED-4DB2-BD59-A6C34878D82A}">
                    <a16:rowId xmlns:a16="http://schemas.microsoft.com/office/drawing/2014/main" val="2600707966"/>
                  </a:ext>
                </a:extLst>
              </a:tr>
              <a:tr h="666105">
                <a:tc>
                  <a:txBody>
                    <a:bodyPr/>
                    <a:lstStyle/>
                    <a:p>
                      <a:pPr marL="0" marR="0" algn="ctr">
                        <a:lnSpc>
                          <a:spcPct val="115000"/>
                        </a:lnSpc>
                        <a:spcAft>
                          <a:spcPts val="800"/>
                        </a:spcAft>
                        <a:buNone/>
                      </a:pPr>
                      <a:r>
                        <a:rPr lang="en-US" sz="2000" b="1" kern="100">
                          <a:effectLst/>
                          <a:latin typeface="Cambria" panose="02040503050406030204" pitchFamily="18" charset="0"/>
                          <a:ea typeface="Cambria" panose="02040503050406030204" pitchFamily="18" charset="0"/>
                          <a:cs typeface="Times New Roman" panose="02020603050405020304" pitchFamily="18" charset="0"/>
                        </a:rPr>
                        <a:t>[]</a:t>
                      </a:r>
                      <a:endParaRPr lang="en-US" sz="2000" kern="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000" kern="100">
                          <a:effectLst/>
                          <a:latin typeface="Cambria" panose="02040503050406030204" pitchFamily="18" charset="0"/>
                          <a:ea typeface="Cambria" panose="02040503050406030204" pitchFamily="18" charset="0"/>
                          <a:cs typeface="Times New Roman" panose="02020603050405020304" pitchFamily="18" charset="0"/>
                        </a:rPr>
                        <a:t>specify a matching list where you are trying to match any one of the characters in the list.</a:t>
                      </a:r>
                    </a:p>
                    <a:p>
                      <a:pPr marL="0" marR="0">
                        <a:lnSpc>
                          <a:spcPct val="115000"/>
                        </a:lnSpc>
                        <a:spcAft>
                          <a:spcPts val="800"/>
                        </a:spcAft>
                        <a:buNone/>
                      </a:pPr>
                      <a:r>
                        <a:rPr lang="en-US" sz="2000" kern="100">
                          <a:effectLst/>
                          <a:latin typeface="Cambria" panose="02040503050406030204" pitchFamily="18" charset="0"/>
                          <a:ea typeface="Cambria" panose="02040503050406030204" pitchFamily="18" charset="0"/>
                          <a:cs typeface="Times New Roman" panose="02020603050405020304" pitchFamily="18" charset="0"/>
                        </a:rPr>
                        <a:t>Matches any of the enclosed characters.</a:t>
                      </a:r>
                    </a:p>
                  </a:txBody>
                  <a:tcPr marL="68580" marR="68580" marT="0" marB="0" anchor="ctr"/>
                </a:tc>
                <a:tc>
                  <a:txBody>
                    <a:bodyPr/>
                    <a:lstStyle/>
                    <a:p>
                      <a:pPr marL="0" marR="0">
                        <a:lnSpc>
                          <a:spcPct val="115000"/>
                        </a:lnSpc>
                        <a:spcAft>
                          <a:spcPts val="800"/>
                        </a:spcAft>
                        <a:buNone/>
                      </a:pPr>
                      <a:r>
                        <a:rPr lang="en-US" sz="2000" kern="100">
                          <a:effectLst/>
                          <a:latin typeface="Cambria" panose="02040503050406030204" pitchFamily="18" charset="0"/>
                          <a:ea typeface="Cambria" panose="02040503050406030204" pitchFamily="18" charset="0"/>
                          <a:cs typeface="Times New Roman" panose="02020603050405020304" pitchFamily="18" charset="0"/>
                        </a:rPr>
                        <a:t>REGEXP_LIKE (ename,'[AF]')</a:t>
                      </a:r>
                    </a:p>
                  </a:txBody>
                  <a:tcPr marL="68580" marR="68580" marT="0" marB="0" anchor="ctr"/>
                </a:tc>
                <a:tc>
                  <a:txBody>
                    <a:bodyPr/>
                    <a:lstStyle/>
                    <a:p>
                      <a:pPr marL="0" marR="0">
                        <a:lnSpc>
                          <a:spcPct val="115000"/>
                        </a:lnSpc>
                        <a:spcAft>
                          <a:spcPts val="800"/>
                        </a:spcAft>
                        <a:buNone/>
                      </a:pP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All </a:t>
                      </a:r>
                      <a:r>
                        <a:rPr lang="en-US" sz="2000" kern="100" dirty="0" err="1">
                          <a:effectLst/>
                          <a:latin typeface="Cambria" panose="02040503050406030204" pitchFamily="18" charset="0"/>
                          <a:ea typeface="Cambria" panose="02040503050406030204" pitchFamily="18" charset="0"/>
                          <a:cs typeface="Times New Roman" panose="02020603050405020304" pitchFamily="18" charset="0"/>
                        </a:rPr>
                        <a:t>enames</a:t>
                      </a: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 with either letter A or F.</a:t>
                      </a:r>
                    </a:p>
                  </a:txBody>
                  <a:tcPr marL="68580" marR="68580" marT="0" marB="0" anchor="ctr"/>
                </a:tc>
                <a:extLst>
                  <a:ext uri="{0D108BD9-81ED-4DB2-BD59-A6C34878D82A}">
                    <a16:rowId xmlns:a16="http://schemas.microsoft.com/office/drawing/2014/main" val="3789694141"/>
                  </a:ext>
                </a:extLst>
              </a:tr>
              <a:tr h="327532">
                <a:tc>
                  <a:txBody>
                    <a:bodyPr/>
                    <a:lstStyle/>
                    <a:p>
                      <a:pPr marL="0" marR="0" algn="ctr">
                        <a:lnSpc>
                          <a:spcPct val="115000"/>
                        </a:lnSpc>
                        <a:spcAft>
                          <a:spcPts val="800"/>
                        </a:spcAft>
                        <a:buNone/>
                      </a:pPr>
                      <a:r>
                        <a:rPr lang="en-US" sz="2000" b="1" kern="100">
                          <a:effectLst/>
                          <a:latin typeface="Cambria" panose="02040503050406030204" pitchFamily="18" charset="0"/>
                          <a:ea typeface="Cambria" panose="02040503050406030204" pitchFamily="18" charset="0"/>
                          <a:cs typeface="Times New Roman" panose="02020603050405020304" pitchFamily="18" charset="0"/>
                        </a:rPr>
                        <a:t>[a-z]</a:t>
                      </a:r>
                      <a:endParaRPr lang="en-US" sz="2000" kern="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000" kern="100">
                          <a:effectLst/>
                          <a:latin typeface="Cambria" panose="02040503050406030204" pitchFamily="18" charset="0"/>
                          <a:ea typeface="Cambria" panose="02040503050406030204" pitchFamily="18" charset="0"/>
                          <a:cs typeface="Times New Roman" panose="02020603050405020304" pitchFamily="18" charset="0"/>
                        </a:rPr>
                        <a:t>Matches any character in the specified range.</a:t>
                      </a:r>
                    </a:p>
                  </a:txBody>
                  <a:tcPr marL="68580" marR="68580" marT="0" marB="0" anchor="ctr"/>
                </a:tc>
                <a:tc>
                  <a:txBody>
                    <a:bodyPr/>
                    <a:lstStyle/>
                    <a:p>
                      <a:pPr marL="0" marR="0">
                        <a:lnSpc>
                          <a:spcPct val="115000"/>
                        </a:lnSpc>
                        <a:spcAft>
                          <a:spcPts val="800"/>
                        </a:spcAft>
                        <a:buNone/>
                      </a:pPr>
                      <a:r>
                        <a:rPr lang="en-US" sz="2000" kern="100">
                          <a:effectLst/>
                          <a:latin typeface="Cambria" panose="02040503050406030204" pitchFamily="18" charset="0"/>
                          <a:ea typeface="Cambria" panose="02040503050406030204" pitchFamily="18" charset="0"/>
                          <a:cs typeface="Times New Roman" panose="02020603050405020304" pitchFamily="18" charset="0"/>
                        </a:rPr>
                        <a:t>(addr,'[0-9]'), (addr,'[A-Z]'), </a:t>
                      </a:r>
                    </a:p>
                    <a:p>
                      <a:pPr marL="0" marR="0">
                        <a:lnSpc>
                          <a:spcPct val="115000"/>
                        </a:lnSpc>
                        <a:spcAft>
                          <a:spcPts val="800"/>
                        </a:spcAft>
                        <a:buNone/>
                      </a:pPr>
                      <a:r>
                        <a:rPr lang="en-US" sz="2000" kern="100">
                          <a:effectLst/>
                          <a:latin typeface="Cambria" panose="02040503050406030204" pitchFamily="18" charset="0"/>
                          <a:ea typeface="Cambria" panose="02040503050406030204" pitchFamily="18" charset="0"/>
                          <a:cs typeface="Times New Roman" panose="02020603050405020304" pitchFamily="18" charset="0"/>
                        </a:rPr>
                        <a:t>(addr,'[A-Za-z]'), '[a-e]z'</a:t>
                      </a:r>
                    </a:p>
                  </a:txBody>
                  <a:tcPr marL="68580" marR="68580" marT="0" marB="0" anchor="ctr"/>
                </a:tc>
                <a:tc>
                  <a:txBody>
                    <a:bodyPr/>
                    <a:lstStyle/>
                    <a:p>
                      <a:pPr marL="0" marR="0">
                        <a:lnSpc>
                          <a:spcPct val="115000"/>
                        </a:lnSpc>
                        <a:spcAft>
                          <a:spcPts val="800"/>
                        </a:spcAft>
                        <a:buNone/>
                      </a:pPr>
                      <a:r>
                        <a:rPr lang="en-US" sz="2000" kern="100">
                          <a:effectLst/>
                          <a:latin typeface="Cambria" panose="02040503050406030204" pitchFamily="18" charset="0"/>
                          <a:ea typeface="Cambria" panose="02040503050406030204" pitchFamily="18" charset="0"/>
                          <a:cs typeface="Times New Roman" panose="02020603050405020304" pitchFamily="18" charset="0"/>
                        </a:rPr>
                        <a:t> </a:t>
                      </a:r>
                    </a:p>
                  </a:txBody>
                  <a:tcPr marL="68580" marR="68580" marT="0" marB="0" anchor="ctr"/>
                </a:tc>
                <a:extLst>
                  <a:ext uri="{0D108BD9-81ED-4DB2-BD59-A6C34878D82A}">
                    <a16:rowId xmlns:a16="http://schemas.microsoft.com/office/drawing/2014/main" val="3570133783"/>
                  </a:ext>
                </a:extLst>
              </a:tr>
              <a:tr h="666105">
                <a:tc>
                  <a:txBody>
                    <a:bodyPr/>
                    <a:lstStyle/>
                    <a:p>
                      <a:pPr marL="0" marR="0" algn="ctr">
                        <a:lnSpc>
                          <a:spcPct val="115000"/>
                        </a:lnSpc>
                        <a:spcAft>
                          <a:spcPts val="800"/>
                        </a:spcAft>
                        <a:buNone/>
                      </a:pPr>
                      <a:r>
                        <a:rPr lang="en-US" sz="2000" b="1" kern="100" dirty="0">
                          <a:effectLst/>
                          <a:latin typeface="Cambria" panose="02040503050406030204" pitchFamily="18" charset="0"/>
                          <a:ea typeface="Cambria" panose="02040503050406030204" pitchFamily="18" charset="0"/>
                          <a:cs typeface="Times New Roman" panose="02020603050405020304" pitchFamily="18" charset="0"/>
                        </a:rPr>
                        <a:t> </a:t>
                      </a:r>
                      <a:endParaRPr lang="en-US" sz="2000" kern="1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000" kern="100">
                          <a:effectLst/>
                          <a:latin typeface="Cambria" panose="02040503050406030204" pitchFamily="18" charset="0"/>
                          <a:ea typeface="Cambria" panose="02040503050406030204" pitchFamily="18" charset="0"/>
                          <a:cs typeface="Times New Roman" panose="02020603050405020304" pitchFamily="18" charset="0"/>
                        </a:rPr>
                        <a:t> </a:t>
                      </a:r>
                    </a:p>
                  </a:txBody>
                  <a:tcPr marL="68580" marR="68580" marT="0" marB="0" anchor="ctr"/>
                </a:tc>
                <a:tc>
                  <a:txBody>
                    <a:bodyPr/>
                    <a:lstStyle/>
                    <a:p>
                      <a:pPr marL="0" marR="0">
                        <a:lnSpc>
                          <a:spcPct val="115000"/>
                        </a:lnSpc>
                        <a:spcAft>
                          <a:spcPts val="800"/>
                        </a:spcAft>
                        <a:buNone/>
                      </a:pPr>
                      <a:r>
                        <a:rPr lang="en-US" sz="2000" kern="100">
                          <a:effectLst/>
                          <a:latin typeface="Cambria" panose="02040503050406030204" pitchFamily="18" charset="0"/>
                          <a:ea typeface="Cambria" panose="02040503050406030204" pitchFamily="18" charset="0"/>
                          <a:cs typeface="Times New Roman" panose="02020603050405020304" pitchFamily="18" charset="0"/>
                        </a:rPr>
                        <a:t>[[:alha]]{4}</a:t>
                      </a:r>
                    </a:p>
                  </a:txBody>
                  <a:tcPr marL="68580" marR="68580" marT="0" marB="0" anchor="ctr"/>
                </a:tc>
                <a:tc>
                  <a:txBody>
                    <a:bodyPr/>
                    <a:lstStyle/>
                    <a:p>
                      <a:pPr marL="0" marR="0">
                        <a:lnSpc>
                          <a:spcPct val="115000"/>
                        </a:lnSpc>
                        <a:spcAft>
                          <a:spcPts val="800"/>
                        </a:spcAft>
                        <a:buNone/>
                      </a:pP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Exactly 4 alphabets</a:t>
                      </a:r>
                    </a:p>
                  </a:txBody>
                  <a:tcPr marL="68580" marR="68580" marT="0" marB="0" anchor="ctr"/>
                </a:tc>
                <a:extLst>
                  <a:ext uri="{0D108BD9-81ED-4DB2-BD59-A6C34878D82A}">
                    <a16:rowId xmlns:a16="http://schemas.microsoft.com/office/drawing/2014/main" val="477052819"/>
                  </a:ext>
                </a:extLst>
              </a:tr>
            </a:tbl>
          </a:graphicData>
        </a:graphic>
      </p:graphicFrame>
    </p:spTree>
    <p:extLst>
      <p:ext uri="{BB962C8B-B14F-4D97-AF65-F5344CB8AC3E}">
        <p14:creationId xmlns:p14="http://schemas.microsoft.com/office/powerpoint/2010/main" val="1911232277"/>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65974-58F5-44E5-B92B-6AA7A79225F3}"/>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467E6E1E-489D-A4F6-6E6C-FE7B3C4A59DD}"/>
              </a:ext>
            </a:extLst>
          </p:cNvPr>
          <p:cNvSpPr>
            <a:spLocks noGrp="1" noChangeArrowheads="1"/>
          </p:cNvSpPr>
          <p:nvPr>
            <p:ph type="title"/>
          </p:nvPr>
        </p:nvSpPr>
        <p:spPr>
          <a:xfrm>
            <a:off x="323850" y="231304"/>
            <a:ext cx="6192366" cy="533400"/>
          </a:xfrm>
        </p:spPr>
        <p:txBody>
          <a:bodyPr/>
          <a:lstStyle/>
          <a:p>
            <a:pPr eaLnBrk="1" hangingPunct="1"/>
            <a:r>
              <a:rPr lang="en-US" altLang="en-US" sz="2800" b="1" u="sng" dirty="0">
                <a:solidFill>
                  <a:srgbClr val="D34817"/>
                </a:solidFill>
                <a:latin typeface="Cambria" panose="02040503050406030204" pitchFamily="18" charset="0"/>
                <a:ea typeface="Cambria" panose="02040503050406030204" pitchFamily="18" charset="0"/>
              </a:rPr>
              <a:t>Regular Expression</a:t>
            </a:r>
            <a:endParaRPr lang="en-US" altLang="en-US" sz="2800" b="1" dirty="0">
              <a:solidFill>
                <a:srgbClr val="0000FF"/>
              </a:solidFill>
              <a:latin typeface="Cambria" panose="02040503050406030204" pitchFamily="18" charset="0"/>
              <a:ea typeface="Cambria" panose="02040503050406030204" pitchFamily="18" charset="0"/>
            </a:endParaRPr>
          </a:p>
        </p:txBody>
      </p:sp>
      <p:sp>
        <p:nvSpPr>
          <p:cNvPr id="38915" name="Rectangle 3">
            <a:extLst>
              <a:ext uri="{FF2B5EF4-FFF2-40B4-BE49-F238E27FC236}">
                <a16:creationId xmlns:a16="http://schemas.microsoft.com/office/drawing/2014/main" id="{87356B87-5B88-BCD5-C6A8-FE29F7C4821F}"/>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dirty="0"/>
          </a:p>
        </p:txBody>
      </p:sp>
      <p:sp>
        <p:nvSpPr>
          <p:cNvPr id="3" name="Footer Placeholder 2">
            <a:extLst>
              <a:ext uri="{FF2B5EF4-FFF2-40B4-BE49-F238E27FC236}">
                <a16:creationId xmlns:a16="http://schemas.microsoft.com/office/drawing/2014/main" id="{C17A1515-9446-399B-0375-8105B20E0122}"/>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7C2164E3-425A-80EF-AF63-D384F34585E0}"/>
              </a:ext>
            </a:extLst>
          </p:cNvPr>
          <p:cNvSpPr>
            <a:spLocks noGrp="1"/>
          </p:cNvSpPr>
          <p:nvPr>
            <p:ph type="sldNum" sz="quarter" idx="12"/>
          </p:nvPr>
        </p:nvSpPr>
        <p:spPr>
          <a:xfrm>
            <a:off x="8459788" y="616585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graphicFrame>
        <p:nvGraphicFramePr>
          <p:cNvPr id="9" name="Table 8">
            <a:extLst>
              <a:ext uri="{FF2B5EF4-FFF2-40B4-BE49-F238E27FC236}">
                <a16:creationId xmlns:a16="http://schemas.microsoft.com/office/drawing/2014/main" id="{59B72B2E-1DDC-2531-8084-BCD6E3B6920B}"/>
              </a:ext>
            </a:extLst>
          </p:cNvPr>
          <p:cNvGraphicFramePr>
            <a:graphicFrameLocks noGrp="1"/>
          </p:cNvGraphicFramePr>
          <p:nvPr>
            <p:extLst>
              <p:ext uri="{D42A27DB-BD31-4B8C-83A1-F6EECF244321}">
                <p14:modId xmlns:p14="http://schemas.microsoft.com/office/powerpoint/2010/main" val="2884540210"/>
              </p:ext>
            </p:extLst>
          </p:nvPr>
        </p:nvGraphicFramePr>
        <p:xfrm>
          <a:off x="319448" y="766021"/>
          <a:ext cx="8496301" cy="4806300"/>
        </p:xfrm>
        <a:graphic>
          <a:graphicData uri="http://schemas.openxmlformats.org/drawingml/2006/table">
            <a:tbl>
              <a:tblPr firstRow="1" firstCol="1" bandRow="1">
                <a:tableStyleId>{5C22544A-7EE6-4342-B048-85BDC9FD1C3A}</a:tableStyleId>
              </a:tblPr>
              <a:tblGrid>
                <a:gridCol w="796168">
                  <a:extLst>
                    <a:ext uri="{9D8B030D-6E8A-4147-A177-3AD203B41FA5}">
                      <a16:colId xmlns:a16="http://schemas.microsoft.com/office/drawing/2014/main" val="3249494418"/>
                    </a:ext>
                  </a:extLst>
                </a:gridCol>
                <a:gridCol w="2822879">
                  <a:extLst>
                    <a:ext uri="{9D8B030D-6E8A-4147-A177-3AD203B41FA5}">
                      <a16:colId xmlns:a16="http://schemas.microsoft.com/office/drawing/2014/main" val="240752400"/>
                    </a:ext>
                  </a:extLst>
                </a:gridCol>
                <a:gridCol w="2503577">
                  <a:extLst>
                    <a:ext uri="{9D8B030D-6E8A-4147-A177-3AD203B41FA5}">
                      <a16:colId xmlns:a16="http://schemas.microsoft.com/office/drawing/2014/main" val="3612207679"/>
                    </a:ext>
                  </a:extLst>
                </a:gridCol>
                <a:gridCol w="2373677">
                  <a:extLst>
                    <a:ext uri="{9D8B030D-6E8A-4147-A177-3AD203B41FA5}">
                      <a16:colId xmlns:a16="http://schemas.microsoft.com/office/drawing/2014/main" val="618583757"/>
                    </a:ext>
                  </a:extLst>
                </a:gridCol>
              </a:tblGrid>
              <a:tr h="360040">
                <a:tc>
                  <a:txBody>
                    <a:bodyPr/>
                    <a:lstStyle/>
                    <a:p>
                      <a:pPr marL="0" marR="0" algn="ctr">
                        <a:lnSpc>
                          <a:spcPct val="115000"/>
                        </a:lnSpc>
                        <a:spcAft>
                          <a:spcPts val="800"/>
                        </a:spcAft>
                        <a:buNone/>
                      </a:pPr>
                      <a:r>
                        <a:rPr lang="en-US" sz="2000" kern="100" dirty="0" err="1">
                          <a:solidFill>
                            <a:srgbClr val="FFFF00"/>
                          </a:solidFill>
                          <a:effectLst/>
                          <a:latin typeface="Cambria" panose="02040503050406030204" pitchFamily="18" charset="0"/>
                          <a:ea typeface="Cambria" panose="02040503050406030204" pitchFamily="18" charset="0"/>
                        </a:rPr>
                        <a:t>Ptrn</a:t>
                      </a:r>
                      <a:r>
                        <a:rPr lang="en-US" sz="2000" kern="100" dirty="0">
                          <a:solidFill>
                            <a:srgbClr val="FFFF00"/>
                          </a:solidFill>
                          <a:effectLst/>
                          <a:latin typeface="Cambria" panose="02040503050406030204" pitchFamily="18" charset="0"/>
                          <a:ea typeface="Cambria" panose="02040503050406030204" pitchFamily="18" charset="0"/>
                        </a:rPr>
                        <a:t>.</a:t>
                      </a:r>
                      <a:endParaRPr lang="en-US" sz="2000" kern="100"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100" dirty="0">
                          <a:solidFill>
                            <a:srgbClr val="FFFF00"/>
                          </a:solidFill>
                          <a:effectLst/>
                          <a:latin typeface="Cambria" panose="02040503050406030204" pitchFamily="18" charset="0"/>
                          <a:ea typeface="Cambria" panose="02040503050406030204" pitchFamily="18" charset="0"/>
                        </a:rPr>
                        <a:t>Description</a:t>
                      </a:r>
                      <a:endParaRPr lang="en-US" sz="2000" kern="100"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100" dirty="0">
                          <a:solidFill>
                            <a:srgbClr val="FFFF00"/>
                          </a:solidFill>
                          <a:effectLst/>
                          <a:latin typeface="Cambria" panose="02040503050406030204" pitchFamily="18" charset="0"/>
                          <a:ea typeface="Cambria" panose="02040503050406030204" pitchFamily="18" charset="0"/>
                        </a:rPr>
                        <a:t>Example</a:t>
                      </a:r>
                      <a:endParaRPr lang="en-US" sz="2000" kern="100"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100" dirty="0">
                          <a:solidFill>
                            <a:srgbClr val="FFFF00"/>
                          </a:solidFill>
                          <a:effectLst/>
                          <a:latin typeface="Cambria" panose="02040503050406030204" pitchFamily="18" charset="0"/>
                          <a:ea typeface="Cambria" panose="02040503050406030204" pitchFamily="18" charset="0"/>
                        </a:rPr>
                        <a:t>Output</a:t>
                      </a:r>
                      <a:endParaRPr lang="en-US" sz="2000" kern="100"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905078150"/>
                  </a:ext>
                </a:extLst>
              </a:tr>
              <a:tr h="327532">
                <a:tc>
                  <a:txBody>
                    <a:bodyPr/>
                    <a:lstStyle/>
                    <a:p>
                      <a:pPr marL="0" marR="0" algn="ctr">
                        <a:lnSpc>
                          <a:spcPct val="115000"/>
                        </a:lnSpc>
                        <a:spcAft>
                          <a:spcPts val="800"/>
                        </a:spcAft>
                        <a:buNone/>
                      </a:pPr>
                      <a:r>
                        <a:rPr lang="en-US" sz="2000" b="1" kern="100" dirty="0">
                          <a:effectLst/>
                          <a:latin typeface="Cambria" panose="02040503050406030204" pitchFamily="18" charset="0"/>
                          <a:ea typeface="Cambria" panose="02040503050406030204" pitchFamily="18" charset="0"/>
                          <a:cs typeface="Times New Roman" panose="02020603050405020304" pitchFamily="18" charset="0"/>
                        </a:rPr>
                        <a:t>[:  :]</a:t>
                      </a:r>
                      <a:endParaRPr lang="en-US" sz="2000" kern="1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Specifies a character class and</a:t>
                      </a:r>
                    </a:p>
                    <a:p>
                      <a:pPr marL="0" marR="0">
                        <a:lnSpc>
                          <a:spcPct val="115000"/>
                        </a:lnSpc>
                        <a:spcAft>
                          <a:spcPts val="800"/>
                        </a:spcAft>
                        <a:buNone/>
                      </a:pP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matches any character in that</a:t>
                      </a:r>
                    </a:p>
                    <a:p>
                      <a:pPr marL="0" marR="0">
                        <a:lnSpc>
                          <a:spcPct val="115000"/>
                        </a:lnSpc>
                        <a:spcAft>
                          <a:spcPts val="800"/>
                        </a:spcAft>
                        <a:buNone/>
                      </a:pP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class.	[:alpha:], [:</a:t>
                      </a:r>
                      <a:r>
                        <a:rPr lang="en-US" sz="2000" kern="100" dirty="0" err="1">
                          <a:effectLst/>
                          <a:latin typeface="Cambria" panose="02040503050406030204" pitchFamily="18" charset="0"/>
                          <a:ea typeface="Cambria" panose="02040503050406030204" pitchFamily="18" charset="0"/>
                          <a:cs typeface="Times New Roman" panose="02020603050405020304" pitchFamily="18" charset="0"/>
                        </a:rPr>
                        <a:t>alphanum</a:t>
                      </a: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 [:digit:], [:lower:], [:upper:], [:</a:t>
                      </a:r>
                      <a:r>
                        <a:rPr lang="en-US" sz="2000" kern="100" dirty="0" err="1">
                          <a:effectLst/>
                          <a:latin typeface="Cambria" panose="02040503050406030204" pitchFamily="18" charset="0"/>
                          <a:ea typeface="Cambria" panose="02040503050406030204" pitchFamily="18" charset="0"/>
                          <a:cs typeface="Times New Roman" panose="02020603050405020304" pitchFamily="18" charset="0"/>
                        </a:rPr>
                        <a:t>punct</a:t>
                      </a: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 [:blank:] matches space or tab</a:t>
                      </a:r>
                    </a:p>
                    <a:p>
                      <a:pPr marL="0" marR="0">
                        <a:lnSpc>
                          <a:spcPct val="115000"/>
                        </a:lnSpc>
                        <a:spcAft>
                          <a:spcPts val="800"/>
                        </a:spcAft>
                        <a:buNone/>
                      </a:pP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 </a:t>
                      </a:r>
                    </a:p>
                  </a:txBody>
                  <a:tcPr marL="68580" marR="68580" marT="0" marB="0" anchor="ctr"/>
                </a:tc>
                <a:tc>
                  <a:txBody>
                    <a:bodyPr/>
                    <a:lstStyle/>
                    <a:p>
                      <a:pPr marL="0" marR="0">
                        <a:lnSpc>
                          <a:spcPct val="115000"/>
                        </a:lnSpc>
                        <a:spcAft>
                          <a:spcPts val="800"/>
                        </a:spcAft>
                        <a:buNone/>
                      </a:pPr>
                      <a:r>
                        <a:rPr lang="en-US" sz="2000" kern="100">
                          <a:effectLst/>
                          <a:latin typeface="Cambria" panose="02040503050406030204" pitchFamily="18" charset="0"/>
                          <a:ea typeface="Cambria" panose="02040503050406030204" pitchFamily="18" charset="0"/>
                          <a:cs typeface="Times New Roman" panose="02020603050405020304" pitchFamily="18" charset="0"/>
                        </a:rPr>
                        <a:t>[[:digit;]], [[:alha]], [[:alhanum]],</a:t>
                      </a:r>
                    </a:p>
                    <a:p>
                      <a:pPr marL="0" marR="0">
                        <a:lnSpc>
                          <a:spcPct val="115000"/>
                        </a:lnSpc>
                        <a:spcAft>
                          <a:spcPts val="800"/>
                        </a:spcAft>
                        <a:buNone/>
                      </a:pPr>
                      <a:r>
                        <a:rPr lang="en-US" sz="2000" kern="100">
                          <a:effectLst/>
                          <a:latin typeface="Cambria" panose="02040503050406030204" pitchFamily="18" charset="0"/>
                          <a:ea typeface="Cambria" panose="02040503050406030204" pitchFamily="18" charset="0"/>
                          <a:cs typeface="Times New Roman" panose="02020603050405020304" pitchFamily="18" charset="0"/>
                        </a:rPr>
                        <a:t>(email,'[[:alum:]]+\@+ [[:alum:]]+\.+ [[:alum:]]')</a:t>
                      </a:r>
                    </a:p>
                  </a:txBody>
                  <a:tcPr marL="68580" marR="68580" marT="0" marB="0" anchor="ctr"/>
                </a:tc>
                <a:tc>
                  <a:txBody>
                    <a:bodyPr/>
                    <a:lstStyle/>
                    <a:p>
                      <a:pPr marL="0" marR="0">
                        <a:lnSpc>
                          <a:spcPct val="115000"/>
                        </a:lnSpc>
                        <a:spcAft>
                          <a:spcPts val="800"/>
                        </a:spcAft>
                        <a:buNone/>
                      </a:pP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 </a:t>
                      </a:r>
                    </a:p>
                  </a:txBody>
                  <a:tcPr marL="68580" marR="68580" marT="0" marB="0" anchor="ctr"/>
                </a:tc>
                <a:extLst>
                  <a:ext uri="{0D108BD9-81ED-4DB2-BD59-A6C34878D82A}">
                    <a16:rowId xmlns:a16="http://schemas.microsoft.com/office/drawing/2014/main" val="3023969343"/>
                  </a:ext>
                </a:extLst>
              </a:tr>
              <a:tr h="666105">
                <a:tc>
                  <a:txBody>
                    <a:bodyPr/>
                    <a:lstStyle/>
                    <a:p>
                      <a:pPr marL="0" marR="0" algn="ctr">
                        <a:lnSpc>
                          <a:spcPct val="115000"/>
                        </a:lnSpc>
                        <a:spcAft>
                          <a:spcPts val="800"/>
                        </a:spcAft>
                        <a:buNone/>
                      </a:pPr>
                      <a:r>
                        <a:rPr lang="en-US" sz="2000" b="1" kern="100" dirty="0">
                          <a:effectLst/>
                          <a:latin typeface="Cambria" panose="02040503050406030204" pitchFamily="18" charset="0"/>
                          <a:ea typeface="Cambria" panose="02040503050406030204" pitchFamily="18" charset="0"/>
                          <a:cs typeface="Times New Roman" panose="02020603050405020304" pitchFamily="18" charset="0"/>
                        </a:rPr>
                        <a:t> </a:t>
                      </a:r>
                      <a:endParaRPr lang="en-US" sz="2000" kern="1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000" kern="100">
                          <a:effectLst/>
                          <a:latin typeface="Cambria" panose="02040503050406030204" pitchFamily="18" charset="0"/>
                          <a:ea typeface="Cambria" panose="02040503050406030204" pitchFamily="18" charset="0"/>
                          <a:cs typeface="Times New Roman" panose="02020603050405020304" pitchFamily="18" charset="0"/>
                        </a:rPr>
                        <a:t> </a:t>
                      </a:r>
                    </a:p>
                  </a:txBody>
                  <a:tcPr marL="68580" marR="68580" marT="0" marB="0" anchor="ctr"/>
                </a:tc>
                <a:tc>
                  <a:txBody>
                    <a:bodyPr/>
                    <a:lstStyle/>
                    <a:p>
                      <a:pPr marL="0" marR="0">
                        <a:lnSpc>
                          <a:spcPct val="115000"/>
                        </a:lnSpc>
                        <a:spcAft>
                          <a:spcPts val="800"/>
                        </a:spcAft>
                        <a:buNone/>
                      </a:pPr>
                      <a:r>
                        <a:rPr lang="en-US" sz="2000" kern="100">
                          <a:effectLst/>
                          <a:latin typeface="Cambria" panose="02040503050406030204" pitchFamily="18" charset="0"/>
                          <a:ea typeface="Cambria" panose="02040503050406030204" pitchFamily="18" charset="0"/>
                          <a:cs typeface="Times New Roman" panose="02020603050405020304" pitchFamily="18" charset="0"/>
                        </a:rPr>
                        <a:t>[[:alha]]{4}</a:t>
                      </a:r>
                    </a:p>
                  </a:txBody>
                  <a:tcPr marL="68580" marR="68580" marT="0" marB="0" anchor="ctr"/>
                </a:tc>
                <a:tc>
                  <a:txBody>
                    <a:bodyPr/>
                    <a:lstStyle/>
                    <a:p>
                      <a:pPr marL="0" marR="0">
                        <a:lnSpc>
                          <a:spcPct val="115000"/>
                        </a:lnSpc>
                        <a:spcAft>
                          <a:spcPts val="800"/>
                        </a:spcAft>
                        <a:buNone/>
                      </a:pP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Exactly 4 alphabets</a:t>
                      </a:r>
                    </a:p>
                  </a:txBody>
                  <a:tcPr marL="68580" marR="68580" marT="0" marB="0" anchor="ctr"/>
                </a:tc>
                <a:extLst>
                  <a:ext uri="{0D108BD9-81ED-4DB2-BD59-A6C34878D82A}">
                    <a16:rowId xmlns:a16="http://schemas.microsoft.com/office/drawing/2014/main" val="477052819"/>
                  </a:ext>
                </a:extLst>
              </a:tr>
            </a:tbl>
          </a:graphicData>
        </a:graphic>
      </p:graphicFrame>
    </p:spTree>
    <p:extLst>
      <p:ext uri="{BB962C8B-B14F-4D97-AF65-F5344CB8AC3E}">
        <p14:creationId xmlns:p14="http://schemas.microsoft.com/office/powerpoint/2010/main" val="572719048"/>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51B78-54F5-9E0F-E605-2B831D137D8F}"/>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7DF35590-BB23-F6DF-ACD3-3D5F36E2747B}"/>
              </a:ext>
            </a:extLst>
          </p:cNvPr>
          <p:cNvSpPr>
            <a:spLocks noGrp="1" noChangeArrowheads="1"/>
          </p:cNvSpPr>
          <p:nvPr>
            <p:ph type="title"/>
          </p:nvPr>
        </p:nvSpPr>
        <p:spPr>
          <a:xfrm>
            <a:off x="323850" y="231304"/>
            <a:ext cx="6192366" cy="533400"/>
          </a:xfrm>
        </p:spPr>
        <p:txBody>
          <a:bodyPr/>
          <a:lstStyle/>
          <a:p>
            <a:pPr eaLnBrk="1" hangingPunct="1"/>
            <a:r>
              <a:rPr lang="en-US" altLang="en-US" sz="2800" b="1" u="sng" dirty="0">
                <a:solidFill>
                  <a:srgbClr val="D34817"/>
                </a:solidFill>
                <a:latin typeface="Cambria" panose="02040503050406030204" pitchFamily="18" charset="0"/>
                <a:ea typeface="Cambria" panose="02040503050406030204" pitchFamily="18" charset="0"/>
              </a:rPr>
              <a:t>Regular Expression</a:t>
            </a:r>
            <a:endParaRPr lang="en-US" altLang="en-US" sz="2800" b="1" dirty="0">
              <a:solidFill>
                <a:srgbClr val="0000FF"/>
              </a:solidFill>
              <a:latin typeface="Cambria" panose="02040503050406030204" pitchFamily="18" charset="0"/>
              <a:ea typeface="Cambria" panose="02040503050406030204" pitchFamily="18" charset="0"/>
            </a:endParaRPr>
          </a:p>
        </p:txBody>
      </p:sp>
      <p:sp>
        <p:nvSpPr>
          <p:cNvPr id="38915" name="Rectangle 3">
            <a:extLst>
              <a:ext uri="{FF2B5EF4-FFF2-40B4-BE49-F238E27FC236}">
                <a16:creationId xmlns:a16="http://schemas.microsoft.com/office/drawing/2014/main" id="{0502B584-ED6A-E9F6-9AAC-7CFA63D912B3}"/>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dirty="0"/>
          </a:p>
        </p:txBody>
      </p:sp>
      <p:sp>
        <p:nvSpPr>
          <p:cNvPr id="3" name="Footer Placeholder 2">
            <a:extLst>
              <a:ext uri="{FF2B5EF4-FFF2-40B4-BE49-F238E27FC236}">
                <a16:creationId xmlns:a16="http://schemas.microsoft.com/office/drawing/2014/main" id="{5D6ADDAD-625E-6A3E-BB4E-499A2C1588D3}"/>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1AD22E56-1E07-28FD-E42F-9D42720886B2}"/>
              </a:ext>
            </a:extLst>
          </p:cNvPr>
          <p:cNvSpPr>
            <a:spLocks noGrp="1"/>
          </p:cNvSpPr>
          <p:nvPr>
            <p:ph type="sldNum" sz="quarter" idx="12"/>
          </p:nvPr>
        </p:nvSpPr>
        <p:spPr>
          <a:xfrm>
            <a:off x="8459788" y="616585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graphicFrame>
        <p:nvGraphicFramePr>
          <p:cNvPr id="9" name="Table 8">
            <a:extLst>
              <a:ext uri="{FF2B5EF4-FFF2-40B4-BE49-F238E27FC236}">
                <a16:creationId xmlns:a16="http://schemas.microsoft.com/office/drawing/2014/main" id="{FA177592-0767-BED1-E199-F3803F3989A6}"/>
              </a:ext>
            </a:extLst>
          </p:cNvPr>
          <p:cNvGraphicFramePr>
            <a:graphicFrameLocks noGrp="1"/>
          </p:cNvGraphicFramePr>
          <p:nvPr>
            <p:extLst>
              <p:ext uri="{D42A27DB-BD31-4B8C-83A1-F6EECF244321}">
                <p14:modId xmlns:p14="http://schemas.microsoft.com/office/powerpoint/2010/main" val="150897677"/>
              </p:ext>
            </p:extLst>
          </p:nvPr>
        </p:nvGraphicFramePr>
        <p:xfrm>
          <a:off x="319448" y="766021"/>
          <a:ext cx="8496301" cy="2373625"/>
        </p:xfrm>
        <a:graphic>
          <a:graphicData uri="http://schemas.openxmlformats.org/drawingml/2006/table">
            <a:tbl>
              <a:tblPr firstRow="1" firstCol="1" bandRow="1">
                <a:tableStyleId>{5C22544A-7EE6-4342-B048-85BDC9FD1C3A}</a:tableStyleId>
              </a:tblPr>
              <a:tblGrid>
                <a:gridCol w="796168">
                  <a:extLst>
                    <a:ext uri="{9D8B030D-6E8A-4147-A177-3AD203B41FA5}">
                      <a16:colId xmlns:a16="http://schemas.microsoft.com/office/drawing/2014/main" val="3249494418"/>
                    </a:ext>
                  </a:extLst>
                </a:gridCol>
                <a:gridCol w="2822879">
                  <a:extLst>
                    <a:ext uri="{9D8B030D-6E8A-4147-A177-3AD203B41FA5}">
                      <a16:colId xmlns:a16="http://schemas.microsoft.com/office/drawing/2014/main" val="240752400"/>
                    </a:ext>
                  </a:extLst>
                </a:gridCol>
                <a:gridCol w="2503577">
                  <a:extLst>
                    <a:ext uri="{9D8B030D-6E8A-4147-A177-3AD203B41FA5}">
                      <a16:colId xmlns:a16="http://schemas.microsoft.com/office/drawing/2014/main" val="3612207679"/>
                    </a:ext>
                  </a:extLst>
                </a:gridCol>
                <a:gridCol w="2373677">
                  <a:extLst>
                    <a:ext uri="{9D8B030D-6E8A-4147-A177-3AD203B41FA5}">
                      <a16:colId xmlns:a16="http://schemas.microsoft.com/office/drawing/2014/main" val="618583757"/>
                    </a:ext>
                  </a:extLst>
                </a:gridCol>
              </a:tblGrid>
              <a:tr h="360040">
                <a:tc>
                  <a:txBody>
                    <a:bodyPr/>
                    <a:lstStyle/>
                    <a:p>
                      <a:pPr marL="0" marR="0" algn="ctr">
                        <a:lnSpc>
                          <a:spcPct val="115000"/>
                        </a:lnSpc>
                        <a:spcAft>
                          <a:spcPts val="800"/>
                        </a:spcAft>
                        <a:buNone/>
                      </a:pPr>
                      <a:r>
                        <a:rPr lang="en-US" sz="2000" kern="100" dirty="0" err="1">
                          <a:solidFill>
                            <a:srgbClr val="FFFF00"/>
                          </a:solidFill>
                          <a:effectLst/>
                          <a:latin typeface="Cambria" panose="02040503050406030204" pitchFamily="18" charset="0"/>
                          <a:ea typeface="Cambria" panose="02040503050406030204" pitchFamily="18" charset="0"/>
                        </a:rPr>
                        <a:t>Ptrn</a:t>
                      </a:r>
                      <a:r>
                        <a:rPr lang="en-US" sz="2000" kern="100" dirty="0">
                          <a:solidFill>
                            <a:srgbClr val="FFFF00"/>
                          </a:solidFill>
                          <a:effectLst/>
                          <a:latin typeface="Cambria" panose="02040503050406030204" pitchFamily="18" charset="0"/>
                          <a:ea typeface="Cambria" panose="02040503050406030204" pitchFamily="18" charset="0"/>
                        </a:rPr>
                        <a:t>.</a:t>
                      </a:r>
                      <a:endParaRPr lang="en-US" sz="2000" kern="100"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100" dirty="0">
                          <a:solidFill>
                            <a:srgbClr val="FFFF00"/>
                          </a:solidFill>
                          <a:effectLst/>
                          <a:latin typeface="Cambria" panose="02040503050406030204" pitchFamily="18" charset="0"/>
                          <a:ea typeface="Cambria" panose="02040503050406030204" pitchFamily="18" charset="0"/>
                        </a:rPr>
                        <a:t>Description</a:t>
                      </a:r>
                      <a:endParaRPr lang="en-US" sz="2000" kern="100"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100" dirty="0">
                          <a:solidFill>
                            <a:srgbClr val="FFFF00"/>
                          </a:solidFill>
                          <a:effectLst/>
                          <a:latin typeface="Cambria" panose="02040503050406030204" pitchFamily="18" charset="0"/>
                          <a:ea typeface="Cambria" panose="02040503050406030204" pitchFamily="18" charset="0"/>
                        </a:rPr>
                        <a:t>Example</a:t>
                      </a:r>
                      <a:endParaRPr lang="en-US" sz="2000" kern="100"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100" dirty="0">
                          <a:solidFill>
                            <a:srgbClr val="FFFF00"/>
                          </a:solidFill>
                          <a:effectLst/>
                          <a:latin typeface="Cambria" panose="02040503050406030204" pitchFamily="18" charset="0"/>
                          <a:ea typeface="Cambria" panose="02040503050406030204" pitchFamily="18" charset="0"/>
                        </a:rPr>
                        <a:t>Output</a:t>
                      </a:r>
                      <a:endParaRPr lang="en-US" sz="2000" kern="100"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905078150"/>
                  </a:ext>
                </a:extLst>
              </a:tr>
              <a:tr h="327532">
                <a:tc>
                  <a:txBody>
                    <a:bodyPr/>
                    <a:lstStyle/>
                    <a:p>
                      <a:pPr marL="0" marR="0" algn="ctr">
                        <a:lnSpc>
                          <a:spcPct val="115000"/>
                        </a:lnSpc>
                        <a:spcAft>
                          <a:spcPts val="800"/>
                        </a:spcAft>
                        <a:buNone/>
                      </a:pPr>
                      <a:r>
                        <a:rPr lang="en-US" sz="2000" b="1" kern="100" dirty="0">
                          <a:effectLst/>
                          <a:latin typeface="Cambria" panose="02040503050406030204" pitchFamily="18" charset="0"/>
                          <a:ea typeface="Cambria" panose="02040503050406030204" pitchFamily="18" charset="0"/>
                          <a:cs typeface="Times New Roman" panose="02020603050405020304" pitchFamily="18" charset="0"/>
                        </a:rPr>
                        <a:t>*</a:t>
                      </a:r>
                      <a:endParaRPr lang="en-US" sz="2000" kern="1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000" kern="100">
                          <a:effectLst/>
                          <a:latin typeface="Cambria" panose="02040503050406030204" pitchFamily="18" charset="0"/>
                          <a:ea typeface="Cambria" panose="02040503050406030204" pitchFamily="18" charset="0"/>
                          <a:cs typeface="Times New Roman" panose="02020603050405020304" pitchFamily="18" charset="0"/>
                        </a:rPr>
                        <a:t>Matches the preceding char 0 or more times</a:t>
                      </a:r>
                    </a:p>
                  </a:txBody>
                  <a:tcPr marL="68580" marR="68580" marT="0" marB="0" anchor="ctr"/>
                </a:tc>
                <a:tc>
                  <a:txBody>
                    <a:bodyPr/>
                    <a:lstStyle/>
                    <a:p>
                      <a:pPr marL="0" marR="0">
                        <a:lnSpc>
                          <a:spcPct val="115000"/>
                        </a:lnSpc>
                        <a:spcAft>
                          <a:spcPts val="800"/>
                        </a:spcAft>
                        <a:buNone/>
                      </a:pP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REGEXP_LIKE (</a:t>
                      </a:r>
                      <a:r>
                        <a:rPr lang="en-US" sz="2000" kern="100" dirty="0" err="1">
                          <a:effectLst/>
                          <a:latin typeface="Cambria" panose="02040503050406030204" pitchFamily="18" charset="0"/>
                          <a:ea typeface="Cambria" panose="02040503050406030204" pitchFamily="18" charset="0"/>
                          <a:cs typeface="Times New Roman" panose="02020603050405020304" pitchFamily="18" charset="0"/>
                        </a:rPr>
                        <a:t>ename</a:t>
                      </a: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,'re</a:t>
                      </a:r>
                      <a:r>
                        <a:rPr lang="en-US" sz="2000" kern="100" dirty="0">
                          <a:solidFill>
                            <a:srgbClr val="0000FF"/>
                          </a:solidFill>
                          <a:effectLst/>
                          <a:latin typeface="Cambria" panose="02040503050406030204" pitchFamily="18" charset="0"/>
                          <a:ea typeface="Cambria" panose="02040503050406030204" pitchFamily="18" charset="0"/>
                          <a:cs typeface="Times New Roman" panose="02020603050405020304" pitchFamily="18" charset="0"/>
                        </a:rPr>
                        <a:t>*</a:t>
                      </a: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d')</a:t>
                      </a:r>
                    </a:p>
                  </a:txBody>
                  <a:tcPr marL="68580" marR="68580" marT="0" marB="0" anchor="ctr"/>
                </a:tc>
                <a:tc>
                  <a:txBody>
                    <a:bodyPr/>
                    <a:lstStyle/>
                    <a:p>
                      <a:pPr marL="0" marR="0">
                        <a:lnSpc>
                          <a:spcPct val="115000"/>
                        </a:lnSpc>
                        <a:spcAft>
                          <a:spcPts val="800"/>
                        </a:spcAft>
                        <a:buNone/>
                      </a:pP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Matches </a:t>
                      </a:r>
                      <a:r>
                        <a:rPr lang="en-US" sz="2000" kern="100" dirty="0" err="1">
                          <a:solidFill>
                            <a:srgbClr val="0000FF"/>
                          </a:solidFill>
                          <a:effectLst/>
                          <a:latin typeface="Cambria" panose="02040503050406030204" pitchFamily="18" charset="0"/>
                          <a:ea typeface="Cambria" panose="02040503050406030204" pitchFamily="18" charset="0"/>
                          <a:cs typeface="Times New Roman" panose="02020603050405020304" pitchFamily="18" charset="0"/>
                        </a:rPr>
                        <a:t>rd</a:t>
                      </a:r>
                      <a:r>
                        <a:rPr lang="en-US" sz="2000" kern="100" dirty="0">
                          <a:solidFill>
                            <a:srgbClr val="0000FF"/>
                          </a:solidFill>
                          <a:effectLst/>
                          <a:latin typeface="Cambria" panose="02040503050406030204" pitchFamily="18" charset="0"/>
                          <a:ea typeface="Cambria" panose="02040503050406030204" pitchFamily="18" charset="0"/>
                          <a:cs typeface="Times New Roman" panose="02020603050405020304" pitchFamily="18" charset="0"/>
                        </a:rPr>
                        <a:t>, red, reed, …</a:t>
                      </a:r>
                    </a:p>
                  </a:txBody>
                  <a:tcPr marL="68580" marR="68580" marT="0" marB="0" anchor="ctr"/>
                </a:tc>
                <a:extLst>
                  <a:ext uri="{0D108BD9-81ED-4DB2-BD59-A6C34878D82A}">
                    <a16:rowId xmlns:a16="http://schemas.microsoft.com/office/drawing/2014/main" val="3023969343"/>
                  </a:ext>
                </a:extLst>
              </a:tr>
              <a:tr h="327532">
                <a:tc>
                  <a:txBody>
                    <a:bodyPr/>
                    <a:lstStyle/>
                    <a:p>
                      <a:pPr marL="0" marR="0" algn="ctr">
                        <a:lnSpc>
                          <a:spcPct val="115000"/>
                        </a:lnSpc>
                        <a:spcAft>
                          <a:spcPts val="800"/>
                        </a:spcAft>
                        <a:buNone/>
                      </a:pPr>
                      <a:r>
                        <a:rPr lang="en-US" sz="2000" b="1" kern="100" dirty="0">
                          <a:effectLst/>
                          <a:latin typeface="Cambria" panose="02040503050406030204" pitchFamily="18" charset="0"/>
                          <a:ea typeface="Cambria" panose="02040503050406030204" pitchFamily="18" charset="0"/>
                          <a:cs typeface="Times New Roman" panose="02020603050405020304" pitchFamily="18" charset="0"/>
                        </a:rPr>
                        <a:t>+</a:t>
                      </a:r>
                      <a:endParaRPr lang="en-US" sz="2000" kern="1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000" kern="100">
                          <a:effectLst/>
                          <a:latin typeface="Cambria" panose="02040503050406030204" pitchFamily="18" charset="0"/>
                          <a:ea typeface="Cambria" panose="02040503050406030204" pitchFamily="18" charset="0"/>
                          <a:cs typeface="Times New Roman" panose="02020603050405020304" pitchFamily="18" charset="0"/>
                        </a:rPr>
                        <a:t>Matches the preceding char 1 or more times</a:t>
                      </a:r>
                    </a:p>
                  </a:txBody>
                  <a:tcPr marL="68580" marR="68580" marT="0" marB="0" anchor="ctr"/>
                </a:tc>
                <a:tc>
                  <a:txBody>
                    <a:bodyPr/>
                    <a:lstStyle/>
                    <a:p>
                      <a:pPr marL="0" marR="0">
                        <a:lnSpc>
                          <a:spcPct val="115000"/>
                        </a:lnSpc>
                        <a:spcAft>
                          <a:spcPts val="800"/>
                        </a:spcAft>
                        <a:buNone/>
                      </a:pP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REGEXP_LIKE (</a:t>
                      </a:r>
                      <a:r>
                        <a:rPr lang="en-US" sz="2000" kern="100" dirty="0" err="1">
                          <a:effectLst/>
                          <a:latin typeface="Cambria" panose="02040503050406030204" pitchFamily="18" charset="0"/>
                          <a:ea typeface="Cambria" panose="02040503050406030204" pitchFamily="18" charset="0"/>
                          <a:cs typeface="Times New Roman" panose="02020603050405020304" pitchFamily="18" charset="0"/>
                        </a:rPr>
                        <a:t>ename</a:t>
                      </a: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a:t>
                      </a:r>
                      <a:r>
                        <a:rPr lang="en-US" sz="2000" kern="100" dirty="0" err="1">
                          <a:effectLst/>
                          <a:latin typeface="Cambria" panose="02040503050406030204" pitchFamily="18" charset="0"/>
                          <a:ea typeface="Cambria" panose="02040503050406030204" pitchFamily="18" charset="0"/>
                          <a:cs typeface="Times New Roman" panose="02020603050405020304" pitchFamily="18" charset="0"/>
                        </a:rPr>
                        <a:t>re</a:t>
                      </a:r>
                      <a:r>
                        <a:rPr lang="en-US" sz="2000" kern="100" dirty="0" err="1">
                          <a:solidFill>
                            <a:srgbClr val="0000FF"/>
                          </a:solidFill>
                          <a:effectLst/>
                          <a:latin typeface="Cambria" panose="02040503050406030204" pitchFamily="18" charset="0"/>
                          <a:ea typeface="Cambria" panose="02040503050406030204" pitchFamily="18" charset="0"/>
                          <a:cs typeface="Times New Roman" panose="02020603050405020304" pitchFamily="18" charset="0"/>
                        </a:rPr>
                        <a:t>+</a:t>
                      </a:r>
                      <a:r>
                        <a:rPr lang="en-US" sz="2000" kern="100" dirty="0" err="1">
                          <a:effectLst/>
                          <a:latin typeface="Cambria" panose="02040503050406030204" pitchFamily="18" charset="0"/>
                          <a:ea typeface="Cambria" panose="02040503050406030204" pitchFamily="18" charset="0"/>
                          <a:cs typeface="Times New Roman" panose="02020603050405020304" pitchFamily="18" charset="0"/>
                        </a:rPr>
                        <a:t>d</a:t>
                      </a: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a:t>
                      </a:r>
                    </a:p>
                  </a:txBody>
                  <a:tcPr marL="68580" marR="68580" marT="0" marB="0" anchor="ctr"/>
                </a:tc>
                <a:tc>
                  <a:txBody>
                    <a:bodyPr/>
                    <a:lstStyle/>
                    <a:p>
                      <a:pPr marL="0" marR="0">
                        <a:lnSpc>
                          <a:spcPct val="115000"/>
                        </a:lnSpc>
                        <a:spcAft>
                          <a:spcPts val="800"/>
                        </a:spcAft>
                        <a:buNone/>
                      </a:pP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Matches </a:t>
                      </a:r>
                      <a:r>
                        <a:rPr lang="en-US" sz="2000" kern="100" dirty="0">
                          <a:solidFill>
                            <a:srgbClr val="0000FF"/>
                          </a:solidFill>
                          <a:effectLst/>
                          <a:latin typeface="Cambria" panose="02040503050406030204" pitchFamily="18" charset="0"/>
                          <a:ea typeface="Cambria" panose="02040503050406030204" pitchFamily="18" charset="0"/>
                          <a:cs typeface="Times New Roman" panose="02020603050405020304" pitchFamily="18" charset="0"/>
                        </a:rPr>
                        <a:t>red, reed, </a:t>
                      </a:r>
                      <a:r>
                        <a:rPr lang="en-US" sz="2000" kern="100" dirty="0" err="1">
                          <a:solidFill>
                            <a:srgbClr val="0000FF"/>
                          </a:solidFill>
                          <a:effectLst/>
                          <a:latin typeface="Cambria" panose="02040503050406030204" pitchFamily="18" charset="0"/>
                          <a:ea typeface="Cambria" panose="02040503050406030204" pitchFamily="18" charset="0"/>
                          <a:cs typeface="Times New Roman" panose="02020603050405020304" pitchFamily="18" charset="0"/>
                        </a:rPr>
                        <a:t>reeed</a:t>
                      </a:r>
                      <a:r>
                        <a:rPr lang="en-US" sz="2000" kern="100" dirty="0">
                          <a:solidFill>
                            <a:srgbClr val="0000FF"/>
                          </a:solidFill>
                          <a:effectLst/>
                          <a:latin typeface="Cambria" panose="02040503050406030204" pitchFamily="18" charset="0"/>
                          <a:ea typeface="Cambria" panose="02040503050406030204" pitchFamily="18" charset="0"/>
                          <a:cs typeface="Times New Roman" panose="02020603050405020304" pitchFamily="18" charset="0"/>
                        </a:rPr>
                        <a:t>, …</a:t>
                      </a:r>
                    </a:p>
                  </a:txBody>
                  <a:tcPr marL="68580" marR="68580" marT="0" marB="0" anchor="ctr"/>
                </a:tc>
                <a:extLst>
                  <a:ext uri="{0D108BD9-81ED-4DB2-BD59-A6C34878D82A}">
                    <a16:rowId xmlns:a16="http://schemas.microsoft.com/office/drawing/2014/main" val="2993698727"/>
                  </a:ext>
                </a:extLst>
              </a:tr>
              <a:tr h="666105">
                <a:tc>
                  <a:txBody>
                    <a:bodyPr/>
                    <a:lstStyle/>
                    <a:p>
                      <a:pPr marL="0" marR="0" algn="ctr">
                        <a:lnSpc>
                          <a:spcPct val="115000"/>
                        </a:lnSpc>
                        <a:spcAft>
                          <a:spcPts val="800"/>
                        </a:spcAft>
                        <a:buNone/>
                      </a:pPr>
                      <a:r>
                        <a:rPr lang="en-US" sz="2000" b="1" kern="100" dirty="0">
                          <a:effectLst/>
                          <a:latin typeface="Cambria" panose="02040503050406030204" pitchFamily="18" charset="0"/>
                          <a:ea typeface="Cambria" panose="02040503050406030204" pitchFamily="18" charset="0"/>
                          <a:cs typeface="Times New Roman" panose="02020603050405020304" pitchFamily="18" charset="0"/>
                        </a:rPr>
                        <a:t>?</a:t>
                      </a:r>
                      <a:endParaRPr lang="en-US" sz="2000" kern="1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Matches the preceding char 0 or one times</a:t>
                      </a:r>
                    </a:p>
                  </a:txBody>
                  <a:tcPr marL="68580" marR="68580" marT="0" marB="0" anchor="ctr"/>
                </a:tc>
                <a:tc>
                  <a:txBody>
                    <a:bodyPr/>
                    <a:lstStyle/>
                    <a:p>
                      <a:pPr marL="0" marR="0">
                        <a:lnSpc>
                          <a:spcPct val="115000"/>
                        </a:lnSpc>
                        <a:spcAft>
                          <a:spcPts val="800"/>
                        </a:spcAft>
                        <a:buNone/>
                      </a:pP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REGEXP_LIKE (</a:t>
                      </a:r>
                      <a:r>
                        <a:rPr lang="en-US" sz="2000" kern="100" dirty="0" err="1">
                          <a:effectLst/>
                          <a:latin typeface="Cambria" panose="02040503050406030204" pitchFamily="18" charset="0"/>
                          <a:ea typeface="Cambria" panose="02040503050406030204" pitchFamily="18" charset="0"/>
                          <a:cs typeface="Times New Roman" panose="02020603050405020304" pitchFamily="18" charset="0"/>
                        </a:rPr>
                        <a:t>ename</a:t>
                      </a: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a:t>
                      </a:r>
                      <a:r>
                        <a:rPr lang="en-US" sz="2000" kern="100" dirty="0" err="1">
                          <a:effectLst/>
                          <a:latin typeface="Cambria" panose="02040503050406030204" pitchFamily="18" charset="0"/>
                          <a:ea typeface="Cambria" panose="02040503050406030204" pitchFamily="18" charset="0"/>
                          <a:cs typeface="Times New Roman" panose="02020603050405020304" pitchFamily="18" charset="0"/>
                        </a:rPr>
                        <a:t>re</a:t>
                      </a:r>
                      <a:r>
                        <a:rPr lang="en-US" sz="2000" kern="100" dirty="0" err="1">
                          <a:solidFill>
                            <a:srgbClr val="0000FF"/>
                          </a:solidFill>
                          <a:effectLst/>
                          <a:latin typeface="Cambria" panose="02040503050406030204" pitchFamily="18" charset="0"/>
                          <a:ea typeface="Cambria" panose="02040503050406030204" pitchFamily="18" charset="0"/>
                          <a:cs typeface="Times New Roman" panose="02020603050405020304" pitchFamily="18" charset="0"/>
                        </a:rPr>
                        <a:t>?</a:t>
                      </a:r>
                      <a:r>
                        <a:rPr lang="en-US" sz="2000" kern="100" dirty="0" err="1">
                          <a:effectLst/>
                          <a:latin typeface="Cambria" panose="02040503050406030204" pitchFamily="18" charset="0"/>
                          <a:ea typeface="Cambria" panose="02040503050406030204" pitchFamily="18" charset="0"/>
                          <a:cs typeface="Times New Roman" panose="02020603050405020304" pitchFamily="18" charset="0"/>
                        </a:rPr>
                        <a:t>d</a:t>
                      </a: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a:t>
                      </a:r>
                    </a:p>
                  </a:txBody>
                  <a:tcPr marL="68580" marR="68580" marT="0" marB="0" anchor="ctr"/>
                </a:tc>
                <a:tc>
                  <a:txBody>
                    <a:bodyPr/>
                    <a:lstStyle/>
                    <a:p>
                      <a:pPr marL="0" marR="0">
                        <a:lnSpc>
                          <a:spcPct val="115000"/>
                        </a:lnSpc>
                        <a:spcAft>
                          <a:spcPts val="800"/>
                        </a:spcAft>
                        <a:buNone/>
                      </a:pP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Matches </a:t>
                      </a:r>
                      <a:r>
                        <a:rPr lang="en-US" sz="2000" kern="100" dirty="0" err="1">
                          <a:solidFill>
                            <a:srgbClr val="0000FF"/>
                          </a:solidFill>
                          <a:effectLst/>
                          <a:latin typeface="Cambria" panose="02040503050406030204" pitchFamily="18" charset="0"/>
                          <a:ea typeface="Cambria" panose="02040503050406030204" pitchFamily="18" charset="0"/>
                          <a:cs typeface="Times New Roman" panose="02020603050405020304" pitchFamily="18" charset="0"/>
                        </a:rPr>
                        <a:t>rd</a:t>
                      </a:r>
                      <a:r>
                        <a:rPr lang="en-US" sz="2000" kern="100" dirty="0">
                          <a:solidFill>
                            <a:srgbClr val="0000FF"/>
                          </a:solidFill>
                          <a:effectLst/>
                          <a:latin typeface="Cambria" panose="02040503050406030204" pitchFamily="18" charset="0"/>
                          <a:ea typeface="Cambria" panose="02040503050406030204" pitchFamily="18" charset="0"/>
                          <a:cs typeface="Times New Roman" panose="02020603050405020304" pitchFamily="18" charset="0"/>
                        </a:rPr>
                        <a:t>, red</a:t>
                      </a:r>
                    </a:p>
                  </a:txBody>
                  <a:tcPr marL="68580" marR="68580" marT="0" marB="0" anchor="ctr"/>
                </a:tc>
                <a:extLst>
                  <a:ext uri="{0D108BD9-81ED-4DB2-BD59-A6C34878D82A}">
                    <a16:rowId xmlns:a16="http://schemas.microsoft.com/office/drawing/2014/main" val="477052819"/>
                  </a:ext>
                </a:extLst>
              </a:tr>
            </a:tbl>
          </a:graphicData>
        </a:graphic>
      </p:graphicFrame>
      <p:graphicFrame>
        <p:nvGraphicFramePr>
          <p:cNvPr id="4" name="Table 3">
            <a:extLst>
              <a:ext uri="{FF2B5EF4-FFF2-40B4-BE49-F238E27FC236}">
                <a16:creationId xmlns:a16="http://schemas.microsoft.com/office/drawing/2014/main" id="{CFCA062A-487E-EE75-8AA0-B717F6494DFD}"/>
              </a:ext>
            </a:extLst>
          </p:cNvPr>
          <p:cNvGraphicFramePr>
            <a:graphicFrameLocks noGrp="1"/>
          </p:cNvGraphicFramePr>
          <p:nvPr>
            <p:extLst>
              <p:ext uri="{D42A27DB-BD31-4B8C-83A1-F6EECF244321}">
                <p14:modId xmlns:p14="http://schemas.microsoft.com/office/powerpoint/2010/main" val="2495024277"/>
              </p:ext>
            </p:extLst>
          </p:nvPr>
        </p:nvGraphicFramePr>
        <p:xfrm>
          <a:off x="290569" y="3419063"/>
          <a:ext cx="8496301" cy="2052950"/>
        </p:xfrm>
        <a:graphic>
          <a:graphicData uri="http://schemas.openxmlformats.org/drawingml/2006/table">
            <a:tbl>
              <a:tblPr firstRow="1" firstCol="1" bandRow="1">
                <a:tableStyleId>{5C22544A-7EE6-4342-B048-85BDC9FD1C3A}</a:tableStyleId>
              </a:tblPr>
              <a:tblGrid>
                <a:gridCol w="897055">
                  <a:extLst>
                    <a:ext uri="{9D8B030D-6E8A-4147-A177-3AD203B41FA5}">
                      <a16:colId xmlns:a16="http://schemas.microsoft.com/office/drawing/2014/main" val="971561955"/>
                    </a:ext>
                  </a:extLst>
                </a:gridCol>
                <a:gridCol w="2721992">
                  <a:extLst>
                    <a:ext uri="{9D8B030D-6E8A-4147-A177-3AD203B41FA5}">
                      <a16:colId xmlns:a16="http://schemas.microsoft.com/office/drawing/2014/main" val="3914418228"/>
                    </a:ext>
                  </a:extLst>
                </a:gridCol>
                <a:gridCol w="2503577">
                  <a:extLst>
                    <a:ext uri="{9D8B030D-6E8A-4147-A177-3AD203B41FA5}">
                      <a16:colId xmlns:a16="http://schemas.microsoft.com/office/drawing/2014/main" val="573870109"/>
                    </a:ext>
                  </a:extLst>
                </a:gridCol>
                <a:gridCol w="2373677">
                  <a:extLst>
                    <a:ext uri="{9D8B030D-6E8A-4147-A177-3AD203B41FA5}">
                      <a16:colId xmlns:a16="http://schemas.microsoft.com/office/drawing/2014/main" val="4081129659"/>
                    </a:ext>
                  </a:extLst>
                </a:gridCol>
              </a:tblGrid>
              <a:tr h="360040">
                <a:tc>
                  <a:txBody>
                    <a:bodyPr/>
                    <a:lstStyle/>
                    <a:p>
                      <a:pPr marL="0" marR="0" algn="ctr">
                        <a:lnSpc>
                          <a:spcPct val="115000"/>
                        </a:lnSpc>
                        <a:spcAft>
                          <a:spcPts val="800"/>
                        </a:spcAft>
                        <a:buNone/>
                      </a:pPr>
                      <a:r>
                        <a:rPr lang="en-US" sz="2000" kern="100" dirty="0">
                          <a:solidFill>
                            <a:srgbClr val="FFFF00"/>
                          </a:solidFill>
                          <a:effectLst/>
                          <a:latin typeface="Cambria" panose="02040503050406030204" pitchFamily="18" charset="0"/>
                          <a:ea typeface="Cambria" panose="02040503050406030204" pitchFamily="18" charset="0"/>
                        </a:rPr>
                        <a:t>Parm.</a:t>
                      </a:r>
                      <a:endParaRPr lang="en-US" sz="2000" kern="100"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100" dirty="0">
                          <a:solidFill>
                            <a:srgbClr val="FFFF00"/>
                          </a:solidFill>
                          <a:effectLst/>
                          <a:latin typeface="Cambria" panose="02040503050406030204" pitchFamily="18" charset="0"/>
                          <a:ea typeface="Cambria" panose="02040503050406030204" pitchFamily="18" charset="0"/>
                        </a:rPr>
                        <a:t>Description</a:t>
                      </a:r>
                      <a:endParaRPr lang="en-US" sz="2000" kern="100"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100" dirty="0">
                          <a:solidFill>
                            <a:srgbClr val="FFFF00"/>
                          </a:solidFill>
                          <a:effectLst/>
                          <a:latin typeface="Cambria" panose="02040503050406030204" pitchFamily="18" charset="0"/>
                          <a:ea typeface="Cambria" panose="02040503050406030204" pitchFamily="18" charset="0"/>
                        </a:rPr>
                        <a:t>Example</a:t>
                      </a:r>
                      <a:endParaRPr lang="en-US" sz="2000" kern="100"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100" dirty="0">
                          <a:solidFill>
                            <a:srgbClr val="FFFF00"/>
                          </a:solidFill>
                          <a:effectLst/>
                          <a:latin typeface="Cambria" panose="02040503050406030204" pitchFamily="18" charset="0"/>
                          <a:ea typeface="Cambria" panose="02040503050406030204" pitchFamily="18" charset="0"/>
                        </a:rPr>
                        <a:t>Output</a:t>
                      </a:r>
                      <a:endParaRPr lang="en-US" sz="2000" kern="100"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93758534"/>
                  </a:ext>
                </a:extLst>
              </a:tr>
              <a:tr h="327532">
                <a:tc>
                  <a:txBody>
                    <a:bodyPr/>
                    <a:lstStyle/>
                    <a:p>
                      <a:pPr marL="0" marR="0" algn="ctr">
                        <a:lnSpc>
                          <a:spcPct val="115000"/>
                        </a:lnSpc>
                        <a:spcAft>
                          <a:spcPts val="800"/>
                        </a:spcAft>
                        <a:buNone/>
                      </a:pP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a:t>
                      </a:r>
                      <a:r>
                        <a:rPr lang="en-US" sz="2000" kern="100" dirty="0" err="1">
                          <a:effectLst/>
                          <a:latin typeface="Cambria" panose="02040503050406030204" pitchFamily="18" charset="0"/>
                          <a:ea typeface="Cambria" panose="02040503050406030204" pitchFamily="18" charset="0"/>
                          <a:cs typeface="Times New Roman" panose="02020603050405020304" pitchFamily="18" charset="0"/>
                        </a:rPr>
                        <a:t>i</a:t>
                      </a: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a:t>
                      </a:r>
                    </a:p>
                  </a:txBody>
                  <a:tcPr marL="68580" marR="68580" marT="0" marB="0" anchor="ctr"/>
                </a:tc>
                <a:tc>
                  <a:txBody>
                    <a:bodyPr/>
                    <a:lstStyle/>
                    <a:p>
                      <a:pPr marL="0" marR="0">
                        <a:lnSpc>
                          <a:spcPct val="115000"/>
                        </a:lnSpc>
                        <a:spcAft>
                          <a:spcPts val="800"/>
                        </a:spcAft>
                        <a:buNone/>
                      </a:pP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Case insensitive comparison</a:t>
                      </a:r>
                    </a:p>
                  </a:txBody>
                  <a:tcPr marL="68580" marR="68580" marT="0" marB="0" anchor="ctr"/>
                </a:tc>
                <a:tc>
                  <a:txBody>
                    <a:bodyPr/>
                    <a:lstStyle/>
                    <a:p>
                      <a:pPr marL="0" marR="0">
                        <a:lnSpc>
                          <a:spcPct val="115000"/>
                        </a:lnSpc>
                        <a:spcAft>
                          <a:spcPts val="800"/>
                        </a:spcAft>
                        <a:buNone/>
                      </a:pP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a:t>
                      </a:r>
                      <a:r>
                        <a:rPr lang="en-US" sz="2000" kern="100" dirty="0" err="1">
                          <a:effectLst/>
                          <a:latin typeface="Cambria" panose="02040503050406030204" pitchFamily="18" charset="0"/>
                          <a:ea typeface="Cambria" panose="02040503050406030204" pitchFamily="18" charset="0"/>
                          <a:cs typeface="Times New Roman" panose="02020603050405020304" pitchFamily="18" charset="0"/>
                        </a:rPr>
                        <a:t>ename</a:t>
                      </a: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 'AF', '</a:t>
                      </a:r>
                      <a:r>
                        <a:rPr lang="en-US" sz="2000" kern="100" dirty="0" err="1">
                          <a:effectLst/>
                          <a:latin typeface="Cambria" panose="02040503050406030204" pitchFamily="18" charset="0"/>
                          <a:ea typeface="Cambria" panose="02040503050406030204" pitchFamily="18" charset="0"/>
                          <a:cs typeface="Times New Roman" panose="02020603050405020304" pitchFamily="18" charset="0"/>
                        </a:rPr>
                        <a:t>i</a:t>
                      </a: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a:t>
                      </a:r>
                    </a:p>
                  </a:txBody>
                  <a:tcPr marL="68580" marR="68580" marT="0" marB="0" anchor="ctr"/>
                </a:tc>
                <a:tc>
                  <a:txBody>
                    <a:bodyPr/>
                    <a:lstStyle/>
                    <a:p>
                      <a:pPr marL="0" marR="0">
                        <a:lnSpc>
                          <a:spcPct val="115000"/>
                        </a:lnSpc>
                        <a:spcAft>
                          <a:spcPts val="800"/>
                        </a:spcAft>
                        <a:buNone/>
                      </a:pP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All </a:t>
                      </a:r>
                      <a:r>
                        <a:rPr lang="en-US" sz="2000" kern="100" dirty="0" err="1">
                          <a:effectLst/>
                          <a:latin typeface="Cambria" panose="02040503050406030204" pitchFamily="18" charset="0"/>
                          <a:ea typeface="Cambria" panose="02040503050406030204" pitchFamily="18" charset="0"/>
                          <a:cs typeface="Times New Roman" panose="02020603050405020304" pitchFamily="18" charset="0"/>
                        </a:rPr>
                        <a:t>enames</a:t>
                      </a: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 with either letter 'A' or 'F' or 'a' or 'f’.</a:t>
                      </a:r>
                    </a:p>
                  </a:txBody>
                  <a:tcPr marL="68580" marR="68580" marT="0" marB="0" anchor="ctr"/>
                </a:tc>
                <a:extLst>
                  <a:ext uri="{0D108BD9-81ED-4DB2-BD59-A6C34878D82A}">
                    <a16:rowId xmlns:a16="http://schemas.microsoft.com/office/drawing/2014/main" val="3481303634"/>
                  </a:ext>
                </a:extLst>
              </a:tr>
              <a:tr h="327532">
                <a:tc>
                  <a:txBody>
                    <a:bodyPr/>
                    <a:lstStyle/>
                    <a:p>
                      <a:pPr marL="0" marR="0" algn="ctr">
                        <a:lnSpc>
                          <a:spcPct val="115000"/>
                        </a:lnSpc>
                        <a:spcAft>
                          <a:spcPts val="800"/>
                        </a:spcAft>
                        <a:buNone/>
                      </a:pP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'c'</a:t>
                      </a:r>
                    </a:p>
                  </a:txBody>
                  <a:tcPr marL="68580" marR="68580" marT="0" marB="0" anchor="ctr"/>
                </a:tc>
                <a:tc>
                  <a:txBody>
                    <a:bodyPr/>
                    <a:lstStyle/>
                    <a:p>
                      <a:pPr marL="0" marR="0">
                        <a:lnSpc>
                          <a:spcPct val="115000"/>
                        </a:lnSpc>
                        <a:spcAft>
                          <a:spcPts val="800"/>
                        </a:spcAft>
                        <a:buNone/>
                      </a:pP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Case sensitive comparison (default)</a:t>
                      </a:r>
                    </a:p>
                  </a:txBody>
                  <a:tcPr marL="68580" marR="68580" marT="0" marB="0" anchor="ctr"/>
                </a:tc>
                <a:tc>
                  <a:txBody>
                    <a:bodyPr/>
                    <a:lstStyle/>
                    <a:p>
                      <a:pPr marL="0" marR="0">
                        <a:lnSpc>
                          <a:spcPct val="115000"/>
                        </a:lnSpc>
                        <a:spcAft>
                          <a:spcPts val="800"/>
                        </a:spcAft>
                        <a:buNone/>
                      </a:pP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a:t>
                      </a:r>
                      <a:r>
                        <a:rPr lang="en-US" sz="2000" kern="100" dirty="0" err="1">
                          <a:effectLst/>
                          <a:latin typeface="Cambria" panose="02040503050406030204" pitchFamily="18" charset="0"/>
                          <a:ea typeface="Cambria" panose="02040503050406030204" pitchFamily="18" charset="0"/>
                          <a:cs typeface="Times New Roman" panose="02020603050405020304" pitchFamily="18" charset="0"/>
                        </a:rPr>
                        <a:t>ename</a:t>
                      </a: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 'AF', ‘c');</a:t>
                      </a:r>
                    </a:p>
                  </a:txBody>
                  <a:tcPr marL="68580" marR="68580" marT="0" marB="0" anchor="ctr"/>
                </a:tc>
                <a:tc>
                  <a:txBody>
                    <a:bodyPr/>
                    <a:lstStyle/>
                    <a:p>
                      <a:pPr marL="0" marR="0">
                        <a:lnSpc>
                          <a:spcPct val="115000"/>
                        </a:lnSpc>
                        <a:spcAft>
                          <a:spcPts val="800"/>
                        </a:spcAft>
                        <a:buNone/>
                      </a:pP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All </a:t>
                      </a:r>
                      <a:r>
                        <a:rPr lang="en-US" sz="2000" kern="100" dirty="0" err="1">
                          <a:effectLst/>
                          <a:latin typeface="Cambria" panose="02040503050406030204" pitchFamily="18" charset="0"/>
                          <a:ea typeface="Cambria" panose="02040503050406030204" pitchFamily="18" charset="0"/>
                          <a:cs typeface="Times New Roman" panose="02020603050405020304" pitchFamily="18" charset="0"/>
                        </a:rPr>
                        <a:t>enames</a:t>
                      </a:r>
                      <a:r>
                        <a:rPr lang="en-US" sz="2000" kern="100" dirty="0">
                          <a:effectLst/>
                          <a:latin typeface="Cambria" panose="02040503050406030204" pitchFamily="18" charset="0"/>
                          <a:ea typeface="Cambria" panose="02040503050406030204" pitchFamily="18" charset="0"/>
                          <a:cs typeface="Times New Roman" panose="02020603050405020304" pitchFamily="18" charset="0"/>
                        </a:rPr>
                        <a:t> with either letter 'A' or 'F'</a:t>
                      </a:r>
                    </a:p>
                  </a:txBody>
                  <a:tcPr marL="68580" marR="68580" marT="0" marB="0" anchor="ctr"/>
                </a:tc>
                <a:extLst>
                  <a:ext uri="{0D108BD9-81ED-4DB2-BD59-A6C34878D82A}">
                    <a16:rowId xmlns:a16="http://schemas.microsoft.com/office/drawing/2014/main" val="2468033307"/>
                  </a:ext>
                </a:extLst>
              </a:tr>
            </a:tbl>
          </a:graphicData>
        </a:graphic>
      </p:graphicFrame>
    </p:spTree>
    <p:extLst>
      <p:ext uri="{BB962C8B-B14F-4D97-AF65-F5344CB8AC3E}">
        <p14:creationId xmlns:p14="http://schemas.microsoft.com/office/powerpoint/2010/main" val="1467761397"/>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0D5C70D7-6150-1152-1E0C-00DDE7B548AA}"/>
              </a:ext>
            </a:extLst>
          </p:cNvPr>
          <p:cNvSpPr>
            <a:spLocks noChangeArrowheads="1"/>
          </p:cNvSpPr>
          <p:nvPr/>
        </p:nvSpPr>
        <p:spPr bwMode="blackWhite">
          <a:xfrm>
            <a:off x="755650" y="4207668"/>
            <a:ext cx="8064500" cy="1525588"/>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52227" name="Rectangle 3">
            <a:extLst>
              <a:ext uri="{FF2B5EF4-FFF2-40B4-BE49-F238E27FC236}">
                <a16:creationId xmlns:a16="http://schemas.microsoft.com/office/drawing/2014/main" id="{84796B50-9603-7C57-AC9D-618C3DD83914}"/>
              </a:ext>
            </a:extLst>
          </p:cNvPr>
          <p:cNvSpPr>
            <a:spLocks noGrp="1" noChangeArrowheads="1"/>
          </p:cNvSpPr>
          <p:nvPr>
            <p:ph type="title"/>
          </p:nvPr>
        </p:nvSpPr>
        <p:spPr>
          <a:xfrm>
            <a:off x="323850" y="660400"/>
            <a:ext cx="1762125" cy="53657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Summary</a:t>
            </a:r>
          </a:p>
        </p:txBody>
      </p:sp>
      <p:sp>
        <p:nvSpPr>
          <p:cNvPr id="52228" name="Rectangle 4">
            <a:extLst>
              <a:ext uri="{FF2B5EF4-FFF2-40B4-BE49-F238E27FC236}">
                <a16:creationId xmlns:a16="http://schemas.microsoft.com/office/drawing/2014/main" id="{5986AEAE-9FE7-CB37-59A9-DA72804EEECC}"/>
              </a:ext>
            </a:extLst>
          </p:cNvPr>
          <p:cNvSpPr>
            <a:spLocks noChangeArrowheads="1"/>
          </p:cNvSpPr>
          <p:nvPr/>
        </p:nvSpPr>
        <p:spPr bwMode="blackWhite">
          <a:xfrm>
            <a:off x="947738" y="4325143"/>
            <a:ext cx="7223125" cy="121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SELECT     *|{[DISTINCT] </a:t>
            </a:r>
            <a:r>
              <a:rPr lang="en-US" altLang="en-US" sz="1800" b="1" i="1" dirty="0" err="1">
                <a:solidFill>
                  <a:srgbClr val="000000"/>
                </a:solidFill>
                <a:latin typeface="Courier New" panose="02070309020205020404" pitchFamily="49" charset="0"/>
              </a:rPr>
              <a:t>column|expression</a:t>
            </a:r>
            <a:r>
              <a:rPr lang="en-US" altLang="en-US" sz="1800" b="1" dirty="0">
                <a:solidFill>
                  <a:srgbClr val="000000"/>
                </a:solidFill>
                <a:latin typeface="Courier New" panose="02070309020205020404" pitchFamily="49" charset="0"/>
              </a:rPr>
              <a:t> [</a:t>
            </a:r>
            <a:r>
              <a:rPr lang="en-US" altLang="en-US" sz="1800" b="1" i="1" dirty="0">
                <a:solidFill>
                  <a:srgbClr val="000000"/>
                </a:solidFill>
                <a:latin typeface="Courier New" panose="02070309020205020404" pitchFamily="49" charset="0"/>
              </a:rPr>
              <a:t>alias</a:t>
            </a:r>
            <a:r>
              <a:rPr lang="en-US" altLang="en-US" sz="1800" b="1" dirty="0">
                <a:solidFill>
                  <a:srgbClr val="000000"/>
                </a:solidFill>
                <a:latin typeface="Courier New" panose="02070309020205020404" pitchFamily="49" charset="0"/>
              </a:rPr>
              <a:t>],...}</a:t>
            </a:r>
          </a:p>
          <a:p>
            <a:pPr>
              <a:spcBef>
                <a:spcPct val="0"/>
              </a:spcBef>
              <a:buFontTx/>
              <a:buNone/>
            </a:pPr>
            <a:r>
              <a:rPr lang="en-US" altLang="en-US" sz="1800" b="1" dirty="0">
                <a:solidFill>
                  <a:srgbClr val="000000"/>
                </a:solidFill>
                <a:latin typeface="Courier New" panose="02070309020205020404" pitchFamily="49" charset="0"/>
              </a:rPr>
              <a:t>FROM       </a:t>
            </a:r>
            <a:r>
              <a:rPr lang="en-US" altLang="en-US" sz="1800" b="1" i="1" dirty="0">
                <a:solidFill>
                  <a:srgbClr val="000000"/>
                </a:solidFill>
                <a:latin typeface="Courier New" panose="02070309020205020404" pitchFamily="49" charset="0"/>
              </a:rPr>
              <a:t>table</a:t>
            </a: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FF0000"/>
                </a:solidFill>
                <a:latin typeface="Courier New" panose="02070309020205020404" pitchFamily="49" charset="0"/>
              </a:rPr>
              <a:t>[WHERE     </a:t>
            </a:r>
            <a:r>
              <a:rPr lang="en-US" altLang="en-US" sz="1800" b="1" i="1" dirty="0">
                <a:solidFill>
                  <a:srgbClr val="FF0000"/>
                </a:solidFill>
                <a:latin typeface="Courier New" panose="02070309020205020404" pitchFamily="49" charset="0"/>
              </a:rPr>
              <a:t>condition(s)</a:t>
            </a:r>
            <a:r>
              <a:rPr lang="en-US" altLang="en-US" sz="1800" b="1" dirty="0">
                <a:solidFill>
                  <a:srgbClr val="FF0000"/>
                </a:solidFill>
                <a:latin typeface="Courier New" panose="02070309020205020404" pitchFamily="49" charset="0"/>
              </a:rPr>
              <a:t>];</a:t>
            </a:r>
          </a:p>
        </p:txBody>
      </p:sp>
      <p:sp>
        <p:nvSpPr>
          <p:cNvPr id="52229" name="Rectangle 5">
            <a:extLst>
              <a:ext uri="{FF2B5EF4-FFF2-40B4-BE49-F238E27FC236}">
                <a16:creationId xmlns:a16="http://schemas.microsoft.com/office/drawing/2014/main" id="{39D2F948-C14D-EB4E-E82C-DE1AA08AA801}"/>
              </a:ext>
            </a:extLst>
          </p:cNvPr>
          <p:cNvSpPr>
            <a:spLocks noChangeArrowheads="1"/>
          </p:cNvSpPr>
          <p:nvPr/>
        </p:nvSpPr>
        <p:spPr bwMode="auto">
          <a:xfrm>
            <a:off x="854075" y="1611313"/>
            <a:ext cx="7832725" cy="245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marL="404813" indent="-404813" defTabSz="346075">
              <a:spcBef>
                <a:spcPct val="20000"/>
              </a:spcBef>
              <a:buChar char="•"/>
              <a:tabLst>
                <a:tab pos="571500" algn="l"/>
              </a:tabLst>
              <a:defRPr sz="2800">
                <a:solidFill>
                  <a:schemeClr val="tx1"/>
                </a:solidFill>
                <a:latin typeface="Arial" panose="020B0604020202020204" pitchFamily="34" charset="0"/>
              </a:defRPr>
            </a:lvl1pPr>
            <a:lvl2pPr marL="919163" indent="-400050" defTabSz="346075">
              <a:spcBef>
                <a:spcPct val="20000"/>
              </a:spcBef>
              <a:buChar char="–"/>
              <a:tabLst>
                <a:tab pos="571500" algn="l"/>
              </a:tabLst>
              <a:defRPr sz="2400">
                <a:solidFill>
                  <a:schemeClr val="tx1"/>
                </a:solidFill>
                <a:latin typeface="Arial" panose="020B0604020202020204" pitchFamily="34" charset="0"/>
              </a:defRPr>
            </a:lvl2pPr>
            <a:lvl3pPr marL="1143000" indent="-228600" defTabSz="346075">
              <a:spcBef>
                <a:spcPct val="20000"/>
              </a:spcBef>
              <a:buChar char="•"/>
              <a:tabLst>
                <a:tab pos="571500" algn="l"/>
              </a:tabLst>
              <a:defRPr sz="2000">
                <a:solidFill>
                  <a:schemeClr val="tx1"/>
                </a:solidFill>
                <a:latin typeface="Arial" panose="020B0604020202020204" pitchFamily="34" charset="0"/>
              </a:defRPr>
            </a:lvl3pPr>
            <a:lvl4pPr marL="1600200" indent="-228600" defTabSz="346075">
              <a:spcBef>
                <a:spcPct val="20000"/>
              </a:spcBef>
              <a:buChar char="–"/>
              <a:tabLst>
                <a:tab pos="571500" algn="l"/>
              </a:tabLst>
              <a:defRPr sz="2000">
                <a:solidFill>
                  <a:schemeClr val="tx1"/>
                </a:solidFill>
                <a:latin typeface="Arial" panose="020B0604020202020204" pitchFamily="34" charset="0"/>
              </a:defRPr>
            </a:lvl4pPr>
            <a:lvl5pPr marL="2057400" indent="-228600" defTabSz="346075">
              <a:spcBef>
                <a:spcPct val="20000"/>
              </a:spcBef>
              <a:buChar char="»"/>
              <a:tabLst>
                <a:tab pos="571500" algn="l"/>
              </a:tabLst>
              <a:defRPr sz="2000">
                <a:solidFill>
                  <a:schemeClr val="tx1"/>
                </a:solidFill>
                <a:latin typeface="Arial" panose="020B0604020202020204" pitchFamily="34" charset="0"/>
              </a:defRPr>
            </a:lvl5pPr>
            <a:lvl6pPr marL="25146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6pPr>
            <a:lvl7pPr marL="29718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7pPr>
            <a:lvl8pPr marL="34290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8pPr>
            <a:lvl9pPr marL="38862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9pPr>
          </a:lstStyle>
          <a:p>
            <a:pPr>
              <a:lnSpc>
                <a:spcPct val="95000"/>
              </a:lnSpc>
              <a:spcBef>
                <a:spcPct val="35000"/>
              </a:spcBef>
              <a:buClr>
                <a:schemeClr val="tx1"/>
              </a:buClr>
              <a:buFontTx/>
              <a:buNone/>
            </a:pPr>
            <a:r>
              <a:rPr lang="en-US" altLang="en-US" sz="2200" b="1" dirty="0"/>
              <a:t>In this lesson, you should have learned how to: </a:t>
            </a:r>
          </a:p>
          <a:p>
            <a:pPr>
              <a:lnSpc>
                <a:spcPct val="95000"/>
              </a:lnSpc>
              <a:spcBef>
                <a:spcPct val="35000"/>
              </a:spcBef>
              <a:buClr>
                <a:schemeClr val="tx1"/>
              </a:buClr>
            </a:pPr>
            <a:r>
              <a:rPr lang="en-US" altLang="en-US" sz="2200" b="1" dirty="0"/>
              <a:t>Use the </a:t>
            </a:r>
            <a:r>
              <a:rPr lang="en-US" altLang="en-US" sz="2200" b="1" dirty="0">
                <a:latin typeface="Courier New" panose="02070309020205020404" pitchFamily="49" charset="0"/>
              </a:rPr>
              <a:t>WHERE</a:t>
            </a:r>
            <a:r>
              <a:rPr lang="en-US" altLang="en-US" sz="2200" b="1" dirty="0"/>
              <a:t> clause to restrict rows of output</a:t>
            </a:r>
          </a:p>
          <a:p>
            <a:pPr lvl="1">
              <a:lnSpc>
                <a:spcPct val="95000"/>
              </a:lnSpc>
              <a:spcBef>
                <a:spcPct val="35000"/>
              </a:spcBef>
              <a:buClr>
                <a:schemeClr val="tx1"/>
              </a:buClr>
            </a:pPr>
            <a:r>
              <a:rPr lang="en-US" altLang="en-US" sz="2000" b="1" dirty="0"/>
              <a:t>Use the comparison conditions</a:t>
            </a:r>
          </a:p>
          <a:p>
            <a:pPr lvl="1">
              <a:lnSpc>
                <a:spcPct val="95000"/>
              </a:lnSpc>
              <a:spcBef>
                <a:spcPct val="35000"/>
              </a:spcBef>
              <a:buClr>
                <a:schemeClr val="tx1"/>
              </a:buClr>
            </a:pPr>
            <a:r>
              <a:rPr lang="en-US" altLang="en-US" sz="2000" b="1" dirty="0"/>
              <a:t>Use the </a:t>
            </a:r>
            <a:r>
              <a:rPr lang="en-US" altLang="en-US" sz="2000" b="1" dirty="0">
                <a:latin typeface="Courier New" panose="02070309020205020404" pitchFamily="49" charset="0"/>
              </a:rPr>
              <a:t>BETWEEN</a:t>
            </a:r>
            <a:r>
              <a:rPr lang="en-US" altLang="en-US" sz="2000" b="1" dirty="0"/>
              <a:t>, </a:t>
            </a:r>
            <a:r>
              <a:rPr lang="en-US" altLang="en-US" sz="2000" b="1" dirty="0">
                <a:latin typeface="Courier New" panose="02070309020205020404" pitchFamily="49" charset="0"/>
              </a:rPr>
              <a:t>IN</a:t>
            </a:r>
            <a:r>
              <a:rPr lang="en-US" altLang="en-US" sz="2000" b="1" dirty="0"/>
              <a:t>, </a:t>
            </a:r>
            <a:r>
              <a:rPr lang="en-US" altLang="en-US" sz="2000" b="1" dirty="0">
                <a:latin typeface="Courier New" panose="02070309020205020404" pitchFamily="49" charset="0"/>
              </a:rPr>
              <a:t>LIKE</a:t>
            </a:r>
            <a:r>
              <a:rPr lang="en-US" altLang="en-US" sz="2000" b="1" dirty="0"/>
              <a:t>, and </a:t>
            </a:r>
            <a:r>
              <a:rPr lang="en-US" altLang="en-US" sz="2000" b="1" dirty="0">
                <a:latin typeface="Courier New" panose="02070309020205020404" pitchFamily="49" charset="0"/>
              </a:rPr>
              <a:t>NULL</a:t>
            </a:r>
            <a:r>
              <a:rPr lang="en-US" altLang="en-US" sz="2000" b="1" dirty="0"/>
              <a:t> conditions</a:t>
            </a:r>
          </a:p>
          <a:p>
            <a:pPr lvl="1">
              <a:lnSpc>
                <a:spcPct val="95000"/>
              </a:lnSpc>
              <a:spcBef>
                <a:spcPct val="35000"/>
              </a:spcBef>
              <a:buClr>
                <a:schemeClr val="tx1"/>
              </a:buClr>
            </a:pPr>
            <a:r>
              <a:rPr lang="en-US" altLang="en-US" sz="2000" b="1" dirty="0"/>
              <a:t>Apply the logical </a:t>
            </a:r>
            <a:r>
              <a:rPr lang="en-US" altLang="en-US" sz="2000" b="1" dirty="0">
                <a:latin typeface="Courier New" panose="02070309020205020404" pitchFamily="49" charset="0"/>
              </a:rPr>
              <a:t>AND</a:t>
            </a:r>
            <a:r>
              <a:rPr lang="en-US" altLang="en-US" sz="2000" b="1" dirty="0"/>
              <a:t>, </a:t>
            </a:r>
            <a:r>
              <a:rPr lang="en-US" altLang="en-US" sz="2000" b="1" dirty="0">
                <a:latin typeface="Courier New" panose="02070309020205020404" pitchFamily="49" charset="0"/>
              </a:rPr>
              <a:t>OR</a:t>
            </a:r>
            <a:r>
              <a:rPr lang="en-US" altLang="en-US" sz="2000" b="1" dirty="0"/>
              <a:t>, and </a:t>
            </a:r>
            <a:r>
              <a:rPr lang="en-US" altLang="en-US" sz="2000" b="1" dirty="0">
                <a:latin typeface="Courier New" panose="02070309020205020404" pitchFamily="49" charset="0"/>
              </a:rPr>
              <a:t>NOT</a:t>
            </a:r>
            <a:r>
              <a:rPr lang="en-US" altLang="en-US" sz="2000" b="1" dirty="0"/>
              <a:t> operators</a:t>
            </a:r>
          </a:p>
          <a:p>
            <a:pPr lvl="1">
              <a:lnSpc>
                <a:spcPct val="95000"/>
              </a:lnSpc>
              <a:spcBef>
                <a:spcPct val="35000"/>
              </a:spcBef>
              <a:buClr>
                <a:schemeClr val="tx1"/>
              </a:buClr>
            </a:pPr>
            <a:r>
              <a:rPr lang="en-US" altLang="en-US" sz="2000" b="1" dirty="0"/>
              <a:t>Use REGEXP_LIKE</a:t>
            </a:r>
          </a:p>
        </p:txBody>
      </p:sp>
    </p:spTree>
  </p:cSld>
  <p:clrMapOvr>
    <a:masterClrMapping/>
  </p:clrMapOvr>
  <p:transition spd="slow">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9A711739-E54E-9AFF-0EE1-FA5FE2915B0B}"/>
              </a:ext>
            </a:extLst>
          </p:cNvPr>
          <p:cNvSpPr>
            <a:spLocks noGrp="1" noChangeArrowheads="1"/>
          </p:cNvSpPr>
          <p:nvPr>
            <p:ph type="title"/>
          </p:nvPr>
        </p:nvSpPr>
        <p:spPr>
          <a:xfrm>
            <a:off x="395288" y="1628775"/>
            <a:ext cx="8277225" cy="1219200"/>
          </a:xfrm>
        </p:spPr>
        <p:txBody>
          <a:bodyPr/>
          <a:lstStyle/>
          <a:p>
            <a:pPr algn="ctr" eaLnBrk="1" hangingPunct="1"/>
            <a:br>
              <a:rPr lang="de-AT" altLang="en-US" sz="3600">
                <a:latin typeface="Georgia" panose="02040502050405020303" pitchFamily="18" charset="0"/>
              </a:rPr>
            </a:br>
            <a:r>
              <a:rPr lang="de-AT" altLang="en-US" sz="3600">
                <a:latin typeface="Georgia" panose="02040502050405020303" pitchFamily="18" charset="0"/>
              </a:rPr>
              <a:t>Thank you for your attention.</a:t>
            </a:r>
          </a:p>
        </p:txBody>
      </p:sp>
      <p:sp>
        <p:nvSpPr>
          <p:cNvPr id="54275" name="Rectangle 8">
            <a:extLst>
              <a:ext uri="{FF2B5EF4-FFF2-40B4-BE49-F238E27FC236}">
                <a16:creationId xmlns:a16="http://schemas.microsoft.com/office/drawing/2014/main" id="{DFB0FAFB-FE9F-21DD-BC14-97820DA9108F}"/>
              </a:ext>
            </a:extLst>
          </p:cNvPr>
          <p:cNvSpPr>
            <a:spLocks noChangeArrowheads="1"/>
          </p:cNvSpPr>
          <p:nvPr/>
        </p:nvSpPr>
        <p:spPr bwMode="auto">
          <a:xfrm>
            <a:off x="2362200" y="3962400"/>
            <a:ext cx="4495800" cy="2130425"/>
          </a:xfrm>
          <a:prstGeom prst="rect">
            <a:avLst/>
          </a:prstGeom>
          <a:solidFill>
            <a:srgbClr val="FFFFCC"/>
          </a:solidFill>
          <a:ln w="38100">
            <a:solidFill>
              <a:srgbClr val="800000"/>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54276" name="Rectangle 9">
            <a:extLst>
              <a:ext uri="{FF2B5EF4-FFF2-40B4-BE49-F238E27FC236}">
                <a16:creationId xmlns:a16="http://schemas.microsoft.com/office/drawing/2014/main" id="{64FFEC68-FE7A-7C02-6329-BA8D462806F0}"/>
              </a:ext>
            </a:extLst>
          </p:cNvPr>
          <p:cNvSpPr>
            <a:spLocks noChangeArrowheads="1"/>
          </p:cNvSpPr>
          <p:nvPr/>
        </p:nvSpPr>
        <p:spPr bwMode="auto">
          <a:xfrm>
            <a:off x="539750" y="2276475"/>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en-US" altLang="en-US" sz="2400" dirty="0"/>
          </a:p>
          <a:p>
            <a:pPr eaLnBrk="1" hangingPunct="1"/>
            <a:endParaRPr lang="en-US" altLang="en-US" sz="2400" dirty="0"/>
          </a:p>
          <a:p>
            <a:pPr eaLnBrk="1" hangingPunct="1"/>
            <a:endParaRPr lang="en-US" altLang="en-US" sz="2400" dirty="0"/>
          </a:p>
          <a:p>
            <a:pPr eaLnBrk="1" hangingPunct="1"/>
            <a:endParaRPr lang="en-US" altLang="en-US" sz="2400" dirty="0"/>
          </a:p>
          <a:p>
            <a:pPr eaLnBrk="1" hangingPunct="1">
              <a:buFontTx/>
              <a:buNone/>
            </a:pPr>
            <a:r>
              <a:rPr lang="de-AT" altLang="en-US" sz="900" b="1" dirty="0">
                <a:solidFill>
                  <a:srgbClr val="000066"/>
                </a:solidFill>
              </a:rPr>
              <a:t>			</a:t>
            </a:r>
            <a:r>
              <a:rPr lang="de-AT" altLang="en-US" sz="1200" b="1" dirty="0">
                <a:solidFill>
                  <a:schemeClr val="accent2"/>
                </a:solidFill>
                <a:latin typeface="Georgia" panose="02040502050405020303" pitchFamily="18" charset="0"/>
              </a:rPr>
              <a:t>Dr. Asif Sohail</a:t>
            </a:r>
          </a:p>
          <a:p>
            <a:pPr eaLnBrk="1" hangingPunct="1">
              <a:buFontTx/>
              <a:buNone/>
            </a:pPr>
            <a:r>
              <a:rPr lang="de-AT" altLang="en-US" sz="1200" b="1" dirty="0">
                <a:solidFill>
                  <a:srgbClr val="0000FF"/>
                </a:solidFill>
                <a:latin typeface="Georgia" panose="02040502050405020303" pitchFamily="18" charset="0"/>
              </a:rPr>
              <a:t>			</a:t>
            </a:r>
          </a:p>
          <a:p>
            <a:pPr eaLnBrk="1" hangingPunct="1">
              <a:buFontTx/>
              <a:buNone/>
            </a:pPr>
            <a:r>
              <a:rPr lang="de-AT" altLang="en-US" sz="1200" b="1" dirty="0">
                <a:solidFill>
                  <a:srgbClr val="0000FF"/>
                </a:solidFill>
                <a:latin typeface="Georgia" panose="02040502050405020303" pitchFamily="18" charset="0"/>
              </a:rPr>
              <a:t>			</a:t>
            </a:r>
            <a:r>
              <a:rPr lang="de-AT" altLang="en-US" sz="1200" b="1" dirty="0">
                <a:solidFill>
                  <a:srgbClr val="800000"/>
                </a:solidFill>
                <a:latin typeface="Georgia" panose="02040502050405020303" pitchFamily="18" charset="0"/>
              </a:rPr>
              <a:t>Assistant Professor</a:t>
            </a:r>
            <a:endParaRPr lang="de-AT" altLang="en-US" sz="1200" dirty="0">
              <a:solidFill>
                <a:srgbClr val="800000"/>
              </a:solidFill>
              <a:latin typeface="Georgia" panose="02040502050405020303" pitchFamily="18" charset="0"/>
            </a:endParaRPr>
          </a:p>
          <a:p>
            <a:pPr eaLnBrk="1" hangingPunct="1">
              <a:buFontTx/>
              <a:buNone/>
            </a:pPr>
            <a:r>
              <a:rPr lang="de-AT" altLang="en-US" sz="1200" b="1" dirty="0">
                <a:solidFill>
                  <a:srgbClr val="0000FF"/>
                </a:solidFill>
                <a:latin typeface="Georgia" panose="02040502050405020303" pitchFamily="18" charset="0"/>
              </a:rPr>
              <a:t>			</a:t>
            </a:r>
            <a:r>
              <a:rPr lang="en-US" altLang="en-US" sz="1200" dirty="0">
                <a:solidFill>
                  <a:srgbClr val="0000FF"/>
                </a:solidFill>
                <a:latin typeface="Georgia" panose="02040502050405020303" pitchFamily="18" charset="0"/>
              </a:rPr>
              <a:t>Department of Information Technology,</a:t>
            </a:r>
          </a:p>
          <a:p>
            <a:pPr eaLnBrk="1" hangingPunct="1">
              <a:buFontTx/>
              <a:buNone/>
            </a:pPr>
            <a:r>
              <a:rPr lang="en-US" altLang="en-US" sz="1200" dirty="0">
                <a:solidFill>
                  <a:srgbClr val="0000FF"/>
                </a:solidFill>
                <a:latin typeface="Georgia" panose="02040502050405020303" pitchFamily="18" charset="0"/>
              </a:rPr>
              <a:t>			Faculty of Computing and Information Technology (FCIT)</a:t>
            </a:r>
          </a:p>
          <a:p>
            <a:pPr eaLnBrk="1" hangingPunct="1">
              <a:buFontTx/>
              <a:buNone/>
            </a:pPr>
            <a:r>
              <a:rPr lang="en-US" altLang="en-US" sz="1200" dirty="0">
                <a:solidFill>
                  <a:srgbClr val="0000FF"/>
                </a:solidFill>
                <a:latin typeface="Georgia" panose="02040502050405020303" pitchFamily="18" charset="0"/>
              </a:rPr>
              <a:t>			University of the Punjab, Lahore, Pakistan</a:t>
            </a:r>
            <a:endParaRPr lang="de-AT" altLang="en-US" sz="1200" dirty="0">
              <a:solidFill>
                <a:srgbClr val="0000FF"/>
              </a:solidFill>
              <a:latin typeface="Georgia" panose="02040502050405020303" pitchFamily="18" charset="0"/>
            </a:endParaRPr>
          </a:p>
          <a:p>
            <a:pPr eaLnBrk="1" hangingPunct="1">
              <a:buFontTx/>
              <a:buNone/>
            </a:pPr>
            <a:r>
              <a:rPr lang="de-AT" altLang="en-US" sz="1200" dirty="0">
                <a:solidFill>
                  <a:srgbClr val="0000FF"/>
                </a:solidFill>
                <a:latin typeface="Georgia" panose="02040502050405020303" pitchFamily="18" charset="0"/>
              </a:rPr>
              <a:t>			Tel:                  +92-(0)42-111-923-923    Ext. </a:t>
            </a:r>
            <a:r>
              <a:rPr lang="de-AT" altLang="en-US" sz="1200" dirty="0">
                <a:solidFill>
                  <a:srgbClr val="0000FF"/>
                </a:solidFill>
                <a:latin typeface="Times New Roman" panose="02020603050405020304" pitchFamily="18" charset="0"/>
              </a:rPr>
              <a:t>154</a:t>
            </a:r>
          </a:p>
          <a:p>
            <a:pPr eaLnBrk="1" hangingPunct="1">
              <a:buFontTx/>
              <a:buNone/>
            </a:pPr>
            <a:r>
              <a:rPr lang="de-AT" altLang="en-US" sz="1200" dirty="0">
                <a:solidFill>
                  <a:srgbClr val="0000FF"/>
                </a:solidFill>
                <a:latin typeface="Georgia" panose="02040502050405020303" pitchFamily="18" charset="0"/>
              </a:rPr>
              <a:t>			E-mail:           asif@pucit.edu.pk</a:t>
            </a:r>
          </a:p>
          <a:p>
            <a:pPr eaLnBrk="1" hangingPunct="1"/>
            <a:endParaRPr lang="en-US" altLang="en-US" sz="1200" dirty="0">
              <a:solidFill>
                <a:srgbClr val="0000FF"/>
              </a:solidFill>
              <a:latin typeface="Georgia" panose="02040502050405020303" pitchFamily="18" charset="0"/>
            </a:endParaRPr>
          </a:p>
        </p:txBody>
      </p:sp>
      <p:pic>
        <p:nvPicPr>
          <p:cNvPr id="54277" name="Picture 10">
            <a:extLst>
              <a:ext uri="{FF2B5EF4-FFF2-40B4-BE49-F238E27FC236}">
                <a16:creationId xmlns:a16="http://schemas.microsoft.com/office/drawing/2014/main" id="{47E1C39C-5778-3172-4FE1-AF5531DC55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7625" y="0"/>
            <a:ext cx="8032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8" name="Picture 12">
            <a:extLst>
              <a:ext uri="{FF2B5EF4-FFF2-40B4-BE49-F238E27FC236}">
                <a16:creationId xmlns:a16="http://schemas.microsoft.com/office/drawing/2014/main" id="{8C4A5DA0-3282-447D-F483-617E6A1E68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8038" y="0"/>
            <a:ext cx="9556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tandarddesign">
  <a:themeElements>
    <a:clrScheme name="Standard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Standard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tandard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tandard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tandard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tandard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tandard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tandard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tandard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themeOverride>
</file>

<file path=ppt/theme/themeOverride2.xml><?xml version="1.0" encoding="utf-8"?>
<a:themeOverride xmlns:a="http://schemas.openxmlformats.org/drawingml/2006/main">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themeOverride>
</file>

<file path=docProps/app.xml><?xml version="1.0" encoding="utf-8"?>
<Properties xmlns="http://schemas.openxmlformats.org/officeDocument/2006/extended-properties" xmlns:vt="http://schemas.openxmlformats.org/officeDocument/2006/docPropsVTypes">
  <Template>Overload Protection</Template>
  <TotalTime>14672</TotalTime>
  <Words>3673</Words>
  <Application>Microsoft Office PowerPoint</Application>
  <PresentationFormat>On-screen Show (4:3)</PresentationFormat>
  <Paragraphs>571</Paragraphs>
  <Slides>26</Slides>
  <Notes>18</Notes>
  <HiddenSlides>0</HiddenSlides>
  <MMClips>0</MMClips>
  <ScaleCrop>false</ScaleCrop>
  <HeadingPairs>
    <vt:vector size="8" baseType="variant">
      <vt:variant>
        <vt:lpstr>Fonts Used</vt:lpstr>
      </vt:variant>
      <vt:variant>
        <vt:i4>12</vt:i4>
      </vt:variant>
      <vt:variant>
        <vt:lpstr>Theme</vt:lpstr>
      </vt:variant>
      <vt:variant>
        <vt:i4>2</vt:i4>
      </vt:variant>
      <vt:variant>
        <vt:lpstr>Embedded OLE Servers</vt:lpstr>
      </vt:variant>
      <vt:variant>
        <vt:i4>1</vt:i4>
      </vt:variant>
      <vt:variant>
        <vt:lpstr>Slide Titles</vt:lpstr>
      </vt:variant>
      <vt:variant>
        <vt:i4>26</vt:i4>
      </vt:variant>
    </vt:vector>
  </HeadingPairs>
  <TitlesOfParts>
    <vt:vector size="41" baseType="lpstr">
      <vt:lpstr>Arial</vt:lpstr>
      <vt:lpstr>Arial Black</vt:lpstr>
      <vt:lpstr>Cambria</vt:lpstr>
      <vt:lpstr>Courier New</vt:lpstr>
      <vt:lpstr>Franklin Gothic Book</vt:lpstr>
      <vt:lpstr>Georgia</vt:lpstr>
      <vt:lpstr>Perpetua</vt:lpstr>
      <vt:lpstr>Tahoma</vt:lpstr>
      <vt:lpstr>Times</vt:lpstr>
      <vt:lpstr>Times New Roman</vt:lpstr>
      <vt:lpstr>Wingdings</vt:lpstr>
      <vt:lpstr>Wingdings 2</vt:lpstr>
      <vt:lpstr>Standarddesign</vt:lpstr>
      <vt:lpstr>Equity</vt:lpstr>
      <vt:lpstr>Document</vt:lpstr>
      <vt:lpstr>CC-215-L Database Systems Lab</vt:lpstr>
      <vt:lpstr>Limiting Rows Using a Selection</vt:lpstr>
      <vt:lpstr>  Limiting Rows Using a Selection</vt:lpstr>
      <vt:lpstr>  Limiting Rows Using a Selection</vt:lpstr>
      <vt:lpstr>Objectives</vt:lpstr>
      <vt:lpstr>Logical Operators</vt:lpstr>
      <vt:lpstr>Using the AND Operator</vt:lpstr>
      <vt:lpstr>Using the OR Operator</vt:lpstr>
      <vt:lpstr>Rules of Precedence</vt:lpstr>
      <vt:lpstr>Rules of Precedence</vt:lpstr>
      <vt:lpstr>Rules of Precedence</vt:lpstr>
      <vt:lpstr>Pseudo Columns</vt:lpstr>
      <vt:lpstr>The DUAL Table</vt:lpstr>
      <vt:lpstr>Other Comparison Operators</vt:lpstr>
      <vt:lpstr>BETWEEN Operator</vt:lpstr>
      <vt:lpstr>IN Operator</vt:lpstr>
      <vt:lpstr>LIKE Operator</vt:lpstr>
      <vt:lpstr>LIKE Operator</vt:lpstr>
      <vt:lpstr>IS NULL Operator</vt:lpstr>
      <vt:lpstr>Rules of Precedence</vt:lpstr>
      <vt:lpstr>Regular Expression</vt:lpstr>
      <vt:lpstr>Regular Expression</vt:lpstr>
      <vt:lpstr>Regular Expression</vt:lpstr>
      <vt:lpstr>Regular Expression</vt:lpstr>
      <vt:lpstr>Summary</vt:lpstr>
      <vt:lpstr> Thank you for your attention.</vt:lpstr>
    </vt:vector>
  </TitlesOfParts>
  <Company>TU - Wien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Analytical Model for Performance Measurement of Queueing Systems</dc:title>
  <dc:creator>ssarwar</dc:creator>
  <cp:lastModifiedBy>Dr.Asif Sohail</cp:lastModifiedBy>
  <cp:revision>689</cp:revision>
  <dcterms:created xsi:type="dcterms:W3CDTF">2006-05-17T12:38:56Z</dcterms:created>
  <dcterms:modified xsi:type="dcterms:W3CDTF">2025-09-22T06:10:52Z</dcterms:modified>
</cp:coreProperties>
</file>