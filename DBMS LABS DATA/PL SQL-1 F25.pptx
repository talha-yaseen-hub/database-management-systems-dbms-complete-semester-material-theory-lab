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0"/>
  </p:notesMasterIdLst>
  <p:handoutMasterIdLst>
    <p:handoutMasterId r:id="rId31"/>
  </p:handoutMasterIdLst>
  <p:sldIdLst>
    <p:sldId id="646" r:id="rId2"/>
    <p:sldId id="666" r:id="rId3"/>
    <p:sldId id="667" r:id="rId4"/>
    <p:sldId id="668" r:id="rId5"/>
    <p:sldId id="669" r:id="rId6"/>
    <p:sldId id="670" r:id="rId7"/>
    <p:sldId id="671" r:id="rId8"/>
    <p:sldId id="672" r:id="rId9"/>
    <p:sldId id="673" r:id="rId10"/>
    <p:sldId id="674" r:id="rId11"/>
    <p:sldId id="675" r:id="rId12"/>
    <p:sldId id="676" r:id="rId13"/>
    <p:sldId id="677" r:id="rId14"/>
    <p:sldId id="678" r:id="rId15"/>
    <p:sldId id="679" r:id="rId16"/>
    <p:sldId id="680" r:id="rId17"/>
    <p:sldId id="681" r:id="rId18"/>
    <p:sldId id="682" r:id="rId19"/>
    <p:sldId id="683" r:id="rId20"/>
    <p:sldId id="684" r:id="rId21"/>
    <p:sldId id="685" r:id="rId22"/>
    <p:sldId id="686" r:id="rId23"/>
    <p:sldId id="687" r:id="rId24"/>
    <p:sldId id="688" r:id="rId25"/>
    <p:sldId id="689" r:id="rId26"/>
    <p:sldId id="690" r:id="rId27"/>
    <p:sldId id="692" r:id="rId28"/>
    <p:sldId id="691" r:id="rId29"/>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FFCC"/>
    <a:srgbClr val="800000"/>
    <a:srgbClr val="006600"/>
    <a:srgbClr val="FFFF66"/>
    <a:srgbClr val="00FF00"/>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25" autoAdjust="0"/>
    <p:restoredTop sz="85572" autoAdjust="0"/>
  </p:normalViewPr>
  <p:slideViewPr>
    <p:cSldViewPr>
      <p:cViewPr varScale="1">
        <p:scale>
          <a:sx n="83" d="100"/>
          <a:sy n="83" d="100"/>
        </p:scale>
        <p:origin x="113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02F477A5-5661-5FBE-BB07-062BF424A59B}"/>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B42F11A0-70EE-DDBA-4671-D6E179E8F1D6}"/>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D9FC4373-5DF4-9379-8021-9DF2FBE6E00D}"/>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92806697-4EB6-9B8F-09E3-0634EC0DE22A}"/>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AA0D3524-2ACB-415C-B11B-554ECEF54BAD}"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2F74CC8-9A0E-2902-B5CA-AE366D5E950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A3B06A95-C772-A6A1-A2B1-11DE1D1E5CE6}"/>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CE821697-001D-D466-BB5B-2AAA1091DC37}"/>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B7CE5B23-5302-A24E-F694-85612F5CFE05}"/>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0C16B944-E57A-F792-7A14-86B012A65708}"/>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46118ACA-C059-97A8-C410-9C83FE7B28F6}"/>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50DA4548-D87A-4C5A-9D76-73CDFE9B1D28}"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10153464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922168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346259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38321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1544875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743497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3075348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934390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165165629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11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Introduction to PL / SQL</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5E179-0397-9338-F236-BA3018E9A74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7AE8CD6-ECD8-5047-0900-F1C12A0C6A0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46A5DFDB-7825-1D98-42A0-9F06C178213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A7133A55-FA8A-5831-2C3E-649E70318C1D}"/>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PL/SQL stands for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Procedural Language/SQL.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indent="-285750" algn="just">
              <a:spcBef>
                <a:spcPts val="300"/>
              </a:spcBef>
              <a:buClr>
                <a:srgbClr val="D34817"/>
              </a:buClr>
              <a:buSzPct val="50000"/>
              <a:buFont typeface="Wingdings" panose="05000000000000000000" pitchFamily="2" charset="2"/>
              <a:buChar char="l"/>
              <a:defRPr/>
            </a:pP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PL/SQL is not case sensitive.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PL/SQL extends SQL by adding constructs found in procedural languages, resulting in a structural language that is more powerful than SQL.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basic unit in PL/SQL is a block. All PL/SQL programs are made up of blocks, which can be nested within each other.</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block consists of the following three sections: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C0F75E60-D98F-CDB3-FE5A-CEFA1C969E8D}"/>
              </a:ext>
            </a:extLst>
          </p:cNvPr>
          <p:cNvSpPr>
            <a:spLocks noChangeArrowheads="1"/>
          </p:cNvSpPr>
          <p:nvPr/>
        </p:nvSpPr>
        <p:spPr bwMode="blackWhite">
          <a:xfrm>
            <a:off x="470249" y="3933056"/>
            <a:ext cx="8494239" cy="27351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buFontTx/>
              <a:buNone/>
              <a:defRPr/>
            </a:pPr>
            <a:r>
              <a:rPr lang="en-US" b="1" dirty="0">
                <a:solidFill>
                  <a:srgbClr val="FF0000"/>
                </a:solidFill>
                <a:latin typeface="Courier New" pitchFamily="49" charset="0"/>
                <a:cs typeface="Courier New" pitchFamily="49" charset="0"/>
              </a:rPr>
              <a:t>DECLARE</a:t>
            </a:r>
            <a:r>
              <a:rPr lang="en-US" b="1" dirty="0">
                <a:solidFill>
                  <a:schemeClr val="accent2"/>
                </a:solidFill>
                <a:latin typeface="Courier New" pitchFamily="49" charset="0"/>
                <a:cs typeface="Courier New" pitchFamily="49" charset="0"/>
              </a:rPr>
              <a:t> </a:t>
            </a:r>
            <a:r>
              <a:rPr lang="en-US" dirty="0">
                <a:latin typeface="Courier New" pitchFamily="49" charset="0"/>
                <a:cs typeface="Courier New" pitchFamily="49" charset="0"/>
              </a:rPr>
              <a:t>  /* </a:t>
            </a:r>
            <a:r>
              <a:rPr lang="en-US" b="1" dirty="0">
                <a:solidFill>
                  <a:srgbClr val="0000FF"/>
                </a:solidFill>
                <a:latin typeface="Courier New" pitchFamily="49" charset="0"/>
                <a:cs typeface="Courier New" pitchFamily="49" charset="0"/>
              </a:rPr>
              <a:t>Declarative section</a:t>
            </a:r>
            <a:r>
              <a:rPr lang="en-US" dirty="0">
                <a:latin typeface="Courier New" pitchFamily="49" charset="0"/>
                <a:cs typeface="Courier New" pitchFamily="49" charset="0"/>
              </a:rPr>
              <a:t> - </a:t>
            </a:r>
            <a:r>
              <a:rPr lang="en-US" dirty="0">
                <a:solidFill>
                  <a:srgbClr val="FF0000"/>
                </a:solidFill>
                <a:latin typeface="Courier New" pitchFamily="49" charset="0"/>
                <a:cs typeface="Courier New" pitchFamily="49" charset="0"/>
              </a:rPr>
              <a:t>Optional</a:t>
            </a:r>
            <a:r>
              <a:rPr lang="en-US" dirty="0">
                <a:latin typeface="Courier New" pitchFamily="49" charset="0"/>
                <a:cs typeface="Courier New" pitchFamily="49" charset="0"/>
              </a:rPr>
              <a:t>*/</a:t>
            </a:r>
          </a:p>
          <a:p>
            <a:pPr>
              <a:buFontTx/>
              <a:buNone/>
              <a:defRPr/>
            </a:pPr>
            <a:r>
              <a:rPr lang="en-US" b="1" dirty="0">
                <a:solidFill>
                  <a:srgbClr val="FF0000"/>
                </a:solidFill>
                <a:latin typeface="Courier New" pitchFamily="49" charset="0"/>
                <a:cs typeface="Courier New" pitchFamily="49" charset="0"/>
              </a:rPr>
              <a:t>BEGIN</a:t>
            </a:r>
            <a:r>
              <a:rPr lang="en-US" b="1" dirty="0">
                <a:solidFill>
                  <a:schemeClr val="accent2"/>
                </a:solidFill>
                <a:latin typeface="Courier New" pitchFamily="49" charset="0"/>
                <a:cs typeface="Courier New" pitchFamily="49" charset="0"/>
              </a:rPr>
              <a:t> </a:t>
            </a:r>
            <a:r>
              <a:rPr lang="en-US" dirty="0">
                <a:latin typeface="Courier New" pitchFamily="49" charset="0"/>
                <a:cs typeface="Courier New" pitchFamily="49" charset="0"/>
              </a:rPr>
              <a:t>    /* </a:t>
            </a:r>
            <a:r>
              <a:rPr lang="en-US" b="1" dirty="0">
                <a:solidFill>
                  <a:srgbClr val="0000FF"/>
                </a:solidFill>
                <a:latin typeface="Courier New" pitchFamily="49" charset="0"/>
                <a:cs typeface="Courier New" pitchFamily="49" charset="0"/>
              </a:rPr>
              <a:t>Executable section:</a:t>
            </a:r>
            <a:r>
              <a:rPr lang="en-US" dirty="0">
                <a:latin typeface="Courier New" pitchFamily="49" charset="0"/>
                <a:cs typeface="Courier New" pitchFamily="49" charset="0"/>
              </a:rPr>
              <a:t> procedural </a:t>
            </a:r>
          </a:p>
          <a:p>
            <a:pPr>
              <a:buFontTx/>
              <a:buNone/>
              <a:defRPr/>
            </a:pPr>
            <a:r>
              <a:rPr lang="en-US" dirty="0">
                <a:latin typeface="Courier New" pitchFamily="49" charset="0"/>
                <a:cs typeface="Courier New" pitchFamily="49" charset="0"/>
              </a:rPr>
              <a:t>and SQL statements go here. This is the only </a:t>
            </a:r>
          </a:p>
          <a:p>
            <a:pPr>
              <a:buFontTx/>
              <a:buNone/>
              <a:defRPr/>
            </a:pPr>
            <a:r>
              <a:rPr lang="en-US" dirty="0">
                <a:latin typeface="Courier New" pitchFamily="49" charset="0"/>
                <a:cs typeface="Courier New" pitchFamily="49" charset="0"/>
              </a:rPr>
              <a:t>section of the block that is required. */</a:t>
            </a:r>
          </a:p>
          <a:p>
            <a:pPr>
              <a:buFontTx/>
              <a:buNone/>
              <a:defRPr/>
            </a:pPr>
            <a:r>
              <a:rPr lang="en-US" b="1" dirty="0">
                <a:solidFill>
                  <a:srgbClr val="FF0000"/>
                </a:solidFill>
                <a:latin typeface="Courier New" pitchFamily="49" charset="0"/>
                <a:cs typeface="Courier New" pitchFamily="49" charset="0"/>
              </a:rPr>
              <a:t>EXCEPTION</a:t>
            </a:r>
            <a:r>
              <a:rPr lang="en-US" b="1" dirty="0">
                <a:solidFill>
                  <a:schemeClr val="accent2"/>
                </a:solidFill>
                <a:latin typeface="Courier New" pitchFamily="49" charset="0"/>
                <a:cs typeface="Courier New" pitchFamily="49" charset="0"/>
              </a:rPr>
              <a:t> </a:t>
            </a:r>
            <a:r>
              <a:rPr lang="en-US"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Exception handling section: </a:t>
            </a:r>
            <a:r>
              <a:rPr lang="en-US" dirty="0">
                <a:latin typeface="Courier New" pitchFamily="49" charset="0"/>
                <a:cs typeface="Courier New" pitchFamily="49" charset="0"/>
              </a:rPr>
              <a:t>error </a:t>
            </a:r>
          </a:p>
          <a:p>
            <a:pPr>
              <a:buFontTx/>
              <a:buNone/>
              <a:defRPr/>
            </a:pPr>
            <a:r>
              <a:rPr lang="en-US" dirty="0">
                <a:latin typeface="Courier New" pitchFamily="49" charset="0"/>
                <a:cs typeface="Courier New" pitchFamily="49" charset="0"/>
              </a:rPr>
              <a:t>handling statements go here.</a:t>
            </a:r>
            <a:r>
              <a:rPr lang="en-US" dirty="0">
                <a:solidFill>
                  <a:srgbClr val="FF0000"/>
                </a:solidFill>
                <a:latin typeface="Courier New" pitchFamily="49" charset="0"/>
                <a:cs typeface="Courier New" pitchFamily="49" charset="0"/>
              </a:rPr>
              <a:t>(Optional)</a:t>
            </a:r>
            <a:r>
              <a:rPr lang="en-US" dirty="0">
                <a:latin typeface="Courier New" pitchFamily="49" charset="0"/>
                <a:cs typeface="Courier New" pitchFamily="49" charset="0"/>
              </a:rPr>
              <a:t>*/</a:t>
            </a:r>
          </a:p>
          <a:p>
            <a:pPr>
              <a:buFontTx/>
              <a:buNone/>
              <a:defRPr/>
            </a:pPr>
            <a:r>
              <a:rPr lang="en-US" b="1" dirty="0">
                <a:latin typeface="Courier New" pitchFamily="49" charset="0"/>
                <a:cs typeface="Courier New" pitchFamily="49" charset="0"/>
              </a:rPr>
              <a:t>END;</a:t>
            </a:r>
            <a:endPar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endParaRPr>
          </a:p>
        </p:txBody>
      </p:sp>
    </p:spTree>
    <p:extLst>
      <p:ext uri="{BB962C8B-B14F-4D97-AF65-F5344CB8AC3E}">
        <p14:creationId xmlns:p14="http://schemas.microsoft.com/office/powerpoint/2010/main" val="1751666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7E44B-2CA3-940F-D7E0-660E87CD72D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2F9C9F1-FEC2-840B-AE85-F048F4B4F0E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Coding a Block</a:t>
            </a:r>
          </a:p>
        </p:txBody>
      </p:sp>
      <p:sp>
        <p:nvSpPr>
          <p:cNvPr id="38915" name="Rectangle 3">
            <a:extLst>
              <a:ext uri="{FF2B5EF4-FFF2-40B4-BE49-F238E27FC236}">
                <a16:creationId xmlns:a16="http://schemas.microsoft.com/office/drawing/2014/main" id="{2B3ED7A6-3E00-ED91-3FF2-7866F8BD0FA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A21C070-49CC-87CA-E6A0-093F7B1FF9C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8369FEA9-46CF-DFB7-57CF-4C50F1C7761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D03B6436-E879-0005-2834-BFFAC373A1DA}"/>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SQL statements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allowed</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in a PL/SQL program DML statements such as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SELECT, INSERT, UPDATE, DELETE </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plus some transaction control.</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Data definition statements like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CREATE, DROP, or ALTER</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are not allowed.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executable section also contains constructs such as assignments, branches, loops, procedure calls, and triggers.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 style comments are used.</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7" name="Rectangle 4">
            <a:extLst>
              <a:ext uri="{FF2B5EF4-FFF2-40B4-BE49-F238E27FC236}">
                <a16:creationId xmlns:a16="http://schemas.microsoft.com/office/drawing/2014/main" id="{82F1D907-EBCE-0C02-0780-2D733135F073}"/>
              </a:ext>
            </a:extLst>
          </p:cNvPr>
          <p:cNvSpPr>
            <a:spLocks noChangeArrowheads="1"/>
          </p:cNvSpPr>
          <p:nvPr/>
        </p:nvSpPr>
        <p:spPr bwMode="blackWhite">
          <a:xfrm>
            <a:off x="662360" y="3861049"/>
            <a:ext cx="7920880" cy="10081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lvl="0" algn="just">
              <a:spcBef>
                <a:spcPts val="300"/>
              </a:spcBef>
              <a:buClr>
                <a:srgbClr val="D34817"/>
              </a:buClr>
              <a:buSzPct val="50000"/>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 This is a single line comment</a:t>
            </a:r>
          </a:p>
          <a:p>
            <a:pPr lvl="0" algn="just">
              <a:spcBef>
                <a:spcPts val="300"/>
              </a:spcBef>
              <a:buClr>
                <a:srgbClr val="D34817"/>
              </a:buClr>
              <a:buSzPct val="50000"/>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 This is a multiline comment*/</a:t>
            </a:r>
          </a:p>
        </p:txBody>
      </p:sp>
    </p:spTree>
    <p:extLst>
      <p:ext uri="{BB962C8B-B14F-4D97-AF65-F5344CB8AC3E}">
        <p14:creationId xmlns:p14="http://schemas.microsoft.com/office/powerpoint/2010/main" val="417522165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6C8D2-5974-8473-59CB-FE5B83E7598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1D89E91-7318-2FB8-8D8E-9B5BB20DDFB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Variables</a:t>
            </a:r>
          </a:p>
        </p:txBody>
      </p:sp>
      <p:sp>
        <p:nvSpPr>
          <p:cNvPr id="38915" name="Rectangle 3">
            <a:extLst>
              <a:ext uri="{FF2B5EF4-FFF2-40B4-BE49-F238E27FC236}">
                <a16:creationId xmlns:a16="http://schemas.microsoft.com/office/drawing/2014/main" id="{3538D7B4-5E88-DFCF-0A7E-DE866602E65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F4366FF-58A5-7FC1-E7BC-7E57B2376B9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14356D0-18A6-4602-46B6-0588C715541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6D8F75CC-DF5D-5720-6CD0-401242FC9E08}"/>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Information is transmitted between a PL/SQL program and the database through variables.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Every variable has a specific type associated with it.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Types in PL/SQL can be tricky. In many cases, a PL/SQL variable will be used to manipulate data stored in an existing relation. In this case, it is essential that the variable have the same type as the relation column. If there is any type mismatch, variable assignments and comparisons may not work the way you expect.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To be safe, instead of hard coding the type of a variable, you should use the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%TYPE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operator.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For example: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variable id is assigned same datatype(size), as of datatype(size) of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empno</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in relation emp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(anchored type).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Rectangle 4">
            <a:extLst>
              <a:ext uri="{FF2B5EF4-FFF2-40B4-BE49-F238E27FC236}">
                <a16:creationId xmlns:a16="http://schemas.microsoft.com/office/drawing/2014/main" id="{E599EC00-DDFC-A4F0-E337-E0B7E9A033E7}"/>
              </a:ext>
            </a:extLst>
          </p:cNvPr>
          <p:cNvSpPr>
            <a:spLocks noChangeArrowheads="1"/>
          </p:cNvSpPr>
          <p:nvPr/>
        </p:nvSpPr>
        <p:spPr bwMode="blackWhite">
          <a:xfrm>
            <a:off x="2627784" y="5209840"/>
            <a:ext cx="4176464" cy="38856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id </a:t>
            </a:r>
            <a:r>
              <a:rPr lang="en-US" altLang="en-US" b="1" dirty="0" err="1">
                <a:solidFill>
                  <a:srgbClr val="FF0000"/>
                </a:solidFill>
                <a:latin typeface="Courier New" panose="02070309020205020404" pitchFamily="49" charset="0"/>
                <a:ea typeface="Cambria" panose="02040503050406030204" pitchFamily="18" charset="0"/>
                <a:cs typeface="Courier New" panose="02070309020205020404" pitchFamily="49" charset="0"/>
              </a:rPr>
              <a:t>emp.empno%TYPE</a:t>
            </a: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a:t>
            </a:r>
          </a:p>
        </p:txBody>
      </p:sp>
    </p:spTree>
    <p:extLst>
      <p:ext uri="{BB962C8B-B14F-4D97-AF65-F5344CB8AC3E}">
        <p14:creationId xmlns:p14="http://schemas.microsoft.com/office/powerpoint/2010/main" val="137321147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31F4-FF27-2DEF-4495-9C9B4A00D3F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4AF6743-34C5-8AE0-3EA0-98086BC7A8EB}"/>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Initializing a Variable</a:t>
            </a:r>
          </a:p>
        </p:txBody>
      </p:sp>
      <p:sp>
        <p:nvSpPr>
          <p:cNvPr id="38915" name="Rectangle 3">
            <a:extLst>
              <a:ext uri="{FF2B5EF4-FFF2-40B4-BE49-F238E27FC236}">
                <a16:creationId xmlns:a16="http://schemas.microsoft.com/office/drawing/2014/main" id="{D69819B3-623C-F81E-38AC-97DDD1F41B2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747B024-326D-33D8-EB36-6CFAD595AA1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999227E5-2312-3185-E5B9-445F3A96107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0A79091E-8004-10C3-9961-9186C8E5361F}"/>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initial value of any variable, regardless of its type, is NULL.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We can assign values to variables, using the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operator or using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DEFAULT</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keyword.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assignment can occur either immediately after the type of the variable is declared, or anywhere in the executable portion of the program.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Example: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Rectangle 4">
            <a:extLst>
              <a:ext uri="{FF2B5EF4-FFF2-40B4-BE49-F238E27FC236}">
                <a16:creationId xmlns:a16="http://schemas.microsoft.com/office/drawing/2014/main" id="{ED8FDA21-76C6-6ED3-675D-0DBCFE6AD3D0}"/>
              </a:ext>
            </a:extLst>
          </p:cNvPr>
          <p:cNvSpPr>
            <a:spLocks noChangeArrowheads="1"/>
          </p:cNvSpPr>
          <p:nvPr/>
        </p:nvSpPr>
        <p:spPr bwMode="blackWhite">
          <a:xfrm>
            <a:off x="611560" y="3952425"/>
            <a:ext cx="7920880" cy="134878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X NUMBER := 10;</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Greetings varchar2(10) </a:t>
            </a: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DEFAULT</a:t>
            </a: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'Welcome';</a:t>
            </a:r>
          </a:p>
        </p:txBody>
      </p:sp>
    </p:spTree>
    <p:extLst>
      <p:ext uri="{BB962C8B-B14F-4D97-AF65-F5344CB8AC3E}">
        <p14:creationId xmlns:p14="http://schemas.microsoft.com/office/powerpoint/2010/main" val="36057213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83FDD-7427-2079-8A8F-1A2A7394471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84A93BF-5366-4B4D-F38A-7A92EFF0B398}"/>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Sample Programs</a:t>
            </a:r>
          </a:p>
        </p:txBody>
      </p:sp>
      <p:sp>
        <p:nvSpPr>
          <p:cNvPr id="38915" name="Rectangle 3">
            <a:extLst>
              <a:ext uri="{FF2B5EF4-FFF2-40B4-BE49-F238E27FC236}">
                <a16:creationId xmlns:a16="http://schemas.microsoft.com/office/drawing/2014/main" id="{9D6CAA34-F9C1-38CE-6A44-39DA125A95F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91E9E8C-59D4-DD05-4DA6-BD0C7589F66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377C1E1F-7353-AE05-ACA6-576A363A7C7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505C9673-C5D8-1B41-B30D-55991A2A93D9}"/>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Type SET SERVEROUTPUT ON at SQL prompt before writing the program, so that the output of the program can be seen at the display.</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Display a message on the screen</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Variables &amp; Constants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Rectangle 4">
            <a:extLst>
              <a:ext uri="{FF2B5EF4-FFF2-40B4-BE49-F238E27FC236}">
                <a16:creationId xmlns:a16="http://schemas.microsoft.com/office/drawing/2014/main" id="{A90A4C93-D392-6D05-1638-9008239B241C}"/>
              </a:ext>
            </a:extLst>
          </p:cNvPr>
          <p:cNvSpPr>
            <a:spLocks noChangeArrowheads="1"/>
          </p:cNvSpPr>
          <p:nvPr/>
        </p:nvSpPr>
        <p:spPr bwMode="blackWhite">
          <a:xfrm>
            <a:off x="683568" y="2248347"/>
            <a:ext cx="7920880" cy="1180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DBMS_OUTPUT.PUT_LINE ('Hello World');</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
        <p:nvSpPr>
          <p:cNvPr id="4" name="Rectangle 4">
            <a:extLst>
              <a:ext uri="{FF2B5EF4-FFF2-40B4-BE49-F238E27FC236}">
                <a16:creationId xmlns:a16="http://schemas.microsoft.com/office/drawing/2014/main" id="{C1FEF2EE-916B-DE52-5908-778B53475CBF}"/>
              </a:ext>
            </a:extLst>
          </p:cNvPr>
          <p:cNvSpPr>
            <a:spLocks noChangeArrowheads="1"/>
          </p:cNvSpPr>
          <p:nvPr/>
        </p:nvSpPr>
        <p:spPr bwMode="blackWhite">
          <a:xfrm>
            <a:off x="611560" y="3928867"/>
            <a:ext cx="7489825" cy="288450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var NUMBER := 2;</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const CONSTANT NUMBER := 3;</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var := var + const;</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DBMS_OUTPUT.PUT_LINE (var);</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386026408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24F48-57C5-C06F-E2C2-D04145BE4E4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8CE3DC0-B7BB-243D-2D54-9D7B4F6738F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Sample Programs</a:t>
            </a:r>
          </a:p>
        </p:txBody>
      </p:sp>
      <p:sp>
        <p:nvSpPr>
          <p:cNvPr id="38915" name="Rectangle 3">
            <a:extLst>
              <a:ext uri="{FF2B5EF4-FFF2-40B4-BE49-F238E27FC236}">
                <a16:creationId xmlns:a16="http://schemas.microsoft.com/office/drawing/2014/main" id="{924EE188-8C02-7284-5CD3-175BD52C275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3FB0B43-F185-E5D3-F589-B5581A60A17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B7B60184-B1A7-B16B-B392-86B4DFFB37F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8479E3BC-C002-2C93-4959-163AE6102632}"/>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To input values</a:t>
            </a:r>
          </a:p>
        </p:txBody>
      </p:sp>
      <p:sp>
        <p:nvSpPr>
          <p:cNvPr id="3" name="Rectangle 4">
            <a:extLst>
              <a:ext uri="{FF2B5EF4-FFF2-40B4-BE49-F238E27FC236}">
                <a16:creationId xmlns:a16="http://schemas.microsoft.com/office/drawing/2014/main" id="{75B30CD6-806C-BD11-4322-1D947A855B13}"/>
              </a:ext>
            </a:extLst>
          </p:cNvPr>
          <p:cNvSpPr>
            <a:spLocks noChangeArrowheads="1"/>
          </p:cNvSpPr>
          <p:nvPr/>
        </p:nvSpPr>
        <p:spPr bwMode="blackWhite">
          <a:xfrm>
            <a:off x="539552" y="1268760"/>
            <a:ext cx="8204697" cy="396044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NUM  NUMBER;</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CH CHAR;</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NUM := &amp;NUM;		</a:t>
            </a: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 OR NUM := :NUM;</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CH := '&amp;CH’;		</a:t>
            </a: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 OR CH := ‘:CH’;</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DBMS_OUTPUT.PUT_LINE ('NUM = ' || NUM);</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DBMS_OUTPUT.PUT_LINE ('CH = ' || CH);</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13323798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50C32-D175-E714-90AC-0DDDC23B184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9969028-2FC2-17F1-A394-3FB6B37C1CC5}"/>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Sample Programs</a:t>
            </a:r>
          </a:p>
        </p:txBody>
      </p:sp>
      <p:sp>
        <p:nvSpPr>
          <p:cNvPr id="38915" name="Rectangle 3">
            <a:extLst>
              <a:ext uri="{FF2B5EF4-FFF2-40B4-BE49-F238E27FC236}">
                <a16:creationId xmlns:a16="http://schemas.microsoft.com/office/drawing/2014/main" id="{A42A1460-7BD3-A618-CD1A-4005ED2192A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9DE7309C-E652-644B-6F4E-AD4F8D72948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A70E63BB-0DAC-B224-F19B-050D9F4AB7F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1E1C6660-083A-E7C4-3419-15BCBFB4BDBD}"/>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Insert a record in a table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Suppose we have table named temp with 2 attribute x number and y char.</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342900" indent="-342900" algn="just">
              <a:spcBef>
                <a:spcPts val="300"/>
              </a:spcBef>
              <a:buClr>
                <a:srgbClr val="D34817"/>
              </a:buClr>
              <a:buSzPct val="50000"/>
              <a:defRPr/>
            </a:pPr>
            <a:r>
              <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Insert a record in a table using variables</a:t>
            </a: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Rectangle 4">
            <a:extLst>
              <a:ext uri="{FF2B5EF4-FFF2-40B4-BE49-F238E27FC236}">
                <a16:creationId xmlns:a16="http://schemas.microsoft.com/office/drawing/2014/main" id="{F98D4BBD-F0D6-36B6-E5F9-E9B15CA7458A}"/>
              </a:ext>
            </a:extLst>
          </p:cNvPr>
          <p:cNvSpPr>
            <a:spLocks noChangeArrowheads="1"/>
          </p:cNvSpPr>
          <p:nvPr/>
        </p:nvSpPr>
        <p:spPr bwMode="blackWhite">
          <a:xfrm>
            <a:off x="611560" y="1888307"/>
            <a:ext cx="7489825" cy="1180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INSERT INTO TEMP VALUES(1,’A’); </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
        <p:nvSpPr>
          <p:cNvPr id="4" name="Rectangle 4">
            <a:extLst>
              <a:ext uri="{FF2B5EF4-FFF2-40B4-BE49-F238E27FC236}">
                <a16:creationId xmlns:a16="http://schemas.microsoft.com/office/drawing/2014/main" id="{828A952B-9AD3-A051-AB7C-EBC1F0AF007A}"/>
              </a:ext>
            </a:extLst>
          </p:cNvPr>
          <p:cNvSpPr>
            <a:spLocks noChangeArrowheads="1"/>
          </p:cNvSpPr>
          <p:nvPr/>
        </p:nvSpPr>
        <p:spPr bwMode="blackWhite">
          <a:xfrm>
            <a:off x="683568" y="3573016"/>
            <a:ext cx="7489825" cy="266940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NUM  NUMBER := 2;</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CH CHAR := 'B';</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INSERT INTO TEMP VALUES(NUM,CH); </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107509570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8AE6-8D6A-531D-CEC9-3EE3AB7A22E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4F07D20-AC96-C657-336D-32860D05B4AD}"/>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Operators</a:t>
            </a:r>
          </a:p>
        </p:txBody>
      </p:sp>
      <p:sp>
        <p:nvSpPr>
          <p:cNvPr id="38915" name="Rectangle 3">
            <a:extLst>
              <a:ext uri="{FF2B5EF4-FFF2-40B4-BE49-F238E27FC236}">
                <a16:creationId xmlns:a16="http://schemas.microsoft.com/office/drawing/2014/main" id="{ED22D7F8-4E71-FBB4-BAF0-F5463C006B1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AD12E0D-38D5-5163-63F5-C93F8C7855B1}"/>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D7B4515C-A516-908E-FD3D-7D4BA20C846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A77F8EC0-2E1F-1CF6-1121-DA1CAD7DBBAE}"/>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Arithmetic operators: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 -, *, / , **(exponent)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Relational operators: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 != &lt;&gt;, &lt;, &gt;, &lt;=, &gt;=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Logical operators: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AND, OR, NOT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Comparison operators: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LIKE, BETWEEN, IN, IS NULL</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0559002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771D3-C6BA-95EC-0147-FFF5E533FAA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FDF2803-F164-D0BA-B2A6-B8C2DBF6736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Sample Programs</a:t>
            </a:r>
          </a:p>
        </p:txBody>
      </p:sp>
      <p:sp>
        <p:nvSpPr>
          <p:cNvPr id="38915" name="Rectangle 3">
            <a:extLst>
              <a:ext uri="{FF2B5EF4-FFF2-40B4-BE49-F238E27FC236}">
                <a16:creationId xmlns:a16="http://schemas.microsoft.com/office/drawing/2014/main" id="{9825172C-CD98-015A-6174-4C9B0EE6B7F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0D3B8CD-0536-5937-BEC0-4F5430E0CDF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F5DF4936-CC2A-55B0-713B-F4F7E5A7091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1DB38858-838D-1F93-9FD8-18D157E5C1FA}"/>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Area of a circle</a:t>
            </a:r>
          </a:p>
        </p:txBody>
      </p:sp>
      <p:sp>
        <p:nvSpPr>
          <p:cNvPr id="3" name="Rectangle 4">
            <a:extLst>
              <a:ext uri="{FF2B5EF4-FFF2-40B4-BE49-F238E27FC236}">
                <a16:creationId xmlns:a16="http://schemas.microsoft.com/office/drawing/2014/main" id="{60B83AFC-D378-5B97-15EF-0447024CE626}"/>
              </a:ext>
            </a:extLst>
          </p:cNvPr>
          <p:cNvSpPr>
            <a:spLocks noChangeArrowheads="1"/>
          </p:cNvSpPr>
          <p:nvPr/>
        </p:nvSpPr>
        <p:spPr bwMode="blackWhite">
          <a:xfrm>
            <a:off x="356495" y="1208073"/>
            <a:ext cx="8460432" cy="408563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pi CONSTANT NUMBER := 3.14;     </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r NUMBER; </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area NUMBER;</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r:=:r;	</a:t>
            </a: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--to get radius from a user</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area := ROUND(pi*r*r,2);</a:t>
            </a:r>
          </a:p>
          <a:p>
            <a:pPr marL="274638" lvl="1" indent="0" algn="just">
              <a:spcBef>
                <a:spcPts val="300"/>
              </a:spcBef>
              <a:buClr>
                <a:srgbClr val="D34817"/>
              </a:buClr>
              <a:buSzPct val="50000"/>
              <a:buNone/>
              <a:defRPr/>
            </a:pPr>
            <a:r>
              <a:rPr lang="en-US" altLang="en-US" b="1" dirty="0">
                <a:solidFill>
                  <a:prstClr val="black"/>
                </a:solidFill>
                <a:latin typeface="Courier New" panose="02070309020205020404" pitchFamily="49" charset="0"/>
                <a:ea typeface="Cambria" panose="02040503050406030204" pitchFamily="18" charset="0"/>
                <a:cs typeface="Courier New" panose="02070309020205020404" pitchFamily="49" charset="0"/>
              </a:rPr>
              <a:t>	DBMS_OUTPUT.PUT_LINE ('Area = '||area);</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a:p>
            <a:pPr marL="285750" lvl="0" indent="-285750" algn="just">
              <a:spcBef>
                <a:spcPts val="300"/>
              </a:spcBef>
              <a:buClr>
                <a:srgbClr val="D34817"/>
              </a:buClr>
              <a:buSzPct val="50000"/>
              <a:buFont typeface="Wingdings" panose="05000000000000000000" pitchFamily="2" charset="2"/>
              <a:buChar char="l"/>
              <a:defRPr/>
            </a:pPr>
            <a:endParaRPr lang="en-US" altLang="en-US" b="1" dirty="0">
              <a:solidFill>
                <a:prstClr val="black"/>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6579521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05B07-D0AD-CBE7-F9B1-7E5BE392465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E62E3FF-8811-40E8-FFE6-37E5D2D4C87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SELECT statement in PL/SQL</a:t>
            </a:r>
          </a:p>
        </p:txBody>
      </p:sp>
      <p:sp>
        <p:nvSpPr>
          <p:cNvPr id="38915" name="Rectangle 3">
            <a:extLst>
              <a:ext uri="{FF2B5EF4-FFF2-40B4-BE49-F238E27FC236}">
                <a16:creationId xmlns:a16="http://schemas.microsoft.com/office/drawing/2014/main" id="{A6AA9FE9-A2E6-06F9-1EEA-4C5FF8159CF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0682C00-2D04-D540-05CF-CBF584BBDB51}"/>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1B3224F4-E549-1BDC-1651-4C09298B222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CDD882A3-333C-3928-5E91-7D3EEE69F008}"/>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The SELECT statement has a special form in which a single tuple is placed in variables.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After the SELECT clause, we must have an </a:t>
            </a:r>
            <a:r>
              <a:rPr lang="en-US" altLang="en-US" sz="2400" dirty="0">
                <a:solidFill>
                  <a:srgbClr val="0000FF"/>
                </a:solidFill>
                <a:latin typeface="Cambria" panose="02040503050406030204" pitchFamily="18" charset="0"/>
                <a:ea typeface="Cambria" panose="02040503050406030204" pitchFamily="18" charset="0"/>
                <a:cs typeface="Courier New" panose="02070309020205020404" pitchFamily="49" charset="0"/>
              </a:rPr>
              <a:t>INTO</a:t>
            </a: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 clause listing variables, one for each attribute in the SELECT clause, into which the components of the retrieved tuple must be placed.</a:t>
            </a: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Rectangle 4">
            <a:extLst>
              <a:ext uri="{FF2B5EF4-FFF2-40B4-BE49-F238E27FC236}">
                <a16:creationId xmlns:a16="http://schemas.microsoft.com/office/drawing/2014/main" id="{AE35C961-BD5F-F78D-EC43-6E2AC49FEEC5}"/>
              </a:ext>
            </a:extLst>
          </p:cNvPr>
          <p:cNvSpPr>
            <a:spLocks noChangeArrowheads="1"/>
          </p:cNvSpPr>
          <p:nvPr/>
        </p:nvSpPr>
        <p:spPr bwMode="blackWhite">
          <a:xfrm>
            <a:off x="776287" y="2780928"/>
            <a:ext cx="7489825" cy="324547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274638" lvl="1" indent="0"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id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emp.empno%type</a:t>
            </a:r>
            <a:r>
              <a:rPr lang="en-US" altLang="en-US" b="1" dirty="0">
                <a:latin typeface="Courier New" panose="02070309020205020404" pitchFamily="49" charset="0"/>
                <a:ea typeface="Cambria" panose="02040503050406030204" pitchFamily="18" charset="0"/>
                <a:cs typeface="Courier New" panose="02070309020205020404" pitchFamily="49" charset="0"/>
              </a:rPr>
              <a:t>;</a:t>
            </a:r>
          </a:p>
          <a:p>
            <a:pPr marL="274638" lvl="1" indent="0"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name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emp.ename%type</a:t>
            </a:r>
            <a:r>
              <a:rPr lang="en-US" altLang="en-US" b="1" dirty="0">
                <a:latin typeface="Courier New" panose="02070309020205020404" pitchFamily="49" charset="0"/>
                <a:ea typeface="Cambria" panose="02040503050406030204" pitchFamily="18" charset="0"/>
                <a:cs typeface="Courier New" panose="02070309020205020404" pitchFamily="49" charset="0"/>
              </a:rPr>
              <a:t>;</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274638" lvl="1" indent="0"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SELECT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empno</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ename</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a:solidFill>
                  <a:srgbClr val="0000FF"/>
                </a:solidFill>
                <a:latin typeface="Courier New" panose="02070309020205020404" pitchFamily="49" charset="0"/>
                <a:ea typeface="Cambria" panose="02040503050406030204" pitchFamily="18" charset="0"/>
                <a:cs typeface="Courier New" panose="02070309020205020404" pitchFamily="49" charset="0"/>
              </a:rPr>
              <a:t>INTO</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p>
          <a:p>
            <a:pPr marL="274638" lvl="1" indent="0"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id, name FROM emp </a:t>
            </a:r>
          </a:p>
          <a:p>
            <a:pPr marL="274638" lvl="1" indent="0"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WHERE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empno</a:t>
            </a:r>
            <a:r>
              <a:rPr lang="en-US" altLang="en-US" b="1" dirty="0">
                <a:latin typeface="Courier New" panose="02070309020205020404" pitchFamily="49" charset="0"/>
                <a:ea typeface="Cambria" panose="02040503050406030204" pitchFamily="18" charset="0"/>
                <a:cs typeface="Courier New" panose="02070309020205020404" pitchFamily="49" charset="0"/>
              </a:rPr>
              <a:t>=7536;</a:t>
            </a:r>
          </a:p>
          <a:p>
            <a:pPr marL="274638" lvl="1" indent="0"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9078787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1ED3-F7AC-0D5F-C095-AA4676BE6E7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97C6861-5962-6B67-1036-CF7595233B68}"/>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Record</a:t>
            </a:r>
          </a:p>
        </p:txBody>
      </p:sp>
      <p:sp>
        <p:nvSpPr>
          <p:cNvPr id="38915" name="Rectangle 3">
            <a:extLst>
              <a:ext uri="{FF2B5EF4-FFF2-40B4-BE49-F238E27FC236}">
                <a16:creationId xmlns:a16="http://schemas.microsoft.com/office/drawing/2014/main" id="{A5A81032-1AA4-EB93-5A0C-700F7604EC9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5674D141-2D7B-2D67-E798-45163CD5107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2A79AAF6-7174-24DB-D3DD-5CD257DF9AD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4">
            <a:extLst>
              <a:ext uri="{FF2B5EF4-FFF2-40B4-BE49-F238E27FC236}">
                <a16:creationId xmlns:a16="http://schemas.microsoft.com/office/drawing/2014/main" id="{A8325A72-7862-2A36-9E16-2ED5D8DB0944}"/>
              </a:ext>
            </a:extLst>
          </p:cNvPr>
          <p:cNvSpPr>
            <a:spLocks noChangeArrowheads="1"/>
          </p:cNvSpPr>
          <p:nvPr/>
        </p:nvSpPr>
        <p:spPr bwMode="blackWhite">
          <a:xfrm>
            <a:off x="323528" y="759593"/>
            <a:ext cx="8489125" cy="324547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emp_record</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err="1">
                <a:solidFill>
                  <a:srgbClr val="0000FF"/>
                </a:solidFill>
                <a:latin typeface="Courier New" panose="02070309020205020404" pitchFamily="49" charset="0"/>
                <a:ea typeface="Cambria" panose="02040503050406030204" pitchFamily="18" charset="0"/>
                <a:cs typeface="Courier New" panose="02070309020205020404" pitchFamily="49" charset="0"/>
              </a:rPr>
              <a:t>emp%rowtype</a:t>
            </a:r>
            <a:r>
              <a:rPr lang="en-US" altLang="en-US" b="1" dirty="0">
                <a:solidFill>
                  <a:srgbClr val="0000FF"/>
                </a:solidFill>
                <a:latin typeface="Courier New" panose="02070309020205020404" pitchFamily="49"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SELECT * INTO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emp_record</a:t>
            </a:r>
            <a:r>
              <a:rPr lang="en-US" altLang="en-US" b="1" dirty="0">
                <a:latin typeface="Courier New" panose="02070309020205020404" pitchFamily="49" charset="0"/>
                <a:ea typeface="Cambria" panose="02040503050406030204" pitchFamily="18" charset="0"/>
                <a:cs typeface="Courier New" panose="02070309020205020404" pitchFamily="49" charset="0"/>
              </a:rPr>
              <a:t> from emp </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where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empno</a:t>
            </a:r>
            <a:r>
              <a:rPr lang="en-US" altLang="en-US" b="1" dirty="0">
                <a:latin typeface="Courier New" panose="02070309020205020404" pitchFamily="49" charset="0"/>
                <a:ea typeface="Cambria" panose="02040503050406030204" pitchFamily="18" charset="0"/>
                <a:cs typeface="Courier New" panose="02070309020205020404" pitchFamily="49" charset="0"/>
              </a:rPr>
              <a:t>=7536;</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DBMS_OUTPUT.PUT_LINE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emp_record.ename</a:t>
            </a:r>
            <a:r>
              <a:rPr lang="en-US" altLang="en-US" b="1" dirty="0">
                <a:latin typeface="Courier New" panose="02070309020205020404" pitchFamily="49"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DBMS_OUTPUT.PUT_LINE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emp_record.job</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p>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418448373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C26A-A90A-0FDD-473A-432403E430B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BFC5656-CF79-9D45-25C2-2141AD719E27}"/>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Exceptions in PL/SQL</a:t>
            </a:r>
          </a:p>
        </p:txBody>
      </p:sp>
      <p:sp>
        <p:nvSpPr>
          <p:cNvPr id="38915" name="Rectangle 3">
            <a:extLst>
              <a:ext uri="{FF2B5EF4-FFF2-40B4-BE49-F238E27FC236}">
                <a16:creationId xmlns:a16="http://schemas.microsoft.com/office/drawing/2014/main" id="{42CC166E-E1CC-855D-BF5A-DA2C9382E80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505CC54-23AD-627D-A7F4-D7DA0626D55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494948B8-5B0F-B25D-FE1F-8B8EFD2E7F9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319CC7BD-5035-46A3-70B6-46B4A0120448}"/>
              </a:ext>
            </a:extLst>
          </p:cNvPr>
          <p:cNvSpPr txBox="1">
            <a:spLocks noChangeArrowheads="1"/>
          </p:cNvSpPr>
          <p:nvPr/>
        </p:nvSpPr>
        <p:spPr bwMode="auto">
          <a:xfrm>
            <a:off x="351656" y="620688"/>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An exception is an error condition during a program execution.</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following are the common exceptions that may occur in SELECT statement: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WHEN_NO_DATA_FOUND</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WHEN TOO_MANY_ROWS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Rectangle 4">
            <a:extLst>
              <a:ext uri="{FF2B5EF4-FFF2-40B4-BE49-F238E27FC236}">
                <a16:creationId xmlns:a16="http://schemas.microsoft.com/office/drawing/2014/main" id="{76C4AE93-EA47-DBB0-AF30-D14454EC69CC}"/>
              </a:ext>
            </a:extLst>
          </p:cNvPr>
          <p:cNvSpPr>
            <a:spLocks noChangeArrowheads="1"/>
          </p:cNvSpPr>
          <p:nvPr/>
        </p:nvSpPr>
        <p:spPr bwMode="blackWhite">
          <a:xfrm>
            <a:off x="539552" y="1471012"/>
            <a:ext cx="8206804" cy="129614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EXCEPTION</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WHEN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exception_description</a:t>
            </a:r>
            <a:r>
              <a:rPr lang="en-US" altLang="en-US" b="1" dirty="0">
                <a:latin typeface="Courier New" panose="02070309020205020404" pitchFamily="49" charset="0"/>
                <a:ea typeface="Cambria" panose="02040503050406030204" pitchFamily="18" charset="0"/>
                <a:cs typeface="Courier New" panose="02070309020205020404" pitchFamily="49" charset="0"/>
              </a:rPr>
              <a:t> THEN</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exception_handling_statement</a:t>
            </a:r>
            <a:r>
              <a:rPr lang="en-US" altLang="en-US" b="1" dirty="0">
                <a:latin typeface="Courier New" panose="02070309020205020404" pitchFamily="49" charset="0"/>
                <a:ea typeface="Cambria" panose="02040503050406030204" pitchFamily="18" charset="0"/>
                <a:cs typeface="Courier New" panose="02070309020205020404" pitchFamily="49" charset="0"/>
              </a:rPr>
              <a:t>(s);</a:t>
            </a:r>
          </a:p>
        </p:txBody>
      </p:sp>
    </p:spTree>
    <p:extLst>
      <p:ext uri="{BB962C8B-B14F-4D97-AF65-F5344CB8AC3E}">
        <p14:creationId xmlns:p14="http://schemas.microsoft.com/office/powerpoint/2010/main" val="31343263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CA62-6506-21FA-869D-C3893C03307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B09C014-F466-0F19-8D7B-A7C80D56914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Exceptions</a:t>
            </a:r>
          </a:p>
        </p:txBody>
      </p:sp>
      <p:sp>
        <p:nvSpPr>
          <p:cNvPr id="38915" name="Rectangle 3">
            <a:extLst>
              <a:ext uri="{FF2B5EF4-FFF2-40B4-BE49-F238E27FC236}">
                <a16:creationId xmlns:a16="http://schemas.microsoft.com/office/drawing/2014/main" id="{94BA7BCE-0C33-5E83-C309-4ECA8129B9D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B03DA00-CAED-6709-C000-5A5C48BD336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DD24EF57-AF84-0DE7-16FD-F13D64E8F2B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4">
            <a:extLst>
              <a:ext uri="{FF2B5EF4-FFF2-40B4-BE49-F238E27FC236}">
                <a16:creationId xmlns:a16="http://schemas.microsoft.com/office/drawing/2014/main" id="{F3BDAF7E-788C-F99A-B1CC-39698FBB34F9}"/>
              </a:ext>
            </a:extLst>
          </p:cNvPr>
          <p:cNvSpPr>
            <a:spLocks noChangeArrowheads="1"/>
          </p:cNvSpPr>
          <p:nvPr/>
        </p:nvSpPr>
        <p:spPr bwMode="blackWhite">
          <a:xfrm>
            <a:off x="323528" y="759593"/>
            <a:ext cx="8489125" cy="461362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id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emp.empno%type</a:t>
            </a:r>
            <a:r>
              <a:rPr lang="en-US" altLang="en-US" b="1" dirty="0">
                <a:latin typeface="Courier New" panose="02070309020205020404" pitchFamily="49"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name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emp.ename%type</a:t>
            </a:r>
            <a:r>
              <a:rPr lang="en-US" altLang="en-US" b="1" dirty="0">
                <a:latin typeface="Courier New" panose="02070309020205020404" pitchFamily="49"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SELECT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empno</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ename</a:t>
            </a:r>
            <a:r>
              <a:rPr lang="en-US" altLang="en-US" b="1" dirty="0">
                <a:latin typeface="Courier New" panose="02070309020205020404" pitchFamily="49" charset="0"/>
                <a:ea typeface="Cambria" panose="02040503050406030204" pitchFamily="18" charset="0"/>
                <a:cs typeface="Courier New" panose="02070309020205020404" pitchFamily="49" charset="0"/>
              </a:rPr>
              <a:t> INTO id, name </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FROM emp </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WHERE </a:t>
            </a:r>
            <a:r>
              <a:rPr lang="en-US" altLang="en-US" b="1" dirty="0" err="1">
                <a:latin typeface="Courier New" panose="02070309020205020404" pitchFamily="49" charset="0"/>
                <a:ea typeface="Cambria" panose="02040503050406030204" pitchFamily="18" charset="0"/>
                <a:cs typeface="Courier New" panose="02070309020205020404" pitchFamily="49" charset="0"/>
              </a:rPr>
              <a:t>empno</a:t>
            </a:r>
            <a:r>
              <a:rPr lang="en-US" altLang="en-US" b="1" dirty="0">
                <a:latin typeface="Courier New" panose="02070309020205020404" pitchFamily="49" charset="0"/>
                <a:ea typeface="Cambria" panose="02040503050406030204" pitchFamily="18" charset="0"/>
                <a:cs typeface="Courier New" panose="02070309020205020404" pitchFamily="49" charset="0"/>
              </a:rPr>
              <a:t>=1234;</a:t>
            </a:r>
          </a:p>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EXCEPTION</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b="1" dirty="0">
                <a:solidFill>
                  <a:srgbClr val="0000FF"/>
                </a:solidFill>
                <a:latin typeface="Courier New" panose="02070309020205020404" pitchFamily="49" charset="0"/>
                <a:ea typeface="Cambria" panose="02040503050406030204" pitchFamily="18" charset="0"/>
                <a:cs typeface="Courier New" panose="02070309020205020404" pitchFamily="49" charset="0"/>
              </a:rPr>
              <a:t>WHEN NO_DATA_FOUND THEN</a:t>
            </a:r>
            <a:r>
              <a:rPr lang="en-US" altLang="en-US" b="1" dirty="0">
                <a:latin typeface="Courier New" panose="02070309020205020404" pitchFamily="49" charset="0"/>
                <a:ea typeface="Cambria" panose="02040503050406030204" pitchFamily="18" charset="0"/>
                <a:cs typeface="Courier New" panose="02070309020205020404" pitchFamily="49" charset="0"/>
              </a:rPr>
              <a:t>       </a:t>
            </a:r>
          </a:p>
          <a:p>
            <a:pPr marL="0" lvl="1" algn="just">
              <a:spcBef>
                <a:spcPts val="300"/>
              </a:spcBef>
              <a:buClr>
                <a:srgbClr val="D34817"/>
              </a:buClr>
              <a:buSzPct val="50000"/>
              <a:buNone/>
              <a:defRPr/>
            </a:pPr>
            <a:r>
              <a:rPr lang="en-US" altLang="en-US" b="1" dirty="0">
                <a:latin typeface="Courier New" panose="02070309020205020404" pitchFamily="49" charset="0"/>
                <a:ea typeface="Cambria" panose="02040503050406030204" pitchFamily="18" charset="0"/>
                <a:cs typeface="Courier New" panose="02070309020205020404" pitchFamily="49" charset="0"/>
              </a:rPr>
              <a:t>	</a:t>
            </a:r>
            <a:r>
              <a:rPr lang="en-US" altLang="en-US" sz="2000" b="1" dirty="0">
                <a:latin typeface="Courier New" panose="02070309020205020404" pitchFamily="49" charset="0"/>
                <a:ea typeface="Cambria" panose="02040503050406030204" pitchFamily="18" charset="0"/>
                <a:cs typeface="Courier New" panose="02070309020205020404" pitchFamily="49" charset="0"/>
              </a:rPr>
              <a:t>DBMS_OUTPUT.PUT_LINE (id||'does not exist'); </a:t>
            </a:r>
          </a:p>
          <a:p>
            <a:pPr marL="0" lvl="1" algn="just">
              <a:spcBef>
                <a:spcPts val="300"/>
              </a:spcBef>
              <a:buClr>
                <a:srgbClr val="D34817"/>
              </a:buClr>
              <a:buSzPct val="50000"/>
              <a:buNone/>
              <a:defRPr/>
            </a:pPr>
            <a:r>
              <a:rPr lang="en-US" altLang="en-US" b="1" dirty="0">
                <a:solidFill>
                  <a:srgbClr val="FF0000"/>
                </a:solidFill>
                <a:latin typeface="Courier New" panose="02070309020205020404" pitchFamily="49"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64566589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07497-8FD4-4DC5-A3E4-3315339B3B0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C7CD461-2414-4A54-59C8-A6FF12E3B9EB}"/>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Conditions</a:t>
            </a:r>
          </a:p>
        </p:txBody>
      </p:sp>
      <p:sp>
        <p:nvSpPr>
          <p:cNvPr id="38915" name="Rectangle 3">
            <a:extLst>
              <a:ext uri="{FF2B5EF4-FFF2-40B4-BE49-F238E27FC236}">
                <a16:creationId xmlns:a16="http://schemas.microsoft.com/office/drawing/2014/main" id="{EA184640-C12F-856A-0F03-D47D28B82C2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28C8FC4-0DAF-0F24-54BA-45898DF417D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7622BE2D-896C-BAD1-3F2D-E7EAB094DFC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0FE7BC38-889F-C425-99C8-E81332EAC563}"/>
              </a:ext>
            </a:extLst>
          </p:cNvPr>
          <p:cNvGraphicFramePr>
            <a:graphicFrameLocks noGrp="1"/>
          </p:cNvGraphicFramePr>
          <p:nvPr>
            <p:extLst>
              <p:ext uri="{D42A27DB-BD31-4B8C-83A1-F6EECF244321}">
                <p14:modId xmlns:p14="http://schemas.microsoft.com/office/powerpoint/2010/main" val="2008821827"/>
              </p:ext>
            </p:extLst>
          </p:nvPr>
        </p:nvGraphicFramePr>
        <p:xfrm>
          <a:off x="425450" y="790056"/>
          <a:ext cx="8064500" cy="4754796"/>
        </p:xfrm>
        <a:graphic>
          <a:graphicData uri="http://schemas.openxmlformats.org/drawingml/2006/table">
            <a:tbl>
              <a:tblPr firstRow="1" bandRow="1">
                <a:tableStyleId>{5C22544A-7EE6-4342-B048-85BDC9FD1C3A}</a:tableStyleId>
              </a:tblPr>
              <a:tblGrid>
                <a:gridCol w="4032250">
                  <a:extLst>
                    <a:ext uri="{9D8B030D-6E8A-4147-A177-3AD203B41FA5}">
                      <a16:colId xmlns:a16="http://schemas.microsoft.com/office/drawing/2014/main" val="20000"/>
                    </a:ext>
                  </a:extLst>
                </a:gridCol>
                <a:gridCol w="4032250">
                  <a:extLst>
                    <a:ext uri="{9D8B030D-6E8A-4147-A177-3AD203B41FA5}">
                      <a16:colId xmlns:a16="http://schemas.microsoft.com/office/drawing/2014/main" val="20001"/>
                    </a:ext>
                  </a:extLst>
                </a:gridCol>
              </a:tblGrid>
              <a:tr h="1920104">
                <a:tc>
                  <a:txBody>
                    <a:bodyPr/>
                    <a:lstStyle/>
                    <a:p>
                      <a:pPr marL="400050" lvl="1" indent="0">
                        <a:lnSpc>
                          <a:spcPct val="150000"/>
                        </a:lnSpc>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IF (condition) THEN</a:t>
                      </a:r>
                    </a:p>
                    <a:p>
                      <a:pPr marL="857250" lvl="2" indent="0">
                        <a:lnSpc>
                          <a:spcPct val="150000"/>
                        </a:lnSpc>
                        <a:buNone/>
                      </a:pPr>
                      <a:r>
                        <a:rPr lang="en-US" sz="200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a:t>
                      </a:r>
                    </a:p>
                    <a:p>
                      <a:pPr marL="400050" lvl="1" indent="0">
                        <a:lnSpc>
                          <a:spcPct val="150000"/>
                        </a:lnSpc>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END IF;</a:t>
                      </a:r>
                    </a:p>
                    <a:p>
                      <a:endParaRPr lang="en-US" sz="2000" dirty="0">
                        <a:latin typeface="Cambria" panose="02040503050406030204" pitchFamily="18" charset="0"/>
                        <a:ea typeface="Cambria" panose="02040503050406030204" pitchFamily="18" charset="0"/>
                        <a:cs typeface="Courier New" panose="02070309020205020404" pitchFamily="49" charset="0"/>
                      </a:endParaRPr>
                    </a:p>
                  </a:txBody>
                  <a:tcPr marL="91436" marR="91436"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00050" lvl="1" indent="0">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IF condition THEN</a:t>
                      </a:r>
                    </a:p>
                    <a:p>
                      <a:pPr marL="400050" lvl="1" indent="0">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	</a:t>
                      </a:r>
                      <a:r>
                        <a:rPr lang="en-US" sz="200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statements1;</a:t>
                      </a:r>
                      <a:endPar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endParaRPr>
                    </a:p>
                    <a:p>
                      <a:pPr marL="400050" lvl="1" indent="0">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ELSE</a:t>
                      </a:r>
                    </a:p>
                    <a:p>
                      <a:pPr marL="400050" lvl="1" indent="0">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	</a:t>
                      </a:r>
                      <a:r>
                        <a:rPr lang="en-US" sz="200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statements2;</a:t>
                      </a:r>
                      <a:endPar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endParaRPr>
                    </a:p>
                    <a:p>
                      <a:pPr marL="400050" lvl="1" indent="0">
                        <a:buNone/>
                      </a:pPr>
                      <a:r>
                        <a:rPr lang="en-US" sz="2000" dirty="0">
                          <a:solidFill>
                            <a:schemeClr val="tx1"/>
                          </a:solidFill>
                          <a:latin typeface="Cambria" panose="02040503050406030204" pitchFamily="18" charset="0"/>
                          <a:ea typeface="Cambria" panose="02040503050406030204" pitchFamily="18" charset="0"/>
                          <a:cs typeface="Courier New" panose="02070309020205020404" pitchFamily="49" charset="0"/>
                        </a:rPr>
                        <a:t>END IF;</a:t>
                      </a:r>
                    </a:p>
                    <a:p>
                      <a:endParaRPr lang="en-US" sz="2000" dirty="0">
                        <a:latin typeface="Cambria" panose="02040503050406030204" pitchFamily="18" charset="0"/>
                        <a:ea typeface="Cambria" panose="02040503050406030204" pitchFamily="18" charset="0"/>
                        <a:cs typeface="Courier New" panose="02070309020205020404" pitchFamily="49" charset="0"/>
                      </a:endParaRPr>
                    </a:p>
                  </a:txBody>
                  <a:tcPr marL="91436" marR="91436"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34458">
                <a:tc>
                  <a:txBody>
                    <a:bodyPr/>
                    <a:lstStyle/>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IF(condition 1)THEN </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statements1; </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ELSIF(condition 2) THEN</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statements2;</a:t>
                      </a: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ELSIF(condition 3) THEN</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statements3;</a:t>
                      </a: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ELSE</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statements4;</a:t>
                      </a:r>
                    </a:p>
                    <a:p>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END IF;</a:t>
                      </a:r>
                      <a:endParaRPr lang="en-US" sz="2000" dirty="0">
                        <a:latin typeface="Cambria" panose="02040503050406030204" pitchFamily="18" charset="0"/>
                        <a:ea typeface="Cambria" panose="02040503050406030204" pitchFamily="18" charset="0"/>
                        <a:cs typeface="Courier New" panose="02070309020205020404" pitchFamily="49" charset="0"/>
                      </a:endParaRPr>
                    </a:p>
                  </a:txBody>
                  <a:tcPr marL="91436" marR="91436"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CASE selector</a:t>
                      </a: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WHEN 'value1' THEN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statements1;</a:t>
                      </a:r>
                      <a:endPar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endParaRP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WHEN 'value2' THEN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statements2;</a:t>
                      </a:r>
                      <a:endPar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endParaRP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WHEN 'value3' THEN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statements3;</a:t>
                      </a:r>
                      <a:endPar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endParaRP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a:t>
                      </a: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ELSE </a:t>
                      </a:r>
                      <a:r>
                        <a:rPr lang="en-US" sz="2000" b="0" i="0" u="none" strike="noStrike" kern="1200" baseline="0" dirty="0">
                          <a:solidFill>
                            <a:srgbClr val="FF0000"/>
                          </a:solidFill>
                          <a:latin typeface="Cambria" panose="02040503050406030204" pitchFamily="18" charset="0"/>
                          <a:ea typeface="Cambria" panose="02040503050406030204" pitchFamily="18" charset="0"/>
                          <a:cs typeface="Courier New" panose="02070309020205020404" pitchFamily="49" charset="0"/>
                        </a:rPr>
                        <a:t>statements; </a:t>
                      </a: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 -- default case</a:t>
                      </a:r>
                    </a:p>
                    <a:p>
                      <a:pPr>
                        <a:spcBef>
                          <a:spcPts val="600"/>
                        </a:spcBef>
                      </a:pPr>
                      <a:r>
                        <a:rPr lang="en-US" sz="2000" b="0" i="0" u="none" strike="noStrike" kern="1200" baseline="0" dirty="0">
                          <a:solidFill>
                            <a:schemeClr val="dk1"/>
                          </a:solidFill>
                          <a:latin typeface="Cambria" panose="02040503050406030204" pitchFamily="18" charset="0"/>
                          <a:ea typeface="Cambria" panose="02040503050406030204" pitchFamily="18" charset="0"/>
                          <a:cs typeface="Courier New" panose="02070309020205020404" pitchFamily="49" charset="0"/>
                        </a:rPr>
                        <a:t>END CASE;</a:t>
                      </a:r>
                      <a:endParaRPr lang="en-US" sz="2000" dirty="0">
                        <a:latin typeface="Cambria" panose="02040503050406030204" pitchFamily="18" charset="0"/>
                        <a:ea typeface="Cambria" panose="02040503050406030204" pitchFamily="18" charset="0"/>
                        <a:cs typeface="Courier New" panose="02070309020205020404" pitchFamily="49" charset="0"/>
                      </a:endParaRPr>
                    </a:p>
                  </a:txBody>
                  <a:tcPr marL="91436" marR="91436"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5872687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471E-8D83-878C-F86A-F557031475F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B6911AE-A7AC-CBB6-B11F-B901897F2465}"/>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Conditions</a:t>
            </a:r>
          </a:p>
        </p:txBody>
      </p:sp>
      <p:sp>
        <p:nvSpPr>
          <p:cNvPr id="38915" name="Rectangle 3">
            <a:extLst>
              <a:ext uri="{FF2B5EF4-FFF2-40B4-BE49-F238E27FC236}">
                <a16:creationId xmlns:a16="http://schemas.microsoft.com/office/drawing/2014/main" id="{B8E245C7-DA53-D55C-C80C-C07A6ED449E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655A273-B08C-FBAA-BE05-257E78E164B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2BD0C42C-5B93-2479-CBC7-D9ACCB4066E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1CDABB59-2753-92A0-0D8A-F9A826963FB6}"/>
              </a:ext>
            </a:extLst>
          </p:cNvPr>
          <p:cNvSpPr>
            <a:spLocks noChangeArrowheads="1"/>
          </p:cNvSpPr>
          <p:nvPr/>
        </p:nvSpPr>
        <p:spPr bwMode="blackWhite">
          <a:xfrm>
            <a:off x="356495" y="764704"/>
            <a:ext cx="8460432" cy="538927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r>
              <a:rPr lang="en-US" altLang="en-US" dirty="0">
                <a:latin typeface="Cambria" panose="02040503050406030204" pitchFamily="18" charset="0"/>
                <a:ea typeface="Cambria" panose="02040503050406030204" pitchFamily="18" charset="0"/>
                <a:cs typeface="Courier New" panose="02070309020205020404" pitchFamily="49" charset="0"/>
              </a:rPr>
              <a:t> </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NUM  NUMBER;</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NUM := :NUM;</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IF NUM&gt;0 THEN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('Number is positive’);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ELSIF NUM&lt;0 THEN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('Number is negative’);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ELSE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('Number is zero’);</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END IF;</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p>
          <a:p>
            <a:pPr marL="285750" lvl="0" indent="-285750" algn="just">
              <a:spcBef>
                <a:spcPts val="300"/>
              </a:spcBef>
              <a:buClr>
                <a:srgbClr val="D34817"/>
              </a:buClr>
              <a:buSzPct val="50000"/>
              <a:buFont typeface="Wingdings" panose="05000000000000000000" pitchFamily="2" charset="2"/>
              <a:buChar char="l"/>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90055632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694B-B878-65F3-C6C4-9BE048EDDC8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57D83A7-B48F-0CC1-E8EA-E3E1F23E894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Loops</a:t>
            </a:r>
          </a:p>
        </p:txBody>
      </p:sp>
      <p:sp>
        <p:nvSpPr>
          <p:cNvPr id="38915" name="Rectangle 3">
            <a:extLst>
              <a:ext uri="{FF2B5EF4-FFF2-40B4-BE49-F238E27FC236}">
                <a16:creationId xmlns:a16="http://schemas.microsoft.com/office/drawing/2014/main" id="{18D73CD7-85B4-127D-209E-6E6E754A4F1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7A99F33-7856-B4E2-80CD-1AFA495C2F2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35BD8D3C-E774-155E-119B-F1B25EE62D9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4" name="Table 3">
            <a:extLst>
              <a:ext uri="{FF2B5EF4-FFF2-40B4-BE49-F238E27FC236}">
                <a16:creationId xmlns:a16="http://schemas.microsoft.com/office/drawing/2014/main" id="{B7C8E544-60E5-DDBF-C8DF-0940E3F9C37A}"/>
              </a:ext>
            </a:extLst>
          </p:cNvPr>
          <p:cNvGraphicFramePr>
            <a:graphicFrameLocks noGrp="1"/>
          </p:cNvGraphicFramePr>
          <p:nvPr>
            <p:extLst>
              <p:ext uri="{D42A27DB-BD31-4B8C-83A1-F6EECF244321}">
                <p14:modId xmlns:p14="http://schemas.microsoft.com/office/powerpoint/2010/main" val="3520883719"/>
              </p:ext>
            </p:extLst>
          </p:nvPr>
        </p:nvGraphicFramePr>
        <p:xfrm>
          <a:off x="409929" y="741784"/>
          <a:ext cx="8064500" cy="5235225"/>
        </p:xfrm>
        <a:graphic>
          <a:graphicData uri="http://schemas.openxmlformats.org/drawingml/2006/table">
            <a:tbl>
              <a:tblPr firstRow="1" bandRow="1">
                <a:tableStyleId>{5C22544A-7EE6-4342-B048-85BDC9FD1C3A}</a:tableStyleId>
              </a:tblPr>
              <a:tblGrid>
                <a:gridCol w="4032250">
                  <a:extLst>
                    <a:ext uri="{9D8B030D-6E8A-4147-A177-3AD203B41FA5}">
                      <a16:colId xmlns:a16="http://schemas.microsoft.com/office/drawing/2014/main" val="20000"/>
                    </a:ext>
                  </a:extLst>
                </a:gridCol>
                <a:gridCol w="4032250">
                  <a:extLst>
                    <a:ext uri="{9D8B030D-6E8A-4147-A177-3AD203B41FA5}">
                      <a16:colId xmlns:a16="http://schemas.microsoft.com/office/drawing/2014/main" val="20001"/>
                    </a:ext>
                  </a:extLst>
                </a:gridCol>
              </a:tblGrid>
              <a:tr h="2225213">
                <a:tc>
                  <a:txBody>
                    <a:bodyPr/>
                    <a:lstStyle/>
                    <a:p>
                      <a:pPr marL="0" lvl="0" indent="-57150">
                        <a:lnSpc>
                          <a:spcPct val="150000"/>
                        </a:lnSpc>
                        <a:buNone/>
                      </a:pPr>
                      <a:r>
                        <a:rPr lang="en-US" sz="2000" dirty="0">
                          <a:solidFill>
                            <a:srgbClr val="FF0000"/>
                          </a:solidFill>
                          <a:latin typeface="Cambria" panose="02040503050406030204" pitchFamily="18" charset="0"/>
                          <a:ea typeface="Cambria" panose="02040503050406030204" pitchFamily="18" charset="0"/>
                          <a:cs typeface="Calibri" pitchFamily="34" charset="0"/>
                        </a:rPr>
                        <a:t>LOOP</a:t>
                      </a:r>
                    </a:p>
                    <a:p>
                      <a:pPr marL="400050" lvl="1" indent="0">
                        <a:lnSpc>
                          <a:spcPct val="150000"/>
                        </a:lnSpc>
                        <a:buNone/>
                      </a:pPr>
                      <a:r>
                        <a:rPr lang="en-US" sz="2000" dirty="0">
                          <a:solidFill>
                            <a:schemeClr val="tx1"/>
                          </a:solidFill>
                          <a:latin typeface="Cambria" panose="02040503050406030204" pitchFamily="18" charset="0"/>
                          <a:ea typeface="Cambria" panose="02040503050406030204" pitchFamily="18" charset="0"/>
                          <a:cs typeface="Calibri" pitchFamily="34" charset="0"/>
                        </a:rPr>
                        <a:t>Statement(s);</a:t>
                      </a:r>
                    </a:p>
                    <a:p>
                      <a:pPr marL="400050" lvl="1" indent="0">
                        <a:lnSpc>
                          <a:spcPct val="150000"/>
                        </a:lnSpc>
                        <a:buNone/>
                      </a:pPr>
                      <a:r>
                        <a:rPr lang="en-US" sz="2000" dirty="0">
                          <a:solidFill>
                            <a:srgbClr val="0000FF"/>
                          </a:solidFill>
                          <a:latin typeface="Cambria" panose="02040503050406030204" pitchFamily="18" charset="0"/>
                          <a:ea typeface="Cambria" panose="02040503050406030204" pitchFamily="18" charset="0"/>
                          <a:cs typeface="Calibri" pitchFamily="34" charset="0"/>
                        </a:rPr>
                        <a:t>EXIT WHEN</a:t>
                      </a:r>
                      <a:r>
                        <a:rPr lang="en-US" sz="2000" dirty="0">
                          <a:solidFill>
                            <a:schemeClr val="accent2"/>
                          </a:solidFill>
                          <a:latin typeface="Cambria" panose="02040503050406030204" pitchFamily="18" charset="0"/>
                          <a:ea typeface="Cambria" panose="02040503050406030204" pitchFamily="18" charset="0"/>
                          <a:cs typeface="Calibri" pitchFamily="34" charset="0"/>
                        </a:rPr>
                        <a:t> </a:t>
                      </a:r>
                      <a:r>
                        <a:rPr lang="en-US" sz="2000" dirty="0">
                          <a:solidFill>
                            <a:srgbClr val="FF0000"/>
                          </a:solidFill>
                          <a:latin typeface="Cambria" panose="02040503050406030204" pitchFamily="18" charset="0"/>
                          <a:ea typeface="Cambria" panose="02040503050406030204" pitchFamily="18" charset="0"/>
                          <a:cs typeface="Calibri" pitchFamily="34" charset="0"/>
                        </a:rPr>
                        <a:t>condition;</a:t>
                      </a:r>
                    </a:p>
                    <a:p>
                      <a:pPr marL="0" lvl="0" indent="-57150">
                        <a:lnSpc>
                          <a:spcPct val="150000"/>
                        </a:lnSpc>
                        <a:buNone/>
                      </a:pPr>
                      <a:r>
                        <a:rPr lang="en-US" sz="2000" dirty="0">
                          <a:solidFill>
                            <a:srgbClr val="FF0000"/>
                          </a:solidFill>
                          <a:latin typeface="Cambria" panose="02040503050406030204" pitchFamily="18" charset="0"/>
                          <a:ea typeface="Cambria" panose="02040503050406030204" pitchFamily="18" charset="0"/>
                          <a:cs typeface="Calibri" pitchFamily="34" charset="0"/>
                        </a:rPr>
                        <a:t>END LOOP;</a:t>
                      </a:r>
                    </a:p>
                    <a:p>
                      <a:endParaRPr lang="en-US" sz="2000" dirty="0">
                        <a:latin typeface="Cambria" panose="02040503050406030204" pitchFamily="18" charset="0"/>
                        <a:ea typeface="Cambria" panose="02040503050406030204" pitchFamily="18" charset="0"/>
                      </a:endParaRPr>
                    </a:p>
                  </a:txBody>
                  <a:tcPr marL="91436" marR="91436"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sz="2000" b="1" i="0" u="none" strike="noStrike" kern="1200" baseline="0" dirty="0">
                          <a:solidFill>
                            <a:srgbClr val="FF0000"/>
                          </a:solidFill>
                          <a:latin typeface="Cambria" panose="02040503050406030204" pitchFamily="18" charset="0"/>
                          <a:ea typeface="Cambria" panose="02040503050406030204" pitchFamily="18" charset="0"/>
                          <a:cs typeface="Calibri" pitchFamily="34" charset="0"/>
                        </a:rPr>
                        <a:t>WHILE condition LOOP</a:t>
                      </a:r>
                    </a:p>
                    <a:p>
                      <a:pPr marL="400050" lvl="1" indent="0">
                        <a:lnSpc>
                          <a:spcPct val="150000"/>
                        </a:lnSpc>
                        <a:buNone/>
                      </a:pPr>
                      <a:r>
                        <a:rPr lang="en-US" sz="2000" dirty="0">
                          <a:solidFill>
                            <a:schemeClr val="tx1"/>
                          </a:solidFill>
                          <a:latin typeface="Cambria" panose="02040503050406030204" pitchFamily="18" charset="0"/>
                          <a:ea typeface="Cambria" panose="02040503050406030204" pitchFamily="18" charset="0"/>
                          <a:cs typeface="Calibri" pitchFamily="34" charset="0"/>
                        </a:rPr>
                        <a:t>Statement(s);</a:t>
                      </a:r>
                    </a:p>
                    <a:p>
                      <a:pPr>
                        <a:lnSpc>
                          <a:spcPct val="150000"/>
                        </a:lnSpc>
                      </a:pPr>
                      <a:r>
                        <a:rPr lang="en-US" sz="2000" b="1" i="0" u="none" strike="noStrike" kern="1200" baseline="0" dirty="0">
                          <a:solidFill>
                            <a:srgbClr val="FF0000"/>
                          </a:solidFill>
                          <a:latin typeface="Cambria" panose="02040503050406030204" pitchFamily="18" charset="0"/>
                          <a:ea typeface="Cambria" panose="02040503050406030204" pitchFamily="18" charset="0"/>
                          <a:cs typeface="Calibri" pitchFamily="34" charset="0"/>
                        </a:rPr>
                        <a:t>END LOOP;</a:t>
                      </a:r>
                      <a:endParaRPr lang="en-US" sz="4800" b="1" dirty="0">
                        <a:solidFill>
                          <a:srgbClr val="FF0000"/>
                        </a:solidFill>
                        <a:latin typeface="Cambria" panose="02040503050406030204" pitchFamily="18" charset="0"/>
                        <a:ea typeface="Cambria" panose="02040503050406030204" pitchFamily="18" charset="0"/>
                        <a:cs typeface="Calibri" pitchFamily="34" charset="0"/>
                      </a:endParaRPr>
                    </a:p>
                  </a:txBody>
                  <a:tcPr marL="91436" marR="91436"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341224">
                <a:tc gridSpan="2">
                  <a:txBody>
                    <a:bodyPr/>
                    <a:lstStyle/>
                    <a:p>
                      <a:pPr>
                        <a:lnSpc>
                          <a:spcPct val="100000"/>
                        </a:lnSpc>
                        <a:spcBef>
                          <a:spcPts val="600"/>
                        </a:spcBef>
                      </a:pPr>
                      <a:r>
                        <a:rPr lang="en-US" sz="2400" b="0" i="0" u="none" strike="noStrike" kern="1200" baseline="0" dirty="0">
                          <a:solidFill>
                            <a:srgbClr val="FF0000"/>
                          </a:solidFill>
                          <a:latin typeface="Cambria" panose="02040503050406030204" pitchFamily="18" charset="0"/>
                          <a:ea typeface="Cambria" panose="02040503050406030204" pitchFamily="18" charset="0"/>
                          <a:cs typeface="Calibri" pitchFamily="34" charset="0"/>
                        </a:rPr>
                        <a:t>FOR</a:t>
                      </a:r>
                      <a:r>
                        <a:rPr lang="en-US" sz="2400" b="0" i="0" u="none" strike="noStrike" kern="1200" baseline="0" dirty="0">
                          <a:solidFill>
                            <a:schemeClr val="dk1"/>
                          </a:solidFill>
                          <a:latin typeface="Cambria" panose="02040503050406030204" pitchFamily="18" charset="0"/>
                          <a:ea typeface="Cambria" panose="02040503050406030204" pitchFamily="18" charset="0"/>
                          <a:cs typeface="Calibri" pitchFamily="34" charset="0"/>
                        </a:rPr>
                        <a:t> counter IN [REVERSE] </a:t>
                      </a:r>
                      <a:r>
                        <a:rPr lang="en-US" sz="2400" b="0" i="0" u="none" strike="noStrike" kern="1200" baseline="0" dirty="0" err="1">
                          <a:solidFill>
                            <a:schemeClr val="dk1"/>
                          </a:solidFill>
                          <a:latin typeface="Cambria" panose="02040503050406030204" pitchFamily="18" charset="0"/>
                          <a:ea typeface="Cambria" panose="02040503050406030204" pitchFamily="18" charset="0"/>
                          <a:cs typeface="Calibri" pitchFamily="34" charset="0"/>
                        </a:rPr>
                        <a:t>initial_value</a:t>
                      </a:r>
                      <a:r>
                        <a:rPr lang="en-US" sz="2400" b="0" i="0" u="none" strike="noStrike" kern="1200" baseline="0" dirty="0">
                          <a:solidFill>
                            <a:schemeClr val="dk1"/>
                          </a:solidFill>
                          <a:latin typeface="Cambria" panose="02040503050406030204" pitchFamily="18" charset="0"/>
                          <a:ea typeface="Cambria" panose="02040503050406030204" pitchFamily="18" charset="0"/>
                          <a:cs typeface="Calibri" pitchFamily="34" charset="0"/>
                        </a:rPr>
                        <a:t> .. </a:t>
                      </a:r>
                      <a:r>
                        <a:rPr lang="en-US" sz="2400" b="0" i="0" u="none" strike="noStrike" kern="1200" baseline="0" dirty="0" err="1">
                          <a:solidFill>
                            <a:schemeClr val="dk1"/>
                          </a:solidFill>
                          <a:latin typeface="Cambria" panose="02040503050406030204" pitchFamily="18" charset="0"/>
                          <a:ea typeface="Cambria" panose="02040503050406030204" pitchFamily="18" charset="0"/>
                          <a:cs typeface="Calibri" pitchFamily="34" charset="0"/>
                        </a:rPr>
                        <a:t>final_value</a:t>
                      </a:r>
                      <a:r>
                        <a:rPr lang="en-US" sz="2400" b="0" i="0" u="none" strike="noStrike" kern="1200" baseline="0" dirty="0">
                          <a:solidFill>
                            <a:schemeClr val="dk1"/>
                          </a:solidFill>
                          <a:latin typeface="Cambria" panose="02040503050406030204" pitchFamily="18" charset="0"/>
                          <a:ea typeface="Cambria" panose="02040503050406030204" pitchFamily="18" charset="0"/>
                          <a:cs typeface="Calibri" pitchFamily="34" charset="0"/>
                        </a:rPr>
                        <a:t> LOOP</a:t>
                      </a:r>
                    </a:p>
                    <a:p>
                      <a:pPr>
                        <a:lnSpc>
                          <a:spcPct val="100000"/>
                        </a:lnSpc>
                        <a:spcBef>
                          <a:spcPts val="600"/>
                        </a:spcBef>
                      </a:pPr>
                      <a:r>
                        <a:rPr lang="en-US" sz="2400" b="0" i="0" u="none" strike="noStrike" kern="1200" baseline="0" dirty="0">
                          <a:solidFill>
                            <a:schemeClr val="dk1"/>
                          </a:solidFill>
                          <a:latin typeface="Cambria" panose="02040503050406030204" pitchFamily="18" charset="0"/>
                          <a:ea typeface="Cambria" panose="02040503050406030204" pitchFamily="18" charset="0"/>
                          <a:cs typeface="Calibri" pitchFamily="34" charset="0"/>
                        </a:rPr>
                        <a:t>	</a:t>
                      </a:r>
                      <a:r>
                        <a:rPr lang="en-US" sz="2400" b="0" i="0" u="none" strike="noStrike" kern="1200" baseline="0" dirty="0" err="1">
                          <a:solidFill>
                            <a:schemeClr val="dk1"/>
                          </a:solidFill>
                          <a:latin typeface="Cambria" panose="02040503050406030204" pitchFamily="18" charset="0"/>
                          <a:ea typeface="Cambria" panose="02040503050406030204" pitchFamily="18" charset="0"/>
                          <a:cs typeface="Calibri" pitchFamily="34" charset="0"/>
                        </a:rPr>
                        <a:t>sequence_of_statements</a:t>
                      </a:r>
                      <a:r>
                        <a:rPr lang="en-US" sz="2400" b="0" i="0" u="none" strike="noStrike" kern="1200" baseline="0" dirty="0">
                          <a:solidFill>
                            <a:schemeClr val="dk1"/>
                          </a:solidFill>
                          <a:latin typeface="Cambria" panose="02040503050406030204" pitchFamily="18" charset="0"/>
                          <a:ea typeface="Cambria" panose="02040503050406030204" pitchFamily="18" charset="0"/>
                          <a:cs typeface="Calibri" pitchFamily="34" charset="0"/>
                        </a:rPr>
                        <a:t>;</a:t>
                      </a:r>
                    </a:p>
                    <a:p>
                      <a:pPr>
                        <a:lnSpc>
                          <a:spcPct val="100000"/>
                        </a:lnSpc>
                        <a:spcBef>
                          <a:spcPts val="600"/>
                        </a:spcBef>
                      </a:pPr>
                      <a:r>
                        <a:rPr lang="en-US" sz="2400" b="0" i="0" u="none" strike="noStrike" kern="1200" baseline="0" dirty="0">
                          <a:solidFill>
                            <a:srgbClr val="FF0000"/>
                          </a:solidFill>
                          <a:latin typeface="Cambria" panose="02040503050406030204" pitchFamily="18" charset="0"/>
                          <a:ea typeface="Cambria" panose="02040503050406030204" pitchFamily="18" charset="0"/>
                          <a:cs typeface="Calibri" pitchFamily="34" charset="0"/>
                        </a:rPr>
                        <a:t>END LOOP;</a:t>
                      </a:r>
                      <a:endParaRPr lang="en-US" sz="2800" b="0" dirty="0">
                        <a:solidFill>
                          <a:srgbClr val="FF0000"/>
                        </a:solidFill>
                        <a:latin typeface="Cambria" panose="02040503050406030204" pitchFamily="18" charset="0"/>
                        <a:ea typeface="Cambria" panose="02040503050406030204" pitchFamily="18" charset="0"/>
                        <a:cs typeface="Calibri" pitchFamily="34" charset="0"/>
                      </a:endParaRPr>
                    </a:p>
                  </a:txBody>
                  <a:tcPr marL="91436" marR="91436"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spcBef>
                          <a:spcPts val="600"/>
                        </a:spcBef>
                      </a:pPr>
                      <a:endParaRPr lang="en-US" sz="2000" dirty="0">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8200">
                <a:tc gridSpan="2">
                  <a:txBody>
                    <a:bodyPr/>
                    <a:lstStyle/>
                    <a:p>
                      <a:pPr marL="342900" indent="-342900" algn="l">
                        <a:lnSpc>
                          <a:spcPct val="100000"/>
                        </a:lnSpc>
                        <a:spcBef>
                          <a:spcPts val="300"/>
                        </a:spcBef>
                        <a:buFont typeface="Arial" panose="020B0604020202020204" pitchFamily="34" charset="0"/>
                        <a:buChar char="•"/>
                      </a:pPr>
                      <a:r>
                        <a:rPr lang="en-US" sz="2400" b="0" dirty="0">
                          <a:latin typeface="Cambria" panose="02040503050406030204" pitchFamily="18" charset="0"/>
                          <a:ea typeface="Cambria" panose="02040503050406030204" pitchFamily="18" charset="0"/>
                          <a:cs typeface="Calibri" pitchFamily="34" charset="0"/>
                        </a:rPr>
                        <a:t>Continue</a:t>
                      </a:r>
                    </a:p>
                    <a:p>
                      <a:pPr marL="342900" indent="-342900" algn="l">
                        <a:lnSpc>
                          <a:spcPct val="100000"/>
                        </a:lnSpc>
                        <a:spcBef>
                          <a:spcPts val="300"/>
                        </a:spcBef>
                        <a:buFont typeface="Arial" panose="020B0604020202020204" pitchFamily="34" charset="0"/>
                        <a:buChar char="•"/>
                      </a:pPr>
                      <a:r>
                        <a:rPr lang="en-US" sz="2400" b="0" dirty="0">
                          <a:latin typeface="Cambria" panose="02040503050406030204" pitchFamily="18" charset="0"/>
                          <a:ea typeface="Cambria" panose="02040503050406030204" pitchFamily="18" charset="0"/>
                          <a:cs typeface="Calibri" pitchFamily="34" charset="0"/>
                        </a:rPr>
                        <a:t>Continue WHEN</a:t>
                      </a:r>
                    </a:p>
                    <a:p>
                      <a:pPr marL="342900" indent="-342900" algn="l">
                        <a:lnSpc>
                          <a:spcPct val="100000"/>
                        </a:lnSpc>
                        <a:spcBef>
                          <a:spcPts val="300"/>
                        </a:spcBef>
                        <a:buFont typeface="Arial" panose="020B0604020202020204" pitchFamily="34" charset="0"/>
                        <a:buChar char="•"/>
                      </a:pPr>
                      <a:r>
                        <a:rPr lang="en-US" sz="2400" b="0" dirty="0">
                          <a:latin typeface="Cambria" panose="02040503050406030204" pitchFamily="18" charset="0"/>
                          <a:ea typeface="Cambria" panose="02040503050406030204" pitchFamily="18" charset="0"/>
                          <a:cs typeface="Calibri" pitchFamily="34" charset="0"/>
                        </a:rPr>
                        <a:t>Exit</a:t>
                      </a:r>
                    </a:p>
                    <a:p>
                      <a:pPr marL="342900" indent="-342900" algn="l">
                        <a:lnSpc>
                          <a:spcPct val="100000"/>
                        </a:lnSpc>
                        <a:spcBef>
                          <a:spcPts val="300"/>
                        </a:spcBef>
                        <a:buFont typeface="Arial" panose="020B0604020202020204" pitchFamily="34" charset="0"/>
                        <a:buChar char="•"/>
                      </a:pPr>
                      <a:r>
                        <a:rPr lang="en-US" sz="2400" b="0" dirty="0">
                          <a:latin typeface="Cambria" panose="02040503050406030204" pitchFamily="18" charset="0"/>
                          <a:ea typeface="Cambria" panose="02040503050406030204" pitchFamily="18" charset="0"/>
                          <a:cs typeface="Calibri" pitchFamily="34" charset="0"/>
                        </a:rPr>
                        <a:t>Exit WHEN</a:t>
                      </a:r>
                    </a:p>
                  </a:txBody>
                  <a:tcPr marL="91436" marR="91436"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3521950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18C5-4BA9-C06D-C2CB-91ED7D8F359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D2CEE17-A880-0BFD-DA19-9016330666CD}"/>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Cursor</a:t>
            </a:r>
          </a:p>
        </p:txBody>
      </p:sp>
      <p:sp>
        <p:nvSpPr>
          <p:cNvPr id="38915" name="Rectangle 3">
            <a:extLst>
              <a:ext uri="{FF2B5EF4-FFF2-40B4-BE49-F238E27FC236}">
                <a16:creationId xmlns:a16="http://schemas.microsoft.com/office/drawing/2014/main" id="{1239493A-16FD-19CA-CF2B-73C7C61D683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5D957C6-5C10-BDDD-E810-7EAEA883829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F6F155ED-BDD7-5ACB-A01C-C7368E08E24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51662853-3BC3-C6B4-8F9C-71DF17408758}"/>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cursor is a pointer used for processing a memory block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(context area)</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consisting of multiple records. A cursor is a pointer to this context area.</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Cursor is used for handling the SELECT statement in PL/SQL that returns multiple rows.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set of rows the cursor holds is referred to as the </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active set.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There are two types of cursors:</a:t>
            </a:r>
          </a:p>
          <a:p>
            <a:pPr marL="731838" lvl="1" indent="-457200" algn="just">
              <a:spcBef>
                <a:spcPts val="300"/>
              </a:spcBef>
              <a:buClr>
                <a:srgbClr val="D34817"/>
              </a:buClr>
              <a:buSzPct val="100000"/>
              <a:buAutoNum type="alphaLcParenR"/>
              <a:defRPr/>
            </a:pPr>
            <a:r>
              <a:rPr kumimoji="0" lang="en-US" altLang="en-US"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Implicit cursors</a:t>
            </a:r>
          </a:p>
          <a:p>
            <a:pPr marL="731838" lvl="1" indent="-457200" algn="just">
              <a:spcBef>
                <a:spcPts val="300"/>
              </a:spcBef>
              <a:buClr>
                <a:srgbClr val="D34817"/>
              </a:buClr>
              <a:buSzPct val="100000"/>
              <a:buAutoNum type="alphaLcParenR"/>
              <a:defRPr/>
            </a:pPr>
            <a:r>
              <a:rPr kumimoji="0" lang="en-US" altLang="en-US"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Explicit cursors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Implicit cursors are automatically created by Oracle whenever an SQL statement is executed.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05874479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F88B8-1895-3E1E-8EED-544ED500CAB5}"/>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FEBC046-1E05-81DF-213C-32EE62F3A41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Cursor Attributes</a:t>
            </a:r>
          </a:p>
        </p:txBody>
      </p:sp>
      <p:sp>
        <p:nvSpPr>
          <p:cNvPr id="38915" name="Rectangle 3">
            <a:extLst>
              <a:ext uri="{FF2B5EF4-FFF2-40B4-BE49-F238E27FC236}">
                <a16:creationId xmlns:a16="http://schemas.microsoft.com/office/drawing/2014/main" id="{5556AEA8-2B7A-040B-DD37-6B4B106478B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32CAB00-1E88-6DB9-3A6F-A62DB77E171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84277E42-7C0E-64C8-5594-1DF537FFD25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CEBE12A6-E221-B405-8CCE-6EFEBD775BCF}"/>
              </a:ext>
            </a:extLst>
          </p:cNvPr>
          <p:cNvSpPr txBox="1">
            <a:spLocks noChangeArrowheads="1"/>
          </p:cNvSpPr>
          <p:nvPr/>
        </p:nvSpPr>
        <p:spPr bwMode="auto">
          <a:xfrm>
            <a:off x="401863" y="5157192"/>
            <a:ext cx="8394700"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attributes of an implicit cursor are accessed using </a:t>
            </a:r>
            <a:r>
              <a:rPr kumimoji="0" lang="en-US" altLang="en-US" sz="2400" b="0" i="0" u="none" strike="noStrike" kern="1200" cap="none" spc="0" normalizeH="0" baseline="0" noProof="0" dirty="0" err="1">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SQL%attribute_name</a:t>
            </a: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p:txBody>
      </p:sp>
      <p:graphicFrame>
        <p:nvGraphicFramePr>
          <p:cNvPr id="3" name="Table 2">
            <a:extLst>
              <a:ext uri="{FF2B5EF4-FFF2-40B4-BE49-F238E27FC236}">
                <a16:creationId xmlns:a16="http://schemas.microsoft.com/office/drawing/2014/main" id="{72B31818-F045-8758-C47E-2D4E4E9BFBF8}"/>
              </a:ext>
            </a:extLst>
          </p:cNvPr>
          <p:cNvGraphicFramePr>
            <a:graphicFrameLocks noGrp="1"/>
          </p:cNvGraphicFramePr>
          <p:nvPr>
            <p:extLst>
              <p:ext uri="{D42A27DB-BD31-4B8C-83A1-F6EECF244321}">
                <p14:modId xmlns:p14="http://schemas.microsoft.com/office/powerpoint/2010/main" val="141411992"/>
              </p:ext>
            </p:extLst>
          </p:nvPr>
        </p:nvGraphicFramePr>
        <p:xfrm>
          <a:off x="375047" y="770988"/>
          <a:ext cx="8308975" cy="4316413"/>
        </p:xfrm>
        <a:graphic>
          <a:graphicData uri="http://schemas.openxmlformats.org/drawingml/2006/table">
            <a:tbl>
              <a:tblPr firstRow="1" firstCol="1" bandRow="1">
                <a:tableStyleId>{5C22544A-7EE6-4342-B048-85BDC9FD1C3A}</a:tableStyleId>
              </a:tblPr>
              <a:tblGrid>
                <a:gridCol w="1828970">
                  <a:extLst>
                    <a:ext uri="{9D8B030D-6E8A-4147-A177-3AD203B41FA5}">
                      <a16:colId xmlns:a16="http://schemas.microsoft.com/office/drawing/2014/main" val="20000"/>
                    </a:ext>
                  </a:extLst>
                </a:gridCol>
                <a:gridCol w="6480005">
                  <a:extLst>
                    <a:ext uri="{9D8B030D-6E8A-4147-A177-3AD203B41FA5}">
                      <a16:colId xmlns:a16="http://schemas.microsoft.com/office/drawing/2014/main" val="20001"/>
                    </a:ext>
                  </a:extLst>
                </a:gridCol>
              </a:tblGrid>
              <a:tr h="344429">
                <a:tc>
                  <a:txBody>
                    <a:bodyPr/>
                    <a:lstStyle/>
                    <a:p>
                      <a:pPr marL="0" marR="0" indent="0" algn="ctr">
                        <a:lnSpc>
                          <a:spcPct val="100000"/>
                        </a:lnSpc>
                        <a:spcBef>
                          <a:spcPts val="0"/>
                        </a:spcBef>
                        <a:spcAft>
                          <a:spcPts val="0"/>
                        </a:spcAft>
                      </a:pPr>
                      <a:r>
                        <a:rPr lang="en-US" sz="1800" dirty="0">
                          <a:solidFill>
                            <a:schemeClr val="bg1"/>
                          </a:solidFill>
                          <a:effectLst/>
                          <a:latin typeface="Cambria" panose="02040503050406030204" pitchFamily="18" charset="0"/>
                          <a:ea typeface="Cambria" panose="02040503050406030204" pitchFamily="18" charset="0"/>
                        </a:rPr>
                        <a:t>Attribute</a:t>
                      </a:r>
                      <a:endParaRPr lang="en-US" sz="1800" dirty="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tc>
                  <a:txBody>
                    <a:bodyPr/>
                    <a:lstStyle/>
                    <a:p>
                      <a:pPr marL="0" marR="0" indent="0" algn="ctr">
                        <a:lnSpc>
                          <a:spcPct val="100000"/>
                        </a:lnSpc>
                        <a:spcBef>
                          <a:spcPts val="0"/>
                        </a:spcBef>
                        <a:spcAft>
                          <a:spcPts val="0"/>
                        </a:spcAft>
                      </a:pPr>
                      <a:r>
                        <a:rPr lang="en-US" sz="1800" dirty="0">
                          <a:solidFill>
                            <a:schemeClr val="bg1"/>
                          </a:solidFill>
                          <a:effectLst/>
                          <a:latin typeface="Cambria" panose="02040503050406030204" pitchFamily="18" charset="0"/>
                          <a:ea typeface="Cambria" panose="02040503050406030204" pitchFamily="18" charset="0"/>
                        </a:rPr>
                        <a:t>Description</a:t>
                      </a:r>
                      <a:endParaRPr lang="en-US" sz="1800" dirty="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extLst>
                  <a:ext uri="{0D108BD9-81ED-4DB2-BD59-A6C34878D82A}">
                    <a16:rowId xmlns:a16="http://schemas.microsoft.com/office/drawing/2014/main" val="10000"/>
                  </a:ext>
                </a:extLst>
              </a:tr>
              <a:tr h="1429270">
                <a:tc>
                  <a:txBody>
                    <a:bodyPr/>
                    <a:lstStyle/>
                    <a:p>
                      <a:pPr marL="0" marR="0" indent="0" algn="ctr">
                        <a:lnSpc>
                          <a:spcPct val="100000"/>
                        </a:lnSpc>
                        <a:spcBef>
                          <a:spcPts val="480"/>
                        </a:spcBef>
                        <a:spcAft>
                          <a:spcPts val="480"/>
                        </a:spcAft>
                      </a:pPr>
                      <a:r>
                        <a:rPr lang="en-US" sz="2000" dirty="0">
                          <a:solidFill>
                            <a:srgbClr val="FFFF00"/>
                          </a:solidFill>
                          <a:effectLst/>
                          <a:latin typeface="Cambria" panose="02040503050406030204" pitchFamily="18" charset="0"/>
                          <a:ea typeface="Cambria" panose="02040503050406030204" pitchFamily="18" charset="0"/>
                        </a:rPr>
                        <a:t>%FOUND</a:t>
                      </a:r>
                      <a:endParaRPr lang="en-US" sz="20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tc>
                  <a:txBody>
                    <a:bodyPr/>
                    <a:lstStyle/>
                    <a:p>
                      <a:pPr marL="0" marR="0" indent="0" algn="just">
                        <a:lnSpc>
                          <a:spcPct val="120000"/>
                        </a:lnSpc>
                        <a:spcBef>
                          <a:spcPts val="480"/>
                        </a:spcBef>
                        <a:spcAft>
                          <a:spcPts val="480"/>
                        </a:spcAft>
                      </a:pPr>
                      <a:r>
                        <a:rPr lang="en-US" sz="2000" kern="1200" dirty="0">
                          <a:solidFill>
                            <a:schemeClr val="dk1"/>
                          </a:solidFill>
                          <a:effectLst/>
                          <a:latin typeface="Cambria" panose="02040503050406030204" pitchFamily="18" charset="0"/>
                          <a:ea typeface="Cambria" panose="02040503050406030204" pitchFamily="18" charset="0"/>
                          <a:cs typeface="+mn-cs"/>
                        </a:rPr>
                        <a:t>Returns TRUE if an INSERT, UPDATE, or DELETE statement affected one or more rows or a SELECT INTO statement returned one or more rows. Otherwise, it returns FALSE.</a:t>
                      </a:r>
                    </a:p>
                  </a:txBody>
                  <a:tcPr marL="46778" marR="46778" marT="0" marB="0" anchor="ctr">
                    <a:solidFill>
                      <a:srgbClr val="FFCCB3"/>
                    </a:solidFill>
                  </a:tcPr>
                </a:tc>
                <a:extLst>
                  <a:ext uri="{0D108BD9-81ED-4DB2-BD59-A6C34878D82A}">
                    <a16:rowId xmlns:a16="http://schemas.microsoft.com/office/drawing/2014/main" val="10001"/>
                  </a:ext>
                </a:extLst>
              </a:tr>
              <a:tr h="412938">
                <a:tc>
                  <a:txBody>
                    <a:bodyPr/>
                    <a:lstStyle/>
                    <a:p>
                      <a:pPr marL="0" marR="0" lvl="0" indent="0" algn="ctr" defTabSz="914400" rtl="0" eaLnBrk="1" fontAlgn="auto" latinLnBrk="0" hangingPunct="1">
                        <a:lnSpc>
                          <a:spcPct val="100000"/>
                        </a:lnSpc>
                        <a:spcBef>
                          <a:spcPts val="480"/>
                        </a:spcBef>
                        <a:spcAft>
                          <a:spcPts val="480"/>
                        </a:spcAft>
                        <a:buClrTx/>
                        <a:buSzTx/>
                        <a:buFontTx/>
                        <a:buNone/>
                        <a:tabLst/>
                        <a:defRPr/>
                      </a:pPr>
                      <a:r>
                        <a:rPr lang="en-US" sz="2000" dirty="0">
                          <a:solidFill>
                            <a:srgbClr val="FFFF00"/>
                          </a:solidFill>
                          <a:effectLst/>
                          <a:latin typeface="Cambria" panose="02040503050406030204" pitchFamily="18" charset="0"/>
                          <a:ea typeface="Cambria" panose="02040503050406030204" pitchFamily="18" charset="0"/>
                        </a:rPr>
                        <a:t>%NOTFOUND</a:t>
                      </a:r>
                      <a:endParaRPr lang="en-US" sz="20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tc>
                  <a:txBody>
                    <a:bodyPr/>
                    <a:lstStyle/>
                    <a:p>
                      <a:pPr marL="0" marR="0" indent="0" algn="just">
                        <a:lnSpc>
                          <a:spcPct val="120000"/>
                        </a:lnSpc>
                        <a:spcBef>
                          <a:spcPts val="480"/>
                        </a:spcBef>
                        <a:spcAft>
                          <a:spcPts val="480"/>
                        </a:spcAft>
                      </a:pPr>
                      <a:r>
                        <a:rPr lang="en-US" sz="2000" b="0" i="0" u="none" strike="noStrike" kern="1200" baseline="0" dirty="0">
                          <a:solidFill>
                            <a:schemeClr val="dk1"/>
                          </a:solidFill>
                          <a:latin typeface="Cambria" panose="02040503050406030204" pitchFamily="18" charset="0"/>
                          <a:ea typeface="Cambria" panose="02040503050406030204" pitchFamily="18" charset="0"/>
                          <a:cs typeface="+mn-cs"/>
                        </a:rPr>
                        <a:t>The logical opposite of %FOUND.</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FFE3D5"/>
                    </a:solidFill>
                  </a:tcPr>
                </a:tc>
                <a:extLst>
                  <a:ext uri="{0D108BD9-81ED-4DB2-BD59-A6C34878D82A}">
                    <a16:rowId xmlns:a16="http://schemas.microsoft.com/office/drawing/2014/main" val="10002"/>
                  </a:ext>
                </a:extLst>
              </a:tr>
              <a:tr h="1064888">
                <a:tc>
                  <a:txBody>
                    <a:bodyPr/>
                    <a:lstStyle/>
                    <a:p>
                      <a:pPr marL="0" marR="0" indent="0" algn="ctr">
                        <a:lnSpc>
                          <a:spcPct val="100000"/>
                        </a:lnSpc>
                        <a:spcBef>
                          <a:spcPts val="480"/>
                        </a:spcBef>
                        <a:spcAft>
                          <a:spcPts val="480"/>
                        </a:spcAft>
                      </a:pPr>
                      <a:r>
                        <a:rPr lang="en-US" sz="2000" dirty="0">
                          <a:solidFill>
                            <a:srgbClr val="FFFF00"/>
                          </a:solidFill>
                          <a:effectLst/>
                          <a:latin typeface="Cambria" panose="02040503050406030204" pitchFamily="18" charset="0"/>
                          <a:ea typeface="Cambria" panose="02040503050406030204" pitchFamily="18" charset="0"/>
                        </a:rPr>
                        <a:t>%ISOPEN</a:t>
                      </a:r>
                      <a:endParaRPr lang="en-US" sz="20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tc>
                  <a:txBody>
                    <a:bodyPr/>
                    <a:lstStyle/>
                    <a:p>
                      <a:pPr algn="just">
                        <a:lnSpc>
                          <a:spcPct val="120000"/>
                        </a:lnSpc>
                      </a:pPr>
                      <a:r>
                        <a:rPr lang="en-US" sz="2000" b="0" i="0" u="none" strike="noStrike" kern="1200" baseline="0" dirty="0">
                          <a:solidFill>
                            <a:schemeClr val="dk1"/>
                          </a:solidFill>
                          <a:latin typeface="Cambria" panose="02040503050406030204" pitchFamily="18" charset="0"/>
                          <a:ea typeface="Cambria" panose="02040503050406030204" pitchFamily="18" charset="0"/>
                          <a:cs typeface="+mn-cs"/>
                        </a:rPr>
                        <a:t>Always returns FALSE for implicit cursors, because Oracle closes the SQL cursor automatically after executing its associated SQL statement.</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FFCCB3"/>
                    </a:solidFill>
                  </a:tcPr>
                </a:tc>
                <a:extLst>
                  <a:ext uri="{0D108BD9-81ED-4DB2-BD59-A6C34878D82A}">
                    <a16:rowId xmlns:a16="http://schemas.microsoft.com/office/drawing/2014/main" val="10003"/>
                  </a:ext>
                </a:extLst>
              </a:tr>
              <a:tr h="1064888">
                <a:tc>
                  <a:txBody>
                    <a:bodyPr/>
                    <a:lstStyle/>
                    <a:p>
                      <a:pPr marL="0" marR="0" lvl="0" indent="0" algn="ctr" defTabSz="914400" rtl="0" eaLnBrk="1" fontAlgn="auto" latinLnBrk="0" hangingPunct="1">
                        <a:lnSpc>
                          <a:spcPct val="100000"/>
                        </a:lnSpc>
                        <a:spcBef>
                          <a:spcPts val="480"/>
                        </a:spcBef>
                        <a:spcAft>
                          <a:spcPts val="480"/>
                        </a:spcAft>
                        <a:buClrTx/>
                        <a:buSzTx/>
                        <a:buFontTx/>
                        <a:buNone/>
                        <a:tabLst/>
                        <a:defRPr/>
                      </a:pPr>
                      <a:r>
                        <a:rPr lang="en-US" sz="2000" dirty="0">
                          <a:solidFill>
                            <a:srgbClr val="FFFF00"/>
                          </a:solidFill>
                          <a:effectLst/>
                          <a:latin typeface="Cambria" panose="02040503050406030204" pitchFamily="18" charset="0"/>
                          <a:ea typeface="Cambria" panose="02040503050406030204" pitchFamily="18" charset="0"/>
                        </a:rPr>
                        <a:t>%ROWCOUNT</a:t>
                      </a:r>
                      <a:endParaRPr lang="en-US" sz="20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990000"/>
                    </a:solidFill>
                  </a:tcPr>
                </a:tc>
                <a:tc>
                  <a:txBody>
                    <a:bodyPr/>
                    <a:lstStyle/>
                    <a:p>
                      <a:pPr algn="just">
                        <a:lnSpc>
                          <a:spcPct val="120000"/>
                        </a:lnSpc>
                      </a:pPr>
                      <a:r>
                        <a:rPr lang="en-US" sz="2000" b="0" i="0" u="none" strike="noStrike" kern="1200" baseline="0" dirty="0">
                          <a:solidFill>
                            <a:schemeClr val="dk1"/>
                          </a:solidFill>
                          <a:latin typeface="Cambria" panose="02040503050406030204" pitchFamily="18" charset="0"/>
                          <a:ea typeface="Cambria" panose="02040503050406030204" pitchFamily="18" charset="0"/>
                          <a:cs typeface="+mn-cs"/>
                        </a:rPr>
                        <a:t>Returns the number of rows affected by an INSERT, UPDATE, or DELETE statement, or returned by a SELECT INTO statement.</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txBody>
                  <a:tcPr marL="46778" marR="46778" marT="0" marB="0" anchor="ctr">
                    <a:solidFill>
                      <a:srgbClr val="FFE3D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804734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667AB-CBEF-E7F7-967D-2E01F894CE4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3A299D5-3580-1B92-5276-97B5CE77716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Implicit Cursor</a:t>
            </a:r>
          </a:p>
        </p:txBody>
      </p:sp>
      <p:sp>
        <p:nvSpPr>
          <p:cNvPr id="38915" name="Rectangle 3">
            <a:extLst>
              <a:ext uri="{FF2B5EF4-FFF2-40B4-BE49-F238E27FC236}">
                <a16:creationId xmlns:a16="http://schemas.microsoft.com/office/drawing/2014/main" id="{CF522C9C-EAFD-B8A8-1475-05B5A46C213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BB78889-2B41-FE3F-3FB7-0E0193F8B46F}"/>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7EF5C29A-F30A-9297-0076-B8617F30D6F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F5C24A90-6D6F-BFB5-E06A-0F6159B4C9CE}"/>
              </a:ext>
            </a:extLst>
          </p:cNvPr>
          <p:cNvSpPr>
            <a:spLocks noChangeArrowheads="1"/>
          </p:cNvSpPr>
          <p:nvPr/>
        </p:nvSpPr>
        <p:spPr bwMode="blackWhite">
          <a:xfrm>
            <a:off x="356495" y="764705"/>
            <a:ext cx="8460432" cy="504055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total_rows</a:t>
            </a:r>
            <a:r>
              <a:rPr lang="en-US" altLang="en-US" dirty="0">
                <a:latin typeface="Cambria" panose="02040503050406030204" pitchFamily="18" charset="0"/>
                <a:ea typeface="Cambria" panose="02040503050406030204" pitchFamily="18" charset="0"/>
                <a:cs typeface="Courier New" panose="02070309020205020404" pitchFamily="49" charset="0"/>
              </a:rPr>
              <a:t> number(2); </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UPDATE EMP;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SET SAL=SAL*1.1;</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IF </a:t>
            </a:r>
            <a:r>
              <a:rPr lang="en-US" altLang="en-US" dirty="0" err="1">
                <a:latin typeface="Cambria" panose="02040503050406030204" pitchFamily="18" charset="0"/>
                <a:ea typeface="Cambria" panose="02040503050406030204" pitchFamily="18" charset="0"/>
                <a:cs typeface="Courier New" panose="02070309020205020404" pitchFamily="49" charset="0"/>
              </a:rPr>
              <a:t>sql%notfound</a:t>
            </a:r>
            <a:r>
              <a:rPr lang="en-US" altLang="en-US" dirty="0">
                <a:latin typeface="Cambria" panose="02040503050406030204" pitchFamily="18" charset="0"/>
                <a:ea typeface="Cambria" panose="02040503050406030204" pitchFamily="18" charset="0"/>
                <a:cs typeface="Courier New" panose="02070309020205020404" pitchFamily="49" charset="0"/>
              </a:rPr>
              <a:t> THEN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dbms_output.put_line</a:t>
            </a:r>
            <a:r>
              <a:rPr lang="en-US" altLang="en-US" dirty="0">
                <a:latin typeface="Cambria" panose="02040503050406030204" pitchFamily="18" charset="0"/>
                <a:ea typeface="Cambria" panose="02040503050406030204" pitchFamily="18" charset="0"/>
                <a:cs typeface="Courier New" panose="02070309020205020404" pitchFamily="49" charset="0"/>
              </a:rPr>
              <a:t>(‘no record selected’);</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ELSIF </a:t>
            </a:r>
            <a:r>
              <a:rPr lang="en-US" altLang="en-US" dirty="0" err="1">
                <a:latin typeface="Cambria" panose="02040503050406030204" pitchFamily="18" charset="0"/>
                <a:ea typeface="Cambria" panose="02040503050406030204" pitchFamily="18" charset="0"/>
                <a:cs typeface="Courier New" panose="02070309020205020404" pitchFamily="49" charset="0"/>
              </a:rPr>
              <a:t>sql%found</a:t>
            </a:r>
            <a:r>
              <a:rPr lang="en-US" altLang="en-US" dirty="0">
                <a:latin typeface="Cambria" panose="02040503050406030204" pitchFamily="18" charset="0"/>
                <a:ea typeface="Cambria" panose="02040503050406030204" pitchFamily="18" charset="0"/>
                <a:cs typeface="Courier New" panose="02070309020205020404" pitchFamily="49" charset="0"/>
              </a:rPr>
              <a:t> THEN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total_rows</a:t>
            </a:r>
            <a:r>
              <a:rPr lang="en-US" altLang="en-US" dirty="0">
                <a:latin typeface="Cambria" panose="02040503050406030204" pitchFamily="18" charset="0"/>
                <a:ea typeface="Cambria" panose="02040503050406030204" pitchFamily="18" charset="0"/>
                <a:cs typeface="Courier New" panose="02070309020205020404" pitchFamily="49" charset="0"/>
              </a:rPr>
              <a:t> := </a:t>
            </a:r>
            <a:r>
              <a:rPr lang="en-US" altLang="en-US" dirty="0" err="1">
                <a:latin typeface="Cambria" panose="02040503050406030204" pitchFamily="18" charset="0"/>
                <a:ea typeface="Cambria" panose="02040503050406030204" pitchFamily="18" charset="0"/>
                <a:cs typeface="Courier New" panose="02070309020205020404" pitchFamily="49" charset="0"/>
              </a:rPr>
              <a:t>sql%rowcount</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dbms_output.put_line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total_rows</a:t>
            </a:r>
            <a:r>
              <a:rPr lang="en-US" altLang="en-US" dirty="0">
                <a:latin typeface="Cambria" panose="02040503050406030204" pitchFamily="18" charset="0"/>
                <a:ea typeface="Cambria" panose="02040503050406030204" pitchFamily="18" charset="0"/>
                <a:cs typeface="Courier New" panose="02070309020205020404" pitchFamily="49" charset="0"/>
              </a:rPr>
              <a:t> || ‘ records updated ‘);</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END IF;</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25018307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1332-B740-0B6F-941B-E48B43012F4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92ED7E8-787C-5E9C-DF8A-0AB89DB63B87}"/>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Explicit Cursor</a:t>
            </a:r>
          </a:p>
        </p:txBody>
      </p:sp>
      <p:sp>
        <p:nvSpPr>
          <p:cNvPr id="38915" name="Rectangle 3">
            <a:extLst>
              <a:ext uri="{FF2B5EF4-FFF2-40B4-BE49-F238E27FC236}">
                <a16:creationId xmlns:a16="http://schemas.microsoft.com/office/drawing/2014/main" id="{9C889E59-5581-6048-42B4-032084E5655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CD44477-7F49-3DA2-7681-65DEF577533F}"/>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4F8002E2-AC5D-2E85-3617-24F52B5411C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7139E44C-CBA2-DD28-5183-F2B1C52C20B3}"/>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following four steps are performed when you use an explicit cursor:</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1. DECLARE a cursor</a:t>
            </a:r>
          </a:p>
          <a:p>
            <a:pPr marL="0" indent="0" algn="just">
              <a:spcBef>
                <a:spcPts val="300"/>
              </a:spcBef>
              <a:buClr>
                <a:srgbClr val="D34817"/>
              </a:buClr>
              <a:buSzPct val="50000"/>
              <a:buNone/>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CURSOR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cursor_name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IS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select_statement</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t>
            </a:r>
          </a:p>
          <a:p>
            <a:pPr marL="0" indent="0" algn="just">
              <a:spcBef>
                <a:spcPts val="300"/>
              </a:spcBef>
              <a:buClr>
                <a:srgbClr val="D34817"/>
              </a:buClr>
              <a:buSzPct val="50000"/>
              <a:buNone/>
              <a:defRPr/>
            </a:pP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2. OPEN a cursor</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OPEN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cursor_name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t>
            </a:r>
          </a:p>
          <a:p>
            <a:pPr marL="0" indent="0" algn="just">
              <a:spcBef>
                <a:spcPts val="300"/>
              </a:spcBef>
              <a:buClr>
                <a:srgbClr val="D34817"/>
              </a:buClr>
              <a:buSzPct val="50000"/>
              <a:buNone/>
              <a:defRPr/>
            </a:pP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3. FETCH rows from the cursor</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FETCH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cursor_name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INTO variables;</a:t>
            </a:r>
          </a:p>
          <a:p>
            <a:pPr marL="0" indent="0" algn="just">
              <a:spcBef>
                <a:spcPts val="300"/>
              </a:spcBef>
              <a:buClr>
                <a:srgbClr val="D34817"/>
              </a:buClr>
              <a:buSzPct val="50000"/>
              <a:buNone/>
              <a:defRPr/>
            </a:pPr>
            <a:r>
              <a:rPr kumimoji="0" lang="en-US" altLang="en-US" sz="24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4. CLOSE the cursor</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CLOSE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cursor_name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69900753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07BBB-A7BC-1BBC-E68B-83BC6A747A0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0947D4F-2209-9AE8-B8B9-BF8F4AB6FAC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Explicit Cursor</a:t>
            </a:r>
          </a:p>
        </p:txBody>
      </p:sp>
      <p:sp>
        <p:nvSpPr>
          <p:cNvPr id="38915" name="Rectangle 3">
            <a:extLst>
              <a:ext uri="{FF2B5EF4-FFF2-40B4-BE49-F238E27FC236}">
                <a16:creationId xmlns:a16="http://schemas.microsoft.com/office/drawing/2014/main" id="{CC18786D-BFE8-8876-D685-2919AD24F22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FA63D1B-B514-E6D1-30EA-B8818D42D4E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C0CCBFF-4B3E-A330-A17B-EE243D78EEB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EAC02FBC-E0B2-52EF-A25B-5356EACFE046}"/>
              </a:ext>
            </a:extLst>
          </p:cNvPr>
          <p:cNvSpPr>
            <a:spLocks noChangeArrowheads="1"/>
          </p:cNvSpPr>
          <p:nvPr/>
        </p:nvSpPr>
        <p:spPr bwMode="blackWhite">
          <a:xfrm>
            <a:off x="356495" y="764705"/>
            <a:ext cx="8460432" cy="535151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c_ename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emp.ename%type</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c_job</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emp.job%type</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CURSOR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 IS SELECT </a:t>
            </a:r>
            <a:r>
              <a:rPr lang="en-US" altLang="en-US" dirty="0" err="1">
                <a:latin typeface="Cambria" panose="02040503050406030204" pitchFamily="18" charset="0"/>
                <a:ea typeface="Cambria" panose="02040503050406030204" pitchFamily="18" charset="0"/>
                <a:cs typeface="Courier New" panose="02070309020205020404" pitchFamily="49" charset="0"/>
              </a:rPr>
              <a:t>ename,job</a:t>
            </a:r>
            <a:r>
              <a:rPr lang="en-US" altLang="en-US" dirty="0">
                <a:latin typeface="Cambria" panose="02040503050406030204" pitchFamily="18" charset="0"/>
                <a:ea typeface="Cambria" panose="02040503050406030204" pitchFamily="18" charset="0"/>
                <a:cs typeface="Courier New" panose="02070309020205020404" pitchFamily="49" charset="0"/>
              </a:rPr>
              <a:t> from emp;</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OPEN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emp_cursor</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FETCH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 INTO </a:t>
            </a:r>
            <a:r>
              <a:rPr lang="en-US" altLang="en-US" dirty="0" err="1">
                <a:latin typeface="Cambria" panose="02040503050406030204" pitchFamily="18" charset="0"/>
                <a:ea typeface="Cambria" panose="02040503050406030204" pitchFamily="18" charset="0"/>
                <a:cs typeface="Courier New" panose="02070309020205020404" pitchFamily="49" charset="0"/>
              </a:rPr>
              <a:t>c_ename,c_job</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EXIT WHEN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emp_cursor%notfound</a:t>
            </a:r>
            <a:r>
              <a:rPr lang="en-US" altLang="en-US" dirty="0">
                <a:latin typeface="Cambria" panose="02040503050406030204" pitchFamily="18" charset="0"/>
                <a:ea typeface="Cambria" panose="02040503050406030204" pitchFamily="18" charset="0"/>
                <a:cs typeface="Courier New" panose="02070309020205020404" pitchFamily="49" charset="0"/>
              </a:rPr>
              <a:t>;			   </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a:t>
            </a:r>
            <a:r>
              <a:rPr lang="en-US" altLang="en-US" dirty="0" err="1">
                <a:latin typeface="Cambria" panose="02040503050406030204" pitchFamily="18" charset="0"/>
                <a:ea typeface="Cambria" panose="02040503050406030204" pitchFamily="18" charset="0"/>
                <a:cs typeface="Courier New" panose="02070309020205020404" pitchFamily="49" charset="0"/>
              </a:rPr>
              <a:t>c_ename</a:t>
            </a:r>
            <a:r>
              <a:rPr lang="en-US" altLang="en-US" dirty="0">
                <a:latin typeface="Cambria" panose="02040503050406030204" pitchFamily="18" charset="0"/>
                <a:ea typeface="Cambria" panose="02040503050406030204" pitchFamily="18" charset="0"/>
                <a:cs typeface="Courier New" panose="02070309020205020404" pitchFamily="49" charset="0"/>
              </a:rPr>
              <a:t>||' is a '||</a:t>
            </a:r>
            <a:r>
              <a:rPr lang="en-US" altLang="en-US" dirty="0" err="1">
                <a:latin typeface="Cambria" panose="02040503050406030204" pitchFamily="18" charset="0"/>
                <a:ea typeface="Cambria" panose="02040503050406030204" pitchFamily="18" charset="0"/>
                <a:cs typeface="Courier New" panose="02070309020205020404" pitchFamily="49" charset="0"/>
              </a:rPr>
              <a:t>c_job</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 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CLOSE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emp_cursor</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endParaRPr lang="en-US" altLang="en-US"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17599099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41BB9-DD84-97DE-D4EC-8906BE5251E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5FDFE20-C7C7-F038-8C7B-F3A9D80A4E3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Parameterized Cursor</a:t>
            </a:r>
          </a:p>
        </p:txBody>
      </p:sp>
      <p:sp>
        <p:nvSpPr>
          <p:cNvPr id="38915" name="Rectangle 3">
            <a:extLst>
              <a:ext uri="{FF2B5EF4-FFF2-40B4-BE49-F238E27FC236}">
                <a16:creationId xmlns:a16="http://schemas.microsoft.com/office/drawing/2014/main" id="{2FDEB96E-1DEE-3C67-CC9B-A3768963CD4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248BFAF-D9F3-0053-7BCB-CFADA652970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1260FD90-9CCA-2713-7D03-9C8ACA232EA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E84D7619-EC37-7ED0-EEE0-0A2F3A9A008F}"/>
              </a:ext>
            </a:extLst>
          </p:cNvPr>
          <p:cNvSpPr>
            <a:spLocks noChangeArrowheads="1"/>
          </p:cNvSpPr>
          <p:nvPr/>
        </p:nvSpPr>
        <p:spPr bwMode="blackWhite">
          <a:xfrm>
            <a:off x="356495" y="692697"/>
            <a:ext cx="8460432" cy="129614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CURSOR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cursor_name</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parameter_list</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 IS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cursor_query</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To open a cursor with parameters:</a:t>
            </a:r>
          </a:p>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OPEN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cursor_name</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value_list</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p:txBody>
      </p:sp>
      <p:sp>
        <p:nvSpPr>
          <p:cNvPr id="4" name="Rectangle 4">
            <a:extLst>
              <a:ext uri="{FF2B5EF4-FFF2-40B4-BE49-F238E27FC236}">
                <a16:creationId xmlns:a16="http://schemas.microsoft.com/office/drawing/2014/main" id="{385C6DE2-5FC2-13E4-8488-FB1EC8F319A8}"/>
              </a:ext>
            </a:extLst>
          </p:cNvPr>
          <p:cNvSpPr>
            <a:spLocks noChangeArrowheads="1"/>
          </p:cNvSpPr>
          <p:nvPr/>
        </p:nvSpPr>
        <p:spPr bwMode="blackWhite">
          <a:xfrm>
            <a:off x="323528" y="2060848"/>
            <a:ext cx="8460432" cy="451676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CURSOR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emp_cursor</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c_job</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emp.job%type</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r>
              <a:rPr lang="en-US" altLang="en-US" dirty="0">
                <a:latin typeface="Cambria" panose="02040503050406030204" pitchFamily="18" charset="0"/>
                <a:ea typeface="Cambria" panose="02040503050406030204" pitchFamily="18" charset="0"/>
                <a:cs typeface="Courier New" panose="02070309020205020404" pitchFamily="49" charset="0"/>
              </a:rPr>
              <a:t> IS </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SELECT </a:t>
            </a:r>
            <a:r>
              <a:rPr lang="en-US" altLang="en-US" dirty="0" err="1">
                <a:latin typeface="Cambria" panose="02040503050406030204" pitchFamily="18" charset="0"/>
                <a:ea typeface="Cambria" panose="02040503050406030204" pitchFamily="18" charset="0"/>
                <a:cs typeface="Courier New" panose="02070309020205020404" pitchFamily="49" charset="0"/>
              </a:rPr>
              <a:t>ename</a:t>
            </a:r>
            <a:r>
              <a:rPr lang="en-US" altLang="en-US" dirty="0">
                <a:latin typeface="Cambria" panose="02040503050406030204" pitchFamily="18" charset="0"/>
                <a:ea typeface="Cambria" panose="02040503050406030204" pitchFamily="18" charset="0"/>
                <a:cs typeface="Courier New" panose="02070309020205020404" pitchFamily="49" charset="0"/>
              </a:rPr>
              <a:t> from emp where job=</a:t>
            </a:r>
            <a:r>
              <a:rPr lang="en-US" altLang="en-US" dirty="0" err="1">
                <a:latin typeface="Cambria" panose="02040503050406030204" pitchFamily="18" charset="0"/>
                <a:ea typeface="Cambria" panose="02040503050406030204" pitchFamily="18" charset="0"/>
                <a:cs typeface="Courier New" panose="02070309020205020404" pitchFamily="49" charset="0"/>
              </a:rPr>
              <a:t>c_job</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c_ename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emp.ename%type</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OPEN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('CLERK');</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-----FETCH----EXIT----OUTPUT----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END 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CLOSE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250036918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CF158-35E0-564D-9D91-39D58D6F882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260CA96-C8BC-12E3-3C36-02BC2E20402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PL/SQL Records</a:t>
            </a:r>
          </a:p>
        </p:txBody>
      </p:sp>
      <p:sp>
        <p:nvSpPr>
          <p:cNvPr id="38915" name="Rectangle 3">
            <a:extLst>
              <a:ext uri="{FF2B5EF4-FFF2-40B4-BE49-F238E27FC236}">
                <a16:creationId xmlns:a16="http://schemas.microsoft.com/office/drawing/2014/main" id="{C147226F-0FDF-294D-564C-04FD6D4C063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D7BABF6-16B5-642A-5B48-33F0AA9A7DE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2E635EDC-B2FC-DD69-6E1B-F9431733575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F77EC139-8087-3D24-A79E-EDAE4174D1B3}"/>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record is a data structure that can hold data items of different types.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There are the following types of PL/SQL records:</a:t>
            </a:r>
          </a:p>
          <a:p>
            <a:pPr marL="731838" lvl="1" indent="-457200" algn="just">
              <a:spcBef>
                <a:spcPts val="300"/>
              </a:spcBef>
              <a:buClr>
                <a:srgbClr val="D34817"/>
              </a:buClr>
              <a:buSzPct val="100000"/>
              <a:buFont typeface="+mj-lt"/>
              <a:buAutoNum type="alphaLcParenR"/>
              <a:defRPr/>
            </a:pPr>
            <a:r>
              <a:rPr kumimoji="0" lang="en-US" altLang="en-US"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Table based records</a:t>
            </a:r>
          </a:p>
          <a:p>
            <a:pPr marL="731838" lvl="1" indent="-457200" algn="just">
              <a:spcBef>
                <a:spcPts val="300"/>
              </a:spcBef>
              <a:buClr>
                <a:srgbClr val="D34817"/>
              </a:buClr>
              <a:buSzPct val="100000"/>
              <a:buFont typeface="+mj-lt"/>
              <a:buAutoNum type="alphaLcParenR"/>
              <a:defRPr/>
            </a:pPr>
            <a:r>
              <a:rPr kumimoji="0" lang="en-US" altLang="en-US"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Cursor based records</a:t>
            </a:r>
          </a:p>
          <a:p>
            <a:pPr marL="731838" lvl="1" indent="-457200" algn="just">
              <a:spcBef>
                <a:spcPts val="300"/>
              </a:spcBef>
              <a:buClr>
                <a:srgbClr val="D34817"/>
              </a:buClr>
              <a:buSzPct val="100000"/>
              <a:buFont typeface="+mj-lt"/>
              <a:buAutoNum type="alphaLcParenR"/>
              <a:defRPr/>
            </a:pPr>
            <a:r>
              <a:rPr kumimoji="0" lang="en-US" altLang="en-US"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Calibri" panose="020F0502020204030204" pitchFamily="34" charset="0"/>
              </a:rPr>
              <a:t>User defined records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rowtype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attribute is used for creating table based and cursor based records.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65716746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E19B-BBAE-39E2-55D6-A5C1C3095D9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5C2EBB6-51F6-AEFC-F246-132D63F2A2E5}"/>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Cursor based Record</a:t>
            </a:r>
          </a:p>
        </p:txBody>
      </p:sp>
      <p:sp>
        <p:nvSpPr>
          <p:cNvPr id="38915" name="Rectangle 3">
            <a:extLst>
              <a:ext uri="{FF2B5EF4-FFF2-40B4-BE49-F238E27FC236}">
                <a16:creationId xmlns:a16="http://schemas.microsoft.com/office/drawing/2014/main" id="{C17D9F9F-0FF4-23A7-A061-E3137307E2C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555E91C-E2A1-BB5E-22F0-5B620CDCD1E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6DF3A11B-CBBA-EEA3-A17D-673BF0F33BA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00D2CAF2-5314-FF1C-BE1A-909D5856C04A}"/>
              </a:ext>
            </a:extLst>
          </p:cNvPr>
          <p:cNvSpPr>
            <a:spLocks noChangeArrowheads="1"/>
          </p:cNvSpPr>
          <p:nvPr/>
        </p:nvSpPr>
        <p:spPr bwMode="blackWhite">
          <a:xfrm>
            <a:off x="356495" y="764705"/>
            <a:ext cx="8460432" cy="535151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emp_rec</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emp%rowtype</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CURSOR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 IS SELECT * from emp;</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OPEN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emp_cursor</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FETCH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a:t>
            </a:r>
            <a:r>
              <a:rPr lang="en-US" altLang="en-US" dirty="0">
                <a:latin typeface="Cambria" panose="02040503050406030204" pitchFamily="18" charset="0"/>
                <a:ea typeface="Cambria" panose="02040503050406030204" pitchFamily="18" charset="0"/>
                <a:cs typeface="Courier New" panose="02070309020205020404" pitchFamily="49" charset="0"/>
              </a:rPr>
              <a:t> INTO </a:t>
            </a:r>
            <a:r>
              <a:rPr lang="en-US" altLang="en-US" dirty="0" err="1">
                <a:latin typeface="Cambria" panose="02040503050406030204" pitchFamily="18" charset="0"/>
                <a:ea typeface="Cambria" panose="02040503050406030204" pitchFamily="18" charset="0"/>
                <a:cs typeface="Courier New" panose="02070309020205020404" pitchFamily="49" charset="0"/>
              </a:rPr>
              <a:t>emp_rec</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EXIT WHEN </a:t>
            </a:r>
            <a:r>
              <a:rPr lang="en-US" altLang="en-US" dirty="0" err="1">
                <a:latin typeface="Cambria" panose="02040503050406030204" pitchFamily="18" charset="0"/>
                <a:ea typeface="Cambria" panose="02040503050406030204" pitchFamily="18" charset="0"/>
                <a:cs typeface="Courier New" panose="02070309020205020404" pitchFamily="49" charset="0"/>
              </a:rPr>
              <a:t>emp_cursor%notfound</a:t>
            </a:r>
            <a:r>
              <a:rPr lang="en-US" altLang="en-US" dirty="0">
                <a:latin typeface="Cambria" panose="02040503050406030204" pitchFamily="18" charset="0"/>
                <a:ea typeface="Cambria" panose="02040503050406030204" pitchFamily="18" charset="0"/>
                <a:cs typeface="Courier New" panose="02070309020205020404" pitchFamily="49" charset="0"/>
              </a:rPr>
              <a:t>;			   </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(‘emp id: ‘||</a:t>
            </a:r>
            <a:r>
              <a:rPr lang="en-US" altLang="en-US" dirty="0" err="1">
                <a:latin typeface="Cambria" panose="02040503050406030204" pitchFamily="18" charset="0"/>
                <a:ea typeface="Cambria" panose="02040503050406030204" pitchFamily="18" charset="0"/>
                <a:cs typeface="Courier New" panose="02070309020205020404" pitchFamily="49" charset="0"/>
              </a:rPr>
              <a:t>emp_rec.empno</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DBMS_OUTPUT.PUT_LINE (‘</a:t>
            </a:r>
            <a:r>
              <a:rPr lang="en-US" altLang="en-US" dirty="0" err="1">
                <a:latin typeface="Cambria" panose="02040503050406030204" pitchFamily="18" charset="0"/>
                <a:ea typeface="Cambria" panose="02040503050406030204" pitchFamily="18" charset="0"/>
                <a:cs typeface="Courier New" panose="02070309020205020404" pitchFamily="49" charset="0"/>
              </a:rPr>
              <a:t>ename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emp_rec.ename</a:t>
            </a: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 LOOP;</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CLOSE </a:t>
            </a:r>
            <a:r>
              <a:rPr lang="en-US" altLang="en-US" dirty="0" err="1">
                <a:solidFill>
                  <a:srgbClr val="0000FF"/>
                </a:solidFill>
                <a:latin typeface="Cambria" panose="02040503050406030204" pitchFamily="18" charset="0"/>
                <a:ea typeface="Cambria" panose="02040503050406030204" pitchFamily="18" charset="0"/>
                <a:cs typeface="Courier New" panose="02070309020205020404" pitchFamily="49" charset="0"/>
              </a:rPr>
              <a:t>emp_cursor</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332049982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B7D2-C15E-039B-EC89-2700FC7E0CF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1A1F1B4-B59E-1BB7-0553-1E6B6FC84C2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User defined Record</a:t>
            </a:r>
          </a:p>
        </p:txBody>
      </p:sp>
      <p:sp>
        <p:nvSpPr>
          <p:cNvPr id="38915" name="Rectangle 3">
            <a:extLst>
              <a:ext uri="{FF2B5EF4-FFF2-40B4-BE49-F238E27FC236}">
                <a16:creationId xmlns:a16="http://schemas.microsoft.com/office/drawing/2014/main" id="{28E6E8D5-5FD5-8390-05D4-0E27A3AEC16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B916E31-594A-87CD-39E2-265955F0179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83A7CF5B-B217-6E45-687F-35CE6CCD93F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7DD1CACE-0510-E63A-DF61-45AB68F57465}"/>
              </a:ext>
            </a:extLst>
          </p:cNvPr>
          <p:cNvSpPr>
            <a:spLocks noChangeArrowheads="1"/>
          </p:cNvSpPr>
          <p:nvPr/>
        </p:nvSpPr>
        <p:spPr bwMode="blackWhite">
          <a:xfrm>
            <a:off x="288702" y="764705"/>
            <a:ext cx="8603778" cy="25922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type_name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IS RECORD</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 field_name1 datatype1 [NOT NULL] [:= DEFAULT EXPRESSION],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field_name2 datatype2 [NOT NULL] [:= DEFAULT EXPRESSION],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dirty="0" err="1">
                <a:latin typeface="Cambria" panose="02040503050406030204" pitchFamily="18" charset="0"/>
                <a:ea typeface="Cambria" panose="02040503050406030204" pitchFamily="18" charset="0"/>
                <a:cs typeface="Courier New" panose="02070309020205020404" pitchFamily="49" charset="0"/>
              </a:rPr>
              <a:t>field_nameN</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datatypeN</a:t>
            </a:r>
            <a:r>
              <a:rPr lang="en-US" altLang="en-US" dirty="0">
                <a:latin typeface="Cambria" panose="02040503050406030204" pitchFamily="18" charset="0"/>
                <a:ea typeface="Cambria" panose="02040503050406030204" pitchFamily="18" charset="0"/>
                <a:cs typeface="Courier New" panose="02070309020205020404" pitchFamily="49" charset="0"/>
              </a:rPr>
              <a:t> [NOT NULL] [:= DEFAULT EXPRESSION);</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record-name </a:t>
            </a:r>
            <a:r>
              <a:rPr lang="en-US" altLang="en-US" dirty="0" err="1">
                <a:latin typeface="Cambria" panose="02040503050406030204" pitchFamily="18" charset="0"/>
                <a:ea typeface="Cambria" panose="02040503050406030204" pitchFamily="18" charset="0"/>
                <a:cs typeface="Courier New" panose="02070309020205020404" pitchFamily="49" charset="0"/>
              </a:rPr>
              <a:t>type_name</a:t>
            </a:r>
            <a:r>
              <a:rPr lang="en-US" altLang="en-US" dirty="0">
                <a:latin typeface="Cambria" panose="02040503050406030204" pitchFamily="18" charset="0"/>
                <a:ea typeface="Cambria" panose="02040503050406030204" pitchFamily="18" charset="0"/>
                <a:cs typeface="Courier New" panose="02070309020205020404" pitchFamily="49" charset="0"/>
              </a:rPr>
              <a:t>;</a:t>
            </a:r>
          </a:p>
        </p:txBody>
      </p:sp>
      <p:sp>
        <p:nvSpPr>
          <p:cNvPr id="4" name="Rectangle 4">
            <a:extLst>
              <a:ext uri="{FF2B5EF4-FFF2-40B4-BE49-F238E27FC236}">
                <a16:creationId xmlns:a16="http://schemas.microsoft.com/office/drawing/2014/main" id="{DB25CE0E-B406-A9B6-D3DF-A0A257759D7A}"/>
              </a:ext>
            </a:extLst>
          </p:cNvPr>
          <p:cNvSpPr>
            <a:spLocks noChangeArrowheads="1"/>
          </p:cNvSpPr>
          <p:nvPr/>
        </p:nvSpPr>
        <p:spPr bwMode="blackWhite">
          <a:xfrm>
            <a:off x="323528" y="3540568"/>
            <a:ext cx="8603778" cy="25922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 student IS RECORD</a:t>
            </a:r>
          </a:p>
          <a:p>
            <a:pPr marL="0" lvl="1" algn="just">
              <a:spcBef>
                <a:spcPts val="300"/>
              </a:spcBef>
              <a:buClr>
                <a:srgbClr val="D34817"/>
              </a:buClr>
              <a:buSzPct val="50000"/>
              <a:buNone/>
              <a:defRPr/>
            </a:pPr>
            <a:r>
              <a:rPr lang="en-US" altLang="en-US" dirty="0">
                <a:latin typeface="Cambria" panose="02040503050406030204" pitchFamily="18" charset="0"/>
                <a:ea typeface="Cambria" panose="02040503050406030204" pitchFamily="18" charset="0"/>
                <a:cs typeface="Courier New" panose="02070309020205020404" pitchFamily="49" charset="0"/>
              </a:rPr>
              <a:t>(</a:t>
            </a:r>
            <a:r>
              <a:rPr lang="en-US" altLang="en-US" dirty="0" err="1">
                <a:latin typeface="Cambria" panose="02040503050406030204" pitchFamily="18" charset="0"/>
                <a:ea typeface="Cambria" panose="02040503050406030204" pitchFamily="18" charset="0"/>
                <a:cs typeface="Courier New" panose="02070309020205020404" pitchFamily="49" charset="0"/>
              </a:rPr>
              <a:t>rollno</a:t>
            </a:r>
            <a:r>
              <a:rPr lang="en-US" altLang="en-US" dirty="0">
                <a:latin typeface="Cambria" panose="02040503050406030204" pitchFamily="18" charset="0"/>
                <a:ea typeface="Cambria" panose="02040503050406030204" pitchFamily="18" charset="0"/>
                <a:cs typeface="Courier New" panose="02070309020205020404" pitchFamily="49" charset="0"/>
              </a:rPr>
              <a:t> char(11),</a:t>
            </a:r>
          </a:p>
          <a:p>
            <a:pPr marL="0" lvl="1" algn="just">
              <a:spcBef>
                <a:spcPts val="300"/>
              </a:spcBef>
              <a:buClr>
                <a:srgbClr val="D34817"/>
              </a:buClr>
              <a:buSzPct val="50000"/>
              <a:buNone/>
              <a:defRPr/>
            </a:pPr>
            <a:r>
              <a:rPr lang="en-US" altLang="en-US" dirty="0" err="1">
                <a:latin typeface="Cambria" panose="02040503050406030204" pitchFamily="18" charset="0"/>
                <a:ea typeface="Cambria" panose="02040503050406030204" pitchFamily="18" charset="0"/>
                <a:cs typeface="Courier New" panose="02070309020205020404" pitchFamily="49" charset="0"/>
              </a:rPr>
              <a:t>Sname</a:t>
            </a:r>
            <a:r>
              <a:rPr lang="en-US" altLang="en-US" dirty="0">
                <a:latin typeface="Cambria" panose="02040503050406030204" pitchFamily="18" charset="0"/>
                <a:ea typeface="Cambria" panose="02040503050406030204" pitchFamily="18" charset="0"/>
                <a:cs typeface="Courier New" panose="02070309020205020404" pitchFamily="49" charset="0"/>
              </a:rPr>
              <a:t> varchar2(20);</a:t>
            </a:r>
          </a:p>
          <a:p>
            <a:pPr marL="0" lvl="1" algn="just">
              <a:spcBef>
                <a:spcPts val="300"/>
              </a:spcBef>
              <a:buClr>
                <a:srgbClr val="D34817"/>
              </a:buClr>
              <a:buSzPct val="50000"/>
              <a:buNone/>
              <a:defRPr/>
            </a:pPr>
            <a:endParaRPr lang="en-US" altLang="en-US" dirty="0">
              <a:latin typeface="Cambria" panose="02040503050406030204" pitchFamily="18" charset="0"/>
              <a:ea typeface="Cambria" panose="02040503050406030204" pitchFamily="18" charset="0"/>
              <a:cs typeface="Courier New" panose="02070309020205020404" pitchFamily="49" charset="0"/>
            </a:endParaRPr>
          </a:p>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Student std;</a:t>
            </a:r>
          </a:p>
        </p:txBody>
      </p:sp>
    </p:spTree>
    <p:extLst>
      <p:ext uri="{BB962C8B-B14F-4D97-AF65-F5344CB8AC3E}">
        <p14:creationId xmlns:p14="http://schemas.microsoft.com/office/powerpoint/2010/main" val="353916767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FE20-CA7E-D01F-85A4-E3E03B2534B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7AEB9E1-7F1A-E7D2-2080-2002F8D505D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Arrays in PL/SQL</a:t>
            </a:r>
          </a:p>
        </p:txBody>
      </p:sp>
      <p:sp>
        <p:nvSpPr>
          <p:cNvPr id="38915" name="Rectangle 3">
            <a:extLst>
              <a:ext uri="{FF2B5EF4-FFF2-40B4-BE49-F238E27FC236}">
                <a16:creationId xmlns:a16="http://schemas.microsoft.com/office/drawing/2014/main" id="{DD3AF120-AE0A-AC11-0005-5CA999FA753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80EFAA2-D735-49C9-4597-C5DE57AAD72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B20D877F-4F52-FF34-E22C-85B8832B35F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3">
            <a:extLst>
              <a:ext uri="{FF2B5EF4-FFF2-40B4-BE49-F238E27FC236}">
                <a16:creationId xmlns:a16="http://schemas.microsoft.com/office/drawing/2014/main" id="{7354F8D0-9F07-B1FC-61DE-BF4F0EE2EF80}"/>
              </a:ext>
            </a:extLst>
          </p:cNvPr>
          <p:cNvSpPr txBox="1">
            <a:spLocks noChangeArrowheads="1"/>
          </p:cNvSpPr>
          <p:nvPr/>
        </p:nvSpPr>
        <p:spPr bwMode="auto">
          <a:xfrm>
            <a:off x="351656" y="620688"/>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srgbClr val="0000FF"/>
                </a:solidFill>
                <a:latin typeface="Cambria" panose="02040503050406030204" pitchFamily="18" charset="0"/>
                <a:ea typeface="Cambria" panose="02040503050406030204" pitchFamily="18" charset="0"/>
                <a:cs typeface="Courier New" panose="02070309020205020404" pitchFamily="49" charset="0"/>
              </a:rPr>
              <a:t>VARRAY</a:t>
            </a: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 is a variable sized array that is declared using the following syntax:</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prstClr val="black"/>
              </a:solidFill>
              <a:latin typeface="Cambria" panose="02040503050406030204" pitchFamily="18" charset="0"/>
              <a:ea typeface="Cambria" panose="02040503050406030204" pitchFamily="18" charset="0"/>
              <a:cs typeface="Courier New" panose="02070309020205020404" pitchFamily="49"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The </a:t>
            </a:r>
            <a:r>
              <a:rPr lang="en-US" altLang="en-US" sz="2400" dirty="0">
                <a:solidFill>
                  <a:srgbClr val="0000FF"/>
                </a:solidFill>
                <a:latin typeface="Cambria" panose="02040503050406030204" pitchFamily="18" charset="0"/>
                <a:ea typeface="Cambria" panose="02040503050406030204" pitchFamily="18" charset="0"/>
                <a:cs typeface="Courier New" panose="02070309020205020404" pitchFamily="49" charset="0"/>
              </a:rPr>
              <a:t>&lt;</a:t>
            </a:r>
            <a:r>
              <a:rPr lang="en-US" altLang="en-US" sz="2400" dirty="0" err="1">
                <a:solidFill>
                  <a:srgbClr val="0000FF"/>
                </a:solidFill>
                <a:latin typeface="Cambria" panose="02040503050406030204" pitchFamily="18" charset="0"/>
                <a:ea typeface="Cambria" panose="02040503050406030204" pitchFamily="18" charset="0"/>
                <a:cs typeface="Courier New" panose="02070309020205020404" pitchFamily="49" charset="0"/>
              </a:rPr>
              <a:t>element_type</a:t>
            </a:r>
            <a:r>
              <a:rPr lang="en-US" altLang="en-US" sz="2400" dirty="0">
                <a:solidFill>
                  <a:srgbClr val="0000FF"/>
                </a:solidFill>
                <a:latin typeface="Cambria" panose="02040503050406030204" pitchFamily="18" charset="0"/>
                <a:ea typeface="Cambria" panose="02040503050406030204" pitchFamily="18" charset="0"/>
                <a:cs typeface="Courier New" panose="02070309020205020404" pitchFamily="49" charset="0"/>
              </a:rPr>
              <a:t>&gt;</a:t>
            </a:r>
            <a:r>
              <a:rPr lang="en-US" altLang="en-US" sz="2400" dirty="0">
                <a:solidFill>
                  <a:prstClr val="black"/>
                </a:solidFill>
                <a:latin typeface="Cambria" panose="02040503050406030204" pitchFamily="18" charset="0"/>
                <a:ea typeface="Cambria" panose="02040503050406030204" pitchFamily="18" charset="0"/>
                <a:cs typeface="Courier New" panose="02070309020205020404" pitchFamily="49" charset="0"/>
              </a:rPr>
              <a:t> can be any primitive data types, %ROWTYPE of any database table, %TYPE of any field of a database table, or user-defined records type.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342900" indent="-342900" algn="just">
              <a:spcBef>
                <a:spcPts val="300"/>
              </a:spcBef>
              <a:buClr>
                <a:srgbClr val="D34817"/>
              </a:buClr>
              <a:buSzPct val="50000"/>
              <a:defRPr/>
            </a:pPr>
            <a:endPar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Rectangle 4">
            <a:extLst>
              <a:ext uri="{FF2B5EF4-FFF2-40B4-BE49-F238E27FC236}">
                <a16:creationId xmlns:a16="http://schemas.microsoft.com/office/drawing/2014/main" id="{11180EF2-AA8E-CD7F-AD91-364BDDA84193}"/>
              </a:ext>
            </a:extLst>
          </p:cNvPr>
          <p:cNvSpPr>
            <a:spLocks noChangeArrowheads="1"/>
          </p:cNvSpPr>
          <p:nvPr/>
        </p:nvSpPr>
        <p:spPr bwMode="blackWhite">
          <a:xfrm>
            <a:off x="539552" y="1471013"/>
            <a:ext cx="8206804" cy="49490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varray_type_name</a:t>
            </a:r>
            <a:r>
              <a:rPr lang="en-US" altLang="en-US" dirty="0">
                <a:latin typeface="Cambria" panose="02040503050406030204" pitchFamily="18" charset="0"/>
                <a:ea typeface="Cambria" panose="02040503050406030204" pitchFamily="18" charset="0"/>
                <a:cs typeface="Courier New" panose="02070309020205020404" pitchFamily="49" charset="0"/>
              </a:rPr>
              <a:t> IS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VARRAY(n)</a:t>
            </a:r>
            <a:r>
              <a:rPr lang="en-US" altLang="en-US" dirty="0">
                <a:latin typeface="Cambria" panose="02040503050406030204" pitchFamily="18" charset="0"/>
                <a:ea typeface="Cambria" panose="02040503050406030204" pitchFamily="18" charset="0"/>
                <a:cs typeface="Courier New" panose="02070309020205020404" pitchFamily="49" charset="0"/>
              </a:rPr>
              <a:t> of &lt;</a:t>
            </a:r>
            <a:r>
              <a:rPr lang="en-US" altLang="en-US" dirty="0" err="1">
                <a:latin typeface="Cambria" panose="02040503050406030204" pitchFamily="18" charset="0"/>
                <a:ea typeface="Cambria" panose="02040503050406030204" pitchFamily="18" charset="0"/>
                <a:cs typeface="Courier New" panose="02070309020205020404" pitchFamily="49" charset="0"/>
              </a:rPr>
              <a:t>element_type</a:t>
            </a:r>
            <a:r>
              <a:rPr lang="en-US" altLang="en-US" dirty="0">
                <a:latin typeface="Cambria" panose="02040503050406030204" pitchFamily="18" charset="0"/>
                <a:ea typeface="Cambria" panose="02040503050406030204" pitchFamily="18" charset="0"/>
                <a:cs typeface="Courier New" panose="02070309020205020404" pitchFamily="49" charset="0"/>
              </a:rPr>
              <a:t>&gt;;</a:t>
            </a:r>
          </a:p>
        </p:txBody>
      </p:sp>
      <p:sp>
        <p:nvSpPr>
          <p:cNvPr id="3" name="Rectangle 4">
            <a:extLst>
              <a:ext uri="{FF2B5EF4-FFF2-40B4-BE49-F238E27FC236}">
                <a16:creationId xmlns:a16="http://schemas.microsoft.com/office/drawing/2014/main" id="{F2C22981-A3BD-6F44-EC33-8E4293E2E31C}"/>
              </a:ext>
            </a:extLst>
          </p:cNvPr>
          <p:cNvSpPr>
            <a:spLocks noChangeArrowheads="1"/>
          </p:cNvSpPr>
          <p:nvPr/>
        </p:nvSpPr>
        <p:spPr bwMode="blackWhite">
          <a:xfrm>
            <a:off x="539552" y="3429001"/>
            <a:ext cx="8206804" cy="136815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enames</a:t>
            </a:r>
            <a:r>
              <a:rPr lang="en-US" altLang="en-US" dirty="0">
                <a:latin typeface="Cambria" panose="02040503050406030204" pitchFamily="18" charset="0"/>
                <a:ea typeface="Cambria" panose="02040503050406030204" pitchFamily="18" charset="0"/>
                <a:cs typeface="Courier New" panose="02070309020205020404" pitchFamily="49" charset="0"/>
              </a:rPr>
              <a:t> IS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VARRAY(10)</a:t>
            </a:r>
            <a:r>
              <a:rPr lang="en-US" altLang="en-US" dirty="0">
                <a:latin typeface="Cambria" panose="02040503050406030204" pitchFamily="18" charset="0"/>
                <a:ea typeface="Cambria" panose="02040503050406030204" pitchFamily="18" charset="0"/>
                <a:cs typeface="Courier New" panose="02070309020205020404" pitchFamily="49" charset="0"/>
              </a:rPr>
              <a:t> of VARCHAR2(20);</a:t>
            </a:r>
          </a:p>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a:t>
            </a:r>
            <a:r>
              <a:rPr lang="en-US" altLang="en-US" dirty="0">
                <a:latin typeface="Cambria" panose="02040503050406030204" pitchFamily="18" charset="0"/>
                <a:ea typeface="Cambria" panose="02040503050406030204" pitchFamily="18" charset="0"/>
                <a:cs typeface="Courier New" panose="02070309020205020404" pitchFamily="49" charset="0"/>
              </a:rPr>
              <a:t> salaries IS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VARRAY(10)</a:t>
            </a:r>
            <a:r>
              <a:rPr lang="en-US" altLang="en-US" dirty="0">
                <a:latin typeface="Cambria" panose="02040503050406030204" pitchFamily="18" charset="0"/>
                <a:ea typeface="Cambria" panose="02040503050406030204" pitchFamily="18" charset="0"/>
                <a:cs typeface="Courier New" panose="02070309020205020404" pitchFamily="49" charset="0"/>
              </a:rPr>
              <a:t> of NUMBER(5);</a:t>
            </a:r>
          </a:p>
          <a:p>
            <a:pPr marL="0" lvl="1" algn="just">
              <a:spcBef>
                <a:spcPts val="300"/>
              </a:spcBef>
              <a:buClr>
                <a:srgbClr val="D34817"/>
              </a:buClr>
              <a:buSzPct val="50000"/>
              <a:buNone/>
              <a:defRPr/>
            </a:pPr>
            <a:r>
              <a:rPr lang="en-US" altLang="en-US" dirty="0">
                <a:solidFill>
                  <a:srgbClr val="0000FF"/>
                </a:solidFill>
                <a:latin typeface="Cambria" panose="02040503050406030204" pitchFamily="18" charset="0"/>
                <a:ea typeface="Cambria" panose="02040503050406030204" pitchFamily="18" charset="0"/>
                <a:cs typeface="Courier New" panose="02070309020205020404" pitchFamily="49" charset="0"/>
              </a:rPr>
              <a:t>TYPE</a:t>
            </a:r>
            <a:r>
              <a:rPr lang="en-US" altLang="en-US" dirty="0">
                <a:latin typeface="Cambria" panose="02040503050406030204" pitchFamily="18" charset="0"/>
                <a:ea typeface="Cambria" panose="02040503050406030204" pitchFamily="18" charset="0"/>
                <a:cs typeface="Courier New" panose="02070309020205020404" pitchFamily="49" charset="0"/>
              </a:rPr>
              <a:t> </a:t>
            </a:r>
            <a:r>
              <a:rPr lang="en-US" altLang="en-US" dirty="0" err="1">
                <a:latin typeface="Cambria" panose="02040503050406030204" pitchFamily="18" charset="0"/>
                <a:ea typeface="Cambria" panose="02040503050406030204" pitchFamily="18" charset="0"/>
                <a:cs typeface="Courier New" panose="02070309020205020404" pitchFamily="49" charset="0"/>
              </a:rPr>
              <a:t>enames</a:t>
            </a:r>
            <a:r>
              <a:rPr lang="en-US" altLang="en-US" dirty="0">
                <a:latin typeface="Cambria" panose="02040503050406030204" pitchFamily="18" charset="0"/>
                <a:ea typeface="Cambria" panose="02040503050406030204" pitchFamily="18" charset="0"/>
                <a:cs typeface="Courier New" panose="02070309020205020404" pitchFamily="49" charset="0"/>
              </a:rPr>
              <a:t> IS </a:t>
            </a:r>
            <a:r>
              <a:rPr lang="en-US" altLang="en-US" dirty="0">
                <a:solidFill>
                  <a:srgbClr val="FF0000"/>
                </a:solidFill>
                <a:latin typeface="Cambria" panose="02040503050406030204" pitchFamily="18" charset="0"/>
                <a:ea typeface="Cambria" panose="02040503050406030204" pitchFamily="18" charset="0"/>
                <a:cs typeface="Courier New" panose="02070309020205020404" pitchFamily="49" charset="0"/>
              </a:rPr>
              <a:t>VARRAY(10)</a:t>
            </a:r>
            <a:r>
              <a:rPr lang="en-US" altLang="en-US" dirty="0">
                <a:latin typeface="Cambria" panose="02040503050406030204" pitchFamily="18" charset="0"/>
                <a:ea typeface="Cambria" panose="02040503050406030204" pitchFamily="18" charset="0"/>
                <a:cs typeface="Courier New" panose="02070309020205020404" pitchFamily="49" charset="0"/>
              </a:rPr>
              <a:t> of EMP.ENAME%TYPE;</a:t>
            </a:r>
          </a:p>
        </p:txBody>
      </p:sp>
    </p:spTree>
    <p:extLst>
      <p:ext uri="{BB962C8B-B14F-4D97-AF65-F5344CB8AC3E}">
        <p14:creationId xmlns:p14="http://schemas.microsoft.com/office/powerpoint/2010/main" val="46521065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DD177-5C06-2040-B20F-7EB717A191F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8B93BC2-6CD7-C2AD-2A84-CDD88252EAAD}"/>
              </a:ext>
            </a:extLst>
          </p:cNvPr>
          <p:cNvSpPr>
            <a:spLocks noGrp="1" noChangeArrowheads="1"/>
          </p:cNvSpPr>
          <p:nvPr>
            <p:ph type="title"/>
          </p:nvPr>
        </p:nvSpPr>
        <p:spPr>
          <a:xfrm>
            <a:off x="323850" y="116632"/>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Arrays in PL/SQL</a:t>
            </a:r>
          </a:p>
        </p:txBody>
      </p:sp>
      <p:sp>
        <p:nvSpPr>
          <p:cNvPr id="38915" name="Rectangle 3">
            <a:extLst>
              <a:ext uri="{FF2B5EF4-FFF2-40B4-BE49-F238E27FC236}">
                <a16:creationId xmlns:a16="http://schemas.microsoft.com/office/drawing/2014/main" id="{83EAFCDD-6FAB-A73D-3EB9-FD2757CA80F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0" name="Footer Placeholder 2">
            <a:extLst>
              <a:ext uri="{FF2B5EF4-FFF2-40B4-BE49-F238E27FC236}">
                <a16:creationId xmlns:a16="http://schemas.microsoft.com/office/drawing/2014/main" id="{265E947A-F464-2A8C-C3F4-41E5EF17D63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4">
            <a:extLst>
              <a:ext uri="{FF2B5EF4-FFF2-40B4-BE49-F238E27FC236}">
                <a16:creationId xmlns:a16="http://schemas.microsoft.com/office/drawing/2014/main" id="{7E09D662-FFB8-7F92-FD46-FE0CEBABC086}"/>
              </a:ext>
            </a:extLst>
          </p:cNvPr>
          <p:cNvSpPr>
            <a:spLocks noChangeArrowheads="1"/>
          </p:cNvSpPr>
          <p:nvPr/>
        </p:nvSpPr>
        <p:spPr bwMode="blackWhite">
          <a:xfrm>
            <a:off x="539552" y="620688"/>
            <a:ext cx="8206804" cy="614583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Clr>
                <a:srgbClr val="D34817"/>
              </a:buClr>
              <a:buSzPct val="50000"/>
              <a:buNone/>
              <a:defRPr/>
            </a:pPr>
            <a:r>
              <a:rPr lang="en-US" altLang="en-US" sz="2200" dirty="0">
                <a:solidFill>
                  <a:srgbClr val="FF0000"/>
                </a:solidFill>
                <a:latin typeface="Cambria" panose="02040503050406030204" pitchFamily="18" charset="0"/>
                <a:ea typeface="Cambria" panose="02040503050406030204" pitchFamily="18" charset="0"/>
                <a:cs typeface="Courier New" panose="02070309020205020404" pitchFamily="49" charset="0"/>
              </a:rPr>
              <a:t>DECLARE</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type </a:t>
            </a:r>
            <a:r>
              <a:rPr lang="en-US" altLang="en-US" sz="2200" dirty="0" err="1">
                <a:latin typeface="Cambria" panose="02040503050406030204" pitchFamily="18" charset="0"/>
                <a:ea typeface="Cambria" panose="02040503050406030204" pitchFamily="18" charset="0"/>
                <a:cs typeface="Courier New" panose="02070309020205020404" pitchFamily="49" charset="0"/>
              </a:rPr>
              <a:t>namesarray</a:t>
            </a:r>
            <a:r>
              <a:rPr lang="en-US" altLang="en-US" sz="2200" dirty="0">
                <a:latin typeface="Cambria" panose="02040503050406030204" pitchFamily="18" charset="0"/>
                <a:ea typeface="Cambria" panose="02040503050406030204" pitchFamily="18" charset="0"/>
                <a:cs typeface="Courier New" panose="02070309020205020404" pitchFamily="49" charset="0"/>
              </a:rPr>
              <a:t> IS VARRAY(3) OF VARCHAR2(10);</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type grades IS VARRAY(3) OF INTEGER;</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names </a:t>
            </a:r>
            <a:r>
              <a:rPr lang="en-US" altLang="en-US" sz="2200" dirty="0" err="1">
                <a:latin typeface="Cambria" panose="02040503050406030204" pitchFamily="18" charset="0"/>
                <a:ea typeface="Cambria" panose="02040503050406030204" pitchFamily="18" charset="0"/>
                <a:cs typeface="Courier New" panose="02070309020205020404" pitchFamily="49" charset="0"/>
              </a:rPr>
              <a:t>namesarray</a:t>
            </a:r>
            <a:r>
              <a:rPr lang="en-US" altLang="en-US" sz="2200"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marks grades;</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total integer;</a:t>
            </a:r>
          </a:p>
          <a:p>
            <a:pPr marL="0" lvl="1" algn="just">
              <a:spcBef>
                <a:spcPts val="300"/>
              </a:spcBef>
              <a:buClr>
                <a:srgbClr val="D34817"/>
              </a:buClr>
              <a:buSzPct val="50000"/>
              <a:buNone/>
              <a:defRPr/>
            </a:pPr>
            <a:r>
              <a:rPr lang="en-US" altLang="en-US" sz="2200" dirty="0">
                <a:solidFill>
                  <a:srgbClr val="FF0000"/>
                </a:solidFill>
                <a:latin typeface="Cambria" panose="02040503050406030204" pitchFamily="18" charset="0"/>
                <a:ea typeface="Cambria" panose="02040503050406030204" pitchFamily="18" charset="0"/>
                <a:cs typeface="Courier New" panose="02070309020205020404" pitchFamily="49" charset="0"/>
              </a:rPr>
              <a:t>BEGIN</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names := </a:t>
            </a:r>
            <a:r>
              <a:rPr lang="en-US" altLang="en-US" sz="2200" dirty="0" err="1">
                <a:latin typeface="Cambria" panose="02040503050406030204" pitchFamily="18" charset="0"/>
                <a:ea typeface="Cambria" panose="02040503050406030204" pitchFamily="18" charset="0"/>
                <a:cs typeface="Courier New" panose="02070309020205020404" pitchFamily="49" charset="0"/>
              </a:rPr>
              <a:t>namesarray</a:t>
            </a:r>
            <a:r>
              <a:rPr lang="en-US" altLang="en-US" sz="2200" dirty="0">
                <a:latin typeface="Cambria" panose="02040503050406030204" pitchFamily="18" charset="0"/>
                <a:ea typeface="Cambria" panose="02040503050406030204" pitchFamily="18" charset="0"/>
                <a:cs typeface="Courier New" panose="02070309020205020404" pitchFamily="49" charset="0"/>
              </a:rPr>
              <a:t>('Ali', 'Talha', 'Jawad’);</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marks:= grades(98, 97, 78);</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total := </a:t>
            </a:r>
            <a:r>
              <a:rPr lang="en-US" altLang="en-US" sz="2200" dirty="0" err="1">
                <a:latin typeface="Cambria" panose="02040503050406030204" pitchFamily="18" charset="0"/>
                <a:ea typeface="Cambria" panose="02040503050406030204" pitchFamily="18" charset="0"/>
                <a:cs typeface="Courier New" panose="02070309020205020404" pitchFamily="49" charset="0"/>
              </a:rPr>
              <a:t>names.count</a:t>
            </a:r>
            <a:r>
              <a:rPr lang="en-US" altLang="en-US" sz="2200"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a:t>
            </a:r>
            <a:r>
              <a:rPr lang="en-US" altLang="en-US" sz="2200" dirty="0" err="1">
                <a:latin typeface="Cambria" panose="02040503050406030204" pitchFamily="18" charset="0"/>
                <a:ea typeface="Cambria" panose="02040503050406030204" pitchFamily="18" charset="0"/>
                <a:cs typeface="Courier New" panose="02070309020205020404" pitchFamily="49" charset="0"/>
              </a:rPr>
              <a:t>dbms_output.put_line</a:t>
            </a:r>
            <a:r>
              <a:rPr lang="en-US" altLang="en-US" sz="2200" dirty="0">
                <a:latin typeface="Cambria" panose="02040503050406030204" pitchFamily="18" charset="0"/>
                <a:ea typeface="Cambria" panose="02040503050406030204" pitchFamily="18" charset="0"/>
                <a:cs typeface="Courier New" panose="02070309020205020404" pitchFamily="49" charset="0"/>
              </a:rPr>
              <a:t>('Total '|| total || ' Students');</a:t>
            </a:r>
          </a:p>
          <a:p>
            <a:pPr marL="0" lvl="1" algn="just">
              <a:spcBef>
                <a:spcPts val="300"/>
              </a:spcBef>
              <a:buClr>
                <a:srgbClr val="D34817"/>
              </a:buClr>
              <a:buSzPct val="50000"/>
              <a:buNone/>
              <a:defRPr/>
            </a:pPr>
            <a:r>
              <a:rPr lang="en-US" altLang="en-US" sz="2200" dirty="0">
                <a:solidFill>
                  <a:srgbClr val="0000FF"/>
                </a:solidFill>
                <a:latin typeface="Cambria" panose="02040503050406030204" pitchFamily="18" charset="0"/>
                <a:ea typeface="Cambria" panose="02040503050406030204" pitchFamily="18" charset="0"/>
                <a:cs typeface="Courier New" panose="02070309020205020404" pitchFamily="49" charset="0"/>
              </a:rPr>
              <a:t>FOR </a:t>
            </a:r>
            <a:r>
              <a:rPr lang="en-US" altLang="en-US" sz="2200" dirty="0" err="1">
                <a:solidFill>
                  <a:srgbClr val="0000FF"/>
                </a:solidFill>
                <a:latin typeface="Cambria" panose="02040503050406030204" pitchFamily="18" charset="0"/>
                <a:ea typeface="Cambria" panose="02040503050406030204" pitchFamily="18" charset="0"/>
                <a:cs typeface="Courier New" panose="02070309020205020404" pitchFamily="49" charset="0"/>
              </a:rPr>
              <a:t>i</a:t>
            </a:r>
            <a:r>
              <a:rPr lang="en-US" altLang="en-US" sz="2200" dirty="0">
                <a:solidFill>
                  <a:srgbClr val="0000FF"/>
                </a:solidFill>
                <a:latin typeface="Cambria" panose="02040503050406030204" pitchFamily="18" charset="0"/>
                <a:ea typeface="Cambria" panose="02040503050406030204" pitchFamily="18" charset="0"/>
                <a:cs typeface="Courier New" panose="02070309020205020404" pitchFamily="49" charset="0"/>
              </a:rPr>
              <a:t> in 1 .. total LOOP</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a:t>
            </a:r>
            <a:r>
              <a:rPr lang="en-US" altLang="en-US" sz="2200" dirty="0" err="1">
                <a:latin typeface="Cambria" panose="02040503050406030204" pitchFamily="18" charset="0"/>
                <a:ea typeface="Cambria" panose="02040503050406030204" pitchFamily="18" charset="0"/>
                <a:cs typeface="Courier New" panose="02070309020205020404" pitchFamily="49" charset="0"/>
              </a:rPr>
              <a:t>dbms_output.put_line</a:t>
            </a:r>
            <a:r>
              <a:rPr lang="en-US" altLang="en-US" sz="2200" dirty="0">
                <a:latin typeface="Cambria" panose="02040503050406030204" pitchFamily="18" charset="0"/>
                <a:ea typeface="Cambria" panose="02040503050406030204" pitchFamily="18" charset="0"/>
                <a:cs typeface="Courier New" panose="02070309020205020404" pitchFamily="49" charset="0"/>
              </a:rPr>
              <a:t>('Student: ' || names(</a:t>
            </a:r>
            <a:r>
              <a:rPr lang="en-US" altLang="en-US" sz="2200" dirty="0" err="1">
                <a:latin typeface="Cambria" panose="02040503050406030204" pitchFamily="18" charset="0"/>
                <a:ea typeface="Cambria" panose="02040503050406030204" pitchFamily="18" charset="0"/>
                <a:cs typeface="Courier New" panose="02070309020205020404" pitchFamily="49" charset="0"/>
              </a:rPr>
              <a:t>i</a:t>
            </a:r>
            <a:r>
              <a:rPr lang="en-US" altLang="en-US" sz="2200" dirty="0">
                <a:latin typeface="Cambria" panose="02040503050406030204" pitchFamily="18" charset="0"/>
                <a:ea typeface="Cambria" panose="02040503050406030204" pitchFamily="18" charset="0"/>
                <a:cs typeface="Courier New" panose="02070309020205020404" pitchFamily="49" charset="0"/>
              </a:rPr>
              <a:t>) || ‘</a:t>
            </a:r>
          </a:p>
          <a:p>
            <a:pPr marL="0" lvl="1" algn="just">
              <a:spcBef>
                <a:spcPts val="300"/>
              </a:spcBef>
              <a:buClr>
                <a:srgbClr val="D34817"/>
              </a:buClr>
              <a:buSzPct val="50000"/>
              <a:buNone/>
              <a:defRPr/>
            </a:pPr>
            <a:r>
              <a:rPr lang="en-US" altLang="en-US" sz="2200" dirty="0">
                <a:latin typeface="Cambria" panose="02040503050406030204" pitchFamily="18" charset="0"/>
                <a:ea typeface="Cambria" panose="02040503050406030204" pitchFamily="18" charset="0"/>
                <a:cs typeface="Courier New" panose="02070309020205020404" pitchFamily="49" charset="0"/>
              </a:rPr>
              <a:t>	Marks: ' || marks(</a:t>
            </a:r>
            <a:r>
              <a:rPr lang="en-US" altLang="en-US" sz="2200" dirty="0" err="1">
                <a:latin typeface="Cambria" panose="02040503050406030204" pitchFamily="18" charset="0"/>
                <a:ea typeface="Cambria" panose="02040503050406030204" pitchFamily="18" charset="0"/>
                <a:cs typeface="Courier New" panose="02070309020205020404" pitchFamily="49" charset="0"/>
              </a:rPr>
              <a:t>i</a:t>
            </a:r>
            <a:r>
              <a:rPr lang="en-US" altLang="en-US" sz="2200" dirty="0">
                <a:latin typeface="Cambria" panose="02040503050406030204" pitchFamily="18" charset="0"/>
                <a:ea typeface="Cambria" panose="02040503050406030204" pitchFamily="18" charset="0"/>
                <a:cs typeface="Courier New" panose="02070309020205020404" pitchFamily="49" charset="0"/>
              </a:rPr>
              <a:t>));</a:t>
            </a:r>
          </a:p>
          <a:p>
            <a:pPr marL="0" lvl="1" algn="just">
              <a:spcBef>
                <a:spcPts val="300"/>
              </a:spcBef>
              <a:buClr>
                <a:srgbClr val="D34817"/>
              </a:buClr>
              <a:buSzPct val="50000"/>
              <a:buNone/>
              <a:defRPr/>
            </a:pPr>
            <a:r>
              <a:rPr lang="en-US" altLang="en-US" sz="2200" dirty="0">
                <a:solidFill>
                  <a:srgbClr val="0000FF"/>
                </a:solidFill>
                <a:latin typeface="Cambria" panose="02040503050406030204" pitchFamily="18" charset="0"/>
                <a:ea typeface="Cambria" panose="02040503050406030204" pitchFamily="18" charset="0"/>
                <a:cs typeface="Courier New" panose="02070309020205020404" pitchFamily="49" charset="0"/>
              </a:rPr>
              <a:t>END LOOP;</a:t>
            </a:r>
          </a:p>
          <a:p>
            <a:pPr marL="0" lvl="1" algn="just">
              <a:spcBef>
                <a:spcPts val="300"/>
              </a:spcBef>
              <a:buClr>
                <a:srgbClr val="D34817"/>
              </a:buClr>
              <a:buSzPct val="50000"/>
              <a:buNone/>
              <a:defRPr/>
            </a:pPr>
            <a:r>
              <a:rPr lang="en-US" altLang="en-US" sz="2200" dirty="0">
                <a:solidFill>
                  <a:srgbClr val="FF0000"/>
                </a:solidFill>
                <a:latin typeface="Cambria" panose="02040503050406030204" pitchFamily="18" charset="0"/>
                <a:ea typeface="Cambria" panose="02040503050406030204" pitchFamily="18" charset="0"/>
                <a:cs typeface="Courier New" panose="02070309020205020404" pitchFamily="49" charset="0"/>
              </a:rPr>
              <a:t>END;</a:t>
            </a:r>
          </a:p>
        </p:txBody>
      </p:sp>
    </p:spTree>
    <p:extLst>
      <p:ext uri="{BB962C8B-B14F-4D97-AF65-F5344CB8AC3E}">
        <p14:creationId xmlns:p14="http://schemas.microsoft.com/office/powerpoint/2010/main" val="3033989138"/>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31740</TotalTime>
  <Words>2839</Words>
  <Application>Microsoft Office PowerPoint</Application>
  <PresentationFormat>On-screen Show (4:3)</PresentationFormat>
  <Paragraphs>578</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Cambria</vt:lpstr>
      <vt:lpstr>Courier New</vt:lpstr>
      <vt:lpstr>Franklin Gothic Book</vt:lpstr>
      <vt:lpstr>Perpetua</vt:lpstr>
      <vt:lpstr>Wingdings</vt:lpstr>
      <vt:lpstr>Wingdings 2</vt:lpstr>
      <vt:lpstr>1_Equity</vt:lpstr>
      <vt:lpstr>CC-215-L Database Systems Lab</vt:lpstr>
      <vt:lpstr>  Objectives</vt:lpstr>
      <vt:lpstr>  Coding a Block</vt:lpstr>
      <vt:lpstr>  Variables</vt:lpstr>
      <vt:lpstr>  Initializing a Variable</vt:lpstr>
      <vt:lpstr>  Sample Programs</vt:lpstr>
      <vt:lpstr>  Sample Programs</vt:lpstr>
      <vt:lpstr>  Sample Programs</vt:lpstr>
      <vt:lpstr>  PL/SQL Operators</vt:lpstr>
      <vt:lpstr>  Sample Programs</vt:lpstr>
      <vt:lpstr>  SELECT statement in PL/SQL</vt:lpstr>
      <vt:lpstr>  PL/SQL Record</vt:lpstr>
      <vt:lpstr>  Exceptions in PL/SQL</vt:lpstr>
      <vt:lpstr>  PL/SQL Exceptions</vt:lpstr>
      <vt:lpstr>  PL/SQL Conditions</vt:lpstr>
      <vt:lpstr>  PL/SQL Conditions</vt:lpstr>
      <vt:lpstr>  Loops</vt:lpstr>
      <vt:lpstr>  Cursor</vt:lpstr>
      <vt:lpstr>  Cursor Attributes</vt:lpstr>
      <vt:lpstr>  Implicit Cursor</vt:lpstr>
      <vt:lpstr>  Explicit Cursor</vt:lpstr>
      <vt:lpstr>  Explicit Cursor</vt:lpstr>
      <vt:lpstr>  Parameterized Cursor</vt:lpstr>
      <vt:lpstr>  PL/SQL Records</vt:lpstr>
      <vt:lpstr>  Cursor based Record</vt:lpstr>
      <vt:lpstr>  User defined Record</vt:lpstr>
      <vt:lpstr>  Arrays in PL/SQL</vt:lpstr>
      <vt:lpstr>  Arrays in PL/SQL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800</cp:revision>
  <dcterms:created xsi:type="dcterms:W3CDTF">2006-05-17T12:38:56Z</dcterms:created>
  <dcterms:modified xsi:type="dcterms:W3CDTF">2025-12-12T14:34:22Z</dcterms:modified>
</cp:coreProperties>
</file>