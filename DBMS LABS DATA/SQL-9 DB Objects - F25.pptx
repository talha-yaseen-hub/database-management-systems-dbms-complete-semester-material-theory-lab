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  <p:sldMasterId id="2147483675" r:id="rId2"/>
  </p:sldMasterIdLst>
  <p:notesMasterIdLst>
    <p:notesMasterId r:id="rId33"/>
  </p:notesMasterIdLst>
  <p:handoutMasterIdLst>
    <p:handoutMasterId r:id="rId34"/>
  </p:handoutMasterIdLst>
  <p:sldIdLst>
    <p:sldId id="646" r:id="rId3"/>
    <p:sldId id="665" r:id="rId4"/>
    <p:sldId id="666" r:id="rId5"/>
    <p:sldId id="667" r:id="rId6"/>
    <p:sldId id="668" r:id="rId7"/>
    <p:sldId id="669" r:id="rId8"/>
    <p:sldId id="670" r:id="rId9"/>
    <p:sldId id="671" r:id="rId10"/>
    <p:sldId id="672" r:id="rId11"/>
    <p:sldId id="673" r:id="rId12"/>
    <p:sldId id="674" r:id="rId13"/>
    <p:sldId id="675" r:id="rId14"/>
    <p:sldId id="676" r:id="rId15"/>
    <p:sldId id="677" r:id="rId16"/>
    <p:sldId id="678" r:id="rId17"/>
    <p:sldId id="679" r:id="rId18"/>
    <p:sldId id="680" r:id="rId19"/>
    <p:sldId id="662" r:id="rId20"/>
    <p:sldId id="681" r:id="rId21"/>
    <p:sldId id="682" r:id="rId22"/>
    <p:sldId id="683" r:id="rId23"/>
    <p:sldId id="684" r:id="rId24"/>
    <p:sldId id="685" r:id="rId25"/>
    <p:sldId id="686" r:id="rId26"/>
    <p:sldId id="687" r:id="rId27"/>
    <p:sldId id="688" r:id="rId28"/>
    <p:sldId id="689" r:id="rId29"/>
    <p:sldId id="690" r:id="rId30"/>
    <p:sldId id="691" r:id="rId31"/>
    <p:sldId id="692" r:id="rId32"/>
  </p:sldIdLst>
  <p:sldSz cx="9144000" cy="6858000" type="screen4x3"/>
  <p:notesSz cx="6858000" cy="92964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0099"/>
    <a:srgbClr val="006600"/>
    <a:srgbClr val="FFFF66"/>
    <a:srgbClr val="00FF00"/>
    <a:srgbClr val="FFFFCC"/>
    <a:srgbClr val="99CCFF"/>
    <a:srgbClr val="3399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0" autoAdjust="0"/>
    <p:restoredTop sz="85572" autoAdjust="0"/>
  </p:normalViewPr>
  <p:slideViewPr>
    <p:cSldViewPr>
      <p:cViewPr varScale="1">
        <p:scale>
          <a:sx n="83" d="100"/>
          <a:sy n="83" d="100"/>
        </p:scale>
        <p:origin x="115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C8C6BFAF-ACA5-F323-8B60-024332B002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61443D50-603D-A1E4-09A0-3F656F81F3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33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665AB72C-6C9B-A686-E244-2890FC94F70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33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602A7199-2FF9-D0E9-1530-D8B902592A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33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 smtClean="0"/>
            </a:lvl1pPr>
          </a:lstStyle>
          <a:p>
            <a:pPr>
              <a:defRPr/>
            </a:pPr>
            <a:fld id="{AAAAFF43-07BE-4923-9545-959CA8B3EEF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524ADF-C99A-6678-6827-31B48A18C8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2D49F2B-8D62-5A46-267E-F4BDF1374F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9743C14-952A-FABE-FF15-7265D961EE1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91BEF3F-297D-D42A-A0FE-6CBEE015AE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D1583EA-7F8E-66A9-8E8C-4427C0584F5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6131065-89F1-1E47-5542-B854588ED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 smtClean="0"/>
            </a:lvl1pPr>
          </a:lstStyle>
          <a:p>
            <a:pPr>
              <a:defRPr/>
            </a:pPr>
            <a:fld id="{B36E15FB-85CE-4B35-AF6B-15E79021C957}" type="slidenum">
              <a:rPr lang="de-AT" altLang="en-US"/>
              <a:pPr>
                <a:defRPr/>
              </a:pPr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39066C-DF9C-6154-623E-4D25B5B52A5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18D222C8-BBB8-DC40-CF3C-CD3AC346EA7C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78B3C-1801-37D9-1221-8203B8C03770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8224C-0FB0-6B6C-36DF-472BEAAFBA1D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5B2B4-247C-EA5F-5632-4932003653ED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7F564B8B-4E0C-7CB4-9998-C3F6C2F8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F1446-C9F6-4443-9286-D689B1A0244F}" type="datetime1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E0D5E70-3B0E-7AD2-9229-A7D9431E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A2A5AF8-A3EC-51E9-D4E2-AD060A79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FD065E4-1B66-4917-94CF-DDC2DE6B16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1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B396DFE6-B4E8-DD83-A0D8-5DC5CA58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92016-38A5-45A2-8FCF-B28DE5A26B0B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E056B4E-95ED-4A33-07D3-06B5D612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DDD96BDC-2AFF-94B5-A87D-2D535D5C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619C9-1708-4C3B-BCE0-77AC977914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67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545B2F-9509-7C7F-2E6C-93BD0685E0B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37A60FA7-8EFB-B9C1-4374-08BA5C9E9FF7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9A1CA-F453-0C0B-D422-61A9CA672A49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8863D-3C91-3A32-4D13-7542ADE59049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DF143-C8D8-529C-FA65-3154819F2E1E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3FBCE05-B246-59A9-7BF9-745DCB19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89F16-0ED0-47D8-9BF6-DB8802875382}" type="datetime1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DB8DC83-A110-3838-E66B-31388C5C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5B66283-2DCC-0003-4426-D3102070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B2ED8-7408-4240-8676-622D3E75AC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303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0CDADDF-04BF-2D1D-9C98-ECAB4971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9DDBE-D9C2-4699-8FC6-A81193FF0F87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A7C873F-1BB3-5513-9803-0A21ECBD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61A1D7E-1AAD-8F49-E349-5153EC54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43F15-6DC5-4AA3-8CE8-BCF1B672AC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69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6EBF8CA8-3AC2-09F7-1BBB-0FA6AED3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7741A-6475-428B-A8E4-F77833D97E78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21316CF-09DD-77DC-96BC-31FCEFF4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BB2491B1-A99D-3D1D-6260-33F3900E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3B942-8215-4833-AC83-10CEBF6242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65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85919E0-21DC-087F-A752-3845402B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D66A2-F833-4D3E-BBFD-4BA89826E4C9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E24651-DD45-C67A-48C2-9D6BE9B3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B2859EE-C7FE-ED7F-ED32-260F9A2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C5F62-2A84-4195-8B72-78726C500E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52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4250D812-A68E-B72D-CCCE-F029E250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FCD9B-6A02-440D-883A-790572724131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8396E7-E023-25E3-AE0A-3B95D716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EDE1120C-A435-5F9E-0A10-5116D774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AE7F8-F456-46EF-98C9-E75D54E6C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13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37AFF-B187-B8B9-49C4-692A9E414BB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EA249C2-7AA4-FBAC-CD84-B31208E12A8F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A5B1817-A2A9-3036-5219-5CC18411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C16B8-22B0-479A-B212-C924D35CBC22}" type="datetime1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B4908A0-C03A-042C-F5FA-AB2DB42A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0B415EB-A043-C051-8198-9C2C3C85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99E09-BCAF-4C79-9ED7-85587F328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7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9AC405-2C75-A219-0834-108F13DAB45C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C3D419-2231-EEF1-CEB7-0EE523B48EB9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4155D-D463-FCBF-1733-09AFB952B7F7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5591B9E-C084-D7AF-CC45-0BC62473D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39A8E-E74E-4073-A72F-B411CA495669}" type="datetime1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E8B5B52-C901-9CDC-908D-5320492C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96CD343-8346-E066-8958-650AD84E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47019-EA52-4855-A446-C270BFC7F9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06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216D75B-E7B6-7280-37DB-BF4B47BB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FE76C-FF8F-43AF-BD8C-E192B2C2B4EE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E144CE4-E7C5-0F00-67B8-690C439C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73889489-04F5-935E-D643-BFB345CB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BA751-F2BD-4C20-90CF-2539005ABB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F01D196A-0A33-B379-3A18-9C00F90A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F3674-77A2-4FBC-A50E-EDF0D2B59C76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D58D851-CE57-B65F-03BE-4563F617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1F8DA9E-89F2-D90B-44D9-A9A06A7C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8D8AC-5990-4364-BE6A-AB6FF07654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5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916A30-B4DB-6572-32E5-123305D25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3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847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32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0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76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815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3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95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EEBACE9-901A-9407-FF6B-F93445D247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42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9325AD-63AC-7191-3EA4-502BB93C661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134A59EF-318D-F794-085F-76DDB08FF809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92180755-DED9-5C5E-3E74-58D9AB09F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CEEDB54-C0EC-E656-65BA-77A3B3137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30A4B39-D45E-6E87-AB9B-C3D136C91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F46A9E-D93A-4070-8EC6-4ADC3D98B195}" type="datetime1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22853-FCCC-34E7-6A1B-4DBAEBA4A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01B6903-5E70-8998-5728-5AE139D70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A6BAC30-25F7-4B4D-96C6-5B82F2D855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8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21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CC-215-L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 Lab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4700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— Unit 9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Database Objects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4828183"/>
            <a:ext cx="6477000" cy="148113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5C58E-0F41-E365-5874-2471AB0F60B5}"/>
              </a:ext>
            </a:extLst>
          </p:cNvPr>
          <p:cNvSpPr txBox="1"/>
          <p:nvPr/>
        </p:nvSpPr>
        <p:spPr>
          <a:xfrm>
            <a:off x="438448" y="6309320"/>
            <a:ext cx="7712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Some of the slides are adapted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Oracle Corporation.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52263002-B443-FA9E-DD31-44571C458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3" y="191419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0664FCA6-02D3-5FBE-852B-E0830F9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8864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78C2-CFDC-5C0D-BE40-9FBA42AD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BD6285-434B-C719-6C1D-CDDBD979D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83368EA-61B3-06F7-611C-5C175687850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6392BD1-D89B-786B-BDDF-1DBF3B14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B4826371-BE6D-F28D-8A7C-635D66DA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79B6A3-F74F-1B46-6A71-44A365418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4869"/>
              </p:ext>
            </p:extLst>
          </p:nvPr>
        </p:nvGraphicFramePr>
        <p:xfrm>
          <a:off x="672805" y="2827543"/>
          <a:ext cx="8034982" cy="3108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447">
                  <a:extLst>
                    <a:ext uri="{9D8B030D-6E8A-4147-A177-3AD203B41FA5}">
                      <a16:colId xmlns:a16="http://schemas.microsoft.com/office/drawing/2014/main" val="2759632180"/>
                    </a:ext>
                  </a:extLst>
                </a:gridCol>
                <a:gridCol w="6412535">
                  <a:extLst>
                    <a:ext uri="{9D8B030D-6E8A-4147-A177-3AD203B41FA5}">
                      <a16:colId xmlns:a16="http://schemas.microsoft.com/office/drawing/2014/main" val="320055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8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Table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Basic building block of relational schema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73404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View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Subset of data of one or multiple tables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370530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Index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Improves the data retrieval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402655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Sequence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Autogenerated numbers to be used for primary key values. 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93632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Synonym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Gives alternate names to the database objects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2673408731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A361028B-22E3-FB5C-AD01-5FA535CAC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After completing this lesson, you should be able to do the following:</a:t>
            </a:r>
          </a:p>
          <a:p>
            <a:pPr marL="560388" marR="0" lvl="1" indent="-285750" algn="just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Describe </a:t>
            </a:r>
            <a:r>
              <a:rPr lang="en-US" alt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database objects and their uses</a:t>
            </a:r>
          </a:p>
          <a:p>
            <a:pPr marL="560388" marR="0" lvl="1" indent="-285750" algn="just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Creating, modifying, and dropping an object</a:t>
            </a:r>
          </a:p>
        </p:txBody>
      </p:sp>
    </p:spTree>
    <p:extLst>
      <p:ext uri="{BB962C8B-B14F-4D97-AF65-F5344CB8AC3E}">
        <p14:creationId xmlns:p14="http://schemas.microsoft.com/office/powerpoint/2010/main" val="17162568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E179-0397-9338-F236-BA3018E9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7AE8CD6-ECD8-5047-0900-F1C12A0C6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6A5DFDB-7825-1D98-42A0-9F06C178213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FA9B2FE-E72B-36D7-F0D2-8FB464A1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5180D19A-02C2-D56B-3EE7-527881F0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133A55-FA8A-5831-2C3E-649E70318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View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subset of the database that is presented to one or more users.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view is often referred to as 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virtual table.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Views are created by using SELECT statement that retrieves data from existing table(s).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Views are used for: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present different views of the same data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Simplifying the construction of complex queries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Restricting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database access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Converting between units 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names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of base columns can be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modified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6666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BCFF-9B0F-9D51-86E8-9C8C0190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09A402B-1B1A-DF6F-D993-BFE7D8F2F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A543188-918F-DBF6-7380-838DDE28DBF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2E9600A3-5F9B-ADF0-F072-A960490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EA003168-82D4-ADB3-0E61-8893CA56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84532A-7081-ECFC-91C9-F510F0882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4424" y="912978"/>
            <a:ext cx="6196008" cy="39655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71842" dir="2700000" algn="ctr" rotWithShape="0">
              <a:srgbClr val="000000"/>
            </a:outerShdw>
          </a:effec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EMPNO ENAME   JOB         MGR HIREDATE    SAL  COMM  DEPTNO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----- ------- --------- ----- --------- ----- ----- -------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7839 KING    PRESIDENT       17-NOV-81  5000            10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7698 BLAKE   MANAGER    7839 01-MAY-81  2850      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7782 CLARK   MANAGER    7839 09-JUN-81  2450            10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7566 JONES   MANAGER    7839 02-APR-81  2975            20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7654 MARTIN  SALESMAN   7698 28-SEP-81  1250  1400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7499 ALLEN   SALESMAN   7698 20-FEB-81  1600   300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7844 TURNER  SALESMAN   7698 08-SEP-81  1500     0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7900 JAMES   CLERK      7698 03-DEC-81   950      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7521 WARD    SALESMAN   7698 22-FEB-81  1250   500      30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7902 FORD    ANALYST    7566 03-DEC-81  3000            20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7369 SMITH   CLERK      7902 17-DEC-80   800            20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7788 SCOTT   ANALYST    7566 09-DEC-82  3000            20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7876 ADAMS   CLERK      7788 12-JAN-83  1100            20</a:t>
            </a:r>
          </a:p>
          <a:p>
            <a:pPr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7934 MILLER  CLERK      7782 23-JAN-82  1300            10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B96E64-25AA-FAA1-34D6-D5C8ABC95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749" y="512928"/>
            <a:ext cx="1588192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EMP Table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561C881-AFFD-F825-7BBC-F4CBDAE98C47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912978"/>
            <a:ext cx="7488524" cy="3427413"/>
            <a:chOff x="477" y="1022"/>
            <a:chExt cx="4903" cy="21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2D44F3-EA5D-0082-D1B4-BF9091C82AA4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477" y="1022"/>
              <a:ext cx="3903" cy="1431"/>
            </a:xfrm>
            <a:prstGeom prst="rect">
              <a:avLst/>
            </a:prstGeom>
            <a:solidFill>
              <a:srgbClr val="777777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EMPNO ENAME    JOB        MGR HIREDATE     SAL  COMM  DEPTNO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----- -------- --------- ---- --------- ------ ----- -------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7839  KING     PRESIDENT      17-NOV-81   5000            10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7782  CLARK    MANAGER   7839 09-JUN-81   1500   300      10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7934  MILLER   CLERK     7782 23-JAN-82   1300            10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7566  JONES    MANAGER   7839 02-APR-81   2975            20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7788  SCOTT    ANALYST   7566 09-DEC-82   3000            20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7876  ADAMS    CLERK     7788 12-JAN-83   1100            20</a:t>
              </a:r>
            </a:p>
            <a:p>
              <a:pPr>
                <a:lnSpc>
                  <a:spcPts val="19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7369  SMITH    CLERK     7902 17-DEC-80    800            20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F1CB5B-FCC6-682A-2541-CD32CB5B62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" y="1380"/>
              <a:ext cx="4564" cy="1801"/>
              <a:chOff x="477" y="1380"/>
              <a:chExt cx="4564" cy="1801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6E671D1-7B95-889C-D836-DB0AED70AD13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4056" y="1380"/>
                <a:ext cx="985" cy="1801"/>
              </a:xfrm>
              <a:custGeom>
                <a:avLst/>
                <a:gdLst>
                  <a:gd name="T0" fmla="*/ 984 w 985"/>
                  <a:gd name="T1" fmla="*/ 0 h 1801"/>
                  <a:gd name="T2" fmla="*/ 984 w 985"/>
                  <a:gd name="T3" fmla="*/ 387 h 1801"/>
                  <a:gd name="T4" fmla="*/ 12 w 985"/>
                  <a:gd name="T5" fmla="*/ 1800 h 1801"/>
                  <a:gd name="T6" fmla="*/ 0 w 985"/>
                  <a:gd name="T7" fmla="*/ 780 h 1801"/>
                  <a:gd name="T8" fmla="*/ 984 w 985"/>
                  <a:gd name="T9" fmla="*/ 0 h 18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5"/>
                  <a:gd name="T16" fmla="*/ 0 h 1801"/>
                  <a:gd name="T17" fmla="*/ 985 w 985"/>
                  <a:gd name="T18" fmla="*/ 1801 h 18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5" h="1801">
                    <a:moveTo>
                      <a:pt x="984" y="0"/>
                    </a:moveTo>
                    <a:lnTo>
                      <a:pt x="984" y="387"/>
                    </a:lnTo>
                    <a:lnTo>
                      <a:pt x="12" y="1800"/>
                    </a:lnTo>
                    <a:lnTo>
                      <a:pt x="0" y="780"/>
                    </a:lnTo>
                    <a:lnTo>
                      <a:pt x="984" y="0"/>
                    </a:lnTo>
                  </a:path>
                </a:pathLst>
              </a:custGeom>
              <a:solidFill>
                <a:srgbClr val="FF6633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B2264E1-EF9B-B2B3-B3ED-A581C144E66F}"/>
                  </a:ext>
                </a:extLst>
              </p:cNvPr>
              <p:cNvSpPr>
                <a:spLocks/>
              </p:cNvSpPr>
              <p:nvPr/>
            </p:nvSpPr>
            <p:spPr bwMode="blackWhite">
              <a:xfrm>
                <a:off x="816" y="1380"/>
                <a:ext cx="4225" cy="781"/>
              </a:xfrm>
              <a:custGeom>
                <a:avLst/>
                <a:gdLst>
                  <a:gd name="T0" fmla="*/ 0 w 4225"/>
                  <a:gd name="T1" fmla="*/ 780 h 781"/>
                  <a:gd name="T2" fmla="*/ 696 w 4225"/>
                  <a:gd name="T3" fmla="*/ 0 h 781"/>
                  <a:gd name="T4" fmla="*/ 4224 w 4225"/>
                  <a:gd name="T5" fmla="*/ 0 h 781"/>
                  <a:gd name="T6" fmla="*/ 3252 w 4225"/>
                  <a:gd name="T7" fmla="*/ 780 h 781"/>
                  <a:gd name="T8" fmla="*/ 0 w 4225"/>
                  <a:gd name="T9" fmla="*/ 780 h 7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5"/>
                  <a:gd name="T16" fmla="*/ 0 h 781"/>
                  <a:gd name="T17" fmla="*/ 4225 w 4225"/>
                  <a:gd name="T18" fmla="*/ 781 h 78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5" h="781">
                    <a:moveTo>
                      <a:pt x="0" y="780"/>
                    </a:moveTo>
                    <a:lnTo>
                      <a:pt x="696" y="0"/>
                    </a:lnTo>
                    <a:lnTo>
                      <a:pt x="4224" y="0"/>
                    </a:lnTo>
                    <a:lnTo>
                      <a:pt x="3252" y="780"/>
                    </a:lnTo>
                    <a:lnTo>
                      <a:pt x="0" y="780"/>
                    </a:lnTo>
                  </a:path>
                </a:pathLst>
              </a:custGeom>
              <a:solidFill>
                <a:srgbClr val="FF9966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931985C-F503-94DD-E359-03B6A5A969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7" y="1886"/>
                <a:ext cx="3652" cy="1291"/>
                <a:chOff x="477" y="1886"/>
                <a:chExt cx="3652" cy="1291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CF7C3DF-1FDA-7BFB-74B5-4F98FFF1A1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2" y="2136"/>
                  <a:ext cx="3317" cy="1041"/>
                  <a:chOff x="812" y="2136"/>
                  <a:chExt cx="3317" cy="1041"/>
                </a:xfrm>
              </p:grpSpPr>
              <p:sp>
                <p:nvSpPr>
                  <p:cNvPr id="14" name="Rectangle 12">
                    <a:extLst>
                      <a:ext uri="{FF2B5EF4-FFF2-40B4-BE49-F238E27FC236}">
                        <a16:creationId xmlns:a16="http://schemas.microsoft.com/office/drawing/2014/main" id="{E37A2ADB-F3AE-7AE4-8CF3-0BCD7A710F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blackWhite">
                  <a:xfrm>
                    <a:off x="812" y="2136"/>
                    <a:ext cx="3238" cy="1041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C6C6C6"/>
                      </a:gs>
                      <a:gs pos="50000">
                        <a:srgbClr val="DDDDDD"/>
                      </a:gs>
                      <a:gs pos="100000">
                        <a:srgbClr val="C6C6C6"/>
                      </a:gs>
                    </a:gsLst>
                    <a:lin ang="2700000" scaled="1"/>
                  </a:gradFill>
                  <a:ln>
                    <a:noFill/>
                  </a:ln>
                  <a:effectLst>
                    <a:outerShdw dist="71842" dir="2700000" algn="ctr" rotWithShape="0">
                      <a:srgbClr val="000000"/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2400"/>
                  </a:p>
                </p:txBody>
              </p:sp>
              <p:sp>
                <p:nvSpPr>
                  <p:cNvPr id="15" name="Rectangle 13">
                    <a:extLst>
                      <a:ext uri="{FF2B5EF4-FFF2-40B4-BE49-F238E27FC236}">
                        <a16:creationId xmlns:a16="http://schemas.microsoft.com/office/drawing/2014/main" id="{EAE5DAF4-E293-6E19-30CA-45A08DC0FD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blackWhite">
                  <a:xfrm>
                    <a:off x="814" y="2233"/>
                    <a:ext cx="3315" cy="90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tabLst>
                        <a:tab pos="2911475" algn="l"/>
                      </a:tabLst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tabLst>
                        <a:tab pos="2911475" algn="l"/>
                      </a:tabLs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tabLst>
                        <a:tab pos="2911475" algn="l"/>
                      </a:tabLs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ts val="13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4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 </a:t>
                    </a:r>
                    <a:r>
                      <a:rPr lang="en-US" altLang="en-US" sz="22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EMPNO ENAME    JOB        </a:t>
                    </a:r>
                  </a:p>
                  <a:p>
                    <a:pPr>
                      <a:lnSpc>
                        <a:spcPts val="13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2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------ -------- ----------- 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2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  7839 KING     PRESIDENT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2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  7782 CLARK    MANAGER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2200" b="1" dirty="0">
                        <a:solidFill>
                          <a:srgbClr val="0000FF"/>
                        </a:solidFill>
                        <a:latin typeface="Courier New" panose="02070309020205020404" pitchFamily="49" charset="0"/>
                      </a:rPr>
                      <a:t>  7934 MILLER   CLERK</a:t>
                    </a:r>
                  </a:p>
                </p:txBody>
              </p:sp>
            </p:grpSp>
            <p:sp>
              <p:nvSpPr>
                <p:cNvPr id="13" name="Rectangle 14">
                  <a:extLst>
                    <a:ext uri="{FF2B5EF4-FFF2-40B4-BE49-F238E27FC236}">
                      <a16:creationId xmlns:a16="http://schemas.microsoft.com/office/drawing/2014/main" id="{F8CE868C-2A27-E75B-369B-18073677C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blackWhite">
                <a:xfrm>
                  <a:off x="477" y="1886"/>
                  <a:ext cx="1694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2075" tIns="46038" rIns="92075" bIns="46038">
                  <a:spAutoFit/>
                </a:bodyPr>
                <a:lstStyle/>
                <a:p>
                  <a:pPr>
                    <a:defRPr/>
                  </a:pPr>
                  <a:r>
                    <a:rPr lang="en-US" sz="2200" b="1" dirty="0">
                      <a:solidFill>
                        <a:srgbClr val="FF0000"/>
                      </a:solidFill>
                    </a:rPr>
                    <a:t>      EMPVU10 View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50613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7A29-452D-F2D9-5597-39B8772B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1826CB0-E49A-A146-CF17-C780B1F1B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A439966-40B4-5B4E-B72E-0AA69D30A6D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4C3CC52-FB86-9D78-22C3-56ED8B0B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B700F519-C56F-9C9D-E2F0-3A58A49E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409979-DDEC-E393-2818-8790CD7C9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49" y="263810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FORCE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means the view is to be created even if the base tables don’t exist. Default is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NOFORCE.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subquery can contain complex SELECT syntax.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subquery cannot contain an ORDER BY clause.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51FCE0-A923-D038-30B9-A7A9D414CF8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713509"/>
            <a:ext cx="7535863" cy="18002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CREATE [OR REPLACE] 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[{FORCE|NOFORCE}]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VIEW 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view 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  [(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alias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[, 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alias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]...)]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AS 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subquery</a:t>
            </a: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[WITH CHECK OPTION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[CONSTRAINT constraint_name]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[WITH READ ONLY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[CONSTRAINT constraint_name]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305782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8227-FAA1-095D-3DBD-C7FF651E3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4AE149-1B90-ABB5-839E-E154F482F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30928EC-A8D5-3CE7-1B90-66F30C812A2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2E6ED25-DB91-AB23-5BA0-8F7FB1B7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F09D2AD1-8F1F-A3B5-D510-D541B8DC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28F832-B23E-6420-DE55-5A1806434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21882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a view EMP10 that contains details of employees in department 10.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a view with renamed column names.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72D134-D08D-04B3-6915-1547304CD9B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25513" y="1497484"/>
            <a:ext cx="7496175" cy="1748386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1E941C2-F202-D453-169E-A9BF3749D0A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35038" y="1484784"/>
            <a:ext cx="7231062" cy="177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  <a:tab pos="274320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VIEW 	emp10</a:t>
            </a:r>
          </a:p>
          <a:p>
            <a:pPr>
              <a:tabLst>
                <a:tab pos="1601788" algn="l"/>
                <a:tab pos="1717675" algn="l"/>
                <a:tab pos="274320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job</a:t>
            </a:r>
          </a:p>
          <a:p>
            <a:pPr>
              <a:tabLst>
                <a:tab pos="1601788" algn="l"/>
                <a:tab pos="1717675" algn="l"/>
                <a:tab pos="274320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FROM			emp</a:t>
            </a:r>
          </a:p>
          <a:p>
            <a:pPr>
              <a:tabLst>
                <a:tab pos="1601788" algn="l"/>
                <a:tab pos="1717675" algn="l"/>
                <a:tab pos="274320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WHERE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10;</a:t>
            </a:r>
          </a:p>
          <a:p>
            <a:pPr>
              <a:tabLst>
                <a:tab pos="1601788" algn="l"/>
                <a:tab pos="1717675" algn="l"/>
                <a:tab pos="2743200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67C609B-6B8A-27E8-AA13-C4CE85A35D7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28687" y="3943127"/>
            <a:ext cx="7510463" cy="184943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A585510-8760-9298-0958-B04B207B685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11225" y="3930427"/>
            <a:ext cx="7510463" cy="187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VIEW 	salvu30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EMP_ID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NAME,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SALARY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FROM				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5  WHERE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30;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111401907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8F5D-BC23-9955-29A0-5E96A4CE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A6514B9-C6B4-50BA-16E1-E86B41642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EE3DD5C-14AF-C500-CF91-FF8EE642DA5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B60429F-D38B-06F1-FAF2-1F0E60B3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5694A80B-D257-5EFB-EE4C-4F47C757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63617C-AD95-FA4B-65EA-CCC679C6D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21882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a view with renamed column names.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2F161B7-94C6-3325-2D84-49003777D62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01030" y="1194056"/>
            <a:ext cx="7510463" cy="184943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15F254C-8C27-2CCA-0873-06F9E854D8F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1181356"/>
            <a:ext cx="7510463" cy="187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VIEW 	salvu30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(EMP_ID, NAME, SALARY)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FROM				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WHERE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30;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0392C0-E0BF-61C8-89AF-8A276A6D3CB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01030" y="3369692"/>
            <a:ext cx="7510463" cy="184943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649A0B-1AF4-D7FD-2F58-5E3A8A420EC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3356992"/>
            <a:ext cx="7510463" cy="187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VIEW 	salvu30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(EMP_ID, NAME, ANN_SAL)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sal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*12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FROM				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WHERE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30;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14236480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C369-A4C2-E050-D56D-7935AAD8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94AFFDA-4564-F336-11DD-CF6AD5008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Retrieving Data from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A848964-8A6B-FE84-557C-D13EEA4C1CB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909D364-62E5-243F-F5FD-EA66ACE8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7CC66C5-4B10-476D-67C2-FD8A9A2E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60A3FD-AE56-C576-8C3F-4D265BBB79C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5006" y="849411"/>
            <a:ext cx="7510463" cy="44481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60F625-01A7-05A1-8E32-E9D4298C03E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544" y="836712"/>
            <a:ext cx="7510463" cy="45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SELECT * FROM salvu10;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EEF15A4-0C5E-0CD1-EEDA-FE2FDEDF11C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9918" y="2912071"/>
            <a:ext cx="3533775" cy="2859087"/>
          </a:xfrm>
          <a:prstGeom prst="roundRect">
            <a:avLst>
              <a:gd name="adj" fmla="val 12495"/>
            </a:avLst>
          </a:prstGeom>
          <a:gradFill rotWithShape="0">
            <a:gsLst>
              <a:gs pos="0">
                <a:srgbClr val="E5895C"/>
              </a:gs>
              <a:gs pos="50000">
                <a:srgbClr val="FF9966"/>
              </a:gs>
              <a:gs pos="100000">
                <a:srgbClr val="E5895C"/>
              </a:gs>
            </a:gsLst>
            <a:lin ang="2700000" scaled="1"/>
          </a:gradFill>
          <a:ln w="12700">
            <a:solidFill>
              <a:srgbClr val="000000"/>
            </a:solidFill>
            <a:round/>
            <a:headEnd/>
            <a:tailEnd/>
          </a:ln>
          <a:effectLst>
            <a:outerShdw dist="53882" dir="2700000" algn="ctr" rotWithShape="0">
              <a:srgbClr val="00000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FC2303-013F-36DE-3CD6-7C4CB53D39D6}"/>
              </a:ext>
            </a:extLst>
          </p:cNvPr>
          <p:cNvGrpSpPr>
            <a:grpSpLocks/>
          </p:cNvGrpSpPr>
          <p:nvPr/>
        </p:nvGrpSpPr>
        <p:grpSpPr bwMode="auto">
          <a:xfrm>
            <a:off x="3250556" y="1700808"/>
            <a:ext cx="5303837" cy="4114800"/>
            <a:chOff x="2095" y="1128"/>
            <a:chExt cx="3341" cy="2592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2FC41E8A-A161-7418-9C31-581BCE158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6" y="1128"/>
              <a:ext cx="2100" cy="2592"/>
              <a:chOff x="3336" y="1128"/>
              <a:chExt cx="2100" cy="2592"/>
            </a:xfrm>
          </p:grpSpPr>
          <p:sp>
            <p:nvSpPr>
              <p:cNvPr id="13" name="Rectangle 6">
                <a:extLst>
                  <a:ext uri="{FF2B5EF4-FFF2-40B4-BE49-F238E27FC236}">
                    <a16:creationId xmlns:a16="http://schemas.microsoft.com/office/drawing/2014/main" id="{0EA40771-D27B-ACE0-4C9E-E5A674DB910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3336" y="1654"/>
                <a:ext cx="2100" cy="1553"/>
              </a:xfrm>
              <a:prstGeom prst="rect">
                <a:avLst/>
              </a:prstGeom>
              <a:gradFill rotWithShape="0">
                <a:gsLst>
                  <a:gs pos="0">
                    <a:srgbClr val="8E8E8E"/>
                  </a:gs>
                  <a:gs pos="50000">
                    <a:srgbClr val="B2B2B2"/>
                  </a:gs>
                  <a:gs pos="100000">
                    <a:srgbClr val="8E8E8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4" name="Oval 7">
                <a:extLst>
                  <a:ext uri="{FF2B5EF4-FFF2-40B4-BE49-F238E27FC236}">
                    <a16:creationId xmlns:a16="http://schemas.microsoft.com/office/drawing/2014/main" id="{58CAE898-061B-A2EF-72DD-5458A6EFA8DF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3336" y="1128"/>
                <a:ext cx="2100" cy="995"/>
              </a:xfrm>
              <a:prstGeom prst="ellipse">
                <a:avLst/>
              </a:prstGeom>
              <a:gradFill rotWithShape="0">
                <a:gsLst>
                  <a:gs pos="0">
                    <a:srgbClr val="A0A0A0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5" name="Oval 8">
                <a:extLst>
                  <a:ext uri="{FF2B5EF4-FFF2-40B4-BE49-F238E27FC236}">
                    <a16:creationId xmlns:a16="http://schemas.microsoft.com/office/drawing/2014/main" id="{1B7A4262-C209-ECE1-4C88-686B239CB01A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3336" y="2725"/>
                <a:ext cx="2100" cy="995"/>
              </a:xfrm>
              <a:prstGeom prst="ellipse">
                <a:avLst/>
              </a:prstGeom>
              <a:gradFill rotWithShape="0">
                <a:gsLst>
                  <a:gs pos="0">
                    <a:srgbClr val="8E8E8E"/>
                  </a:gs>
                  <a:gs pos="50000">
                    <a:srgbClr val="B2B2B2"/>
                  </a:gs>
                  <a:gs pos="100000">
                    <a:srgbClr val="8E8E8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D721575B-AEFF-4135-D1F5-B7B9B7EA1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2493"/>
              <a:ext cx="1325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68CD7F90-AF8F-F740-BAEE-66018C8D2787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436" y="2124"/>
              <a:ext cx="1928" cy="972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00CC66">
                    <a:gamma/>
                    <a:shade val="89804"/>
                    <a:invGamma/>
                  </a:srgbClr>
                </a:gs>
                <a:gs pos="50000">
                  <a:srgbClr val="00CC66"/>
                </a:gs>
                <a:gs pos="100000">
                  <a:srgbClr val="00CC66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>
              <a:outerShdw dist="53882" dir="2700000" algn="ctr" rotWithShape="0">
                <a:srgbClr val="000000"/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lnSpc>
                  <a:spcPct val="70000"/>
                </a:lnSpc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  </a:t>
              </a:r>
              <a:r>
                <a:rPr 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            </a:t>
              </a:r>
              <a:r>
                <a:rPr lang="en-US" sz="2200" b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USER_VIEWS</a:t>
              </a:r>
              <a:r>
                <a:rPr lang="en-US" sz="1600" b="1">
                  <a:solidFill>
                    <a:srgbClr val="000000"/>
                  </a:solidFill>
                </a:rPr>
                <a:t>     </a:t>
              </a:r>
            </a:p>
            <a:p>
              <a:pPr>
                <a:lnSpc>
                  <a:spcPct val="70000"/>
                </a:lnSpc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                 </a:t>
              </a:r>
            </a:p>
            <a:p>
              <a:pPr>
                <a:lnSpc>
                  <a:spcPct val="70000"/>
                </a:lnSpc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                  </a:t>
              </a:r>
              <a:r>
                <a:rPr lang="en-US" sz="1800" b="1">
                  <a:solidFill>
                    <a:srgbClr val="DDDDDD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EMPVU10</a:t>
              </a:r>
              <a:endParaRPr lang="en-US" sz="1800" b="1">
                <a:solidFill>
                  <a:srgbClr val="000000"/>
                </a:solidFill>
              </a:endParaRPr>
            </a:p>
            <a:p>
              <a:pPr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SELECT	empno, ename, job</a:t>
              </a:r>
            </a:p>
            <a:p>
              <a:pPr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FROM	emp</a:t>
              </a:r>
            </a:p>
            <a:p>
              <a:pPr>
                <a:tabLst>
                  <a:tab pos="1077913" algn="l"/>
                  <a:tab pos="1779588" algn="l"/>
                </a:tabLst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WHERE	deptno = 10;</a:t>
              </a:r>
            </a:p>
          </p:txBody>
        </p:sp>
      </p:grpSp>
      <p:sp>
        <p:nvSpPr>
          <p:cNvPr id="16" name="AutoShape 11">
            <a:extLst>
              <a:ext uri="{FF2B5EF4-FFF2-40B4-BE49-F238E27FC236}">
                <a16:creationId xmlns:a16="http://schemas.microsoft.com/office/drawing/2014/main" id="{DA7AED09-1F0C-72FD-0FBB-3AF1615179E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2105621"/>
            <a:ext cx="3546475" cy="2871787"/>
          </a:xfrm>
          <a:prstGeom prst="roundRect">
            <a:avLst>
              <a:gd name="adj" fmla="val 12495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682625" algn="l"/>
                <a:tab pos="1779588" algn="l"/>
              </a:tabLst>
              <a:defRPr/>
            </a:pPr>
            <a:r>
              <a:rPr lang="en-US" sz="2200" b="1">
                <a:solidFill>
                  <a:srgbClr val="DDDDDD"/>
                </a:solidFill>
              </a:rPr>
              <a:t>          </a:t>
            </a:r>
            <a:r>
              <a:rPr lang="en-US" sz="22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SQL*Plus</a:t>
            </a:r>
            <a:endParaRPr lang="en-US" sz="1800" b="1">
              <a:solidFill>
                <a:srgbClr val="DDDDDD"/>
              </a:solidFill>
            </a:endParaRPr>
          </a:p>
          <a:p>
            <a:pPr>
              <a:tabLst>
                <a:tab pos="682625" algn="l"/>
                <a:tab pos="1779588" algn="l"/>
              </a:tabLst>
              <a:defRPr/>
            </a:pPr>
            <a:endParaRPr lang="en-US" sz="1800" b="1">
              <a:solidFill>
                <a:srgbClr val="000000"/>
              </a:solidFill>
            </a:endParaRPr>
          </a:p>
          <a:p>
            <a:pPr>
              <a:tabLst>
                <a:tab pos="682625" algn="l"/>
                <a:tab pos="1779588" algn="l"/>
              </a:tabLst>
              <a:defRPr/>
            </a:pPr>
            <a:r>
              <a:rPr lang="en-US" sz="1800" b="1">
                <a:solidFill>
                  <a:srgbClr val="000000"/>
                </a:solidFill>
              </a:rPr>
              <a:t>SELECT   *</a:t>
            </a:r>
          </a:p>
          <a:p>
            <a:pPr>
              <a:tabLst>
                <a:tab pos="682625" algn="l"/>
                <a:tab pos="1779588" algn="l"/>
              </a:tabLst>
              <a:defRPr/>
            </a:pPr>
            <a:r>
              <a:rPr lang="en-US" sz="1800" b="1">
                <a:solidFill>
                  <a:srgbClr val="000000"/>
                </a:solidFill>
              </a:rPr>
              <a:t>FROM       empvu10;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3E1EEC84-45AE-7BD8-784D-D11C346ECB1F}"/>
              </a:ext>
            </a:extLst>
          </p:cNvPr>
          <p:cNvGrpSpPr>
            <a:grpSpLocks/>
          </p:cNvGrpSpPr>
          <p:nvPr/>
        </p:nvGrpSpPr>
        <p:grpSpPr bwMode="auto">
          <a:xfrm>
            <a:off x="778818" y="4172546"/>
            <a:ext cx="6975475" cy="1465262"/>
            <a:chOff x="538" y="2685"/>
            <a:chExt cx="4394" cy="923"/>
          </a:xfrm>
        </p:grpSpPr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FC250BEC-AE22-23E6-323B-7BB3035544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8" y="2685"/>
              <a:ext cx="4394" cy="923"/>
              <a:chOff x="538" y="2685"/>
              <a:chExt cx="4394" cy="923"/>
            </a:xfrm>
          </p:grpSpPr>
          <p:sp>
            <p:nvSpPr>
              <p:cNvPr id="21" name="Line 14">
                <a:extLst>
                  <a:ext uri="{FF2B5EF4-FFF2-40B4-BE49-F238E27FC236}">
                    <a16:creationId xmlns:a16="http://schemas.microsoft.com/office/drawing/2014/main" id="{BFB587AE-BFEF-8517-1532-0EA2F12FF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9" y="3327"/>
                <a:ext cx="1401" cy="0"/>
              </a:xfrm>
              <a:prstGeom prst="line">
                <a:avLst/>
              </a:prstGeom>
              <a:noFill/>
              <a:ln w="50800">
                <a:solidFill>
                  <a:srgbClr val="FFCC00"/>
                </a:solidFill>
                <a:round/>
                <a:headEnd type="stealth" w="med" len="lg"/>
                <a:tailEnd type="none" w="sm" len="sm"/>
              </a:ln>
              <a:effectLst>
                <a:outerShdw dist="53882" dir="2700000" algn="ctr" rotWithShape="0">
                  <a:srgbClr val="000000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541466C0-A541-DD03-5857-BDD6976B182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3786" y="3216"/>
                <a:ext cx="1146" cy="232"/>
              </a:xfrm>
              <a:prstGeom prst="rect">
                <a:avLst/>
              </a:prstGeom>
              <a:gradFill rotWithShape="0">
                <a:gsLst>
                  <a:gs pos="0">
                    <a:srgbClr val="5C5CE5"/>
                  </a:gs>
                  <a:gs pos="50000">
                    <a:srgbClr val="6666FF"/>
                  </a:gs>
                  <a:gs pos="100000">
                    <a:srgbClr val="5C5CE5"/>
                  </a:gs>
                </a:gsLst>
                <a:lin ang="2700000" scaled="1"/>
              </a:gradFill>
              <a:ln>
                <a:noFill/>
              </a:ln>
              <a:effectLst>
                <a:outerShdw dist="53882" dir="2700000" algn="ctr" rotWithShape="0">
                  <a:srgbClr val="00000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639BB477-C97A-2249-B4DD-FA1682DFD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8" y="3208"/>
                <a:ext cx="428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60000"/>
                  </a:spcBef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</a:rPr>
                  <a:t>EMP</a:t>
                </a:r>
              </a:p>
            </p:txBody>
          </p:sp>
          <p:sp>
            <p:nvSpPr>
              <p:cNvPr id="24" name="Rectangle 17">
                <a:extLst>
                  <a:ext uri="{FF2B5EF4-FFF2-40B4-BE49-F238E27FC236}">
                    <a16:creationId xmlns:a16="http://schemas.microsoft.com/office/drawing/2014/main" id="{581EC01D-914D-C7C8-5A76-648756DED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2685"/>
                <a:ext cx="2092" cy="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800" b="1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800" b="1">
                  <a:solidFill>
                    <a:srgbClr val="000000"/>
                  </a:solidFill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</a:rPr>
                  <a:t>7839	KING	PRESIDENT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</a:rPr>
                  <a:t>7782	CLARK	MANAGER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</a:rPr>
                  <a:t>7934	MILLER	CLERK</a:t>
                </a:r>
              </a:p>
            </p:txBody>
          </p:sp>
        </p:grp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FA9AE15D-2E45-2BA9-BEBB-B0733A2CD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4" y="3060"/>
              <a:ext cx="0" cy="211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stealth" w="med" len="lg"/>
              <a:tailEnd type="none" w="sm" len="sm"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6618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DD9B-71F0-789D-2151-A6687E94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3351FD9-79AE-1AFA-FBEC-D68A5D6CD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Modifying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25A6449-844B-4CB9-348A-6521EB1CC83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0067C4C-A30C-DC17-9A89-7326A4B6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8509B48-E613-791E-F579-728601EF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9D3B33-F982-BEBF-28F7-B9C4EBACE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Modify the EMPVU10 view by using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OR REPLACE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VIEW clause. Add an alias for each column name.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Column aliases in the CREATE VIEW clause are listed in the same order as the columns in the subquery.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B0A64B-D272-AD2F-0E7D-95CD52E1AFB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39304" y="1704529"/>
            <a:ext cx="8328341" cy="18557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  <a:tab pos="21209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  <a:tab pos="21209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21209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4F6574F-72D3-4D1A-E8AF-2EA17A37944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25450" y="1691829"/>
            <a:ext cx="8106990" cy="188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CREATE OR REPLACE VIEW empvu10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2    	(employee_number, employee_name, job_title)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3  AS SELECT 	empno, ename, job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4  FROM				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5  WHERE				deptno = 10;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186714171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A07C8-9BB1-A95B-11E3-94FD6D9F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C210DFD-FE1D-4913-E30F-AFF42D7CD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858" y="663352"/>
            <a:ext cx="8064574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Simple Views </a:t>
            </a: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Complex Views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778311A-7329-1F81-0396-4B748C8432E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99EED26-F304-BE78-F03C-DF9E6DB7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D0A2749B-1665-410A-7426-83A0A9E1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3D906F-5FB3-FACD-66AD-EFE748243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354501"/>
              </p:ext>
            </p:extLst>
          </p:nvPr>
        </p:nvGraphicFramePr>
        <p:xfrm>
          <a:off x="744813" y="1431072"/>
          <a:ext cx="7643611" cy="22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067">
                  <a:extLst>
                    <a:ext uri="{9D8B030D-6E8A-4147-A177-3AD203B41FA5}">
                      <a16:colId xmlns:a16="http://schemas.microsoft.com/office/drawing/2014/main" val="2759632180"/>
                    </a:ext>
                  </a:extLst>
                </a:gridCol>
                <a:gridCol w="2241348">
                  <a:extLst>
                    <a:ext uri="{9D8B030D-6E8A-4147-A177-3AD203B41FA5}">
                      <a16:colId xmlns:a16="http://schemas.microsoft.com/office/drawing/2014/main" val="3200554078"/>
                    </a:ext>
                  </a:extLst>
                </a:gridCol>
                <a:gridCol w="2655196">
                  <a:extLst>
                    <a:ext uri="{9D8B030D-6E8A-4147-A177-3AD203B41FA5}">
                      <a16:colId xmlns:a16="http://schemas.microsoft.com/office/drawing/2014/main" val="805951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Simple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Complex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88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Number of Tables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One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One or More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73404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SQL Functions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Yes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370530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Group Functions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marL="91434" marR="91434" marT="45715" marB="45715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402655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DML operations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marL="91434" marR="91434" marT="45715" marB="45715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May or May Not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936322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5263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DB34D-26EE-9D36-4282-3D685F46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7FA3E8E-14D2-7EAE-4159-52FF81B35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Complex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D5CC5D8-F1CC-F4E4-A4E3-15A5D0B0500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AD8C7E7F-1C4C-5C1E-9F6C-2E320820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E847E362-2985-D528-D67D-22BC0E7E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25ED86-5680-AE4D-97CC-29068A435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Create a complex view that contains group functions and display values from two tables.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4049E0-2C1E-961A-1EDA-899C33416E8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2551" y="1702743"/>
            <a:ext cx="7893690" cy="28089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53822C-9AFA-A022-B196-02D067D165A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576" y="1670993"/>
            <a:ext cx="7920880" cy="2838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VIEW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dept_sum_vu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  				(name,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minsal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maxsal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avgsal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d.dname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MIN(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e.sal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), MAX(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e.sal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),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				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AVG(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e.sal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5  FROM		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emp e, dept d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6  WHERE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e.deptno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d.deptno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7  GROUP BY 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d.dname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30486413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3F4C-1DB0-47AB-EF57-0636D70B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2157215-AB28-9BE5-B619-A1C1439A7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63352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Rules for Performing </a:t>
            </a: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DML Operations on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F75A6C3-AB6A-1F9D-50CF-E4DECE4AD0B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993396B-198A-2101-7328-73B8783C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FCF1080-605B-F89B-D20C-4DECA3F7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D5CAAC-011A-5D58-A3D9-5F460D6AD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4744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 perform DML operations on simple views.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cannot remove a row if the view contains the following: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Group functions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GROUP BY clause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DISTINCT keyword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cannot add data if: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There are NOT NULL columns in the base tables that are not selected by the view</a:t>
            </a:r>
          </a:p>
          <a:p>
            <a:pPr marL="560388" lvl="1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Columns defined by expressions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0843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CE33-442B-B9B2-EA74-DE99BAF9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3E1B0F5-592A-F371-5F64-EB8B81E22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the </a:t>
            </a:r>
            <a:r>
              <a:rPr lang="en-US" altLang="en-US" sz="2800" b="1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 CHECK OPTION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Clause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B594E1A-D066-8DAD-0003-1F981CA0F47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930EAD5-898D-9E1E-F5A2-B6FC68B3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1808D252-F60C-5E80-CCE4-1F9BE5D4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F6F858-BF2D-CC57-5677-6D465050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 ensure that DML on the view stays</a:t>
            </a:r>
            <a:b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within the domain of the view by using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CHECK OPTION clause.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Any attempt to change the department number for any row in the view will fail because it violates the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CHECK OPTION constraint.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F11118-2232-E450-0EFF-D76FC8A64F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28688" y="2001539"/>
            <a:ext cx="7493000" cy="208703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1B193D-E37E-37A3-F828-C5CC7F3727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91680" y="3302262"/>
            <a:ext cx="2952328" cy="342762"/>
          </a:xfrm>
          <a:prstGeom prst="rect">
            <a:avLst/>
          </a:prstGeom>
          <a:solidFill>
            <a:srgbClr val="FF505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4FEF3FA-25AD-CF79-1A8E-6F1C2AA094A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11225" y="1988839"/>
            <a:ext cx="7142163" cy="211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OR REPLACE VIEW empvu20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AS SELECT	*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FROM	        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WHERE	       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20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5  WITH CHECK OPTION;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2649525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91AF-CDD5-0E45-10FB-912E6BC3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8B19425-C736-A686-C699-0ECE54E77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312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Denying DML Operations on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8AE9342-2D74-15EE-1C04-FB2F19281D8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C3DC6D8-3E49-A700-E6F6-787FB9D0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B1E4D6F6-AE6A-117E-3B9B-65EED961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F9007C-5805-5363-223E-1708E1E58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712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can ensure that no DML operations occur by adding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WITH READ ONLY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option to your view definition.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Any attempt to perform a DML on any row in the view will result in Oracle Server error.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50505-5843-0836-59DE-A755AEAD27B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5080" y="1762654"/>
            <a:ext cx="8394700" cy="251204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DDF44E-E284-7E13-6F63-8710B698EE1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97780" y="1749954"/>
            <a:ext cx="8394700" cy="2543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OR REPLACE VIEW empvu10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      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employee_number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employee_name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job_title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3  AS SELECT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job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4  FROM				emp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5  WHERE			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= 10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6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WITH READ ONLY;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created.</a:t>
            </a:r>
          </a:p>
        </p:txBody>
      </p:sp>
    </p:spTree>
    <p:extLst>
      <p:ext uri="{BB962C8B-B14F-4D97-AF65-F5344CB8AC3E}">
        <p14:creationId xmlns:p14="http://schemas.microsoft.com/office/powerpoint/2010/main" val="14724921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F458-80C4-5DCB-4917-C09F49D4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B50A2A8-88EC-E985-F743-852AA32C7A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Dropping a View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E3E547D-B522-2915-D833-2A90688137C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E77106D-C0D7-F0E0-3668-EF408C7C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E7DABFAC-D242-7131-2B8E-E3AE635E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134F09-163B-DD6F-EB35-156CF9AA9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56" y="692696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a view without losing data because a view is based on underlying tables in the database.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41AC68E-9289-F3AC-5064-A2AAA6E357E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1505" y="2289571"/>
            <a:ext cx="7822356" cy="79927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1DE537-C976-2DAE-C2E7-05C420DAA1C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2276872"/>
            <a:ext cx="7848872" cy="83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DROP VIEW empvu10; </a:t>
            </a:r>
          </a:p>
          <a:p>
            <a:pPr>
              <a:tabLst>
                <a:tab pos="1601788" algn="l"/>
                <a:tab pos="1717675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View dropped.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5AB96-7171-FBA0-4BE4-EABA989E85A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6268" y="1619126"/>
            <a:ext cx="7822356" cy="45642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DROP VIEW </a:t>
            </a:r>
            <a:r>
              <a:rPr lang="en-US" altLang="en-US" sz="20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view_name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4979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3DEB-FD5F-5E3B-9823-53473E52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9C94EE9-E48E-0247-BF2B-A5E28CE88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D85E01D-6050-5E0D-E65E-7445053FB94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37D9050-09E3-F27B-E5AF-18E73353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73E2DB97-05B5-9435-F451-0BCFCCF2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64FC0F-1599-D66B-B256-02ABEB49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Automatically generates unique numbers</a:t>
            </a:r>
          </a:p>
          <a:p>
            <a:pPr marL="285750" indent="-285750" algn="just">
              <a:spcBef>
                <a:spcPts val="300"/>
              </a:spcBef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en-US" sz="28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Is typically used to create a populate key value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</a:t>
            </a:r>
            <a:r>
              <a:rPr lang="en-US" altLang="en-US" sz="28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sharable object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can have max. value up to 28 digits.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Replaces application code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Speeds up the efficiency of accessing sequence values when cached in memory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6935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82F3-55D5-B252-9A94-DBE79619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EAD2B2C-B2BD-00B7-C4AD-69CB93490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1E27707-613F-007E-976F-8184F566E2D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2A1B9D4B-EE30-A994-DC70-BE9F5C5D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309320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66EFBD42-F551-2564-5AB6-3F75083E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BFC1F74-93DE-F873-2937-F2660B719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3676771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START WITH: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starting value of the sequence. </a:t>
            </a:r>
          </a:p>
          <a:p>
            <a:pPr algn="just">
              <a:spcBef>
                <a:spcPts val="3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MAXVALUE: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maximum value to be generated by the sequence. Its default value is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10</a:t>
            </a:r>
            <a:r>
              <a:rPr lang="en-US" alt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27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– 1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an ascending sequence and 1 for a descending sequence.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MINVALUE: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minimum value to be generated by the sequence. Its default value is 1 for an ascending sequence and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10</a:t>
            </a:r>
            <a:r>
              <a:rPr lang="en-US" altLang="en-US" sz="2400" baseline="30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27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– 1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a descending sequence.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A95A09-F31F-0131-6D84-9F536189FF5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8170" y="782759"/>
            <a:ext cx="7907659" cy="276088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CREATE SEQUENCE </a:t>
            </a:r>
            <a:r>
              <a:rPr lang="en-US" altLang="en-US" sz="24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sequence_name</a:t>
            </a:r>
            <a:endParaRPr lang="en-US" altLang="en-US" sz="24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START WITH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start_num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INCREMENT BY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increment_num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[{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MAXVALUE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max_number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| </a:t>
            </a:r>
            <a:r>
              <a:rPr lang="en-US" altLang="en-US" sz="24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NOMAXVALUE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[{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MINVALUE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min_number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| </a:t>
            </a:r>
            <a:r>
              <a:rPr lang="en-US" altLang="en-US" sz="24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NOMINVALUE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[{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CYCLE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| </a:t>
            </a:r>
            <a:r>
              <a:rPr lang="en-US" altLang="en-US" sz="2400" b="1" u="sng" dirty="0">
                <a:solidFill>
                  <a:srgbClr val="000000"/>
                </a:solidFill>
                <a:latin typeface="Courier New" panose="02070309020205020404" pitchFamily="49" charset="0"/>
              </a:rPr>
              <a:t>NOCYCLE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[{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CACHE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cache_num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| NOCACHE}];</a:t>
            </a:r>
          </a:p>
        </p:txBody>
      </p:sp>
    </p:spTree>
    <p:extLst>
      <p:ext uri="{BB962C8B-B14F-4D97-AF65-F5344CB8AC3E}">
        <p14:creationId xmlns:p14="http://schemas.microsoft.com/office/powerpoint/2010/main" val="234265603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7BDE-7DFA-D838-45AD-92C8B059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71FFED1-5C1D-6F25-F64D-7C7EB674D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CREATE SEQUENCE Options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78D1C3-608B-F741-38D5-A68C75F691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692696"/>
            <a:ext cx="8492430" cy="5904954"/>
          </a:xfrm>
        </p:spPr>
        <p:txBody>
          <a:bodyPr/>
          <a:lstStyle/>
          <a:p>
            <a:pPr algn="just">
              <a:spcBef>
                <a:spcPts val="3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CYCLE / NOCYCLE: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indicates whether the sequence will continue upon reaching its max/min value or not.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CACHE: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used for faster access. </a:t>
            </a:r>
            <a:r>
              <a:rPr lang="en-US" alt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cache_num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the number of integers to keep in memory. It’s minimum value is 2, default value is 20, and maximum value is </a:t>
            </a:r>
            <a:r>
              <a:rPr lang="pt-BR" altLang="en-US" sz="24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CEIL(maximum_num - minimum_num)/ABS(increment_num)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When using a sequence to populate a primary key column, you should typically use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NOCACHE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to avoid gaps in the sequence of numbers (gaps occur because cached values are lost when the database is shut down). However, using NOCACHE reduces performance.</a:t>
            </a:r>
            <a:endParaRPr lang="pt-BR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7663" indent="-347663" algn="just">
              <a:spcBef>
                <a:spcPts val="300"/>
              </a:spcBef>
              <a:buClr>
                <a:srgbClr val="723900"/>
              </a:buClr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D404218E-1E09-83AB-E8B8-FDE4016A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CA881B5-5DB9-035F-61ED-AE3A07D3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0244230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7A20-AFC8-37FB-838D-09F3BED6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F4FEE8F-CDE7-61EA-64AD-BFC47718E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 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E2338A8-F85A-F56D-9559-B64341966D0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2437314-68F3-458A-B040-12F1E7EC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7965FCF2-7871-0DA7-C2A2-3FCE861B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5DC130-088C-5002-F2F7-C2398507D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3502202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Verify your sequence values in the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USER_SEQUENCES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data dictionary table.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LAST_NUMBER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column displays the next available sequence number.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8E5DC4-CF56-280A-1C74-5A7D54AE19D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9787" y="764704"/>
            <a:ext cx="7835900" cy="258378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SQL&gt; CREATE SEQUENCE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dept_sequence</a:t>
            </a:r>
            <a:endParaRPr lang="en-US" b="1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2	START WITH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3	INCREMENT BY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4	MAXVALUE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100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5	NOCYCLE 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6	CACHE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Sequence created.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1A9B9C-3ADD-B10D-B265-0C7C7BDC7C1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12813" y="4319116"/>
            <a:ext cx="7518400" cy="10541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sequence_name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min_value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max_value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2  	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increment_by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last_number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3  FROM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user_sequences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04866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9186-6A22-BA05-E695-2955EAD3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442EE29-1F71-A4A8-2BE2-D7B693B80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NEXTVAL and CURRVAL Pseudo columns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A93851-F7D5-7DBD-CB07-6667CA3ABB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1520" y="692696"/>
            <a:ext cx="8492430" cy="5904954"/>
          </a:xfrm>
        </p:spPr>
        <p:txBody>
          <a:bodyPr/>
          <a:lstStyle/>
          <a:p>
            <a:pPr algn="just">
              <a:spcBef>
                <a:spcPts val="3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NEXTVAL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returns the next available sequence value.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returns a unique value every time it is referenced, even for different users.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CURRVAL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obtains the current sequence value.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NEXTVAL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must be issued for that sequence before CURRVAL contains a value.</a:t>
            </a:r>
          </a:p>
          <a:p>
            <a:pPr algn="just">
              <a:spcBef>
                <a:spcPts val="300"/>
              </a:spcBef>
            </a:pPr>
            <a:endParaRPr lang="en-US" altLang="en-US" sz="2400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7663" indent="-347663" algn="just">
              <a:spcBef>
                <a:spcPts val="300"/>
              </a:spcBef>
              <a:buClr>
                <a:srgbClr val="723900"/>
              </a:buClr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37F46FE-093D-C1FF-B1DC-17A0672D933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3147690"/>
            <a:ext cx="7518400" cy="5334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dept_deptno.CURRVAL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dual;            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E5ADDA-1610-5B02-ABDA-82EEAB27A1F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3831704"/>
            <a:ext cx="7518400" cy="5334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dept_deptno.NEXTVAL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FROM dual;            </a:t>
            </a:r>
          </a:p>
        </p:txBody>
      </p:sp>
    </p:spTree>
    <p:extLst>
      <p:ext uri="{BB962C8B-B14F-4D97-AF65-F5344CB8AC3E}">
        <p14:creationId xmlns:p14="http://schemas.microsoft.com/office/powerpoint/2010/main" val="177728773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AF9A-46AC-7255-1343-70656A67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EB4702-6FE6-8B85-2404-4E302669E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a 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23E82C2-FDC6-8C95-E48F-39C7F23D06D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69F95F8-E5AE-8C5E-FC7F-02F6E679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A0BA7C2A-2236-986B-CBC8-D0FC8A66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C32D3B-017A-BF5A-9A86-996395EEF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74" y="661075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Insert a new department named “MARKETING”.</a:t>
            </a:r>
          </a:p>
          <a:p>
            <a:pPr algn="just">
              <a:spcBef>
                <a:spcPts val="300"/>
              </a:spcBef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Gaps in sequence values can occur when:</a:t>
            </a:r>
          </a:p>
          <a:p>
            <a:pPr lvl="1" algn="just">
              <a:spcBef>
                <a:spcPts val="300"/>
              </a:spcBef>
            </a:pP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rollback occurs</a:t>
            </a:r>
          </a:p>
          <a:p>
            <a:pPr lvl="1" algn="just">
              <a:spcBef>
                <a:spcPts val="300"/>
              </a:spcBef>
            </a:pP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system crashes</a:t>
            </a:r>
          </a:p>
          <a:p>
            <a:pPr lvl="1" algn="just">
              <a:spcBef>
                <a:spcPts val="300"/>
              </a:spcBef>
            </a:pPr>
            <a:r>
              <a:rPr lang="en-US" altLang="en-US" sz="26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sequence is used in another table</a:t>
            </a:r>
          </a:p>
          <a:p>
            <a:pPr algn="just">
              <a:spcBef>
                <a:spcPts val="300"/>
              </a:spcBef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E899E15-7784-FD62-D03E-6085C03545E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39551" y="1196752"/>
            <a:ext cx="8420721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INSERT INTO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dname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loc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VALUES		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dept_sequence.NEXTVAL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,'MARKETING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');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 row created.</a:t>
            </a:r>
          </a:p>
        </p:txBody>
      </p:sp>
    </p:spTree>
    <p:extLst>
      <p:ext uri="{BB962C8B-B14F-4D97-AF65-F5344CB8AC3E}">
        <p14:creationId xmlns:p14="http://schemas.microsoft.com/office/powerpoint/2010/main" val="12175757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0D230-7D64-E494-1B33-E3C056DC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2991004-E8E3-1DD1-CA0D-8C8E3C0AB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Modifying a 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EA08FC0-1EB5-AC33-DA9E-8D488D6A1BD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B55969D-B70D-FBB0-2D3B-B9759CE3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DAA2E81-2AEE-DB6A-C732-09A80597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09FBD5-59C2-4FAD-AE12-836369AC9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74" y="661075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Change the increment value, maximum value, minimum value, cycle option, or cache option.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You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cannot change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the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start value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a sequence.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minimum value cannot be more than the current value of the sequence.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maximum value cannot be less than the current value of the sequence.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AC4036F-CE1A-46C6-9EF8-C61F7980CE3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99592" y="3501008"/>
            <a:ext cx="7691635" cy="2120279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SQL&gt; ALTER SEQUENCE </a:t>
            </a:r>
            <a:r>
              <a:rPr lang="en-US" sz="2200" b="1" dirty="0" err="1">
                <a:solidFill>
                  <a:srgbClr val="000000"/>
                </a:solidFill>
                <a:latin typeface="Courier New" pitchFamily="49" charset="0"/>
              </a:rPr>
              <a:t>dept_deptno</a:t>
            </a:r>
            <a:endParaRPr lang="en-US" sz="2200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2	  INCREMENT BY 1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3	  MAXVALUE 999999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4	  NOCACHE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000000"/>
                </a:solidFill>
                <a:latin typeface="Courier New" pitchFamily="49" charset="0"/>
              </a:rPr>
              <a:t>  5	  NOCYCLE;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Sequence altered.</a:t>
            </a:r>
          </a:p>
        </p:txBody>
      </p:sp>
    </p:spTree>
    <p:extLst>
      <p:ext uri="{BB962C8B-B14F-4D97-AF65-F5344CB8AC3E}">
        <p14:creationId xmlns:p14="http://schemas.microsoft.com/office/powerpoint/2010/main" val="197989751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7132-B24C-3225-8F7D-2B9E7480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EC97F63-5E84-5DB6-C5B5-CA914500E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Removing a Sequence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FCE0D7D-673B-225B-0B14-4A2195DB4B4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D78B439-4821-F1AD-AB2E-9F42783B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FB313F0-C06A-970B-963B-788A7609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881235E-01C0-36C9-B80C-677019A2F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74" y="661075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a sequence from the data dictionary by using the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DROP SEQUENCE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statement.</a:t>
            </a:r>
          </a:p>
          <a:p>
            <a:pPr algn="just">
              <a:spcBef>
                <a:spcPts val="300"/>
              </a:spcBef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Once removed, the sequence can no longer be referenced.</a:t>
            </a:r>
          </a:p>
          <a:p>
            <a:pPr algn="just">
              <a:spcBef>
                <a:spcPts val="300"/>
              </a:spcBef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571610-2E6B-5A02-8CAA-A5A99F15E10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12800" y="2631654"/>
            <a:ext cx="7518400" cy="1157386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b="1">
                <a:solidFill>
                  <a:srgbClr val="000000"/>
                </a:solidFill>
                <a:latin typeface="Courier New" pitchFamily="49" charset="0"/>
              </a:rPr>
              <a:t>SQL&gt; DROP SEQUENCE dept_deptno;</a:t>
            </a:r>
          </a:p>
          <a:p>
            <a:pPr>
              <a:tabLst>
                <a:tab pos="1200150" algn="l"/>
              </a:tabLst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Sequence dropped.</a:t>
            </a:r>
          </a:p>
        </p:txBody>
      </p:sp>
    </p:spTree>
    <p:extLst>
      <p:ext uri="{BB962C8B-B14F-4D97-AF65-F5344CB8AC3E}">
        <p14:creationId xmlns:p14="http://schemas.microsoft.com/office/powerpoint/2010/main" val="246618122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E83D-6F27-EE6B-070C-3451F0F6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88537F1-7117-1C51-BF24-50506F412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7D217DC-CE69-48FE-8CB9-A6D16FF1AAC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3C6176A-F07C-EEFF-7163-9CE935A4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EC6B16B8-67C0-8436-BD6D-1A3F2F42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64DBA4-4D8B-F6DD-9CEF-FDDB5AFA8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Index speeds up the data retrieval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Can reduce disk I/O by using rapid path access method to locate the data quickly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index can be created: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100000"/>
              <a:buFont typeface="+mj-lt"/>
              <a:buAutoNum type="alphaLcParenR"/>
              <a:tabLst/>
              <a:defRPr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Automatically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 unique index is created automatically when you define a PRIMARY KEY or UNIQUE constraint in a table definition.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100000"/>
              <a:buFont typeface="+mj-lt"/>
              <a:buAutoNum type="alphaLcParenR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Manually: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Users can create nonunique indexes on columns to speed up access time to the rows.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949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876E-B424-97BB-C5C5-DB6A6B2A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6432059-D7B6-E448-9773-F8CBB6EE2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an Index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619AF7B-56A9-E8BA-1B03-D7D0A413E10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39796D4-93D2-2B8F-544F-B7E16062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50EE7C16-41C0-E7BA-8265-DA330D6F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4F3E90-B2DB-430F-A67F-4104B6A0B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45207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4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tab_space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the tablespace for the index. If omitted, the index is stored in the user’s default tablespace.</a:t>
            </a: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performance reasons, you should typically store indexes in a different tablespace from tables.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A42BB4-EBFB-808F-614D-7E778AD39AC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96900" y="764704"/>
            <a:ext cx="7518400" cy="1199886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CREATE 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[UNIQUE]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INDEX </a:t>
            </a:r>
            <a:r>
              <a:rPr lang="en-US" altLang="en-US" sz="2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index_name</a:t>
            </a:r>
            <a:endParaRPr lang="en-US" altLang="en-US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ON </a:t>
            </a:r>
            <a:r>
              <a:rPr lang="en-US" altLang="en-US" sz="24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table_name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[, </a:t>
            </a:r>
            <a:r>
              <a:rPr lang="en-US" altLang="en-US" sz="24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]...)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[TABLESPACE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tab_space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3B8CE-5A8D-624D-4B6B-3194E875A6C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3789040"/>
            <a:ext cx="7518400" cy="45664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CREATE INDEX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emp_job_idx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ON emp(job);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75C37A-DB3A-BFF7-6F9C-59A30B678C0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4412518"/>
            <a:ext cx="7518400" cy="45664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CREATE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UNIQUE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INDEX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emp_phno_idx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ON emp(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phno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B9510C-DE59-F73C-2DC0-1C61D5B2F38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5060590"/>
            <a:ext cx="7518400" cy="45664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CREATE INDEX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emp_ename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ON emp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(UPPER(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ename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))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5EADFE-6AEB-9570-E849-E7C9DEFDA6F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5708662"/>
            <a:ext cx="7518400" cy="45664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CREATE INDEX 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</a:rPr>
              <a:t>composite_idx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ON emp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job,deptno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)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23547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5837-A049-B517-AD69-1A9BE90A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111D3E9-1832-099E-550A-5A90EA120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to create an Index?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C4A581E-2726-711D-743C-AE2F40EDC6F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DBF7795-3B10-B7E5-983A-49675A86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F4351C89-29D5-CEC4-33B5-F178B60B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ACAEDF-FAF9-6BBD-C474-76C2931CE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column is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used frequently in the WHERE clause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(secondary key) or in a join condition.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frequently accessed foreign key.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columns frequently involved in ORDER BY and GROUP BY clause.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column contains 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wide range of values.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column contains 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large number of null values.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One or more columns are frequently used together in a WHERE clause or a join condition.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table is large and most queries are expected to retrieve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less than 2–4% of the rows.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96844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F840-7890-963B-FE76-87ACF889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A57FAF4-F087-F86C-0750-D7CCC83CD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When NOT to create an Index?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580EA7C-CF75-436E-A1F0-DF753467382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7F83F70-757F-D7C3-FC69-FD978B36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6AF1813-1774-9761-2E09-E3A9FD71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52BDF95-71A7-E918-20F0-E179C7285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table is small.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columns are not often used as a condition in the query.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Most queries are expected to retrieve more than 2–4% of the rows.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table or column is updated frequently.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column consisting of long character strings.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77010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B4F8-B322-ABB1-ADFC-9734D369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EC059DD-C349-C98C-4B11-4DA17A7DF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EF0BAD2-D550-7FBA-58C7-C055E64E99A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0FAC11C-6371-DF6D-7FC0-2583D65A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E64F982B-AD16-BB14-56CF-5F57EC117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57A3B99-F4C7-B94D-5C8F-C491007E7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USER_INDEXES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data dictionary view contains the name of the index and its uniqueness.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USER_IND_COLUMNS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view contains the index name, the table name, and the column name.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A82F6-9E37-05A7-9743-FA3306EEA7B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74042" y="2420889"/>
            <a:ext cx="8146108" cy="187220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E87706-967E-0048-50BE-E4A4F0DDDA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70587" y="3140968"/>
            <a:ext cx="6701813" cy="311732"/>
          </a:xfrm>
          <a:prstGeom prst="rect">
            <a:avLst/>
          </a:prstGeom>
          <a:solidFill>
            <a:srgbClr val="FF505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4D3E7E-7C26-5A91-C1FF-839BCEF753E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2276872"/>
            <a:ext cx="8136582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ic.index_name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ic.column_name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2	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ic.column_position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col_pos,ix.uniqueness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3  FROM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user_indexes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ix,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user_ind_columns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4  WHERE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ic.index_name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ix.index_name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5  AND		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ic.table_name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'EMP';</a:t>
            </a:r>
          </a:p>
        </p:txBody>
      </p:sp>
    </p:spTree>
    <p:extLst>
      <p:ext uri="{BB962C8B-B14F-4D97-AF65-F5344CB8AC3E}">
        <p14:creationId xmlns:p14="http://schemas.microsoft.com/office/powerpoint/2010/main" val="37660274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B2E5-8390-25DC-3879-7B6F0445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8BB0D55-0C73-A946-CE1C-BC4597AFF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Modifying and Removing an Index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EC43AFA-4D4B-99CF-E39C-51A177D1C06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C2BF518-59B1-DB42-6A0E-2F2E58AF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12A26A1-29D7-BF92-2930-272BB6C5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13AE2F-EC3A-7252-CA80-E1CD1A586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74" y="2134050"/>
            <a:ext cx="8394700" cy="208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an index from the data dictionary.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Remove the EMP_ENAME_IDX index from the data dictionary.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drop an index, you must be the owner of the index or have the DROP ANY INDEX privilege.</a:t>
            </a:r>
          </a:p>
          <a:p>
            <a:pPr algn="just">
              <a:spcBef>
                <a:spcPts val="300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D44D26-BAD9-4B7E-A5E1-9521BDA93E1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764704"/>
            <a:ext cx="7691635" cy="1224136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SQL&gt; ALTER INDEX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emp_ename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2  RENAME TO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emp_ename_index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tabLst>
                <a:tab pos="1200150" algn="l"/>
              </a:tabLst>
              <a:defRPr/>
            </a:pPr>
            <a:r>
              <a:rPr 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Index altered.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DCFF64-F3AF-D76E-80FE-51B351980A1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1560" y="2677989"/>
            <a:ext cx="7518400" cy="534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DROP INDEX </a:t>
            </a:r>
            <a:r>
              <a:rPr lang="en-US" altLang="en-US" sz="20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index_name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738BC2E-34E4-D93B-E58C-42ACF212973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3867769"/>
            <a:ext cx="7518400" cy="753241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SQL&gt; DROP INDEX emp_ename_idx;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Index dropped.</a:t>
            </a:r>
          </a:p>
        </p:txBody>
      </p:sp>
    </p:spTree>
    <p:extLst>
      <p:ext uri="{BB962C8B-B14F-4D97-AF65-F5344CB8AC3E}">
        <p14:creationId xmlns:p14="http://schemas.microsoft.com/office/powerpoint/2010/main" val="219558782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3FA5-6DBD-DF76-3FAD-16BB3CAA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71DA748-F187-F403-C241-F0A201C7A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0838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Synonyms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1CDF4EC-3E10-7031-E3DE-232AD76021A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3BFEA063-782F-7E53-93AF-E50990AB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0D0E26FD-1688-68FD-6D8C-176EA9D3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F4C10E-5E58-5A0E-0899-0CE8D42A8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20688"/>
            <a:ext cx="8394700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Assigns an alternate name to a database subject.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Create a shortened name CD for the CUTOMER_DETAILS.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Removing a Synonym.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D34817"/>
              </a:buClr>
              <a:buSzPct val="5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F66ED0-F890-7987-42F9-977D796EB8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54000" y="1203474"/>
            <a:ext cx="7518400" cy="785366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CREATE [PUBLIC] SYNONYM 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synonym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FOR    </a:t>
            </a:r>
            <a:r>
              <a:rPr lang="en-US" altLang="en-US" sz="2000" b="1" i="1">
                <a:solidFill>
                  <a:srgbClr val="000000"/>
                </a:solidFill>
                <a:latin typeface="Courier New" panose="02070309020205020404" pitchFamily="49" charset="0"/>
              </a:rPr>
              <a:t>object</a:t>
            </a: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B903B6-A1D0-9713-3C0D-2BCFB590737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576" y="2742431"/>
            <a:ext cx="75184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CREATE SYNONYM	CD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2  FOR			CUSTOMER_DETAILS;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Synonym Created.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0055C32-F22F-120F-023C-3C679A75611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4849490"/>
            <a:ext cx="7526337" cy="7397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SQL&gt; DROP SYNONYM CD;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Synonym dropped.</a:t>
            </a:r>
          </a:p>
        </p:txBody>
      </p:sp>
    </p:spTree>
    <p:extLst>
      <p:ext uri="{BB962C8B-B14F-4D97-AF65-F5344CB8AC3E}">
        <p14:creationId xmlns:p14="http://schemas.microsoft.com/office/powerpoint/2010/main" val="1314982016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3776</TotalTime>
  <Words>3073</Words>
  <Application>Microsoft Office PowerPoint</Application>
  <PresentationFormat>On-screen Show (4:3)</PresentationFormat>
  <Paragraphs>604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Cambria</vt:lpstr>
      <vt:lpstr>Courier New</vt:lpstr>
      <vt:lpstr>Franklin Gothic Book</vt:lpstr>
      <vt:lpstr>Perpetua</vt:lpstr>
      <vt:lpstr>Wingdings</vt:lpstr>
      <vt:lpstr>Wingdings 2</vt:lpstr>
      <vt:lpstr>Equity</vt:lpstr>
      <vt:lpstr>1_Equity</vt:lpstr>
      <vt:lpstr>CC-215-L Database Systems Lab</vt:lpstr>
      <vt:lpstr>  Introduction</vt:lpstr>
      <vt:lpstr>  View</vt:lpstr>
      <vt:lpstr>  View</vt:lpstr>
      <vt:lpstr>  Creating a View</vt:lpstr>
      <vt:lpstr>  Creating a View</vt:lpstr>
      <vt:lpstr>  Creating a View</vt:lpstr>
      <vt:lpstr>  Retrieving Data from a View</vt:lpstr>
      <vt:lpstr>  Modifying a View</vt:lpstr>
      <vt:lpstr>  Simple Views  and Complex Views</vt:lpstr>
      <vt:lpstr>  Creating a Complex View</vt:lpstr>
      <vt:lpstr>  Rules for Performing  DML Operations on a View</vt:lpstr>
      <vt:lpstr>  Using the WITH CHECK OPTION Clause</vt:lpstr>
      <vt:lpstr>    Denying DML Operations on a View</vt:lpstr>
      <vt:lpstr>  Dropping a View</vt:lpstr>
      <vt:lpstr>  Sequence</vt:lpstr>
      <vt:lpstr>  Creating a Sequence</vt:lpstr>
      <vt:lpstr>The CREATE SEQUENCE Options</vt:lpstr>
      <vt:lpstr>  Creating a Sequence</vt:lpstr>
      <vt:lpstr>NEXTVAL and CURRVAL Pseudo columns</vt:lpstr>
      <vt:lpstr>  Using a Sequence</vt:lpstr>
      <vt:lpstr>  Modifying a Sequence</vt:lpstr>
      <vt:lpstr>  Removing a Sequence</vt:lpstr>
      <vt:lpstr>  Index</vt:lpstr>
      <vt:lpstr>  Creating an Index</vt:lpstr>
      <vt:lpstr>  When to create an Index?</vt:lpstr>
      <vt:lpstr>  When NOT to create an Index?</vt:lpstr>
      <vt:lpstr>  Index</vt:lpstr>
      <vt:lpstr>  Modifying and Removing an Index</vt:lpstr>
      <vt:lpstr>  Synonyms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906</cp:revision>
  <dcterms:created xsi:type="dcterms:W3CDTF">2006-05-17T12:38:56Z</dcterms:created>
  <dcterms:modified xsi:type="dcterms:W3CDTF">2025-12-01T13:40:50Z</dcterms:modified>
</cp:coreProperties>
</file>