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23"/>
  </p:notesMasterIdLst>
  <p:handoutMasterIdLst>
    <p:handoutMasterId r:id="rId24"/>
  </p:handoutMasterIdLst>
  <p:sldIdLst>
    <p:sldId id="646" r:id="rId2"/>
    <p:sldId id="647" r:id="rId3"/>
    <p:sldId id="648" r:id="rId4"/>
    <p:sldId id="649" r:id="rId5"/>
    <p:sldId id="650" r:id="rId6"/>
    <p:sldId id="651" r:id="rId7"/>
    <p:sldId id="652" r:id="rId8"/>
    <p:sldId id="653" r:id="rId9"/>
    <p:sldId id="654" r:id="rId10"/>
    <p:sldId id="655" r:id="rId11"/>
    <p:sldId id="657" r:id="rId12"/>
    <p:sldId id="656" r:id="rId13"/>
    <p:sldId id="658" r:id="rId14"/>
    <p:sldId id="659" r:id="rId15"/>
    <p:sldId id="660" r:id="rId16"/>
    <p:sldId id="661" r:id="rId17"/>
    <p:sldId id="662" r:id="rId18"/>
    <p:sldId id="663" r:id="rId19"/>
    <p:sldId id="664" r:id="rId20"/>
    <p:sldId id="665" r:id="rId21"/>
    <p:sldId id="666" r:id="rId22"/>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CC"/>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495" autoAdjust="0"/>
    <p:restoredTop sz="68777" autoAdjust="0"/>
  </p:normalViewPr>
  <p:slideViewPr>
    <p:cSldViewPr>
      <p:cViewPr varScale="1">
        <p:scale>
          <a:sx n="83" d="100"/>
          <a:sy n="83" d="100"/>
        </p:scale>
        <p:origin x="106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BFDD1DE7-9893-F947-6AA5-BCC7AB9D86C4}"/>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552F1114-F30D-2E7B-F921-1A005DCEF2AD}"/>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88E91423-AD03-9702-9134-5FD8C9FDFD8E}"/>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27DFD48-3759-8357-4AF6-4E555CC07595}"/>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C2FDF67D-A189-4ECC-9D8A-807893AAF16E}"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75D5274-8205-9689-1EA8-64296795C0D8}"/>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96DBEA9A-B5D7-6950-B06B-0225C52A5008}"/>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3014223F-1C88-1B1A-40DD-55F485E0BB18}"/>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6722324D-E7B1-1DD8-0351-D850DE532156}"/>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92ED4F3-4471-3FFC-BBDB-AE5028BE0CB4}"/>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E1E9B210-AC82-B995-C393-82A458A712CC}"/>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411EFC24-545C-4F33-A562-F89AFFD89B30}"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10C25-B778-956D-8517-8816D82F34A2}"/>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F46585D8-AA06-63DB-7828-A9682ECC37A7}"/>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7" name="Rectangle 3">
            <a:extLst>
              <a:ext uri="{FF2B5EF4-FFF2-40B4-BE49-F238E27FC236}">
                <a16:creationId xmlns:a16="http://schemas.microsoft.com/office/drawing/2014/main" id="{B28E2310-DC7A-D03C-68F2-BC9926F660DA}"/>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8" name="Rectangle 4">
            <a:extLst>
              <a:ext uri="{FF2B5EF4-FFF2-40B4-BE49-F238E27FC236}">
                <a16:creationId xmlns:a16="http://schemas.microsoft.com/office/drawing/2014/main" id="{9366A12C-5D4B-4947-1243-EA55D1D076DF}"/>
              </a:ext>
            </a:extLst>
          </p:cNvPr>
          <p:cNvSpPr>
            <a:spLocks noGrp="1" noChangeArrowheads="1"/>
          </p:cNvSpPr>
          <p:nvPr>
            <p:ph type="body" idx="1"/>
          </p:nvPr>
        </p:nvSpPr>
        <p:spPr>
          <a:xfrm>
            <a:off x="455613" y="4849813"/>
            <a:ext cx="5910262"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446088">
              <a:tabLst>
                <a:tab pos="434975" algn="l"/>
              </a:tabLst>
            </a:pPr>
            <a:r>
              <a:rPr lang="en-US" altLang="en-US">
                <a:latin typeface="Arial" panose="020B0604020202020204" pitchFamily="34" charset="0"/>
              </a:rPr>
              <a:t>Adding a New Row to a Table</a:t>
            </a:r>
          </a:p>
          <a:p>
            <a:pPr marL="114300" lvl="1" defTabSz="446088">
              <a:tabLst>
                <a:tab pos="434975" algn="l"/>
              </a:tabLst>
            </a:pPr>
            <a:r>
              <a:rPr lang="en-US" altLang="en-US">
                <a:latin typeface="Arial" panose="020B0604020202020204" pitchFamily="34" charset="0"/>
              </a:rPr>
              <a:t>The slide graphic adds a new department to the DEPT table. </a:t>
            </a: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p:txBody>
      </p:sp>
      <p:sp>
        <p:nvSpPr>
          <p:cNvPr id="11269" name="Rectangle 5">
            <a:extLst>
              <a:ext uri="{FF2B5EF4-FFF2-40B4-BE49-F238E27FC236}">
                <a16:creationId xmlns:a16="http://schemas.microsoft.com/office/drawing/2014/main" id="{49AD3848-6F28-831C-09F1-2743492578AD}"/>
              </a:ext>
            </a:extLst>
          </p:cNvPr>
          <p:cNvSpPr>
            <a:spLocks noGrp="1" noRot="1" noChangeAspect="1" noChangeArrowheads="1" noTextEdit="1"/>
          </p:cNvSpPr>
          <p:nvPr>
            <p:ph type="sldImg"/>
          </p:nvPr>
        </p:nvSpPr>
        <p:spPr>
          <a:xfrm>
            <a:off x="411163" y="176213"/>
            <a:ext cx="6030912" cy="4522787"/>
          </a:xfrm>
          <a:ln w="12700" cap="flat">
            <a:solidFill>
              <a:schemeClr val="tx1"/>
            </a:solidFill>
          </a:ln>
        </p:spPr>
      </p:sp>
    </p:spTree>
    <p:extLst>
      <p:ext uri="{BB962C8B-B14F-4D97-AF65-F5344CB8AC3E}">
        <p14:creationId xmlns:p14="http://schemas.microsoft.com/office/powerpoint/2010/main" val="2425374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7DC5-5831-5F1D-F7B5-C64067C98B98}"/>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5EECBD6A-7AF6-EC31-6BCE-AC35275DCB33}"/>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EBDF342D-B9B5-63E2-3780-F14F17C4BD82}"/>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8DA33DA4-0946-2283-BB6E-E13786AC9AB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3055C0E4-5A02-3BB4-CFD1-66EDC4C09F71}"/>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206170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D199-6EAF-2339-B4E8-756BCF7CE4C1}"/>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26419CB3-C7D1-EFE5-5F4B-EF31851AB46C}"/>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6561937C-0920-EE54-668F-F9041A89B408}"/>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6FB9819A-D7E2-3A82-8E89-EEBC6F703F8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6E9BC7B3-DDBB-A801-45B6-77AF70227814}"/>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1201413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5968-2CB6-B824-D365-EE662E5A1DFE}"/>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F690BC35-2156-3530-F14B-565AD39F983D}"/>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D27D967D-599F-7DAC-7357-CDF7C6645A4F}"/>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BE218F5F-AECE-BDAB-B512-2482D24DE7B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008F3CE0-BB26-597B-AEE2-E025EF4DA417}"/>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258637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D5F7-E81E-441F-ED6C-700349217597}"/>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C1105034-79C3-5DAD-5D98-3043B7ADE782}"/>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27651" name="Rectangle 3">
            <a:extLst>
              <a:ext uri="{FF2B5EF4-FFF2-40B4-BE49-F238E27FC236}">
                <a16:creationId xmlns:a16="http://schemas.microsoft.com/office/drawing/2014/main" id="{A45EB656-9186-215B-CA40-DC3B5611A81E}"/>
              </a:ext>
            </a:extLst>
          </p:cNvPr>
          <p:cNvSpPr>
            <a:spLocks noGrp="1" noChangeArrowheads="1"/>
          </p:cNvSpPr>
          <p:nvPr>
            <p:ph type="body" idx="1"/>
          </p:nvPr>
        </p:nvSpPr>
        <p:spPr>
          <a:xfrm>
            <a:off x="412750" y="4852988"/>
            <a:ext cx="6191250"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Copying Rows from Another Table </a:t>
            </a:r>
          </a:p>
          <a:p>
            <a:pPr marL="114300" lvl="1" defTabSz="382588"/>
            <a:r>
              <a:rPr lang="en-US" altLang="en-US">
                <a:latin typeface="Arial" panose="020B0604020202020204" pitchFamily="34" charset="0"/>
              </a:rPr>
              <a:t>You can use the INSERT statement to add rows to a table where the values are derived from existing tables. In place of the VALUES clause, you use a subquery. </a:t>
            </a:r>
          </a:p>
          <a:p>
            <a:pPr marL="114300" lvl="1" defTabSz="382588"/>
            <a:r>
              <a:rPr lang="en-US" altLang="en-US" b="1">
                <a:latin typeface="Arial" panose="020B0604020202020204" pitchFamily="34" charset="0"/>
              </a:rPr>
              <a:t>Syntax</a:t>
            </a:r>
            <a:endParaRPr lang="en-US" altLang="en-US">
              <a:latin typeface="Arial" panose="020B0604020202020204" pitchFamily="34" charset="0"/>
            </a:endParaRPr>
          </a:p>
          <a:p>
            <a:pPr algn="just" defTabSz="382588">
              <a:lnSpc>
                <a:spcPct val="70000"/>
              </a:lnSpc>
              <a:spcBef>
                <a:spcPct val="0"/>
              </a:spcBef>
            </a:pPr>
            <a:r>
              <a:rPr lang="en-US" altLang="en-US" b="1">
                <a:latin typeface="Times" panose="02020603050405020304" pitchFamily="18" charset="0"/>
              </a:rPr>
              <a:t>     </a:t>
            </a:r>
          </a:p>
          <a:p>
            <a:pPr algn="just" defTabSz="382588">
              <a:spcBef>
                <a:spcPct val="0"/>
              </a:spcBef>
            </a:pPr>
            <a:r>
              <a:rPr lang="en-US" altLang="en-US" b="1">
                <a:latin typeface="Courier New" panose="02070309020205020404" pitchFamily="49" charset="0"/>
              </a:rPr>
              <a:t>   INSERT INTO </a:t>
            </a:r>
            <a:r>
              <a:rPr lang="en-US" altLang="en-US" b="1" i="1">
                <a:latin typeface="Courier New" panose="02070309020205020404" pitchFamily="49" charset="0"/>
              </a:rPr>
              <a:t>table</a:t>
            </a:r>
            <a:r>
              <a:rPr lang="en-US" altLang="en-US" b="1">
                <a:latin typeface="Courier New" panose="02070309020205020404" pitchFamily="49" charset="0"/>
              </a:rPr>
              <a:t> [ </a:t>
            </a:r>
            <a:r>
              <a:rPr lang="en-US" altLang="en-US" b="1" i="1">
                <a:latin typeface="Courier New" panose="02070309020205020404" pitchFamily="49" charset="0"/>
              </a:rPr>
              <a:t>column</a:t>
            </a:r>
            <a:r>
              <a:rPr lang="en-US" altLang="en-US" b="1">
                <a:latin typeface="Courier New" panose="02070309020205020404" pitchFamily="49" charset="0"/>
              </a:rPr>
              <a:t> (, </a:t>
            </a:r>
            <a:r>
              <a:rPr lang="en-US" altLang="en-US" b="1" i="1">
                <a:latin typeface="Courier New" panose="02070309020205020404" pitchFamily="49" charset="0"/>
              </a:rPr>
              <a:t>column</a:t>
            </a:r>
            <a:r>
              <a:rPr lang="en-US" altLang="en-US" b="1">
                <a:latin typeface="Courier New" panose="02070309020205020404" pitchFamily="49" charset="0"/>
              </a:rPr>
              <a:t>) ]</a:t>
            </a:r>
          </a:p>
          <a:p>
            <a:pPr algn="just" defTabSz="382588">
              <a:spcBef>
                <a:spcPct val="0"/>
              </a:spcBef>
            </a:pPr>
            <a:r>
              <a:rPr lang="en-US" altLang="en-US" b="1">
                <a:latin typeface="Courier New" panose="02070309020205020404" pitchFamily="49" charset="0"/>
              </a:rPr>
              <a:t>   			</a:t>
            </a:r>
            <a:r>
              <a:rPr lang="en-US" altLang="en-US" b="1" i="1">
                <a:latin typeface="Courier New" panose="02070309020205020404" pitchFamily="49" charset="0"/>
              </a:rPr>
              <a:t>subquery</a:t>
            </a:r>
            <a:r>
              <a:rPr lang="en-US" altLang="en-US" b="1">
                <a:latin typeface="Courier New" panose="02070309020205020404" pitchFamily="49" charset="0"/>
              </a:rPr>
              <a:t>;</a:t>
            </a:r>
          </a:p>
          <a:p>
            <a:pPr algn="just" defTabSz="382588">
              <a:lnSpc>
                <a:spcPct val="112000"/>
              </a:lnSpc>
              <a:spcBef>
                <a:spcPct val="0"/>
              </a:spcBef>
            </a:pPr>
            <a:endParaRPr lang="en-US" altLang="en-US" b="1">
              <a:latin typeface="Times" panose="02020603050405020304" pitchFamily="18" charset="0"/>
            </a:endParaRPr>
          </a:p>
          <a:p>
            <a:pPr marL="114300" lvl="1" defTabSz="38258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	is the table name</a:t>
            </a:r>
          </a:p>
          <a:p>
            <a:pPr marL="114300" lvl="1" defTabSz="38258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marL="114300" lvl="1" defTabSz="382588"/>
            <a:r>
              <a:rPr lang="en-US" altLang="en-US">
                <a:latin typeface="Arial" panose="020B0604020202020204" pitchFamily="34" charset="0"/>
              </a:rPr>
              <a:t>		</a:t>
            </a:r>
            <a:r>
              <a:rPr lang="en-US" altLang="en-US" i="1">
                <a:latin typeface="Arial" panose="020B0604020202020204" pitchFamily="34" charset="0"/>
              </a:rPr>
              <a:t>subquery</a:t>
            </a:r>
            <a:r>
              <a:rPr lang="en-US" altLang="en-US">
                <a:latin typeface="Arial" panose="020B0604020202020204" pitchFamily="34" charset="0"/>
              </a:rPr>
              <a:t>		is the subquery that returns rows into the table</a:t>
            </a:r>
          </a:p>
          <a:p>
            <a:pPr marL="114300" lvl="1" defTabSz="38258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“SELECT,” Subqueries section.</a:t>
            </a:r>
          </a:p>
          <a:p>
            <a:pPr marL="114300" lvl="1" defTabSz="382588">
              <a:spcBef>
                <a:spcPct val="65000"/>
              </a:spcBef>
            </a:pPr>
            <a:r>
              <a:rPr lang="en-US" altLang="en-US">
                <a:latin typeface="Arial" panose="020B0604020202020204" pitchFamily="34" charset="0"/>
              </a:rPr>
              <a:t>The number of columns and their datatypes in the column list of the INSERT clause must match the number of values and their datatypes in the subquery.</a:t>
            </a:r>
          </a:p>
          <a:p>
            <a:pPr marL="114300" lvl="1" defTabSz="382588"/>
            <a:endParaRPr lang="en-US" altLang="en-US">
              <a:latin typeface="Arial" panose="020B0604020202020204" pitchFamily="34" charset="0"/>
            </a:endParaRP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Do not get into too many details on copying rows from another table.</a:t>
            </a:r>
          </a:p>
        </p:txBody>
      </p:sp>
      <p:sp>
        <p:nvSpPr>
          <p:cNvPr id="27652" name="Rectangle 4">
            <a:extLst>
              <a:ext uri="{FF2B5EF4-FFF2-40B4-BE49-F238E27FC236}">
                <a16:creationId xmlns:a16="http://schemas.microsoft.com/office/drawing/2014/main" id="{4790D59D-A007-869B-B768-D29952109E2B}"/>
              </a:ext>
            </a:extLst>
          </p:cNvPr>
          <p:cNvSpPr>
            <a:spLocks noChangeArrowheads="1"/>
          </p:cNvSpPr>
          <p:nvPr/>
        </p:nvSpPr>
        <p:spPr bwMode="auto">
          <a:xfrm>
            <a:off x="623888" y="5727700"/>
            <a:ext cx="5568950" cy="5016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27653" name="Group 5">
            <a:extLst>
              <a:ext uri="{FF2B5EF4-FFF2-40B4-BE49-F238E27FC236}">
                <a16:creationId xmlns:a16="http://schemas.microsoft.com/office/drawing/2014/main" id="{EA259552-788B-9D6A-F6F8-A4B5C70BF744}"/>
              </a:ext>
            </a:extLst>
          </p:cNvPr>
          <p:cNvGrpSpPr>
            <a:grpSpLocks/>
          </p:cNvGrpSpPr>
          <p:nvPr/>
        </p:nvGrpSpPr>
        <p:grpSpPr bwMode="auto">
          <a:xfrm>
            <a:off x="182563" y="7524750"/>
            <a:ext cx="285750" cy="309563"/>
            <a:chOff x="114" y="4654"/>
            <a:chExt cx="179" cy="192"/>
          </a:xfrm>
        </p:grpSpPr>
        <p:sp>
          <p:nvSpPr>
            <p:cNvPr id="27668" name="Freeform 6">
              <a:extLst>
                <a:ext uri="{FF2B5EF4-FFF2-40B4-BE49-F238E27FC236}">
                  <a16:creationId xmlns:a16="http://schemas.microsoft.com/office/drawing/2014/main" id="{648FF4D3-DC89-032B-46B3-C1ACD903D590}"/>
                </a:ext>
              </a:extLst>
            </p:cNvPr>
            <p:cNvSpPr>
              <a:spLocks/>
            </p:cNvSpPr>
            <p:nvPr/>
          </p:nvSpPr>
          <p:spPr bwMode="auto">
            <a:xfrm>
              <a:off x="114" y="4654"/>
              <a:ext cx="179" cy="185"/>
            </a:xfrm>
            <a:custGeom>
              <a:avLst/>
              <a:gdLst>
                <a:gd name="T0" fmla="*/ 178 w 179"/>
                <a:gd name="T1" fmla="*/ 184 h 185"/>
                <a:gd name="T2" fmla="*/ 178 w 179"/>
                <a:gd name="T3" fmla="*/ 0 h 185"/>
                <a:gd name="T4" fmla="*/ 0 w 179"/>
                <a:gd name="T5" fmla="*/ 0 h 185"/>
                <a:gd name="T6" fmla="*/ 0 w 179"/>
                <a:gd name="T7" fmla="*/ 184 h 185"/>
                <a:gd name="T8" fmla="*/ 178 w 179"/>
                <a:gd name="T9" fmla="*/ 184 h 185"/>
                <a:gd name="T10" fmla="*/ 0 60000 65536"/>
                <a:gd name="T11" fmla="*/ 0 60000 65536"/>
                <a:gd name="T12" fmla="*/ 0 60000 65536"/>
                <a:gd name="T13" fmla="*/ 0 60000 65536"/>
                <a:gd name="T14" fmla="*/ 0 60000 65536"/>
                <a:gd name="T15" fmla="*/ 0 w 179"/>
                <a:gd name="T16" fmla="*/ 0 h 185"/>
                <a:gd name="T17" fmla="*/ 179 w 179"/>
                <a:gd name="T18" fmla="*/ 185 h 185"/>
              </a:gdLst>
              <a:ahLst/>
              <a:cxnLst>
                <a:cxn ang="T10">
                  <a:pos x="T0" y="T1"/>
                </a:cxn>
                <a:cxn ang="T11">
                  <a:pos x="T2" y="T3"/>
                </a:cxn>
                <a:cxn ang="T12">
                  <a:pos x="T4" y="T5"/>
                </a:cxn>
                <a:cxn ang="T13">
                  <a:pos x="T6" y="T7"/>
                </a:cxn>
                <a:cxn ang="T14">
                  <a:pos x="T8" y="T9"/>
                </a:cxn>
              </a:cxnLst>
              <a:rect l="T15" t="T16" r="T17" b="T18"/>
              <a:pathLst>
                <a:path w="179" h="185">
                  <a:moveTo>
                    <a:pt x="178" y="184"/>
                  </a:moveTo>
                  <a:lnTo>
                    <a:pt x="178" y="0"/>
                  </a:lnTo>
                  <a:lnTo>
                    <a:pt x="0" y="0"/>
                  </a:lnTo>
                  <a:lnTo>
                    <a:pt x="0" y="184"/>
                  </a:lnTo>
                  <a:lnTo>
                    <a:pt x="178" y="18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9" name="Freeform 7">
              <a:extLst>
                <a:ext uri="{FF2B5EF4-FFF2-40B4-BE49-F238E27FC236}">
                  <a16:creationId xmlns:a16="http://schemas.microsoft.com/office/drawing/2014/main" id="{17EF16ED-B79F-4E15-ED08-0851B10B70B9}"/>
                </a:ext>
              </a:extLst>
            </p:cNvPr>
            <p:cNvSpPr>
              <a:spLocks/>
            </p:cNvSpPr>
            <p:nvPr/>
          </p:nvSpPr>
          <p:spPr bwMode="auto">
            <a:xfrm>
              <a:off x="196" y="4828"/>
              <a:ext cx="25" cy="18"/>
            </a:xfrm>
            <a:custGeom>
              <a:avLst/>
              <a:gdLst>
                <a:gd name="T0" fmla="*/ 24 w 25"/>
                <a:gd name="T1" fmla="*/ 17 h 18"/>
                <a:gd name="T2" fmla="*/ 24 w 25"/>
                <a:gd name="T3" fmla="*/ 0 h 18"/>
                <a:gd name="T4" fmla="*/ 0 w 25"/>
                <a:gd name="T5" fmla="*/ 0 h 18"/>
                <a:gd name="T6" fmla="*/ 0 w 25"/>
                <a:gd name="T7" fmla="*/ 17 h 18"/>
                <a:gd name="T8" fmla="*/ 24 w 25"/>
                <a:gd name="T9" fmla="*/ 17 h 18"/>
                <a:gd name="T10" fmla="*/ 0 60000 65536"/>
                <a:gd name="T11" fmla="*/ 0 60000 65536"/>
                <a:gd name="T12" fmla="*/ 0 60000 65536"/>
                <a:gd name="T13" fmla="*/ 0 60000 65536"/>
                <a:gd name="T14" fmla="*/ 0 60000 65536"/>
                <a:gd name="T15" fmla="*/ 0 w 25"/>
                <a:gd name="T16" fmla="*/ 0 h 18"/>
                <a:gd name="T17" fmla="*/ 25 w 25"/>
                <a:gd name="T18" fmla="*/ 18 h 18"/>
              </a:gdLst>
              <a:ahLst/>
              <a:cxnLst>
                <a:cxn ang="T10">
                  <a:pos x="T0" y="T1"/>
                </a:cxn>
                <a:cxn ang="T11">
                  <a:pos x="T2" y="T3"/>
                </a:cxn>
                <a:cxn ang="T12">
                  <a:pos x="T4" y="T5"/>
                </a:cxn>
                <a:cxn ang="T13">
                  <a:pos x="T6" y="T7"/>
                </a:cxn>
                <a:cxn ang="T14">
                  <a:pos x="T8" y="T9"/>
                </a:cxn>
              </a:cxnLst>
              <a:rect l="T15" t="T16" r="T17" b="T18"/>
              <a:pathLst>
                <a:path w="25" h="18">
                  <a:moveTo>
                    <a:pt x="24" y="17"/>
                  </a:moveTo>
                  <a:lnTo>
                    <a:pt x="24" y="0"/>
                  </a:lnTo>
                  <a:lnTo>
                    <a:pt x="0" y="0"/>
                  </a:lnTo>
                  <a:lnTo>
                    <a:pt x="0" y="17"/>
                  </a:lnTo>
                  <a:lnTo>
                    <a:pt x="24"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0" name="Freeform 8">
              <a:extLst>
                <a:ext uri="{FF2B5EF4-FFF2-40B4-BE49-F238E27FC236}">
                  <a16:creationId xmlns:a16="http://schemas.microsoft.com/office/drawing/2014/main" id="{8C4321D5-E64E-9C73-C310-B3FD23BA5B95}"/>
                </a:ext>
              </a:extLst>
            </p:cNvPr>
            <p:cNvSpPr>
              <a:spLocks/>
            </p:cNvSpPr>
            <p:nvPr/>
          </p:nvSpPr>
          <p:spPr bwMode="auto">
            <a:xfrm>
              <a:off x="136" y="4707"/>
              <a:ext cx="31" cy="20"/>
            </a:xfrm>
            <a:custGeom>
              <a:avLst/>
              <a:gdLst>
                <a:gd name="T0" fmla="*/ 0 w 31"/>
                <a:gd name="T1" fmla="*/ 0 h 20"/>
                <a:gd name="T2" fmla="*/ 24 w 31"/>
                <a:gd name="T3" fmla="*/ 19 h 20"/>
                <a:gd name="T4" fmla="*/ 30 w 31"/>
                <a:gd name="T5" fmla="*/ 8 h 20"/>
                <a:gd name="T6" fmla="*/ 0 w 31"/>
                <a:gd name="T7" fmla="*/ 0 h 20"/>
                <a:gd name="T8" fmla="*/ 0 60000 65536"/>
                <a:gd name="T9" fmla="*/ 0 60000 65536"/>
                <a:gd name="T10" fmla="*/ 0 60000 65536"/>
                <a:gd name="T11" fmla="*/ 0 60000 65536"/>
                <a:gd name="T12" fmla="*/ 0 w 31"/>
                <a:gd name="T13" fmla="*/ 0 h 20"/>
                <a:gd name="T14" fmla="*/ 31 w 31"/>
                <a:gd name="T15" fmla="*/ 20 h 20"/>
              </a:gdLst>
              <a:ahLst/>
              <a:cxnLst>
                <a:cxn ang="T8">
                  <a:pos x="T0" y="T1"/>
                </a:cxn>
                <a:cxn ang="T9">
                  <a:pos x="T2" y="T3"/>
                </a:cxn>
                <a:cxn ang="T10">
                  <a:pos x="T4" y="T5"/>
                </a:cxn>
                <a:cxn ang="T11">
                  <a:pos x="T6" y="T7"/>
                </a:cxn>
              </a:cxnLst>
              <a:rect l="T12" t="T13" r="T14" b="T15"/>
              <a:pathLst>
                <a:path w="31" h="20">
                  <a:moveTo>
                    <a:pt x="0" y="0"/>
                  </a:moveTo>
                  <a:lnTo>
                    <a:pt x="24" y="19"/>
                  </a:lnTo>
                  <a:lnTo>
                    <a:pt x="30"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1" name="Freeform 9">
              <a:extLst>
                <a:ext uri="{FF2B5EF4-FFF2-40B4-BE49-F238E27FC236}">
                  <a16:creationId xmlns:a16="http://schemas.microsoft.com/office/drawing/2014/main" id="{9A5BBE98-DB7D-2A6E-D198-C4F851A7CADB}"/>
                </a:ext>
              </a:extLst>
            </p:cNvPr>
            <p:cNvSpPr>
              <a:spLocks/>
            </p:cNvSpPr>
            <p:nvPr/>
          </p:nvSpPr>
          <p:spPr bwMode="auto">
            <a:xfrm>
              <a:off x="246" y="4707"/>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2" name="Freeform 10">
              <a:extLst>
                <a:ext uri="{FF2B5EF4-FFF2-40B4-BE49-F238E27FC236}">
                  <a16:creationId xmlns:a16="http://schemas.microsoft.com/office/drawing/2014/main" id="{0D8BC603-FDEF-D8B3-372C-63A1C856CD26}"/>
                </a:ext>
              </a:extLst>
            </p:cNvPr>
            <p:cNvSpPr>
              <a:spLocks/>
            </p:cNvSpPr>
            <p:nvPr/>
          </p:nvSpPr>
          <p:spPr bwMode="auto">
            <a:xfrm>
              <a:off x="133" y="4746"/>
              <a:ext cx="32" cy="18"/>
            </a:xfrm>
            <a:custGeom>
              <a:avLst/>
              <a:gdLst>
                <a:gd name="T0" fmla="*/ 0 w 32"/>
                <a:gd name="T1" fmla="*/ 17 h 18"/>
                <a:gd name="T2" fmla="*/ 31 w 32"/>
                <a:gd name="T3" fmla="*/ 13 h 18"/>
                <a:gd name="T4" fmla="*/ 29 w 32"/>
                <a:gd name="T5" fmla="*/ 0 h 18"/>
                <a:gd name="T6" fmla="*/ 0 w 32"/>
                <a:gd name="T7" fmla="*/ 17 h 18"/>
                <a:gd name="T8" fmla="*/ 0 60000 65536"/>
                <a:gd name="T9" fmla="*/ 0 60000 65536"/>
                <a:gd name="T10" fmla="*/ 0 60000 65536"/>
                <a:gd name="T11" fmla="*/ 0 60000 65536"/>
                <a:gd name="T12" fmla="*/ 0 w 32"/>
                <a:gd name="T13" fmla="*/ 0 h 18"/>
                <a:gd name="T14" fmla="*/ 32 w 32"/>
                <a:gd name="T15" fmla="*/ 18 h 18"/>
              </a:gdLst>
              <a:ahLst/>
              <a:cxnLst>
                <a:cxn ang="T8">
                  <a:pos x="T0" y="T1"/>
                </a:cxn>
                <a:cxn ang="T9">
                  <a:pos x="T2" y="T3"/>
                </a:cxn>
                <a:cxn ang="T10">
                  <a:pos x="T4" y="T5"/>
                </a:cxn>
                <a:cxn ang="T11">
                  <a:pos x="T6" y="T7"/>
                </a:cxn>
              </a:cxnLst>
              <a:rect l="T12" t="T13" r="T14" b="T15"/>
              <a:pathLst>
                <a:path w="32" h="18">
                  <a:moveTo>
                    <a:pt x="0" y="17"/>
                  </a:moveTo>
                  <a:lnTo>
                    <a:pt x="31" y="13"/>
                  </a:lnTo>
                  <a:lnTo>
                    <a:pt x="29"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3" name="Freeform 11">
              <a:extLst>
                <a:ext uri="{FF2B5EF4-FFF2-40B4-BE49-F238E27FC236}">
                  <a16:creationId xmlns:a16="http://schemas.microsoft.com/office/drawing/2014/main" id="{1001A91C-3FC4-F4AE-D5DF-F08277137C97}"/>
                </a:ext>
              </a:extLst>
            </p:cNvPr>
            <p:cNvSpPr>
              <a:spLocks/>
            </p:cNvSpPr>
            <p:nvPr/>
          </p:nvSpPr>
          <p:spPr bwMode="auto">
            <a:xfrm>
              <a:off x="249" y="4747"/>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4" name="Freeform 12">
              <a:extLst>
                <a:ext uri="{FF2B5EF4-FFF2-40B4-BE49-F238E27FC236}">
                  <a16:creationId xmlns:a16="http://schemas.microsoft.com/office/drawing/2014/main" id="{11B26F0E-F036-7159-EE6C-9599EE8612A4}"/>
                </a:ext>
              </a:extLst>
            </p:cNvPr>
            <p:cNvSpPr>
              <a:spLocks/>
            </p:cNvSpPr>
            <p:nvPr/>
          </p:nvSpPr>
          <p:spPr bwMode="auto">
            <a:xfrm>
              <a:off x="158" y="4669"/>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5" name="Freeform 13">
              <a:extLst>
                <a:ext uri="{FF2B5EF4-FFF2-40B4-BE49-F238E27FC236}">
                  <a16:creationId xmlns:a16="http://schemas.microsoft.com/office/drawing/2014/main" id="{4F901553-8C72-5AF5-B7DA-9FCB108FFF31}"/>
                </a:ext>
              </a:extLst>
            </p:cNvPr>
            <p:cNvSpPr>
              <a:spLocks/>
            </p:cNvSpPr>
            <p:nvPr/>
          </p:nvSpPr>
          <p:spPr bwMode="auto">
            <a:xfrm>
              <a:off x="224" y="4671"/>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6" name="Freeform 14">
              <a:extLst>
                <a:ext uri="{FF2B5EF4-FFF2-40B4-BE49-F238E27FC236}">
                  <a16:creationId xmlns:a16="http://schemas.microsoft.com/office/drawing/2014/main" id="{EF4DA396-4D68-8AF0-27FC-F6B4F7E5ED87}"/>
                </a:ext>
              </a:extLst>
            </p:cNvPr>
            <p:cNvSpPr>
              <a:spLocks/>
            </p:cNvSpPr>
            <p:nvPr/>
          </p:nvSpPr>
          <p:spPr bwMode="auto">
            <a:xfrm>
              <a:off x="199" y="4660"/>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7" name="Freeform 15">
              <a:extLst>
                <a:ext uri="{FF2B5EF4-FFF2-40B4-BE49-F238E27FC236}">
                  <a16:creationId xmlns:a16="http://schemas.microsoft.com/office/drawing/2014/main" id="{7E56597B-4AF8-2CA8-6DB1-14423CCBBCAC}"/>
                </a:ext>
              </a:extLst>
            </p:cNvPr>
            <p:cNvSpPr>
              <a:spLocks/>
            </p:cNvSpPr>
            <p:nvPr/>
          </p:nvSpPr>
          <p:spPr bwMode="auto">
            <a:xfrm>
              <a:off x="173" y="4706"/>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8" name="Freeform 16">
              <a:extLst>
                <a:ext uri="{FF2B5EF4-FFF2-40B4-BE49-F238E27FC236}">
                  <a16:creationId xmlns:a16="http://schemas.microsoft.com/office/drawing/2014/main" id="{AF9C37A3-EA45-0BAE-AC99-C42C8E3D0403}"/>
                </a:ext>
              </a:extLst>
            </p:cNvPr>
            <p:cNvSpPr>
              <a:spLocks/>
            </p:cNvSpPr>
            <p:nvPr/>
          </p:nvSpPr>
          <p:spPr bwMode="auto">
            <a:xfrm>
              <a:off x="201" y="4727"/>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grpSp>
        <p:nvGrpSpPr>
          <p:cNvPr id="27654" name="Group 17">
            <a:extLst>
              <a:ext uri="{FF2B5EF4-FFF2-40B4-BE49-F238E27FC236}">
                <a16:creationId xmlns:a16="http://schemas.microsoft.com/office/drawing/2014/main" id="{FF512589-A449-3823-033B-98BEB87FD955}"/>
              </a:ext>
            </a:extLst>
          </p:cNvPr>
          <p:cNvGrpSpPr>
            <a:grpSpLocks/>
          </p:cNvGrpSpPr>
          <p:nvPr/>
        </p:nvGrpSpPr>
        <p:grpSpPr bwMode="auto">
          <a:xfrm>
            <a:off x="177800" y="7083425"/>
            <a:ext cx="296863" cy="296863"/>
            <a:chOff x="111" y="4381"/>
            <a:chExt cx="186" cy="184"/>
          </a:xfrm>
        </p:grpSpPr>
        <p:sp>
          <p:nvSpPr>
            <p:cNvPr id="27655" name="Freeform 18">
              <a:extLst>
                <a:ext uri="{FF2B5EF4-FFF2-40B4-BE49-F238E27FC236}">
                  <a16:creationId xmlns:a16="http://schemas.microsoft.com/office/drawing/2014/main" id="{52D33955-A847-15DD-1173-D55B73F86FCC}"/>
                </a:ext>
              </a:extLst>
            </p:cNvPr>
            <p:cNvSpPr>
              <a:spLocks/>
            </p:cNvSpPr>
            <p:nvPr/>
          </p:nvSpPr>
          <p:spPr bwMode="auto">
            <a:xfrm>
              <a:off x="111" y="4381"/>
              <a:ext cx="176" cy="177"/>
            </a:xfrm>
            <a:custGeom>
              <a:avLst/>
              <a:gdLst>
                <a:gd name="T0" fmla="*/ 175 w 176"/>
                <a:gd name="T1" fmla="*/ 176 h 177"/>
                <a:gd name="T2" fmla="*/ 175 w 176"/>
                <a:gd name="T3" fmla="*/ 0 h 177"/>
                <a:gd name="T4" fmla="*/ 0 w 176"/>
                <a:gd name="T5" fmla="*/ 0 h 177"/>
                <a:gd name="T6" fmla="*/ 0 w 176"/>
                <a:gd name="T7" fmla="*/ 176 h 177"/>
                <a:gd name="T8" fmla="*/ 175 w 176"/>
                <a:gd name="T9" fmla="*/ 176 h 177"/>
                <a:gd name="T10" fmla="*/ 0 60000 65536"/>
                <a:gd name="T11" fmla="*/ 0 60000 65536"/>
                <a:gd name="T12" fmla="*/ 0 60000 65536"/>
                <a:gd name="T13" fmla="*/ 0 60000 65536"/>
                <a:gd name="T14" fmla="*/ 0 60000 65536"/>
                <a:gd name="T15" fmla="*/ 0 w 176"/>
                <a:gd name="T16" fmla="*/ 0 h 177"/>
                <a:gd name="T17" fmla="*/ 176 w 176"/>
                <a:gd name="T18" fmla="*/ 177 h 177"/>
              </a:gdLst>
              <a:ahLst/>
              <a:cxnLst>
                <a:cxn ang="T10">
                  <a:pos x="T0" y="T1"/>
                </a:cxn>
                <a:cxn ang="T11">
                  <a:pos x="T2" y="T3"/>
                </a:cxn>
                <a:cxn ang="T12">
                  <a:pos x="T4" y="T5"/>
                </a:cxn>
                <a:cxn ang="T13">
                  <a:pos x="T6" y="T7"/>
                </a:cxn>
                <a:cxn ang="T14">
                  <a:pos x="T8" y="T9"/>
                </a:cxn>
              </a:cxnLst>
              <a:rect l="T15" t="T16" r="T17" b="T18"/>
              <a:pathLst>
                <a:path w="176" h="177">
                  <a:moveTo>
                    <a:pt x="175" y="176"/>
                  </a:moveTo>
                  <a:lnTo>
                    <a:pt x="175" y="0"/>
                  </a:lnTo>
                  <a:lnTo>
                    <a:pt x="0" y="0"/>
                  </a:lnTo>
                  <a:lnTo>
                    <a:pt x="0" y="176"/>
                  </a:lnTo>
                  <a:lnTo>
                    <a:pt x="175"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6" name="Freeform 19">
              <a:extLst>
                <a:ext uri="{FF2B5EF4-FFF2-40B4-BE49-F238E27FC236}">
                  <a16:creationId xmlns:a16="http://schemas.microsoft.com/office/drawing/2014/main" id="{46ADC00D-93D2-16CC-9DDB-F2BBD8AB48A1}"/>
                </a:ext>
              </a:extLst>
            </p:cNvPr>
            <p:cNvSpPr>
              <a:spLocks/>
            </p:cNvSpPr>
            <p:nvPr/>
          </p:nvSpPr>
          <p:spPr bwMode="auto">
            <a:xfrm>
              <a:off x="172" y="4447"/>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7" name="Freeform 20">
              <a:extLst>
                <a:ext uri="{FF2B5EF4-FFF2-40B4-BE49-F238E27FC236}">
                  <a16:creationId xmlns:a16="http://schemas.microsoft.com/office/drawing/2014/main" id="{878B7E98-198C-32A4-58B7-9410A0E308DA}"/>
                </a:ext>
              </a:extLst>
            </p:cNvPr>
            <p:cNvSpPr>
              <a:spLocks/>
            </p:cNvSpPr>
            <p:nvPr/>
          </p:nvSpPr>
          <p:spPr bwMode="auto">
            <a:xfrm>
              <a:off x="181" y="4463"/>
              <a:ext cx="68" cy="37"/>
            </a:xfrm>
            <a:custGeom>
              <a:avLst/>
              <a:gdLst>
                <a:gd name="T0" fmla="*/ 67 w 68"/>
                <a:gd name="T1" fmla="*/ 7 h 37"/>
                <a:gd name="T2" fmla="*/ 64 w 68"/>
                <a:gd name="T3" fmla="*/ 0 h 37"/>
                <a:gd name="T4" fmla="*/ 0 w 68"/>
                <a:gd name="T5" fmla="*/ 29 h 37"/>
                <a:gd name="T6" fmla="*/ 2 w 68"/>
                <a:gd name="T7" fmla="*/ 36 h 37"/>
                <a:gd name="T8" fmla="*/ 67 w 68"/>
                <a:gd name="T9" fmla="*/ 7 h 37"/>
                <a:gd name="T10" fmla="*/ 0 60000 65536"/>
                <a:gd name="T11" fmla="*/ 0 60000 65536"/>
                <a:gd name="T12" fmla="*/ 0 60000 65536"/>
                <a:gd name="T13" fmla="*/ 0 60000 65536"/>
                <a:gd name="T14" fmla="*/ 0 60000 65536"/>
                <a:gd name="T15" fmla="*/ 0 w 68"/>
                <a:gd name="T16" fmla="*/ 0 h 37"/>
                <a:gd name="T17" fmla="*/ 68 w 68"/>
                <a:gd name="T18" fmla="*/ 37 h 37"/>
              </a:gdLst>
              <a:ahLst/>
              <a:cxnLst>
                <a:cxn ang="T10">
                  <a:pos x="T0" y="T1"/>
                </a:cxn>
                <a:cxn ang="T11">
                  <a:pos x="T2" y="T3"/>
                </a:cxn>
                <a:cxn ang="T12">
                  <a:pos x="T4" y="T5"/>
                </a:cxn>
                <a:cxn ang="T13">
                  <a:pos x="T6" y="T7"/>
                </a:cxn>
                <a:cxn ang="T14">
                  <a:pos x="T8" y="T9"/>
                </a:cxn>
              </a:cxnLst>
              <a:rect l="T15" t="T16" r="T17" b="T18"/>
              <a:pathLst>
                <a:path w="68" h="37">
                  <a:moveTo>
                    <a:pt x="67" y="7"/>
                  </a:moveTo>
                  <a:lnTo>
                    <a:pt x="64" y="0"/>
                  </a:lnTo>
                  <a:lnTo>
                    <a:pt x="0" y="29"/>
                  </a:lnTo>
                  <a:lnTo>
                    <a:pt x="2" y="36"/>
                  </a:lnTo>
                  <a:lnTo>
                    <a:pt x="67"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8" name="Freeform 21">
              <a:extLst>
                <a:ext uri="{FF2B5EF4-FFF2-40B4-BE49-F238E27FC236}">
                  <a16:creationId xmlns:a16="http://schemas.microsoft.com/office/drawing/2014/main" id="{D1C7857D-317A-29C1-BD65-2A6715D27A9D}"/>
                </a:ext>
              </a:extLst>
            </p:cNvPr>
            <p:cNvSpPr>
              <a:spLocks/>
            </p:cNvSpPr>
            <p:nvPr/>
          </p:nvSpPr>
          <p:spPr bwMode="auto">
            <a:xfrm>
              <a:off x="187" y="4479"/>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9" name="Freeform 22">
              <a:extLst>
                <a:ext uri="{FF2B5EF4-FFF2-40B4-BE49-F238E27FC236}">
                  <a16:creationId xmlns:a16="http://schemas.microsoft.com/office/drawing/2014/main" id="{D2FE0226-4BBA-FF3C-29FB-61038E60E625}"/>
                </a:ext>
              </a:extLst>
            </p:cNvPr>
            <p:cNvSpPr>
              <a:spLocks/>
            </p:cNvSpPr>
            <p:nvPr/>
          </p:nvSpPr>
          <p:spPr bwMode="auto">
            <a:xfrm>
              <a:off x="196" y="4496"/>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0" name="Freeform 23">
              <a:extLst>
                <a:ext uri="{FF2B5EF4-FFF2-40B4-BE49-F238E27FC236}">
                  <a16:creationId xmlns:a16="http://schemas.microsoft.com/office/drawing/2014/main" id="{368DD91D-157F-BE9C-6223-AFD8E0B12FFB}"/>
                </a:ext>
              </a:extLst>
            </p:cNvPr>
            <p:cNvSpPr>
              <a:spLocks/>
            </p:cNvSpPr>
            <p:nvPr/>
          </p:nvSpPr>
          <p:spPr bwMode="auto">
            <a:xfrm>
              <a:off x="203" y="4511"/>
              <a:ext cx="69" cy="39"/>
            </a:xfrm>
            <a:custGeom>
              <a:avLst/>
              <a:gdLst>
                <a:gd name="T0" fmla="*/ 68 w 69"/>
                <a:gd name="T1" fmla="*/ 7 h 39"/>
                <a:gd name="T2" fmla="*/ 65 w 69"/>
                <a:gd name="T3" fmla="*/ 0 h 39"/>
                <a:gd name="T4" fmla="*/ 0 w 69"/>
                <a:gd name="T5" fmla="*/ 30 h 39"/>
                <a:gd name="T6" fmla="*/ 3 w 69"/>
                <a:gd name="T7" fmla="*/ 38 h 39"/>
                <a:gd name="T8" fmla="*/ 68 w 69"/>
                <a:gd name="T9" fmla="*/ 7 h 39"/>
                <a:gd name="T10" fmla="*/ 0 60000 65536"/>
                <a:gd name="T11" fmla="*/ 0 60000 65536"/>
                <a:gd name="T12" fmla="*/ 0 60000 65536"/>
                <a:gd name="T13" fmla="*/ 0 60000 65536"/>
                <a:gd name="T14" fmla="*/ 0 60000 65536"/>
                <a:gd name="T15" fmla="*/ 0 w 69"/>
                <a:gd name="T16" fmla="*/ 0 h 39"/>
                <a:gd name="T17" fmla="*/ 69 w 69"/>
                <a:gd name="T18" fmla="*/ 39 h 39"/>
              </a:gdLst>
              <a:ahLst/>
              <a:cxnLst>
                <a:cxn ang="T10">
                  <a:pos x="T0" y="T1"/>
                </a:cxn>
                <a:cxn ang="T11">
                  <a:pos x="T2" y="T3"/>
                </a:cxn>
                <a:cxn ang="T12">
                  <a:pos x="T4" y="T5"/>
                </a:cxn>
                <a:cxn ang="T13">
                  <a:pos x="T6" y="T7"/>
                </a:cxn>
                <a:cxn ang="T14">
                  <a:pos x="T8" y="T9"/>
                </a:cxn>
              </a:cxnLst>
              <a:rect l="T15" t="T16" r="T17" b="T18"/>
              <a:pathLst>
                <a:path w="69" h="39">
                  <a:moveTo>
                    <a:pt x="68" y="7"/>
                  </a:moveTo>
                  <a:lnTo>
                    <a:pt x="65" y="0"/>
                  </a:lnTo>
                  <a:lnTo>
                    <a:pt x="0" y="30"/>
                  </a:lnTo>
                  <a:lnTo>
                    <a:pt x="3" y="38"/>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1" name="Freeform 24">
              <a:extLst>
                <a:ext uri="{FF2B5EF4-FFF2-40B4-BE49-F238E27FC236}">
                  <a16:creationId xmlns:a16="http://schemas.microsoft.com/office/drawing/2014/main" id="{CBFC8F0A-748E-884B-A63F-25FE9DE58226}"/>
                </a:ext>
              </a:extLst>
            </p:cNvPr>
            <p:cNvSpPr>
              <a:spLocks/>
            </p:cNvSpPr>
            <p:nvPr/>
          </p:nvSpPr>
          <p:spPr bwMode="auto">
            <a:xfrm>
              <a:off x="132" y="4410"/>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2" name="Freeform 25">
              <a:extLst>
                <a:ext uri="{FF2B5EF4-FFF2-40B4-BE49-F238E27FC236}">
                  <a16:creationId xmlns:a16="http://schemas.microsoft.com/office/drawing/2014/main" id="{7CA4EED2-4A98-720A-B9A2-66076418C795}"/>
                </a:ext>
              </a:extLst>
            </p:cNvPr>
            <p:cNvSpPr>
              <a:spLocks/>
            </p:cNvSpPr>
            <p:nvPr/>
          </p:nvSpPr>
          <p:spPr bwMode="auto">
            <a:xfrm>
              <a:off x="115" y="4399"/>
              <a:ext cx="122" cy="59"/>
            </a:xfrm>
            <a:custGeom>
              <a:avLst/>
              <a:gdLst>
                <a:gd name="T0" fmla="*/ 121 w 122"/>
                <a:gd name="T1" fmla="*/ 7 h 59"/>
                <a:gd name="T2" fmla="*/ 118 w 122"/>
                <a:gd name="T3" fmla="*/ 0 h 59"/>
                <a:gd name="T4" fmla="*/ 0 w 122"/>
                <a:gd name="T5" fmla="*/ 51 h 59"/>
                <a:gd name="T6" fmla="*/ 1 w 122"/>
                <a:gd name="T7" fmla="*/ 58 h 59"/>
                <a:gd name="T8" fmla="*/ 121 w 122"/>
                <a:gd name="T9" fmla="*/ 7 h 59"/>
                <a:gd name="T10" fmla="*/ 0 60000 65536"/>
                <a:gd name="T11" fmla="*/ 0 60000 65536"/>
                <a:gd name="T12" fmla="*/ 0 60000 65536"/>
                <a:gd name="T13" fmla="*/ 0 60000 65536"/>
                <a:gd name="T14" fmla="*/ 0 60000 65536"/>
                <a:gd name="T15" fmla="*/ 0 w 122"/>
                <a:gd name="T16" fmla="*/ 0 h 59"/>
                <a:gd name="T17" fmla="*/ 122 w 122"/>
                <a:gd name="T18" fmla="*/ 59 h 59"/>
              </a:gdLst>
              <a:ahLst/>
              <a:cxnLst>
                <a:cxn ang="T10">
                  <a:pos x="T0" y="T1"/>
                </a:cxn>
                <a:cxn ang="T11">
                  <a:pos x="T2" y="T3"/>
                </a:cxn>
                <a:cxn ang="T12">
                  <a:pos x="T4" y="T5"/>
                </a:cxn>
                <a:cxn ang="T13">
                  <a:pos x="T6" y="T7"/>
                </a:cxn>
                <a:cxn ang="T14">
                  <a:pos x="T8" y="T9"/>
                </a:cxn>
              </a:cxnLst>
              <a:rect l="T15" t="T16" r="T17" b="T18"/>
              <a:pathLst>
                <a:path w="122" h="59">
                  <a:moveTo>
                    <a:pt x="121" y="7"/>
                  </a:moveTo>
                  <a:lnTo>
                    <a:pt x="118" y="0"/>
                  </a:lnTo>
                  <a:lnTo>
                    <a:pt x="0" y="51"/>
                  </a:lnTo>
                  <a:lnTo>
                    <a:pt x="1" y="58"/>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3" name="Freeform 26">
              <a:extLst>
                <a:ext uri="{FF2B5EF4-FFF2-40B4-BE49-F238E27FC236}">
                  <a16:creationId xmlns:a16="http://schemas.microsoft.com/office/drawing/2014/main" id="{2F321C62-B52A-FF49-6E76-662B84368C65}"/>
                </a:ext>
              </a:extLst>
            </p:cNvPr>
            <p:cNvSpPr>
              <a:spLocks/>
            </p:cNvSpPr>
            <p:nvPr/>
          </p:nvSpPr>
          <p:spPr bwMode="auto">
            <a:xfrm>
              <a:off x="242" y="4412"/>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4" name="Freeform 27">
              <a:extLst>
                <a:ext uri="{FF2B5EF4-FFF2-40B4-BE49-F238E27FC236}">
                  <a16:creationId xmlns:a16="http://schemas.microsoft.com/office/drawing/2014/main" id="{E9786313-5794-13C4-02C7-E80C57F4ECA2}"/>
                </a:ext>
              </a:extLst>
            </p:cNvPr>
            <p:cNvSpPr>
              <a:spLocks/>
            </p:cNvSpPr>
            <p:nvPr/>
          </p:nvSpPr>
          <p:spPr bwMode="auto">
            <a:xfrm>
              <a:off x="132" y="4458"/>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5" name="Freeform 28">
              <a:extLst>
                <a:ext uri="{FF2B5EF4-FFF2-40B4-BE49-F238E27FC236}">
                  <a16:creationId xmlns:a16="http://schemas.microsoft.com/office/drawing/2014/main" id="{131C89BF-BF39-F6AB-6550-2DA36B1665E3}"/>
                </a:ext>
              </a:extLst>
            </p:cNvPr>
            <p:cNvSpPr>
              <a:spLocks/>
            </p:cNvSpPr>
            <p:nvPr/>
          </p:nvSpPr>
          <p:spPr bwMode="auto">
            <a:xfrm>
              <a:off x="111" y="4449"/>
              <a:ext cx="58" cy="116"/>
            </a:xfrm>
            <a:custGeom>
              <a:avLst/>
              <a:gdLst>
                <a:gd name="T0" fmla="*/ 50 w 58"/>
                <a:gd name="T1" fmla="*/ 115 h 116"/>
                <a:gd name="T2" fmla="*/ 57 w 58"/>
                <a:gd name="T3" fmla="*/ 112 h 116"/>
                <a:gd name="T4" fmla="*/ 5 w 58"/>
                <a:gd name="T5" fmla="*/ 0 h 116"/>
                <a:gd name="T6" fmla="*/ 0 w 58"/>
                <a:gd name="T7" fmla="*/ 2 h 116"/>
                <a:gd name="T8" fmla="*/ 50 w 58"/>
                <a:gd name="T9" fmla="*/ 115 h 116"/>
                <a:gd name="T10" fmla="*/ 0 60000 65536"/>
                <a:gd name="T11" fmla="*/ 0 60000 65536"/>
                <a:gd name="T12" fmla="*/ 0 60000 65536"/>
                <a:gd name="T13" fmla="*/ 0 60000 65536"/>
                <a:gd name="T14" fmla="*/ 0 60000 65536"/>
                <a:gd name="T15" fmla="*/ 0 w 58"/>
                <a:gd name="T16" fmla="*/ 0 h 116"/>
                <a:gd name="T17" fmla="*/ 58 w 58"/>
                <a:gd name="T18" fmla="*/ 116 h 116"/>
              </a:gdLst>
              <a:ahLst/>
              <a:cxnLst>
                <a:cxn ang="T10">
                  <a:pos x="T0" y="T1"/>
                </a:cxn>
                <a:cxn ang="T11">
                  <a:pos x="T2" y="T3"/>
                </a:cxn>
                <a:cxn ang="T12">
                  <a:pos x="T4" y="T5"/>
                </a:cxn>
                <a:cxn ang="T13">
                  <a:pos x="T6" y="T7"/>
                </a:cxn>
                <a:cxn ang="T14">
                  <a:pos x="T8" y="T9"/>
                </a:cxn>
              </a:cxnLst>
              <a:rect l="T15" t="T16" r="T17" b="T18"/>
              <a:pathLst>
                <a:path w="58" h="116">
                  <a:moveTo>
                    <a:pt x="50" y="115"/>
                  </a:moveTo>
                  <a:lnTo>
                    <a:pt x="57" y="112"/>
                  </a:lnTo>
                  <a:lnTo>
                    <a:pt x="5" y="0"/>
                  </a:lnTo>
                  <a:lnTo>
                    <a:pt x="0" y="2"/>
                  </a:lnTo>
                  <a:lnTo>
                    <a:pt x="50"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6" name="Freeform 29">
              <a:extLst>
                <a:ext uri="{FF2B5EF4-FFF2-40B4-BE49-F238E27FC236}">
                  <a16:creationId xmlns:a16="http://schemas.microsoft.com/office/drawing/2014/main" id="{B7A396AF-7143-A7F3-6960-2DFADD927FCE}"/>
                </a:ext>
              </a:extLst>
            </p:cNvPr>
            <p:cNvSpPr>
              <a:spLocks/>
            </p:cNvSpPr>
            <p:nvPr/>
          </p:nvSpPr>
          <p:spPr bwMode="auto">
            <a:xfrm>
              <a:off x="114" y="4449"/>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7" name="Freeform 30">
              <a:extLst>
                <a:ext uri="{FF2B5EF4-FFF2-40B4-BE49-F238E27FC236}">
                  <a16:creationId xmlns:a16="http://schemas.microsoft.com/office/drawing/2014/main" id="{A965E90C-E2CA-634B-49EB-BC382B230038}"/>
                </a:ext>
              </a:extLst>
            </p:cNvPr>
            <p:cNvSpPr>
              <a:spLocks/>
            </p:cNvSpPr>
            <p:nvPr/>
          </p:nvSpPr>
          <p:spPr bwMode="auto">
            <a:xfrm>
              <a:off x="221" y="4405"/>
              <a:ext cx="28" cy="18"/>
            </a:xfrm>
            <a:custGeom>
              <a:avLst/>
              <a:gdLst>
                <a:gd name="T0" fmla="*/ 23 w 28"/>
                <a:gd name="T1" fmla="*/ 17 h 18"/>
                <a:gd name="T2" fmla="*/ 27 w 28"/>
                <a:gd name="T3" fmla="*/ 10 h 18"/>
                <a:gd name="T4" fmla="*/ 4 w 28"/>
                <a:gd name="T5" fmla="*/ 0 h 18"/>
                <a:gd name="T6" fmla="*/ 0 w 28"/>
                <a:gd name="T7" fmla="*/ 5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5"/>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2430762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FDD07-374B-1006-4898-4BEDEFF036C6}"/>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39978A71-A2C8-C702-0D4D-1C3AADCE42AB}"/>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699" name="Rectangle 3">
            <a:extLst>
              <a:ext uri="{FF2B5EF4-FFF2-40B4-BE49-F238E27FC236}">
                <a16:creationId xmlns:a16="http://schemas.microsoft.com/office/drawing/2014/main" id="{1B006A99-BBF0-195A-F251-FA772DBECA2E}"/>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700" name="Rectangle 4">
            <a:extLst>
              <a:ext uri="{FF2B5EF4-FFF2-40B4-BE49-F238E27FC236}">
                <a16:creationId xmlns:a16="http://schemas.microsoft.com/office/drawing/2014/main" id="{EE095B07-51CC-0F2E-B0F0-63CFF4A6B63F}"/>
              </a:ext>
            </a:extLst>
          </p:cNvPr>
          <p:cNvSpPr>
            <a:spLocks noGrp="1" noChangeArrowheads="1"/>
          </p:cNvSpPr>
          <p:nvPr>
            <p:ph type="body" idx="1"/>
          </p:nvPr>
        </p:nvSpPr>
        <p:spPr>
          <a:xfrm>
            <a:off x="430213" y="4849813"/>
            <a:ext cx="5935662"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446088">
              <a:tabLst>
                <a:tab pos="434975" algn="l"/>
              </a:tabLst>
            </a:pPr>
            <a:r>
              <a:rPr lang="en-US" altLang="en-US">
                <a:latin typeface="Arial" panose="020B0604020202020204" pitchFamily="34" charset="0"/>
              </a:rPr>
              <a:t>Changing Data in a Table</a:t>
            </a:r>
          </a:p>
          <a:p>
            <a:pPr marL="114300" lvl="1" defTabSz="446088">
              <a:tabLst>
                <a:tab pos="434975" algn="l"/>
              </a:tabLst>
            </a:pPr>
            <a:r>
              <a:rPr lang="en-US" altLang="en-US">
                <a:latin typeface="Arial" panose="020B0604020202020204" pitchFamily="34" charset="0"/>
              </a:rPr>
              <a:t>The slide graphic changes the department number for Clark from 10 to 20.</a:t>
            </a: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p:txBody>
      </p:sp>
      <p:sp>
        <p:nvSpPr>
          <p:cNvPr id="29701" name="Rectangle 5">
            <a:extLst>
              <a:ext uri="{FF2B5EF4-FFF2-40B4-BE49-F238E27FC236}">
                <a16:creationId xmlns:a16="http://schemas.microsoft.com/office/drawing/2014/main" id="{1D1BE2F4-2D9C-2A28-8056-A01BFAE403A1}"/>
              </a:ext>
            </a:extLst>
          </p:cNvPr>
          <p:cNvSpPr>
            <a:spLocks noGrp="1" noRot="1" noChangeAspect="1" noChangeArrowheads="1" noTextEdit="1"/>
          </p:cNvSpPr>
          <p:nvPr>
            <p:ph type="sldImg"/>
          </p:nvPr>
        </p:nvSpPr>
        <p:spPr>
          <a:xfrm>
            <a:off x="411163" y="176213"/>
            <a:ext cx="6030912" cy="4522787"/>
          </a:xfrm>
          <a:ln w="12700" cap="flat">
            <a:solidFill>
              <a:schemeClr val="tx1"/>
            </a:solidFill>
          </a:ln>
        </p:spPr>
      </p:sp>
    </p:spTree>
    <p:extLst>
      <p:ext uri="{BB962C8B-B14F-4D97-AF65-F5344CB8AC3E}">
        <p14:creationId xmlns:p14="http://schemas.microsoft.com/office/powerpoint/2010/main" val="3168513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C39E6-2853-3CD7-DC6D-E7BE2242FE0D}"/>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9FDD38F0-7054-0C78-14EC-0F6477E9E2D4}"/>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D65F579D-89A2-D7C6-99FB-99463251F04A}"/>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367E10E8-C087-66C4-CE0E-BFEB8D542D0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08C36EC3-A971-ED61-2C9B-5D1FC9715963}"/>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3879684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4480-57D1-C403-A349-45D95E640DE0}"/>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7E24D74C-A6E1-3E7B-D74C-B5B85D8D95EA}"/>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D855A476-043E-7311-6B3C-D5EA905503F7}"/>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56FE3443-B777-084A-5C35-25CDDAD542B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9BDE1D80-3CDD-BD92-5198-5457CBC0F79C}"/>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3321298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52AB6-891D-8707-76B6-93845EB31073}"/>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D370D50A-6648-0F06-0341-DAEF5263DC68}"/>
              </a:ext>
            </a:extLst>
          </p:cNvPr>
          <p:cNvSpPr>
            <a:spLocks noGrp="1" noRot="1" noChangeAspect="1" noChangeArrowheads="1" noTextEdit="1"/>
          </p:cNvSpPr>
          <p:nvPr>
            <p:ph type="sldImg"/>
          </p:nvPr>
        </p:nvSpPr>
        <p:spPr>
          <a:xfrm>
            <a:off x="406400" y="171450"/>
            <a:ext cx="6037263" cy="4527550"/>
          </a:xfrm>
          <a:ln w="12700" cap="flat">
            <a:solidFill>
              <a:schemeClr val="tx1"/>
            </a:solidFill>
          </a:ln>
        </p:spPr>
      </p:sp>
      <p:sp>
        <p:nvSpPr>
          <p:cNvPr id="35843" name="Rectangle 3">
            <a:extLst>
              <a:ext uri="{FF2B5EF4-FFF2-40B4-BE49-F238E27FC236}">
                <a16:creationId xmlns:a16="http://schemas.microsoft.com/office/drawing/2014/main" id="{2CF0D2FF-A278-4BF7-463A-2C6D4071BEB2}"/>
              </a:ext>
            </a:extLst>
          </p:cNvPr>
          <p:cNvSpPr>
            <a:spLocks noGrp="1" noChangeArrowheads="1"/>
          </p:cNvSpPr>
          <p:nvPr>
            <p:ph type="body" idx="1"/>
          </p:nvPr>
        </p:nvSpPr>
        <p:spPr>
          <a:xfrm>
            <a:off x="457200" y="4849813"/>
            <a:ext cx="5773738"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46088">
              <a:tabLst>
                <a:tab pos="434975" algn="l"/>
              </a:tabLst>
            </a:pPr>
            <a:r>
              <a:rPr lang="en-US" altLang="en-US">
                <a:latin typeface="Arial" panose="020B0604020202020204" pitchFamily="34" charset="0"/>
              </a:rPr>
              <a:t>Updating Rows with a Multiple-Column Subquery</a:t>
            </a:r>
          </a:p>
          <a:p>
            <a:pPr marL="114300" lvl="1" defTabSz="446088">
              <a:tabLst>
                <a:tab pos="434975" algn="l"/>
              </a:tabLst>
            </a:pPr>
            <a:r>
              <a:rPr lang="en-US" altLang="en-US">
                <a:latin typeface="Arial" panose="020B0604020202020204" pitchFamily="34" charset="0"/>
              </a:rPr>
              <a:t>Multiple-column subqueries can be implemented in the SET clause of an UPDATE statement.</a:t>
            </a:r>
          </a:p>
          <a:p>
            <a:pPr marL="114300" lvl="1" defTabSz="446088">
              <a:tabLst>
                <a:tab pos="434975" algn="l"/>
              </a:tabLst>
            </a:pPr>
            <a:r>
              <a:rPr lang="en-US" altLang="en-US" b="1">
                <a:latin typeface="Arial" panose="020B0604020202020204" pitchFamily="34" charset="0"/>
              </a:rPr>
              <a:t>Syntax</a:t>
            </a: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spcBef>
                <a:spcPct val="65000"/>
              </a:spcBef>
              <a:tabLst>
                <a:tab pos="434975" algn="l"/>
              </a:tabLst>
            </a:pPr>
            <a:r>
              <a:rPr lang="en-US" altLang="en-US">
                <a:solidFill>
                  <a:schemeClr val="accent2"/>
                </a:solidFill>
                <a:latin typeface="Arial" panose="020B0604020202020204" pitchFamily="34" charset="0"/>
              </a:rPr>
              <a:t>Class Management Note</a:t>
            </a:r>
          </a:p>
          <a:p>
            <a:pPr marL="114300" lvl="1" defTabSz="446088">
              <a:tabLst>
                <a:tab pos="434975" algn="l"/>
              </a:tabLst>
            </a:pPr>
            <a:r>
              <a:rPr lang="en-US" altLang="en-US">
                <a:solidFill>
                  <a:schemeClr val="accent2"/>
                </a:solidFill>
                <a:latin typeface="Arial" panose="020B0604020202020204" pitchFamily="34" charset="0"/>
              </a:rPr>
              <a:t>It may be worth showing participants that the results would be the same for the example on the slide if two different subqueries were used in the SET clause as illustrated below:</a:t>
            </a:r>
          </a:p>
          <a:p>
            <a:pPr marL="114300" lvl="1" defTabSz="446088">
              <a:spcBef>
                <a:spcPct val="65000"/>
              </a:spcBef>
              <a:tabLst>
                <a:tab pos="434975" algn="l"/>
              </a:tabLst>
            </a:pPr>
            <a:r>
              <a:rPr lang="en-US" altLang="en-US" b="1">
                <a:solidFill>
                  <a:schemeClr val="accent2"/>
                </a:solidFill>
                <a:latin typeface="Courier New" panose="02070309020205020404" pitchFamily="49" charset="0"/>
              </a:rPr>
              <a:t>  SQL&gt; UPDATE       emp</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2  SET		job =    (SELECT  job FROM emp</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3				   WHERE   empno = 7499),</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4			deptno = (SELECT deptno FROM dept</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5				   WHERE  dname = 'SALES</a:t>
            </a:r>
            <a:r>
              <a:rPr lang="en-US" altLang="en-US">
                <a:solidFill>
                  <a:schemeClr val="accent2"/>
                </a:solidFill>
                <a:latin typeface="Courier New" panose="02070309020205020404" pitchFamily="49" charset="0"/>
              </a:rPr>
              <a:t>'</a:t>
            </a:r>
            <a:r>
              <a:rPr lang="en-US" altLang="en-US" b="1">
                <a:solidFill>
                  <a:schemeClr val="accent2"/>
                </a:solidFill>
                <a:latin typeface="Courier New" panose="02070309020205020404" pitchFamily="49" charset="0"/>
              </a:rPr>
              <a:t>)</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6  WHERE   empno = 7698;</a:t>
            </a:r>
          </a:p>
        </p:txBody>
      </p:sp>
      <p:sp>
        <p:nvSpPr>
          <p:cNvPr id="35844" name="Rectangle 4">
            <a:extLst>
              <a:ext uri="{FF2B5EF4-FFF2-40B4-BE49-F238E27FC236}">
                <a16:creationId xmlns:a16="http://schemas.microsoft.com/office/drawing/2014/main" id="{03D95516-34C2-F293-590A-F9885706F440}"/>
              </a:ext>
            </a:extLst>
          </p:cNvPr>
          <p:cNvSpPr>
            <a:spLocks noChangeArrowheads="1"/>
          </p:cNvSpPr>
          <p:nvPr/>
        </p:nvSpPr>
        <p:spPr bwMode="auto">
          <a:xfrm>
            <a:off x="571500" y="5548313"/>
            <a:ext cx="5621338" cy="1219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5845" name="Rectangle 5">
            <a:extLst>
              <a:ext uri="{FF2B5EF4-FFF2-40B4-BE49-F238E27FC236}">
                <a16:creationId xmlns:a16="http://schemas.microsoft.com/office/drawing/2014/main" id="{8D19B391-6F37-E375-4540-0A2A204703FD}"/>
              </a:ext>
            </a:extLst>
          </p:cNvPr>
          <p:cNvSpPr>
            <a:spLocks noChangeArrowheads="1"/>
          </p:cNvSpPr>
          <p:nvPr/>
        </p:nvSpPr>
        <p:spPr bwMode="auto">
          <a:xfrm>
            <a:off x="465138" y="5634038"/>
            <a:ext cx="572135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  UPDATE	</a:t>
            </a:r>
            <a:r>
              <a:rPr lang="en-US" altLang="en-US" sz="1100" i="1">
                <a:latin typeface="Courier New" panose="02070309020205020404" pitchFamily="49" charset="0"/>
              </a:rPr>
              <a:t>table</a:t>
            </a:r>
          </a:p>
          <a:p>
            <a:pPr>
              <a:spcBef>
                <a:spcPct val="0"/>
              </a:spcBef>
            </a:pPr>
            <a:r>
              <a:rPr lang="en-US" altLang="en-US" sz="1100">
                <a:latin typeface="Courier New" panose="02070309020205020404" pitchFamily="49" charset="0"/>
              </a:rPr>
              <a:t>  SET	(</a:t>
            </a:r>
            <a:r>
              <a:rPr lang="en-US" altLang="en-US" sz="1100" i="1">
                <a:latin typeface="Courier New" panose="02070309020205020404" pitchFamily="49" charset="0"/>
              </a:rPr>
              <a:t>column, column</a:t>
            </a:r>
            <a:r>
              <a:rPr lang="en-US" altLang="en-US" sz="1100">
                <a:latin typeface="Courier New" panose="02070309020205020404" pitchFamily="49" charset="0"/>
              </a:rPr>
              <a:t>, ...) = </a:t>
            </a:r>
          </a:p>
          <a:p>
            <a:pPr>
              <a:spcBef>
                <a:spcPct val="0"/>
              </a:spcBef>
            </a:pPr>
            <a:r>
              <a:rPr lang="en-US" altLang="en-US" sz="1100">
                <a:latin typeface="Courier New" panose="02070309020205020404" pitchFamily="49" charset="0"/>
              </a:rPr>
              <a:t>		(SELECT	</a:t>
            </a:r>
            <a:r>
              <a:rPr lang="en-US" altLang="en-US" sz="1100" i="1">
                <a:latin typeface="Courier New" panose="02070309020205020404" pitchFamily="49" charset="0"/>
              </a:rPr>
              <a:t>column, column</a:t>
            </a: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FROM	</a:t>
            </a:r>
            <a:r>
              <a:rPr lang="en-US" altLang="en-US" sz="1100" i="1">
                <a:latin typeface="Courier New" panose="02070309020205020404" pitchFamily="49" charset="0"/>
              </a:rPr>
              <a:t>table</a:t>
            </a:r>
            <a:endParaRPr lang="en-US" altLang="en-US" sz="1100">
              <a:latin typeface="Courier New" panose="02070309020205020404" pitchFamily="49" charset="0"/>
            </a:endParaRP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condition</a:t>
            </a: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condition</a:t>
            </a:r>
            <a:r>
              <a:rPr lang="en-US" altLang="en-US" sz="1100">
                <a:latin typeface="Courier New" panose="02070309020205020404" pitchFamily="49" charset="0"/>
              </a:rPr>
              <a:t>;	</a:t>
            </a:r>
          </a:p>
        </p:txBody>
      </p:sp>
      <p:sp>
        <p:nvSpPr>
          <p:cNvPr id="35846" name="Rectangle 6">
            <a:extLst>
              <a:ext uri="{FF2B5EF4-FFF2-40B4-BE49-F238E27FC236}">
                <a16:creationId xmlns:a16="http://schemas.microsoft.com/office/drawing/2014/main" id="{1EDC4478-0D57-1D42-D356-FE3E103D439C}"/>
              </a:ext>
            </a:extLst>
          </p:cNvPr>
          <p:cNvSpPr>
            <a:spLocks noChangeArrowheads="1"/>
          </p:cNvSpPr>
          <p:nvPr/>
        </p:nvSpPr>
        <p:spPr bwMode="auto">
          <a:xfrm>
            <a:off x="571500" y="7505700"/>
            <a:ext cx="5621338" cy="1117600"/>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extLst>
      <p:ext uri="{BB962C8B-B14F-4D97-AF65-F5344CB8AC3E}">
        <p14:creationId xmlns:p14="http://schemas.microsoft.com/office/powerpoint/2010/main" val="2533175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48BF-CD22-742E-038C-D2B690D0758E}"/>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263C3226-241D-2F45-8E7D-57C86BF38FD2}"/>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4035" name="Rectangle 3">
            <a:extLst>
              <a:ext uri="{FF2B5EF4-FFF2-40B4-BE49-F238E27FC236}">
                <a16:creationId xmlns:a16="http://schemas.microsoft.com/office/drawing/2014/main" id="{B1F95F7F-6074-0859-ED30-42FDC8919027}"/>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4036" name="Rectangle 4">
            <a:extLst>
              <a:ext uri="{FF2B5EF4-FFF2-40B4-BE49-F238E27FC236}">
                <a16:creationId xmlns:a16="http://schemas.microsoft.com/office/drawing/2014/main" id="{C0B111C4-87C4-C12F-4C44-1FD4AF06B4B4}"/>
              </a:ext>
            </a:extLst>
          </p:cNvPr>
          <p:cNvSpPr>
            <a:spLocks noGrp="1" noChangeArrowheads="1"/>
          </p:cNvSpPr>
          <p:nvPr>
            <p:ph type="body" idx="1"/>
          </p:nvPr>
        </p:nvSpPr>
        <p:spPr>
          <a:xfrm>
            <a:off x="377825" y="4849813"/>
            <a:ext cx="59372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2913" algn="l"/>
              </a:tabLst>
            </a:pPr>
            <a:r>
              <a:rPr lang="en-US" altLang="en-US">
                <a:latin typeface="Arial" panose="020B0604020202020204" pitchFamily="34" charset="0"/>
              </a:rPr>
              <a:t>Removing a Row from a Table</a:t>
            </a:r>
          </a:p>
          <a:p>
            <a:pPr marL="114300" lvl="1" defTabSz="377825">
              <a:tabLst>
                <a:tab pos="442913" algn="l"/>
              </a:tabLst>
            </a:pPr>
            <a:r>
              <a:rPr lang="en-US" altLang="en-US">
                <a:latin typeface="Arial" panose="020B0604020202020204" pitchFamily="34" charset="0"/>
              </a:rPr>
              <a:t>The slide graphic removes the DEVELOPMENT department from the DEPT table (assuming that there are no constraints defined on the DEPT table).</a:t>
            </a: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r>
              <a:rPr lang="en-US" altLang="en-US">
                <a:solidFill>
                  <a:schemeClr val="accent2"/>
                </a:solidFill>
                <a:latin typeface="Arial" panose="020B0604020202020204" pitchFamily="34" charset="0"/>
              </a:rPr>
              <a:t>Class Management Note</a:t>
            </a:r>
          </a:p>
          <a:p>
            <a:pPr marL="114300" lvl="1" defTabSz="377825">
              <a:tabLst>
                <a:tab pos="442913" algn="l"/>
              </a:tabLst>
            </a:pPr>
            <a:r>
              <a:rPr lang="en-US" altLang="en-US">
                <a:solidFill>
                  <a:schemeClr val="accent2"/>
                </a:solidFill>
                <a:latin typeface="Arial" panose="020B0604020202020204" pitchFamily="34" charset="0"/>
              </a:rPr>
              <a:t>After all the rows have been eliminated with the DELETE statement, only the data structure of the table remains. A more efficient method of emptying a table is with the TRUNCATE statement.</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You can use the TRUNCATE statement to quickly remove all rows from a table or cluster. Removing rows with the TRUNCATE statement is faster than removing them with the DELETE statement for the following reasons:</a:t>
            </a:r>
          </a:p>
          <a:p>
            <a:pPr marL="436563" lvl="2" indent="-207963" defTabSz="377825">
              <a:tabLst>
                <a:tab pos="442913" algn="l"/>
              </a:tabLst>
            </a:pPr>
            <a:r>
              <a:rPr lang="en-US" altLang="en-US">
                <a:solidFill>
                  <a:schemeClr val="accent2"/>
                </a:solidFill>
                <a:latin typeface="Arial" panose="020B0604020202020204" pitchFamily="34" charset="0"/>
              </a:rPr>
              <a:t>The TRUNCATE statement is a data definition language (DDL) statement and generates no rollback information. It will be covered in a subsequent lesson.</a:t>
            </a:r>
          </a:p>
          <a:p>
            <a:pPr marL="436563" lvl="2" indent="-207963" defTabSz="377825">
              <a:tabLst>
                <a:tab pos="442913" algn="l"/>
              </a:tabLst>
            </a:pPr>
            <a:r>
              <a:rPr lang="en-US" altLang="en-US">
                <a:solidFill>
                  <a:schemeClr val="accent2"/>
                </a:solidFill>
                <a:latin typeface="Arial" panose="020B0604020202020204" pitchFamily="34" charset="0"/>
              </a:rPr>
              <a:t>Truncating a table does not fire the DELETE triggers of the table. </a:t>
            </a:r>
          </a:p>
          <a:p>
            <a:pPr marL="436563" lvl="2" indent="-207963" defTabSz="377825">
              <a:tabLst>
                <a:tab pos="442913" algn="l"/>
              </a:tabLst>
            </a:pPr>
            <a:r>
              <a:rPr lang="en-US" altLang="en-US">
                <a:solidFill>
                  <a:schemeClr val="accent2"/>
                </a:solidFill>
                <a:latin typeface="Arial" panose="020B0604020202020204" pitchFamily="34" charset="0"/>
              </a:rPr>
              <a:t>If the table is the parent of a referential integrity constraint, you cannot truncate the table. Disable the constraint before issuing the TRUNCATE statement.</a:t>
            </a:r>
          </a:p>
        </p:txBody>
      </p:sp>
      <p:sp>
        <p:nvSpPr>
          <p:cNvPr id="44037" name="Rectangle 5">
            <a:extLst>
              <a:ext uri="{FF2B5EF4-FFF2-40B4-BE49-F238E27FC236}">
                <a16:creationId xmlns:a16="http://schemas.microsoft.com/office/drawing/2014/main" id="{A397286E-D838-4095-9486-E28A2034A48C}"/>
              </a:ext>
            </a:extLst>
          </p:cNvPr>
          <p:cNvSpPr>
            <a:spLocks noGrp="1" noRot="1" noChangeAspect="1" noChangeArrowheads="1" noTextEdit="1"/>
          </p:cNvSpPr>
          <p:nvPr>
            <p:ph type="sldImg"/>
          </p:nvPr>
        </p:nvSpPr>
        <p:spPr>
          <a:xfrm>
            <a:off x="407988" y="171450"/>
            <a:ext cx="6037262" cy="4527550"/>
          </a:xfrm>
          <a:ln w="12700" cap="flat">
            <a:solidFill>
              <a:schemeClr val="tx1"/>
            </a:solidFill>
          </a:ln>
        </p:spPr>
      </p:sp>
    </p:spTree>
    <p:extLst>
      <p:ext uri="{BB962C8B-B14F-4D97-AF65-F5344CB8AC3E}">
        <p14:creationId xmlns:p14="http://schemas.microsoft.com/office/powerpoint/2010/main" val="2257151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8EDA-F3F7-E8BE-A3B3-63C662296B44}"/>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5B4662E5-9AD3-7B27-8140-6670F1F17043}"/>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41838599-A835-BAA8-ADB4-B19B6244FFB7}"/>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C8111C82-6466-8690-7EEC-C817B35B224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6F42151F-3336-FF37-196F-917F3297740C}"/>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1898335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23C08-4FA8-E934-3A4E-ADBF0E68C8A8}"/>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2D117F0E-F998-B22E-D967-BC9BA50D240C}"/>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5F82431A-1179-AF55-F9BD-C02F047009DF}"/>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extLst>
      <p:ext uri="{BB962C8B-B14F-4D97-AF65-F5344CB8AC3E}">
        <p14:creationId xmlns:p14="http://schemas.microsoft.com/office/powerpoint/2010/main" val="3956515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F95BF-6832-6AAA-2569-338120DA434D}"/>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4CA3B6CE-F347-FE59-518F-7F4AB7F1E9A3}"/>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27" name="Rectangle 3">
            <a:extLst>
              <a:ext uri="{FF2B5EF4-FFF2-40B4-BE49-F238E27FC236}">
                <a16:creationId xmlns:a16="http://schemas.microsoft.com/office/drawing/2014/main" id="{3CBB44DE-ED54-662A-344A-257FD49D3F13}"/>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28" name="Rectangle 4">
            <a:extLst>
              <a:ext uri="{FF2B5EF4-FFF2-40B4-BE49-F238E27FC236}">
                <a16:creationId xmlns:a16="http://schemas.microsoft.com/office/drawing/2014/main" id="{A33AECC3-598B-57A8-2EF5-B35CAF9184A9}"/>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Integrity Constraint Error</a:t>
            </a:r>
          </a:p>
          <a:p>
            <a:pPr marL="114300" lvl="1" defTabSz="382588"/>
            <a:r>
              <a:rPr lang="en-US" altLang="en-US">
                <a:latin typeface="Arial" panose="020B0604020202020204" pitchFamily="34" charset="0"/>
              </a:rPr>
              <a:t>If you attempt to delete a record with a value that is tied to an integrity constraint, you will experience an error.</a:t>
            </a:r>
          </a:p>
          <a:p>
            <a:pPr marL="114300" lvl="1" defTabSz="382588"/>
            <a:r>
              <a:rPr lang="en-US" altLang="en-US">
                <a:latin typeface="Arial" panose="020B0604020202020204" pitchFamily="34" charset="0"/>
              </a:rPr>
              <a:t>The example on the slide tries to delete department number 10 from the DEPT table, but it results in an error because department number is used as a foreign key in the EMP table. If the parent record that you attempt to delete has child records, then you receive the </a:t>
            </a:r>
            <a:r>
              <a:rPr lang="en-US" altLang="en-US" i="1">
                <a:latin typeface="Arial" panose="020B0604020202020204" pitchFamily="34" charset="0"/>
              </a:rPr>
              <a:t>child record found</a:t>
            </a:r>
            <a:r>
              <a:rPr lang="en-US" altLang="en-US">
                <a:latin typeface="Arial" panose="020B0604020202020204" pitchFamily="34" charset="0"/>
              </a:rPr>
              <a:t> violation ORA-02292.</a:t>
            </a: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r>
              <a:rPr lang="en-US" altLang="en-US">
                <a:solidFill>
                  <a:schemeClr val="accent2"/>
                </a:solidFill>
                <a:latin typeface="Arial" panose="020B0604020202020204" pitchFamily="34" charset="0"/>
              </a:rPr>
              <a:t>Class Management Note</a:t>
            </a:r>
            <a:endParaRPr lang="en-US" altLang="en-US" b="1">
              <a:solidFill>
                <a:schemeClr val="accent2"/>
              </a:solidFill>
              <a:latin typeface="Times" panose="02020603050405020304" pitchFamily="18" charset="0"/>
            </a:endParaRPr>
          </a:p>
          <a:p>
            <a:pPr marL="114300" lvl="1" defTabSz="382588"/>
            <a:r>
              <a:rPr lang="en-US" altLang="en-US">
                <a:solidFill>
                  <a:schemeClr val="accent2"/>
                </a:solidFill>
                <a:latin typeface="Arial" panose="020B0604020202020204" pitchFamily="34" charset="0"/>
              </a:rPr>
              <a:t>If referential integrity constraints are in use, you might receive an Oracle Server error message when you attempt to delete a row. However, if the referential integrity constraint contains the ON DELETE CASCADE option, then the selected row and its children are deleted from their respective tables.</a:t>
            </a:r>
          </a:p>
        </p:txBody>
      </p:sp>
      <p:sp>
        <p:nvSpPr>
          <p:cNvPr id="52229" name="Rectangle 5">
            <a:extLst>
              <a:ext uri="{FF2B5EF4-FFF2-40B4-BE49-F238E27FC236}">
                <a16:creationId xmlns:a16="http://schemas.microsoft.com/office/drawing/2014/main" id="{568E4A42-965C-50B9-192C-3C092EA94C19}"/>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Tree>
    <p:extLst>
      <p:ext uri="{BB962C8B-B14F-4D97-AF65-F5344CB8AC3E}">
        <p14:creationId xmlns:p14="http://schemas.microsoft.com/office/powerpoint/2010/main" val="3395030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AF75-6CC6-DDB5-896B-19BBEDC874DB}"/>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2ED7BBE4-3E3C-12F9-66CD-A182E3A34701}"/>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57311A30-CC40-B67D-2324-69CF952B2181}"/>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extLst>
      <p:ext uri="{BB962C8B-B14F-4D97-AF65-F5344CB8AC3E}">
        <p14:creationId xmlns:p14="http://schemas.microsoft.com/office/powerpoint/2010/main" val="2577851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B9B43-F7DE-6285-AB73-469F40DB88DE}"/>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E60E3D4D-F17B-9D3B-D93F-89C52FA5EFF1}"/>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2238180B-BE0F-AD7A-2BA4-42FE82E1D60F}"/>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extLst>
      <p:ext uri="{BB962C8B-B14F-4D97-AF65-F5344CB8AC3E}">
        <p14:creationId xmlns:p14="http://schemas.microsoft.com/office/powerpoint/2010/main" val="3222677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7B11-01A3-D75C-955A-D020024888F4}"/>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FF3826AF-DF70-79D3-ACF0-6FA39D90C99E}"/>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E39E79EE-1983-3D6D-0778-BB67FB2160C2}"/>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extLst>
      <p:ext uri="{BB962C8B-B14F-4D97-AF65-F5344CB8AC3E}">
        <p14:creationId xmlns:p14="http://schemas.microsoft.com/office/powerpoint/2010/main" val="3029661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AB3FB-498F-A434-E900-6400CB85D836}"/>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E2977461-13E2-6526-80D5-EF71CD5B81A2}"/>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5549868B-F886-2CCB-33EE-F318A8C4BB53}"/>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extLst>
      <p:ext uri="{BB962C8B-B14F-4D97-AF65-F5344CB8AC3E}">
        <p14:creationId xmlns:p14="http://schemas.microsoft.com/office/powerpoint/2010/main" val="1535668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7367292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5307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3151847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68946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3812538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391035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611080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14230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413254685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8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Manipulating Data</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CDE5-8CEB-6306-5128-BD54D671D81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534064B-3E40-563C-2696-66817025F61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B1C558E5-3E01-40E8-39CA-C4F3AD91421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DE869F4-E99A-619C-7F5F-47E781AF04F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7DF64AE-8206-58A3-C136-D6EB491B1012}"/>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After completing this lesson, you should be able to do the following:</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rPr>
              <a:t>Describe each DML statement</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rPr>
              <a:t>Insert rows into a table</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rPr>
              <a:t>Update rows in a table</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rPr>
              <a:t>Delete rows from a table</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rPr>
              <a:t>Control transactions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7DB45F60-1BDF-53C9-36BB-34F42C0828E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199785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3EE5-6529-C780-18C9-B510FFD43C0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FB4E24F-BE5F-E98F-D44F-DB7D8B48E76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 Manipulation Language</a:t>
            </a:r>
          </a:p>
        </p:txBody>
      </p:sp>
      <p:sp>
        <p:nvSpPr>
          <p:cNvPr id="38915" name="Rectangle 3">
            <a:extLst>
              <a:ext uri="{FF2B5EF4-FFF2-40B4-BE49-F238E27FC236}">
                <a16:creationId xmlns:a16="http://schemas.microsoft.com/office/drawing/2014/main" id="{2B269CC3-EF7C-A694-F4A3-8548577C71B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6C459ED-D8C5-54DC-E9E0-267198160D4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D5AB274C-4E05-0129-5871-662D548F7FA8}"/>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DML statement is executed when you:</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3333CC"/>
                </a:solidFill>
                <a:effectLst/>
                <a:uLnTx/>
                <a:uFillTx/>
                <a:latin typeface="Cambria" panose="02040503050406030204" pitchFamily="18" charset="0"/>
                <a:ea typeface="Cambria" panose="02040503050406030204" pitchFamily="18" charset="0"/>
                <a:cs typeface="Calibri" panose="020F0502020204030204" pitchFamily="34" charset="0"/>
              </a:rPr>
              <a:t>Add new rows to a table</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3333CC"/>
                </a:solidFill>
                <a:effectLst/>
                <a:uLnTx/>
                <a:uFillTx/>
                <a:latin typeface="Cambria" panose="02040503050406030204" pitchFamily="18" charset="0"/>
                <a:ea typeface="Cambria" panose="02040503050406030204" pitchFamily="18" charset="0"/>
                <a:cs typeface="Calibri" panose="020F0502020204030204" pitchFamily="34" charset="0"/>
              </a:rPr>
              <a:t>Modify existing rows in a table</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3333CC"/>
                </a:solidFill>
                <a:effectLst/>
                <a:uLnTx/>
                <a:uFillTx/>
                <a:latin typeface="Cambria" panose="02040503050406030204" pitchFamily="18" charset="0"/>
                <a:ea typeface="Cambria" panose="02040503050406030204" pitchFamily="18" charset="0"/>
                <a:cs typeface="Calibri" panose="020F0502020204030204" pitchFamily="34" charset="0"/>
              </a:rPr>
              <a:t>Remove existing rows from a table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transaction</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consists of a collection of DML statements that form a logical unit of work.</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3EDCB387-DDB3-DF4A-CD62-AA0E62D861F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6757074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F8404-8175-A834-A508-ED783E1F9D2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CB62338-D965-F1C7-CA1C-8B4E2741EF36}"/>
              </a:ext>
            </a:extLst>
          </p:cNvPr>
          <p:cNvSpPr>
            <a:spLocks noGrp="1" noChangeArrowheads="1"/>
          </p:cNvSpPr>
          <p:nvPr>
            <p:ph type="title"/>
          </p:nvPr>
        </p:nvSpPr>
        <p:spPr>
          <a:xfrm>
            <a:off x="395536" y="203200"/>
            <a:ext cx="49307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Adding a New Row to a Table</a:t>
            </a:r>
          </a:p>
        </p:txBody>
      </p:sp>
      <p:sp>
        <p:nvSpPr>
          <p:cNvPr id="10243" name="Rectangle 3">
            <a:extLst>
              <a:ext uri="{FF2B5EF4-FFF2-40B4-BE49-F238E27FC236}">
                <a16:creationId xmlns:a16="http://schemas.microsoft.com/office/drawing/2014/main" id="{FA1A2BD5-E1D0-0107-1390-977DA9F9D0BC}"/>
              </a:ext>
            </a:extLst>
          </p:cNvPr>
          <p:cNvSpPr>
            <a:spLocks noChangeArrowheads="1"/>
          </p:cNvSpPr>
          <p:nvPr/>
        </p:nvSpPr>
        <p:spPr bwMode="blackWhite">
          <a:xfrm>
            <a:off x="608013" y="235652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42372" name="Rectangle 4">
            <a:extLst>
              <a:ext uri="{FF2B5EF4-FFF2-40B4-BE49-F238E27FC236}">
                <a16:creationId xmlns:a16="http://schemas.microsoft.com/office/drawing/2014/main" id="{F0713370-9599-0932-2D0D-495A6DA5DA7B}"/>
              </a:ext>
            </a:extLst>
          </p:cNvPr>
          <p:cNvSpPr>
            <a:spLocks noChangeArrowheads="1"/>
          </p:cNvSpPr>
          <p:nvPr/>
        </p:nvSpPr>
        <p:spPr bwMode="auto">
          <a:xfrm>
            <a:off x="520700" y="199298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10245" name="Rectangle 5">
            <a:extLst>
              <a:ext uri="{FF2B5EF4-FFF2-40B4-BE49-F238E27FC236}">
                <a16:creationId xmlns:a16="http://schemas.microsoft.com/office/drawing/2014/main" id="{D8454078-1D6D-0EB2-0702-058C55FCFD3F}"/>
              </a:ext>
            </a:extLst>
          </p:cNvPr>
          <p:cNvSpPr>
            <a:spLocks noChangeArrowheads="1"/>
          </p:cNvSpPr>
          <p:nvPr/>
        </p:nvSpPr>
        <p:spPr bwMode="blackWhite">
          <a:xfrm>
            <a:off x="620713" y="238827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10246" name="Line 6">
            <a:extLst>
              <a:ext uri="{FF2B5EF4-FFF2-40B4-BE49-F238E27FC236}">
                <a16:creationId xmlns:a16="http://schemas.microsoft.com/office/drawing/2014/main" id="{52A20FA0-4210-405F-FFEB-8362473827CD}"/>
              </a:ext>
            </a:extLst>
          </p:cNvPr>
          <p:cNvSpPr>
            <a:spLocks noChangeShapeType="1"/>
          </p:cNvSpPr>
          <p:nvPr/>
        </p:nvSpPr>
        <p:spPr bwMode="auto">
          <a:xfrm>
            <a:off x="609600" y="282007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7" name="Line 7">
            <a:extLst>
              <a:ext uri="{FF2B5EF4-FFF2-40B4-BE49-F238E27FC236}">
                <a16:creationId xmlns:a16="http://schemas.microsoft.com/office/drawing/2014/main" id="{800B6FCE-28C3-0C79-3FE0-FC3CE740965A}"/>
              </a:ext>
            </a:extLst>
          </p:cNvPr>
          <p:cNvSpPr>
            <a:spLocks noChangeShapeType="1"/>
          </p:cNvSpPr>
          <p:nvPr/>
        </p:nvSpPr>
        <p:spPr bwMode="auto">
          <a:xfrm>
            <a:off x="603250" y="321377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8" name="Line 8">
            <a:extLst>
              <a:ext uri="{FF2B5EF4-FFF2-40B4-BE49-F238E27FC236}">
                <a16:creationId xmlns:a16="http://schemas.microsoft.com/office/drawing/2014/main" id="{D77CC03F-F7BB-0A95-F599-B4FD53001218}"/>
              </a:ext>
            </a:extLst>
          </p:cNvPr>
          <p:cNvSpPr>
            <a:spLocks noChangeShapeType="1"/>
          </p:cNvSpPr>
          <p:nvPr/>
        </p:nvSpPr>
        <p:spPr bwMode="auto">
          <a:xfrm>
            <a:off x="603250" y="347412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9" name="Line 9">
            <a:extLst>
              <a:ext uri="{FF2B5EF4-FFF2-40B4-BE49-F238E27FC236}">
                <a16:creationId xmlns:a16="http://schemas.microsoft.com/office/drawing/2014/main" id="{3FC07328-59FF-EC4B-2ABE-0C0049B7389B}"/>
              </a:ext>
            </a:extLst>
          </p:cNvPr>
          <p:cNvSpPr>
            <a:spLocks noChangeShapeType="1"/>
          </p:cNvSpPr>
          <p:nvPr/>
        </p:nvSpPr>
        <p:spPr bwMode="auto">
          <a:xfrm>
            <a:off x="603250" y="373447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0" name="Line 10">
            <a:extLst>
              <a:ext uri="{FF2B5EF4-FFF2-40B4-BE49-F238E27FC236}">
                <a16:creationId xmlns:a16="http://schemas.microsoft.com/office/drawing/2014/main" id="{69035511-A9E3-1DA1-E1CF-46C50C287D49}"/>
              </a:ext>
            </a:extLst>
          </p:cNvPr>
          <p:cNvSpPr>
            <a:spLocks noChangeShapeType="1"/>
          </p:cNvSpPr>
          <p:nvPr/>
        </p:nvSpPr>
        <p:spPr bwMode="auto">
          <a:xfrm>
            <a:off x="1606550" y="235652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1" name="Line 11">
            <a:extLst>
              <a:ext uri="{FF2B5EF4-FFF2-40B4-BE49-F238E27FC236}">
                <a16:creationId xmlns:a16="http://schemas.microsoft.com/office/drawing/2014/main" id="{919942AB-CBC4-FF63-3AB9-8CB752A3255E}"/>
              </a:ext>
            </a:extLst>
          </p:cNvPr>
          <p:cNvSpPr>
            <a:spLocks noChangeShapeType="1"/>
          </p:cNvSpPr>
          <p:nvPr/>
        </p:nvSpPr>
        <p:spPr bwMode="auto">
          <a:xfrm>
            <a:off x="3105150" y="235652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10252" name="Group 12">
            <a:extLst>
              <a:ext uri="{FF2B5EF4-FFF2-40B4-BE49-F238E27FC236}">
                <a16:creationId xmlns:a16="http://schemas.microsoft.com/office/drawing/2014/main" id="{4B366944-7306-4BD8-E522-EAC08FAC5296}"/>
              </a:ext>
            </a:extLst>
          </p:cNvPr>
          <p:cNvGrpSpPr>
            <a:grpSpLocks/>
          </p:cNvGrpSpPr>
          <p:nvPr/>
        </p:nvGrpSpPr>
        <p:grpSpPr bwMode="auto">
          <a:xfrm>
            <a:off x="520700" y="908720"/>
            <a:ext cx="3949700" cy="1062038"/>
            <a:chOff x="328" y="836"/>
            <a:chExt cx="2488" cy="669"/>
          </a:xfrm>
        </p:grpSpPr>
        <p:sp>
          <p:nvSpPr>
            <p:cNvPr id="10270" name="Rectangle 13">
              <a:extLst>
                <a:ext uri="{FF2B5EF4-FFF2-40B4-BE49-F238E27FC236}">
                  <a16:creationId xmlns:a16="http://schemas.microsoft.com/office/drawing/2014/main" id="{04F4AEAE-DC7C-DFAE-245D-7262738F8CDC}"/>
                </a:ext>
              </a:extLst>
            </p:cNvPr>
            <p:cNvSpPr>
              <a:spLocks noChangeArrowheads="1"/>
            </p:cNvSpPr>
            <p:nvPr/>
          </p:nvSpPr>
          <p:spPr bwMode="blackWhite">
            <a:xfrm>
              <a:off x="383" y="972"/>
              <a:ext cx="2433" cy="238"/>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42382" name="Rectangle 14">
              <a:extLst>
                <a:ext uri="{FF2B5EF4-FFF2-40B4-BE49-F238E27FC236}">
                  <a16:creationId xmlns:a16="http://schemas.microsoft.com/office/drawing/2014/main" id="{CDBA2CA3-EB44-62AF-4BAA-42CE8A3E327C}"/>
                </a:ext>
              </a:extLst>
            </p:cNvPr>
            <p:cNvSpPr>
              <a:spLocks noChangeArrowheads="1"/>
            </p:cNvSpPr>
            <p:nvPr/>
          </p:nvSpPr>
          <p:spPr bwMode="auto">
            <a:xfrm>
              <a:off x="328" y="1253"/>
              <a:ext cx="781" cy="2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New row</a:t>
              </a:r>
            </a:p>
          </p:txBody>
        </p:sp>
        <p:sp>
          <p:nvSpPr>
            <p:cNvPr id="10272" name="Rectangle 15">
              <a:extLst>
                <a:ext uri="{FF2B5EF4-FFF2-40B4-BE49-F238E27FC236}">
                  <a16:creationId xmlns:a16="http://schemas.microsoft.com/office/drawing/2014/main" id="{30D3762E-2EDB-3D82-63B1-8D02257943E5}"/>
                </a:ext>
              </a:extLst>
            </p:cNvPr>
            <p:cNvSpPr>
              <a:spLocks noChangeArrowheads="1"/>
            </p:cNvSpPr>
            <p:nvPr/>
          </p:nvSpPr>
          <p:spPr bwMode="blackWhite">
            <a:xfrm>
              <a:off x="391" y="836"/>
              <a:ext cx="2417"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800" b="1">
                  <a:solidFill>
                    <a:srgbClr val="000000"/>
                  </a:solidFill>
                  <a:latin typeface="Courier New" panose="02070309020205020404" pitchFamily="49" charset="0"/>
                </a:rPr>
                <a:t>	DETROIT</a:t>
              </a:r>
            </a:p>
          </p:txBody>
        </p:sp>
        <p:sp>
          <p:nvSpPr>
            <p:cNvPr id="10273" name="Line 16">
              <a:extLst>
                <a:ext uri="{FF2B5EF4-FFF2-40B4-BE49-F238E27FC236}">
                  <a16:creationId xmlns:a16="http://schemas.microsoft.com/office/drawing/2014/main" id="{8E703550-2964-807B-B669-2EB0F4CFD472}"/>
                </a:ext>
              </a:extLst>
            </p:cNvPr>
            <p:cNvSpPr>
              <a:spLocks noChangeShapeType="1"/>
            </p:cNvSpPr>
            <p:nvPr/>
          </p:nvSpPr>
          <p:spPr bwMode="auto">
            <a:xfrm>
              <a:off x="1012" y="976"/>
              <a:ext cx="0" cy="24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74" name="Line 17">
              <a:extLst>
                <a:ext uri="{FF2B5EF4-FFF2-40B4-BE49-F238E27FC236}">
                  <a16:creationId xmlns:a16="http://schemas.microsoft.com/office/drawing/2014/main" id="{92506E0A-C50E-FDC7-017E-7C4302E81D38}"/>
                </a:ext>
              </a:extLst>
            </p:cNvPr>
            <p:cNvSpPr>
              <a:spLocks noChangeShapeType="1"/>
            </p:cNvSpPr>
            <p:nvPr/>
          </p:nvSpPr>
          <p:spPr bwMode="auto">
            <a:xfrm>
              <a:off x="1956" y="970"/>
              <a:ext cx="0" cy="27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10253" name="Rectangle 18">
            <a:extLst>
              <a:ext uri="{FF2B5EF4-FFF2-40B4-BE49-F238E27FC236}">
                <a16:creationId xmlns:a16="http://schemas.microsoft.com/office/drawing/2014/main" id="{29005D32-A9E7-6F15-96AA-30531C7D796A}"/>
              </a:ext>
            </a:extLst>
          </p:cNvPr>
          <p:cNvSpPr>
            <a:spLocks noChangeArrowheads="1"/>
          </p:cNvSpPr>
          <p:nvPr/>
        </p:nvSpPr>
        <p:spPr bwMode="blackWhite">
          <a:xfrm>
            <a:off x="4741863" y="349317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42387" name="Rectangle 19">
            <a:extLst>
              <a:ext uri="{FF2B5EF4-FFF2-40B4-BE49-F238E27FC236}">
                <a16:creationId xmlns:a16="http://schemas.microsoft.com/office/drawing/2014/main" id="{1C4FDB66-CE3F-8610-49A7-30791F93E10E}"/>
              </a:ext>
            </a:extLst>
          </p:cNvPr>
          <p:cNvSpPr>
            <a:spLocks noChangeArrowheads="1"/>
          </p:cNvSpPr>
          <p:nvPr/>
        </p:nvSpPr>
        <p:spPr bwMode="auto">
          <a:xfrm>
            <a:off x="4654550" y="312963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10255" name="Rectangle 20">
            <a:extLst>
              <a:ext uri="{FF2B5EF4-FFF2-40B4-BE49-F238E27FC236}">
                <a16:creationId xmlns:a16="http://schemas.microsoft.com/office/drawing/2014/main" id="{0F44C988-D4E6-7617-D0EB-A49053F171B9}"/>
              </a:ext>
            </a:extLst>
          </p:cNvPr>
          <p:cNvSpPr>
            <a:spLocks noChangeArrowheads="1"/>
          </p:cNvSpPr>
          <p:nvPr/>
        </p:nvSpPr>
        <p:spPr bwMode="blackWhite">
          <a:xfrm>
            <a:off x="4754563" y="352492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10256" name="Line 21">
            <a:extLst>
              <a:ext uri="{FF2B5EF4-FFF2-40B4-BE49-F238E27FC236}">
                <a16:creationId xmlns:a16="http://schemas.microsoft.com/office/drawing/2014/main" id="{E9449F78-6669-1B0F-CF3A-DD94B7D4ABEC}"/>
              </a:ext>
            </a:extLst>
          </p:cNvPr>
          <p:cNvSpPr>
            <a:spLocks noChangeShapeType="1"/>
          </p:cNvSpPr>
          <p:nvPr/>
        </p:nvSpPr>
        <p:spPr bwMode="auto">
          <a:xfrm>
            <a:off x="4743450" y="395672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7" name="Line 22">
            <a:extLst>
              <a:ext uri="{FF2B5EF4-FFF2-40B4-BE49-F238E27FC236}">
                <a16:creationId xmlns:a16="http://schemas.microsoft.com/office/drawing/2014/main" id="{2DAD9954-AE95-D43E-E5DA-D75B39242877}"/>
              </a:ext>
            </a:extLst>
          </p:cNvPr>
          <p:cNvSpPr>
            <a:spLocks noChangeShapeType="1"/>
          </p:cNvSpPr>
          <p:nvPr/>
        </p:nvSpPr>
        <p:spPr bwMode="auto">
          <a:xfrm>
            <a:off x="4737100" y="435042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8" name="Line 23">
            <a:extLst>
              <a:ext uri="{FF2B5EF4-FFF2-40B4-BE49-F238E27FC236}">
                <a16:creationId xmlns:a16="http://schemas.microsoft.com/office/drawing/2014/main" id="{0C16C4CA-5D1D-1157-2AC7-A77B8FA01451}"/>
              </a:ext>
            </a:extLst>
          </p:cNvPr>
          <p:cNvSpPr>
            <a:spLocks noChangeShapeType="1"/>
          </p:cNvSpPr>
          <p:nvPr/>
        </p:nvSpPr>
        <p:spPr bwMode="auto">
          <a:xfrm>
            <a:off x="4737100" y="461077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9" name="Line 24">
            <a:extLst>
              <a:ext uri="{FF2B5EF4-FFF2-40B4-BE49-F238E27FC236}">
                <a16:creationId xmlns:a16="http://schemas.microsoft.com/office/drawing/2014/main" id="{24109FE8-FD81-7CA4-525B-DC93AF3C10A9}"/>
              </a:ext>
            </a:extLst>
          </p:cNvPr>
          <p:cNvSpPr>
            <a:spLocks noChangeShapeType="1"/>
          </p:cNvSpPr>
          <p:nvPr/>
        </p:nvSpPr>
        <p:spPr bwMode="auto">
          <a:xfrm>
            <a:off x="4737100" y="487112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0" name="Line 25">
            <a:extLst>
              <a:ext uri="{FF2B5EF4-FFF2-40B4-BE49-F238E27FC236}">
                <a16:creationId xmlns:a16="http://schemas.microsoft.com/office/drawing/2014/main" id="{AD3EEEF9-B52B-B504-9E4E-A65C863F165A}"/>
              </a:ext>
            </a:extLst>
          </p:cNvPr>
          <p:cNvSpPr>
            <a:spLocks noChangeShapeType="1"/>
          </p:cNvSpPr>
          <p:nvPr/>
        </p:nvSpPr>
        <p:spPr bwMode="auto">
          <a:xfrm>
            <a:off x="5740400" y="349317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1" name="Line 26">
            <a:extLst>
              <a:ext uri="{FF2B5EF4-FFF2-40B4-BE49-F238E27FC236}">
                <a16:creationId xmlns:a16="http://schemas.microsoft.com/office/drawing/2014/main" id="{0FE84B89-4BA9-01E1-DD55-32DF4017FD40}"/>
              </a:ext>
            </a:extLst>
          </p:cNvPr>
          <p:cNvSpPr>
            <a:spLocks noChangeShapeType="1"/>
          </p:cNvSpPr>
          <p:nvPr/>
        </p:nvSpPr>
        <p:spPr bwMode="auto">
          <a:xfrm>
            <a:off x="7239000" y="349317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27">
            <a:extLst>
              <a:ext uri="{FF2B5EF4-FFF2-40B4-BE49-F238E27FC236}">
                <a16:creationId xmlns:a16="http://schemas.microsoft.com/office/drawing/2014/main" id="{DAD798C7-7B40-280E-F828-7F661DD03702}"/>
              </a:ext>
            </a:extLst>
          </p:cNvPr>
          <p:cNvGrpSpPr>
            <a:grpSpLocks/>
          </p:cNvGrpSpPr>
          <p:nvPr/>
        </p:nvGrpSpPr>
        <p:grpSpPr bwMode="auto">
          <a:xfrm>
            <a:off x="4514850" y="1845345"/>
            <a:ext cx="3579813" cy="1355725"/>
            <a:chOff x="2844" y="1426"/>
            <a:chExt cx="2255" cy="854"/>
          </a:xfrm>
        </p:grpSpPr>
        <p:sp>
          <p:nvSpPr>
            <p:cNvPr id="442396" name="Rectangle 28">
              <a:extLst>
                <a:ext uri="{FF2B5EF4-FFF2-40B4-BE49-F238E27FC236}">
                  <a16:creationId xmlns:a16="http://schemas.microsoft.com/office/drawing/2014/main" id="{F04D7DA2-3454-13D7-B7B9-EA8D1B08559C}"/>
                </a:ext>
              </a:extLst>
            </p:cNvPr>
            <p:cNvSpPr>
              <a:spLocks noChangeArrowheads="1"/>
            </p:cNvSpPr>
            <p:nvPr/>
          </p:nvSpPr>
          <p:spPr bwMode="auto">
            <a:xfrm>
              <a:off x="2844" y="1426"/>
              <a:ext cx="2255" cy="449"/>
            </a:xfrm>
            <a:prstGeom prst="rect">
              <a:avLst/>
            </a:prstGeom>
            <a:noFill/>
            <a:ln w="9525">
              <a:noFill/>
              <a:miter lim="800000"/>
              <a:headEnd/>
              <a:tailEnd/>
            </a:ln>
            <a:effectLst/>
          </p:spPr>
          <p:txBody>
            <a:bodyPr lIns="92075" tIns="46038" rIns="92075" bIns="46038">
              <a:spAutoFit/>
            </a:bodyPr>
            <a:lstStyle/>
            <a:p>
              <a:pPr algn="ctr" defTabSz="346075">
                <a:lnSpc>
                  <a:spcPct val="65000"/>
                </a:lnSpc>
                <a:spcBef>
                  <a:spcPct val="35000"/>
                </a:spcBef>
                <a:tabLst>
                  <a:tab pos="576263" algn="l"/>
                </a:tabLst>
                <a:defRPr/>
              </a:pPr>
              <a:r>
                <a:rPr lang="en-US" b="1">
                  <a:solidFill>
                    <a:srgbClr val="3333CC"/>
                  </a:solidFill>
                  <a:latin typeface="Cambria" panose="02040503050406030204" pitchFamily="18" charset="0"/>
                  <a:ea typeface="Cambria" panose="02040503050406030204" pitchFamily="18" charset="0"/>
                </a:rPr>
                <a:t>“…insert a new row </a:t>
              </a:r>
            </a:p>
            <a:p>
              <a:pPr algn="ctr" defTabSz="346075">
                <a:lnSpc>
                  <a:spcPct val="65000"/>
                </a:lnSpc>
                <a:spcBef>
                  <a:spcPct val="35000"/>
                </a:spcBef>
                <a:tabLst>
                  <a:tab pos="576263" algn="l"/>
                </a:tabLst>
                <a:defRPr/>
              </a:pPr>
              <a:r>
                <a:rPr lang="en-US" b="1">
                  <a:solidFill>
                    <a:srgbClr val="3333CC"/>
                  </a:solidFill>
                  <a:latin typeface="Cambria" panose="02040503050406030204" pitchFamily="18" charset="0"/>
                  <a:ea typeface="Cambria" panose="02040503050406030204" pitchFamily="18" charset="0"/>
                </a:rPr>
                <a:t>into DEPT table…”</a:t>
              </a:r>
            </a:p>
          </p:txBody>
        </p:sp>
        <p:sp>
          <p:nvSpPr>
            <p:cNvPr id="10269" name="Arc 29">
              <a:extLst>
                <a:ext uri="{FF2B5EF4-FFF2-40B4-BE49-F238E27FC236}">
                  <a16:creationId xmlns:a16="http://schemas.microsoft.com/office/drawing/2014/main" id="{7BB809D8-EE47-7655-713A-0D565728F6D7}"/>
                </a:ext>
              </a:extLst>
            </p:cNvPr>
            <p:cNvSpPr>
              <a:spLocks/>
            </p:cNvSpPr>
            <p:nvPr/>
          </p:nvSpPr>
          <p:spPr bwMode="auto">
            <a:xfrm>
              <a:off x="3155" y="1908"/>
              <a:ext cx="1272" cy="372"/>
            </a:xfrm>
            <a:custGeom>
              <a:avLst/>
              <a:gdLst>
                <a:gd name="T0" fmla="*/ 0 w 21604"/>
                <a:gd name="T1" fmla="*/ 0 h 21600"/>
                <a:gd name="T2" fmla="*/ 0 w 21604"/>
                <a:gd name="T3" fmla="*/ 0 h 21600"/>
                <a:gd name="T4" fmla="*/ 0 w 21604"/>
                <a:gd name="T5" fmla="*/ 0 h 21600"/>
                <a:gd name="T6" fmla="*/ 0 60000 65536"/>
                <a:gd name="T7" fmla="*/ 0 60000 65536"/>
                <a:gd name="T8" fmla="*/ 0 60000 65536"/>
              </a:gdLst>
              <a:ahLst/>
              <a:cxnLst>
                <a:cxn ang="T6">
                  <a:pos x="T0" y="T1"/>
                </a:cxn>
                <a:cxn ang="T7">
                  <a:pos x="T2" y="T3"/>
                </a:cxn>
                <a:cxn ang="T8">
                  <a:pos x="T4" y="T5"/>
                </a:cxn>
              </a:cxnLst>
              <a:rect l="0" t="0" r="r" b="b"/>
              <a:pathLst>
                <a:path w="21604" h="21600" fill="none" extrusionOk="0">
                  <a:moveTo>
                    <a:pt x="0" y="0"/>
                  </a:moveTo>
                  <a:cubicBezTo>
                    <a:pt x="5" y="0"/>
                    <a:pt x="11" y="-1"/>
                    <a:pt x="17" y="0"/>
                  </a:cubicBezTo>
                  <a:cubicBezTo>
                    <a:pt x="11652" y="0"/>
                    <a:pt x="21197" y="9216"/>
                    <a:pt x="21603" y="20845"/>
                  </a:cubicBezTo>
                </a:path>
                <a:path w="21604" h="21600" stroke="0" extrusionOk="0">
                  <a:moveTo>
                    <a:pt x="0" y="0"/>
                  </a:moveTo>
                  <a:cubicBezTo>
                    <a:pt x="5" y="0"/>
                    <a:pt x="11" y="-1"/>
                    <a:pt x="17" y="0"/>
                  </a:cubicBezTo>
                  <a:cubicBezTo>
                    <a:pt x="11652" y="0"/>
                    <a:pt x="21197" y="9216"/>
                    <a:pt x="21603" y="20845"/>
                  </a:cubicBezTo>
                  <a:lnTo>
                    <a:pt x="17"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solidFill>
                  <a:srgbClr val="3333CC"/>
                </a:solidFill>
                <a:latin typeface="Cambria" panose="02040503050406030204" pitchFamily="18" charset="0"/>
                <a:ea typeface="Cambria" panose="02040503050406030204" pitchFamily="18" charset="0"/>
              </a:endParaRPr>
            </a:p>
          </p:txBody>
        </p:sp>
      </p:grpSp>
      <p:grpSp>
        <p:nvGrpSpPr>
          <p:cNvPr id="4" name="Group 30">
            <a:extLst>
              <a:ext uri="{FF2B5EF4-FFF2-40B4-BE49-F238E27FC236}">
                <a16:creationId xmlns:a16="http://schemas.microsoft.com/office/drawing/2014/main" id="{EC2DBF4A-D4B6-5204-5488-EF12CFCD168A}"/>
              </a:ext>
            </a:extLst>
          </p:cNvPr>
          <p:cNvGrpSpPr>
            <a:grpSpLocks/>
          </p:cNvGrpSpPr>
          <p:nvPr/>
        </p:nvGrpSpPr>
        <p:grpSpPr bwMode="auto">
          <a:xfrm>
            <a:off x="4743450" y="4956845"/>
            <a:ext cx="3862388" cy="641350"/>
            <a:chOff x="2988" y="3386"/>
            <a:chExt cx="2433" cy="404"/>
          </a:xfrm>
        </p:grpSpPr>
        <p:sp>
          <p:nvSpPr>
            <p:cNvPr id="10264" name="Rectangle 31">
              <a:extLst>
                <a:ext uri="{FF2B5EF4-FFF2-40B4-BE49-F238E27FC236}">
                  <a16:creationId xmlns:a16="http://schemas.microsoft.com/office/drawing/2014/main" id="{2E00EC30-3FED-77A5-9A6C-2864BEE21308}"/>
                </a:ext>
              </a:extLst>
            </p:cNvPr>
            <p:cNvSpPr>
              <a:spLocks noChangeArrowheads="1"/>
            </p:cNvSpPr>
            <p:nvPr/>
          </p:nvSpPr>
          <p:spPr bwMode="blackWhite">
            <a:xfrm>
              <a:off x="2988" y="3522"/>
              <a:ext cx="2433" cy="238"/>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10265" name="Rectangle 32">
              <a:extLst>
                <a:ext uri="{FF2B5EF4-FFF2-40B4-BE49-F238E27FC236}">
                  <a16:creationId xmlns:a16="http://schemas.microsoft.com/office/drawing/2014/main" id="{21466DDC-A4EF-782E-7FBA-67E964A7AA65}"/>
                </a:ext>
              </a:extLst>
            </p:cNvPr>
            <p:cNvSpPr>
              <a:spLocks noChangeArrowheads="1"/>
            </p:cNvSpPr>
            <p:nvPr/>
          </p:nvSpPr>
          <p:spPr bwMode="blackWhite">
            <a:xfrm>
              <a:off x="2996" y="3386"/>
              <a:ext cx="2417"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800" b="1">
                  <a:solidFill>
                    <a:srgbClr val="000000"/>
                  </a:solidFill>
                  <a:latin typeface="Courier New" panose="02070309020205020404" pitchFamily="49" charset="0"/>
                </a:rPr>
                <a:t>	DETROIT</a:t>
              </a:r>
            </a:p>
          </p:txBody>
        </p:sp>
        <p:sp>
          <p:nvSpPr>
            <p:cNvPr id="10266" name="Line 33">
              <a:extLst>
                <a:ext uri="{FF2B5EF4-FFF2-40B4-BE49-F238E27FC236}">
                  <a16:creationId xmlns:a16="http://schemas.microsoft.com/office/drawing/2014/main" id="{C4EB5A59-47D3-AD5D-6BE5-153A56F3915B}"/>
                </a:ext>
              </a:extLst>
            </p:cNvPr>
            <p:cNvSpPr>
              <a:spLocks noChangeShapeType="1"/>
            </p:cNvSpPr>
            <p:nvPr/>
          </p:nvSpPr>
          <p:spPr bwMode="auto">
            <a:xfrm>
              <a:off x="3617" y="3526"/>
              <a:ext cx="0" cy="24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7" name="Line 34">
              <a:extLst>
                <a:ext uri="{FF2B5EF4-FFF2-40B4-BE49-F238E27FC236}">
                  <a16:creationId xmlns:a16="http://schemas.microsoft.com/office/drawing/2014/main" id="{57A3B666-B547-CDD9-9EFD-441555803101}"/>
                </a:ext>
              </a:extLst>
            </p:cNvPr>
            <p:cNvSpPr>
              <a:spLocks noChangeShapeType="1"/>
            </p:cNvSpPr>
            <p:nvPr/>
          </p:nvSpPr>
          <p:spPr bwMode="auto">
            <a:xfrm>
              <a:off x="4561" y="3520"/>
              <a:ext cx="0" cy="27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2" name="Slide Number Placeholder 23">
            <a:extLst>
              <a:ext uri="{FF2B5EF4-FFF2-40B4-BE49-F238E27FC236}">
                <a16:creationId xmlns:a16="http://schemas.microsoft.com/office/drawing/2014/main" id="{B39A0D49-8F6A-C92D-181E-4133DF80529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762C0928-B03A-2664-4AB7-55279380DE1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420360341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 presetClass="entr" presetSubtype="9"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C431-0CCA-3782-3B10-F44BFFD0A6C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BAE9D529-5F0F-9332-06D0-D07CE2120C92}"/>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INSERT Statement</a:t>
            </a:r>
          </a:p>
        </p:txBody>
      </p:sp>
      <p:sp>
        <p:nvSpPr>
          <p:cNvPr id="12291" name="Rectangle 3">
            <a:extLst>
              <a:ext uri="{FF2B5EF4-FFF2-40B4-BE49-F238E27FC236}">
                <a16:creationId xmlns:a16="http://schemas.microsoft.com/office/drawing/2014/main" id="{15B5C0A9-7D9B-6235-B992-14FBA989DDA2}"/>
              </a:ext>
            </a:extLst>
          </p:cNvPr>
          <p:cNvSpPr>
            <a:spLocks noGrp="1" noChangeArrowheads="1"/>
          </p:cNvSpPr>
          <p:nvPr>
            <p:ph type="body" idx="1"/>
          </p:nvPr>
        </p:nvSpPr>
        <p:spPr>
          <a:xfrm>
            <a:off x="467544" y="825350"/>
            <a:ext cx="8424936" cy="4678846"/>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Add new rows to a table by using the INSERT statement.</a:t>
            </a:r>
            <a:br>
              <a:rPr lang="en-US" altLang="en-US" sz="2400" dirty="0">
                <a:latin typeface="Cambria" panose="02040503050406030204" pitchFamily="18" charset="0"/>
                <a:ea typeface="Cambria" panose="02040503050406030204" pitchFamily="18" charset="0"/>
              </a:rPr>
            </a:br>
            <a:br>
              <a:rPr lang="en-US" altLang="en-US" dirty="0">
                <a:latin typeface="Cambria" panose="02040503050406030204" pitchFamily="18" charset="0"/>
                <a:ea typeface="Cambria" panose="02040503050406030204" pitchFamily="18" charset="0"/>
              </a:rPr>
            </a:br>
            <a:endParaRPr lang="en-US" altLang="en-US"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Insert a new row containing values for each column.</a:t>
            </a:r>
          </a:p>
          <a:p>
            <a:r>
              <a:rPr lang="en-US" altLang="en-US" sz="2400" dirty="0">
                <a:latin typeface="Cambria" panose="02040503050406030204" pitchFamily="18" charset="0"/>
                <a:ea typeface="Cambria" panose="02040503050406030204" pitchFamily="18" charset="0"/>
              </a:rPr>
              <a:t>List values in the default order of the columns in the table. </a:t>
            </a:r>
          </a:p>
          <a:p>
            <a:r>
              <a:rPr lang="en-US" altLang="en-US" sz="2400" dirty="0">
                <a:latin typeface="Cambria" panose="02040503050406030204" pitchFamily="18" charset="0"/>
                <a:ea typeface="Cambria" panose="02040503050406030204" pitchFamily="18" charset="0"/>
              </a:rPr>
              <a:t>Optionally list the columns in the INSERT clause.</a:t>
            </a:r>
            <a:br>
              <a:rPr lang="en-US" altLang="en-US" sz="2400" dirty="0">
                <a:latin typeface="Cambria" panose="02040503050406030204" pitchFamily="18" charset="0"/>
                <a:ea typeface="Cambria" panose="02040503050406030204" pitchFamily="18" charset="0"/>
              </a:rPr>
            </a:b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Enclose character and date values within single quotation marks.</a:t>
            </a:r>
          </a:p>
        </p:txBody>
      </p:sp>
      <p:sp>
        <p:nvSpPr>
          <p:cNvPr id="12292" name="Rectangle 4">
            <a:extLst>
              <a:ext uri="{FF2B5EF4-FFF2-40B4-BE49-F238E27FC236}">
                <a16:creationId xmlns:a16="http://schemas.microsoft.com/office/drawing/2014/main" id="{92BF6B45-A410-0044-389A-5EB3D25CD4A1}"/>
              </a:ext>
            </a:extLst>
          </p:cNvPr>
          <p:cNvSpPr>
            <a:spLocks noChangeArrowheads="1"/>
          </p:cNvSpPr>
          <p:nvPr/>
        </p:nvSpPr>
        <p:spPr bwMode="blackWhite">
          <a:xfrm>
            <a:off x="712242" y="1361925"/>
            <a:ext cx="7500937"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INSERT INTO	</a:t>
            </a:r>
            <a:r>
              <a:rPr lang="en-US" altLang="en-US" sz="1800" b="1" i="1" dirty="0" err="1">
                <a:solidFill>
                  <a:srgbClr val="000000"/>
                </a:solidFill>
                <a:latin typeface="Courier New" panose="02070309020205020404" pitchFamily="49" charset="0"/>
              </a:rPr>
              <a:t>tablename</a:t>
            </a:r>
            <a:r>
              <a:rPr lang="en-US" altLang="en-US" sz="1800" b="1" i="1" dirty="0">
                <a:solidFill>
                  <a:srgbClr val="000000"/>
                </a:solidFill>
                <a:latin typeface="Courier New" panose="02070309020205020404" pitchFamily="49" charset="0"/>
              </a:rPr>
              <a:t>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 column...</a:t>
            </a:r>
            <a:r>
              <a:rPr lang="en-US" altLang="en-US" sz="1800" b="1" dirty="0">
                <a:solidFill>
                  <a:srgbClr val="000000"/>
                </a:solidFill>
                <a:latin typeface="Courier New" panose="02070309020205020404" pitchFamily="49" charset="0"/>
              </a:rPr>
              <a:t>])]</a:t>
            </a:r>
            <a:endParaRPr lang="en-US" altLang="en-US" sz="1800" b="1" i="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VALUES		</a:t>
            </a:r>
            <a:r>
              <a:rPr lang="en-US" altLang="en-US" sz="1800" b="1" i="1" dirty="0">
                <a:solidFill>
                  <a:srgbClr val="000000"/>
                </a:solidFill>
                <a:latin typeface="Courier New" panose="02070309020205020404" pitchFamily="49" charset="0"/>
              </a:rPr>
              <a:t>(value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 value...</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a:t>
            </a:r>
          </a:p>
        </p:txBody>
      </p:sp>
      <p:sp>
        <p:nvSpPr>
          <p:cNvPr id="14338" name="Rectangle 2">
            <a:extLst>
              <a:ext uri="{FF2B5EF4-FFF2-40B4-BE49-F238E27FC236}">
                <a16:creationId xmlns:a16="http://schemas.microsoft.com/office/drawing/2014/main" id="{050848C9-6E58-BF0B-2AB7-A5241D36E95B}"/>
              </a:ext>
            </a:extLst>
          </p:cNvPr>
          <p:cNvSpPr>
            <a:spLocks noChangeArrowheads="1"/>
          </p:cNvSpPr>
          <p:nvPr/>
        </p:nvSpPr>
        <p:spPr bwMode="blackWhite">
          <a:xfrm>
            <a:off x="848221" y="3501008"/>
            <a:ext cx="7502525" cy="8794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46469" name="Rectangle 5">
            <a:extLst>
              <a:ext uri="{FF2B5EF4-FFF2-40B4-BE49-F238E27FC236}">
                <a16:creationId xmlns:a16="http://schemas.microsoft.com/office/drawing/2014/main" id="{9FBEF76F-51C2-482F-368C-05ADE83340CF}"/>
              </a:ext>
            </a:extLst>
          </p:cNvPr>
          <p:cNvSpPr>
            <a:spLocks noChangeArrowheads="1"/>
          </p:cNvSpPr>
          <p:nvPr/>
        </p:nvSpPr>
        <p:spPr bwMode="blackWhite">
          <a:xfrm>
            <a:off x="827584" y="3501008"/>
            <a:ext cx="7313612" cy="90487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INSERT INTO	dept (</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dname</a:t>
            </a:r>
            <a:r>
              <a:rPr lang="en-US" sz="1800" b="1" dirty="0">
                <a:solidFill>
                  <a:srgbClr val="000000"/>
                </a:solidFill>
                <a:latin typeface="Courier New" pitchFamily="49" charset="0"/>
              </a:rPr>
              <a:t>, loc)</a:t>
            </a:r>
          </a:p>
          <a:p>
            <a:pPr>
              <a:tabLst>
                <a:tab pos="1200150" algn="l"/>
              </a:tabLst>
              <a:defRPr/>
            </a:pPr>
            <a:r>
              <a:rPr lang="en-US" sz="1800" b="1" dirty="0">
                <a:solidFill>
                  <a:srgbClr val="000000"/>
                </a:solidFill>
                <a:latin typeface="Courier New" pitchFamily="49" charset="0"/>
              </a:rPr>
              <a:t>  2  VALUES		(50, 'DEVELOPMENT', 'DETROIT');</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1 row created.</a:t>
            </a:r>
          </a:p>
        </p:txBody>
      </p:sp>
      <p:sp>
        <p:nvSpPr>
          <p:cNvPr id="3" name="Slide Number Placeholder 23">
            <a:extLst>
              <a:ext uri="{FF2B5EF4-FFF2-40B4-BE49-F238E27FC236}">
                <a16:creationId xmlns:a16="http://schemas.microsoft.com/office/drawing/2014/main" id="{28133BF8-B656-5E31-5DFB-3E1AF455C39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B10ECAD6-FCB5-B3B9-DB6A-9095B3AD945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47704615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1BC5-8F57-2BEE-DEFE-8C6AD2C0E84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C4A93265-B9E6-38DA-87DB-1AA0E16ED9F7}"/>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INSERT Statement</a:t>
            </a:r>
          </a:p>
        </p:txBody>
      </p:sp>
      <p:sp>
        <p:nvSpPr>
          <p:cNvPr id="12291" name="Rectangle 3">
            <a:extLst>
              <a:ext uri="{FF2B5EF4-FFF2-40B4-BE49-F238E27FC236}">
                <a16:creationId xmlns:a16="http://schemas.microsoft.com/office/drawing/2014/main" id="{F4E3F839-5E72-B420-5A02-1BCA5110E886}"/>
              </a:ext>
            </a:extLst>
          </p:cNvPr>
          <p:cNvSpPr>
            <a:spLocks noGrp="1" noChangeArrowheads="1"/>
          </p:cNvSpPr>
          <p:nvPr>
            <p:ph type="body" idx="1"/>
          </p:nvPr>
        </p:nvSpPr>
        <p:spPr>
          <a:xfrm>
            <a:off x="467544" y="825350"/>
            <a:ext cx="8424936" cy="4532652"/>
          </a:xfrm>
          <a:noFill/>
        </p:spPr>
        <p:txBody>
          <a:bodyPr wrap="square" lIns="92075" tIns="46038" rIns="92075" bIns="46038">
            <a:spAutoFit/>
          </a:bodyPr>
          <a:lstStyle/>
          <a:p>
            <a:pPr marL="0" indent="0">
              <a:spcBef>
                <a:spcPts val="300"/>
              </a:spcBef>
              <a:buNone/>
            </a:pPr>
            <a:r>
              <a:rPr lang="en-US" altLang="en-US" sz="2400" b="1" dirty="0">
                <a:solidFill>
                  <a:srgbClr val="3333CC"/>
                </a:solidFill>
                <a:latin typeface="Cambria" panose="02040503050406030204" pitchFamily="18" charset="0"/>
                <a:ea typeface="Cambria" panose="02040503050406030204" pitchFamily="18" charset="0"/>
              </a:rPr>
              <a:t>NULL Values</a:t>
            </a:r>
          </a:p>
          <a:p>
            <a:pPr>
              <a:spcBef>
                <a:spcPts val="300"/>
              </a:spcBef>
            </a:pPr>
            <a:r>
              <a:rPr lang="en-US" altLang="en-US" sz="2400" dirty="0">
                <a:solidFill>
                  <a:srgbClr val="FF0000"/>
                </a:solidFill>
                <a:latin typeface="Cambria" panose="02040503050406030204" pitchFamily="18" charset="0"/>
                <a:ea typeface="Cambria" panose="02040503050406030204" pitchFamily="18" charset="0"/>
              </a:rPr>
              <a:t>Implicit Method:</a:t>
            </a:r>
            <a:r>
              <a:rPr lang="en-US" altLang="en-US" sz="2400" dirty="0">
                <a:latin typeface="Cambria" panose="02040503050406030204" pitchFamily="18" charset="0"/>
                <a:ea typeface="Cambria" panose="02040503050406030204" pitchFamily="18" charset="0"/>
              </a:rPr>
              <a:t> Omit the column from the column list.</a:t>
            </a: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r>
              <a:rPr lang="en-US" altLang="en-US" sz="2400" dirty="0">
                <a:solidFill>
                  <a:srgbClr val="FF0000"/>
                </a:solidFill>
                <a:latin typeface="Cambria" panose="02040503050406030204" pitchFamily="18" charset="0"/>
                <a:ea typeface="Cambria" panose="02040503050406030204" pitchFamily="18" charset="0"/>
              </a:rPr>
              <a:t>Explicit Method:</a:t>
            </a:r>
            <a:r>
              <a:rPr lang="en-US" altLang="en-US" sz="2400" dirty="0">
                <a:latin typeface="Cambria" panose="02040503050406030204" pitchFamily="18" charset="0"/>
                <a:ea typeface="Cambria" panose="02040503050406030204" pitchFamily="18" charset="0"/>
              </a:rPr>
              <a:t> Specify the NULL keyword.</a:t>
            </a: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marL="0" indent="0">
              <a:spcBef>
                <a:spcPts val="300"/>
              </a:spcBef>
              <a:buNone/>
            </a:pPr>
            <a:br>
              <a:rPr lang="en-US" altLang="en-US" dirty="0">
                <a:latin typeface="Cambria" panose="02040503050406030204" pitchFamily="18" charset="0"/>
                <a:ea typeface="Cambria" panose="02040503050406030204" pitchFamily="18" charset="0"/>
              </a:rPr>
            </a:br>
            <a:endParaRPr lang="en-US" altLang="en-US" sz="2400" dirty="0">
              <a:latin typeface="Cambria" panose="02040503050406030204" pitchFamily="18" charset="0"/>
              <a:ea typeface="Cambria" panose="02040503050406030204" pitchFamily="18" charset="0"/>
            </a:endParaRPr>
          </a:p>
        </p:txBody>
      </p:sp>
      <p:sp>
        <p:nvSpPr>
          <p:cNvPr id="2" name="Rectangle 2">
            <a:extLst>
              <a:ext uri="{FF2B5EF4-FFF2-40B4-BE49-F238E27FC236}">
                <a16:creationId xmlns:a16="http://schemas.microsoft.com/office/drawing/2014/main" id="{0866500C-50D7-C4A3-B406-0C8BAC92A45E}"/>
              </a:ext>
            </a:extLst>
          </p:cNvPr>
          <p:cNvSpPr>
            <a:spLocks noChangeArrowheads="1"/>
          </p:cNvSpPr>
          <p:nvPr/>
        </p:nvSpPr>
        <p:spPr bwMode="blackWhite">
          <a:xfrm>
            <a:off x="687760" y="1700808"/>
            <a:ext cx="75057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3">
            <a:extLst>
              <a:ext uri="{FF2B5EF4-FFF2-40B4-BE49-F238E27FC236}">
                <a16:creationId xmlns:a16="http://schemas.microsoft.com/office/drawing/2014/main" id="{FB2A04C9-BE64-79C6-ACE3-82351F0FB53F}"/>
              </a:ext>
            </a:extLst>
          </p:cNvPr>
          <p:cNvSpPr>
            <a:spLocks noChangeArrowheads="1"/>
          </p:cNvSpPr>
          <p:nvPr/>
        </p:nvSpPr>
        <p:spPr bwMode="blackWhite">
          <a:xfrm>
            <a:off x="676647" y="3442295"/>
            <a:ext cx="750252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 name="Rectangle 6">
            <a:extLst>
              <a:ext uri="{FF2B5EF4-FFF2-40B4-BE49-F238E27FC236}">
                <a16:creationId xmlns:a16="http://schemas.microsoft.com/office/drawing/2014/main" id="{29D52D78-1B53-8E21-DB89-DF14872D9075}"/>
              </a:ext>
            </a:extLst>
          </p:cNvPr>
          <p:cNvSpPr>
            <a:spLocks noChangeArrowheads="1"/>
          </p:cNvSpPr>
          <p:nvPr/>
        </p:nvSpPr>
        <p:spPr bwMode="blackWhite">
          <a:xfrm>
            <a:off x="667122" y="1737320"/>
            <a:ext cx="7302500" cy="9413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dept (deptno, dname )</a:t>
            </a:r>
          </a:p>
          <a:p>
            <a:pPr>
              <a:tabLst>
                <a:tab pos="1200150" algn="l"/>
              </a:tabLst>
              <a:defRPr/>
            </a:pPr>
            <a:r>
              <a:rPr lang="en-US" sz="1800" b="1">
                <a:solidFill>
                  <a:srgbClr val="000000"/>
                </a:solidFill>
                <a:latin typeface="Courier New" pitchFamily="49" charset="0"/>
              </a:rPr>
              <a:t>  2  VALUES		(60, 'MIS');</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
        <p:nvSpPr>
          <p:cNvPr id="6" name="Rectangle 8">
            <a:extLst>
              <a:ext uri="{FF2B5EF4-FFF2-40B4-BE49-F238E27FC236}">
                <a16:creationId xmlns:a16="http://schemas.microsoft.com/office/drawing/2014/main" id="{4EC1D479-083F-399E-88C8-DB986BCC2550}"/>
              </a:ext>
            </a:extLst>
          </p:cNvPr>
          <p:cNvSpPr>
            <a:spLocks noChangeArrowheads="1"/>
          </p:cNvSpPr>
          <p:nvPr/>
        </p:nvSpPr>
        <p:spPr bwMode="ltGray">
          <a:xfrm>
            <a:off x="6109072" y="1791295"/>
            <a:ext cx="141288" cy="26511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9">
            <a:extLst>
              <a:ext uri="{FF2B5EF4-FFF2-40B4-BE49-F238E27FC236}">
                <a16:creationId xmlns:a16="http://schemas.microsoft.com/office/drawing/2014/main" id="{B57F35DC-6644-74AA-FE8A-AE2B1C2D22E5}"/>
              </a:ext>
            </a:extLst>
          </p:cNvPr>
          <p:cNvSpPr>
            <a:spLocks noChangeArrowheads="1"/>
          </p:cNvSpPr>
          <p:nvPr/>
        </p:nvSpPr>
        <p:spPr bwMode="ltGray">
          <a:xfrm>
            <a:off x="5648697" y="3751858"/>
            <a:ext cx="600075" cy="3460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10">
            <a:extLst>
              <a:ext uri="{FF2B5EF4-FFF2-40B4-BE49-F238E27FC236}">
                <a16:creationId xmlns:a16="http://schemas.microsoft.com/office/drawing/2014/main" id="{991F0B52-4098-9410-5394-5A93941A19C8}"/>
              </a:ext>
            </a:extLst>
          </p:cNvPr>
          <p:cNvSpPr>
            <a:spLocks noChangeArrowheads="1"/>
          </p:cNvSpPr>
          <p:nvPr/>
        </p:nvSpPr>
        <p:spPr bwMode="blackWhite">
          <a:xfrm>
            <a:off x="675060" y="3421658"/>
            <a:ext cx="7299325" cy="941387"/>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dept</a:t>
            </a:r>
          </a:p>
          <a:p>
            <a:pPr>
              <a:tabLst>
                <a:tab pos="1200150" algn="l"/>
              </a:tabLst>
              <a:defRPr/>
            </a:pPr>
            <a:r>
              <a:rPr lang="en-US" sz="1800" b="1">
                <a:solidFill>
                  <a:srgbClr val="000000"/>
                </a:solidFill>
                <a:latin typeface="Courier New" pitchFamily="49" charset="0"/>
              </a:rPr>
              <a:t>  2  VALUES		(70, 'FINANCE', NULL);</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
        <p:nvSpPr>
          <p:cNvPr id="9" name="Slide Number Placeholder 23">
            <a:extLst>
              <a:ext uri="{FF2B5EF4-FFF2-40B4-BE49-F238E27FC236}">
                <a16:creationId xmlns:a16="http://schemas.microsoft.com/office/drawing/2014/main" id="{71E903DE-86DF-D14C-5EEA-92E8FA24EB5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10" name="Footer Placeholder 2">
            <a:extLst>
              <a:ext uri="{FF2B5EF4-FFF2-40B4-BE49-F238E27FC236}">
                <a16:creationId xmlns:a16="http://schemas.microsoft.com/office/drawing/2014/main" id="{9B4F0717-8EB3-E8D9-2003-58CE46B0C00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6522322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986FB-865F-6F2E-5325-E847AC84B616}"/>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6E253A46-1628-873D-15ED-CEF95E2AC6A0}"/>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INSERT Statement</a:t>
            </a:r>
          </a:p>
        </p:txBody>
      </p:sp>
      <p:sp>
        <p:nvSpPr>
          <p:cNvPr id="12291" name="Rectangle 3">
            <a:extLst>
              <a:ext uri="{FF2B5EF4-FFF2-40B4-BE49-F238E27FC236}">
                <a16:creationId xmlns:a16="http://schemas.microsoft.com/office/drawing/2014/main" id="{0AC3F952-54B8-C3E0-2A2D-A33434F6ABA3}"/>
              </a:ext>
            </a:extLst>
          </p:cNvPr>
          <p:cNvSpPr>
            <a:spLocks noGrp="1" noChangeArrowheads="1"/>
          </p:cNvSpPr>
          <p:nvPr>
            <p:ph type="body" idx="1"/>
          </p:nvPr>
        </p:nvSpPr>
        <p:spPr>
          <a:xfrm>
            <a:off x="467544" y="825350"/>
            <a:ext cx="8424936" cy="5140511"/>
          </a:xfrm>
          <a:noFill/>
        </p:spPr>
        <p:txBody>
          <a:bodyPr wrap="square" lIns="92075" tIns="46038" rIns="92075" bIns="46038">
            <a:spAutoFit/>
          </a:bodyPr>
          <a:lstStyle/>
          <a:p>
            <a:pPr marL="0" indent="0">
              <a:spcBef>
                <a:spcPts val="300"/>
              </a:spcBef>
              <a:buNone/>
            </a:pPr>
            <a:r>
              <a:rPr lang="en-US" altLang="en-US" sz="2400" b="1" dirty="0">
                <a:solidFill>
                  <a:srgbClr val="3333CC"/>
                </a:solidFill>
                <a:latin typeface="Cambria" panose="02040503050406030204" pitchFamily="18" charset="0"/>
                <a:ea typeface="Cambria" panose="02040503050406030204" pitchFamily="18" charset="0"/>
              </a:rPr>
              <a:t>Special Values</a:t>
            </a: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1000" b="1" dirty="0">
              <a:solidFill>
                <a:srgbClr val="3333CC"/>
              </a:solidFill>
              <a:latin typeface="Cambria" panose="02040503050406030204" pitchFamily="18" charset="0"/>
              <a:ea typeface="Cambria" panose="02040503050406030204" pitchFamily="18" charset="0"/>
            </a:endParaRPr>
          </a:p>
          <a:p>
            <a:pPr marL="0" indent="0">
              <a:spcBef>
                <a:spcPts val="300"/>
              </a:spcBef>
              <a:buNone/>
            </a:pPr>
            <a:r>
              <a:rPr lang="en-US" altLang="en-US" sz="2400" b="1" dirty="0">
                <a:solidFill>
                  <a:srgbClr val="3333CC"/>
                </a:solidFill>
                <a:latin typeface="Cambria" panose="02040503050406030204" pitchFamily="18" charset="0"/>
                <a:ea typeface="Cambria" panose="02040503050406030204" pitchFamily="18" charset="0"/>
              </a:rPr>
              <a:t>Specific DATE Values</a:t>
            </a: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marL="0" indent="0">
              <a:spcBef>
                <a:spcPts val="300"/>
              </a:spcBef>
              <a:buNone/>
            </a:pPr>
            <a:endParaRPr lang="en-US" altLang="en-US" sz="2400" b="1" dirty="0">
              <a:solidFill>
                <a:srgbClr val="3333CC"/>
              </a:solidFill>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a:spcBef>
                <a:spcPts val="300"/>
              </a:spcBef>
            </a:pPr>
            <a:endParaRPr lang="en-US" altLang="en-US" sz="2400" dirty="0">
              <a:latin typeface="Cambria" panose="02040503050406030204" pitchFamily="18" charset="0"/>
              <a:ea typeface="Cambria" panose="02040503050406030204" pitchFamily="18" charset="0"/>
            </a:endParaRPr>
          </a:p>
          <a:p>
            <a:pPr marL="0" indent="0">
              <a:spcBef>
                <a:spcPts val="300"/>
              </a:spcBef>
              <a:buNone/>
            </a:pPr>
            <a:endParaRPr lang="en-US" altLang="en-US" sz="2400" dirty="0">
              <a:latin typeface="Cambria" panose="02040503050406030204" pitchFamily="18" charset="0"/>
              <a:ea typeface="Cambria" panose="02040503050406030204" pitchFamily="18" charset="0"/>
            </a:endParaRPr>
          </a:p>
        </p:txBody>
      </p:sp>
      <p:sp>
        <p:nvSpPr>
          <p:cNvPr id="9" name="Slide Number Placeholder 23">
            <a:extLst>
              <a:ext uri="{FF2B5EF4-FFF2-40B4-BE49-F238E27FC236}">
                <a16:creationId xmlns:a16="http://schemas.microsoft.com/office/drawing/2014/main" id="{BF8FC6B3-B777-E3F0-633B-20E346ABC84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Rectangle 2">
            <a:extLst>
              <a:ext uri="{FF2B5EF4-FFF2-40B4-BE49-F238E27FC236}">
                <a16:creationId xmlns:a16="http://schemas.microsoft.com/office/drawing/2014/main" id="{2B391AC3-9E50-8AB0-8D96-BCED12391973}"/>
              </a:ext>
            </a:extLst>
          </p:cNvPr>
          <p:cNvSpPr>
            <a:spLocks noChangeArrowheads="1"/>
          </p:cNvSpPr>
          <p:nvPr/>
        </p:nvSpPr>
        <p:spPr bwMode="blackWhite">
          <a:xfrm>
            <a:off x="539552" y="1268239"/>
            <a:ext cx="7999635" cy="16015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1" name="Rectangle 7">
            <a:extLst>
              <a:ext uri="{FF2B5EF4-FFF2-40B4-BE49-F238E27FC236}">
                <a16:creationId xmlns:a16="http://schemas.microsoft.com/office/drawing/2014/main" id="{5812604A-4419-0F40-FC60-B65182535CDE}"/>
              </a:ext>
            </a:extLst>
          </p:cNvPr>
          <p:cNvSpPr>
            <a:spLocks noChangeArrowheads="1"/>
          </p:cNvSpPr>
          <p:nvPr/>
        </p:nvSpPr>
        <p:spPr bwMode="blackWhite">
          <a:xfrm>
            <a:off x="604813" y="1248792"/>
            <a:ext cx="7313613" cy="16015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INSERT INTO	</a:t>
            </a:r>
            <a:r>
              <a:rPr lang="en-US" sz="1800" b="1" dirty="0" err="1">
                <a:solidFill>
                  <a:srgbClr val="000000"/>
                </a:solidFill>
                <a:latin typeface="Courier New" pitchFamily="49" charset="0"/>
              </a:rPr>
              <a:t>emp</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empno</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ename</a:t>
            </a:r>
            <a:r>
              <a:rPr lang="en-US" sz="1800" b="1" dirty="0">
                <a:solidFill>
                  <a:srgbClr val="000000"/>
                </a:solidFill>
                <a:latin typeface="Courier New" pitchFamily="49" charset="0"/>
              </a:rPr>
              <a:t>, job,</a:t>
            </a:r>
          </a:p>
          <a:p>
            <a:pPr>
              <a:tabLst>
                <a:tab pos="1200150" algn="l"/>
              </a:tabLst>
              <a:defRPr/>
            </a:pPr>
            <a:r>
              <a:rPr lang="en-US" sz="1800" b="1" dirty="0">
                <a:solidFill>
                  <a:srgbClr val="000000"/>
                </a:solidFill>
                <a:latin typeface="Courier New" pitchFamily="49" charset="0"/>
              </a:rPr>
              <a:t>  			</a:t>
            </a:r>
            <a:r>
              <a:rPr lang="en-US" sz="1800" b="1" dirty="0" err="1">
                <a:solidFill>
                  <a:srgbClr val="000000"/>
                </a:solidFill>
                <a:latin typeface="Courier New" pitchFamily="49" charset="0"/>
              </a:rPr>
              <a:t>mgr</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hiredate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comm</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a:t>
            </a:r>
          </a:p>
          <a:p>
            <a:pPr>
              <a:tabLst>
                <a:tab pos="1200150" algn="l"/>
              </a:tabLst>
              <a:defRPr/>
            </a:pPr>
            <a:r>
              <a:rPr lang="en-US" sz="1800" b="1" dirty="0">
                <a:solidFill>
                  <a:srgbClr val="000000"/>
                </a:solidFill>
                <a:latin typeface="Courier New" pitchFamily="49" charset="0"/>
              </a:rPr>
              <a:t>      VALUES		(7196, 'GREEN', 'SALESMAN',</a:t>
            </a:r>
          </a:p>
          <a:p>
            <a:pPr>
              <a:tabLst>
                <a:tab pos="1200150" algn="l"/>
              </a:tabLst>
              <a:defRPr/>
            </a:pPr>
            <a:r>
              <a:rPr lang="en-US" sz="1800" b="1" dirty="0">
                <a:solidFill>
                  <a:srgbClr val="000000"/>
                </a:solidFill>
                <a:latin typeface="Courier New" pitchFamily="49" charset="0"/>
              </a:rPr>
              <a:t>  			7782, </a:t>
            </a:r>
            <a:r>
              <a:rPr lang="en-US" sz="1800" b="1" dirty="0">
                <a:solidFill>
                  <a:srgbClr val="FF0000"/>
                </a:solidFill>
                <a:latin typeface="Courier New" pitchFamily="49" charset="0"/>
              </a:rPr>
              <a:t>SYSDATE, DEFAULT, NULL,</a:t>
            </a:r>
            <a:r>
              <a:rPr lang="en-US" sz="1800" b="1" dirty="0">
                <a:solidFill>
                  <a:srgbClr val="000000"/>
                </a:solidFill>
                <a:latin typeface="Courier New" pitchFamily="49" charset="0"/>
              </a:rPr>
              <a:t>10);</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1 row created.</a:t>
            </a:r>
          </a:p>
        </p:txBody>
      </p:sp>
      <p:sp>
        <p:nvSpPr>
          <p:cNvPr id="12" name="Rectangle 2">
            <a:extLst>
              <a:ext uri="{FF2B5EF4-FFF2-40B4-BE49-F238E27FC236}">
                <a16:creationId xmlns:a16="http://schemas.microsoft.com/office/drawing/2014/main" id="{A8ED7D8C-D79F-8D57-532C-34B744D4EB3F}"/>
              </a:ext>
            </a:extLst>
          </p:cNvPr>
          <p:cNvSpPr>
            <a:spLocks noChangeArrowheads="1"/>
          </p:cNvSpPr>
          <p:nvPr/>
        </p:nvSpPr>
        <p:spPr bwMode="blackWhite">
          <a:xfrm>
            <a:off x="560189" y="3593653"/>
            <a:ext cx="8044259"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3" name="Rectangle 6">
            <a:extLst>
              <a:ext uri="{FF2B5EF4-FFF2-40B4-BE49-F238E27FC236}">
                <a16:creationId xmlns:a16="http://schemas.microsoft.com/office/drawing/2014/main" id="{1BE1AC52-A475-444E-4D0B-EC0F98EB0365}"/>
              </a:ext>
            </a:extLst>
          </p:cNvPr>
          <p:cNvSpPr>
            <a:spLocks noChangeArrowheads="1"/>
          </p:cNvSpPr>
          <p:nvPr/>
        </p:nvSpPr>
        <p:spPr bwMode="ltGray">
          <a:xfrm>
            <a:off x="2917627" y="4150866"/>
            <a:ext cx="4619625" cy="3254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 name="Rectangle 8">
            <a:extLst>
              <a:ext uri="{FF2B5EF4-FFF2-40B4-BE49-F238E27FC236}">
                <a16:creationId xmlns:a16="http://schemas.microsoft.com/office/drawing/2014/main" id="{88E67E57-44E6-FB1D-C645-A78E1D1F3585}"/>
              </a:ext>
            </a:extLst>
          </p:cNvPr>
          <p:cNvSpPr>
            <a:spLocks noChangeArrowheads="1"/>
          </p:cNvSpPr>
          <p:nvPr/>
        </p:nvSpPr>
        <p:spPr bwMode="blackWhite">
          <a:xfrm>
            <a:off x="539552" y="3573016"/>
            <a:ext cx="7542212" cy="1490662"/>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emp</a:t>
            </a:r>
          </a:p>
          <a:p>
            <a:pPr>
              <a:tabLst>
                <a:tab pos="1200150" algn="l"/>
              </a:tabLst>
              <a:defRPr/>
            </a:pPr>
            <a:r>
              <a:rPr lang="en-US" sz="1800" b="1">
                <a:solidFill>
                  <a:srgbClr val="000000"/>
                </a:solidFill>
                <a:latin typeface="Courier New" pitchFamily="49" charset="0"/>
              </a:rPr>
              <a:t>  2  VALUES      (2296,'AROMANO','SALESMAN',7782,</a:t>
            </a:r>
          </a:p>
          <a:p>
            <a:pPr>
              <a:tabLst>
                <a:tab pos="1200150" algn="l"/>
              </a:tabLst>
              <a:defRPr/>
            </a:pPr>
            <a:r>
              <a:rPr lang="en-US" sz="1800" b="1">
                <a:solidFill>
                  <a:srgbClr val="000000"/>
                </a:solidFill>
                <a:latin typeface="Courier New" pitchFamily="49" charset="0"/>
              </a:rPr>
              <a:t>  3		    TO_DATE('FEB 3, 97', 'MON DD, YY'),</a:t>
            </a:r>
          </a:p>
          <a:p>
            <a:pPr>
              <a:tabLst>
                <a:tab pos="1200150" algn="l"/>
              </a:tabLst>
              <a:defRPr/>
            </a:pPr>
            <a:r>
              <a:rPr lang="en-US" sz="1800" b="1">
                <a:solidFill>
                  <a:srgbClr val="000000"/>
                </a:solidFill>
                <a:latin typeface="Courier New" pitchFamily="49" charset="0"/>
              </a:rPr>
              <a:t>  4		    1300, NULL, 10);</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
        <p:nvSpPr>
          <p:cNvPr id="15" name="Footer Placeholder 2">
            <a:extLst>
              <a:ext uri="{FF2B5EF4-FFF2-40B4-BE49-F238E27FC236}">
                <a16:creationId xmlns:a16="http://schemas.microsoft.com/office/drawing/2014/main" id="{A8850CA2-E3C1-989A-F579-73D1E8D1F2D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6309404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B1D0-8F35-651C-956B-480386F5045D}"/>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20F3226-E0EE-DFE2-7464-037D72EB7C28}"/>
              </a:ext>
            </a:extLst>
          </p:cNvPr>
          <p:cNvSpPr>
            <a:spLocks noChangeArrowheads="1"/>
          </p:cNvSpPr>
          <p:nvPr/>
        </p:nvSpPr>
        <p:spPr bwMode="blackWhite">
          <a:xfrm>
            <a:off x="696268" y="1425476"/>
            <a:ext cx="7510462" cy="1530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26627" name="Rectangle 3">
            <a:extLst>
              <a:ext uri="{FF2B5EF4-FFF2-40B4-BE49-F238E27FC236}">
                <a16:creationId xmlns:a16="http://schemas.microsoft.com/office/drawing/2014/main" id="{D7ED202C-48B6-CEC8-A0AF-605C53CE105D}"/>
              </a:ext>
            </a:extLst>
          </p:cNvPr>
          <p:cNvSpPr>
            <a:spLocks noGrp="1" noChangeArrowheads="1"/>
          </p:cNvSpPr>
          <p:nvPr>
            <p:ph type="title"/>
          </p:nvPr>
        </p:nvSpPr>
        <p:spPr>
          <a:xfrm>
            <a:off x="473075" y="260648"/>
            <a:ext cx="7772400"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Copying Rows from Another Table</a:t>
            </a:r>
          </a:p>
        </p:txBody>
      </p:sp>
      <p:sp>
        <p:nvSpPr>
          <p:cNvPr id="26628" name="Rectangle 4">
            <a:extLst>
              <a:ext uri="{FF2B5EF4-FFF2-40B4-BE49-F238E27FC236}">
                <a16:creationId xmlns:a16="http://schemas.microsoft.com/office/drawing/2014/main" id="{38F41CC2-01C1-8FB3-B267-33C385C756F6}"/>
              </a:ext>
            </a:extLst>
          </p:cNvPr>
          <p:cNvSpPr>
            <a:spLocks noGrp="1" noChangeArrowheads="1"/>
          </p:cNvSpPr>
          <p:nvPr>
            <p:ph type="body" idx="1"/>
          </p:nvPr>
        </p:nvSpPr>
        <p:spPr>
          <a:xfrm>
            <a:off x="539552" y="764704"/>
            <a:ext cx="8352928" cy="3724739"/>
          </a:xfrm>
          <a:noFill/>
        </p:spPr>
        <p:txBody>
          <a:bodyPr wrap="square" lIns="92075" tIns="46038" rIns="92075" bIns="46038">
            <a:spAutoFit/>
          </a:bodyPr>
          <a:lstStyle/>
          <a:p>
            <a:pPr>
              <a:spcBef>
                <a:spcPts val="300"/>
              </a:spcBef>
            </a:pPr>
            <a:r>
              <a:rPr lang="en-US" altLang="en-US" sz="2400" dirty="0">
                <a:latin typeface="Cambria" panose="02040503050406030204" pitchFamily="18" charset="0"/>
                <a:ea typeface="Cambria" panose="02040503050406030204" pitchFamily="18" charset="0"/>
              </a:rPr>
              <a:t>Write your INSERT statement with a subquery.</a:t>
            </a:r>
            <a:br>
              <a:rPr lang="en-US" altLang="en-US" sz="2400" dirty="0">
                <a:latin typeface="Cambria" panose="02040503050406030204" pitchFamily="18" charset="0"/>
                <a:ea typeface="Cambria" panose="02040503050406030204" pitchFamily="18" charset="0"/>
              </a:rPr>
            </a:br>
            <a:br>
              <a:rPr lang="en-US" altLang="en-US" dirty="0"/>
            </a:br>
            <a:br>
              <a:rPr lang="en-US" altLang="en-US" dirty="0"/>
            </a:br>
            <a:br>
              <a:rPr lang="en-US" altLang="en-US" dirty="0"/>
            </a:br>
            <a:br>
              <a:rPr lang="en-US" altLang="en-US" dirty="0"/>
            </a:br>
            <a:endParaRPr lang="en-US" altLang="en-US" dirty="0"/>
          </a:p>
          <a:p>
            <a:pPr>
              <a:spcBef>
                <a:spcPts val="300"/>
              </a:spcBef>
            </a:pPr>
            <a:r>
              <a:rPr lang="en-US" altLang="en-US" sz="2400" dirty="0">
                <a:latin typeface="Cambria" panose="02040503050406030204" pitchFamily="18" charset="0"/>
                <a:ea typeface="Cambria" panose="02040503050406030204" pitchFamily="18" charset="0"/>
              </a:rPr>
              <a:t>Do not use the VALUES clause.</a:t>
            </a:r>
          </a:p>
          <a:p>
            <a:pPr>
              <a:spcBef>
                <a:spcPts val="300"/>
              </a:spcBef>
            </a:pPr>
            <a:r>
              <a:rPr lang="en-US" altLang="en-US" sz="2400" dirty="0">
                <a:latin typeface="Cambria" panose="02040503050406030204" pitchFamily="18" charset="0"/>
                <a:ea typeface="Cambria" panose="02040503050406030204" pitchFamily="18" charset="0"/>
              </a:rPr>
              <a:t>Match the number of columns in the INSERT clause to those in the subquery.</a:t>
            </a:r>
          </a:p>
        </p:txBody>
      </p:sp>
      <p:sp>
        <p:nvSpPr>
          <p:cNvPr id="26629" name="Rectangle 5">
            <a:extLst>
              <a:ext uri="{FF2B5EF4-FFF2-40B4-BE49-F238E27FC236}">
                <a16:creationId xmlns:a16="http://schemas.microsoft.com/office/drawing/2014/main" id="{C283EF9E-9D84-81DA-4CD8-2E622D683FAC}"/>
              </a:ext>
            </a:extLst>
          </p:cNvPr>
          <p:cNvSpPr>
            <a:spLocks noChangeArrowheads="1"/>
          </p:cNvSpPr>
          <p:nvPr/>
        </p:nvSpPr>
        <p:spPr bwMode="auto">
          <a:xfrm>
            <a:off x="3475980" y="1806476"/>
            <a:ext cx="4686300" cy="87630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8758" name="Rectangle 6">
            <a:extLst>
              <a:ext uri="{FF2B5EF4-FFF2-40B4-BE49-F238E27FC236}">
                <a16:creationId xmlns:a16="http://schemas.microsoft.com/office/drawing/2014/main" id="{72463464-F2A4-46A7-E17A-0544D6915A17}"/>
              </a:ext>
            </a:extLst>
          </p:cNvPr>
          <p:cNvSpPr>
            <a:spLocks noChangeArrowheads="1"/>
          </p:cNvSpPr>
          <p:nvPr/>
        </p:nvSpPr>
        <p:spPr bwMode="blackWhite">
          <a:xfrm>
            <a:off x="683568" y="1412776"/>
            <a:ext cx="7535862" cy="16097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managers(id, name, salary, hiredate)</a:t>
            </a:r>
          </a:p>
          <a:p>
            <a:pPr>
              <a:tabLst>
                <a:tab pos="1200150" algn="l"/>
              </a:tabLst>
              <a:defRPr/>
            </a:pPr>
            <a:r>
              <a:rPr lang="en-US" sz="1800" b="1">
                <a:solidFill>
                  <a:srgbClr val="000000"/>
                </a:solidFill>
                <a:latin typeface="Courier New" pitchFamily="49" charset="0"/>
              </a:rPr>
              <a:t>  2          		SELECT	empno, ename, sal, hiredate</a:t>
            </a:r>
          </a:p>
          <a:p>
            <a:pPr>
              <a:tabLst>
                <a:tab pos="1200150" algn="l"/>
              </a:tabLst>
              <a:defRPr/>
            </a:pPr>
            <a:r>
              <a:rPr lang="en-US" sz="1800" b="1">
                <a:solidFill>
                  <a:srgbClr val="000000"/>
                </a:solidFill>
                <a:latin typeface="Courier New" pitchFamily="49" charset="0"/>
              </a:rPr>
              <a:t>  3          		FROM   emp</a:t>
            </a:r>
          </a:p>
          <a:p>
            <a:pPr>
              <a:tabLst>
                <a:tab pos="1200150" algn="l"/>
              </a:tabLst>
              <a:defRPr/>
            </a:pPr>
            <a:r>
              <a:rPr lang="en-US" sz="1800" b="1">
                <a:solidFill>
                  <a:srgbClr val="000000"/>
                </a:solidFill>
                <a:latin typeface="Courier New" pitchFamily="49" charset="0"/>
              </a:rPr>
              <a:t>  4          		WHERE	job = 'MANAGER';</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3 rows created.</a:t>
            </a:r>
          </a:p>
        </p:txBody>
      </p:sp>
      <p:sp>
        <p:nvSpPr>
          <p:cNvPr id="2" name="Slide Number Placeholder 23">
            <a:extLst>
              <a:ext uri="{FF2B5EF4-FFF2-40B4-BE49-F238E27FC236}">
                <a16:creationId xmlns:a16="http://schemas.microsoft.com/office/drawing/2014/main" id="{0BA41904-2ED3-29DF-FDD0-EA05F3F3337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3468F851-54FA-8FFD-FF23-C0B61883AE7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774012111"/>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F510F-CF4A-EE26-EC17-0CE7B46ACAFB}"/>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71C019C3-D2FD-F89A-7838-AB470A5AFDB8}"/>
              </a:ext>
            </a:extLst>
          </p:cNvPr>
          <p:cNvSpPr>
            <a:spLocks noChangeArrowheads="1"/>
          </p:cNvSpPr>
          <p:nvPr/>
        </p:nvSpPr>
        <p:spPr bwMode="blackWhite">
          <a:xfrm>
            <a:off x="3101975" y="4119563"/>
            <a:ext cx="5237163"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8675" name="Rectangle 3">
            <a:extLst>
              <a:ext uri="{FF2B5EF4-FFF2-40B4-BE49-F238E27FC236}">
                <a16:creationId xmlns:a16="http://schemas.microsoft.com/office/drawing/2014/main" id="{386D3D7E-968F-DBEE-E99B-CABBD657384F}"/>
              </a:ext>
            </a:extLst>
          </p:cNvPr>
          <p:cNvSpPr>
            <a:spLocks noChangeArrowheads="1"/>
          </p:cNvSpPr>
          <p:nvPr/>
        </p:nvSpPr>
        <p:spPr bwMode="ltGray">
          <a:xfrm>
            <a:off x="3111500" y="5238750"/>
            <a:ext cx="5216525" cy="24765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76" name="Rectangle 4">
            <a:extLst>
              <a:ext uri="{FF2B5EF4-FFF2-40B4-BE49-F238E27FC236}">
                <a16:creationId xmlns:a16="http://schemas.microsoft.com/office/drawing/2014/main" id="{AA3DDFAD-9075-8B3B-9A85-898992C22088}"/>
              </a:ext>
            </a:extLst>
          </p:cNvPr>
          <p:cNvSpPr>
            <a:spLocks noChangeArrowheads="1"/>
          </p:cNvSpPr>
          <p:nvPr/>
        </p:nvSpPr>
        <p:spPr bwMode="blackWhite">
          <a:xfrm>
            <a:off x="684213" y="1566863"/>
            <a:ext cx="523716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8677" name="Rectangle 5">
            <a:extLst>
              <a:ext uri="{FF2B5EF4-FFF2-40B4-BE49-F238E27FC236}">
                <a16:creationId xmlns:a16="http://schemas.microsoft.com/office/drawing/2014/main" id="{9F9EC30B-8AE2-C90B-04CD-2074EDE5CA9D}"/>
              </a:ext>
            </a:extLst>
          </p:cNvPr>
          <p:cNvSpPr>
            <a:spLocks noChangeArrowheads="1"/>
          </p:cNvSpPr>
          <p:nvPr/>
        </p:nvSpPr>
        <p:spPr bwMode="ltGray">
          <a:xfrm>
            <a:off x="698500" y="2686050"/>
            <a:ext cx="5213350" cy="24765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78" name="Rectangle 6">
            <a:extLst>
              <a:ext uri="{FF2B5EF4-FFF2-40B4-BE49-F238E27FC236}">
                <a16:creationId xmlns:a16="http://schemas.microsoft.com/office/drawing/2014/main" id="{FC425938-EC6D-7D4E-C7B6-33AA9AB97681}"/>
              </a:ext>
            </a:extLst>
          </p:cNvPr>
          <p:cNvSpPr>
            <a:spLocks noGrp="1" noChangeArrowheads="1"/>
          </p:cNvSpPr>
          <p:nvPr>
            <p:ph type="title"/>
          </p:nvPr>
        </p:nvSpPr>
        <p:spPr>
          <a:xfrm>
            <a:off x="395536" y="233362"/>
            <a:ext cx="464343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Changing Data in a Table</a:t>
            </a:r>
          </a:p>
        </p:txBody>
      </p:sp>
      <p:sp>
        <p:nvSpPr>
          <p:cNvPr id="460807" name="Rectangle 7">
            <a:extLst>
              <a:ext uri="{FF2B5EF4-FFF2-40B4-BE49-F238E27FC236}">
                <a16:creationId xmlns:a16="http://schemas.microsoft.com/office/drawing/2014/main" id="{F33F834C-BADA-FA50-3B57-553A68301143}"/>
              </a:ext>
            </a:extLst>
          </p:cNvPr>
          <p:cNvSpPr>
            <a:spLocks noChangeArrowheads="1"/>
          </p:cNvSpPr>
          <p:nvPr/>
        </p:nvSpPr>
        <p:spPr bwMode="auto">
          <a:xfrm>
            <a:off x="611560" y="1193800"/>
            <a:ext cx="812723" cy="462307"/>
          </a:xfrm>
          <a:prstGeom prst="rect">
            <a:avLst/>
          </a:prstGeom>
          <a:noFill/>
          <a:ln w="9525">
            <a:noFill/>
            <a:miter lim="800000"/>
            <a:headEnd/>
            <a:tailEnd/>
          </a:ln>
          <a:effectLst/>
        </p:spPr>
        <p:txBody>
          <a:bodyPr wrap="none" lIns="92075" tIns="46038" rIns="92075" bIns="46038">
            <a:spAutoFit/>
          </a:bodyPr>
          <a:lstStyle/>
          <a:p>
            <a:pPr>
              <a:defRPr/>
            </a:pPr>
            <a:r>
              <a:rPr lang="en-US" b="1" dirty="0">
                <a:effectLst>
                  <a:outerShdw blurRad="38100" dist="38100" dir="2700000" algn="tl">
                    <a:srgbClr val="FFFFFF"/>
                  </a:outerShdw>
                </a:effectLst>
                <a:latin typeface="Cambria" panose="02040503050406030204" pitchFamily="18" charset="0"/>
                <a:ea typeface="Cambria" panose="02040503050406030204" pitchFamily="18" charset="0"/>
              </a:rPr>
              <a:t>EMP</a:t>
            </a:r>
          </a:p>
        </p:txBody>
      </p:sp>
      <p:sp>
        <p:nvSpPr>
          <p:cNvPr id="28680" name="Line 8">
            <a:extLst>
              <a:ext uri="{FF2B5EF4-FFF2-40B4-BE49-F238E27FC236}">
                <a16:creationId xmlns:a16="http://schemas.microsoft.com/office/drawing/2014/main" id="{ECF64695-FAB8-9108-00BA-81A59BC9623C}"/>
              </a:ext>
            </a:extLst>
          </p:cNvPr>
          <p:cNvSpPr>
            <a:spLocks noChangeShapeType="1"/>
          </p:cNvSpPr>
          <p:nvPr/>
        </p:nvSpPr>
        <p:spPr bwMode="auto">
          <a:xfrm>
            <a:off x="685800" y="2020888"/>
            <a:ext cx="525780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1" name="Line 9">
            <a:extLst>
              <a:ext uri="{FF2B5EF4-FFF2-40B4-BE49-F238E27FC236}">
                <a16:creationId xmlns:a16="http://schemas.microsoft.com/office/drawing/2014/main" id="{BED95AB9-6BFD-6E8B-9671-F0E3B1965011}"/>
              </a:ext>
            </a:extLst>
          </p:cNvPr>
          <p:cNvSpPr>
            <a:spLocks noChangeShapeType="1"/>
          </p:cNvSpPr>
          <p:nvPr/>
        </p:nvSpPr>
        <p:spPr bwMode="auto">
          <a:xfrm>
            <a:off x="679450" y="241458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2" name="Line 10">
            <a:extLst>
              <a:ext uri="{FF2B5EF4-FFF2-40B4-BE49-F238E27FC236}">
                <a16:creationId xmlns:a16="http://schemas.microsoft.com/office/drawing/2014/main" id="{6E7C1C60-038F-E769-5713-A7D6CF862AFD}"/>
              </a:ext>
            </a:extLst>
          </p:cNvPr>
          <p:cNvSpPr>
            <a:spLocks noChangeShapeType="1"/>
          </p:cNvSpPr>
          <p:nvPr/>
        </p:nvSpPr>
        <p:spPr bwMode="auto">
          <a:xfrm>
            <a:off x="679450" y="267493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3" name="Line 11">
            <a:extLst>
              <a:ext uri="{FF2B5EF4-FFF2-40B4-BE49-F238E27FC236}">
                <a16:creationId xmlns:a16="http://schemas.microsoft.com/office/drawing/2014/main" id="{63195218-B85E-17DA-A0D0-1C439ABA2CA8}"/>
              </a:ext>
            </a:extLst>
          </p:cNvPr>
          <p:cNvSpPr>
            <a:spLocks noChangeShapeType="1"/>
          </p:cNvSpPr>
          <p:nvPr/>
        </p:nvSpPr>
        <p:spPr bwMode="auto">
          <a:xfrm>
            <a:off x="679450" y="293528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4" name="Line 12">
            <a:extLst>
              <a:ext uri="{FF2B5EF4-FFF2-40B4-BE49-F238E27FC236}">
                <a16:creationId xmlns:a16="http://schemas.microsoft.com/office/drawing/2014/main" id="{82F2B448-6F66-AFFA-D094-4A2E7819C52A}"/>
              </a:ext>
            </a:extLst>
          </p:cNvPr>
          <p:cNvSpPr>
            <a:spLocks noChangeShapeType="1"/>
          </p:cNvSpPr>
          <p:nvPr/>
        </p:nvSpPr>
        <p:spPr bwMode="auto">
          <a:xfrm>
            <a:off x="1682750" y="155733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5" name="Line 13">
            <a:extLst>
              <a:ext uri="{FF2B5EF4-FFF2-40B4-BE49-F238E27FC236}">
                <a16:creationId xmlns:a16="http://schemas.microsoft.com/office/drawing/2014/main" id="{AC65F857-FA24-15B6-7C5C-E35EAAAFA25A}"/>
              </a:ext>
            </a:extLst>
          </p:cNvPr>
          <p:cNvSpPr>
            <a:spLocks noChangeShapeType="1"/>
          </p:cNvSpPr>
          <p:nvPr/>
        </p:nvSpPr>
        <p:spPr bwMode="auto">
          <a:xfrm>
            <a:off x="2533650" y="1557338"/>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14">
            <a:extLst>
              <a:ext uri="{FF2B5EF4-FFF2-40B4-BE49-F238E27FC236}">
                <a16:creationId xmlns:a16="http://schemas.microsoft.com/office/drawing/2014/main" id="{F0F343BF-972A-C7D7-2115-BBDDB9E9B4AC}"/>
              </a:ext>
            </a:extLst>
          </p:cNvPr>
          <p:cNvGrpSpPr>
            <a:grpSpLocks/>
          </p:cNvGrpSpPr>
          <p:nvPr/>
        </p:nvGrpSpPr>
        <p:grpSpPr bwMode="auto">
          <a:xfrm>
            <a:off x="5467350" y="1984375"/>
            <a:ext cx="3579813" cy="1801813"/>
            <a:chOff x="3444" y="1250"/>
            <a:chExt cx="2255" cy="1135"/>
          </a:xfrm>
        </p:grpSpPr>
        <p:sp>
          <p:nvSpPr>
            <p:cNvPr id="460815" name="Rectangle 15">
              <a:extLst>
                <a:ext uri="{FF2B5EF4-FFF2-40B4-BE49-F238E27FC236}">
                  <a16:creationId xmlns:a16="http://schemas.microsoft.com/office/drawing/2014/main" id="{2B07E186-1CBB-0E56-DF8A-BE8C76632084}"/>
                </a:ext>
              </a:extLst>
            </p:cNvPr>
            <p:cNvSpPr>
              <a:spLocks noChangeArrowheads="1"/>
            </p:cNvSpPr>
            <p:nvPr/>
          </p:nvSpPr>
          <p:spPr bwMode="auto">
            <a:xfrm>
              <a:off x="3444" y="1250"/>
              <a:ext cx="2255" cy="449"/>
            </a:xfrm>
            <a:prstGeom prst="rect">
              <a:avLst/>
            </a:prstGeom>
            <a:noFill/>
            <a:ln w="9525">
              <a:noFill/>
              <a:miter lim="800000"/>
              <a:headEnd/>
              <a:tailEnd/>
            </a:ln>
            <a:effectLst/>
          </p:spPr>
          <p:txBody>
            <a:bodyPr lIns="92075" tIns="46038" rIns="92075" bIns="46038">
              <a:spAutoFit/>
            </a:bodyPr>
            <a:lstStyle/>
            <a:p>
              <a:pPr algn="ctr" defTabSz="346075">
                <a:lnSpc>
                  <a:spcPct val="65000"/>
                </a:lnSpc>
                <a:spcBef>
                  <a:spcPct val="35000"/>
                </a:spcBef>
                <a:tabLst>
                  <a:tab pos="576263" algn="l"/>
                </a:tabLst>
                <a:defRPr/>
              </a:pPr>
              <a:r>
                <a:rPr lang="en-US" b="1" dirty="0">
                  <a:solidFill>
                    <a:srgbClr val="0000FF"/>
                  </a:solidFill>
                  <a:latin typeface="Cambria" panose="02040503050406030204" pitchFamily="18" charset="0"/>
                  <a:ea typeface="Cambria" panose="02040503050406030204" pitchFamily="18" charset="0"/>
                </a:rPr>
                <a:t>“…update a row </a:t>
              </a:r>
            </a:p>
            <a:p>
              <a:pPr algn="ctr" defTabSz="346075">
                <a:lnSpc>
                  <a:spcPct val="65000"/>
                </a:lnSpc>
                <a:spcBef>
                  <a:spcPct val="35000"/>
                </a:spcBef>
                <a:tabLst>
                  <a:tab pos="576263" algn="l"/>
                </a:tabLst>
                <a:defRPr/>
              </a:pPr>
              <a:r>
                <a:rPr lang="en-US" b="1" dirty="0">
                  <a:solidFill>
                    <a:srgbClr val="0000FF"/>
                  </a:solidFill>
                  <a:latin typeface="Cambria" panose="02040503050406030204" pitchFamily="18" charset="0"/>
                  <a:ea typeface="Cambria" panose="02040503050406030204" pitchFamily="18" charset="0"/>
                </a:rPr>
                <a:t>in EMP table…”</a:t>
              </a:r>
            </a:p>
          </p:txBody>
        </p:sp>
        <p:sp>
          <p:nvSpPr>
            <p:cNvPr id="28708" name="Arc 16">
              <a:extLst>
                <a:ext uri="{FF2B5EF4-FFF2-40B4-BE49-F238E27FC236}">
                  <a16:creationId xmlns:a16="http://schemas.microsoft.com/office/drawing/2014/main" id="{EE3CD008-B424-224B-09EB-DF572BE579B4}"/>
                </a:ext>
              </a:extLst>
            </p:cNvPr>
            <p:cNvSpPr>
              <a:spLocks/>
            </p:cNvSpPr>
            <p:nvPr/>
          </p:nvSpPr>
          <p:spPr bwMode="auto">
            <a:xfrm>
              <a:off x="3899" y="1737"/>
              <a:ext cx="997" cy="648"/>
            </a:xfrm>
            <a:custGeom>
              <a:avLst/>
              <a:gdLst>
                <a:gd name="T0" fmla="*/ 0 w 21608"/>
                <a:gd name="T1" fmla="*/ 0 h 21600"/>
                <a:gd name="T2" fmla="*/ 0 w 21608"/>
                <a:gd name="T3" fmla="*/ 0 h 21600"/>
                <a:gd name="T4" fmla="*/ 0 w 21608"/>
                <a:gd name="T5" fmla="*/ 0 h 21600"/>
                <a:gd name="T6" fmla="*/ 0 60000 65536"/>
                <a:gd name="T7" fmla="*/ 0 60000 65536"/>
                <a:gd name="T8" fmla="*/ 0 60000 65536"/>
              </a:gdLst>
              <a:ahLst/>
              <a:cxnLst>
                <a:cxn ang="T6">
                  <a:pos x="T0" y="T1"/>
                </a:cxn>
                <a:cxn ang="T7">
                  <a:pos x="T2" y="T3"/>
                </a:cxn>
                <a:cxn ang="T8">
                  <a:pos x="T4" y="T5"/>
                </a:cxn>
              </a:cxnLst>
              <a:rect l="0" t="0" r="r" b="b"/>
              <a:pathLst>
                <a:path w="21608" h="21600" fill="none" extrusionOk="0">
                  <a:moveTo>
                    <a:pt x="0" y="0"/>
                  </a:moveTo>
                  <a:cubicBezTo>
                    <a:pt x="7" y="0"/>
                    <a:pt x="14" y="-1"/>
                    <a:pt x="22" y="0"/>
                  </a:cubicBezTo>
                  <a:cubicBezTo>
                    <a:pt x="11652" y="0"/>
                    <a:pt x="21195" y="9209"/>
                    <a:pt x="21608" y="20832"/>
                  </a:cubicBezTo>
                </a:path>
                <a:path w="21608" h="21600" stroke="0" extrusionOk="0">
                  <a:moveTo>
                    <a:pt x="0" y="0"/>
                  </a:moveTo>
                  <a:cubicBezTo>
                    <a:pt x="7" y="0"/>
                    <a:pt x="14" y="-1"/>
                    <a:pt x="22" y="0"/>
                  </a:cubicBezTo>
                  <a:cubicBezTo>
                    <a:pt x="11652" y="0"/>
                    <a:pt x="21195" y="9209"/>
                    <a:pt x="21608" y="20832"/>
                  </a:cubicBezTo>
                  <a:lnTo>
                    <a:pt x="22"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sp>
        <p:nvSpPr>
          <p:cNvPr id="28687" name="Line 17">
            <a:extLst>
              <a:ext uri="{FF2B5EF4-FFF2-40B4-BE49-F238E27FC236}">
                <a16:creationId xmlns:a16="http://schemas.microsoft.com/office/drawing/2014/main" id="{B5DC3EB3-AAA1-700C-39BF-B530D9275C9D}"/>
              </a:ext>
            </a:extLst>
          </p:cNvPr>
          <p:cNvSpPr>
            <a:spLocks noChangeShapeType="1"/>
          </p:cNvSpPr>
          <p:nvPr/>
        </p:nvSpPr>
        <p:spPr bwMode="auto">
          <a:xfrm>
            <a:off x="4029075" y="1557338"/>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8" name="Line 18">
            <a:extLst>
              <a:ext uri="{FF2B5EF4-FFF2-40B4-BE49-F238E27FC236}">
                <a16:creationId xmlns:a16="http://schemas.microsoft.com/office/drawing/2014/main" id="{FFD51E72-63D0-25EB-137B-9E80A64A0D78}"/>
              </a:ext>
            </a:extLst>
          </p:cNvPr>
          <p:cNvSpPr>
            <a:spLocks noChangeShapeType="1"/>
          </p:cNvSpPr>
          <p:nvPr/>
        </p:nvSpPr>
        <p:spPr bwMode="auto">
          <a:xfrm>
            <a:off x="4648200" y="15573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9" name="Line 19">
            <a:extLst>
              <a:ext uri="{FF2B5EF4-FFF2-40B4-BE49-F238E27FC236}">
                <a16:creationId xmlns:a16="http://schemas.microsoft.com/office/drawing/2014/main" id="{89426FF8-3776-C960-BA37-E9B961173D3A}"/>
              </a:ext>
            </a:extLst>
          </p:cNvPr>
          <p:cNvSpPr>
            <a:spLocks noChangeShapeType="1"/>
          </p:cNvSpPr>
          <p:nvPr/>
        </p:nvSpPr>
        <p:spPr bwMode="auto">
          <a:xfrm>
            <a:off x="679450" y="322103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0820" name="Rectangle 20">
            <a:extLst>
              <a:ext uri="{FF2B5EF4-FFF2-40B4-BE49-F238E27FC236}">
                <a16:creationId xmlns:a16="http://schemas.microsoft.com/office/drawing/2014/main" id="{DED85489-CD08-18AD-7669-937FC4453927}"/>
              </a:ext>
            </a:extLst>
          </p:cNvPr>
          <p:cNvSpPr>
            <a:spLocks noChangeArrowheads="1"/>
          </p:cNvSpPr>
          <p:nvPr/>
        </p:nvSpPr>
        <p:spPr bwMode="auto">
          <a:xfrm>
            <a:off x="3014663" y="3746500"/>
            <a:ext cx="706925"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effectLst>
                  <a:outerShdw blurRad="38100" dist="38100" dir="2700000" algn="tl">
                    <a:srgbClr val="FFFFFF"/>
                  </a:outerShdw>
                </a:effectLst>
                <a:latin typeface="Cambria" panose="02040503050406030204" pitchFamily="18" charset="0"/>
                <a:ea typeface="Cambria" panose="02040503050406030204" pitchFamily="18" charset="0"/>
              </a:rPr>
              <a:t>EMP</a:t>
            </a:r>
          </a:p>
        </p:txBody>
      </p:sp>
      <p:sp>
        <p:nvSpPr>
          <p:cNvPr id="28691" name="Rectangle 21">
            <a:extLst>
              <a:ext uri="{FF2B5EF4-FFF2-40B4-BE49-F238E27FC236}">
                <a16:creationId xmlns:a16="http://schemas.microsoft.com/office/drawing/2014/main" id="{0A962E1A-36F7-3E26-55F6-0D61EE314DC5}"/>
              </a:ext>
            </a:extLst>
          </p:cNvPr>
          <p:cNvSpPr>
            <a:spLocks noChangeArrowheads="1"/>
          </p:cNvSpPr>
          <p:nvPr/>
        </p:nvSpPr>
        <p:spPr bwMode="blackWhite">
          <a:xfrm>
            <a:off x="3133725" y="4160838"/>
            <a:ext cx="5627688"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28692" name="Line 22">
            <a:extLst>
              <a:ext uri="{FF2B5EF4-FFF2-40B4-BE49-F238E27FC236}">
                <a16:creationId xmlns:a16="http://schemas.microsoft.com/office/drawing/2014/main" id="{A53D69EC-5785-7F2C-F590-6EC7C42A5F72}"/>
              </a:ext>
            </a:extLst>
          </p:cNvPr>
          <p:cNvSpPr>
            <a:spLocks noChangeShapeType="1"/>
          </p:cNvSpPr>
          <p:nvPr/>
        </p:nvSpPr>
        <p:spPr bwMode="auto">
          <a:xfrm>
            <a:off x="3103563" y="4573588"/>
            <a:ext cx="525780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3" name="Line 23">
            <a:extLst>
              <a:ext uri="{FF2B5EF4-FFF2-40B4-BE49-F238E27FC236}">
                <a16:creationId xmlns:a16="http://schemas.microsoft.com/office/drawing/2014/main" id="{A76856FF-4F07-AFEC-A4E3-BA1711428982}"/>
              </a:ext>
            </a:extLst>
          </p:cNvPr>
          <p:cNvSpPr>
            <a:spLocks noChangeShapeType="1"/>
          </p:cNvSpPr>
          <p:nvPr/>
        </p:nvSpPr>
        <p:spPr bwMode="auto">
          <a:xfrm>
            <a:off x="3097213" y="496728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4" name="Line 24">
            <a:extLst>
              <a:ext uri="{FF2B5EF4-FFF2-40B4-BE49-F238E27FC236}">
                <a16:creationId xmlns:a16="http://schemas.microsoft.com/office/drawing/2014/main" id="{7BBF61D9-27FD-6067-69B8-B982C9769785}"/>
              </a:ext>
            </a:extLst>
          </p:cNvPr>
          <p:cNvSpPr>
            <a:spLocks noChangeShapeType="1"/>
          </p:cNvSpPr>
          <p:nvPr/>
        </p:nvSpPr>
        <p:spPr bwMode="auto">
          <a:xfrm>
            <a:off x="3097213" y="522763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5" name="Line 25">
            <a:extLst>
              <a:ext uri="{FF2B5EF4-FFF2-40B4-BE49-F238E27FC236}">
                <a16:creationId xmlns:a16="http://schemas.microsoft.com/office/drawing/2014/main" id="{0B100033-2417-841B-AA6E-6A3CFF433DCC}"/>
              </a:ext>
            </a:extLst>
          </p:cNvPr>
          <p:cNvSpPr>
            <a:spLocks noChangeShapeType="1"/>
          </p:cNvSpPr>
          <p:nvPr/>
        </p:nvSpPr>
        <p:spPr bwMode="auto">
          <a:xfrm>
            <a:off x="3097213" y="548798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6" name="Line 26">
            <a:extLst>
              <a:ext uri="{FF2B5EF4-FFF2-40B4-BE49-F238E27FC236}">
                <a16:creationId xmlns:a16="http://schemas.microsoft.com/office/drawing/2014/main" id="{05B811A1-0A29-11AB-D5BA-05C606F689D3}"/>
              </a:ext>
            </a:extLst>
          </p:cNvPr>
          <p:cNvSpPr>
            <a:spLocks noChangeShapeType="1"/>
          </p:cNvSpPr>
          <p:nvPr/>
        </p:nvSpPr>
        <p:spPr bwMode="auto">
          <a:xfrm>
            <a:off x="4100513" y="411003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7" name="Line 27">
            <a:extLst>
              <a:ext uri="{FF2B5EF4-FFF2-40B4-BE49-F238E27FC236}">
                <a16:creationId xmlns:a16="http://schemas.microsoft.com/office/drawing/2014/main" id="{B2435747-D42E-F6D1-B11E-4E8176338142}"/>
              </a:ext>
            </a:extLst>
          </p:cNvPr>
          <p:cNvSpPr>
            <a:spLocks noChangeShapeType="1"/>
          </p:cNvSpPr>
          <p:nvPr/>
        </p:nvSpPr>
        <p:spPr bwMode="auto">
          <a:xfrm>
            <a:off x="4951413" y="4110038"/>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8" name="Line 28">
            <a:extLst>
              <a:ext uri="{FF2B5EF4-FFF2-40B4-BE49-F238E27FC236}">
                <a16:creationId xmlns:a16="http://schemas.microsoft.com/office/drawing/2014/main" id="{726E5DFC-2F51-AD65-E89F-22CFAC74D4A9}"/>
              </a:ext>
            </a:extLst>
          </p:cNvPr>
          <p:cNvSpPr>
            <a:spLocks noChangeShapeType="1"/>
          </p:cNvSpPr>
          <p:nvPr/>
        </p:nvSpPr>
        <p:spPr bwMode="auto">
          <a:xfrm>
            <a:off x="6446838" y="4110038"/>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9" name="Line 29">
            <a:extLst>
              <a:ext uri="{FF2B5EF4-FFF2-40B4-BE49-F238E27FC236}">
                <a16:creationId xmlns:a16="http://schemas.microsoft.com/office/drawing/2014/main" id="{504135B7-04DE-FC4A-C321-2031F0A2782E}"/>
              </a:ext>
            </a:extLst>
          </p:cNvPr>
          <p:cNvSpPr>
            <a:spLocks noChangeShapeType="1"/>
          </p:cNvSpPr>
          <p:nvPr/>
        </p:nvSpPr>
        <p:spPr bwMode="auto">
          <a:xfrm>
            <a:off x="7065963" y="41100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700" name="Line 30">
            <a:extLst>
              <a:ext uri="{FF2B5EF4-FFF2-40B4-BE49-F238E27FC236}">
                <a16:creationId xmlns:a16="http://schemas.microsoft.com/office/drawing/2014/main" id="{0C5FC0CF-88B0-6D3C-7503-E4F7AC9E8312}"/>
              </a:ext>
            </a:extLst>
          </p:cNvPr>
          <p:cNvSpPr>
            <a:spLocks noChangeShapeType="1"/>
          </p:cNvSpPr>
          <p:nvPr/>
        </p:nvSpPr>
        <p:spPr bwMode="auto">
          <a:xfrm>
            <a:off x="3097213" y="577373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31">
            <a:extLst>
              <a:ext uri="{FF2B5EF4-FFF2-40B4-BE49-F238E27FC236}">
                <a16:creationId xmlns:a16="http://schemas.microsoft.com/office/drawing/2014/main" id="{DAFD67C6-7490-EA20-D116-C57EDC58A1CD}"/>
              </a:ext>
            </a:extLst>
          </p:cNvPr>
          <p:cNvGrpSpPr>
            <a:grpSpLocks/>
          </p:cNvGrpSpPr>
          <p:nvPr/>
        </p:nvGrpSpPr>
        <p:grpSpPr bwMode="auto">
          <a:xfrm>
            <a:off x="5391150" y="2686050"/>
            <a:ext cx="2814638" cy="2855913"/>
            <a:chOff x="3396" y="1692"/>
            <a:chExt cx="1773" cy="1799"/>
          </a:xfrm>
        </p:grpSpPr>
        <p:sp>
          <p:nvSpPr>
            <p:cNvPr id="28703" name="Rectangle 32">
              <a:extLst>
                <a:ext uri="{FF2B5EF4-FFF2-40B4-BE49-F238E27FC236}">
                  <a16:creationId xmlns:a16="http://schemas.microsoft.com/office/drawing/2014/main" id="{E956CBD0-79A4-220B-C4D9-6BAE5678F1AD}"/>
                </a:ext>
              </a:extLst>
            </p:cNvPr>
            <p:cNvSpPr>
              <a:spLocks noChangeArrowheads="1"/>
            </p:cNvSpPr>
            <p:nvPr/>
          </p:nvSpPr>
          <p:spPr bwMode="blackWhite">
            <a:xfrm>
              <a:off x="3396" y="1692"/>
              <a:ext cx="181" cy="143"/>
            </a:xfrm>
            <a:prstGeom prst="rect">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8704" name="Group 33">
              <a:extLst>
                <a:ext uri="{FF2B5EF4-FFF2-40B4-BE49-F238E27FC236}">
                  <a16:creationId xmlns:a16="http://schemas.microsoft.com/office/drawing/2014/main" id="{EC0CDE23-DD0C-D27F-E038-BDAAD61A60B8}"/>
                </a:ext>
              </a:extLst>
            </p:cNvPr>
            <p:cNvGrpSpPr>
              <a:grpSpLocks/>
            </p:cNvGrpSpPr>
            <p:nvPr/>
          </p:nvGrpSpPr>
          <p:grpSpPr bwMode="auto">
            <a:xfrm>
              <a:off x="4880" y="3225"/>
              <a:ext cx="289" cy="266"/>
              <a:chOff x="4880" y="3225"/>
              <a:chExt cx="289" cy="266"/>
            </a:xfrm>
          </p:grpSpPr>
          <p:sp>
            <p:nvSpPr>
              <p:cNvPr id="28705" name="Rectangle 34">
                <a:extLst>
                  <a:ext uri="{FF2B5EF4-FFF2-40B4-BE49-F238E27FC236}">
                    <a16:creationId xmlns:a16="http://schemas.microsoft.com/office/drawing/2014/main" id="{32F58CB8-E9F3-7DA1-2250-A6185E34772A}"/>
                  </a:ext>
                </a:extLst>
              </p:cNvPr>
              <p:cNvSpPr>
                <a:spLocks noChangeArrowheads="1"/>
              </p:cNvSpPr>
              <p:nvPr/>
            </p:nvSpPr>
            <p:spPr bwMode="blackWhite">
              <a:xfrm>
                <a:off x="4924" y="3294"/>
                <a:ext cx="181" cy="143"/>
              </a:xfrm>
              <a:prstGeom prst="rect">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706" name="Rectangle 35">
                <a:extLst>
                  <a:ext uri="{FF2B5EF4-FFF2-40B4-BE49-F238E27FC236}">
                    <a16:creationId xmlns:a16="http://schemas.microsoft.com/office/drawing/2014/main" id="{5D854F6A-2385-4AB8-26EC-19F90CA24DAC}"/>
                  </a:ext>
                </a:extLst>
              </p:cNvPr>
              <p:cNvSpPr>
                <a:spLocks noChangeArrowheads="1"/>
              </p:cNvSpPr>
              <p:nvPr/>
            </p:nvSpPr>
            <p:spPr bwMode="blackWhite">
              <a:xfrm>
                <a:off x="4880" y="3225"/>
                <a:ext cx="289"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800" b="1">
                    <a:solidFill>
                      <a:srgbClr val="000000"/>
                    </a:solidFill>
                    <a:latin typeface="Courier New" panose="02070309020205020404" pitchFamily="49" charset="0"/>
                  </a:rPr>
                  <a:t>20</a:t>
                </a:r>
              </a:p>
            </p:txBody>
          </p:sp>
        </p:grpSp>
      </p:grpSp>
      <p:sp>
        <p:nvSpPr>
          <p:cNvPr id="28702" name="Rectangle 36">
            <a:extLst>
              <a:ext uri="{FF2B5EF4-FFF2-40B4-BE49-F238E27FC236}">
                <a16:creationId xmlns:a16="http://schemas.microsoft.com/office/drawing/2014/main" id="{A5BCABE6-5528-0AFD-28A2-057274B0CBDF}"/>
              </a:ext>
            </a:extLst>
          </p:cNvPr>
          <p:cNvSpPr>
            <a:spLocks noChangeArrowheads="1"/>
          </p:cNvSpPr>
          <p:nvPr/>
        </p:nvSpPr>
        <p:spPr bwMode="blackWhite">
          <a:xfrm>
            <a:off x="715963" y="1608138"/>
            <a:ext cx="5627687"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 name="Slide Number Placeholder 23">
            <a:extLst>
              <a:ext uri="{FF2B5EF4-FFF2-40B4-BE49-F238E27FC236}">
                <a16:creationId xmlns:a16="http://schemas.microsoft.com/office/drawing/2014/main" id="{453ABF99-6A84-2BC1-9A43-CD0CF0AA960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DBAE198B-1AE2-B53E-1716-084A167DB26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0441520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F6273-0159-B8D5-80AC-AB6C26A6A03C}"/>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3DB18B64-ACE8-4924-2B15-5B3039A70A77}"/>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UPDATE Statement</a:t>
            </a:r>
          </a:p>
        </p:txBody>
      </p:sp>
      <p:sp>
        <p:nvSpPr>
          <p:cNvPr id="12291" name="Rectangle 3">
            <a:extLst>
              <a:ext uri="{FF2B5EF4-FFF2-40B4-BE49-F238E27FC236}">
                <a16:creationId xmlns:a16="http://schemas.microsoft.com/office/drawing/2014/main" id="{516DFD11-2DB7-DF77-5BC7-07D79F7D35B3}"/>
              </a:ext>
            </a:extLst>
          </p:cNvPr>
          <p:cNvSpPr>
            <a:spLocks noGrp="1" noChangeArrowheads="1"/>
          </p:cNvSpPr>
          <p:nvPr>
            <p:ph type="body" idx="1"/>
          </p:nvPr>
        </p:nvSpPr>
        <p:spPr>
          <a:xfrm>
            <a:off x="467544" y="825350"/>
            <a:ext cx="8424936" cy="4678846"/>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Modify the existing row(s)</a:t>
            </a:r>
            <a:br>
              <a:rPr lang="en-US" altLang="en-US" sz="2400" dirty="0">
                <a:latin typeface="Cambria" panose="02040503050406030204" pitchFamily="18" charset="0"/>
                <a:ea typeface="Cambria" panose="02040503050406030204" pitchFamily="18" charset="0"/>
              </a:rPr>
            </a:br>
            <a:br>
              <a:rPr lang="en-US" altLang="en-US" dirty="0">
                <a:latin typeface="Cambria" panose="02040503050406030204" pitchFamily="18" charset="0"/>
                <a:ea typeface="Cambria" panose="02040503050406030204" pitchFamily="18" charset="0"/>
              </a:rPr>
            </a:br>
            <a:endParaRPr lang="en-US" altLang="en-US"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Specific row(s) is/are modified when you specify the WHERE clause.</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All rows in the table are modified if you omit the WHERE clause.</a:t>
            </a:r>
          </a:p>
        </p:txBody>
      </p:sp>
      <p:sp>
        <p:nvSpPr>
          <p:cNvPr id="12292" name="Rectangle 4">
            <a:extLst>
              <a:ext uri="{FF2B5EF4-FFF2-40B4-BE49-F238E27FC236}">
                <a16:creationId xmlns:a16="http://schemas.microsoft.com/office/drawing/2014/main" id="{9590A9FC-5EB3-9516-3799-2C81F6E658D3}"/>
              </a:ext>
            </a:extLst>
          </p:cNvPr>
          <p:cNvSpPr>
            <a:spLocks noChangeArrowheads="1"/>
          </p:cNvSpPr>
          <p:nvPr/>
        </p:nvSpPr>
        <p:spPr bwMode="blackWhite">
          <a:xfrm>
            <a:off x="712242" y="1361924"/>
            <a:ext cx="7964214" cy="10589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FF"/>
                </a:solidFill>
                <a:latin typeface="Courier New" panose="02070309020205020404" pitchFamily="49" charset="0"/>
              </a:rPr>
              <a:t>UPDATE</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tablename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SET		column = value [, column = value, ...]</a:t>
            </a:r>
          </a:p>
          <a:p>
            <a:pPr>
              <a:spcBef>
                <a:spcPct val="0"/>
              </a:spcBef>
              <a:buFontTx/>
              <a:buNone/>
            </a:pPr>
            <a:r>
              <a:rPr lang="en-US" altLang="en-US" sz="2000" b="1" dirty="0">
                <a:solidFill>
                  <a:srgbClr val="FF0000"/>
                </a:solidFill>
                <a:latin typeface="Courier New" panose="02070309020205020404" pitchFamily="49" charset="0"/>
              </a:rPr>
              <a:t>[WHERE 		condition];</a:t>
            </a:r>
            <a:endParaRPr lang="en-US" altLang="en-US" sz="2000" b="1" i="1" dirty="0">
              <a:solidFill>
                <a:srgbClr val="FF0000"/>
              </a:solidFill>
              <a:latin typeface="Courier New" panose="02070309020205020404" pitchFamily="49" charset="0"/>
            </a:endParaRPr>
          </a:p>
        </p:txBody>
      </p:sp>
      <p:sp>
        <p:nvSpPr>
          <p:cNvPr id="3" name="Slide Number Placeholder 23">
            <a:extLst>
              <a:ext uri="{FF2B5EF4-FFF2-40B4-BE49-F238E27FC236}">
                <a16:creationId xmlns:a16="http://schemas.microsoft.com/office/drawing/2014/main" id="{7247CD31-14C8-F39F-2537-17895981AEF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63589282-3CAE-6560-C16A-61664B5E0B2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Rectangle 2">
            <a:extLst>
              <a:ext uri="{FF2B5EF4-FFF2-40B4-BE49-F238E27FC236}">
                <a16:creationId xmlns:a16="http://schemas.microsoft.com/office/drawing/2014/main" id="{38E1444C-3FE4-741C-CEE9-0AC34298E87B}"/>
              </a:ext>
            </a:extLst>
          </p:cNvPr>
          <p:cNvSpPr>
            <a:spLocks noChangeArrowheads="1"/>
          </p:cNvSpPr>
          <p:nvPr/>
        </p:nvSpPr>
        <p:spPr bwMode="blackWhite">
          <a:xfrm>
            <a:off x="663525" y="3406378"/>
            <a:ext cx="7504113" cy="11747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 name="Rectangle 5">
            <a:extLst>
              <a:ext uri="{FF2B5EF4-FFF2-40B4-BE49-F238E27FC236}">
                <a16:creationId xmlns:a16="http://schemas.microsoft.com/office/drawing/2014/main" id="{4218C985-7C50-1A92-25F7-B1A30B076778}"/>
              </a:ext>
            </a:extLst>
          </p:cNvPr>
          <p:cNvSpPr>
            <a:spLocks noChangeArrowheads="1"/>
          </p:cNvSpPr>
          <p:nvPr/>
        </p:nvSpPr>
        <p:spPr bwMode="ltGray">
          <a:xfrm>
            <a:off x="1360438" y="3985816"/>
            <a:ext cx="3441700" cy="3048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 name="Rectangle 6">
            <a:extLst>
              <a:ext uri="{FF2B5EF4-FFF2-40B4-BE49-F238E27FC236}">
                <a16:creationId xmlns:a16="http://schemas.microsoft.com/office/drawing/2014/main" id="{E525BA3B-52F0-8B93-4AE8-3262876EB048}"/>
              </a:ext>
            </a:extLst>
          </p:cNvPr>
          <p:cNvSpPr>
            <a:spLocks noChangeArrowheads="1"/>
          </p:cNvSpPr>
          <p:nvPr/>
        </p:nvSpPr>
        <p:spPr bwMode="blackWhite">
          <a:xfrm>
            <a:off x="642888" y="3447653"/>
            <a:ext cx="7529512" cy="110807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a:t>
            </a:r>
          </a:p>
          <a:p>
            <a:pPr>
              <a:tabLst>
                <a:tab pos="1200150" algn="l"/>
              </a:tabLst>
              <a:defRPr/>
            </a:pPr>
            <a:r>
              <a:rPr lang="en-US" sz="1800" b="1">
                <a:solidFill>
                  <a:srgbClr val="000000"/>
                </a:solidFill>
                <a:latin typeface="Courier New" pitchFamily="49" charset="0"/>
              </a:rPr>
              <a:t>  2  SET    	deptno = 20</a:t>
            </a:r>
          </a:p>
          <a:p>
            <a:pPr>
              <a:tabLst>
                <a:tab pos="1200150" algn="l"/>
              </a:tabLst>
              <a:defRPr/>
            </a:pPr>
            <a:r>
              <a:rPr lang="en-US" sz="1800" b="1">
                <a:solidFill>
                  <a:srgbClr val="000000"/>
                </a:solidFill>
                <a:latin typeface="Courier New" pitchFamily="49" charset="0"/>
              </a:rPr>
              <a:t>  3  WHERE  	empno = 7782;</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updated.</a:t>
            </a:r>
          </a:p>
        </p:txBody>
      </p:sp>
      <p:sp>
        <p:nvSpPr>
          <p:cNvPr id="7" name="Rectangle 7">
            <a:extLst>
              <a:ext uri="{FF2B5EF4-FFF2-40B4-BE49-F238E27FC236}">
                <a16:creationId xmlns:a16="http://schemas.microsoft.com/office/drawing/2014/main" id="{C639B98C-8D04-0663-CAD4-DB5069F5B2A3}"/>
              </a:ext>
            </a:extLst>
          </p:cNvPr>
          <p:cNvSpPr>
            <a:spLocks noChangeArrowheads="1"/>
          </p:cNvSpPr>
          <p:nvPr/>
        </p:nvSpPr>
        <p:spPr bwMode="blackWhite">
          <a:xfrm>
            <a:off x="660350" y="5518298"/>
            <a:ext cx="7499350" cy="9350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employee</a:t>
            </a:r>
          </a:p>
          <a:p>
            <a:pPr>
              <a:tabLst>
                <a:tab pos="1200150" algn="l"/>
              </a:tabLst>
              <a:defRPr/>
            </a:pPr>
            <a:r>
              <a:rPr lang="en-US" sz="1800" b="1">
                <a:solidFill>
                  <a:srgbClr val="000000"/>
                </a:solidFill>
                <a:latin typeface="Courier New" pitchFamily="49" charset="0"/>
              </a:rPr>
              <a:t>  2  SET    	deptno = 20;</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14 rows updated.</a:t>
            </a:r>
          </a:p>
        </p:txBody>
      </p:sp>
    </p:spTree>
    <p:extLst>
      <p:ext uri="{BB962C8B-B14F-4D97-AF65-F5344CB8AC3E}">
        <p14:creationId xmlns:p14="http://schemas.microsoft.com/office/powerpoint/2010/main" val="1097554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D7489-DEC7-9FD8-EF54-BF63CAE03C48}"/>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FB9BA6C-5A27-1BA2-06E4-05268B53AB55}"/>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UPDATE Statement</a:t>
            </a:r>
          </a:p>
        </p:txBody>
      </p:sp>
      <p:sp>
        <p:nvSpPr>
          <p:cNvPr id="12291" name="Rectangle 3">
            <a:extLst>
              <a:ext uri="{FF2B5EF4-FFF2-40B4-BE49-F238E27FC236}">
                <a16:creationId xmlns:a16="http://schemas.microsoft.com/office/drawing/2014/main" id="{EC8A30B4-8514-00D5-7AB0-A4B32DAE65E5}"/>
              </a:ext>
            </a:extLst>
          </p:cNvPr>
          <p:cNvSpPr>
            <a:spLocks noGrp="1" noChangeArrowheads="1"/>
          </p:cNvSpPr>
          <p:nvPr>
            <p:ph type="body" idx="1"/>
          </p:nvPr>
        </p:nvSpPr>
        <p:spPr>
          <a:xfrm>
            <a:off x="467544" y="825350"/>
            <a:ext cx="8424936" cy="7448835"/>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Update using </a:t>
            </a:r>
            <a:r>
              <a:rPr lang="en-US" altLang="en-US" sz="2400" dirty="0">
                <a:solidFill>
                  <a:srgbClr val="0000FF"/>
                </a:solidFill>
                <a:latin typeface="Cambria" panose="02040503050406030204" pitchFamily="18" charset="0"/>
                <a:ea typeface="Cambria" panose="02040503050406030204" pitchFamily="18" charset="0"/>
              </a:rPr>
              <a:t>DEFAULT</a:t>
            </a:r>
            <a:r>
              <a:rPr lang="en-US" altLang="en-US" sz="2400" dirty="0">
                <a:latin typeface="Cambria" panose="02040503050406030204" pitchFamily="18" charset="0"/>
                <a:ea typeface="Cambria" panose="02040503050406030204" pitchFamily="18" charset="0"/>
              </a:rPr>
              <a:t> value</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Any update that conflicts with an integrity violation will be denied.</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All rows in the table are modified if you omit the WHERE clause.</a:t>
            </a:r>
          </a:p>
        </p:txBody>
      </p:sp>
      <p:sp>
        <p:nvSpPr>
          <p:cNvPr id="3" name="Slide Number Placeholder 23">
            <a:extLst>
              <a:ext uri="{FF2B5EF4-FFF2-40B4-BE49-F238E27FC236}">
                <a16:creationId xmlns:a16="http://schemas.microsoft.com/office/drawing/2014/main" id="{3F30BA00-DA2E-CFF7-9662-9664AA86FDA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8C428DE7-1FC2-B140-33E1-33891A7FD1F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8" name="Rectangle 2">
            <a:extLst>
              <a:ext uri="{FF2B5EF4-FFF2-40B4-BE49-F238E27FC236}">
                <a16:creationId xmlns:a16="http://schemas.microsoft.com/office/drawing/2014/main" id="{ED7AD777-4FE6-A7DC-3EF1-E7DCF25B687E}"/>
              </a:ext>
            </a:extLst>
          </p:cNvPr>
          <p:cNvSpPr>
            <a:spLocks noChangeArrowheads="1"/>
          </p:cNvSpPr>
          <p:nvPr/>
        </p:nvSpPr>
        <p:spPr bwMode="blackWhite">
          <a:xfrm>
            <a:off x="804254" y="4242594"/>
            <a:ext cx="7510462" cy="14906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UPDATE emp</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ORA-02291: integrity constraint (USR.EMP_DEPTNO_FK) violated - parent key not found</a:t>
            </a:r>
          </a:p>
        </p:txBody>
      </p:sp>
      <p:sp>
        <p:nvSpPr>
          <p:cNvPr id="9" name="Rectangle 3">
            <a:extLst>
              <a:ext uri="{FF2B5EF4-FFF2-40B4-BE49-F238E27FC236}">
                <a16:creationId xmlns:a16="http://schemas.microsoft.com/office/drawing/2014/main" id="{2F9E5618-8385-94D8-C11E-01A45D39B29A}"/>
              </a:ext>
            </a:extLst>
          </p:cNvPr>
          <p:cNvSpPr>
            <a:spLocks noChangeArrowheads="1"/>
          </p:cNvSpPr>
          <p:nvPr/>
        </p:nvSpPr>
        <p:spPr bwMode="blackWhite">
          <a:xfrm>
            <a:off x="775221" y="3029620"/>
            <a:ext cx="7469187" cy="9969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3324225"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3324225"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UPDATE	emp</a:t>
            </a:r>
          </a:p>
          <a:p>
            <a:pPr>
              <a:spcBef>
                <a:spcPct val="0"/>
              </a:spcBef>
              <a:buFontTx/>
              <a:buNone/>
            </a:pPr>
            <a:r>
              <a:rPr lang="en-US" altLang="en-US" sz="1800" b="1" dirty="0">
                <a:solidFill>
                  <a:srgbClr val="000000"/>
                </a:solidFill>
                <a:latin typeface="Courier New" panose="02070309020205020404" pitchFamily="49" charset="0"/>
              </a:rPr>
              <a:t>  2  SET	</a:t>
            </a:r>
            <a:r>
              <a:rPr lang="en-US" altLang="en-US" sz="1800" b="1" dirty="0" err="1">
                <a:solidFill>
                  <a:srgbClr val="FF0000"/>
                </a:solidFill>
                <a:latin typeface="Courier New" panose="02070309020205020404" pitchFamily="49" charset="0"/>
              </a:rPr>
              <a:t>deptno</a:t>
            </a:r>
            <a:r>
              <a:rPr lang="en-US" altLang="en-US" sz="1800" b="1" dirty="0">
                <a:solidFill>
                  <a:srgbClr val="FF0000"/>
                </a:solidFill>
                <a:latin typeface="Courier New" panose="02070309020205020404" pitchFamily="49" charset="0"/>
              </a:rPr>
              <a:t> = 55</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 10;</a:t>
            </a:r>
          </a:p>
        </p:txBody>
      </p:sp>
      <p:sp>
        <p:nvSpPr>
          <p:cNvPr id="11" name="Rectangle 3">
            <a:extLst>
              <a:ext uri="{FF2B5EF4-FFF2-40B4-BE49-F238E27FC236}">
                <a16:creationId xmlns:a16="http://schemas.microsoft.com/office/drawing/2014/main" id="{B3488EE6-5F3E-C917-0C4B-0F8302B3D558}"/>
              </a:ext>
            </a:extLst>
          </p:cNvPr>
          <p:cNvSpPr>
            <a:spLocks noChangeArrowheads="1"/>
          </p:cNvSpPr>
          <p:nvPr/>
        </p:nvSpPr>
        <p:spPr bwMode="blackWhite">
          <a:xfrm>
            <a:off x="755576" y="1435439"/>
            <a:ext cx="7469187" cy="62540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3324225"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3324225"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UPDATE	dept</a:t>
            </a:r>
          </a:p>
          <a:p>
            <a:pPr>
              <a:spcBef>
                <a:spcPct val="0"/>
              </a:spcBef>
              <a:buFontTx/>
              <a:buNone/>
            </a:pPr>
            <a:r>
              <a:rPr lang="en-US" altLang="en-US" sz="1800" b="1" dirty="0">
                <a:solidFill>
                  <a:srgbClr val="000000"/>
                </a:solidFill>
                <a:latin typeface="Courier New" panose="02070309020205020404" pitchFamily="49" charset="0"/>
              </a:rPr>
              <a:t>  2  SET	</a:t>
            </a:r>
            <a:r>
              <a:rPr lang="en-US" altLang="en-US" sz="1800" b="1" dirty="0">
                <a:solidFill>
                  <a:srgbClr val="0000FF"/>
                </a:solidFill>
                <a:latin typeface="Courier New" panose="02070309020205020404" pitchFamily="49" charset="0"/>
              </a:rPr>
              <a:t>loc = DEFAULT </a:t>
            </a:r>
            <a:r>
              <a:rPr lang="en-US" altLang="en-US" sz="1800" b="1" dirty="0">
                <a:solidFill>
                  <a:srgbClr val="000000"/>
                </a:solidFill>
                <a:latin typeface="Courier New" panose="02070309020205020404" pitchFamily="49" charset="0"/>
              </a:rPr>
              <a:t> </a:t>
            </a:r>
          </a:p>
        </p:txBody>
      </p:sp>
    </p:spTree>
    <p:extLst>
      <p:ext uri="{BB962C8B-B14F-4D97-AF65-F5344CB8AC3E}">
        <p14:creationId xmlns:p14="http://schemas.microsoft.com/office/powerpoint/2010/main" val="131966786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DB38B-EA5C-76CC-3DE6-C3F29A845B14}"/>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9A0C6F3F-4070-BCA6-CD2F-6082B14627F8}"/>
              </a:ext>
            </a:extLst>
          </p:cNvPr>
          <p:cNvSpPr>
            <a:spLocks noChangeArrowheads="1"/>
          </p:cNvSpPr>
          <p:nvPr/>
        </p:nvSpPr>
        <p:spPr bwMode="blackWhite">
          <a:xfrm>
            <a:off x="936625" y="1628800"/>
            <a:ext cx="7488238" cy="21272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4819" name="Rectangle 3">
            <a:extLst>
              <a:ext uri="{FF2B5EF4-FFF2-40B4-BE49-F238E27FC236}">
                <a16:creationId xmlns:a16="http://schemas.microsoft.com/office/drawing/2014/main" id="{7875F360-E6C6-2F0F-A721-8083E42B2DD8}"/>
              </a:ext>
            </a:extLst>
          </p:cNvPr>
          <p:cNvSpPr>
            <a:spLocks noChangeArrowheads="1"/>
          </p:cNvSpPr>
          <p:nvPr/>
        </p:nvSpPr>
        <p:spPr bwMode="ltGray">
          <a:xfrm>
            <a:off x="4857750" y="2216175"/>
            <a:ext cx="3143250" cy="9429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820" name="Rectangle 4">
            <a:extLst>
              <a:ext uri="{FF2B5EF4-FFF2-40B4-BE49-F238E27FC236}">
                <a16:creationId xmlns:a16="http://schemas.microsoft.com/office/drawing/2014/main" id="{09E3126A-FA5B-5B03-48FF-944210FDA24E}"/>
              </a:ext>
            </a:extLst>
          </p:cNvPr>
          <p:cNvSpPr>
            <a:spLocks noGrp="1" noChangeArrowheads="1"/>
          </p:cNvSpPr>
          <p:nvPr>
            <p:ph type="title"/>
          </p:nvPr>
        </p:nvSpPr>
        <p:spPr>
          <a:xfrm>
            <a:off x="467544" y="260648"/>
            <a:ext cx="7772400" cy="490066"/>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Updating using Subquery</a:t>
            </a:r>
          </a:p>
        </p:txBody>
      </p:sp>
      <p:sp>
        <p:nvSpPr>
          <p:cNvPr id="466949" name="Rectangle 5">
            <a:extLst>
              <a:ext uri="{FF2B5EF4-FFF2-40B4-BE49-F238E27FC236}">
                <a16:creationId xmlns:a16="http://schemas.microsoft.com/office/drawing/2014/main" id="{DC6F19B2-9DD1-E3CC-6C66-34EA98ABFBE7}"/>
              </a:ext>
            </a:extLst>
          </p:cNvPr>
          <p:cNvSpPr>
            <a:spLocks noChangeArrowheads="1"/>
          </p:cNvSpPr>
          <p:nvPr/>
        </p:nvSpPr>
        <p:spPr bwMode="blackWhite">
          <a:xfrm>
            <a:off x="904875" y="1809775"/>
            <a:ext cx="7153275" cy="174783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a:t>
            </a:r>
          </a:p>
          <a:p>
            <a:pPr>
              <a:tabLst>
                <a:tab pos="1200150" algn="l"/>
              </a:tabLst>
              <a:defRPr/>
            </a:pPr>
            <a:r>
              <a:rPr lang="en-US" sz="1800" b="1">
                <a:solidFill>
                  <a:srgbClr val="000000"/>
                </a:solidFill>
                <a:latin typeface="Courier New" pitchFamily="49" charset="0"/>
              </a:rPr>
              <a:t>  2  SET     (job, deptno) = </a:t>
            </a:r>
          </a:p>
          <a:p>
            <a:pPr>
              <a:tabLst>
                <a:tab pos="1200150" algn="l"/>
              </a:tabLst>
              <a:defRPr/>
            </a:pPr>
            <a:r>
              <a:rPr lang="en-US" sz="1800" b="1">
                <a:solidFill>
                  <a:srgbClr val="000000"/>
                </a:solidFill>
                <a:latin typeface="Courier New" pitchFamily="49" charset="0"/>
              </a:rPr>
              <a:t>  3				  (SELECT job, deptno</a:t>
            </a:r>
          </a:p>
          <a:p>
            <a:pPr>
              <a:tabLst>
                <a:tab pos="1200150" algn="l"/>
              </a:tabLst>
              <a:defRPr/>
            </a:pPr>
            <a:r>
              <a:rPr lang="en-US" sz="1800" b="1">
                <a:solidFill>
                  <a:srgbClr val="000000"/>
                </a:solidFill>
                <a:latin typeface="Courier New" pitchFamily="49" charset="0"/>
              </a:rPr>
              <a:t>  4                          FROM    emp</a:t>
            </a:r>
          </a:p>
          <a:p>
            <a:pPr>
              <a:tabLst>
                <a:tab pos="1200150" algn="l"/>
              </a:tabLst>
              <a:defRPr/>
            </a:pPr>
            <a:r>
              <a:rPr lang="en-US" sz="1800" b="1">
                <a:solidFill>
                  <a:srgbClr val="000000"/>
                </a:solidFill>
                <a:latin typeface="Courier New" pitchFamily="49" charset="0"/>
              </a:rPr>
              <a:t>  5                          WHERE   empno = 7499)</a:t>
            </a:r>
          </a:p>
          <a:p>
            <a:pPr>
              <a:tabLst>
                <a:tab pos="1200150" algn="l"/>
              </a:tabLst>
              <a:defRPr/>
            </a:pPr>
            <a:r>
              <a:rPr lang="en-US" sz="1800" b="1">
                <a:solidFill>
                  <a:srgbClr val="000000"/>
                </a:solidFill>
                <a:latin typeface="Courier New" pitchFamily="49" charset="0"/>
              </a:rPr>
              <a:t>  6  WHERE   empno = 7698;</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updated.</a:t>
            </a:r>
          </a:p>
        </p:txBody>
      </p:sp>
      <p:sp>
        <p:nvSpPr>
          <p:cNvPr id="34822" name="Rectangle 6">
            <a:extLst>
              <a:ext uri="{FF2B5EF4-FFF2-40B4-BE49-F238E27FC236}">
                <a16:creationId xmlns:a16="http://schemas.microsoft.com/office/drawing/2014/main" id="{488A5BD5-927A-8022-C977-19716B363226}"/>
              </a:ext>
            </a:extLst>
          </p:cNvPr>
          <p:cNvSpPr>
            <a:spLocks noGrp="1" noChangeArrowheads="1"/>
          </p:cNvSpPr>
          <p:nvPr>
            <p:ph type="body" idx="1"/>
          </p:nvPr>
        </p:nvSpPr>
        <p:spPr>
          <a:xfrm>
            <a:off x="596899" y="770504"/>
            <a:ext cx="8151565" cy="831639"/>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Update employee </a:t>
            </a:r>
            <a:r>
              <a:rPr lang="en-US" altLang="en-US" sz="2400" dirty="0">
                <a:solidFill>
                  <a:srgbClr val="0000FF"/>
                </a:solidFill>
                <a:latin typeface="Cambria" panose="02040503050406030204" pitchFamily="18" charset="0"/>
                <a:ea typeface="Cambria" panose="02040503050406030204" pitchFamily="18" charset="0"/>
              </a:rPr>
              <a:t>7698’s</a:t>
            </a:r>
            <a:r>
              <a:rPr lang="en-US" altLang="en-US" sz="2400" dirty="0">
                <a:latin typeface="Cambria" panose="02040503050406030204" pitchFamily="18" charset="0"/>
                <a:ea typeface="Cambria" panose="02040503050406030204" pitchFamily="18" charset="0"/>
              </a:rPr>
              <a:t> job and department to match that of employee </a:t>
            </a:r>
            <a:r>
              <a:rPr lang="en-US" altLang="en-US" sz="2400" dirty="0">
                <a:solidFill>
                  <a:srgbClr val="0000FF"/>
                </a:solidFill>
                <a:latin typeface="Cambria" panose="02040503050406030204" pitchFamily="18" charset="0"/>
                <a:ea typeface="Cambria" panose="02040503050406030204" pitchFamily="18" charset="0"/>
              </a:rPr>
              <a:t>7499.</a:t>
            </a:r>
          </a:p>
        </p:txBody>
      </p:sp>
      <p:sp>
        <p:nvSpPr>
          <p:cNvPr id="2" name="Slide Number Placeholder 23">
            <a:extLst>
              <a:ext uri="{FF2B5EF4-FFF2-40B4-BE49-F238E27FC236}">
                <a16:creationId xmlns:a16="http://schemas.microsoft.com/office/drawing/2014/main" id="{77C23F0A-BFC5-9401-F625-95FCD707A18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D678C777-4237-5B2A-68A9-F9A014FD6DD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4">
            <a:extLst>
              <a:ext uri="{FF2B5EF4-FFF2-40B4-BE49-F238E27FC236}">
                <a16:creationId xmlns:a16="http://schemas.microsoft.com/office/drawing/2014/main" id="{D47AC4BB-5D2A-3A74-7353-F3B1A9570A2B}"/>
              </a:ext>
            </a:extLst>
          </p:cNvPr>
          <p:cNvSpPr>
            <a:spLocks noChangeArrowheads="1"/>
          </p:cNvSpPr>
          <p:nvPr/>
        </p:nvSpPr>
        <p:spPr bwMode="blackWhite">
          <a:xfrm>
            <a:off x="935038" y="4097486"/>
            <a:ext cx="7497762" cy="2355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3324225" algn="l"/>
                <a:tab pos="4579938" algn="l"/>
              </a:tabLst>
              <a:defRPr/>
            </a:pPr>
            <a:r>
              <a:rPr lang="en-US" sz="1800" b="1">
                <a:solidFill>
                  <a:srgbClr val="000000"/>
                </a:solidFill>
                <a:latin typeface="Courier New" pitchFamily="49" charset="0"/>
              </a:rPr>
              <a:t>SQL&gt;	UPDATE	employee</a:t>
            </a:r>
          </a:p>
          <a:p>
            <a:pPr>
              <a:tabLst>
                <a:tab pos="688975" algn="l"/>
                <a:tab pos="1824038" algn="l"/>
                <a:tab pos="3324225" algn="l"/>
                <a:tab pos="4579938" algn="l"/>
              </a:tabLst>
              <a:defRPr/>
            </a:pPr>
            <a:r>
              <a:rPr lang="en-US" sz="1800" b="1">
                <a:solidFill>
                  <a:srgbClr val="000000"/>
                </a:solidFill>
                <a:latin typeface="Courier New" pitchFamily="49" charset="0"/>
              </a:rPr>
              <a:t>  2	SET	deptno =  (SELECT	deptno</a:t>
            </a:r>
          </a:p>
          <a:p>
            <a:pPr>
              <a:tabLst>
                <a:tab pos="688975" algn="l"/>
                <a:tab pos="1824038" algn="l"/>
                <a:tab pos="3324225" algn="l"/>
                <a:tab pos="4579938" algn="l"/>
              </a:tabLst>
              <a:defRPr/>
            </a:pPr>
            <a:r>
              <a:rPr lang="en-US" sz="1800" b="1">
                <a:solidFill>
                  <a:srgbClr val="000000"/>
                </a:solidFill>
                <a:latin typeface="Courier New" pitchFamily="49" charset="0"/>
              </a:rPr>
              <a:t>  3			FROM	emp 	</a:t>
            </a:r>
          </a:p>
          <a:p>
            <a:pPr>
              <a:tabLst>
                <a:tab pos="688975" algn="l"/>
                <a:tab pos="1824038" algn="l"/>
                <a:tab pos="3324225" algn="l"/>
                <a:tab pos="4579938" algn="l"/>
              </a:tabLst>
              <a:defRPr/>
            </a:pPr>
            <a:r>
              <a:rPr lang="en-US" sz="1800" b="1">
                <a:solidFill>
                  <a:srgbClr val="000000"/>
                </a:solidFill>
                <a:latin typeface="Courier New" pitchFamily="49" charset="0"/>
              </a:rPr>
              <a:t>  4			WHERE	empno = 7788)</a:t>
            </a:r>
          </a:p>
          <a:p>
            <a:pPr>
              <a:tabLst>
                <a:tab pos="688975" algn="l"/>
                <a:tab pos="1824038" algn="l"/>
                <a:tab pos="3324225" algn="l"/>
                <a:tab pos="4579938" algn="l"/>
              </a:tabLst>
              <a:defRPr/>
            </a:pPr>
            <a:r>
              <a:rPr lang="en-US" sz="1800" b="1">
                <a:solidFill>
                  <a:srgbClr val="000000"/>
                </a:solidFill>
                <a:latin typeface="Courier New" pitchFamily="49" charset="0"/>
              </a:rPr>
              <a:t>  5	WHERE	job    =  (SELECT	job</a:t>
            </a:r>
          </a:p>
          <a:p>
            <a:pPr>
              <a:tabLst>
                <a:tab pos="688975" algn="l"/>
                <a:tab pos="1824038" algn="l"/>
                <a:tab pos="3324225" algn="l"/>
                <a:tab pos="4579938" algn="l"/>
              </a:tabLst>
              <a:defRPr/>
            </a:pPr>
            <a:r>
              <a:rPr lang="en-US" sz="1800" b="1">
                <a:solidFill>
                  <a:srgbClr val="000000"/>
                </a:solidFill>
                <a:latin typeface="Courier New" pitchFamily="49" charset="0"/>
              </a:rPr>
              <a:t>  6			FROM	emp</a:t>
            </a:r>
          </a:p>
          <a:p>
            <a:pPr>
              <a:tabLst>
                <a:tab pos="688975" algn="l"/>
                <a:tab pos="1824038" algn="l"/>
                <a:tab pos="3324225" algn="l"/>
                <a:tab pos="4579938" algn="l"/>
              </a:tabLst>
              <a:defRPr/>
            </a:pPr>
            <a:r>
              <a:rPr lang="en-US" sz="1800" b="1">
                <a:solidFill>
                  <a:srgbClr val="000000"/>
                </a:solidFill>
                <a:latin typeface="Courier New" pitchFamily="49" charset="0"/>
              </a:rPr>
              <a:t>  7			WHERE	empno = 7788);</a:t>
            </a:r>
          </a:p>
          <a:p>
            <a:pPr>
              <a:tabLst>
                <a:tab pos="688975" algn="l"/>
                <a:tab pos="1824038" algn="l"/>
                <a:tab pos="3324225" algn="l"/>
                <a:tab pos="4579938" algn="l"/>
              </a:tabLst>
              <a:defRPr/>
            </a:pPr>
            <a:r>
              <a:rPr lang="en-US" sz="1800" b="1">
                <a:solidFill>
                  <a:srgbClr val="FF3300"/>
                </a:solidFill>
                <a:effectLst>
                  <a:outerShdw blurRad="38100" dist="38100" dir="2700000" algn="tl">
                    <a:srgbClr val="000000"/>
                  </a:outerShdw>
                </a:effectLst>
                <a:latin typeface="Courier New" pitchFamily="49" charset="0"/>
              </a:rPr>
              <a:t>2 rows updated.</a:t>
            </a:r>
          </a:p>
        </p:txBody>
      </p:sp>
    </p:spTree>
    <p:extLst>
      <p:ext uri="{BB962C8B-B14F-4D97-AF65-F5344CB8AC3E}">
        <p14:creationId xmlns:p14="http://schemas.microsoft.com/office/powerpoint/2010/main" val="21742951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DDCA-B243-E28B-F4EA-5C852FCEE655}"/>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2A8FAF67-C020-0EBF-74C9-AEAC374A3CE5}"/>
              </a:ext>
            </a:extLst>
          </p:cNvPr>
          <p:cNvSpPr>
            <a:spLocks noChangeArrowheads="1"/>
          </p:cNvSpPr>
          <p:nvPr/>
        </p:nvSpPr>
        <p:spPr bwMode="blackWhite">
          <a:xfrm>
            <a:off x="627063" y="1458913"/>
            <a:ext cx="3862387" cy="24606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grpSp>
        <p:nvGrpSpPr>
          <p:cNvPr id="2" name="Group 3">
            <a:extLst>
              <a:ext uri="{FF2B5EF4-FFF2-40B4-BE49-F238E27FC236}">
                <a16:creationId xmlns:a16="http://schemas.microsoft.com/office/drawing/2014/main" id="{8AAB5057-4050-6BB2-24D4-41C20792D331}"/>
              </a:ext>
            </a:extLst>
          </p:cNvPr>
          <p:cNvGrpSpPr>
            <a:grpSpLocks/>
          </p:cNvGrpSpPr>
          <p:nvPr/>
        </p:nvGrpSpPr>
        <p:grpSpPr bwMode="auto">
          <a:xfrm>
            <a:off x="4573588" y="2336800"/>
            <a:ext cx="3579812" cy="1474788"/>
            <a:chOff x="2881" y="1472"/>
            <a:chExt cx="2255" cy="929"/>
          </a:xfrm>
        </p:grpSpPr>
        <p:sp>
          <p:nvSpPr>
            <p:cNvPr id="473092" name="Rectangle 4">
              <a:extLst>
                <a:ext uri="{FF2B5EF4-FFF2-40B4-BE49-F238E27FC236}">
                  <a16:creationId xmlns:a16="http://schemas.microsoft.com/office/drawing/2014/main" id="{8FA4B242-F814-2BB4-6830-A93B91B4552E}"/>
                </a:ext>
              </a:extLst>
            </p:cNvPr>
            <p:cNvSpPr>
              <a:spLocks noChangeArrowheads="1"/>
            </p:cNvSpPr>
            <p:nvPr/>
          </p:nvSpPr>
          <p:spPr bwMode="auto">
            <a:xfrm>
              <a:off x="2881" y="1472"/>
              <a:ext cx="2255" cy="449"/>
            </a:xfrm>
            <a:prstGeom prst="rect">
              <a:avLst/>
            </a:prstGeom>
            <a:noFill/>
            <a:ln w="9525">
              <a:noFill/>
              <a:miter lim="800000"/>
              <a:headEnd/>
              <a:tailEnd/>
            </a:ln>
            <a:effectLst/>
          </p:spPr>
          <p:txBody>
            <a:bodyPr lIns="92075" tIns="46038" rIns="92075" bIns="46038">
              <a:spAutoFit/>
            </a:bodyPr>
            <a:lstStyle/>
            <a:p>
              <a:pPr defTabSz="346075">
                <a:lnSpc>
                  <a:spcPct val="65000"/>
                </a:lnSpc>
                <a:spcBef>
                  <a:spcPct val="35000"/>
                </a:spcBef>
                <a:tabLst>
                  <a:tab pos="576263" algn="l"/>
                </a:tabLst>
                <a:defRPr/>
              </a:pPr>
              <a:r>
                <a:rPr lang="en-US" b="1" dirty="0">
                  <a:solidFill>
                    <a:srgbClr val="0000FF"/>
                  </a:solidFill>
                  <a:latin typeface="Cambria" panose="02040503050406030204" pitchFamily="18" charset="0"/>
                  <a:ea typeface="Cambria" panose="02040503050406030204" pitchFamily="18" charset="0"/>
                </a:rPr>
                <a:t>“…delete a row </a:t>
              </a:r>
            </a:p>
            <a:p>
              <a:pPr defTabSz="346075">
                <a:lnSpc>
                  <a:spcPct val="65000"/>
                </a:lnSpc>
                <a:spcBef>
                  <a:spcPct val="35000"/>
                </a:spcBef>
                <a:tabLst>
                  <a:tab pos="576263" algn="l"/>
                </a:tabLst>
                <a:defRPr/>
              </a:pPr>
              <a:r>
                <a:rPr lang="en-US" b="1" dirty="0">
                  <a:solidFill>
                    <a:srgbClr val="0000FF"/>
                  </a:solidFill>
                  <a:latin typeface="Cambria" panose="02040503050406030204" pitchFamily="18" charset="0"/>
                  <a:ea typeface="Cambria" panose="02040503050406030204" pitchFamily="18" charset="0"/>
                </a:rPr>
                <a:t>from DEPT table…”</a:t>
              </a:r>
            </a:p>
          </p:txBody>
        </p:sp>
        <p:sp>
          <p:nvSpPr>
            <p:cNvPr id="43038" name="Arc 5">
              <a:extLst>
                <a:ext uri="{FF2B5EF4-FFF2-40B4-BE49-F238E27FC236}">
                  <a16:creationId xmlns:a16="http://schemas.microsoft.com/office/drawing/2014/main" id="{2BDE5E37-6B67-E3D9-76B7-3CDBD1166DBA}"/>
                </a:ext>
              </a:extLst>
            </p:cNvPr>
            <p:cNvSpPr>
              <a:spLocks/>
            </p:cNvSpPr>
            <p:nvPr/>
          </p:nvSpPr>
          <p:spPr bwMode="auto">
            <a:xfrm>
              <a:off x="2964" y="1978"/>
              <a:ext cx="1537" cy="423"/>
            </a:xfrm>
            <a:custGeom>
              <a:avLst/>
              <a:gdLst>
                <a:gd name="T0" fmla="*/ 0 w 20501"/>
                <a:gd name="T1" fmla="*/ 0 h 21600"/>
                <a:gd name="T2" fmla="*/ 1 w 20501"/>
                <a:gd name="T3" fmla="*/ 0 h 21600"/>
                <a:gd name="T4" fmla="*/ 0 w 20501"/>
                <a:gd name="T5" fmla="*/ 0 h 21600"/>
                <a:gd name="T6" fmla="*/ 0 60000 65536"/>
                <a:gd name="T7" fmla="*/ 0 60000 65536"/>
                <a:gd name="T8" fmla="*/ 0 60000 65536"/>
              </a:gdLst>
              <a:ahLst/>
              <a:cxnLst>
                <a:cxn ang="T6">
                  <a:pos x="T0" y="T1"/>
                </a:cxn>
                <a:cxn ang="T7">
                  <a:pos x="T2" y="T3"/>
                </a:cxn>
                <a:cxn ang="T8">
                  <a:pos x="T4" y="T5"/>
                </a:cxn>
              </a:cxnLst>
              <a:rect l="0" t="0" r="r" b="b"/>
              <a:pathLst>
                <a:path w="20501" h="21600" fill="none" extrusionOk="0">
                  <a:moveTo>
                    <a:pt x="0" y="0"/>
                  </a:moveTo>
                  <a:cubicBezTo>
                    <a:pt x="4" y="0"/>
                    <a:pt x="8" y="-1"/>
                    <a:pt x="13" y="0"/>
                  </a:cubicBezTo>
                  <a:cubicBezTo>
                    <a:pt x="9306" y="0"/>
                    <a:pt x="17557" y="5944"/>
                    <a:pt x="20501" y="14758"/>
                  </a:cubicBezTo>
                </a:path>
                <a:path w="20501" h="21600" stroke="0" extrusionOk="0">
                  <a:moveTo>
                    <a:pt x="0" y="0"/>
                  </a:moveTo>
                  <a:cubicBezTo>
                    <a:pt x="4" y="0"/>
                    <a:pt x="8" y="-1"/>
                    <a:pt x="13" y="0"/>
                  </a:cubicBezTo>
                  <a:cubicBezTo>
                    <a:pt x="9306" y="0"/>
                    <a:pt x="17557" y="5944"/>
                    <a:pt x="20501" y="14758"/>
                  </a:cubicBezTo>
                  <a:lnTo>
                    <a:pt x="13"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sp>
        <p:nvSpPr>
          <p:cNvPr id="43012" name="Rectangle 6">
            <a:extLst>
              <a:ext uri="{FF2B5EF4-FFF2-40B4-BE49-F238E27FC236}">
                <a16:creationId xmlns:a16="http://schemas.microsoft.com/office/drawing/2014/main" id="{382EB2D8-8A0B-CC24-C859-5914C698E759}"/>
              </a:ext>
            </a:extLst>
          </p:cNvPr>
          <p:cNvSpPr>
            <a:spLocks noChangeArrowheads="1"/>
          </p:cNvSpPr>
          <p:nvPr/>
        </p:nvSpPr>
        <p:spPr bwMode="ltGray">
          <a:xfrm>
            <a:off x="638175" y="3076575"/>
            <a:ext cx="3838575" cy="238125"/>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3013" name="Rectangle 7">
            <a:extLst>
              <a:ext uri="{FF2B5EF4-FFF2-40B4-BE49-F238E27FC236}">
                <a16:creationId xmlns:a16="http://schemas.microsoft.com/office/drawing/2014/main" id="{A546B5B6-BA0E-1E8C-FD7F-921E1FE5C8F5}"/>
              </a:ext>
            </a:extLst>
          </p:cNvPr>
          <p:cNvSpPr>
            <a:spLocks noGrp="1" noChangeArrowheads="1"/>
          </p:cNvSpPr>
          <p:nvPr>
            <p:ph type="title"/>
          </p:nvPr>
        </p:nvSpPr>
        <p:spPr>
          <a:xfrm>
            <a:off x="395536" y="322245"/>
            <a:ext cx="507523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Removing a Row from a Table </a:t>
            </a:r>
          </a:p>
        </p:txBody>
      </p:sp>
      <p:sp>
        <p:nvSpPr>
          <p:cNvPr id="473096" name="Rectangle 8">
            <a:extLst>
              <a:ext uri="{FF2B5EF4-FFF2-40B4-BE49-F238E27FC236}">
                <a16:creationId xmlns:a16="http://schemas.microsoft.com/office/drawing/2014/main" id="{7EC08B02-BBA3-0A40-ED46-C9304E6E7C4E}"/>
              </a:ext>
            </a:extLst>
          </p:cNvPr>
          <p:cNvSpPr>
            <a:spLocks noChangeArrowheads="1"/>
          </p:cNvSpPr>
          <p:nvPr/>
        </p:nvSpPr>
        <p:spPr bwMode="auto">
          <a:xfrm>
            <a:off x="539750" y="1077913"/>
            <a:ext cx="891270"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FF"/>
                </a:solidFill>
                <a:effectLst>
                  <a:outerShdw blurRad="38100" dist="38100" dir="2700000" algn="tl">
                    <a:srgbClr val="FFFFFF"/>
                  </a:outerShdw>
                </a:effectLst>
                <a:latin typeface="Cambria" panose="02040503050406030204" pitchFamily="18" charset="0"/>
                <a:ea typeface="Cambria" panose="02040503050406030204" pitchFamily="18" charset="0"/>
              </a:rPr>
              <a:t>DEPT </a:t>
            </a:r>
          </a:p>
        </p:txBody>
      </p:sp>
      <p:sp>
        <p:nvSpPr>
          <p:cNvPr id="43015" name="Rectangle 9">
            <a:extLst>
              <a:ext uri="{FF2B5EF4-FFF2-40B4-BE49-F238E27FC236}">
                <a16:creationId xmlns:a16="http://schemas.microsoft.com/office/drawing/2014/main" id="{AA3754FC-4997-BF17-3F22-2AE43F8B2599}"/>
              </a:ext>
            </a:extLst>
          </p:cNvPr>
          <p:cNvSpPr>
            <a:spLocks noChangeArrowheads="1"/>
          </p:cNvSpPr>
          <p:nvPr/>
        </p:nvSpPr>
        <p:spPr bwMode="blackWhite">
          <a:xfrm>
            <a:off x="639763" y="1473200"/>
            <a:ext cx="3836987"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600" b="1">
                <a:solidFill>
                  <a:srgbClr val="000000"/>
                </a:solidFill>
                <a:latin typeface="Courier New" panose="02070309020205020404" pitchFamily="49" charset="0"/>
              </a:rPr>
              <a:t>	</a:t>
            </a:r>
            <a:r>
              <a:rPr lang="en-US" altLang="en-US" sz="1800" b="1">
                <a:solidFill>
                  <a:srgbClr val="000000"/>
                </a:solidFill>
                <a:latin typeface="Courier New" panose="02070309020205020404" pitchFamily="49" charset="0"/>
              </a:rPr>
              <a:t>DETROIT</a:t>
            </a:r>
          </a:p>
          <a:p>
            <a:pPr>
              <a:lnSpc>
                <a:spcPct val="95000"/>
              </a:lnSpc>
              <a:spcBef>
                <a:spcPct val="0"/>
              </a:spcBef>
              <a:buFontTx/>
              <a:buNone/>
            </a:pPr>
            <a:r>
              <a:rPr lang="en-US" altLang="en-US" sz="1800" b="1">
                <a:solidFill>
                  <a:srgbClr val="000000"/>
                </a:solidFill>
                <a:latin typeface="Courier New" panose="02070309020205020404" pitchFamily="49" charset="0"/>
              </a:rPr>
              <a:t>    60	MIS		</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16" name="Line 10">
            <a:extLst>
              <a:ext uri="{FF2B5EF4-FFF2-40B4-BE49-F238E27FC236}">
                <a16:creationId xmlns:a16="http://schemas.microsoft.com/office/drawing/2014/main" id="{F42E76E1-F56F-9609-6649-538FE149A434}"/>
              </a:ext>
            </a:extLst>
          </p:cNvPr>
          <p:cNvSpPr>
            <a:spLocks noChangeShapeType="1"/>
          </p:cNvSpPr>
          <p:nvPr/>
        </p:nvSpPr>
        <p:spPr bwMode="auto">
          <a:xfrm>
            <a:off x="628650" y="190500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7" name="Line 11">
            <a:extLst>
              <a:ext uri="{FF2B5EF4-FFF2-40B4-BE49-F238E27FC236}">
                <a16:creationId xmlns:a16="http://schemas.microsoft.com/office/drawing/2014/main" id="{BBC344FA-5A83-0430-CA09-2A8BA41C7CEB}"/>
              </a:ext>
            </a:extLst>
          </p:cNvPr>
          <p:cNvSpPr>
            <a:spLocks noChangeShapeType="1"/>
          </p:cNvSpPr>
          <p:nvPr/>
        </p:nvSpPr>
        <p:spPr bwMode="auto">
          <a:xfrm>
            <a:off x="622300" y="22987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8" name="Line 12">
            <a:extLst>
              <a:ext uri="{FF2B5EF4-FFF2-40B4-BE49-F238E27FC236}">
                <a16:creationId xmlns:a16="http://schemas.microsoft.com/office/drawing/2014/main" id="{EB9CE08B-A75D-8FB2-D6CF-8C75833BFB5B}"/>
              </a:ext>
            </a:extLst>
          </p:cNvPr>
          <p:cNvSpPr>
            <a:spLocks noChangeShapeType="1"/>
          </p:cNvSpPr>
          <p:nvPr/>
        </p:nvSpPr>
        <p:spPr bwMode="auto">
          <a:xfrm>
            <a:off x="622300" y="25590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9" name="Line 13">
            <a:extLst>
              <a:ext uri="{FF2B5EF4-FFF2-40B4-BE49-F238E27FC236}">
                <a16:creationId xmlns:a16="http://schemas.microsoft.com/office/drawing/2014/main" id="{B4DF5F08-FF85-4DC9-96FB-AEEC279E0091}"/>
              </a:ext>
            </a:extLst>
          </p:cNvPr>
          <p:cNvSpPr>
            <a:spLocks noChangeShapeType="1"/>
          </p:cNvSpPr>
          <p:nvPr/>
        </p:nvSpPr>
        <p:spPr bwMode="auto">
          <a:xfrm>
            <a:off x="622300" y="28194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0" name="Line 14">
            <a:extLst>
              <a:ext uri="{FF2B5EF4-FFF2-40B4-BE49-F238E27FC236}">
                <a16:creationId xmlns:a16="http://schemas.microsoft.com/office/drawing/2014/main" id="{2F67E914-7246-168E-3B8F-242E1AB02015}"/>
              </a:ext>
            </a:extLst>
          </p:cNvPr>
          <p:cNvSpPr>
            <a:spLocks noChangeShapeType="1"/>
          </p:cNvSpPr>
          <p:nvPr/>
        </p:nvSpPr>
        <p:spPr bwMode="auto">
          <a:xfrm>
            <a:off x="1625600" y="1450975"/>
            <a:ext cx="0" cy="24828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1" name="Line 15">
            <a:extLst>
              <a:ext uri="{FF2B5EF4-FFF2-40B4-BE49-F238E27FC236}">
                <a16:creationId xmlns:a16="http://schemas.microsoft.com/office/drawing/2014/main" id="{EAB30B1F-30EA-CC67-E45F-CC3EF12BB411}"/>
              </a:ext>
            </a:extLst>
          </p:cNvPr>
          <p:cNvSpPr>
            <a:spLocks noChangeShapeType="1"/>
          </p:cNvSpPr>
          <p:nvPr/>
        </p:nvSpPr>
        <p:spPr bwMode="auto">
          <a:xfrm>
            <a:off x="3124200" y="1450975"/>
            <a:ext cx="0" cy="25114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2" name="Line 16">
            <a:extLst>
              <a:ext uri="{FF2B5EF4-FFF2-40B4-BE49-F238E27FC236}">
                <a16:creationId xmlns:a16="http://schemas.microsoft.com/office/drawing/2014/main" id="{F2252DFF-42F6-7A7B-1A7C-810C2B05B3F0}"/>
              </a:ext>
            </a:extLst>
          </p:cNvPr>
          <p:cNvSpPr>
            <a:spLocks noChangeShapeType="1"/>
          </p:cNvSpPr>
          <p:nvPr/>
        </p:nvSpPr>
        <p:spPr bwMode="auto">
          <a:xfrm>
            <a:off x="622300" y="30670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3" name="Line 17">
            <a:extLst>
              <a:ext uri="{FF2B5EF4-FFF2-40B4-BE49-F238E27FC236}">
                <a16:creationId xmlns:a16="http://schemas.microsoft.com/office/drawing/2014/main" id="{FCC5FC52-26BA-5EB9-D4A1-DC5739E28287}"/>
              </a:ext>
            </a:extLst>
          </p:cNvPr>
          <p:cNvSpPr>
            <a:spLocks noChangeShapeType="1"/>
          </p:cNvSpPr>
          <p:nvPr/>
        </p:nvSpPr>
        <p:spPr bwMode="auto">
          <a:xfrm>
            <a:off x="622300" y="33242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4" name="Line 18">
            <a:extLst>
              <a:ext uri="{FF2B5EF4-FFF2-40B4-BE49-F238E27FC236}">
                <a16:creationId xmlns:a16="http://schemas.microsoft.com/office/drawing/2014/main" id="{77DA0B72-3F1B-805D-339F-8D8B83668199}"/>
              </a:ext>
            </a:extLst>
          </p:cNvPr>
          <p:cNvSpPr>
            <a:spLocks noChangeShapeType="1"/>
          </p:cNvSpPr>
          <p:nvPr/>
        </p:nvSpPr>
        <p:spPr bwMode="auto">
          <a:xfrm>
            <a:off x="622300" y="36004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19">
            <a:extLst>
              <a:ext uri="{FF2B5EF4-FFF2-40B4-BE49-F238E27FC236}">
                <a16:creationId xmlns:a16="http://schemas.microsoft.com/office/drawing/2014/main" id="{A895DCB3-B427-409F-8264-62311F7D80CE}"/>
              </a:ext>
            </a:extLst>
          </p:cNvPr>
          <p:cNvGrpSpPr>
            <a:grpSpLocks/>
          </p:cNvGrpSpPr>
          <p:nvPr/>
        </p:nvGrpSpPr>
        <p:grpSpPr bwMode="auto">
          <a:xfrm>
            <a:off x="4640263" y="3344863"/>
            <a:ext cx="3968750" cy="2655887"/>
            <a:chOff x="2923" y="2107"/>
            <a:chExt cx="2500" cy="1673"/>
          </a:xfrm>
        </p:grpSpPr>
        <p:sp>
          <p:nvSpPr>
            <p:cNvPr id="43026" name="Rectangle 20">
              <a:extLst>
                <a:ext uri="{FF2B5EF4-FFF2-40B4-BE49-F238E27FC236}">
                  <a16:creationId xmlns:a16="http://schemas.microsoft.com/office/drawing/2014/main" id="{3EB68834-6D39-20A3-2E9C-CEC9B12EDFD7}"/>
                </a:ext>
              </a:extLst>
            </p:cNvPr>
            <p:cNvSpPr>
              <a:spLocks noChangeArrowheads="1"/>
            </p:cNvSpPr>
            <p:nvPr/>
          </p:nvSpPr>
          <p:spPr bwMode="blackWhite">
            <a:xfrm>
              <a:off x="2978" y="2347"/>
              <a:ext cx="2433" cy="138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73109" name="Rectangle 21">
              <a:extLst>
                <a:ext uri="{FF2B5EF4-FFF2-40B4-BE49-F238E27FC236}">
                  <a16:creationId xmlns:a16="http://schemas.microsoft.com/office/drawing/2014/main" id="{9722851B-6751-7318-9205-3135F680480E}"/>
                </a:ext>
              </a:extLst>
            </p:cNvPr>
            <p:cNvSpPr>
              <a:spLocks noChangeArrowheads="1"/>
            </p:cNvSpPr>
            <p:nvPr/>
          </p:nvSpPr>
          <p:spPr bwMode="auto">
            <a:xfrm>
              <a:off x="2923" y="2107"/>
              <a:ext cx="571" cy="2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DEPT</a:t>
              </a:r>
              <a:r>
                <a:rPr lang="en-US" sz="2000" b="1" dirty="0">
                  <a:effectLst>
                    <a:outerShdw blurRad="38100" dist="38100" dir="2700000" algn="tl">
                      <a:srgbClr val="FFFFFF"/>
                    </a:outerShdw>
                  </a:effectLst>
                </a:rPr>
                <a:t> </a:t>
              </a:r>
            </a:p>
          </p:txBody>
        </p:sp>
        <p:sp>
          <p:nvSpPr>
            <p:cNvPr id="43028" name="Rectangle 22">
              <a:extLst>
                <a:ext uri="{FF2B5EF4-FFF2-40B4-BE49-F238E27FC236}">
                  <a16:creationId xmlns:a16="http://schemas.microsoft.com/office/drawing/2014/main" id="{7D5BFDFA-14E6-AF42-A0D4-251D3F495FB0}"/>
                </a:ext>
              </a:extLst>
            </p:cNvPr>
            <p:cNvSpPr>
              <a:spLocks noChangeArrowheads="1"/>
            </p:cNvSpPr>
            <p:nvPr/>
          </p:nvSpPr>
          <p:spPr bwMode="blackWhite">
            <a:xfrm>
              <a:off x="2986" y="2356"/>
              <a:ext cx="2417" cy="1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a:p>
              <a:pPr>
                <a:lnSpc>
                  <a:spcPct val="95000"/>
                </a:lnSpc>
                <a:spcBef>
                  <a:spcPct val="0"/>
                </a:spcBef>
                <a:buFontTx/>
                <a:buNone/>
              </a:pPr>
              <a:r>
                <a:rPr lang="en-US" altLang="en-US" sz="1800" b="1">
                  <a:solidFill>
                    <a:srgbClr val="000000"/>
                  </a:solidFill>
                  <a:latin typeface="Courier New" panose="02070309020205020404" pitchFamily="49" charset="0"/>
                </a:rPr>
                <a:t>    60	MIS		</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29" name="Line 23">
              <a:extLst>
                <a:ext uri="{FF2B5EF4-FFF2-40B4-BE49-F238E27FC236}">
                  <a16:creationId xmlns:a16="http://schemas.microsoft.com/office/drawing/2014/main" id="{E3ADAA69-3D06-B42C-FD9A-D8A4D9C1715C}"/>
                </a:ext>
              </a:extLst>
            </p:cNvPr>
            <p:cNvSpPr>
              <a:spLocks noChangeShapeType="1"/>
            </p:cNvSpPr>
            <p:nvPr/>
          </p:nvSpPr>
          <p:spPr bwMode="auto">
            <a:xfrm>
              <a:off x="2979" y="2628"/>
              <a:ext cx="2444"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0" name="Line 24">
              <a:extLst>
                <a:ext uri="{FF2B5EF4-FFF2-40B4-BE49-F238E27FC236}">
                  <a16:creationId xmlns:a16="http://schemas.microsoft.com/office/drawing/2014/main" id="{9922D4DC-A027-7C83-499F-8F7F1CB95FBB}"/>
                </a:ext>
              </a:extLst>
            </p:cNvPr>
            <p:cNvSpPr>
              <a:spLocks noChangeShapeType="1"/>
            </p:cNvSpPr>
            <p:nvPr/>
          </p:nvSpPr>
          <p:spPr bwMode="auto">
            <a:xfrm>
              <a:off x="2975" y="2876"/>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1" name="Line 25">
              <a:extLst>
                <a:ext uri="{FF2B5EF4-FFF2-40B4-BE49-F238E27FC236}">
                  <a16:creationId xmlns:a16="http://schemas.microsoft.com/office/drawing/2014/main" id="{D0AE41AF-86B7-81D8-5750-D96FD714FF3D}"/>
                </a:ext>
              </a:extLst>
            </p:cNvPr>
            <p:cNvSpPr>
              <a:spLocks noChangeShapeType="1"/>
            </p:cNvSpPr>
            <p:nvPr/>
          </p:nvSpPr>
          <p:spPr bwMode="auto">
            <a:xfrm>
              <a:off x="2975" y="3040"/>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2" name="Line 26">
              <a:extLst>
                <a:ext uri="{FF2B5EF4-FFF2-40B4-BE49-F238E27FC236}">
                  <a16:creationId xmlns:a16="http://schemas.microsoft.com/office/drawing/2014/main" id="{6921B32D-5237-14C8-22AC-C829852CA369}"/>
                </a:ext>
              </a:extLst>
            </p:cNvPr>
            <p:cNvSpPr>
              <a:spLocks noChangeShapeType="1"/>
            </p:cNvSpPr>
            <p:nvPr/>
          </p:nvSpPr>
          <p:spPr bwMode="auto">
            <a:xfrm>
              <a:off x="2975" y="320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3" name="Line 27">
              <a:extLst>
                <a:ext uri="{FF2B5EF4-FFF2-40B4-BE49-F238E27FC236}">
                  <a16:creationId xmlns:a16="http://schemas.microsoft.com/office/drawing/2014/main" id="{6B61CA54-800E-E934-3DAA-44FC5A9E0D0E}"/>
                </a:ext>
              </a:extLst>
            </p:cNvPr>
            <p:cNvSpPr>
              <a:spLocks noChangeShapeType="1"/>
            </p:cNvSpPr>
            <p:nvPr/>
          </p:nvSpPr>
          <p:spPr bwMode="auto">
            <a:xfrm>
              <a:off x="3607" y="2342"/>
              <a:ext cx="0" cy="142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4" name="Line 28">
              <a:extLst>
                <a:ext uri="{FF2B5EF4-FFF2-40B4-BE49-F238E27FC236}">
                  <a16:creationId xmlns:a16="http://schemas.microsoft.com/office/drawing/2014/main" id="{68D19A73-80DB-BE5B-8156-4DE3E485A937}"/>
                </a:ext>
              </a:extLst>
            </p:cNvPr>
            <p:cNvSpPr>
              <a:spLocks noChangeShapeType="1"/>
            </p:cNvSpPr>
            <p:nvPr/>
          </p:nvSpPr>
          <p:spPr bwMode="auto">
            <a:xfrm>
              <a:off x="4551" y="2342"/>
              <a:ext cx="0" cy="1438"/>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5" name="Line 29">
              <a:extLst>
                <a:ext uri="{FF2B5EF4-FFF2-40B4-BE49-F238E27FC236}">
                  <a16:creationId xmlns:a16="http://schemas.microsoft.com/office/drawing/2014/main" id="{A42169FC-6413-FFAD-152D-EE4731046D71}"/>
                </a:ext>
              </a:extLst>
            </p:cNvPr>
            <p:cNvSpPr>
              <a:spLocks noChangeShapeType="1"/>
            </p:cNvSpPr>
            <p:nvPr/>
          </p:nvSpPr>
          <p:spPr bwMode="auto">
            <a:xfrm>
              <a:off x="2975" y="3360"/>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6" name="Line 30">
              <a:extLst>
                <a:ext uri="{FF2B5EF4-FFF2-40B4-BE49-F238E27FC236}">
                  <a16:creationId xmlns:a16="http://schemas.microsoft.com/office/drawing/2014/main" id="{25EE7FF0-6358-4F39-A376-4C992CEC4292}"/>
                </a:ext>
              </a:extLst>
            </p:cNvPr>
            <p:cNvSpPr>
              <a:spLocks noChangeShapeType="1"/>
            </p:cNvSpPr>
            <p:nvPr/>
          </p:nvSpPr>
          <p:spPr bwMode="auto">
            <a:xfrm>
              <a:off x="2975" y="3522"/>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 name="Slide Number Placeholder 23">
            <a:extLst>
              <a:ext uri="{FF2B5EF4-FFF2-40B4-BE49-F238E27FC236}">
                <a16:creationId xmlns:a16="http://schemas.microsoft.com/office/drawing/2014/main" id="{8418C4F0-5A18-27C0-1522-C69EC55B618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D25D8A88-A989-5C2F-38EB-5B1ACB5274D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52134807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769B-769F-568D-00DA-CB0808512970}"/>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82ED16E8-6B0F-DEF9-9DE8-1906B8ED2935}"/>
              </a:ext>
            </a:extLst>
          </p:cNvPr>
          <p:cNvSpPr>
            <a:spLocks noGrp="1" noChangeArrowheads="1"/>
          </p:cNvSpPr>
          <p:nvPr>
            <p:ph type="title"/>
          </p:nvPr>
        </p:nvSpPr>
        <p:spPr>
          <a:xfrm>
            <a:off x="395536" y="317050"/>
            <a:ext cx="40671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DELETE Statement</a:t>
            </a:r>
          </a:p>
        </p:txBody>
      </p:sp>
      <p:sp>
        <p:nvSpPr>
          <p:cNvPr id="12291" name="Rectangle 3">
            <a:extLst>
              <a:ext uri="{FF2B5EF4-FFF2-40B4-BE49-F238E27FC236}">
                <a16:creationId xmlns:a16="http://schemas.microsoft.com/office/drawing/2014/main" id="{FE7D8F5E-D3E7-1048-7F0E-EE16B23BA3A2}"/>
              </a:ext>
            </a:extLst>
          </p:cNvPr>
          <p:cNvSpPr>
            <a:spLocks noGrp="1" noChangeArrowheads="1"/>
          </p:cNvSpPr>
          <p:nvPr>
            <p:ph type="body" idx="1"/>
          </p:nvPr>
        </p:nvSpPr>
        <p:spPr>
          <a:xfrm>
            <a:off x="467544" y="825350"/>
            <a:ext cx="8424936" cy="5217455"/>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Remove the existing row(s)</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Specific row(s) is/are deleted when you specify the WHERE clause.</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All rows in the table are deleted if you omit the WHERE clause.</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p:txBody>
      </p:sp>
      <p:sp>
        <p:nvSpPr>
          <p:cNvPr id="3" name="Slide Number Placeholder 23">
            <a:extLst>
              <a:ext uri="{FF2B5EF4-FFF2-40B4-BE49-F238E27FC236}">
                <a16:creationId xmlns:a16="http://schemas.microsoft.com/office/drawing/2014/main" id="{98C6A29E-5D7D-A64A-C8A3-24BF0BF6D4D0}"/>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71D884B1-3526-8EE2-D7D5-E917A188AD8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11" name="Rectangle 3">
            <a:extLst>
              <a:ext uri="{FF2B5EF4-FFF2-40B4-BE49-F238E27FC236}">
                <a16:creationId xmlns:a16="http://schemas.microsoft.com/office/drawing/2014/main" id="{FBD94E05-B92D-172E-F334-5EE8F430A60F}"/>
              </a:ext>
            </a:extLst>
          </p:cNvPr>
          <p:cNvSpPr>
            <a:spLocks noChangeArrowheads="1"/>
          </p:cNvSpPr>
          <p:nvPr/>
        </p:nvSpPr>
        <p:spPr bwMode="blackWhite">
          <a:xfrm>
            <a:off x="755576" y="1435439"/>
            <a:ext cx="7469187" cy="62540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3324225"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3324225"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SQL&gt; DELETE [FROM] </a:t>
            </a:r>
            <a:r>
              <a:rPr lang="en-US" altLang="en-US" sz="2000" b="1" dirty="0" err="1">
                <a:solidFill>
                  <a:srgbClr val="000000"/>
                </a:solidFill>
                <a:latin typeface="Courier New" panose="02070309020205020404" pitchFamily="49" charset="0"/>
              </a:rPr>
              <a:t>tablename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FF0000"/>
                </a:solidFill>
                <a:latin typeface="Courier New" panose="02070309020205020404" pitchFamily="49" charset="0"/>
              </a:rPr>
              <a:t>[WHERE	  condition];</a:t>
            </a:r>
            <a:r>
              <a:rPr lang="en-US" altLang="en-US" sz="2000" b="1" dirty="0">
                <a:solidFill>
                  <a:srgbClr val="0000FF"/>
                </a:solidFill>
                <a:latin typeface="Courier New" panose="02070309020205020404" pitchFamily="49" charset="0"/>
              </a:rPr>
              <a:t> </a:t>
            </a:r>
            <a:r>
              <a:rPr lang="en-US" altLang="en-US" sz="2000" b="1" dirty="0">
                <a:solidFill>
                  <a:srgbClr val="000000"/>
                </a:solidFill>
                <a:latin typeface="Courier New" panose="02070309020205020404" pitchFamily="49" charset="0"/>
              </a:rPr>
              <a:t> </a:t>
            </a:r>
          </a:p>
        </p:txBody>
      </p:sp>
      <p:sp>
        <p:nvSpPr>
          <p:cNvPr id="2" name="Rectangle 4">
            <a:extLst>
              <a:ext uri="{FF2B5EF4-FFF2-40B4-BE49-F238E27FC236}">
                <a16:creationId xmlns:a16="http://schemas.microsoft.com/office/drawing/2014/main" id="{61FC9795-F70A-59F5-6350-B56332448B46}"/>
              </a:ext>
            </a:extLst>
          </p:cNvPr>
          <p:cNvSpPr>
            <a:spLocks noChangeArrowheads="1"/>
          </p:cNvSpPr>
          <p:nvPr/>
        </p:nvSpPr>
        <p:spPr bwMode="blackWhite">
          <a:xfrm>
            <a:off x="755576" y="3053135"/>
            <a:ext cx="7518400" cy="10239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2735263" algn="l"/>
                <a:tab pos="4579938" algn="l"/>
              </a:tabLst>
              <a:defRPr/>
            </a:pPr>
            <a:r>
              <a:rPr lang="en-US" sz="2000" b="1" dirty="0">
                <a:solidFill>
                  <a:srgbClr val="000000"/>
                </a:solidFill>
                <a:latin typeface="Courier New" pitchFamily="49" charset="0"/>
              </a:rPr>
              <a:t>SQL&gt; DELETE FROM	department</a:t>
            </a:r>
          </a:p>
          <a:p>
            <a:pPr>
              <a:tabLst>
                <a:tab pos="688975" algn="l"/>
                <a:tab pos="1824038" algn="l"/>
                <a:tab pos="2735263" algn="l"/>
                <a:tab pos="4579938" algn="l"/>
              </a:tabLst>
              <a:defRPr/>
            </a:pPr>
            <a:r>
              <a:rPr lang="en-US" sz="2000" b="1" dirty="0">
                <a:solidFill>
                  <a:srgbClr val="000000"/>
                </a:solidFill>
                <a:latin typeface="Courier New" pitchFamily="49" charset="0"/>
              </a:rPr>
              <a:t>  2  </a:t>
            </a:r>
            <a:r>
              <a:rPr lang="en-US" sz="2000" b="1" dirty="0">
                <a:solidFill>
                  <a:srgbClr val="0000FF"/>
                </a:solidFill>
                <a:latin typeface="Courier New" pitchFamily="49" charset="0"/>
              </a:rPr>
              <a:t>WHERE 		</a:t>
            </a:r>
            <a:r>
              <a:rPr lang="en-US" sz="2000" b="1" dirty="0" err="1">
                <a:solidFill>
                  <a:srgbClr val="0000FF"/>
                </a:solidFill>
                <a:latin typeface="Courier New" pitchFamily="49" charset="0"/>
              </a:rPr>
              <a:t>dname</a:t>
            </a:r>
            <a:r>
              <a:rPr lang="en-US" sz="2000" b="1" dirty="0">
                <a:solidFill>
                  <a:srgbClr val="0000FF"/>
                </a:solidFill>
                <a:latin typeface="Courier New" pitchFamily="49" charset="0"/>
              </a:rPr>
              <a:t> = 'DEVELOPMENT';</a:t>
            </a:r>
            <a:r>
              <a:rPr lang="en-US" sz="2000" b="1" dirty="0">
                <a:solidFill>
                  <a:srgbClr val="000000"/>
                </a:solidFill>
                <a:latin typeface="Courier New" pitchFamily="49" charset="0"/>
              </a:rPr>
              <a:t> </a:t>
            </a:r>
          </a:p>
          <a:p>
            <a:pPr>
              <a:tabLst>
                <a:tab pos="688975" algn="l"/>
                <a:tab pos="1824038" algn="l"/>
                <a:tab pos="2735263" algn="l"/>
                <a:tab pos="4579938" algn="l"/>
              </a:tabLst>
              <a:defRPr/>
            </a:pPr>
            <a:r>
              <a:rPr lang="en-US" sz="2000" b="1" dirty="0">
                <a:solidFill>
                  <a:srgbClr val="FF3300"/>
                </a:solidFill>
                <a:effectLst>
                  <a:outerShdw blurRad="38100" dist="38100" dir="2700000" algn="tl">
                    <a:srgbClr val="000000"/>
                  </a:outerShdw>
                </a:effectLst>
                <a:latin typeface="Courier New" pitchFamily="49" charset="0"/>
              </a:rPr>
              <a:t>1 row deleted.</a:t>
            </a:r>
          </a:p>
        </p:txBody>
      </p:sp>
      <p:sp>
        <p:nvSpPr>
          <p:cNvPr id="5" name="Rectangle 5">
            <a:extLst>
              <a:ext uri="{FF2B5EF4-FFF2-40B4-BE49-F238E27FC236}">
                <a16:creationId xmlns:a16="http://schemas.microsoft.com/office/drawing/2014/main" id="{B0B54585-E43D-FFBA-B7FC-A3A28CFB5B31}"/>
              </a:ext>
            </a:extLst>
          </p:cNvPr>
          <p:cNvSpPr>
            <a:spLocks noChangeArrowheads="1"/>
          </p:cNvSpPr>
          <p:nvPr/>
        </p:nvSpPr>
        <p:spPr bwMode="blackWhite">
          <a:xfrm>
            <a:off x="931863" y="5137150"/>
            <a:ext cx="7342113" cy="701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2735263" algn="l"/>
                <a:tab pos="4579938" algn="l"/>
              </a:tabLst>
              <a:defRPr/>
            </a:pPr>
            <a:r>
              <a:rPr lang="en-US" sz="2000" b="1">
                <a:solidFill>
                  <a:srgbClr val="000000"/>
                </a:solidFill>
                <a:latin typeface="Courier New" pitchFamily="49" charset="0"/>
              </a:rPr>
              <a:t>SQL&gt; DELETE FROM	department;</a:t>
            </a:r>
          </a:p>
          <a:p>
            <a:pPr>
              <a:tabLst>
                <a:tab pos="688975" algn="l"/>
                <a:tab pos="1824038" algn="l"/>
                <a:tab pos="2735263" algn="l"/>
                <a:tab pos="4579938" algn="l"/>
              </a:tabLst>
              <a:defRPr/>
            </a:pPr>
            <a:r>
              <a:rPr lang="en-US" sz="2000" b="1">
                <a:solidFill>
                  <a:srgbClr val="FF3300"/>
                </a:solidFill>
                <a:effectLst>
                  <a:outerShdw blurRad="38100" dist="38100" dir="2700000" algn="tl">
                    <a:srgbClr val="000000"/>
                  </a:outerShdw>
                </a:effectLst>
                <a:latin typeface="Courier New" pitchFamily="49" charset="0"/>
              </a:rPr>
              <a:t>4 rows deleted.</a:t>
            </a:r>
          </a:p>
        </p:txBody>
      </p:sp>
    </p:spTree>
    <p:extLst>
      <p:ext uri="{BB962C8B-B14F-4D97-AF65-F5344CB8AC3E}">
        <p14:creationId xmlns:p14="http://schemas.microsoft.com/office/powerpoint/2010/main" val="211401712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88AD-7394-0732-2A6F-6FC7B4EC1760}"/>
            </a:ext>
          </a:extLst>
        </p:cNvPr>
        <p:cNvGrpSpPr/>
        <p:nvPr/>
      </p:nvGrpSpPr>
      <p:grpSpPr>
        <a:xfrm>
          <a:off x="0" y="0"/>
          <a:ext cx="0" cy="0"/>
          <a:chOff x="0" y="0"/>
          <a:chExt cx="0" cy="0"/>
        </a:xfrm>
      </p:grpSpPr>
      <p:sp>
        <p:nvSpPr>
          <p:cNvPr id="49154" name="Rectangle 2">
            <a:extLst>
              <a:ext uri="{FF2B5EF4-FFF2-40B4-BE49-F238E27FC236}">
                <a16:creationId xmlns:a16="http://schemas.microsoft.com/office/drawing/2014/main" id="{5ACA3D9F-ECD7-0299-BE5E-308381C4A49D}"/>
              </a:ext>
            </a:extLst>
          </p:cNvPr>
          <p:cNvSpPr>
            <a:spLocks noChangeArrowheads="1"/>
          </p:cNvSpPr>
          <p:nvPr/>
        </p:nvSpPr>
        <p:spPr bwMode="blackWhite">
          <a:xfrm>
            <a:off x="755576" y="1772816"/>
            <a:ext cx="7499350" cy="18002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2735263"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2735263"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49155" name="Rectangle 3">
            <a:extLst>
              <a:ext uri="{FF2B5EF4-FFF2-40B4-BE49-F238E27FC236}">
                <a16:creationId xmlns:a16="http://schemas.microsoft.com/office/drawing/2014/main" id="{0C984A5C-5098-A21C-AEF9-7F7BF9908431}"/>
              </a:ext>
            </a:extLst>
          </p:cNvPr>
          <p:cNvSpPr>
            <a:spLocks noGrp="1" noChangeArrowheads="1"/>
          </p:cNvSpPr>
          <p:nvPr>
            <p:ph type="title"/>
          </p:nvPr>
        </p:nvSpPr>
        <p:spPr>
          <a:xfrm>
            <a:off x="385192" y="274638"/>
            <a:ext cx="8147248"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Deleting Rows Based on Another Table</a:t>
            </a:r>
          </a:p>
        </p:txBody>
      </p:sp>
      <p:sp>
        <p:nvSpPr>
          <p:cNvPr id="49156" name="Rectangle 4">
            <a:extLst>
              <a:ext uri="{FF2B5EF4-FFF2-40B4-BE49-F238E27FC236}">
                <a16:creationId xmlns:a16="http://schemas.microsoft.com/office/drawing/2014/main" id="{C9371EFE-EB42-C848-98EF-40619BA553EF}"/>
              </a:ext>
            </a:extLst>
          </p:cNvPr>
          <p:cNvSpPr>
            <a:spLocks noGrp="1" noChangeArrowheads="1"/>
          </p:cNvSpPr>
          <p:nvPr>
            <p:ph type="body" idx="1"/>
          </p:nvPr>
        </p:nvSpPr>
        <p:spPr>
          <a:xfrm>
            <a:off x="433388" y="836712"/>
            <a:ext cx="8277225" cy="831639"/>
          </a:xfrm>
          <a:noFill/>
        </p:spPr>
        <p:txBody>
          <a:bodyPr lIns="92075" tIns="46038" rIns="92075" bIns="46038">
            <a:spAutoFit/>
          </a:bodyPr>
          <a:lstStyle/>
          <a:p>
            <a:r>
              <a:rPr lang="en-US" altLang="en-US" sz="2400" dirty="0">
                <a:latin typeface="Cambria" panose="02040503050406030204" pitchFamily="18" charset="0"/>
                <a:ea typeface="Cambria" panose="02040503050406030204" pitchFamily="18" charset="0"/>
              </a:rPr>
              <a:t>Use subqueries in DELETE statements to remove rows from a table based on values from another table.</a:t>
            </a:r>
          </a:p>
        </p:txBody>
      </p:sp>
      <p:sp>
        <p:nvSpPr>
          <p:cNvPr id="49157" name="Rectangle 5">
            <a:extLst>
              <a:ext uri="{FF2B5EF4-FFF2-40B4-BE49-F238E27FC236}">
                <a16:creationId xmlns:a16="http://schemas.microsoft.com/office/drawing/2014/main" id="{19C53123-043E-3F25-8099-CB3AC8BEF2CE}"/>
              </a:ext>
            </a:extLst>
          </p:cNvPr>
          <p:cNvSpPr>
            <a:spLocks noChangeArrowheads="1"/>
          </p:cNvSpPr>
          <p:nvPr/>
        </p:nvSpPr>
        <p:spPr bwMode="ltGray">
          <a:xfrm>
            <a:off x="4478263" y="2369716"/>
            <a:ext cx="3695700" cy="8763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79238" name="Rectangle 6">
            <a:extLst>
              <a:ext uri="{FF2B5EF4-FFF2-40B4-BE49-F238E27FC236}">
                <a16:creationId xmlns:a16="http://schemas.microsoft.com/office/drawing/2014/main" id="{4409DB2B-2B5D-4533-1216-5300BADCA863}"/>
              </a:ext>
            </a:extLst>
          </p:cNvPr>
          <p:cNvSpPr>
            <a:spLocks noChangeArrowheads="1"/>
          </p:cNvSpPr>
          <p:nvPr/>
        </p:nvSpPr>
        <p:spPr bwMode="blackWhite">
          <a:xfrm>
            <a:off x="780976" y="1829966"/>
            <a:ext cx="7726362" cy="1698625"/>
          </a:xfrm>
          <a:prstGeom prst="rect">
            <a:avLst/>
          </a:prstGeom>
          <a:noFill/>
          <a:ln w="9525">
            <a:noFill/>
            <a:miter lim="800000"/>
            <a:headEnd/>
            <a:tailEnd/>
          </a:ln>
          <a:effectLst/>
        </p:spPr>
        <p:txBody>
          <a:bodyPr wrap="none" lIns="92075" tIns="46038" rIns="92075" bIns="46038" anchor="ctr"/>
          <a:lstStyle/>
          <a:p>
            <a:pPr>
              <a:tabLst>
                <a:tab pos="688975" algn="l"/>
                <a:tab pos="1824038" algn="l"/>
                <a:tab pos="2735263" algn="l"/>
                <a:tab pos="4579938" algn="l"/>
              </a:tabLst>
              <a:defRPr/>
            </a:pPr>
            <a:r>
              <a:rPr lang="en-US" sz="1800" b="1">
                <a:solidFill>
                  <a:srgbClr val="000000"/>
                </a:solidFill>
                <a:latin typeface="Courier New" pitchFamily="49" charset="0"/>
              </a:rPr>
              <a:t>SQL&gt; DELETE FROM	employee</a:t>
            </a:r>
          </a:p>
          <a:p>
            <a:pPr>
              <a:tabLst>
                <a:tab pos="688975" algn="l"/>
                <a:tab pos="1824038" algn="l"/>
                <a:tab pos="2735263" algn="l"/>
                <a:tab pos="4579938" algn="l"/>
              </a:tabLst>
              <a:defRPr/>
            </a:pPr>
            <a:r>
              <a:rPr lang="en-US" sz="1800" b="1">
                <a:solidFill>
                  <a:srgbClr val="000000"/>
                </a:solidFill>
                <a:latin typeface="Courier New" pitchFamily="49" charset="0"/>
              </a:rPr>
              <a:t>  2  WHERE		deptno = </a:t>
            </a:r>
          </a:p>
          <a:p>
            <a:pPr>
              <a:tabLst>
                <a:tab pos="688975" algn="l"/>
                <a:tab pos="1824038" algn="l"/>
                <a:tab pos="2735263" algn="l"/>
                <a:tab pos="4579938" algn="l"/>
              </a:tabLst>
              <a:defRPr/>
            </a:pPr>
            <a:r>
              <a:rPr lang="en-US" sz="1800" b="1">
                <a:solidFill>
                  <a:srgbClr val="000000"/>
                </a:solidFill>
                <a:latin typeface="Courier New" pitchFamily="49" charset="0"/>
              </a:rPr>
              <a:t>  3			       (SELECT   deptno</a:t>
            </a:r>
          </a:p>
          <a:p>
            <a:pPr>
              <a:tabLst>
                <a:tab pos="688975" algn="l"/>
                <a:tab pos="1824038" algn="l"/>
                <a:tab pos="2735263" algn="l"/>
                <a:tab pos="4579938" algn="l"/>
              </a:tabLst>
              <a:defRPr/>
            </a:pPr>
            <a:r>
              <a:rPr lang="en-US" sz="1800" b="1">
                <a:solidFill>
                  <a:srgbClr val="000000"/>
                </a:solidFill>
                <a:latin typeface="Courier New" pitchFamily="49" charset="0"/>
              </a:rPr>
              <a:t>  4  			        FROM     dept</a:t>
            </a:r>
          </a:p>
          <a:p>
            <a:pPr>
              <a:tabLst>
                <a:tab pos="688975" algn="l"/>
                <a:tab pos="1824038" algn="l"/>
                <a:tab pos="2735263" algn="l"/>
                <a:tab pos="4579938" algn="l"/>
              </a:tabLst>
              <a:defRPr/>
            </a:pPr>
            <a:r>
              <a:rPr lang="en-US" sz="1800" b="1">
                <a:solidFill>
                  <a:srgbClr val="000000"/>
                </a:solidFill>
                <a:latin typeface="Courier New" pitchFamily="49" charset="0"/>
              </a:rPr>
              <a:t>  5  			        WHERE    dname ='SALES');</a:t>
            </a:r>
          </a:p>
          <a:p>
            <a:pPr>
              <a:tabLst>
                <a:tab pos="688975" algn="l"/>
                <a:tab pos="1824038" algn="l"/>
                <a:tab pos="2735263" algn="l"/>
                <a:tab pos="4579938" algn="l"/>
              </a:tabLst>
              <a:defRPr/>
            </a:pPr>
            <a:r>
              <a:rPr lang="en-US" sz="1800" b="1">
                <a:solidFill>
                  <a:srgbClr val="FF3300"/>
                </a:solidFill>
                <a:effectLst>
                  <a:outerShdw blurRad="38100" dist="38100" dir="2700000" algn="tl">
                    <a:srgbClr val="000000"/>
                  </a:outerShdw>
                </a:effectLst>
                <a:latin typeface="Courier New" pitchFamily="49" charset="0"/>
              </a:rPr>
              <a:t>6 rows deleted.</a:t>
            </a:r>
          </a:p>
        </p:txBody>
      </p:sp>
      <p:sp>
        <p:nvSpPr>
          <p:cNvPr id="2" name="Slide Number Placeholder 23">
            <a:extLst>
              <a:ext uri="{FF2B5EF4-FFF2-40B4-BE49-F238E27FC236}">
                <a16:creationId xmlns:a16="http://schemas.microsoft.com/office/drawing/2014/main" id="{24848031-2B3F-A021-CD2A-74E026D54F6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B8C1CDBA-EEEF-F298-59A6-BCEC2D750D5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21631009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D9B21C5-1F67-DF5C-EAB9-9350EDFB9D7F}"/>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74AEBF85-132C-2037-8E44-15B355E55D43}"/>
              </a:ext>
            </a:extLst>
          </p:cNvPr>
          <p:cNvSpPr>
            <a:spLocks noGrp="1" noChangeArrowheads="1"/>
          </p:cNvSpPr>
          <p:nvPr>
            <p:ph type="title"/>
          </p:nvPr>
        </p:nvSpPr>
        <p:spPr>
          <a:xfrm>
            <a:off x="539552" y="249250"/>
            <a:ext cx="7772400" cy="114300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Deleting Rows: </a:t>
            </a: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Integrity Constraint Error</a:t>
            </a:r>
          </a:p>
        </p:txBody>
      </p:sp>
      <p:sp>
        <p:nvSpPr>
          <p:cNvPr id="51203" name="Rectangle 3">
            <a:extLst>
              <a:ext uri="{FF2B5EF4-FFF2-40B4-BE49-F238E27FC236}">
                <a16:creationId xmlns:a16="http://schemas.microsoft.com/office/drawing/2014/main" id="{F2B8A7B1-85FA-0FA1-6B02-EC720242D011}"/>
              </a:ext>
            </a:extLst>
          </p:cNvPr>
          <p:cNvSpPr>
            <a:spLocks noChangeArrowheads="1"/>
          </p:cNvSpPr>
          <p:nvPr/>
        </p:nvSpPr>
        <p:spPr bwMode="blackWhite">
          <a:xfrm>
            <a:off x="845047" y="1628800"/>
            <a:ext cx="7493000" cy="8429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2735263" algn="l"/>
                <a:tab pos="3648075" algn="l"/>
                <a:tab pos="5026025"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2735263" algn="l"/>
                <a:tab pos="3648075" algn="l"/>
                <a:tab pos="5026025"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DELETE FROM	dept</a:t>
            </a:r>
          </a:p>
          <a:p>
            <a:pPr>
              <a:spcBef>
                <a:spcPct val="0"/>
              </a:spcBef>
              <a:buFontTx/>
              <a:buNone/>
            </a:pPr>
            <a:r>
              <a:rPr lang="en-US" altLang="en-US" sz="1800" b="1">
                <a:solidFill>
                  <a:srgbClr val="000000"/>
                </a:solidFill>
                <a:latin typeface="Courier New" panose="02070309020205020404" pitchFamily="49" charset="0"/>
              </a:rPr>
              <a:t>  2  WHERE		deptno = 10;</a:t>
            </a:r>
          </a:p>
        </p:txBody>
      </p:sp>
      <p:sp>
        <p:nvSpPr>
          <p:cNvPr id="51204" name="Rectangle 4">
            <a:extLst>
              <a:ext uri="{FF2B5EF4-FFF2-40B4-BE49-F238E27FC236}">
                <a16:creationId xmlns:a16="http://schemas.microsoft.com/office/drawing/2014/main" id="{049C7B18-BB10-1373-5F4A-34A686538170}"/>
              </a:ext>
            </a:extLst>
          </p:cNvPr>
          <p:cNvSpPr>
            <a:spLocks noChangeArrowheads="1"/>
          </p:cNvSpPr>
          <p:nvPr/>
        </p:nvSpPr>
        <p:spPr bwMode="blackWhite">
          <a:xfrm>
            <a:off x="827584" y="2928963"/>
            <a:ext cx="7510463" cy="14906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DELETE FROM dept</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ORA-02292: integrity constraint (USR.EMP_DEPTNO_FK) violated - child record found</a:t>
            </a:r>
          </a:p>
        </p:txBody>
      </p:sp>
      <p:sp>
        <p:nvSpPr>
          <p:cNvPr id="481285" name="Rectangle 5">
            <a:extLst>
              <a:ext uri="{FF2B5EF4-FFF2-40B4-BE49-F238E27FC236}">
                <a16:creationId xmlns:a16="http://schemas.microsoft.com/office/drawing/2014/main" id="{E5CC91D0-0186-7B75-8E8C-897FB8DAADE5}"/>
              </a:ext>
            </a:extLst>
          </p:cNvPr>
          <p:cNvSpPr>
            <a:spLocks noGrp="1" noChangeArrowheads="1"/>
          </p:cNvSpPr>
          <p:nvPr>
            <p:ph type="body" idx="1"/>
          </p:nvPr>
        </p:nvSpPr>
        <p:spPr>
          <a:xfrm rot="20400000">
            <a:off x="3951288" y="2254679"/>
            <a:ext cx="4735512" cy="1324081"/>
          </a:xfrm>
          <a:noFill/>
        </p:spPr>
        <p:txBody>
          <a:bodyPr lIns="92075" tIns="46038" rIns="92075" bIns="46038">
            <a:spAutoFit/>
          </a:bodyPr>
          <a:lstStyle/>
          <a:p>
            <a:pPr marL="0" indent="0" algn="ctr">
              <a:spcBef>
                <a:spcPct val="0"/>
              </a:spcBef>
            </a:pPr>
            <a:r>
              <a:rPr lang="en-US" altLang="en-US" sz="2000" dirty="0">
                <a:solidFill>
                  <a:srgbClr val="FF3300"/>
                </a:solidFill>
                <a:latin typeface="Cambria" panose="02040503050406030204" pitchFamily="18" charset="0"/>
                <a:ea typeface="Cambria" panose="02040503050406030204" pitchFamily="18" charset="0"/>
              </a:rPr>
              <a:t>You cannot delete a row </a:t>
            </a:r>
          </a:p>
          <a:p>
            <a:pPr marL="0" indent="0" algn="ctr">
              <a:spcBef>
                <a:spcPct val="0"/>
              </a:spcBef>
              <a:buFontTx/>
              <a:buNone/>
            </a:pPr>
            <a:r>
              <a:rPr lang="en-US" altLang="en-US" sz="2000" dirty="0">
                <a:solidFill>
                  <a:srgbClr val="FF3300"/>
                </a:solidFill>
                <a:latin typeface="Cambria" panose="02040503050406030204" pitchFamily="18" charset="0"/>
                <a:ea typeface="Cambria" panose="02040503050406030204" pitchFamily="18" charset="0"/>
              </a:rPr>
              <a:t>that contains a primary key </a:t>
            </a:r>
          </a:p>
          <a:p>
            <a:pPr marL="0" indent="0" algn="ctr">
              <a:spcBef>
                <a:spcPct val="0"/>
              </a:spcBef>
              <a:buFontTx/>
              <a:buNone/>
            </a:pPr>
            <a:r>
              <a:rPr lang="en-US" altLang="en-US" sz="2000" dirty="0">
                <a:solidFill>
                  <a:srgbClr val="FF3300"/>
                </a:solidFill>
                <a:latin typeface="Cambria" panose="02040503050406030204" pitchFamily="18" charset="0"/>
                <a:ea typeface="Cambria" panose="02040503050406030204" pitchFamily="18" charset="0"/>
              </a:rPr>
              <a:t>that is used as a foreign key </a:t>
            </a:r>
          </a:p>
          <a:p>
            <a:pPr marL="0" indent="0" algn="ctr">
              <a:spcBef>
                <a:spcPct val="0"/>
              </a:spcBef>
              <a:buFontTx/>
              <a:buNone/>
            </a:pPr>
            <a:r>
              <a:rPr lang="en-US" altLang="en-US" sz="2000" dirty="0">
                <a:solidFill>
                  <a:srgbClr val="FF3300"/>
                </a:solidFill>
                <a:latin typeface="Cambria" panose="02040503050406030204" pitchFamily="18" charset="0"/>
                <a:ea typeface="Cambria" panose="02040503050406030204" pitchFamily="18" charset="0"/>
              </a:rPr>
              <a:t>in another table.</a:t>
            </a:r>
          </a:p>
        </p:txBody>
      </p:sp>
      <p:sp>
        <p:nvSpPr>
          <p:cNvPr id="2" name="Slide Number Placeholder 23">
            <a:extLst>
              <a:ext uri="{FF2B5EF4-FFF2-40B4-BE49-F238E27FC236}">
                <a16:creationId xmlns:a16="http://schemas.microsoft.com/office/drawing/2014/main" id="{76458DFD-C47D-52B5-313F-7BED9E2B027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4F2DC21D-7BD2-1F3E-31A0-B20C5D5C47A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32536212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1285"/>
                                        </p:tgtEl>
                                        <p:attrNameLst>
                                          <p:attrName>style.visibility</p:attrName>
                                        </p:attrNameLst>
                                      </p:cBhvr>
                                      <p:to>
                                        <p:strVal val="visible"/>
                                      </p:to>
                                    </p:set>
                                    <p:animEffect transition="in" filter="wipe(down)">
                                      <p:cBhvr>
                                        <p:cTn id="7" dur="500"/>
                                        <p:tgtEl>
                                          <p:spTgt spid="481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BFBAB-8334-6967-B2A8-4C3CB2ADE12E}"/>
            </a:ext>
          </a:extLst>
        </p:cNvPr>
        <p:cNvGrpSpPr/>
        <p:nvPr/>
      </p:nvGrpSpPr>
      <p:grpSpPr>
        <a:xfrm>
          <a:off x="0" y="0"/>
          <a:ext cx="0" cy="0"/>
          <a:chOff x="0" y="0"/>
          <a:chExt cx="0" cy="0"/>
        </a:xfrm>
      </p:grpSpPr>
      <p:sp>
        <p:nvSpPr>
          <p:cNvPr id="49155" name="Rectangle 3">
            <a:extLst>
              <a:ext uri="{FF2B5EF4-FFF2-40B4-BE49-F238E27FC236}">
                <a16:creationId xmlns:a16="http://schemas.microsoft.com/office/drawing/2014/main" id="{4FC13F61-5B0E-F5A7-E81E-F357B7DD4A29}"/>
              </a:ext>
            </a:extLst>
          </p:cNvPr>
          <p:cNvSpPr>
            <a:spLocks noGrp="1" noChangeArrowheads="1"/>
          </p:cNvSpPr>
          <p:nvPr>
            <p:ph type="title"/>
          </p:nvPr>
        </p:nvSpPr>
        <p:spPr>
          <a:xfrm>
            <a:off x="385192" y="274638"/>
            <a:ext cx="8147248"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TRUNCATE Statement</a:t>
            </a:r>
          </a:p>
        </p:txBody>
      </p:sp>
      <p:sp>
        <p:nvSpPr>
          <p:cNvPr id="49156" name="Rectangle 4">
            <a:extLst>
              <a:ext uri="{FF2B5EF4-FFF2-40B4-BE49-F238E27FC236}">
                <a16:creationId xmlns:a16="http://schemas.microsoft.com/office/drawing/2014/main" id="{6A09633C-DD6F-4C77-FCF5-6D9F781F1471}"/>
              </a:ext>
            </a:extLst>
          </p:cNvPr>
          <p:cNvSpPr>
            <a:spLocks noGrp="1" noChangeArrowheads="1"/>
          </p:cNvSpPr>
          <p:nvPr>
            <p:ph type="body" idx="1"/>
          </p:nvPr>
        </p:nvSpPr>
        <p:spPr>
          <a:xfrm>
            <a:off x="433388" y="836712"/>
            <a:ext cx="8277225" cy="3063019"/>
          </a:xfrm>
          <a:noFill/>
        </p:spPr>
        <p:txBody>
          <a:bodyPr lIns="92075" tIns="46038" rIns="92075" bIns="46038">
            <a:spAutoFit/>
          </a:bodyPr>
          <a:lstStyle/>
          <a:p>
            <a:pPr algn="just"/>
            <a:r>
              <a:rPr lang="en-US" altLang="en-US" sz="2400" dirty="0">
                <a:latin typeface="Cambria" panose="02040503050406030204" pitchFamily="18" charset="0"/>
                <a:ea typeface="Cambria" panose="02040503050406030204" pitchFamily="18" charset="0"/>
              </a:rPr>
              <a:t>Removes all rows from a table</a:t>
            </a:r>
          </a:p>
          <a:p>
            <a:pPr algn="just"/>
            <a:r>
              <a:rPr lang="en-US" altLang="en-US" sz="2400" dirty="0">
                <a:latin typeface="Cambria" panose="02040503050406030204" pitchFamily="18" charset="0"/>
                <a:ea typeface="Cambria" panose="02040503050406030204" pitchFamily="18" charset="0"/>
              </a:rPr>
              <a:t>Releases the storage space used by that table</a:t>
            </a:r>
          </a:p>
          <a:p>
            <a:pPr algn="just"/>
            <a:r>
              <a:rPr lang="en-US" altLang="en-US" sz="2400" dirty="0">
                <a:latin typeface="Cambria" panose="02040503050406030204" pitchFamily="18" charset="0"/>
                <a:ea typeface="Cambria" panose="02040503050406030204" pitchFamily="18" charset="0"/>
              </a:rPr>
              <a:t>You can do the same with DELETE statement, which is a DML statement and hence recoverable, but it is slow.</a:t>
            </a:r>
          </a:p>
          <a:p>
            <a:pPr algn="just"/>
            <a:r>
              <a:rPr lang="en-US" altLang="en-US" sz="2400" dirty="0">
                <a:latin typeface="Cambria" panose="02040503050406030204" pitchFamily="18" charset="0"/>
                <a:ea typeface="Cambria" panose="02040503050406030204" pitchFamily="18" charset="0"/>
              </a:rPr>
              <a:t>You cannot roll back row removal when using TRUNCATE.</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A36674EC-1D0A-CE4C-1D4B-1A73BA9026F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A8044A0A-CF65-FCD2-0503-8898A18AA51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4">
            <a:extLst>
              <a:ext uri="{FF2B5EF4-FFF2-40B4-BE49-F238E27FC236}">
                <a16:creationId xmlns:a16="http://schemas.microsoft.com/office/drawing/2014/main" id="{5C4C1F5E-AC72-84A0-79EF-66A5160AD6F6}"/>
              </a:ext>
            </a:extLst>
          </p:cNvPr>
          <p:cNvSpPr>
            <a:spLocks noChangeArrowheads="1"/>
          </p:cNvSpPr>
          <p:nvPr/>
        </p:nvSpPr>
        <p:spPr bwMode="blackWhite">
          <a:xfrm>
            <a:off x="755576" y="3278188"/>
            <a:ext cx="7510463" cy="7667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2000" b="1">
              <a:solidFill>
                <a:srgbClr val="000000"/>
              </a:solidFill>
              <a:latin typeface="Courier New" panose="02070309020205020404" pitchFamily="49" charset="0"/>
            </a:endParaRPr>
          </a:p>
          <a:p>
            <a:pPr>
              <a:lnSpc>
                <a:spcPct val="150000"/>
              </a:lnSpc>
              <a:spcBef>
                <a:spcPct val="0"/>
              </a:spcBef>
              <a:buFontTx/>
              <a:buNone/>
            </a:pPr>
            <a:endParaRPr lang="en-US" altLang="en-US" sz="2000" b="1">
              <a:solidFill>
                <a:srgbClr val="000000"/>
              </a:solidFill>
              <a:latin typeface="Courier New" panose="02070309020205020404" pitchFamily="49" charset="0"/>
            </a:endParaRPr>
          </a:p>
          <a:p>
            <a:pPr>
              <a:lnSpc>
                <a:spcPct val="150000"/>
              </a:lnSpc>
              <a:spcBef>
                <a:spcPct val="0"/>
              </a:spcBef>
              <a:buFontTx/>
              <a:buNone/>
            </a:pPr>
            <a:endParaRPr lang="en-US" altLang="en-US" sz="2000" b="1">
              <a:solidFill>
                <a:srgbClr val="000000"/>
              </a:solidFill>
              <a:latin typeface="Courier New" panose="02070309020205020404" pitchFamily="49" charset="0"/>
            </a:endParaRPr>
          </a:p>
        </p:txBody>
      </p:sp>
      <p:sp>
        <p:nvSpPr>
          <p:cNvPr id="5" name="Rectangle 5">
            <a:extLst>
              <a:ext uri="{FF2B5EF4-FFF2-40B4-BE49-F238E27FC236}">
                <a16:creationId xmlns:a16="http://schemas.microsoft.com/office/drawing/2014/main" id="{4D0131FE-AB99-244B-CEB4-A610A1382D41}"/>
              </a:ext>
            </a:extLst>
          </p:cNvPr>
          <p:cNvSpPr>
            <a:spLocks noChangeArrowheads="1"/>
          </p:cNvSpPr>
          <p:nvPr/>
        </p:nvSpPr>
        <p:spPr bwMode="blackWhite">
          <a:xfrm>
            <a:off x="880989" y="3184525"/>
            <a:ext cx="5957887" cy="938213"/>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a:solidFill>
                  <a:srgbClr val="000000"/>
                </a:solidFill>
                <a:latin typeface="Courier New" pitchFamily="49" charset="0"/>
              </a:rPr>
              <a:t>SQL&gt; TRUNCATE TABLE department;</a:t>
            </a:r>
            <a:endParaRPr lang="en-US" sz="2000" b="1">
              <a:solidFill>
                <a:srgbClr val="000000"/>
              </a:solidFill>
              <a:effectLst>
                <a:outerShdw blurRad="38100" dist="38100" dir="2700000" algn="tl">
                  <a:srgbClr val="FFFFFF"/>
                </a:outerShdw>
              </a:effectLst>
              <a:latin typeface="Courier New" pitchFamily="49" charset="0"/>
            </a:endParaRPr>
          </a:p>
          <a:p>
            <a:pPr>
              <a:tabLst>
                <a:tab pos="1200150" algn="l"/>
              </a:tabLst>
              <a:defRPr/>
            </a:pPr>
            <a:r>
              <a:rPr lang="en-US" sz="2000" b="1">
                <a:solidFill>
                  <a:srgbClr val="FF3300"/>
                </a:solidFill>
                <a:effectLst>
                  <a:outerShdw blurRad="38100" dist="38100" dir="2700000" algn="tl">
                    <a:srgbClr val="000000"/>
                  </a:outerShdw>
                </a:effectLst>
                <a:latin typeface="Courier New" pitchFamily="49" charset="0"/>
              </a:rPr>
              <a:t>Table truncated.</a:t>
            </a:r>
          </a:p>
        </p:txBody>
      </p:sp>
    </p:spTree>
    <p:extLst>
      <p:ext uri="{BB962C8B-B14F-4D97-AF65-F5344CB8AC3E}">
        <p14:creationId xmlns:p14="http://schemas.microsoft.com/office/powerpoint/2010/main" val="216495600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7CC3-047C-9F54-8859-C58A9DCA8212}"/>
            </a:ext>
          </a:extLst>
        </p:cNvPr>
        <p:cNvGrpSpPr/>
        <p:nvPr/>
      </p:nvGrpSpPr>
      <p:grpSpPr>
        <a:xfrm>
          <a:off x="0" y="0"/>
          <a:ext cx="0" cy="0"/>
          <a:chOff x="0" y="0"/>
          <a:chExt cx="0" cy="0"/>
        </a:xfrm>
      </p:grpSpPr>
      <p:sp>
        <p:nvSpPr>
          <p:cNvPr id="49155" name="Rectangle 3">
            <a:extLst>
              <a:ext uri="{FF2B5EF4-FFF2-40B4-BE49-F238E27FC236}">
                <a16:creationId xmlns:a16="http://schemas.microsoft.com/office/drawing/2014/main" id="{38C5B00E-580D-931D-5708-DC7D55631E78}"/>
              </a:ext>
            </a:extLst>
          </p:cNvPr>
          <p:cNvSpPr>
            <a:spLocks noGrp="1" noChangeArrowheads="1"/>
          </p:cNvSpPr>
          <p:nvPr>
            <p:ph type="title"/>
          </p:nvPr>
        </p:nvSpPr>
        <p:spPr>
          <a:xfrm>
            <a:off x="385192" y="274638"/>
            <a:ext cx="8147248"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Transaction Management</a:t>
            </a:r>
          </a:p>
        </p:txBody>
      </p:sp>
      <p:sp>
        <p:nvSpPr>
          <p:cNvPr id="49156" name="Rectangle 4">
            <a:extLst>
              <a:ext uri="{FF2B5EF4-FFF2-40B4-BE49-F238E27FC236}">
                <a16:creationId xmlns:a16="http://schemas.microsoft.com/office/drawing/2014/main" id="{24F26059-A0BD-E216-EA80-637E978187C0}"/>
              </a:ext>
            </a:extLst>
          </p:cNvPr>
          <p:cNvSpPr>
            <a:spLocks noGrp="1" noChangeArrowheads="1"/>
          </p:cNvSpPr>
          <p:nvPr>
            <p:ph type="body" idx="1"/>
          </p:nvPr>
        </p:nvSpPr>
        <p:spPr>
          <a:xfrm>
            <a:off x="433388" y="836712"/>
            <a:ext cx="8277225" cy="4617291"/>
          </a:xfrm>
          <a:noFill/>
        </p:spPr>
        <p:txBody>
          <a:bodyPr lIns="92075" tIns="46038" rIns="92075" bIns="46038">
            <a:spAutoFit/>
          </a:bodyPr>
          <a:lstStyle/>
          <a:p>
            <a:pPr algn="just"/>
            <a:r>
              <a:rPr lang="en-US" altLang="en-US" sz="2400" dirty="0">
                <a:latin typeface="Cambria" panose="02040503050406030204" pitchFamily="18" charset="0"/>
                <a:ea typeface="Cambria" panose="02040503050406030204" pitchFamily="18" charset="0"/>
              </a:rPr>
              <a:t>A transaction begins with the first DML statement or by using an explicit </a:t>
            </a:r>
            <a:r>
              <a:rPr lang="en-US" altLang="en-US" sz="2400" dirty="0">
                <a:solidFill>
                  <a:srgbClr val="0000FF"/>
                </a:solidFill>
                <a:latin typeface="Cambria" panose="02040503050406030204" pitchFamily="18" charset="0"/>
                <a:ea typeface="Cambria" panose="02040503050406030204" pitchFamily="18" charset="0"/>
              </a:rPr>
              <a:t>SET TRANSACTION</a:t>
            </a:r>
            <a:r>
              <a:rPr lang="en-US" altLang="en-US" sz="2400" dirty="0">
                <a:latin typeface="Cambria" panose="02040503050406030204" pitchFamily="18" charset="0"/>
                <a:ea typeface="Cambria" panose="02040503050406030204" pitchFamily="18" charset="0"/>
              </a:rPr>
              <a:t> statement and ends when a </a:t>
            </a:r>
            <a:r>
              <a:rPr lang="en-US" altLang="en-US" sz="2400" dirty="0">
                <a:solidFill>
                  <a:srgbClr val="0000FF"/>
                </a:solidFill>
                <a:latin typeface="Cambria" panose="02040503050406030204" pitchFamily="18" charset="0"/>
                <a:ea typeface="Cambria" panose="02040503050406030204" pitchFamily="18" charset="0"/>
              </a:rPr>
              <a:t>COMMIT</a:t>
            </a:r>
            <a:r>
              <a:rPr lang="en-US" altLang="en-US" sz="2400" dirty="0">
                <a:latin typeface="Cambria" panose="02040503050406030204" pitchFamily="18" charset="0"/>
                <a:ea typeface="Cambria" panose="02040503050406030204" pitchFamily="18" charset="0"/>
              </a:rPr>
              <a:t> or </a:t>
            </a:r>
            <a:r>
              <a:rPr lang="en-US" altLang="en-US" sz="2400" dirty="0">
                <a:solidFill>
                  <a:srgbClr val="0000FF"/>
                </a:solidFill>
                <a:latin typeface="Cambria" panose="02040503050406030204" pitchFamily="18" charset="0"/>
                <a:ea typeface="Cambria" panose="02040503050406030204" pitchFamily="18" charset="0"/>
              </a:rPr>
              <a:t>ROLLBACK</a:t>
            </a:r>
            <a:r>
              <a:rPr lang="en-US" altLang="en-US" sz="2400" dirty="0">
                <a:latin typeface="Cambria" panose="02040503050406030204" pitchFamily="18" charset="0"/>
                <a:ea typeface="Cambria" panose="02040503050406030204" pitchFamily="18" charset="0"/>
              </a:rPr>
              <a:t> statement is issued.</a:t>
            </a:r>
          </a:p>
          <a:p>
            <a:pPr algn="just"/>
            <a:r>
              <a:rPr lang="en-US" altLang="en-US" sz="2400" dirty="0">
                <a:solidFill>
                  <a:srgbClr val="FF0000"/>
                </a:solidFill>
                <a:latin typeface="Cambria" panose="02040503050406030204" pitchFamily="18" charset="0"/>
                <a:ea typeface="Cambria" panose="02040503050406030204" pitchFamily="18" charset="0"/>
              </a:rPr>
              <a:t>COMMIT [WORK][COMMENT text];</a:t>
            </a:r>
          </a:p>
          <a:p>
            <a:pPr algn="just"/>
            <a:r>
              <a:rPr lang="en-US" altLang="en-US" sz="2400" dirty="0">
                <a:latin typeface="Cambria" panose="02040503050406030204" pitchFamily="18" charset="0"/>
                <a:ea typeface="Cambria" panose="02040503050406030204" pitchFamily="18" charset="0"/>
              </a:rPr>
              <a:t>The optional word </a:t>
            </a:r>
            <a:r>
              <a:rPr lang="en-US" altLang="en-US" sz="2400" dirty="0">
                <a:solidFill>
                  <a:srgbClr val="0000FF"/>
                </a:solidFill>
                <a:latin typeface="Cambria" panose="02040503050406030204" pitchFamily="18" charset="0"/>
                <a:ea typeface="Cambria" panose="02040503050406030204" pitchFamily="18" charset="0"/>
              </a:rPr>
              <a:t>WORK</a:t>
            </a:r>
            <a:r>
              <a:rPr lang="en-US" altLang="en-US" sz="2400" dirty="0">
                <a:latin typeface="Cambria" panose="02040503050406030204" pitchFamily="18" charset="0"/>
                <a:ea typeface="Cambria" panose="02040503050406030204" pitchFamily="18" charset="0"/>
              </a:rPr>
              <a:t> is used just to improve readability.</a:t>
            </a:r>
          </a:p>
          <a:p>
            <a:pPr algn="just"/>
            <a:r>
              <a:rPr lang="en-US" altLang="en-US" sz="2400" dirty="0">
                <a:latin typeface="Cambria" panose="02040503050406030204" pitchFamily="18" charset="0"/>
                <a:ea typeface="Cambria" panose="02040503050406030204" pitchFamily="18" charset="0"/>
              </a:rPr>
              <a:t>The </a:t>
            </a:r>
            <a:r>
              <a:rPr lang="en-US" altLang="en-US" sz="2400" dirty="0">
                <a:solidFill>
                  <a:srgbClr val="0000FF"/>
                </a:solidFill>
                <a:latin typeface="Cambria" panose="02040503050406030204" pitchFamily="18" charset="0"/>
                <a:ea typeface="Cambria" panose="02040503050406030204" pitchFamily="18" charset="0"/>
              </a:rPr>
              <a:t>COMMENT</a:t>
            </a:r>
            <a:r>
              <a:rPr lang="en-US" altLang="en-US" sz="2400" dirty="0">
                <a:latin typeface="Cambria" panose="02040503050406030204" pitchFamily="18" charset="0"/>
                <a:ea typeface="Cambria" panose="02040503050406030204" pitchFamily="18" charset="0"/>
              </a:rPr>
              <a:t> is usually employed by distributed transactions.</a:t>
            </a:r>
          </a:p>
          <a:p>
            <a:pPr algn="just"/>
            <a:r>
              <a:rPr lang="en-US" altLang="en-US" sz="2400" dirty="0">
                <a:solidFill>
                  <a:srgbClr val="0000FF"/>
                </a:solidFill>
                <a:latin typeface="Cambria" panose="02040503050406030204" pitchFamily="18" charset="0"/>
                <a:ea typeface="Cambria" panose="02040503050406030204" pitchFamily="18" charset="0"/>
              </a:rPr>
              <a:t>COMMIT COMMENT </a:t>
            </a:r>
            <a:r>
              <a:rPr lang="en-US" altLang="en-US" sz="2400" dirty="0">
                <a:solidFill>
                  <a:srgbClr val="FF0000"/>
                </a:solidFill>
                <a:latin typeface="Cambria" panose="02040503050406030204" pitchFamily="18" charset="0"/>
                <a:ea typeface="Cambria" panose="02040503050406030204" pitchFamily="18" charset="0"/>
              </a:rPr>
              <a:t>‘Employees details have been changed’;</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2FED1E03-B659-5EAC-3E04-A23E13D3272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76CD9EE8-8C00-7F37-5FC4-0E6C3887CC2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335195157"/>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87291-3495-B0D3-9F3F-E21AACEC37AE}"/>
            </a:ext>
          </a:extLst>
        </p:cNvPr>
        <p:cNvGrpSpPr/>
        <p:nvPr/>
      </p:nvGrpSpPr>
      <p:grpSpPr>
        <a:xfrm>
          <a:off x="0" y="0"/>
          <a:ext cx="0" cy="0"/>
          <a:chOff x="0" y="0"/>
          <a:chExt cx="0" cy="0"/>
        </a:xfrm>
      </p:grpSpPr>
      <p:sp>
        <p:nvSpPr>
          <p:cNvPr id="49155" name="Rectangle 3">
            <a:extLst>
              <a:ext uri="{FF2B5EF4-FFF2-40B4-BE49-F238E27FC236}">
                <a16:creationId xmlns:a16="http://schemas.microsoft.com/office/drawing/2014/main" id="{CBA688B8-ABA4-08B9-42F8-DD00B8FE0478}"/>
              </a:ext>
            </a:extLst>
          </p:cNvPr>
          <p:cNvSpPr>
            <a:spLocks noGrp="1" noChangeArrowheads="1"/>
          </p:cNvSpPr>
          <p:nvPr>
            <p:ph type="title"/>
          </p:nvPr>
        </p:nvSpPr>
        <p:spPr>
          <a:xfrm>
            <a:off x="385192" y="274638"/>
            <a:ext cx="8147248"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Transaction Management</a:t>
            </a:r>
          </a:p>
        </p:txBody>
      </p:sp>
      <p:sp>
        <p:nvSpPr>
          <p:cNvPr id="49156" name="Rectangle 4">
            <a:extLst>
              <a:ext uri="{FF2B5EF4-FFF2-40B4-BE49-F238E27FC236}">
                <a16:creationId xmlns:a16="http://schemas.microsoft.com/office/drawing/2014/main" id="{C31475B8-C71B-5352-2D1E-D5BFC0BDD6C7}"/>
              </a:ext>
            </a:extLst>
          </p:cNvPr>
          <p:cNvSpPr>
            <a:spLocks noGrp="1" noChangeArrowheads="1"/>
          </p:cNvSpPr>
          <p:nvPr>
            <p:ph type="body" idx="1"/>
          </p:nvPr>
        </p:nvSpPr>
        <p:spPr>
          <a:xfrm>
            <a:off x="433388" y="836712"/>
            <a:ext cx="8277225" cy="3955571"/>
          </a:xfrm>
          <a:noFill/>
        </p:spPr>
        <p:txBody>
          <a:bodyPr lIns="92075" tIns="46038" rIns="92075" bIns="46038">
            <a:spAutoFit/>
          </a:bodyPr>
          <a:lstStyle/>
          <a:p>
            <a:pPr algn="just"/>
            <a:r>
              <a:rPr lang="en-US" altLang="en-US" sz="2400" dirty="0">
                <a:solidFill>
                  <a:srgbClr val="0000FF"/>
                </a:solidFill>
                <a:latin typeface="Cambria" panose="02040503050406030204" pitchFamily="18" charset="0"/>
                <a:ea typeface="Cambria" panose="02040503050406030204" pitchFamily="18" charset="0"/>
              </a:rPr>
              <a:t>SVAEPOINT</a:t>
            </a:r>
            <a:r>
              <a:rPr lang="en-US" altLang="en-US" sz="2400" dirty="0">
                <a:latin typeface="Cambria" panose="02040503050406030204" pitchFamily="18" charset="0"/>
                <a:ea typeface="Cambria" panose="02040503050406030204" pitchFamily="18" charset="0"/>
              </a:rPr>
              <a:t> gives more control on transaction management.</a:t>
            </a:r>
          </a:p>
          <a:p>
            <a:pPr algn="just"/>
            <a:r>
              <a:rPr lang="en-US" altLang="en-US" sz="2400" dirty="0">
                <a:solidFill>
                  <a:srgbClr val="0000FF"/>
                </a:solidFill>
                <a:latin typeface="Cambria" panose="02040503050406030204" pitchFamily="18" charset="0"/>
                <a:ea typeface="Cambria" panose="02040503050406030204" pitchFamily="18" charset="0"/>
              </a:rPr>
              <a:t>SVAEPOINT</a:t>
            </a:r>
            <a:r>
              <a:rPr lang="en-US" altLang="en-US" sz="2400" dirty="0">
                <a:latin typeface="Cambria" panose="02040503050406030204" pitchFamily="18" charset="0"/>
                <a:ea typeface="Cambria" panose="02040503050406030204" pitchFamily="18" charset="0"/>
              </a:rPr>
              <a:t> marks and saves the current point in a transaction.</a:t>
            </a:r>
          </a:p>
          <a:p>
            <a:pPr algn="just"/>
            <a:r>
              <a:rPr lang="en-US" altLang="en-US" sz="2400" dirty="0">
                <a:latin typeface="Cambria" panose="02040503050406030204" pitchFamily="18" charset="0"/>
                <a:ea typeface="Cambria" panose="02040503050406030204" pitchFamily="18" charset="0"/>
              </a:rPr>
              <a:t>This allows you to rollback the changes up to that point.</a:t>
            </a:r>
          </a:p>
          <a:p>
            <a:pPr algn="just"/>
            <a:r>
              <a:rPr lang="en-US" altLang="en-US" sz="2400" dirty="0">
                <a:latin typeface="Cambria" panose="02040503050406030204" pitchFamily="18" charset="0"/>
                <a:ea typeface="Cambria" panose="02040503050406030204" pitchFamily="18" charset="0"/>
              </a:rPr>
              <a:t>There can be maximum 5 </a:t>
            </a:r>
            <a:r>
              <a:rPr lang="en-US" altLang="en-US" sz="2400" dirty="0" err="1">
                <a:latin typeface="Cambria" panose="02040503050406030204" pitchFamily="18" charset="0"/>
                <a:ea typeface="Cambria" panose="02040503050406030204" pitchFamily="18" charset="0"/>
              </a:rPr>
              <a:t>savepoints</a:t>
            </a:r>
            <a:r>
              <a:rPr lang="en-US" altLang="en-US" sz="2400" dirty="0">
                <a:latin typeface="Cambria" panose="02040503050406030204" pitchFamily="18" charset="0"/>
                <a:ea typeface="Cambria" panose="02040503050406030204" pitchFamily="18" charset="0"/>
              </a:rPr>
              <a:t> in a transaction.</a:t>
            </a:r>
          </a:p>
          <a:p>
            <a:pPr algn="just"/>
            <a:r>
              <a:rPr lang="en-US" altLang="en-US" sz="2400" dirty="0">
                <a:solidFill>
                  <a:srgbClr val="0000FF"/>
                </a:solidFill>
                <a:latin typeface="Cambria" panose="02040503050406030204" pitchFamily="18" charset="0"/>
                <a:ea typeface="Cambria" panose="02040503050406030204" pitchFamily="18" charset="0"/>
              </a:rPr>
              <a:t>SVAEPOINT </a:t>
            </a:r>
            <a:r>
              <a:rPr lang="en-US" altLang="en-US" sz="2400" dirty="0" err="1">
                <a:solidFill>
                  <a:srgbClr val="FF0000"/>
                </a:solidFill>
                <a:latin typeface="Cambria" panose="02040503050406030204" pitchFamily="18" charset="0"/>
                <a:ea typeface="Cambria" panose="02040503050406030204" pitchFamily="18" charset="0"/>
              </a:rPr>
              <a:t>savepoint</a:t>
            </a:r>
            <a:r>
              <a:rPr lang="en-US" altLang="en-US" sz="2400" dirty="0">
                <a:solidFill>
                  <a:srgbClr val="FF0000"/>
                </a:solidFill>
                <a:latin typeface="Cambria" panose="02040503050406030204" pitchFamily="18" charset="0"/>
                <a:ea typeface="Cambria" panose="02040503050406030204" pitchFamily="18" charset="0"/>
              </a:rPr>
              <a:t>-name;</a:t>
            </a:r>
          </a:p>
          <a:p>
            <a:pPr algn="just"/>
            <a:r>
              <a:rPr lang="en-US" altLang="en-US" sz="2400" dirty="0">
                <a:solidFill>
                  <a:srgbClr val="0000FF"/>
                </a:solidFill>
                <a:latin typeface="Cambria" panose="02040503050406030204" pitchFamily="18" charset="0"/>
                <a:ea typeface="Cambria" panose="02040503050406030204" pitchFamily="18" charset="0"/>
              </a:rPr>
              <a:t>SVAEPOINT </a:t>
            </a:r>
            <a:r>
              <a:rPr lang="en-US" altLang="en-US" sz="2400" dirty="0" err="1">
                <a:solidFill>
                  <a:srgbClr val="FF0000"/>
                </a:solidFill>
                <a:latin typeface="Cambria" panose="02040503050406030204" pitchFamily="18" charset="0"/>
                <a:ea typeface="Cambria" panose="02040503050406030204" pitchFamily="18" charset="0"/>
              </a:rPr>
              <a:t>Emp_savepoint</a:t>
            </a:r>
            <a:r>
              <a:rPr lang="en-US" altLang="en-US" sz="2400" dirty="0">
                <a:solidFill>
                  <a:srgbClr val="FF0000"/>
                </a:solidFill>
                <a:latin typeface="Cambria" panose="02040503050406030204" pitchFamily="18" charset="0"/>
                <a:ea typeface="Cambria" panose="02040503050406030204" pitchFamily="18" charset="0"/>
              </a:rPr>
              <a:t>;</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C2B4F308-6DAE-A92A-5235-FAD8C41231AF}"/>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2E46F0A8-8FEA-E159-ADF8-3667549DF61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36076317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06369-0679-435D-5456-BF23ED526C76}"/>
            </a:ext>
          </a:extLst>
        </p:cNvPr>
        <p:cNvGrpSpPr/>
        <p:nvPr/>
      </p:nvGrpSpPr>
      <p:grpSpPr>
        <a:xfrm>
          <a:off x="0" y="0"/>
          <a:ext cx="0" cy="0"/>
          <a:chOff x="0" y="0"/>
          <a:chExt cx="0" cy="0"/>
        </a:xfrm>
      </p:grpSpPr>
      <p:sp>
        <p:nvSpPr>
          <p:cNvPr id="49155" name="Rectangle 3">
            <a:extLst>
              <a:ext uri="{FF2B5EF4-FFF2-40B4-BE49-F238E27FC236}">
                <a16:creationId xmlns:a16="http://schemas.microsoft.com/office/drawing/2014/main" id="{B8F7DA34-C65E-753B-CCFF-97085D4A945F}"/>
              </a:ext>
            </a:extLst>
          </p:cNvPr>
          <p:cNvSpPr>
            <a:spLocks noGrp="1" noChangeArrowheads="1"/>
          </p:cNvSpPr>
          <p:nvPr>
            <p:ph type="title"/>
          </p:nvPr>
        </p:nvSpPr>
        <p:spPr>
          <a:xfrm>
            <a:off x="385192" y="274638"/>
            <a:ext cx="8147248" cy="634082"/>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Transaction Management</a:t>
            </a:r>
          </a:p>
        </p:txBody>
      </p:sp>
      <p:sp>
        <p:nvSpPr>
          <p:cNvPr id="49156" name="Rectangle 4">
            <a:extLst>
              <a:ext uri="{FF2B5EF4-FFF2-40B4-BE49-F238E27FC236}">
                <a16:creationId xmlns:a16="http://schemas.microsoft.com/office/drawing/2014/main" id="{0CEBA8A5-00D7-8479-4172-C8870AED72E4}"/>
              </a:ext>
            </a:extLst>
          </p:cNvPr>
          <p:cNvSpPr>
            <a:spLocks noGrp="1" noChangeArrowheads="1"/>
          </p:cNvSpPr>
          <p:nvPr>
            <p:ph type="body" idx="1"/>
          </p:nvPr>
        </p:nvSpPr>
        <p:spPr>
          <a:xfrm>
            <a:off x="433388" y="836712"/>
            <a:ext cx="8277225" cy="5509843"/>
          </a:xfrm>
          <a:noFill/>
        </p:spPr>
        <p:txBody>
          <a:bodyPr lIns="92075" tIns="46038" rIns="92075" bIns="46038">
            <a:spAutoFit/>
          </a:bodyPr>
          <a:lstStyle/>
          <a:p>
            <a:pPr algn="just"/>
            <a:r>
              <a:rPr lang="en-US" altLang="en-US" sz="2400" dirty="0">
                <a:solidFill>
                  <a:srgbClr val="0000FF"/>
                </a:solidFill>
                <a:latin typeface="Cambria" panose="02040503050406030204" pitchFamily="18" charset="0"/>
                <a:ea typeface="Cambria" panose="02040503050406030204" pitchFamily="18" charset="0"/>
              </a:rPr>
              <a:t>ROLLBACK</a:t>
            </a:r>
            <a:r>
              <a:rPr lang="en-US" altLang="en-US" sz="2400" dirty="0">
                <a:latin typeface="Cambria" panose="02040503050406030204" pitchFamily="18" charset="0"/>
                <a:ea typeface="Cambria" panose="02040503050406030204" pitchFamily="18" charset="0"/>
              </a:rPr>
              <a:t> statement is used to undo the changes made by the transaction. However, it cant undo the changes that have been made permanent by COMMIT statement.</a:t>
            </a:r>
          </a:p>
          <a:p>
            <a:pPr algn="just"/>
            <a:r>
              <a:rPr lang="en-US" altLang="en-US" sz="2400" dirty="0">
                <a:solidFill>
                  <a:srgbClr val="0000FF"/>
                </a:solidFill>
                <a:latin typeface="Cambria" panose="02040503050406030204" pitchFamily="18" charset="0"/>
                <a:ea typeface="Cambria" panose="02040503050406030204" pitchFamily="18" charset="0"/>
              </a:rPr>
              <a:t>ROLLBACK [WORK][TO  </a:t>
            </a:r>
            <a:r>
              <a:rPr lang="en-US" altLang="en-US" sz="2400" dirty="0" err="1">
                <a:solidFill>
                  <a:srgbClr val="0000FF"/>
                </a:solidFill>
                <a:latin typeface="Cambria" panose="02040503050406030204" pitchFamily="18" charset="0"/>
                <a:ea typeface="Cambria" panose="02040503050406030204" pitchFamily="18" charset="0"/>
              </a:rPr>
              <a:t>savepoint_name</a:t>
            </a:r>
            <a:r>
              <a:rPr lang="en-US" altLang="en-US" sz="2400" dirty="0">
                <a:solidFill>
                  <a:srgbClr val="0000FF"/>
                </a:solidFill>
                <a:latin typeface="Cambria" panose="02040503050406030204" pitchFamily="18" charset="0"/>
                <a:ea typeface="Cambria" panose="02040503050406030204" pitchFamily="18" charset="0"/>
              </a:rPr>
              <a:t>];</a:t>
            </a:r>
          </a:p>
          <a:p>
            <a:pPr algn="just"/>
            <a:r>
              <a:rPr lang="en-US" altLang="en-US" sz="2400" dirty="0">
                <a:latin typeface="Cambria" panose="02040503050406030204" pitchFamily="18" charset="0"/>
                <a:ea typeface="Cambria" panose="02040503050406030204" pitchFamily="18" charset="0"/>
              </a:rPr>
              <a:t>The following statement will undo the changes made by the current transaction (up to the last COMMIT)</a:t>
            </a:r>
          </a:p>
          <a:p>
            <a:pPr algn="just"/>
            <a:r>
              <a:rPr lang="en-US" altLang="en-US" sz="2400" dirty="0">
                <a:solidFill>
                  <a:srgbClr val="0000FF"/>
                </a:solidFill>
                <a:latin typeface="Cambria" panose="02040503050406030204" pitchFamily="18" charset="0"/>
                <a:ea typeface="Cambria" panose="02040503050406030204" pitchFamily="18" charset="0"/>
              </a:rPr>
              <a:t>ROLLBACK; </a:t>
            </a:r>
          </a:p>
          <a:p>
            <a:pPr algn="just"/>
            <a:r>
              <a:rPr lang="en-US" altLang="en-US" sz="2400" dirty="0">
                <a:latin typeface="Cambria" panose="02040503050406030204" pitchFamily="18" charset="0"/>
                <a:ea typeface="Cambria" panose="02040503050406030204" pitchFamily="18" charset="0"/>
              </a:rPr>
              <a:t>The following statement will undo the changes up to the specific </a:t>
            </a:r>
            <a:r>
              <a:rPr lang="en-US" altLang="en-US" sz="2400" dirty="0" err="1">
                <a:latin typeface="Cambria" panose="02040503050406030204" pitchFamily="18" charset="0"/>
                <a:ea typeface="Cambria" panose="02040503050406030204" pitchFamily="18" charset="0"/>
              </a:rPr>
              <a:t>savepoint</a:t>
            </a:r>
            <a:r>
              <a:rPr lang="en-US" altLang="en-US" sz="2400" dirty="0">
                <a:latin typeface="Cambria" panose="02040503050406030204" pitchFamily="18" charset="0"/>
                <a:ea typeface="Cambria" panose="02040503050406030204" pitchFamily="18" charset="0"/>
              </a:rPr>
              <a:t>. </a:t>
            </a:r>
          </a:p>
          <a:p>
            <a:pPr algn="just"/>
            <a:r>
              <a:rPr lang="en-US" altLang="en-US" sz="2400" dirty="0">
                <a:solidFill>
                  <a:srgbClr val="0000FF"/>
                </a:solidFill>
                <a:latin typeface="Cambria" panose="02040503050406030204" pitchFamily="18" charset="0"/>
                <a:ea typeface="Cambria" panose="02040503050406030204" pitchFamily="18" charset="0"/>
              </a:rPr>
              <a:t>ROLLBACK</a:t>
            </a:r>
            <a:r>
              <a:rPr lang="en-US" altLang="en-US" sz="2400" dirty="0">
                <a:latin typeface="Cambria" panose="02040503050406030204" pitchFamily="18" charset="0"/>
                <a:ea typeface="Cambria" panose="02040503050406030204" pitchFamily="18" charset="0"/>
              </a:rPr>
              <a:t> </a:t>
            </a:r>
            <a:r>
              <a:rPr lang="en-US" altLang="en-US" sz="2400" dirty="0">
                <a:solidFill>
                  <a:srgbClr val="FF0000"/>
                </a:solidFill>
                <a:latin typeface="Cambria" panose="02040503050406030204" pitchFamily="18" charset="0"/>
                <a:ea typeface="Cambria" panose="02040503050406030204" pitchFamily="18" charset="0"/>
              </a:rPr>
              <a:t>TO </a:t>
            </a:r>
            <a:r>
              <a:rPr lang="en-US" altLang="en-US" sz="2400" dirty="0" err="1">
                <a:solidFill>
                  <a:srgbClr val="FF0000"/>
                </a:solidFill>
                <a:latin typeface="Cambria" panose="02040503050406030204" pitchFamily="18" charset="0"/>
                <a:ea typeface="Cambria" panose="02040503050406030204" pitchFamily="18" charset="0"/>
              </a:rPr>
              <a:t>savepoint</a:t>
            </a:r>
            <a:r>
              <a:rPr lang="en-US" altLang="en-US" sz="2400" dirty="0">
                <a:solidFill>
                  <a:srgbClr val="FF0000"/>
                </a:solidFill>
                <a:latin typeface="Cambria" panose="02040503050406030204" pitchFamily="18" charset="0"/>
                <a:ea typeface="Cambria" panose="02040503050406030204" pitchFamily="18" charset="0"/>
              </a:rPr>
              <a:t>-name;</a:t>
            </a:r>
            <a:r>
              <a:rPr lang="en-US" altLang="en-US" sz="2400" dirty="0">
                <a:latin typeface="Cambria" panose="02040503050406030204" pitchFamily="18" charset="0"/>
                <a:ea typeface="Cambria" panose="02040503050406030204" pitchFamily="18" charset="0"/>
              </a:rPr>
              <a:t> </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C8861934-9AD9-3599-B699-F6414DF2B9F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D49E1FA-3755-9441-D4C3-E0AE0CF5DF5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390321089"/>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56BC-CC06-50FC-1D31-A7FB25313CF3}"/>
            </a:ext>
          </a:extLst>
        </p:cNvPr>
        <p:cNvGrpSpPr/>
        <p:nvPr/>
      </p:nvGrpSpPr>
      <p:grpSpPr>
        <a:xfrm>
          <a:off x="0" y="0"/>
          <a:ext cx="0" cy="0"/>
          <a:chOff x="0" y="0"/>
          <a:chExt cx="0" cy="0"/>
        </a:xfrm>
      </p:grpSpPr>
      <p:sp>
        <p:nvSpPr>
          <p:cNvPr id="61442" name="Rectangle 2">
            <a:extLst>
              <a:ext uri="{FF2B5EF4-FFF2-40B4-BE49-F238E27FC236}">
                <a16:creationId xmlns:a16="http://schemas.microsoft.com/office/drawing/2014/main" id="{75A893B4-BCE3-CE1F-629C-62E20B83BE7D}"/>
              </a:ext>
            </a:extLst>
          </p:cNvPr>
          <p:cNvSpPr>
            <a:spLocks noGrp="1" noChangeArrowheads="1"/>
          </p:cNvSpPr>
          <p:nvPr>
            <p:ph type="body" idx="1"/>
          </p:nvPr>
        </p:nvSpPr>
        <p:spPr>
          <a:xfrm>
            <a:off x="467544" y="433536"/>
            <a:ext cx="8497887" cy="6019800"/>
          </a:xfrm>
        </p:spPr>
        <p:txBody>
          <a:bodyPr/>
          <a:lstStyle/>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Time</a:t>
            </a:r>
            <a:endParaRPr lang="en-US" altLang="en-US" sz="2000" dirty="0">
              <a:latin typeface="Cambria" panose="02040503050406030204" pitchFamily="18" charset="0"/>
              <a:ea typeface="Cambria" panose="02040503050406030204" pitchFamily="18" charset="0"/>
            </a:endParaRPr>
          </a:p>
          <a:p>
            <a:pPr marL="609600" indent="-609600">
              <a:lnSpc>
                <a:spcPct val="90000"/>
              </a:lnSpc>
              <a:buClr>
                <a:schemeClr val="tx2"/>
              </a:buClr>
              <a:buFontTx/>
              <a:buNone/>
            </a:pPr>
            <a:endParaRPr lang="en-US" altLang="en-US" sz="2000" dirty="0">
              <a:latin typeface="Cambria" panose="02040503050406030204" pitchFamily="18" charset="0"/>
              <a:ea typeface="Cambria" panose="02040503050406030204" pitchFamily="18" charset="0"/>
            </a:endParaRP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t1	</a:t>
            </a:r>
            <a:r>
              <a:rPr lang="en-US" altLang="en-US" sz="2000" dirty="0">
                <a:solidFill>
                  <a:srgbClr val="0000FF"/>
                </a:solidFill>
                <a:latin typeface="Cambria" panose="02040503050406030204" pitchFamily="18" charset="0"/>
                <a:ea typeface="Cambria" panose="02040503050406030204" pitchFamily="18" charset="0"/>
              </a:rPr>
              <a:t>SAVEPOINT s1;</a:t>
            </a:r>
            <a:r>
              <a:rPr lang="en-US" altLang="en-US" sz="2000" dirty="0">
                <a:latin typeface="Cambria" panose="02040503050406030204" pitchFamily="18" charset="0"/>
                <a:ea typeface="Cambria" panose="02040503050406030204" pitchFamily="18" charset="0"/>
              </a:rPr>
              <a:t> 	</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(a)</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(b)</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t2	</a:t>
            </a:r>
            <a:r>
              <a:rPr lang="en-US" altLang="en-US" sz="2000" dirty="0">
                <a:solidFill>
                  <a:srgbClr val="0000FF"/>
                </a:solidFill>
                <a:latin typeface="Cambria" panose="02040503050406030204" pitchFamily="18" charset="0"/>
                <a:ea typeface="Cambria" panose="02040503050406030204" pitchFamily="18" charset="0"/>
              </a:rPr>
              <a:t>SAVEPOINT s2; </a:t>
            </a:r>
            <a:r>
              <a:rPr lang="en-US" altLang="en-US" sz="2000" dirty="0">
                <a:latin typeface="Cambria" panose="02040503050406030204" pitchFamily="18" charset="0"/>
                <a:ea typeface="Cambria" panose="02040503050406030204" pitchFamily="18" charset="0"/>
              </a:rPr>
              <a:t>	</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(c)</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(d)</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t3	</a:t>
            </a:r>
            <a:r>
              <a:rPr lang="en-US" altLang="en-US" sz="2000" dirty="0">
                <a:solidFill>
                  <a:srgbClr val="0000FF"/>
                </a:solidFill>
                <a:latin typeface="Cambria" panose="02040503050406030204" pitchFamily="18" charset="0"/>
                <a:ea typeface="Cambria" panose="02040503050406030204" pitchFamily="18" charset="0"/>
              </a:rPr>
              <a:t>SAVEPOINT s3; </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(e)</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----------(f)</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t4	</a:t>
            </a:r>
            <a:r>
              <a:rPr lang="en-US" altLang="en-US" sz="2000" dirty="0">
                <a:solidFill>
                  <a:srgbClr val="FF0000"/>
                </a:solidFill>
                <a:latin typeface="Cambria" panose="02040503050406030204" pitchFamily="18" charset="0"/>
                <a:ea typeface="Cambria" panose="02040503050406030204" pitchFamily="18" charset="0"/>
              </a:rPr>
              <a:t>ROLLBACK TO s2;</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(g)</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 (h)</a:t>
            </a:r>
          </a:p>
          <a:p>
            <a:pPr marL="609600" indent="-609600">
              <a:lnSpc>
                <a:spcPct val="90000"/>
              </a:lnSpc>
              <a:buClr>
                <a:schemeClr val="tx2"/>
              </a:buClr>
              <a:buFontTx/>
              <a:buNone/>
            </a:pPr>
            <a:r>
              <a:rPr lang="en-US" altLang="en-US" sz="2000" dirty="0">
                <a:latin typeface="Cambria" panose="02040503050406030204" pitchFamily="18" charset="0"/>
                <a:ea typeface="Cambria" panose="02040503050406030204" pitchFamily="18" charset="0"/>
              </a:rPr>
              <a:t>		t5	</a:t>
            </a:r>
            <a:r>
              <a:rPr lang="en-US" altLang="en-US" sz="2000" dirty="0">
                <a:solidFill>
                  <a:srgbClr val="0000FF"/>
                </a:solidFill>
                <a:latin typeface="Cambria" panose="02040503050406030204" pitchFamily="18" charset="0"/>
                <a:ea typeface="Cambria" panose="02040503050406030204" pitchFamily="18" charset="0"/>
              </a:rPr>
              <a:t>COMMIT; </a:t>
            </a:r>
            <a:r>
              <a:rPr lang="en-US" altLang="en-US" sz="2000" dirty="0">
                <a:latin typeface="Cambria" panose="02040503050406030204" pitchFamily="18" charset="0"/>
                <a:ea typeface="Cambria" panose="02040503050406030204" pitchFamily="18" charset="0"/>
              </a:rPr>
              <a:t>// work done since the start of 					the transaction  plus (g) and (h) will be saved.</a:t>
            </a:r>
          </a:p>
        </p:txBody>
      </p:sp>
      <p:sp>
        <p:nvSpPr>
          <p:cNvPr id="61443" name="Text Box 4">
            <a:extLst>
              <a:ext uri="{FF2B5EF4-FFF2-40B4-BE49-F238E27FC236}">
                <a16:creationId xmlns:a16="http://schemas.microsoft.com/office/drawing/2014/main" id="{1E70A092-BA50-CE3B-5F68-8F360E9C462E}"/>
              </a:ext>
            </a:extLst>
          </p:cNvPr>
          <p:cNvSpPr txBox="1">
            <a:spLocks noChangeArrowheads="1"/>
          </p:cNvSpPr>
          <p:nvPr/>
        </p:nvSpPr>
        <p:spPr bwMode="auto">
          <a:xfrm>
            <a:off x="323528" y="163697"/>
            <a:ext cx="828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b="1" u="sng" dirty="0">
                <a:solidFill>
                  <a:srgbClr val="D34817"/>
                </a:solidFill>
                <a:latin typeface="Cambria" panose="02040503050406030204" pitchFamily="18" charset="0"/>
                <a:ea typeface="Cambria" panose="02040503050406030204" pitchFamily="18" charset="0"/>
              </a:rPr>
              <a:t>Transaction Management</a:t>
            </a:r>
            <a:endParaRPr lang="en-US" altLang="en-US" dirty="0">
              <a:solidFill>
                <a:srgbClr val="800000"/>
              </a:solidFill>
            </a:endParaRPr>
          </a:p>
        </p:txBody>
      </p:sp>
      <p:sp>
        <p:nvSpPr>
          <p:cNvPr id="61444" name="Line 5">
            <a:extLst>
              <a:ext uri="{FF2B5EF4-FFF2-40B4-BE49-F238E27FC236}">
                <a16:creationId xmlns:a16="http://schemas.microsoft.com/office/drawing/2014/main" id="{C025D346-E646-5358-5459-5A4994BCFB75}"/>
              </a:ext>
            </a:extLst>
          </p:cNvPr>
          <p:cNvSpPr>
            <a:spLocks noChangeShapeType="1"/>
          </p:cNvSpPr>
          <p:nvPr/>
        </p:nvSpPr>
        <p:spPr bwMode="auto">
          <a:xfrm flipH="1">
            <a:off x="2195736" y="1268760"/>
            <a:ext cx="99" cy="5112568"/>
          </a:xfrm>
          <a:prstGeom prst="line">
            <a:avLst/>
          </a:prstGeom>
          <a:noFill/>
          <a:ln w="38100">
            <a:solidFill>
              <a:schemeClr val="tx1"/>
            </a:solidFill>
            <a:miter lim="800000"/>
            <a:headEnd/>
            <a:tailEnd type="stealth" w="med" len="med"/>
          </a:ln>
          <a:extLst>
            <a:ext uri="{909E8E84-426E-40DD-AFC4-6F175D3DCCD1}">
              <a14:hiddenFill xmlns:a14="http://schemas.microsoft.com/office/drawing/2010/main">
                <a:noFill/>
              </a14:hiddenFill>
            </a:ext>
          </a:extLst>
        </p:spPr>
        <p:txBody>
          <a:bodyPr wrap="none"/>
          <a:lstStyle/>
          <a:p>
            <a:endParaRPr lang="en-US" dirty="0"/>
          </a:p>
        </p:txBody>
      </p:sp>
      <p:sp>
        <p:nvSpPr>
          <p:cNvPr id="2" name="Slide Number Placeholder 23">
            <a:extLst>
              <a:ext uri="{FF2B5EF4-FFF2-40B4-BE49-F238E27FC236}">
                <a16:creationId xmlns:a16="http://schemas.microsoft.com/office/drawing/2014/main" id="{032DC888-395A-0523-B374-42DB006ED06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6814590E-88A4-9A4D-978E-34547DBCED0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757619616"/>
      </p:ext>
    </p:extLst>
  </p:cSld>
  <p:clrMapOvr>
    <a:masterClrMapping/>
  </p:clrMapOvr>
  <p:transition spd="med">
    <p:blinds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13541</TotalTime>
  <Words>3687</Words>
  <Application>Microsoft Office PowerPoint</Application>
  <PresentationFormat>On-screen Show (4:3)</PresentationFormat>
  <Paragraphs>520</Paragraphs>
  <Slides>21</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Cambria</vt:lpstr>
      <vt:lpstr>Courier New</vt:lpstr>
      <vt:lpstr>Franklin Gothic Book</vt:lpstr>
      <vt:lpstr>Perpetua</vt:lpstr>
      <vt:lpstr>Times</vt:lpstr>
      <vt:lpstr>Times New Roman</vt:lpstr>
      <vt:lpstr>Wingdings</vt:lpstr>
      <vt:lpstr>Wingdings 2</vt:lpstr>
      <vt:lpstr>1_Equity</vt:lpstr>
      <vt:lpstr>CC-215-L Database Systems Lab</vt:lpstr>
      <vt:lpstr>  Objectives</vt:lpstr>
      <vt:lpstr>  Data Manipulation Language</vt:lpstr>
      <vt:lpstr>Adding a New Row to a Table</vt:lpstr>
      <vt:lpstr>The INSERT Statement</vt:lpstr>
      <vt:lpstr>The INSERT Statement</vt:lpstr>
      <vt:lpstr>The INSERT Statement</vt:lpstr>
      <vt:lpstr>Copying Rows from Another Table</vt:lpstr>
      <vt:lpstr>Changing Data in a Table</vt:lpstr>
      <vt:lpstr>The UPDATE Statement</vt:lpstr>
      <vt:lpstr>The UPDATE Statement</vt:lpstr>
      <vt:lpstr>Updating using Subquery</vt:lpstr>
      <vt:lpstr>Removing a Row from a Table </vt:lpstr>
      <vt:lpstr>DELETE Statement</vt:lpstr>
      <vt:lpstr>Deleting Rows Based on Another Table</vt:lpstr>
      <vt:lpstr>Deleting Rows:  Integrity Constraint Error</vt:lpstr>
      <vt:lpstr>TRUNCATE Statement</vt:lpstr>
      <vt:lpstr>Transaction Management</vt:lpstr>
      <vt:lpstr>Transaction Management</vt:lpstr>
      <vt:lpstr>Transaction Management</vt:lpstr>
      <vt:lpstr>PowerPoint Presentation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853</cp:revision>
  <dcterms:created xsi:type="dcterms:W3CDTF">2006-05-17T12:38:56Z</dcterms:created>
  <dcterms:modified xsi:type="dcterms:W3CDTF">2025-11-24T06:47:05Z</dcterms:modified>
</cp:coreProperties>
</file>