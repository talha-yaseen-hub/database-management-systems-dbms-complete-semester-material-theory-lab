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38"/>
  </p:notesMasterIdLst>
  <p:handoutMasterIdLst>
    <p:handoutMasterId r:id="rId39"/>
  </p:handoutMasterIdLst>
  <p:sldIdLst>
    <p:sldId id="509" r:id="rId2"/>
    <p:sldId id="506" r:id="rId3"/>
    <p:sldId id="511" r:id="rId4"/>
    <p:sldId id="512" r:id="rId5"/>
    <p:sldId id="513" r:id="rId6"/>
    <p:sldId id="524" r:id="rId7"/>
    <p:sldId id="525" r:id="rId8"/>
    <p:sldId id="526" r:id="rId9"/>
    <p:sldId id="527" r:id="rId10"/>
    <p:sldId id="528" r:id="rId11"/>
    <p:sldId id="529" r:id="rId12"/>
    <p:sldId id="514" r:id="rId13"/>
    <p:sldId id="521" r:id="rId14"/>
    <p:sldId id="519" r:id="rId15"/>
    <p:sldId id="531" r:id="rId16"/>
    <p:sldId id="532" r:id="rId17"/>
    <p:sldId id="533" r:id="rId18"/>
    <p:sldId id="534" r:id="rId19"/>
    <p:sldId id="535" r:id="rId20"/>
    <p:sldId id="536" r:id="rId21"/>
    <p:sldId id="549" r:id="rId22"/>
    <p:sldId id="548" r:id="rId23"/>
    <p:sldId id="537" r:id="rId24"/>
    <p:sldId id="538" r:id="rId25"/>
    <p:sldId id="539" r:id="rId26"/>
    <p:sldId id="541" r:id="rId27"/>
    <p:sldId id="542" r:id="rId28"/>
    <p:sldId id="540" r:id="rId29"/>
    <p:sldId id="543" r:id="rId30"/>
    <p:sldId id="544" r:id="rId31"/>
    <p:sldId id="515" r:id="rId32"/>
    <p:sldId id="545" r:id="rId33"/>
    <p:sldId id="546" r:id="rId34"/>
    <p:sldId id="520" r:id="rId35"/>
    <p:sldId id="522" r:id="rId36"/>
    <p:sldId id="547" r:id="rId37"/>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FF00"/>
    <a:srgbClr val="FF0000"/>
    <a:srgbClr val="006600"/>
    <a:srgbClr val="FFFF66"/>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65" autoAdjust="0"/>
    <p:restoredTop sz="95256" autoAdjust="0"/>
  </p:normalViewPr>
  <p:slideViewPr>
    <p:cSldViewPr>
      <p:cViewPr varScale="1">
        <p:scale>
          <a:sx n="83" d="100"/>
          <a:sy n="83" d="100"/>
        </p:scale>
        <p:origin x="79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44412C5B-B65C-2712-E7F1-61C1CF19407D}"/>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EFFB56AA-BD56-3378-95A6-53233533453F}"/>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BB9EABB3-A8C1-C48A-A094-35E07438B226}"/>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FF507724-855D-4FBF-306A-2C30CC7BF5D2}"/>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AA6F8CDB-CE96-4778-B1ED-AE7A7D5D173D}"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624FBE4-72FF-D202-CD9E-D30055181C07}"/>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7B8CB51B-4EE9-8AC1-4E97-A2C1F62F9C3E}"/>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25DEB104-3B61-F3EC-B2F4-C447AB2D2510}"/>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0FAFEB8-99BA-362A-67A9-05EDBFAEA0B1}"/>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4329CDEA-61CA-8C0D-998C-D6F47EB10D7A}"/>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E7663C80-E5F8-3F72-B2D2-EFE4F1331A84}"/>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EE61BA91-CBF7-4005-B9C4-A26626159C2F}"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3D768-27EE-F695-56FD-1FFAD8D3875E}"/>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F3A7C86F-4A5D-B25A-57EF-3190B427254D}"/>
              </a:ext>
            </a:extLst>
          </p:cNvPr>
          <p:cNvSpPr>
            <a:spLocks noChangeArrowheads="1"/>
          </p:cNvSpPr>
          <p:nvPr/>
        </p:nvSpPr>
        <p:spPr bwMode="auto">
          <a:xfrm>
            <a:off x="3884613" y="-1588"/>
            <a:ext cx="2973387"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19" name="Rectangle 3">
            <a:extLst>
              <a:ext uri="{FF2B5EF4-FFF2-40B4-BE49-F238E27FC236}">
                <a16:creationId xmlns:a16="http://schemas.microsoft.com/office/drawing/2014/main" id="{D1E862FC-1D05-6304-7A77-843DCEC15D4A}"/>
              </a:ext>
            </a:extLst>
          </p:cNvPr>
          <p:cNvSpPr>
            <a:spLocks noChangeArrowheads="1"/>
          </p:cNvSpPr>
          <p:nvPr/>
        </p:nvSpPr>
        <p:spPr bwMode="auto">
          <a:xfrm>
            <a:off x="-1588" y="-1588"/>
            <a:ext cx="2970213"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20" name="Rectangle 4">
            <a:extLst>
              <a:ext uri="{FF2B5EF4-FFF2-40B4-BE49-F238E27FC236}">
                <a16:creationId xmlns:a16="http://schemas.microsoft.com/office/drawing/2014/main" id="{AAD22A38-1830-FF81-A845-D8292919CC07}"/>
              </a:ext>
            </a:extLst>
          </p:cNvPr>
          <p:cNvSpPr>
            <a:spLocks noGrp="1" noChangeArrowheads="1"/>
          </p:cNvSpPr>
          <p:nvPr>
            <p:ph type="body" idx="1"/>
          </p:nvPr>
        </p:nvSpPr>
        <p:spPr>
          <a:xfrm>
            <a:off x="455613" y="4849813"/>
            <a:ext cx="58753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Using a Subquery to Solve a Problem</a:t>
            </a:r>
          </a:p>
          <a:p>
            <a:pPr marL="114300" lvl="1" defTabSz="377825">
              <a:tabLst>
                <a:tab pos="442913" algn="l"/>
              </a:tabLst>
            </a:pPr>
            <a:r>
              <a:rPr lang="en-US" altLang="en-US">
                <a:latin typeface="Arial" panose="020B0604020202020204" pitchFamily="34" charset="0"/>
              </a:rPr>
              <a:t>Suppose you want to write a query to find out who earns a salary greater than Jones’ salary. </a:t>
            </a:r>
          </a:p>
          <a:p>
            <a:pPr marL="114300" lvl="1" defTabSz="377825">
              <a:tabLst>
                <a:tab pos="442913" algn="l"/>
              </a:tabLst>
            </a:pPr>
            <a:r>
              <a:rPr lang="en-US" altLang="en-US">
                <a:latin typeface="Arial" panose="020B0604020202020204" pitchFamily="34" charset="0"/>
              </a:rPr>
              <a:t>To solve this problem, you need </a:t>
            </a:r>
            <a:r>
              <a:rPr lang="en-US" altLang="en-US" i="1">
                <a:latin typeface="Arial" panose="020B0604020202020204" pitchFamily="34" charset="0"/>
              </a:rPr>
              <a:t>two</a:t>
            </a:r>
            <a:r>
              <a:rPr lang="en-US" altLang="en-US">
                <a:latin typeface="Arial" panose="020B0604020202020204" pitchFamily="34" charset="0"/>
              </a:rPr>
              <a:t> queries: one query to find what Jones earns and a second query to find who earns more than that amount. </a:t>
            </a:r>
          </a:p>
          <a:p>
            <a:pPr marL="114300" lvl="1" defTabSz="377825">
              <a:tabLst>
                <a:tab pos="442913" algn="l"/>
              </a:tabLst>
            </a:pPr>
            <a:r>
              <a:rPr lang="en-US" altLang="en-US">
                <a:latin typeface="Arial" panose="020B0604020202020204" pitchFamily="34" charset="0"/>
              </a:rPr>
              <a:t>You can solve this problem by combining the two queries, placing one query </a:t>
            </a:r>
            <a:r>
              <a:rPr lang="en-US" altLang="en-US" i="1">
                <a:latin typeface="Arial" panose="020B0604020202020204" pitchFamily="34" charset="0"/>
              </a:rPr>
              <a:t>inside</a:t>
            </a:r>
            <a:r>
              <a:rPr lang="en-US" altLang="en-US">
                <a:latin typeface="Arial" panose="020B0604020202020204" pitchFamily="34" charset="0"/>
              </a:rPr>
              <a:t> the other query. </a:t>
            </a:r>
          </a:p>
          <a:p>
            <a:pPr marL="114300" lvl="1" defTabSz="377825">
              <a:tabLst>
                <a:tab pos="442913" algn="l"/>
              </a:tabLst>
            </a:pPr>
            <a:r>
              <a:rPr lang="en-US" altLang="en-US">
                <a:latin typeface="Arial" panose="020B0604020202020204" pitchFamily="34" charset="0"/>
              </a:rPr>
              <a:t>The inner query or the </a:t>
            </a:r>
            <a:r>
              <a:rPr lang="en-US" altLang="en-US" i="1">
                <a:latin typeface="Arial" panose="020B0604020202020204" pitchFamily="34" charset="0"/>
              </a:rPr>
              <a:t>subquery</a:t>
            </a:r>
            <a:r>
              <a:rPr lang="en-US" altLang="en-US">
                <a:latin typeface="Arial" panose="020B0604020202020204" pitchFamily="34" charset="0"/>
              </a:rPr>
              <a:t> returns a value that is used by the outer query or the main query. Using a subquery is equivalent to performing two sequential queries and using the result of the first query as the search value in the second query.</a:t>
            </a:r>
          </a:p>
          <a:p>
            <a:pPr marL="436563" lvl="2" indent="-207963" defTabSz="377825">
              <a:tabLst>
                <a:tab pos="442913" algn="l"/>
              </a:tabLst>
            </a:pPr>
            <a:endParaRPr lang="en-US" altLang="en-US">
              <a:latin typeface="Arial" panose="020B0604020202020204" pitchFamily="34" charset="0"/>
            </a:endParaRPr>
          </a:p>
          <a:p>
            <a:pPr defTabSz="377825">
              <a:tabLst>
                <a:tab pos="442913" algn="l"/>
              </a:tabLst>
            </a:pPr>
            <a:endParaRPr lang="en-US" altLang="en-US">
              <a:latin typeface="Times New Roman" panose="02020603050405020304" pitchFamily="18" charset="0"/>
            </a:endParaRPr>
          </a:p>
          <a:p>
            <a:pPr defTabSz="377825">
              <a:tabLst>
                <a:tab pos="442913" algn="l"/>
              </a:tabLst>
            </a:pPr>
            <a:endParaRPr lang="en-US" altLang="en-US">
              <a:latin typeface="Times New Roman" panose="02020603050405020304" pitchFamily="18" charset="0"/>
            </a:endParaRPr>
          </a:p>
          <a:p>
            <a:pPr defTabSz="377825">
              <a:tabLst>
                <a:tab pos="442913" algn="l"/>
              </a:tabLst>
            </a:pPr>
            <a:endParaRPr lang="en-US" altLang="en-US">
              <a:solidFill>
                <a:schemeClr val="accent1"/>
              </a:solidFill>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defTabSz="377825">
              <a:tabLst>
                <a:tab pos="442913" algn="l"/>
              </a:tabLst>
            </a:pPr>
            <a:endParaRPr lang="en-US" altLang="en-US" b="1">
              <a:latin typeface="Times New Roman" panose="02020603050405020304" pitchFamily="18" charset="0"/>
            </a:endParaRPr>
          </a:p>
        </p:txBody>
      </p:sp>
      <p:sp>
        <p:nvSpPr>
          <p:cNvPr id="9221" name="Rectangle 5">
            <a:extLst>
              <a:ext uri="{FF2B5EF4-FFF2-40B4-BE49-F238E27FC236}">
                <a16:creationId xmlns:a16="http://schemas.microsoft.com/office/drawing/2014/main" id="{5C09EF85-DD69-0779-50CE-B55F308D32BA}"/>
              </a:ext>
            </a:extLst>
          </p:cNvPr>
          <p:cNvSpPr>
            <a:spLocks noGrp="1" noRot="1" noChangeAspec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412101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4F791-ED74-29A0-50FD-4ED0315C1E71}"/>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D317F66E-50E1-D479-245D-EADB17D00834}"/>
              </a:ext>
            </a:extLst>
          </p:cNvPr>
          <p:cNvSpPr>
            <a:spLocks noChangeArrowheads="1"/>
          </p:cNvSpPr>
          <p:nvPr/>
        </p:nvSpPr>
        <p:spPr bwMode="auto">
          <a:xfrm>
            <a:off x="3884613" y="-1588"/>
            <a:ext cx="2973387"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19" name="Rectangle 3">
            <a:extLst>
              <a:ext uri="{FF2B5EF4-FFF2-40B4-BE49-F238E27FC236}">
                <a16:creationId xmlns:a16="http://schemas.microsoft.com/office/drawing/2014/main" id="{D71A0CE6-3F97-5AF5-A456-0BB33B3F456D}"/>
              </a:ext>
            </a:extLst>
          </p:cNvPr>
          <p:cNvSpPr>
            <a:spLocks noChangeArrowheads="1"/>
          </p:cNvSpPr>
          <p:nvPr/>
        </p:nvSpPr>
        <p:spPr bwMode="auto">
          <a:xfrm>
            <a:off x="-1588" y="-1588"/>
            <a:ext cx="2970213"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20" name="Rectangle 4">
            <a:extLst>
              <a:ext uri="{FF2B5EF4-FFF2-40B4-BE49-F238E27FC236}">
                <a16:creationId xmlns:a16="http://schemas.microsoft.com/office/drawing/2014/main" id="{8857451D-774F-2933-4944-A89721B19A68}"/>
              </a:ext>
            </a:extLst>
          </p:cNvPr>
          <p:cNvSpPr>
            <a:spLocks noGrp="1" noChangeArrowheads="1"/>
          </p:cNvSpPr>
          <p:nvPr>
            <p:ph type="body" idx="1"/>
          </p:nvPr>
        </p:nvSpPr>
        <p:spPr>
          <a:xfrm>
            <a:off x="455613" y="4849813"/>
            <a:ext cx="58753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Using a Subquery to Solve a Problem</a:t>
            </a:r>
          </a:p>
          <a:p>
            <a:pPr marL="114300" lvl="1" defTabSz="377825">
              <a:tabLst>
                <a:tab pos="442913" algn="l"/>
              </a:tabLst>
            </a:pPr>
            <a:r>
              <a:rPr lang="en-US" altLang="en-US">
                <a:latin typeface="Arial" panose="020B0604020202020204" pitchFamily="34" charset="0"/>
              </a:rPr>
              <a:t>Suppose you want to write a query to find out who earns a salary greater than Jones’ salary. </a:t>
            </a:r>
          </a:p>
          <a:p>
            <a:pPr marL="114300" lvl="1" defTabSz="377825">
              <a:tabLst>
                <a:tab pos="442913" algn="l"/>
              </a:tabLst>
            </a:pPr>
            <a:r>
              <a:rPr lang="en-US" altLang="en-US">
                <a:latin typeface="Arial" panose="020B0604020202020204" pitchFamily="34" charset="0"/>
              </a:rPr>
              <a:t>To solve this problem, you need </a:t>
            </a:r>
            <a:r>
              <a:rPr lang="en-US" altLang="en-US" i="1">
                <a:latin typeface="Arial" panose="020B0604020202020204" pitchFamily="34" charset="0"/>
              </a:rPr>
              <a:t>two</a:t>
            </a:r>
            <a:r>
              <a:rPr lang="en-US" altLang="en-US">
                <a:latin typeface="Arial" panose="020B0604020202020204" pitchFamily="34" charset="0"/>
              </a:rPr>
              <a:t> queries: one query to find what Jones earns and a second query to find who earns more than that amount. </a:t>
            </a:r>
          </a:p>
          <a:p>
            <a:pPr marL="114300" lvl="1" defTabSz="377825">
              <a:tabLst>
                <a:tab pos="442913" algn="l"/>
              </a:tabLst>
            </a:pPr>
            <a:r>
              <a:rPr lang="en-US" altLang="en-US">
                <a:latin typeface="Arial" panose="020B0604020202020204" pitchFamily="34" charset="0"/>
              </a:rPr>
              <a:t>You can solve this problem by combining the two queries, placing one query </a:t>
            </a:r>
            <a:r>
              <a:rPr lang="en-US" altLang="en-US" i="1">
                <a:latin typeface="Arial" panose="020B0604020202020204" pitchFamily="34" charset="0"/>
              </a:rPr>
              <a:t>inside</a:t>
            </a:r>
            <a:r>
              <a:rPr lang="en-US" altLang="en-US">
                <a:latin typeface="Arial" panose="020B0604020202020204" pitchFamily="34" charset="0"/>
              </a:rPr>
              <a:t> the other query. </a:t>
            </a:r>
          </a:p>
          <a:p>
            <a:pPr marL="114300" lvl="1" defTabSz="377825">
              <a:tabLst>
                <a:tab pos="442913" algn="l"/>
              </a:tabLst>
            </a:pPr>
            <a:r>
              <a:rPr lang="en-US" altLang="en-US">
                <a:latin typeface="Arial" panose="020B0604020202020204" pitchFamily="34" charset="0"/>
              </a:rPr>
              <a:t>The inner query or the </a:t>
            </a:r>
            <a:r>
              <a:rPr lang="en-US" altLang="en-US" i="1">
                <a:latin typeface="Arial" panose="020B0604020202020204" pitchFamily="34" charset="0"/>
              </a:rPr>
              <a:t>subquery</a:t>
            </a:r>
            <a:r>
              <a:rPr lang="en-US" altLang="en-US">
                <a:latin typeface="Arial" panose="020B0604020202020204" pitchFamily="34" charset="0"/>
              </a:rPr>
              <a:t> returns a value that is used by the outer query or the main query. Using a subquery is equivalent to performing two sequential queries and using the result of the first query as the search value in the second query.</a:t>
            </a:r>
          </a:p>
          <a:p>
            <a:pPr marL="436563" lvl="2" indent="-207963" defTabSz="377825">
              <a:tabLst>
                <a:tab pos="442913" algn="l"/>
              </a:tabLst>
            </a:pPr>
            <a:endParaRPr lang="en-US" altLang="en-US">
              <a:latin typeface="Arial" panose="020B0604020202020204" pitchFamily="34" charset="0"/>
            </a:endParaRPr>
          </a:p>
          <a:p>
            <a:pPr defTabSz="377825">
              <a:tabLst>
                <a:tab pos="442913" algn="l"/>
              </a:tabLst>
            </a:pPr>
            <a:endParaRPr lang="en-US" altLang="en-US">
              <a:latin typeface="Times New Roman" panose="02020603050405020304" pitchFamily="18" charset="0"/>
            </a:endParaRPr>
          </a:p>
          <a:p>
            <a:pPr defTabSz="377825">
              <a:tabLst>
                <a:tab pos="442913" algn="l"/>
              </a:tabLst>
            </a:pPr>
            <a:endParaRPr lang="en-US" altLang="en-US">
              <a:latin typeface="Times New Roman" panose="02020603050405020304" pitchFamily="18" charset="0"/>
            </a:endParaRPr>
          </a:p>
          <a:p>
            <a:pPr defTabSz="377825">
              <a:tabLst>
                <a:tab pos="442913" algn="l"/>
              </a:tabLst>
            </a:pPr>
            <a:endParaRPr lang="en-US" altLang="en-US">
              <a:solidFill>
                <a:schemeClr val="accent1"/>
              </a:solidFill>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defTabSz="377825">
              <a:tabLst>
                <a:tab pos="442913" algn="l"/>
              </a:tabLst>
            </a:pPr>
            <a:endParaRPr lang="en-US" altLang="en-US" b="1">
              <a:latin typeface="Times New Roman" panose="02020603050405020304" pitchFamily="18" charset="0"/>
            </a:endParaRPr>
          </a:p>
        </p:txBody>
      </p:sp>
      <p:sp>
        <p:nvSpPr>
          <p:cNvPr id="9221" name="Rectangle 5">
            <a:extLst>
              <a:ext uri="{FF2B5EF4-FFF2-40B4-BE49-F238E27FC236}">
                <a16:creationId xmlns:a16="http://schemas.microsoft.com/office/drawing/2014/main" id="{52DBB5C2-22E6-EEF4-2207-27E5A992B3F9}"/>
              </a:ext>
            </a:extLst>
          </p:cNvPr>
          <p:cNvSpPr>
            <a:spLocks noGrp="1" noRot="1" noChangeAspec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412836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E6749-C5B5-8880-D239-25805B2693CD}"/>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974CD104-6439-5850-696A-286F58EA0041}"/>
              </a:ext>
            </a:extLst>
          </p:cNvPr>
          <p:cNvSpPr>
            <a:spLocks noChangeArrowheads="1"/>
          </p:cNvSpPr>
          <p:nvPr/>
        </p:nvSpPr>
        <p:spPr bwMode="auto">
          <a:xfrm>
            <a:off x="3883025" y="0"/>
            <a:ext cx="2976563"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59" name="Rectangle 3">
            <a:extLst>
              <a:ext uri="{FF2B5EF4-FFF2-40B4-BE49-F238E27FC236}">
                <a16:creationId xmlns:a16="http://schemas.microsoft.com/office/drawing/2014/main" id="{5A9F0D6B-7CF5-AFA3-60C6-1E20FD96C334}"/>
              </a:ext>
            </a:extLst>
          </p:cNvPr>
          <p:cNvSpPr>
            <a:spLocks noChangeArrowheads="1"/>
          </p:cNvSpPr>
          <p:nvPr/>
        </p:nvSpPr>
        <p:spPr bwMode="auto">
          <a:xfrm>
            <a:off x="-3175" y="0"/>
            <a:ext cx="297338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0" name="Rectangle 4">
            <a:extLst>
              <a:ext uri="{FF2B5EF4-FFF2-40B4-BE49-F238E27FC236}">
                <a16:creationId xmlns:a16="http://schemas.microsoft.com/office/drawing/2014/main" id="{F180BD42-D985-2115-3BA1-C4952D9CA42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Guidelines for Using Subqueries</a:t>
            </a:r>
          </a:p>
          <a:p>
            <a:pPr lvl="2"/>
            <a:r>
              <a:rPr lang="en-US" altLang="en-US">
                <a:latin typeface="Arial" panose="020B0604020202020204" pitchFamily="34" charset="0"/>
              </a:rPr>
              <a:t>A subquery must be</a:t>
            </a:r>
            <a:r>
              <a:rPr lang="en-US" altLang="en-US">
                <a:latin typeface="Times" panose="02020603050405020304" pitchFamily="18" charset="0"/>
              </a:rPr>
              <a:t> enclosed in parentheses.</a:t>
            </a:r>
          </a:p>
          <a:p>
            <a:pPr lvl="2"/>
            <a:r>
              <a:rPr lang="en-US" altLang="en-US">
                <a:latin typeface="Arial" panose="020B0604020202020204" pitchFamily="34" charset="0"/>
              </a:rPr>
              <a:t>A subquery must appear on the right side of the comparison operator.</a:t>
            </a:r>
          </a:p>
          <a:p>
            <a:pPr lvl="2"/>
            <a:r>
              <a:rPr lang="en-US" altLang="en-US">
                <a:latin typeface="Arial" panose="020B0604020202020204" pitchFamily="34" charset="0"/>
              </a:rPr>
              <a:t>Subqueries cannot contain an ORDER BY clause. You can have only one ORDER BY clause for a SELECT statement, and if specified it must be the last clause in the main SELECT statement.</a:t>
            </a:r>
          </a:p>
          <a:p>
            <a:pPr lvl="2"/>
            <a:r>
              <a:rPr lang="en-US" altLang="en-US">
                <a:latin typeface="Arial" panose="020B0604020202020204" pitchFamily="34" charset="0"/>
              </a:rPr>
              <a:t>Two classes of comparison operators are used in subqueries: single-row operators and </a:t>
            </a:r>
            <a:br>
              <a:rPr lang="en-US" altLang="en-US">
                <a:latin typeface="Arial" panose="020B0604020202020204" pitchFamily="34" charset="0"/>
              </a:rPr>
            </a:br>
            <a:r>
              <a:rPr lang="en-US" altLang="en-US">
                <a:latin typeface="Arial" panose="020B0604020202020204" pitchFamily="34" charset="0"/>
              </a:rPr>
              <a:t>multiple-row operators.</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A subquery can execute multiple times in correlated subqueries, which are not included in this course. Students may ask how many subqueries can be written. The Oracle Server imposes no limit on the number of subqueries. The limit is related to the buffer size that the query uses.</a:t>
            </a:r>
          </a:p>
        </p:txBody>
      </p:sp>
      <p:sp>
        <p:nvSpPr>
          <p:cNvPr id="19461" name="Rectangle 5">
            <a:extLst>
              <a:ext uri="{FF2B5EF4-FFF2-40B4-BE49-F238E27FC236}">
                <a16:creationId xmlns:a16="http://schemas.microsoft.com/office/drawing/2014/main" id="{D8D64DCA-E133-1D67-FCDA-9DE0E41851F5}"/>
              </a:ext>
            </a:extLst>
          </p:cNvPr>
          <p:cNvSpPr>
            <a:spLocks noGrp="1" noRot="1" noChangeAspec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685090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3B610-5BDC-8861-1A60-CFFF33A5414F}"/>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12C5098D-C407-DF51-F5C9-14089935712E}"/>
              </a:ext>
            </a:extLst>
          </p:cNvPr>
          <p:cNvSpPr>
            <a:spLocks noChangeArrowheads="1"/>
          </p:cNvSpPr>
          <p:nvPr/>
        </p:nvSpPr>
        <p:spPr bwMode="auto">
          <a:xfrm>
            <a:off x="3883025" y="0"/>
            <a:ext cx="2976563"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59" name="Rectangle 3">
            <a:extLst>
              <a:ext uri="{FF2B5EF4-FFF2-40B4-BE49-F238E27FC236}">
                <a16:creationId xmlns:a16="http://schemas.microsoft.com/office/drawing/2014/main" id="{EBD00B55-81D8-75EC-9429-CD6BE432B561}"/>
              </a:ext>
            </a:extLst>
          </p:cNvPr>
          <p:cNvSpPr>
            <a:spLocks noChangeArrowheads="1"/>
          </p:cNvSpPr>
          <p:nvPr/>
        </p:nvSpPr>
        <p:spPr bwMode="auto">
          <a:xfrm>
            <a:off x="-3175" y="0"/>
            <a:ext cx="297338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0" name="Rectangle 4">
            <a:extLst>
              <a:ext uri="{FF2B5EF4-FFF2-40B4-BE49-F238E27FC236}">
                <a16:creationId xmlns:a16="http://schemas.microsoft.com/office/drawing/2014/main" id="{6732A892-DAAA-E5C0-47FF-DE4C54FA58F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Guidelines for Using Subqueries</a:t>
            </a:r>
          </a:p>
          <a:p>
            <a:pPr lvl="2"/>
            <a:r>
              <a:rPr lang="en-US" altLang="en-US">
                <a:latin typeface="Arial" panose="020B0604020202020204" pitchFamily="34" charset="0"/>
              </a:rPr>
              <a:t>A subquery must be</a:t>
            </a:r>
            <a:r>
              <a:rPr lang="en-US" altLang="en-US">
                <a:latin typeface="Times" panose="02020603050405020304" pitchFamily="18" charset="0"/>
              </a:rPr>
              <a:t> enclosed in parentheses.</a:t>
            </a:r>
          </a:p>
          <a:p>
            <a:pPr lvl="2"/>
            <a:r>
              <a:rPr lang="en-US" altLang="en-US">
                <a:latin typeface="Arial" panose="020B0604020202020204" pitchFamily="34" charset="0"/>
              </a:rPr>
              <a:t>A subquery must appear on the right side of the comparison operator.</a:t>
            </a:r>
          </a:p>
          <a:p>
            <a:pPr lvl="2"/>
            <a:r>
              <a:rPr lang="en-US" altLang="en-US">
                <a:latin typeface="Arial" panose="020B0604020202020204" pitchFamily="34" charset="0"/>
              </a:rPr>
              <a:t>Subqueries cannot contain an ORDER BY clause. You can have only one ORDER BY clause for a SELECT statement, and if specified it must be the last clause in the main SELECT statement.</a:t>
            </a:r>
          </a:p>
          <a:p>
            <a:pPr lvl="2"/>
            <a:r>
              <a:rPr lang="en-US" altLang="en-US">
                <a:latin typeface="Arial" panose="020B0604020202020204" pitchFamily="34" charset="0"/>
              </a:rPr>
              <a:t>Two classes of comparison operators are used in subqueries: single-row operators and </a:t>
            </a:r>
            <a:br>
              <a:rPr lang="en-US" altLang="en-US">
                <a:latin typeface="Arial" panose="020B0604020202020204" pitchFamily="34" charset="0"/>
              </a:rPr>
            </a:br>
            <a:r>
              <a:rPr lang="en-US" altLang="en-US">
                <a:latin typeface="Arial" panose="020B0604020202020204" pitchFamily="34" charset="0"/>
              </a:rPr>
              <a:t>multiple-row operators.</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A subquery can execute multiple times in correlated subqueries, which are not included in this course. Students may ask how many subqueries can be written. The Oracle Server imposes no limit on the number of subqueries. The limit is related to the buffer size that the query uses.</a:t>
            </a:r>
          </a:p>
        </p:txBody>
      </p:sp>
      <p:sp>
        <p:nvSpPr>
          <p:cNvPr id="19461" name="Rectangle 5">
            <a:extLst>
              <a:ext uri="{FF2B5EF4-FFF2-40B4-BE49-F238E27FC236}">
                <a16:creationId xmlns:a16="http://schemas.microsoft.com/office/drawing/2014/main" id="{9D6B569F-4D81-F1C2-0510-8CBA2FE557D4}"/>
              </a:ext>
            </a:extLst>
          </p:cNvPr>
          <p:cNvSpPr>
            <a:spLocks noGrp="1" noRot="1" noChangeAspec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680544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57E3E-CD6A-C7A2-761E-D7B01852714F}"/>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540EE3AF-F8CF-CEEC-EB4F-00D8DFDC3F7F}"/>
              </a:ext>
            </a:extLst>
          </p:cNvPr>
          <p:cNvSpPr>
            <a:spLocks noChangeArrowheads="1"/>
          </p:cNvSpPr>
          <p:nvPr/>
        </p:nvSpPr>
        <p:spPr bwMode="auto">
          <a:xfrm>
            <a:off x="3883025" y="0"/>
            <a:ext cx="2976563"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59" name="Rectangle 3">
            <a:extLst>
              <a:ext uri="{FF2B5EF4-FFF2-40B4-BE49-F238E27FC236}">
                <a16:creationId xmlns:a16="http://schemas.microsoft.com/office/drawing/2014/main" id="{DD4736C1-A17E-BE85-9597-48FA8D8FC88A}"/>
              </a:ext>
            </a:extLst>
          </p:cNvPr>
          <p:cNvSpPr>
            <a:spLocks noChangeArrowheads="1"/>
          </p:cNvSpPr>
          <p:nvPr/>
        </p:nvSpPr>
        <p:spPr bwMode="auto">
          <a:xfrm>
            <a:off x="-3175" y="0"/>
            <a:ext cx="297338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0" name="Rectangle 4">
            <a:extLst>
              <a:ext uri="{FF2B5EF4-FFF2-40B4-BE49-F238E27FC236}">
                <a16:creationId xmlns:a16="http://schemas.microsoft.com/office/drawing/2014/main" id="{480ACF67-669F-78EB-F166-4C3760CE97F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Guidelines for Using Subqueries</a:t>
            </a:r>
          </a:p>
          <a:p>
            <a:pPr lvl="2"/>
            <a:r>
              <a:rPr lang="en-US" altLang="en-US">
                <a:latin typeface="Arial" panose="020B0604020202020204" pitchFamily="34" charset="0"/>
              </a:rPr>
              <a:t>A subquery must be</a:t>
            </a:r>
            <a:r>
              <a:rPr lang="en-US" altLang="en-US">
                <a:latin typeface="Times" panose="02020603050405020304" pitchFamily="18" charset="0"/>
              </a:rPr>
              <a:t> enclosed in parentheses.</a:t>
            </a:r>
          </a:p>
          <a:p>
            <a:pPr lvl="2"/>
            <a:r>
              <a:rPr lang="en-US" altLang="en-US">
                <a:latin typeface="Arial" panose="020B0604020202020204" pitchFamily="34" charset="0"/>
              </a:rPr>
              <a:t>A subquery must appear on the right side of the comparison operator.</a:t>
            </a:r>
          </a:p>
          <a:p>
            <a:pPr lvl="2"/>
            <a:r>
              <a:rPr lang="en-US" altLang="en-US">
                <a:latin typeface="Arial" panose="020B0604020202020204" pitchFamily="34" charset="0"/>
              </a:rPr>
              <a:t>Subqueries cannot contain an ORDER BY clause. You can have only one ORDER BY clause for a SELECT statement, and if specified it must be the last clause in the main SELECT statement.</a:t>
            </a:r>
          </a:p>
          <a:p>
            <a:pPr lvl="2"/>
            <a:r>
              <a:rPr lang="en-US" altLang="en-US">
                <a:latin typeface="Arial" panose="020B0604020202020204" pitchFamily="34" charset="0"/>
              </a:rPr>
              <a:t>Two classes of comparison operators are used in subqueries: single-row operators and </a:t>
            </a:r>
            <a:br>
              <a:rPr lang="en-US" altLang="en-US">
                <a:latin typeface="Arial" panose="020B0604020202020204" pitchFamily="34" charset="0"/>
              </a:rPr>
            </a:br>
            <a:r>
              <a:rPr lang="en-US" altLang="en-US">
                <a:latin typeface="Arial" panose="020B0604020202020204" pitchFamily="34" charset="0"/>
              </a:rPr>
              <a:t>multiple-row operators.</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A subquery can execute multiple times in correlated subqueries, which are not included in this course. Students may ask how many subqueries can be written. The Oracle Server imposes no limit on the number of subqueries. The limit is related to the buffer size that the query uses.</a:t>
            </a:r>
          </a:p>
        </p:txBody>
      </p:sp>
      <p:sp>
        <p:nvSpPr>
          <p:cNvPr id="19461" name="Rectangle 5">
            <a:extLst>
              <a:ext uri="{FF2B5EF4-FFF2-40B4-BE49-F238E27FC236}">
                <a16:creationId xmlns:a16="http://schemas.microsoft.com/office/drawing/2014/main" id="{A26C21CB-275F-6CF1-8D47-047FBF12D94E}"/>
              </a:ext>
            </a:extLst>
          </p:cNvPr>
          <p:cNvSpPr>
            <a:spLocks noGrp="1" noRot="1" noChangeAspec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3810523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3408F-1E18-250E-2A24-6AD839F47923}"/>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ABEAD903-2C0D-421D-A76F-51A5E68075B9}"/>
              </a:ext>
            </a:extLst>
          </p:cNvPr>
          <p:cNvSpPr>
            <a:spLocks noGrp="1" noRot="1" noChangeAspec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1" name="Rectangle 3">
            <a:extLst>
              <a:ext uri="{FF2B5EF4-FFF2-40B4-BE49-F238E27FC236}">
                <a16:creationId xmlns:a16="http://schemas.microsoft.com/office/drawing/2014/main" id="{AD04C95F-A7EE-5B0B-93CC-1112E96170D6}"/>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Executing Single-Row Subqueries</a:t>
            </a:r>
          </a:p>
          <a:p>
            <a:pPr lvl="1"/>
            <a:r>
              <a:rPr lang="en-US" altLang="en-US">
                <a:latin typeface="Arial" panose="020B0604020202020204" pitchFamily="34" charset="0"/>
              </a:rPr>
              <a:t>A SELECT statement can be considered as a query block. The example on the slide displays employees whose job title is the same as that of employee 7369 and whose salary is greater than that of employee 7876. </a:t>
            </a:r>
          </a:p>
          <a:p>
            <a:pPr lvl="1"/>
            <a:r>
              <a:rPr lang="en-US" altLang="en-US">
                <a:latin typeface="Arial" panose="020B0604020202020204" pitchFamily="34" charset="0"/>
              </a:rPr>
              <a:t>The example consists of three query blocks: the outer query and two inner queries. The inner query blocks are executed first, producing the query results: CLERK and 1100, respectively. The outer query block is then processed and uses the values returned by the inner queries to complete its search conditions.  </a:t>
            </a:r>
          </a:p>
          <a:p>
            <a:pPr lvl="1"/>
            <a:r>
              <a:rPr lang="en-US" altLang="en-US">
                <a:latin typeface="Arial" panose="020B0604020202020204" pitchFamily="34" charset="0"/>
              </a:rPr>
              <a:t>Both inner queries return single values (CLERK and 1100, respectively), so this SQL statement is called a single-row subquery.</a:t>
            </a:r>
          </a:p>
          <a:p>
            <a:pPr lvl="1"/>
            <a:r>
              <a:rPr lang="en-US" altLang="en-US" b="1">
                <a:latin typeface="Arial" panose="020B0604020202020204" pitchFamily="34" charset="0"/>
              </a:rPr>
              <a:t>Note:</a:t>
            </a:r>
            <a:r>
              <a:rPr lang="en-US" altLang="en-US">
                <a:latin typeface="Arial" panose="020B0604020202020204" pitchFamily="34" charset="0"/>
              </a:rPr>
              <a:t> The outer and inner queries can get data from different tables.</a:t>
            </a:r>
          </a:p>
        </p:txBody>
      </p:sp>
    </p:spTree>
    <p:extLst>
      <p:ext uri="{BB962C8B-B14F-4D97-AF65-F5344CB8AC3E}">
        <p14:creationId xmlns:p14="http://schemas.microsoft.com/office/powerpoint/2010/main" val="2081797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DB2BF-1533-B444-8E4F-43B388ABBA80}"/>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E0E8690E-8DED-22A1-2BD2-DEED7289CDD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Using Group Functions in a Subquery</a:t>
            </a:r>
          </a:p>
          <a:p>
            <a:pPr marL="114300" lvl="1" defTabSz="382588"/>
            <a:r>
              <a:rPr lang="en-US" altLang="en-US">
                <a:latin typeface="Arial" panose="020B0604020202020204" pitchFamily="34" charset="0"/>
              </a:rPr>
              <a:t>You can display data from a main query by using a group function in a subquery to return a single row. The subquery is in parentheses and is placed after the comparison operator.</a:t>
            </a:r>
          </a:p>
          <a:p>
            <a:pPr marL="114300" lvl="1" defTabSz="382588"/>
            <a:r>
              <a:rPr lang="en-US" altLang="en-US">
                <a:latin typeface="Arial" panose="020B0604020202020204" pitchFamily="34" charset="0"/>
              </a:rPr>
              <a:t>The example on the slide displays the employee name, job title, and salary of all employees whose salary is equal to the minimum salary. The MIN group function returns a single value (800) to the outer query.</a:t>
            </a: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29699" name="Rectangle 3">
            <a:extLst>
              <a:ext uri="{FF2B5EF4-FFF2-40B4-BE49-F238E27FC236}">
                <a16:creationId xmlns:a16="http://schemas.microsoft.com/office/drawing/2014/main" id="{780411A5-BE79-DF9D-C96E-207286415D4E}"/>
              </a:ext>
            </a:extLst>
          </p:cNvPr>
          <p:cNvSpPr>
            <a:spLocks noGrp="1" noRot="1" noChangeAspec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701156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7CD94-0C8D-9568-8B8E-82445E4D1C0B}"/>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6E9BC582-41DF-C6FF-52D7-12A07E38B4C6}"/>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Using Group Functions in a Subquery</a:t>
            </a:r>
          </a:p>
          <a:p>
            <a:pPr marL="114300" lvl="1" defTabSz="382588"/>
            <a:r>
              <a:rPr lang="en-US" altLang="en-US">
                <a:latin typeface="Arial" panose="020B0604020202020204" pitchFamily="34" charset="0"/>
              </a:rPr>
              <a:t>You can display data from a main query by using a group function in a subquery to return a single row. The subquery is in parentheses and is placed after the comparison operator.</a:t>
            </a:r>
          </a:p>
          <a:p>
            <a:pPr marL="114300" lvl="1" defTabSz="382588"/>
            <a:r>
              <a:rPr lang="en-US" altLang="en-US">
                <a:latin typeface="Arial" panose="020B0604020202020204" pitchFamily="34" charset="0"/>
              </a:rPr>
              <a:t>The example on the slide displays the employee name, job title, and salary of all employees whose salary is equal to the minimum salary. The MIN group function returns a single value (800) to the outer query.</a:t>
            </a: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29699" name="Rectangle 3">
            <a:extLst>
              <a:ext uri="{FF2B5EF4-FFF2-40B4-BE49-F238E27FC236}">
                <a16:creationId xmlns:a16="http://schemas.microsoft.com/office/drawing/2014/main" id="{1227AB84-1854-175D-20B5-AFD521717BF9}"/>
              </a:ext>
            </a:extLst>
          </p:cNvPr>
          <p:cNvSpPr>
            <a:spLocks noGrp="1" noRot="1" noChangeAspec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310746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F8630-0E32-B14D-5983-16B02A418F5B}"/>
            </a:ext>
          </a:extLst>
        </p:cNvPr>
        <p:cNvGrpSpPr/>
        <p:nvPr/>
      </p:nvGrpSpPr>
      <p:grpSpPr>
        <a:xfrm>
          <a:off x="0" y="0"/>
          <a:ext cx="0" cy="0"/>
          <a:chOff x="0" y="0"/>
          <a:chExt cx="0" cy="0"/>
        </a:xfrm>
      </p:grpSpPr>
      <p:sp>
        <p:nvSpPr>
          <p:cNvPr id="37890" name="Rectangle 2">
            <a:extLst>
              <a:ext uri="{FF2B5EF4-FFF2-40B4-BE49-F238E27FC236}">
                <a16:creationId xmlns:a16="http://schemas.microsoft.com/office/drawing/2014/main" id="{1DA06FED-7476-437D-3B96-3ED1B09F8B4C}"/>
              </a:ext>
            </a:extLst>
          </p:cNvPr>
          <p:cNvSpPr>
            <a:spLocks noGrp="1" noRot="1" noChangeAspec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1" name="Rectangle 3">
            <a:extLst>
              <a:ext uri="{FF2B5EF4-FFF2-40B4-BE49-F238E27FC236}">
                <a16:creationId xmlns:a16="http://schemas.microsoft.com/office/drawing/2014/main" id="{CCB7908E-605A-DB7B-B08A-070BB4008067}"/>
              </a:ext>
            </a:extLst>
          </p:cNvPr>
          <p:cNvSpPr>
            <a:spLocks noGrp="1" noChangeArrowheads="1"/>
          </p:cNvSpPr>
          <p:nvPr>
            <p:ph type="body" idx="1"/>
          </p:nvPr>
        </p:nvSpPr>
        <p:spPr>
          <a:xfrm>
            <a:off x="455613" y="4849813"/>
            <a:ext cx="5895975"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Errors with Subqueries</a:t>
            </a:r>
          </a:p>
          <a:p>
            <a:pPr marL="114300" lvl="1" defTabSz="377825">
              <a:tabLst>
                <a:tab pos="442913" algn="l"/>
              </a:tabLst>
            </a:pPr>
            <a:r>
              <a:rPr lang="en-US" altLang="en-US">
                <a:latin typeface="Arial" panose="020B0604020202020204" pitchFamily="34" charset="0"/>
              </a:rPr>
              <a:t>One common error with subqueries is more than one row returned for a single-row subquery.</a:t>
            </a:r>
          </a:p>
          <a:p>
            <a:pPr marL="114300" lvl="1" defTabSz="377825">
              <a:tabLst>
                <a:tab pos="442913" algn="l"/>
              </a:tabLst>
            </a:pPr>
            <a:r>
              <a:rPr lang="en-US" altLang="en-US">
                <a:latin typeface="Arial" panose="020B0604020202020204" pitchFamily="34" charset="0"/>
              </a:rPr>
              <a:t>In the SQL statement on the slide, the subquery contains a GROUP BY (deptno) clause, which implies that the subquery will return multiple rows, one for each group it finds. In this case, the result of the subquery will be 800, 1300, and 950. </a:t>
            </a:r>
          </a:p>
          <a:p>
            <a:pPr marL="114300" lvl="1" defTabSz="377825">
              <a:tabLst>
                <a:tab pos="442913" algn="l"/>
              </a:tabLst>
            </a:pPr>
            <a:r>
              <a:rPr lang="en-US" altLang="en-US">
                <a:latin typeface="Arial" panose="020B0604020202020204" pitchFamily="34" charset="0"/>
              </a:rPr>
              <a:t>The outer query takes the results of the subquery (800, 950, 1300) and uses these results in its WHERE clause. The WHERE clause contains an equal (=) operator, a single-row comparison operator expecting only one value. The = operator cannot accept more than one value from the subquery and hence generates the error.</a:t>
            </a:r>
          </a:p>
          <a:p>
            <a:pPr marL="114300" lvl="1" defTabSz="377825">
              <a:tabLst>
                <a:tab pos="442913" algn="l"/>
              </a:tabLst>
            </a:pPr>
            <a:r>
              <a:rPr lang="en-US" altLang="en-US">
                <a:latin typeface="Arial" panose="020B0604020202020204" pitchFamily="34" charset="0"/>
              </a:rPr>
              <a:t>To correct this error, change the = operator to IN. </a:t>
            </a:r>
          </a:p>
        </p:txBody>
      </p:sp>
    </p:spTree>
    <p:extLst>
      <p:ext uri="{BB962C8B-B14F-4D97-AF65-F5344CB8AC3E}">
        <p14:creationId xmlns:p14="http://schemas.microsoft.com/office/powerpoint/2010/main" val="3734826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0571F-3B6D-D789-B31F-86FCF289AA88}"/>
            </a:ext>
          </a:extLst>
        </p:cNvPr>
        <p:cNvGrpSpPr/>
        <p:nvPr/>
      </p:nvGrpSpPr>
      <p:grpSpPr>
        <a:xfrm>
          <a:off x="0" y="0"/>
          <a:ext cx="0" cy="0"/>
          <a:chOff x="0" y="0"/>
          <a:chExt cx="0" cy="0"/>
        </a:xfrm>
      </p:grpSpPr>
      <p:sp>
        <p:nvSpPr>
          <p:cNvPr id="60418" name="Rectangle 2">
            <a:extLst>
              <a:ext uri="{FF2B5EF4-FFF2-40B4-BE49-F238E27FC236}">
                <a16:creationId xmlns:a16="http://schemas.microsoft.com/office/drawing/2014/main" id="{219A21FF-78E5-3477-D7BF-DC0CE3447B44}"/>
              </a:ext>
            </a:extLst>
          </p:cNvPr>
          <p:cNvSpPr>
            <a:spLocks noGrp="1" noRot="1" noChangeAspect="1" noChangeArrowheads="1" noTextEdit="1"/>
          </p:cNvSpPr>
          <p:nvPr>
            <p:ph type="sldImg"/>
          </p:nvPr>
        </p:nvSpPr>
        <p:spPr>
          <a:xfrm>
            <a:off x="438150" y="160338"/>
            <a:ext cx="5976938" cy="44831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19" name="Rectangle 3">
            <a:extLst>
              <a:ext uri="{FF2B5EF4-FFF2-40B4-BE49-F238E27FC236}">
                <a16:creationId xmlns:a16="http://schemas.microsoft.com/office/drawing/2014/main" id="{3F9277DB-62FE-BE9D-6CF7-A94C514B3B4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Pairwise Versus Nonpairwise Comparisons</a:t>
            </a:r>
          </a:p>
          <a:p>
            <a:pPr lvl="1"/>
            <a:r>
              <a:rPr lang="en-US" altLang="en-US">
                <a:latin typeface="Arial" panose="020B0604020202020204" pitchFamily="34" charset="0"/>
              </a:rPr>
              <a:t>Column comparisons in a multiple-column subquery can be </a:t>
            </a:r>
            <a:r>
              <a:rPr lang="en-US" altLang="en-US">
                <a:solidFill>
                  <a:srgbClr val="FC0128"/>
                </a:solidFill>
                <a:latin typeface="Arial" panose="020B0604020202020204" pitchFamily="34" charset="0"/>
              </a:rPr>
              <a:t>pairwise comparisons </a:t>
            </a:r>
            <a:r>
              <a:rPr lang="en-US" altLang="en-US">
                <a:latin typeface="Arial" panose="020B0604020202020204" pitchFamily="34" charset="0"/>
              </a:rPr>
              <a:t>or </a:t>
            </a:r>
            <a:r>
              <a:rPr lang="en-US" altLang="en-US">
                <a:solidFill>
                  <a:srgbClr val="FC0128"/>
                </a:solidFill>
                <a:latin typeface="Arial" panose="020B0604020202020204" pitchFamily="34" charset="0"/>
              </a:rPr>
              <a:t>nonpairwise comparisons.</a:t>
            </a:r>
            <a:r>
              <a:rPr lang="en-US" altLang="en-US">
                <a:latin typeface="Arial" panose="020B0604020202020204" pitchFamily="34" charset="0"/>
              </a:rPr>
              <a:t> </a:t>
            </a:r>
          </a:p>
          <a:p>
            <a:pPr lvl="1"/>
            <a:r>
              <a:rPr lang="en-US" altLang="en-US">
                <a:latin typeface="Arial" panose="020B0604020202020204" pitchFamily="34" charset="0"/>
              </a:rPr>
              <a:t>The slide shows the product numbers and quantities of the items in order 605.</a:t>
            </a:r>
          </a:p>
          <a:p>
            <a:pPr lvl="1"/>
            <a:r>
              <a:rPr lang="en-US" altLang="en-US">
                <a:latin typeface="Arial" panose="020B0604020202020204" pitchFamily="34" charset="0"/>
              </a:rPr>
              <a:t>In the example on the previous slide, a pairwise comparison was executed in the WHERE clause. Each candidate row in the SELECT statement must have </a:t>
            </a:r>
            <a:r>
              <a:rPr lang="en-US" altLang="en-US" i="1">
                <a:latin typeface="Arial" panose="020B0604020202020204" pitchFamily="34" charset="0"/>
              </a:rPr>
              <a:t>both</a:t>
            </a:r>
            <a:r>
              <a:rPr lang="en-US" altLang="en-US">
                <a:latin typeface="Arial" panose="020B0604020202020204" pitchFamily="34" charset="0"/>
              </a:rPr>
              <a:t> the same product number and same quantity as an item in order 605. This is illustrated on the left side of the slide above. The arrows indicate that both the product number and quantity in a candidate row match a product number and quantity of an item in order 605.</a:t>
            </a:r>
          </a:p>
          <a:p>
            <a:pPr lvl="1"/>
            <a:r>
              <a:rPr lang="en-US" altLang="en-US">
                <a:latin typeface="Arial" panose="020B0604020202020204" pitchFamily="34" charset="0"/>
              </a:rPr>
              <a:t>A multiple-column subquery can also be a nonpairwise comparison. If you want a nonpairwise comparison (a cross product), you must use a WHERE clause with multiple conditions. A candidate row must match the multiple conditions in the WHERE clause but the values are compared individually. A candidate row must match some product number in order 605 as well as some quantity in order 605, but these values do not need to be in the same row. This is illustrated on the right side of the slide. For example, product 102130 appears in other orders, one order matching the quantity in order 605 (10), and another order having a quantity of 500. The arrows show a sampling of the various quantities ordered for a particular product.</a:t>
            </a:r>
          </a:p>
        </p:txBody>
      </p:sp>
    </p:spTree>
    <p:extLst>
      <p:ext uri="{BB962C8B-B14F-4D97-AF65-F5344CB8AC3E}">
        <p14:creationId xmlns:p14="http://schemas.microsoft.com/office/powerpoint/2010/main" val="1116222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358530747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3158106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3047584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3598648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4141768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2828998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2585448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EEBACE9-901A-9407-FF6B-F93445D247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589649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18886924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CC-215-L</a:t>
            </a:r>
            <a:br>
              <a:rPr altLang="en-US" dirty="0">
                <a:solidFill>
                  <a:srgbClr val="000099"/>
                </a:solidFill>
                <a:latin typeface="Cambria" panose="02040503050406030204" pitchFamily="18" charset="0"/>
                <a:ea typeface="Cambria" panose="02040503050406030204" pitchFamily="18" charset="0"/>
              </a:rPr>
            </a:br>
            <a:r>
              <a:rPr altLang="en-US" dirty="0">
                <a:solidFill>
                  <a:srgbClr val="FFFF00"/>
                </a:solidFill>
                <a:latin typeface="Cambria" panose="02040503050406030204" pitchFamily="18" charset="0"/>
                <a:ea typeface="Cambria" panose="02040503050406030204" pitchFamily="18"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470024"/>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mj-cs"/>
              </a:rPr>
              <a:t>— Unit 6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Subqueries</a:t>
            </a:r>
            <a:endParaRPr kumimoji="0" lang="en-US" sz="2400" b="1" i="0" u="none" strike="noStrike" kern="120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82818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Some of the slides are adapted from </a:t>
            </a:r>
            <a:r>
              <a:rPr kumimoji="0" lang="en-US" sz="16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mn-cs"/>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4CDE5-8CEB-6306-5128-BD54D671D81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534064B-3E40-563C-2696-66817025F61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Objectives</a:t>
            </a:r>
          </a:p>
        </p:txBody>
      </p:sp>
      <p:sp>
        <p:nvSpPr>
          <p:cNvPr id="38915" name="Rectangle 3">
            <a:extLst>
              <a:ext uri="{FF2B5EF4-FFF2-40B4-BE49-F238E27FC236}">
                <a16:creationId xmlns:a16="http://schemas.microsoft.com/office/drawing/2014/main" id="{B1C558E5-3E01-40E8-39CA-C4F3AD91421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DE869F4-E99A-619C-7F5F-47E781AF04F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7DF64AE-8206-58A3-C136-D6EB491B1012}"/>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After completing this lesson, you should be able to do the following:</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Describe the types of problems that subqueries can solve</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Define subqueries</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List the types of subqueries</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Write Common Table Expression (CTE)</a:t>
            </a:r>
          </a:p>
          <a:p>
            <a:pPr marL="560388" lvl="1" indent="-285750" algn="just">
              <a:spcBef>
                <a:spcPts val="575"/>
              </a:spcBef>
              <a:buClr>
                <a:srgbClr val="D34817"/>
              </a:buClr>
              <a:buSzPct val="50000"/>
              <a:buFont typeface="Wingdings" panose="05000000000000000000" pitchFamily="2" charset="2"/>
              <a:buChar char="l"/>
              <a:defRPr/>
            </a:pPr>
            <a:r>
              <a:rPr kumimoji="0" lang="en-US" altLang="en-US" sz="26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Write single-row and multiple-row subqueries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7DB45F60-1BDF-53C9-36BB-34F42C0828E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41997850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A109736-58FF-4DB1-286B-34F804A648DF}"/>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239F35F0-A946-F2AA-7CB9-64D9066EA963}"/>
              </a:ext>
            </a:extLst>
          </p:cNvPr>
          <p:cNvSpPr>
            <a:spLocks noGrp="1" noChangeArrowheads="1"/>
          </p:cNvSpPr>
          <p:nvPr>
            <p:ph type="title"/>
          </p:nvPr>
        </p:nvSpPr>
        <p:spPr>
          <a:xfrm>
            <a:off x="433388" y="228600"/>
            <a:ext cx="8277225" cy="4540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Introduction</a:t>
            </a:r>
          </a:p>
        </p:txBody>
      </p:sp>
      <p:grpSp>
        <p:nvGrpSpPr>
          <p:cNvPr id="8196" name="Group 4">
            <a:extLst>
              <a:ext uri="{FF2B5EF4-FFF2-40B4-BE49-F238E27FC236}">
                <a16:creationId xmlns:a16="http://schemas.microsoft.com/office/drawing/2014/main" id="{89FDD94A-5E6E-709B-3B3C-DDBEEEF0902D}"/>
              </a:ext>
            </a:extLst>
          </p:cNvPr>
          <p:cNvGrpSpPr>
            <a:grpSpLocks/>
          </p:cNvGrpSpPr>
          <p:nvPr/>
        </p:nvGrpSpPr>
        <p:grpSpPr bwMode="auto">
          <a:xfrm>
            <a:off x="1228205" y="4532337"/>
            <a:ext cx="847725" cy="736600"/>
            <a:chOff x="805" y="2627"/>
            <a:chExt cx="534" cy="464"/>
          </a:xfrm>
        </p:grpSpPr>
        <p:sp>
          <p:nvSpPr>
            <p:cNvPr id="8250" name="Freeform 5">
              <a:extLst>
                <a:ext uri="{FF2B5EF4-FFF2-40B4-BE49-F238E27FC236}">
                  <a16:creationId xmlns:a16="http://schemas.microsoft.com/office/drawing/2014/main" id="{04340DA6-1561-F116-A1BF-4EC5967FA2A1}"/>
                </a:ext>
              </a:extLst>
            </p:cNvPr>
            <p:cNvSpPr>
              <a:spLocks/>
            </p:cNvSpPr>
            <p:nvPr/>
          </p:nvSpPr>
          <p:spPr bwMode="auto">
            <a:xfrm>
              <a:off x="805" y="2633"/>
              <a:ext cx="525" cy="458"/>
            </a:xfrm>
            <a:custGeom>
              <a:avLst/>
              <a:gdLst>
                <a:gd name="T0" fmla="*/ 190 w 525"/>
                <a:gd name="T1" fmla="*/ 136 h 458"/>
                <a:gd name="T2" fmla="*/ 199 w 525"/>
                <a:gd name="T3" fmla="*/ 206 h 458"/>
                <a:gd name="T4" fmla="*/ 220 w 525"/>
                <a:gd name="T5" fmla="*/ 268 h 458"/>
                <a:gd name="T6" fmla="*/ 254 w 525"/>
                <a:gd name="T7" fmla="*/ 313 h 458"/>
                <a:gd name="T8" fmla="*/ 295 w 525"/>
                <a:gd name="T9" fmla="*/ 345 h 458"/>
                <a:gd name="T10" fmla="*/ 346 w 525"/>
                <a:gd name="T11" fmla="*/ 355 h 458"/>
                <a:gd name="T12" fmla="*/ 401 w 525"/>
                <a:gd name="T13" fmla="*/ 346 h 458"/>
                <a:gd name="T14" fmla="*/ 462 w 525"/>
                <a:gd name="T15" fmla="*/ 310 h 458"/>
                <a:gd name="T16" fmla="*/ 524 w 525"/>
                <a:gd name="T17" fmla="*/ 249 h 458"/>
                <a:gd name="T18" fmla="*/ 508 w 525"/>
                <a:gd name="T19" fmla="*/ 273 h 458"/>
                <a:gd name="T20" fmla="*/ 465 w 525"/>
                <a:gd name="T21" fmla="*/ 322 h 458"/>
                <a:gd name="T22" fmla="*/ 403 w 525"/>
                <a:gd name="T23" fmla="*/ 384 h 458"/>
                <a:gd name="T24" fmla="*/ 330 w 525"/>
                <a:gd name="T25" fmla="*/ 435 h 458"/>
                <a:gd name="T26" fmla="*/ 255 w 525"/>
                <a:gd name="T27" fmla="*/ 457 h 458"/>
                <a:gd name="T28" fmla="*/ 181 w 525"/>
                <a:gd name="T29" fmla="*/ 430 h 458"/>
                <a:gd name="T30" fmla="*/ 120 w 525"/>
                <a:gd name="T31" fmla="*/ 336 h 458"/>
                <a:gd name="T32" fmla="*/ 79 w 525"/>
                <a:gd name="T33" fmla="*/ 150 h 458"/>
                <a:gd name="T34" fmla="*/ 0 w 525"/>
                <a:gd name="T35" fmla="*/ 164 h 458"/>
                <a:gd name="T36" fmla="*/ 155 w 525"/>
                <a:gd name="T37" fmla="*/ 0 h 458"/>
                <a:gd name="T38" fmla="*/ 252 w 525"/>
                <a:gd name="T39" fmla="*/ 121 h 458"/>
                <a:gd name="T40" fmla="*/ 190 w 525"/>
                <a:gd name="T41" fmla="*/ 136 h 4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5" h="458">
                  <a:moveTo>
                    <a:pt x="190" y="136"/>
                  </a:moveTo>
                  <a:lnTo>
                    <a:pt x="199" y="206"/>
                  </a:lnTo>
                  <a:lnTo>
                    <a:pt x="220" y="268"/>
                  </a:lnTo>
                  <a:lnTo>
                    <a:pt x="254" y="313"/>
                  </a:lnTo>
                  <a:lnTo>
                    <a:pt x="295" y="345"/>
                  </a:lnTo>
                  <a:lnTo>
                    <a:pt x="346" y="355"/>
                  </a:lnTo>
                  <a:lnTo>
                    <a:pt x="401" y="346"/>
                  </a:lnTo>
                  <a:lnTo>
                    <a:pt x="462" y="310"/>
                  </a:lnTo>
                  <a:lnTo>
                    <a:pt x="524" y="249"/>
                  </a:lnTo>
                  <a:lnTo>
                    <a:pt x="508" y="273"/>
                  </a:lnTo>
                  <a:lnTo>
                    <a:pt x="465" y="322"/>
                  </a:lnTo>
                  <a:lnTo>
                    <a:pt x="403" y="384"/>
                  </a:lnTo>
                  <a:lnTo>
                    <a:pt x="330" y="435"/>
                  </a:lnTo>
                  <a:lnTo>
                    <a:pt x="255" y="457"/>
                  </a:lnTo>
                  <a:lnTo>
                    <a:pt x="181" y="430"/>
                  </a:lnTo>
                  <a:lnTo>
                    <a:pt x="120" y="336"/>
                  </a:lnTo>
                  <a:lnTo>
                    <a:pt x="79" y="150"/>
                  </a:lnTo>
                  <a:lnTo>
                    <a:pt x="0" y="164"/>
                  </a:lnTo>
                  <a:lnTo>
                    <a:pt x="155" y="0"/>
                  </a:lnTo>
                  <a:lnTo>
                    <a:pt x="252" y="121"/>
                  </a:lnTo>
                  <a:lnTo>
                    <a:pt x="190" y="136"/>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CC"/>
                </a:solidFill>
                <a:latin typeface="Cambria" panose="02040503050406030204" pitchFamily="18" charset="0"/>
                <a:ea typeface="Cambria" panose="02040503050406030204" pitchFamily="18" charset="0"/>
              </a:endParaRPr>
            </a:p>
          </p:txBody>
        </p:sp>
        <p:sp>
          <p:nvSpPr>
            <p:cNvPr id="8251" name="Freeform 6">
              <a:extLst>
                <a:ext uri="{FF2B5EF4-FFF2-40B4-BE49-F238E27FC236}">
                  <a16:creationId xmlns:a16="http://schemas.microsoft.com/office/drawing/2014/main" id="{1A347971-3C54-61B4-F5F2-2684754A06E7}"/>
                </a:ext>
              </a:extLst>
            </p:cNvPr>
            <p:cNvSpPr>
              <a:spLocks/>
            </p:cNvSpPr>
            <p:nvPr/>
          </p:nvSpPr>
          <p:spPr bwMode="auto">
            <a:xfrm>
              <a:off x="813" y="2627"/>
              <a:ext cx="526" cy="459"/>
            </a:xfrm>
            <a:custGeom>
              <a:avLst/>
              <a:gdLst>
                <a:gd name="T0" fmla="*/ 190 w 526"/>
                <a:gd name="T1" fmla="*/ 137 h 459"/>
                <a:gd name="T2" fmla="*/ 200 w 526"/>
                <a:gd name="T3" fmla="*/ 208 h 459"/>
                <a:gd name="T4" fmla="*/ 221 w 526"/>
                <a:gd name="T5" fmla="*/ 268 h 459"/>
                <a:gd name="T6" fmla="*/ 254 w 526"/>
                <a:gd name="T7" fmla="*/ 315 h 459"/>
                <a:gd name="T8" fmla="*/ 296 w 526"/>
                <a:gd name="T9" fmla="*/ 344 h 459"/>
                <a:gd name="T10" fmla="*/ 347 w 526"/>
                <a:gd name="T11" fmla="*/ 354 h 459"/>
                <a:gd name="T12" fmla="*/ 403 w 526"/>
                <a:gd name="T13" fmla="*/ 345 h 459"/>
                <a:gd name="T14" fmla="*/ 464 w 526"/>
                <a:gd name="T15" fmla="*/ 309 h 459"/>
                <a:gd name="T16" fmla="*/ 525 w 526"/>
                <a:gd name="T17" fmla="*/ 249 h 459"/>
                <a:gd name="T18" fmla="*/ 510 w 526"/>
                <a:gd name="T19" fmla="*/ 271 h 459"/>
                <a:gd name="T20" fmla="*/ 467 w 526"/>
                <a:gd name="T21" fmla="*/ 322 h 459"/>
                <a:gd name="T22" fmla="*/ 405 w 526"/>
                <a:gd name="T23" fmla="*/ 384 h 459"/>
                <a:gd name="T24" fmla="*/ 331 w 526"/>
                <a:gd name="T25" fmla="*/ 435 h 459"/>
                <a:gd name="T26" fmla="*/ 256 w 526"/>
                <a:gd name="T27" fmla="*/ 458 h 459"/>
                <a:gd name="T28" fmla="*/ 182 w 526"/>
                <a:gd name="T29" fmla="*/ 431 h 459"/>
                <a:gd name="T30" fmla="*/ 122 w 526"/>
                <a:gd name="T31" fmla="*/ 335 h 459"/>
                <a:gd name="T32" fmla="*/ 80 w 526"/>
                <a:gd name="T33" fmla="*/ 153 h 459"/>
                <a:gd name="T34" fmla="*/ 0 w 526"/>
                <a:gd name="T35" fmla="*/ 166 h 459"/>
                <a:gd name="T36" fmla="*/ 157 w 526"/>
                <a:gd name="T37" fmla="*/ 0 h 459"/>
                <a:gd name="T38" fmla="*/ 253 w 526"/>
                <a:gd name="T39" fmla="*/ 122 h 459"/>
                <a:gd name="T40" fmla="*/ 190 w 526"/>
                <a:gd name="T41" fmla="*/ 137 h 4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6" h="459">
                  <a:moveTo>
                    <a:pt x="190" y="137"/>
                  </a:moveTo>
                  <a:lnTo>
                    <a:pt x="200" y="208"/>
                  </a:lnTo>
                  <a:lnTo>
                    <a:pt x="221" y="268"/>
                  </a:lnTo>
                  <a:lnTo>
                    <a:pt x="254" y="315"/>
                  </a:lnTo>
                  <a:lnTo>
                    <a:pt x="296" y="344"/>
                  </a:lnTo>
                  <a:lnTo>
                    <a:pt x="347" y="354"/>
                  </a:lnTo>
                  <a:lnTo>
                    <a:pt x="403" y="345"/>
                  </a:lnTo>
                  <a:lnTo>
                    <a:pt x="464" y="309"/>
                  </a:lnTo>
                  <a:lnTo>
                    <a:pt x="525" y="249"/>
                  </a:lnTo>
                  <a:lnTo>
                    <a:pt x="510" y="271"/>
                  </a:lnTo>
                  <a:lnTo>
                    <a:pt x="467" y="322"/>
                  </a:lnTo>
                  <a:lnTo>
                    <a:pt x="405" y="384"/>
                  </a:lnTo>
                  <a:lnTo>
                    <a:pt x="331" y="435"/>
                  </a:lnTo>
                  <a:lnTo>
                    <a:pt x="256" y="458"/>
                  </a:lnTo>
                  <a:lnTo>
                    <a:pt x="182" y="431"/>
                  </a:lnTo>
                  <a:lnTo>
                    <a:pt x="122" y="335"/>
                  </a:lnTo>
                  <a:lnTo>
                    <a:pt x="80" y="153"/>
                  </a:lnTo>
                  <a:lnTo>
                    <a:pt x="0" y="166"/>
                  </a:lnTo>
                  <a:lnTo>
                    <a:pt x="157" y="0"/>
                  </a:lnTo>
                  <a:lnTo>
                    <a:pt x="253" y="122"/>
                  </a:lnTo>
                  <a:lnTo>
                    <a:pt x="190" y="137"/>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CC"/>
                </a:solidFill>
                <a:latin typeface="Cambria" panose="02040503050406030204" pitchFamily="18" charset="0"/>
                <a:ea typeface="Cambria" panose="02040503050406030204" pitchFamily="18" charset="0"/>
              </a:endParaRPr>
            </a:p>
          </p:txBody>
        </p:sp>
      </p:grpSp>
      <p:sp>
        <p:nvSpPr>
          <p:cNvPr id="8197" name="Rectangle 7">
            <a:extLst>
              <a:ext uri="{FF2B5EF4-FFF2-40B4-BE49-F238E27FC236}">
                <a16:creationId xmlns:a16="http://schemas.microsoft.com/office/drawing/2014/main" id="{13274E57-D749-0008-CC1B-1BC3F2A97D95}"/>
              </a:ext>
            </a:extLst>
          </p:cNvPr>
          <p:cNvSpPr>
            <a:spLocks noChangeArrowheads="1"/>
          </p:cNvSpPr>
          <p:nvPr/>
        </p:nvSpPr>
        <p:spPr bwMode="blackWhite">
          <a:xfrm>
            <a:off x="899592" y="2757512"/>
            <a:ext cx="7315200" cy="34798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198" name="Rectangle 8">
            <a:extLst>
              <a:ext uri="{FF2B5EF4-FFF2-40B4-BE49-F238E27FC236}">
                <a16:creationId xmlns:a16="http://schemas.microsoft.com/office/drawing/2014/main" id="{3D60679A-BA72-D06F-6889-44751998272F}"/>
              </a:ext>
            </a:extLst>
          </p:cNvPr>
          <p:cNvSpPr>
            <a:spLocks noChangeArrowheads="1"/>
          </p:cNvSpPr>
          <p:nvPr/>
        </p:nvSpPr>
        <p:spPr bwMode="auto">
          <a:xfrm>
            <a:off x="2174355" y="3436962"/>
            <a:ext cx="5881687" cy="770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200" b="1">
                <a:solidFill>
                  <a:srgbClr val="FF0000"/>
                </a:solidFill>
                <a:latin typeface="Cambria" panose="02040503050406030204" pitchFamily="18" charset="0"/>
                <a:ea typeface="Cambria" panose="02040503050406030204" pitchFamily="18" charset="0"/>
              </a:rPr>
              <a:t>“Which employees have a salary greater than Jones’ salary?”</a:t>
            </a:r>
          </a:p>
        </p:txBody>
      </p:sp>
      <p:sp>
        <p:nvSpPr>
          <p:cNvPr id="8199" name="Oval 9">
            <a:extLst>
              <a:ext uri="{FF2B5EF4-FFF2-40B4-BE49-F238E27FC236}">
                <a16:creationId xmlns:a16="http://schemas.microsoft.com/office/drawing/2014/main" id="{09243F64-F278-2D6F-D255-8B10E3E1A0C3}"/>
              </a:ext>
            </a:extLst>
          </p:cNvPr>
          <p:cNvSpPr>
            <a:spLocks noChangeArrowheads="1"/>
          </p:cNvSpPr>
          <p:nvPr/>
        </p:nvSpPr>
        <p:spPr bwMode="auto">
          <a:xfrm>
            <a:off x="975792" y="3316312"/>
            <a:ext cx="1117600" cy="1079500"/>
          </a:xfrm>
          <a:prstGeom prst="ellipse">
            <a:avLst/>
          </a:prstGeom>
          <a:solidFill>
            <a:srgbClr val="FFCC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200" name="Rectangle 10">
            <a:extLst>
              <a:ext uri="{FF2B5EF4-FFF2-40B4-BE49-F238E27FC236}">
                <a16:creationId xmlns:a16="http://schemas.microsoft.com/office/drawing/2014/main" id="{B3E13DF9-D1AE-922D-E72C-3F2F895301AC}"/>
              </a:ext>
            </a:extLst>
          </p:cNvPr>
          <p:cNvSpPr>
            <a:spLocks noChangeArrowheads="1"/>
          </p:cNvSpPr>
          <p:nvPr/>
        </p:nvSpPr>
        <p:spPr bwMode="auto">
          <a:xfrm>
            <a:off x="1086917" y="2886099"/>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CC"/>
                </a:solidFill>
                <a:latin typeface="Cambria" panose="02040503050406030204" pitchFamily="18" charset="0"/>
                <a:ea typeface="Cambria" panose="02040503050406030204" pitchFamily="18" charset="0"/>
              </a:rPr>
              <a:t>Main Query</a:t>
            </a:r>
          </a:p>
        </p:txBody>
      </p:sp>
      <p:sp>
        <p:nvSpPr>
          <p:cNvPr id="8201" name="Freeform 11">
            <a:extLst>
              <a:ext uri="{FF2B5EF4-FFF2-40B4-BE49-F238E27FC236}">
                <a16:creationId xmlns:a16="http://schemas.microsoft.com/office/drawing/2014/main" id="{820292F5-9DE9-2505-4C50-89A819E4CD62}"/>
              </a:ext>
            </a:extLst>
          </p:cNvPr>
          <p:cNvSpPr>
            <a:spLocks/>
          </p:cNvSpPr>
          <p:nvPr/>
        </p:nvSpPr>
        <p:spPr bwMode="auto">
          <a:xfrm>
            <a:off x="1396480" y="3411562"/>
            <a:ext cx="242887" cy="760412"/>
          </a:xfrm>
          <a:custGeom>
            <a:avLst/>
            <a:gdLst>
              <a:gd name="T0" fmla="*/ 2147483646 w 153"/>
              <a:gd name="T1" fmla="*/ 2147483646 h 479"/>
              <a:gd name="T2" fmla="*/ 2147483646 w 153"/>
              <a:gd name="T3" fmla="*/ 2147483646 h 479"/>
              <a:gd name="T4" fmla="*/ 2147483646 w 153"/>
              <a:gd name="T5" fmla="*/ 2147483646 h 479"/>
              <a:gd name="T6" fmla="*/ 2147483646 w 153"/>
              <a:gd name="T7" fmla="*/ 2147483646 h 479"/>
              <a:gd name="T8" fmla="*/ 2147483646 w 153"/>
              <a:gd name="T9" fmla="*/ 2147483646 h 479"/>
              <a:gd name="T10" fmla="*/ 2147483646 w 153"/>
              <a:gd name="T11" fmla="*/ 2147483646 h 479"/>
              <a:gd name="T12" fmla="*/ 2147483646 w 153"/>
              <a:gd name="T13" fmla="*/ 2147483646 h 479"/>
              <a:gd name="T14" fmla="*/ 2147483646 w 153"/>
              <a:gd name="T15" fmla="*/ 2147483646 h 479"/>
              <a:gd name="T16" fmla="*/ 2147483646 w 153"/>
              <a:gd name="T17" fmla="*/ 2147483646 h 479"/>
              <a:gd name="T18" fmla="*/ 2147483646 w 153"/>
              <a:gd name="T19" fmla="*/ 2147483646 h 479"/>
              <a:gd name="T20" fmla="*/ 2147483646 w 153"/>
              <a:gd name="T21" fmla="*/ 2147483646 h 479"/>
              <a:gd name="T22" fmla="*/ 2147483646 w 153"/>
              <a:gd name="T23" fmla="*/ 2147483646 h 479"/>
              <a:gd name="T24" fmla="*/ 2147483646 w 153"/>
              <a:gd name="T25" fmla="*/ 2147483646 h 479"/>
              <a:gd name="T26" fmla="*/ 2147483646 w 153"/>
              <a:gd name="T27" fmla="*/ 2147483646 h 479"/>
              <a:gd name="T28" fmla="*/ 2147483646 w 153"/>
              <a:gd name="T29" fmla="*/ 2147483646 h 479"/>
              <a:gd name="T30" fmla="*/ 2147483646 w 153"/>
              <a:gd name="T31" fmla="*/ 2147483646 h 479"/>
              <a:gd name="T32" fmla="*/ 2147483646 w 153"/>
              <a:gd name="T33" fmla="*/ 2147483646 h 479"/>
              <a:gd name="T34" fmla="*/ 2147483646 w 153"/>
              <a:gd name="T35" fmla="*/ 2147483646 h 479"/>
              <a:gd name="T36" fmla="*/ 2147483646 w 153"/>
              <a:gd name="T37" fmla="*/ 2147483646 h 479"/>
              <a:gd name="T38" fmla="*/ 2147483646 w 153"/>
              <a:gd name="T39" fmla="*/ 0 h 479"/>
              <a:gd name="T40" fmla="*/ 2147483646 w 153"/>
              <a:gd name="T41" fmla="*/ 0 h 479"/>
              <a:gd name="T42" fmla="*/ 2147483646 w 153"/>
              <a:gd name="T43" fmla="*/ 2147483646 h 479"/>
              <a:gd name="T44" fmla="*/ 2147483646 w 153"/>
              <a:gd name="T45" fmla="*/ 2147483646 h 479"/>
              <a:gd name="T46" fmla="*/ 2147483646 w 153"/>
              <a:gd name="T47" fmla="*/ 2147483646 h 479"/>
              <a:gd name="T48" fmla="*/ 2147483646 w 153"/>
              <a:gd name="T49" fmla="*/ 2147483646 h 479"/>
              <a:gd name="T50" fmla="*/ 2147483646 w 153"/>
              <a:gd name="T51" fmla="*/ 2147483646 h 479"/>
              <a:gd name="T52" fmla="*/ 2147483646 w 153"/>
              <a:gd name="T53" fmla="*/ 2147483646 h 479"/>
              <a:gd name="T54" fmla="*/ 2147483646 w 153"/>
              <a:gd name="T55" fmla="*/ 2147483646 h 479"/>
              <a:gd name="T56" fmla="*/ 2147483646 w 153"/>
              <a:gd name="T57" fmla="*/ 2147483646 h 479"/>
              <a:gd name="T58" fmla="*/ 2147483646 w 153"/>
              <a:gd name="T59" fmla="*/ 2147483646 h 479"/>
              <a:gd name="T60" fmla="*/ 2147483646 w 153"/>
              <a:gd name="T61" fmla="*/ 2147483646 h 479"/>
              <a:gd name="T62" fmla="*/ 2147483646 w 153"/>
              <a:gd name="T63" fmla="*/ 2147483646 h 479"/>
              <a:gd name="T64" fmla="*/ 2147483646 w 153"/>
              <a:gd name="T65" fmla="*/ 2147483646 h 479"/>
              <a:gd name="T66" fmla="*/ 2147483646 w 153"/>
              <a:gd name="T67" fmla="*/ 2147483646 h 479"/>
              <a:gd name="T68" fmla="*/ 2147483646 w 153"/>
              <a:gd name="T69" fmla="*/ 2147483646 h 479"/>
              <a:gd name="T70" fmla="*/ 2147483646 w 153"/>
              <a:gd name="T71" fmla="*/ 2147483646 h 479"/>
              <a:gd name="T72" fmla="*/ 2147483646 w 153"/>
              <a:gd name="T73" fmla="*/ 2147483646 h 479"/>
              <a:gd name="T74" fmla="*/ 0 w 153"/>
              <a:gd name="T75" fmla="*/ 2147483646 h 479"/>
              <a:gd name="T76" fmla="*/ 0 w 153"/>
              <a:gd name="T77" fmla="*/ 2147483646 h 479"/>
              <a:gd name="T78" fmla="*/ 0 w 153"/>
              <a:gd name="T79" fmla="*/ 2147483646 h 479"/>
              <a:gd name="T80" fmla="*/ 2147483646 w 153"/>
              <a:gd name="T81" fmla="*/ 2147483646 h 479"/>
              <a:gd name="T82" fmla="*/ 2147483646 w 153"/>
              <a:gd name="T83" fmla="*/ 2147483646 h 479"/>
              <a:gd name="T84" fmla="*/ 2147483646 w 153"/>
              <a:gd name="T85" fmla="*/ 2147483646 h 479"/>
              <a:gd name="T86" fmla="*/ 2147483646 w 153"/>
              <a:gd name="T87" fmla="*/ 2147483646 h 479"/>
              <a:gd name="T88" fmla="*/ 2147483646 w 153"/>
              <a:gd name="T89" fmla="*/ 2147483646 h 479"/>
              <a:gd name="T90" fmla="*/ 2147483646 w 153"/>
              <a:gd name="T91" fmla="*/ 2147483646 h 479"/>
              <a:gd name="T92" fmla="*/ 2147483646 w 153"/>
              <a:gd name="T93" fmla="*/ 2147483646 h 479"/>
              <a:gd name="T94" fmla="*/ 2147483646 w 153"/>
              <a:gd name="T95" fmla="*/ 2147483646 h 479"/>
              <a:gd name="T96" fmla="*/ 2147483646 w 153"/>
              <a:gd name="T97" fmla="*/ 2147483646 h 479"/>
              <a:gd name="T98" fmla="*/ 2147483646 w 153"/>
              <a:gd name="T99" fmla="*/ 2147483646 h 479"/>
              <a:gd name="T100" fmla="*/ 2147483646 w 153"/>
              <a:gd name="T101" fmla="*/ 2147483646 h 479"/>
              <a:gd name="T102" fmla="*/ 2147483646 w 153"/>
              <a:gd name="T103" fmla="*/ 2147483646 h 479"/>
              <a:gd name="T104" fmla="*/ 2147483646 w 153"/>
              <a:gd name="T105" fmla="*/ 2147483646 h 479"/>
              <a:gd name="T106" fmla="*/ 2147483646 w 153"/>
              <a:gd name="T107" fmla="*/ 2147483646 h 479"/>
              <a:gd name="T108" fmla="*/ 2147483646 w 153"/>
              <a:gd name="T109" fmla="*/ 2147483646 h 479"/>
              <a:gd name="T110" fmla="*/ 2147483646 w 153"/>
              <a:gd name="T111" fmla="*/ 2147483646 h 479"/>
              <a:gd name="T112" fmla="*/ 2147483646 w 153"/>
              <a:gd name="T113" fmla="*/ 2147483646 h 479"/>
              <a:gd name="T114" fmla="*/ 2147483646 w 153"/>
              <a:gd name="T115" fmla="*/ 2147483646 h 479"/>
              <a:gd name="T116" fmla="*/ 2147483646 w 153"/>
              <a:gd name="T117" fmla="*/ 2147483646 h 479"/>
              <a:gd name="T118" fmla="*/ 2147483646 w 153"/>
              <a:gd name="T119" fmla="*/ 2147483646 h 4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3" h="479">
                <a:moveTo>
                  <a:pt x="121" y="247"/>
                </a:moveTo>
                <a:lnTo>
                  <a:pt x="123" y="269"/>
                </a:lnTo>
                <a:lnTo>
                  <a:pt x="143" y="243"/>
                </a:lnTo>
                <a:lnTo>
                  <a:pt x="138" y="198"/>
                </a:lnTo>
                <a:lnTo>
                  <a:pt x="152" y="164"/>
                </a:lnTo>
                <a:lnTo>
                  <a:pt x="151" y="162"/>
                </a:lnTo>
                <a:lnTo>
                  <a:pt x="150" y="157"/>
                </a:lnTo>
                <a:lnTo>
                  <a:pt x="147" y="148"/>
                </a:lnTo>
                <a:lnTo>
                  <a:pt x="145" y="138"/>
                </a:lnTo>
                <a:lnTo>
                  <a:pt x="141" y="128"/>
                </a:lnTo>
                <a:lnTo>
                  <a:pt x="138" y="117"/>
                </a:lnTo>
                <a:lnTo>
                  <a:pt x="135" y="108"/>
                </a:lnTo>
                <a:lnTo>
                  <a:pt x="130" y="102"/>
                </a:lnTo>
                <a:lnTo>
                  <a:pt x="125" y="96"/>
                </a:lnTo>
                <a:lnTo>
                  <a:pt x="119" y="90"/>
                </a:lnTo>
                <a:lnTo>
                  <a:pt x="111" y="85"/>
                </a:lnTo>
                <a:lnTo>
                  <a:pt x="103" y="80"/>
                </a:lnTo>
                <a:lnTo>
                  <a:pt x="97" y="76"/>
                </a:lnTo>
                <a:lnTo>
                  <a:pt x="91" y="72"/>
                </a:lnTo>
                <a:lnTo>
                  <a:pt x="87" y="70"/>
                </a:lnTo>
                <a:lnTo>
                  <a:pt x="86" y="69"/>
                </a:lnTo>
                <a:lnTo>
                  <a:pt x="91" y="64"/>
                </a:lnTo>
                <a:lnTo>
                  <a:pt x="92" y="46"/>
                </a:lnTo>
                <a:lnTo>
                  <a:pt x="92" y="45"/>
                </a:lnTo>
                <a:lnTo>
                  <a:pt x="93" y="42"/>
                </a:lnTo>
                <a:lnTo>
                  <a:pt x="94" y="38"/>
                </a:lnTo>
                <a:lnTo>
                  <a:pt x="95" y="34"/>
                </a:lnTo>
                <a:lnTo>
                  <a:pt x="95" y="29"/>
                </a:lnTo>
                <a:lnTo>
                  <a:pt x="95" y="24"/>
                </a:lnTo>
                <a:lnTo>
                  <a:pt x="94" y="19"/>
                </a:lnTo>
                <a:lnTo>
                  <a:pt x="92" y="15"/>
                </a:lnTo>
                <a:lnTo>
                  <a:pt x="89" y="12"/>
                </a:lnTo>
                <a:lnTo>
                  <a:pt x="87" y="10"/>
                </a:lnTo>
                <a:lnTo>
                  <a:pt x="87" y="8"/>
                </a:lnTo>
                <a:lnTo>
                  <a:pt x="86" y="7"/>
                </a:lnTo>
                <a:lnTo>
                  <a:pt x="85" y="6"/>
                </a:lnTo>
                <a:lnTo>
                  <a:pt x="82" y="4"/>
                </a:lnTo>
                <a:lnTo>
                  <a:pt x="77" y="3"/>
                </a:lnTo>
                <a:lnTo>
                  <a:pt x="70" y="0"/>
                </a:lnTo>
                <a:lnTo>
                  <a:pt x="64" y="0"/>
                </a:lnTo>
                <a:lnTo>
                  <a:pt x="59" y="0"/>
                </a:lnTo>
                <a:lnTo>
                  <a:pt x="56" y="0"/>
                </a:lnTo>
                <a:lnTo>
                  <a:pt x="53" y="2"/>
                </a:lnTo>
                <a:lnTo>
                  <a:pt x="50" y="5"/>
                </a:lnTo>
                <a:lnTo>
                  <a:pt x="47" y="8"/>
                </a:lnTo>
                <a:lnTo>
                  <a:pt x="43" y="11"/>
                </a:lnTo>
                <a:lnTo>
                  <a:pt x="40" y="15"/>
                </a:lnTo>
                <a:lnTo>
                  <a:pt x="39" y="21"/>
                </a:lnTo>
                <a:lnTo>
                  <a:pt x="39" y="27"/>
                </a:lnTo>
                <a:lnTo>
                  <a:pt x="39" y="35"/>
                </a:lnTo>
                <a:lnTo>
                  <a:pt x="40" y="42"/>
                </a:lnTo>
                <a:lnTo>
                  <a:pt x="41" y="48"/>
                </a:lnTo>
                <a:lnTo>
                  <a:pt x="42" y="52"/>
                </a:lnTo>
                <a:lnTo>
                  <a:pt x="43" y="54"/>
                </a:lnTo>
                <a:lnTo>
                  <a:pt x="51" y="61"/>
                </a:lnTo>
                <a:lnTo>
                  <a:pt x="53" y="69"/>
                </a:lnTo>
                <a:lnTo>
                  <a:pt x="51" y="70"/>
                </a:lnTo>
                <a:lnTo>
                  <a:pt x="46" y="73"/>
                </a:lnTo>
                <a:lnTo>
                  <a:pt x="39" y="76"/>
                </a:lnTo>
                <a:lnTo>
                  <a:pt x="32" y="81"/>
                </a:lnTo>
                <a:lnTo>
                  <a:pt x="24" y="87"/>
                </a:lnTo>
                <a:lnTo>
                  <a:pt x="18" y="91"/>
                </a:lnTo>
                <a:lnTo>
                  <a:pt x="13" y="95"/>
                </a:lnTo>
                <a:lnTo>
                  <a:pt x="11" y="98"/>
                </a:lnTo>
                <a:lnTo>
                  <a:pt x="10" y="103"/>
                </a:lnTo>
                <a:lnTo>
                  <a:pt x="10" y="112"/>
                </a:lnTo>
                <a:lnTo>
                  <a:pt x="8" y="124"/>
                </a:lnTo>
                <a:lnTo>
                  <a:pt x="6" y="138"/>
                </a:lnTo>
                <a:lnTo>
                  <a:pt x="5" y="153"/>
                </a:lnTo>
                <a:lnTo>
                  <a:pt x="3" y="166"/>
                </a:lnTo>
                <a:lnTo>
                  <a:pt x="2" y="176"/>
                </a:lnTo>
                <a:lnTo>
                  <a:pt x="2" y="183"/>
                </a:lnTo>
                <a:lnTo>
                  <a:pt x="1" y="187"/>
                </a:lnTo>
                <a:lnTo>
                  <a:pt x="1" y="196"/>
                </a:lnTo>
                <a:lnTo>
                  <a:pt x="0" y="207"/>
                </a:lnTo>
                <a:lnTo>
                  <a:pt x="0" y="219"/>
                </a:lnTo>
                <a:lnTo>
                  <a:pt x="0" y="232"/>
                </a:lnTo>
                <a:lnTo>
                  <a:pt x="0" y="244"/>
                </a:lnTo>
                <a:lnTo>
                  <a:pt x="0" y="256"/>
                </a:lnTo>
                <a:lnTo>
                  <a:pt x="2" y="264"/>
                </a:lnTo>
                <a:lnTo>
                  <a:pt x="4" y="266"/>
                </a:lnTo>
                <a:lnTo>
                  <a:pt x="6" y="268"/>
                </a:lnTo>
                <a:lnTo>
                  <a:pt x="9" y="269"/>
                </a:lnTo>
                <a:lnTo>
                  <a:pt x="11" y="270"/>
                </a:lnTo>
                <a:lnTo>
                  <a:pt x="14" y="270"/>
                </a:lnTo>
                <a:lnTo>
                  <a:pt x="16" y="270"/>
                </a:lnTo>
                <a:lnTo>
                  <a:pt x="17" y="270"/>
                </a:lnTo>
                <a:lnTo>
                  <a:pt x="18" y="270"/>
                </a:lnTo>
                <a:lnTo>
                  <a:pt x="16" y="263"/>
                </a:lnTo>
                <a:lnTo>
                  <a:pt x="10" y="258"/>
                </a:lnTo>
                <a:lnTo>
                  <a:pt x="23" y="264"/>
                </a:lnTo>
                <a:lnTo>
                  <a:pt x="19" y="328"/>
                </a:lnTo>
                <a:lnTo>
                  <a:pt x="21" y="349"/>
                </a:lnTo>
                <a:lnTo>
                  <a:pt x="40" y="422"/>
                </a:lnTo>
                <a:lnTo>
                  <a:pt x="18" y="440"/>
                </a:lnTo>
                <a:lnTo>
                  <a:pt x="15" y="452"/>
                </a:lnTo>
                <a:lnTo>
                  <a:pt x="39" y="452"/>
                </a:lnTo>
                <a:lnTo>
                  <a:pt x="69" y="452"/>
                </a:lnTo>
                <a:lnTo>
                  <a:pt x="70" y="453"/>
                </a:lnTo>
                <a:lnTo>
                  <a:pt x="71" y="456"/>
                </a:lnTo>
                <a:lnTo>
                  <a:pt x="74" y="460"/>
                </a:lnTo>
                <a:lnTo>
                  <a:pt x="77" y="464"/>
                </a:lnTo>
                <a:lnTo>
                  <a:pt x="81" y="468"/>
                </a:lnTo>
                <a:lnTo>
                  <a:pt x="84" y="472"/>
                </a:lnTo>
                <a:lnTo>
                  <a:pt x="87" y="475"/>
                </a:lnTo>
                <a:lnTo>
                  <a:pt x="91" y="477"/>
                </a:lnTo>
                <a:lnTo>
                  <a:pt x="93" y="478"/>
                </a:lnTo>
                <a:lnTo>
                  <a:pt x="97" y="478"/>
                </a:lnTo>
                <a:lnTo>
                  <a:pt x="100" y="477"/>
                </a:lnTo>
                <a:lnTo>
                  <a:pt x="103" y="476"/>
                </a:lnTo>
                <a:lnTo>
                  <a:pt x="106" y="475"/>
                </a:lnTo>
                <a:lnTo>
                  <a:pt x="108" y="475"/>
                </a:lnTo>
                <a:lnTo>
                  <a:pt x="109" y="474"/>
                </a:lnTo>
                <a:lnTo>
                  <a:pt x="110" y="474"/>
                </a:lnTo>
                <a:lnTo>
                  <a:pt x="104" y="457"/>
                </a:lnTo>
                <a:lnTo>
                  <a:pt x="97" y="438"/>
                </a:lnTo>
                <a:lnTo>
                  <a:pt x="114" y="354"/>
                </a:lnTo>
                <a:lnTo>
                  <a:pt x="118" y="276"/>
                </a:lnTo>
                <a:lnTo>
                  <a:pt x="121" y="247"/>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Freeform 12">
            <a:extLst>
              <a:ext uri="{FF2B5EF4-FFF2-40B4-BE49-F238E27FC236}">
                <a16:creationId xmlns:a16="http://schemas.microsoft.com/office/drawing/2014/main" id="{488A3E91-4183-E73B-1458-D5785CE65C1A}"/>
              </a:ext>
            </a:extLst>
          </p:cNvPr>
          <p:cNvSpPr>
            <a:spLocks/>
          </p:cNvSpPr>
          <p:nvPr/>
        </p:nvSpPr>
        <p:spPr bwMode="auto">
          <a:xfrm>
            <a:off x="1210742" y="3421087"/>
            <a:ext cx="233363" cy="714375"/>
          </a:xfrm>
          <a:custGeom>
            <a:avLst/>
            <a:gdLst>
              <a:gd name="T0" fmla="*/ 2147483646 w 147"/>
              <a:gd name="T1" fmla="*/ 2147483646 h 450"/>
              <a:gd name="T2" fmla="*/ 2147483646 w 147"/>
              <a:gd name="T3" fmla="*/ 2147483646 h 450"/>
              <a:gd name="T4" fmla="*/ 2147483646 w 147"/>
              <a:gd name="T5" fmla="*/ 2147483646 h 450"/>
              <a:gd name="T6" fmla="*/ 2147483646 w 147"/>
              <a:gd name="T7" fmla="*/ 2147483646 h 450"/>
              <a:gd name="T8" fmla="*/ 2147483646 w 147"/>
              <a:gd name="T9" fmla="*/ 2147483646 h 450"/>
              <a:gd name="T10" fmla="*/ 2147483646 w 147"/>
              <a:gd name="T11" fmla="*/ 2147483646 h 450"/>
              <a:gd name="T12" fmla="*/ 2147483646 w 147"/>
              <a:gd name="T13" fmla="*/ 2147483646 h 450"/>
              <a:gd name="T14" fmla="*/ 2147483646 w 147"/>
              <a:gd name="T15" fmla="*/ 2147483646 h 450"/>
              <a:gd name="T16" fmla="*/ 2147483646 w 147"/>
              <a:gd name="T17" fmla="*/ 2147483646 h 450"/>
              <a:gd name="T18" fmla="*/ 2147483646 w 147"/>
              <a:gd name="T19" fmla="*/ 2147483646 h 450"/>
              <a:gd name="T20" fmla="*/ 2147483646 w 147"/>
              <a:gd name="T21" fmla="*/ 2147483646 h 450"/>
              <a:gd name="T22" fmla="*/ 2147483646 w 147"/>
              <a:gd name="T23" fmla="*/ 2147483646 h 450"/>
              <a:gd name="T24" fmla="*/ 2147483646 w 147"/>
              <a:gd name="T25" fmla="*/ 2147483646 h 450"/>
              <a:gd name="T26" fmla="*/ 2147483646 w 147"/>
              <a:gd name="T27" fmla="*/ 2147483646 h 450"/>
              <a:gd name="T28" fmla="*/ 2147483646 w 147"/>
              <a:gd name="T29" fmla="*/ 2147483646 h 450"/>
              <a:gd name="T30" fmla="*/ 2147483646 w 147"/>
              <a:gd name="T31" fmla="*/ 2147483646 h 450"/>
              <a:gd name="T32" fmla="*/ 2147483646 w 147"/>
              <a:gd name="T33" fmla="*/ 2147483646 h 450"/>
              <a:gd name="T34" fmla="*/ 2147483646 w 147"/>
              <a:gd name="T35" fmla="*/ 2147483646 h 450"/>
              <a:gd name="T36" fmla="*/ 2147483646 w 147"/>
              <a:gd name="T37" fmla="*/ 2147483646 h 450"/>
              <a:gd name="T38" fmla="*/ 2147483646 w 147"/>
              <a:gd name="T39" fmla="*/ 2147483646 h 450"/>
              <a:gd name="T40" fmla="*/ 2147483646 w 147"/>
              <a:gd name="T41" fmla="*/ 2147483646 h 450"/>
              <a:gd name="T42" fmla="*/ 2147483646 w 147"/>
              <a:gd name="T43" fmla="*/ 2147483646 h 450"/>
              <a:gd name="T44" fmla="*/ 2147483646 w 147"/>
              <a:gd name="T45" fmla="*/ 0 h 450"/>
              <a:gd name="T46" fmla="*/ 2147483646 w 147"/>
              <a:gd name="T47" fmla="*/ 2147483646 h 450"/>
              <a:gd name="T48" fmla="*/ 2147483646 w 147"/>
              <a:gd name="T49" fmla="*/ 2147483646 h 450"/>
              <a:gd name="T50" fmla="*/ 2147483646 w 147"/>
              <a:gd name="T51" fmla="*/ 2147483646 h 450"/>
              <a:gd name="T52" fmla="*/ 2147483646 w 147"/>
              <a:gd name="T53" fmla="*/ 2147483646 h 450"/>
              <a:gd name="T54" fmla="*/ 2147483646 w 147"/>
              <a:gd name="T55" fmla="*/ 2147483646 h 450"/>
              <a:gd name="T56" fmla="*/ 2147483646 w 147"/>
              <a:gd name="T57" fmla="*/ 2147483646 h 450"/>
              <a:gd name="T58" fmla="*/ 2147483646 w 147"/>
              <a:gd name="T59" fmla="*/ 2147483646 h 450"/>
              <a:gd name="T60" fmla="*/ 0 w 147"/>
              <a:gd name="T61" fmla="*/ 2147483646 h 450"/>
              <a:gd name="T62" fmla="*/ 2147483646 w 147"/>
              <a:gd name="T63" fmla="*/ 2147483646 h 450"/>
              <a:gd name="T64" fmla="*/ 2147483646 w 147"/>
              <a:gd name="T65" fmla="*/ 2147483646 h 450"/>
              <a:gd name="T66" fmla="*/ 2147483646 w 147"/>
              <a:gd name="T67" fmla="*/ 2147483646 h 450"/>
              <a:gd name="T68" fmla="*/ 2147483646 w 147"/>
              <a:gd name="T69" fmla="*/ 2147483646 h 450"/>
              <a:gd name="T70" fmla="*/ 2147483646 w 147"/>
              <a:gd name="T71" fmla="*/ 2147483646 h 450"/>
              <a:gd name="T72" fmla="*/ 2147483646 w 147"/>
              <a:gd name="T73" fmla="*/ 2147483646 h 450"/>
              <a:gd name="T74" fmla="*/ 2147483646 w 147"/>
              <a:gd name="T75" fmla="*/ 2147483646 h 450"/>
              <a:gd name="T76" fmla="*/ 2147483646 w 147"/>
              <a:gd name="T77" fmla="*/ 2147483646 h 450"/>
              <a:gd name="T78" fmla="*/ 2147483646 w 147"/>
              <a:gd name="T79" fmla="*/ 2147483646 h 450"/>
              <a:gd name="T80" fmla="*/ 2147483646 w 147"/>
              <a:gd name="T81" fmla="*/ 2147483646 h 450"/>
              <a:gd name="T82" fmla="*/ 2147483646 w 147"/>
              <a:gd name="T83" fmla="*/ 2147483646 h 450"/>
              <a:gd name="T84" fmla="*/ 2147483646 w 147"/>
              <a:gd name="T85" fmla="*/ 2147483646 h 450"/>
              <a:gd name="T86" fmla="*/ 2147483646 w 147"/>
              <a:gd name="T87" fmla="*/ 2147483646 h 450"/>
              <a:gd name="T88" fmla="*/ 2147483646 w 147"/>
              <a:gd name="T89" fmla="*/ 2147483646 h 450"/>
              <a:gd name="T90" fmla="*/ 2147483646 w 147"/>
              <a:gd name="T91" fmla="*/ 2147483646 h 450"/>
              <a:gd name="T92" fmla="*/ 2147483646 w 147"/>
              <a:gd name="T93" fmla="*/ 2147483646 h 450"/>
              <a:gd name="T94" fmla="*/ 2147483646 w 147"/>
              <a:gd name="T95" fmla="*/ 2147483646 h 450"/>
              <a:gd name="T96" fmla="*/ 2147483646 w 147"/>
              <a:gd name="T97" fmla="*/ 2147483646 h 450"/>
              <a:gd name="T98" fmla="*/ 2147483646 w 147"/>
              <a:gd name="T99" fmla="*/ 2147483646 h 450"/>
              <a:gd name="T100" fmla="*/ 2147483646 w 147"/>
              <a:gd name="T101" fmla="*/ 2147483646 h 450"/>
              <a:gd name="T102" fmla="*/ 2147483646 w 147"/>
              <a:gd name="T103" fmla="*/ 2147483646 h 4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47" h="450">
                <a:moveTo>
                  <a:pt x="70" y="212"/>
                </a:moveTo>
                <a:lnTo>
                  <a:pt x="70" y="212"/>
                </a:lnTo>
                <a:lnTo>
                  <a:pt x="72" y="211"/>
                </a:lnTo>
                <a:lnTo>
                  <a:pt x="73" y="211"/>
                </a:lnTo>
                <a:lnTo>
                  <a:pt x="72" y="211"/>
                </a:lnTo>
                <a:lnTo>
                  <a:pt x="70" y="212"/>
                </a:lnTo>
                <a:lnTo>
                  <a:pt x="145" y="430"/>
                </a:lnTo>
                <a:lnTo>
                  <a:pt x="143" y="429"/>
                </a:lnTo>
                <a:lnTo>
                  <a:pt x="140" y="427"/>
                </a:lnTo>
                <a:lnTo>
                  <a:pt x="134" y="423"/>
                </a:lnTo>
                <a:lnTo>
                  <a:pt x="128" y="418"/>
                </a:lnTo>
                <a:lnTo>
                  <a:pt x="122" y="414"/>
                </a:lnTo>
                <a:lnTo>
                  <a:pt x="116" y="408"/>
                </a:lnTo>
                <a:lnTo>
                  <a:pt x="113" y="401"/>
                </a:lnTo>
                <a:lnTo>
                  <a:pt x="111" y="395"/>
                </a:lnTo>
                <a:lnTo>
                  <a:pt x="112" y="387"/>
                </a:lnTo>
                <a:lnTo>
                  <a:pt x="113" y="375"/>
                </a:lnTo>
                <a:lnTo>
                  <a:pt x="113" y="361"/>
                </a:lnTo>
                <a:lnTo>
                  <a:pt x="115" y="346"/>
                </a:lnTo>
                <a:lnTo>
                  <a:pt x="116" y="332"/>
                </a:lnTo>
                <a:lnTo>
                  <a:pt x="118" y="321"/>
                </a:lnTo>
                <a:lnTo>
                  <a:pt x="118" y="314"/>
                </a:lnTo>
                <a:lnTo>
                  <a:pt x="118" y="310"/>
                </a:lnTo>
                <a:lnTo>
                  <a:pt x="119" y="310"/>
                </a:lnTo>
                <a:lnTo>
                  <a:pt x="121" y="309"/>
                </a:lnTo>
                <a:lnTo>
                  <a:pt x="123" y="307"/>
                </a:lnTo>
                <a:lnTo>
                  <a:pt x="124" y="304"/>
                </a:lnTo>
                <a:lnTo>
                  <a:pt x="125" y="301"/>
                </a:lnTo>
                <a:lnTo>
                  <a:pt x="126" y="295"/>
                </a:lnTo>
                <a:lnTo>
                  <a:pt x="127" y="288"/>
                </a:lnTo>
                <a:lnTo>
                  <a:pt x="118" y="201"/>
                </a:lnTo>
                <a:lnTo>
                  <a:pt x="118" y="200"/>
                </a:lnTo>
                <a:lnTo>
                  <a:pt x="118" y="201"/>
                </a:lnTo>
                <a:lnTo>
                  <a:pt x="118" y="203"/>
                </a:lnTo>
                <a:lnTo>
                  <a:pt x="119" y="207"/>
                </a:lnTo>
                <a:lnTo>
                  <a:pt x="121" y="210"/>
                </a:lnTo>
                <a:lnTo>
                  <a:pt x="123" y="213"/>
                </a:lnTo>
                <a:lnTo>
                  <a:pt x="124" y="215"/>
                </a:lnTo>
                <a:lnTo>
                  <a:pt x="126" y="216"/>
                </a:lnTo>
                <a:lnTo>
                  <a:pt x="127" y="215"/>
                </a:lnTo>
                <a:lnTo>
                  <a:pt x="129" y="213"/>
                </a:lnTo>
                <a:lnTo>
                  <a:pt x="130" y="210"/>
                </a:lnTo>
                <a:lnTo>
                  <a:pt x="131" y="207"/>
                </a:lnTo>
                <a:lnTo>
                  <a:pt x="132" y="204"/>
                </a:lnTo>
                <a:lnTo>
                  <a:pt x="132" y="200"/>
                </a:lnTo>
                <a:lnTo>
                  <a:pt x="131" y="196"/>
                </a:lnTo>
                <a:lnTo>
                  <a:pt x="129" y="192"/>
                </a:lnTo>
                <a:lnTo>
                  <a:pt x="127" y="186"/>
                </a:lnTo>
                <a:lnTo>
                  <a:pt x="124" y="178"/>
                </a:lnTo>
                <a:lnTo>
                  <a:pt x="123" y="172"/>
                </a:lnTo>
                <a:lnTo>
                  <a:pt x="124" y="165"/>
                </a:lnTo>
                <a:lnTo>
                  <a:pt x="126" y="158"/>
                </a:lnTo>
                <a:lnTo>
                  <a:pt x="128" y="147"/>
                </a:lnTo>
                <a:lnTo>
                  <a:pt x="128" y="133"/>
                </a:lnTo>
                <a:lnTo>
                  <a:pt x="124" y="114"/>
                </a:lnTo>
                <a:lnTo>
                  <a:pt x="118" y="87"/>
                </a:lnTo>
                <a:lnTo>
                  <a:pt x="115" y="83"/>
                </a:lnTo>
                <a:lnTo>
                  <a:pt x="112" y="79"/>
                </a:lnTo>
                <a:lnTo>
                  <a:pt x="108" y="76"/>
                </a:lnTo>
                <a:lnTo>
                  <a:pt x="104" y="73"/>
                </a:lnTo>
                <a:lnTo>
                  <a:pt x="100" y="70"/>
                </a:lnTo>
                <a:lnTo>
                  <a:pt x="97" y="68"/>
                </a:lnTo>
                <a:lnTo>
                  <a:pt x="95" y="67"/>
                </a:lnTo>
                <a:lnTo>
                  <a:pt x="94" y="66"/>
                </a:lnTo>
                <a:lnTo>
                  <a:pt x="95" y="66"/>
                </a:lnTo>
                <a:lnTo>
                  <a:pt x="97" y="65"/>
                </a:lnTo>
                <a:lnTo>
                  <a:pt x="98" y="65"/>
                </a:lnTo>
                <a:lnTo>
                  <a:pt x="100" y="64"/>
                </a:lnTo>
                <a:lnTo>
                  <a:pt x="102" y="63"/>
                </a:lnTo>
                <a:lnTo>
                  <a:pt x="102" y="60"/>
                </a:lnTo>
                <a:lnTo>
                  <a:pt x="103" y="58"/>
                </a:lnTo>
                <a:lnTo>
                  <a:pt x="104" y="55"/>
                </a:lnTo>
                <a:lnTo>
                  <a:pt x="103" y="53"/>
                </a:lnTo>
                <a:lnTo>
                  <a:pt x="102" y="51"/>
                </a:lnTo>
                <a:lnTo>
                  <a:pt x="100" y="49"/>
                </a:lnTo>
                <a:lnTo>
                  <a:pt x="98" y="48"/>
                </a:lnTo>
                <a:lnTo>
                  <a:pt x="97" y="46"/>
                </a:lnTo>
                <a:lnTo>
                  <a:pt x="95" y="43"/>
                </a:lnTo>
                <a:lnTo>
                  <a:pt x="94" y="40"/>
                </a:lnTo>
                <a:lnTo>
                  <a:pt x="93" y="36"/>
                </a:lnTo>
                <a:lnTo>
                  <a:pt x="93" y="31"/>
                </a:lnTo>
                <a:lnTo>
                  <a:pt x="94" y="27"/>
                </a:lnTo>
                <a:lnTo>
                  <a:pt x="96" y="23"/>
                </a:lnTo>
                <a:lnTo>
                  <a:pt x="97" y="20"/>
                </a:lnTo>
                <a:lnTo>
                  <a:pt x="97" y="18"/>
                </a:lnTo>
                <a:lnTo>
                  <a:pt x="97" y="17"/>
                </a:lnTo>
                <a:lnTo>
                  <a:pt x="96" y="16"/>
                </a:lnTo>
                <a:lnTo>
                  <a:pt x="94" y="13"/>
                </a:lnTo>
                <a:lnTo>
                  <a:pt x="92" y="11"/>
                </a:lnTo>
                <a:lnTo>
                  <a:pt x="91" y="8"/>
                </a:lnTo>
                <a:lnTo>
                  <a:pt x="89" y="6"/>
                </a:lnTo>
                <a:lnTo>
                  <a:pt x="88" y="4"/>
                </a:lnTo>
                <a:lnTo>
                  <a:pt x="87" y="2"/>
                </a:lnTo>
                <a:lnTo>
                  <a:pt x="86" y="0"/>
                </a:lnTo>
                <a:lnTo>
                  <a:pt x="84" y="0"/>
                </a:lnTo>
                <a:lnTo>
                  <a:pt x="80" y="0"/>
                </a:lnTo>
                <a:lnTo>
                  <a:pt x="74" y="0"/>
                </a:lnTo>
                <a:lnTo>
                  <a:pt x="69" y="0"/>
                </a:lnTo>
                <a:lnTo>
                  <a:pt x="64" y="1"/>
                </a:lnTo>
                <a:lnTo>
                  <a:pt x="59" y="2"/>
                </a:lnTo>
                <a:lnTo>
                  <a:pt x="55" y="3"/>
                </a:lnTo>
                <a:lnTo>
                  <a:pt x="53" y="4"/>
                </a:lnTo>
                <a:lnTo>
                  <a:pt x="49" y="8"/>
                </a:lnTo>
                <a:lnTo>
                  <a:pt x="47" y="12"/>
                </a:lnTo>
                <a:lnTo>
                  <a:pt x="44" y="17"/>
                </a:lnTo>
                <a:lnTo>
                  <a:pt x="42" y="22"/>
                </a:lnTo>
                <a:lnTo>
                  <a:pt x="39" y="28"/>
                </a:lnTo>
                <a:lnTo>
                  <a:pt x="37" y="34"/>
                </a:lnTo>
                <a:lnTo>
                  <a:pt x="36" y="38"/>
                </a:lnTo>
                <a:lnTo>
                  <a:pt x="34" y="43"/>
                </a:lnTo>
                <a:lnTo>
                  <a:pt x="32" y="47"/>
                </a:lnTo>
                <a:lnTo>
                  <a:pt x="30" y="51"/>
                </a:lnTo>
                <a:lnTo>
                  <a:pt x="28" y="54"/>
                </a:lnTo>
                <a:lnTo>
                  <a:pt x="26" y="56"/>
                </a:lnTo>
                <a:lnTo>
                  <a:pt x="25" y="58"/>
                </a:lnTo>
                <a:lnTo>
                  <a:pt x="23" y="59"/>
                </a:lnTo>
                <a:lnTo>
                  <a:pt x="28" y="64"/>
                </a:lnTo>
                <a:lnTo>
                  <a:pt x="30" y="64"/>
                </a:lnTo>
                <a:lnTo>
                  <a:pt x="31" y="66"/>
                </a:lnTo>
                <a:lnTo>
                  <a:pt x="32" y="68"/>
                </a:lnTo>
                <a:lnTo>
                  <a:pt x="33" y="69"/>
                </a:lnTo>
                <a:lnTo>
                  <a:pt x="32" y="71"/>
                </a:lnTo>
                <a:lnTo>
                  <a:pt x="32" y="73"/>
                </a:lnTo>
                <a:lnTo>
                  <a:pt x="28" y="76"/>
                </a:lnTo>
                <a:lnTo>
                  <a:pt x="24" y="80"/>
                </a:lnTo>
                <a:lnTo>
                  <a:pt x="19" y="88"/>
                </a:lnTo>
                <a:lnTo>
                  <a:pt x="14" y="99"/>
                </a:lnTo>
                <a:lnTo>
                  <a:pt x="10" y="110"/>
                </a:lnTo>
                <a:lnTo>
                  <a:pt x="5" y="121"/>
                </a:lnTo>
                <a:lnTo>
                  <a:pt x="2" y="132"/>
                </a:lnTo>
                <a:lnTo>
                  <a:pt x="0" y="139"/>
                </a:lnTo>
                <a:lnTo>
                  <a:pt x="0" y="143"/>
                </a:lnTo>
                <a:lnTo>
                  <a:pt x="0" y="146"/>
                </a:lnTo>
                <a:lnTo>
                  <a:pt x="0" y="152"/>
                </a:lnTo>
                <a:lnTo>
                  <a:pt x="2" y="160"/>
                </a:lnTo>
                <a:lnTo>
                  <a:pt x="4" y="169"/>
                </a:lnTo>
                <a:lnTo>
                  <a:pt x="6" y="178"/>
                </a:lnTo>
                <a:lnTo>
                  <a:pt x="10" y="185"/>
                </a:lnTo>
                <a:lnTo>
                  <a:pt x="14" y="191"/>
                </a:lnTo>
                <a:lnTo>
                  <a:pt x="18" y="194"/>
                </a:lnTo>
                <a:lnTo>
                  <a:pt x="17" y="204"/>
                </a:lnTo>
                <a:lnTo>
                  <a:pt x="16" y="220"/>
                </a:lnTo>
                <a:lnTo>
                  <a:pt x="15" y="237"/>
                </a:lnTo>
                <a:lnTo>
                  <a:pt x="14" y="256"/>
                </a:lnTo>
                <a:lnTo>
                  <a:pt x="13" y="274"/>
                </a:lnTo>
                <a:lnTo>
                  <a:pt x="12" y="289"/>
                </a:lnTo>
                <a:lnTo>
                  <a:pt x="12" y="299"/>
                </a:lnTo>
                <a:lnTo>
                  <a:pt x="12" y="303"/>
                </a:lnTo>
                <a:lnTo>
                  <a:pt x="13" y="304"/>
                </a:lnTo>
                <a:lnTo>
                  <a:pt x="15" y="306"/>
                </a:lnTo>
                <a:lnTo>
                  <a:pt x="18" y="307"/>
                </a:lnTo>
                <a:lnTo>
                  <a:pt x="21" y="310"/>
                </a:lnTo>
                <a:lnTo>
                  <a:pt x="26" y="311"/>
                </a:lnTo>
                <a:lnTo>
                  <a:pt x="29" y="313"/>
                </a:lnTo>
                <a:lnTo>
                  <a:pt x="31" y="312"/>
                </a:lnTo>
                <a:lnTo>
                  <a:pt x="32" y="310"/>
                </a:lnTo>
                <a:lnTo>
                  <a:pt x="32" y="312"/>
                </a:lnTo>
                <a:lnTo>
                  <a:pt x="33" y="315"/>
                </a:lnTo>
                <a:lnTo>
                  <a:pt x="34" y="320"/>
                </a:lnTo>
                <a:lnTo>
                  <a:pt x="36" y="325"/>
                </a:lnTo>
                <a:lnTo>
                  <a:pt x="37" y="330"/>
                </a:lnTo>
                <a:lnTo>
                  <a:pt x="39" y="334"/>
                </a:lnTo>
                <a:lnTo>
                  <a:pt x="40" y="336"/>
                </a:lnTo>
                <a:lnTo>
                  <a:pt x="41" y="338"/>
                </a:lnTo>
                <a:lnTo>
                  <a:pt x="40" y="338"/>
                </a:lnTo>
                <a:lnTo>
                  <a:pt x="40" y="339"/>
                </a:lnTo>
                <a:lnTo>
                  <a:pt x="39" y="341"/>
                </a:lnTo>
                <a:lnTo>
                  <a:pt x="39" y="342"/>
                </a:lnTo>
                <a:lnTo>
                  <a:pt x="38" y="345"/>
                </a:lnTo>
                <a:lnTo>
                  <a:pt x="37" y="348"/>
                </a:lnTo>
                <a:lnTo>
                  <a:pt x="37" y="352"/>
                </a:lnTo>
                <a:lnTo>
                  <a:pt x="37" y="356"/>
                </a:lnTo>
                <a:lnTo>
                  <a:pt x="37" y="361"/>
                </a:lnTo>
                <a:lnTo>
                  <a:pt x="37" y="368"/>
                </a:lnTo>
                <a:lnTo>
                  <a:pt x="39" y="375"/>
                </a:lnTo>
                <a:lnTo>
                  <a:pt x="41" y="384"/>
                </a:lnTo>
                <a:lnTo>
                  <a:pt x="43" y="391"/>
                </a:lnTo>
                <a:lnTo>
                  <a:pt x="45" y="397"/>
                </a:lnTo>
                <a:lnTo>
                  <a:pt x="46" y="401"/>
                </a:lnTo>
                <a:lnTo>
                  <a:pt x="47" y="402"/>
                </a:lnTo>
                <a:lnTo>
                  <a:pt x="39" y="418"/>
                </a:lnTo>
                <a:lnTo>
                  <a:pt x="42" y="441"/>
                </a:lnTo>
                <a:lnTo>
                  <a:pt x="43" y="442"/>
                </a:lnTo>
                <a:lnTo>
                  <a:pt x="43" y="443"/>
                </a:lnTo>
                <a:lnTo>
                  <a:pt x="45" y="444"/>
                </a:lnTo>
                <a:lnTo>
                  <a:pt x="48" y="446"/>
                </a:lnTo>
                <a:lnTo>
                  <a:pt x="50" y="448"/>
                </a:lnTo>
                <a:lnTo>
                  <a:pt x="53" y="449"/>
                </a:lnTo>
                <a:lnTo>
                  <a:pt x="55" y="449"/>
                </a:lnTo>
                <a:lnTo>
                  <a:pt x="58" y="448"/>
                </a:lnTo>
                <a:lnTo>
                  <a:pt x="60" y="445"/>
                </a:lnTo>
                <a:lnTo>
                  <a:pt x="62" y="443"/>
                </a:lnTo>
                <a:lnTo>
                  <a:pt x="63" y="440"/>
                </a:lnTo>
                <a:lnTo>
                  <a:pt x="64" y="437"/>
                </a:lnTo>
                <a:lnTo>
                  <a:pt x="64" y="434"/>
                </a:lnTo>
                <a:lnTo>
                  <a:pt x="64" y="431"/>
                </a:lnTo>
                <a:lnTo>
                  <a:pt x="65" y="430"/>
                </a:lnTo>
                <a:lnTo>
                  <a:pt x="59" y="399"/>
                </a:lnTo>
                <a:lnTo>
                  <a:pt x="70" y="336"/>
                </a:lnTo>
                <a:lnTo>
                  <a:pt x="71" y="325"/>
                </a:lnTo>
                <a:lnTo>
                  <a:pt x="84" y="325"/>
                </a:lnTo>
                <a:lnTo>
                  <a:pt x="84" y="328"/>
                </a:lnTo>
                <a:lnTo>
                  <a:pt x="84" y="331"/>
                </a:lnTo>
                <a:lnTo>
                  <a:pt x="84" y="334"/>
                </a:lnTo>
                <a:lnTo>
                  <a:pt x="85" y="339"/>
                </a:lnTo>
                <a:lnTo>
                  <a:pt x="85" y="345"/>
                </a:lnTo>
                <a:lnTo>
                  <a:pt x="86" y="350"/>
                </a:lnTo>
                <a:lnTo>
                  <a:pt x="86" y="356"/>
                </a:lnTo>
                <a:lnTo>
                  <a:pt x="87" y="363"/>
                </a:lnTo>
                <a:lnTo>
                  <a:pt x="89" y="371"/>
                </a:lnTo>
                <a:lnTo>
                  <a:pt x="91" y="378"/>
                </a:lnTo>
                <a:lnTo>
                  <a:pt x="92" y="385"/>
                </a:lnTo>
                <a:lnTo>
                  <a:pt x="94" y="392"/>
                </a:lnTo>
                <a:lnTo>
                  <a:pt x="95" y="397"/>
                </a:lnTo>
                <a:lnTo>
                  <a:pt x="96" y="400"/>
                </a:lnTo>
                <a:lnTo>
                  <a:pt x="97" y="401"/>
                </a:lnTo>
                <a:lnTo>
                  <a:pt x="94" y="428"/>
                </a:lnTo>
                <a:lnTo>
                  <a:pt x="102" y="431"/>
                </a:lnTo>
                <a:lnTo>
                  <a:pt x="102" y="427"/>
                </a:lnTo>
                <a:lnTo>
                  <a:pt x="104" y="428"/>
                </a:lnTo>
                <a:lnTo>
                  <a:pt x="107" y="429"/>
                </a:lnTo>
                <a:lnTo>
                  <a:pt x="109" y="431"/>
                </a:lnTo>
                <a:lnTo>
                  <a:pt x="113" y="432"/>
                </a:lnTo>
                <a:lnTo>
                  <a:pt x="116" y="435"/>
                </a:lnTo>
                <a:lnTo>
                  <a:pt x="119" y="436"/>
                </a:lnTo>
                <a:lnTo>
                  <a:pt x="124" y="438"/>
                </a:lnTo>
                <a:lnTo>
                  <a:pt x="127" y="440"/>
                </a:lnTo>
                <a:lnTo>
                  <a:pt x="131" y="440"/>
                </a:lnTo>
                <a:lnTo>
                  <a:pt x="135" y="440"/>
                </a:lnTo>
                <a:lnTo>
                  <a:pt x="139" y="440"/>
                </a:lnTo>
                <a:lnTo>
                  <a:pt x="141" y="440"/>
                </a:lnTo>
                <a:lnTo>
                  <a:pt x="144" y="439"/>
                </a:lnTo>
                <a:lnTo>
                  <a:pt x="146" y="438"/>
                </a:lnTo>
                <a:lnTo>
                  <a:pt x="145" y="430"/>
                </a:lnTo>
                <a:lnTo>
                  <a:pt x="70" y="2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3" name="Freeform 13">
            <a:extLst>
              <a:ext uri="{FF2B5EF4-FFF2-40B4-BE49-F238E27FC236}">
                <a16:creationId xmlns:a16="http://schemas.microsoft.com/office/drawing/2014/main" id="{281565B4-3707-A6BB-C971-34FDA182738A}"/>
              </a:ext>
            </a:extLst>
          </p:cNvPr>
          <p:cNvSpPr>
            <a:spLocks/>
          </p:cNvSpPr>
          <p:nvPr/>
        </p:nvSpPr>
        <p:spPr bwMode="auto">
          <a:xfrm>
            <a:off x="1606030" y="3381399"/>
            <a:ext cx="236537" cy="744538"/>
          </a:xfrm>
          <a:custGeom>
            <a:avLst/>
            <a:gdLst>
              <a:gd name="T0" fmla="*/ 2147483646 w 149"/>
              <a:gd name="T1" fmla="*/ 2147483646 h 469"/>
              <a:gd name="T2" fmla="*/ 2147483646 w 149"/>
              <a:gd name="T3" fmla="*/ 2147483646 h 469"/>
              <a:gd name="T4" fmla="*/ 2147483646 w 149"/>
              <a:gd name="T5" fmla="*/ 2147483646 h 469"/>
              <a:gd name="T6" fmla="*/ 2147483646 w 149"/>
              <a:gd name="T7" fmla="*/ 2147483646 h 469"/>
              <a:gd name="T8" fmla="*/ 2147483646 w 149"/>
              <a:gd name="T9" fmla="*/ 2147483646 h 469"/>
              <a:gd name="T10" fmla="*/ 2147483646 w 149"/>
              <a:gd name="T11" fmla="*/ 2147483646 h 469"/>
              <a:gd name="T12" fmla="*/ 2147483646 w 149"/>
              <a:gd name="T13" fmla="*/ 2147483646 h 469"/>
              <a:gd name="T14" fmla="*/ 2147483646 w 149"/>
              <a:gd name="T15" fmla="*/ 2147483646 h 469"/>
              <a:gd name="T16" fmla="*/ 2147483646 w 149"/>
              <a:gd name="T17" fmla="*/ 2147483646 h 469"/>
              <a:gd name="T18" fmla="*/ 2147483646 w 149"/>
              <a:gd name="T19" fmla="*/ 2147483646 h 469"/>
              <a:gd name="T20" fmla="*/ 2147483646 w 149"/>
              <a:gd name="T21" fmla="*/ 2147483646 h 469"/>
              <a:gd name="T22" fmla="*/ 2147483646 w 149"/>
              <a:gd name="T23" fmla="*/ 2147483646 h 469"/>
              <a:gd name="T24" fmla="*/ 2147483646 w 149"/>
              <a:gd name="T25" fmla="*/ 2147483646 h 469"/>
              <a:gd name="T26" fmla="*/ 2147483646 w 149"/>
              <a:gd name="T27" fmla="*/ 2147483646 h 469"/>
              <a:gd name="T28" fmla="*/ 2147483646 w 149"/>
              <a:gd name="T29" fmla="*/ 2147483646 h 469"/>
              <a:gd name="T30" fmla="*/ 2147483646 w 149"/>
              <a:gd name="T31" fmla="*/ 2147483646 h 469"/>
              <a:gd name="T32" fmla="*/ 2147483646 w 149"/>
              <a:gd name="T33" fmla="*/ 0 h 469"/>
              <a:gd name="T34" fmla="*/ 2147483646 w 149"/>
              <a:gd name="T35" fmla="*/ 0 h 469"/>
              <a:gd name="T36" fmla="*/ 2147483646 w 149"/>
              <a:gd name="T37" fmla="*/ 2147483646 h 469"/>
              <a:gd name="T38" fmla="*/ 2147483646 w 149"/>
              <a:gd name="T39" fmla="*/ 2147483646 h 469"/>
              <a:gd name="T40" fmla="*/ 2147483646 w 149"/>
              <a:gd name="T41" fmla="*/ 2147483646 h 469"/>
              <a:gd name="T42" fmla="*/ 2147483646 w 149"/>
              <a:gd name="T43" fmla="*/ 2147483646 h 469"/>
              <a:gd name="T44" fmla="*/ 2147483646 w 149"/>
              <a:gd name="T45" fmla="*/ 2147483646 h 469"/>
              <a:gd name="T46" fmla="*/ 2147483646 w 149"/>
              <a:gd name="T47" fmla="*/ 2147483646 h 469"/>
              <a:gd name="T48" fmla="*/ 2147483646 w 149"/>
              <a:gd name="T49" fmla="*/ 2147483646 h 469"/>
              <a:gd name="T50" fmla="*/ 2147483646 w 149"/>
              <a:gd name="T51" fmla="*/ 2147483646 h 469"/>
              <a:gd name="T52" fmla="*/ 2147483646 w 149"/>
              <a:gd name="T53" fmla="*/ 2147483646 h 469"/>
              <a:gd name="T54" fmla="*/ 2147483646 w 149"/>
              <a:gd name="T55" fmla="*/ 2147483646 h 469"/>
              <a:gd name="T56" fmla="*/ 0 w 149"/>
              <a:gd name="T57" fmla="*/ 2147483646 h 469"/>
              <a:gd name="T58" fmla="*/ 0 w 149"/>
              <a:gd name="T59" fmla="*/ 2147483646 h 469"/>
              <a:gd name="T60" fmla="*/ 2147483646 w 149"/>
              <a:gd name="T61" fmla="*/ 2147483646 h 469"/>
              <a:gd name="T62" fmla="*/ 2147483646 w 149"/>
              <a:gd name="T63" fmla="*/ 2147483646 h 469"/>
              <a:gd name="T64" fmla="*/ 2147483646 w 149"/>
              <a:gd name="T65" fmla="*/ 2147483646 h 469"/>
              <a:gd name="T66" fmla="*/ 2147483646 w 149"/>
              <a:gd name="T67" fmla="*/ 2147483646 h 469"/>
              <a:gd name="T68" fmla="*/ 2147483646 w 149"/>
              <a:gd name="T69" fmla="*/ 2147483646 h 469"/>
              <a:gd name="T70" fmla="*/ 2147483646 w 149"/>
              <a:gd name="T71" fmla="*/ 2147483646 h 469"/>
              <a:gd name="T72" fmla="*/ 2147483646 w 149"/>
              <a:gd name="T73" fmla="*/ 2147483646 h 469"/>
              <a:gd name="T74" fmla="*/ 2147483646 w 149"/>
              <a:gd name="T75" fmla="*/ 2147483646 h 469"/>
              <a:gd name="T76" fmla="*/ 2147483646 w 149"/>
              <a:gd name="T77" fmla="*/ 2147483646 h 469"/>
              <a:gd name="T78" fmla="*/ 2147483646 w 149"/>
              <a:gd name="T79" fmla="*/ 2147483646 h 469"/>
              <a:gd name="T80" fmla="*/ 2147483646 w 149"/>
              <a:gd name="T81" fmla="*/ 2147483646 h 469"/>
              <a:gd name="T82" fmla="*/ 2147483646 w 149"/>
              <a:gd name="T83" fmla="*/ 2147483646 h 469"/>
              <a:gd name="T84" fmla="*/ 2147483646 w 149"/>
              <a:gd name="T85" fmla="*/ 2147483646 h 469"/>
              <a:gd name="T86" fmla="*/ 2147483646 w 149"/>
              <a:gd name="T87" fmla="*/ 2147483646 h 469"/>
              <a:gd name="T88" fmla="*/ 2147483646 w 149"/>
              <a:gd name="T89" fmla="*/ 2147483646 h 469"/>
              <a:gd name="T90" fmla="*/ 2147483646 w 149"/>
              <a:gd name="T91" fmla="*/ 2147483646 h 469"/>
              <a:gd name="T92" fmla="*/ 2147483646 w 149"/>
              <a:gd name="T93" fmla="*/ 2147483646 h 46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49" h="469">
                <a:moveTo>
                  <a:pt x="118" y="280"/>
                </a:moveTo>
                <a:lnTo>
                  <a:pt x="118" y="393"/>
                </a:lnTo>
                <a:lnTo>
                  <a:pt x="148" y="393"/>
                </a:lnTo>
                <a:lnTo>
                  <a:pt x="148" y="280"/>
                </a:lnTo>
                <a:lnTo>
                  <a:pt x="137" y="280"/>
                </a:lnTo>
                <a:lnTo>
                  <a:pt x="137" y="271"/>
                </a:lnTo>
                <a:lnTo>
                  <a:pt x="138" y="270"/>
                </a:lnTo>
                <a:lnTo>
                  <a:pt x="139" y="269"/>
                </a:lnTo>
                <a:lnTo>
                  <a:pt x="141" y="267"/>
                </a:lnTo>
                <a:lnTo>
                  <a:pt x="142" y="265"/>
                </a:lnTo>
                <a:lnTo>
                  <a:pt x="142" y="264"/>
                </a:lnTo>
                <a:lnTo>
                  <a:pt x="143" y="262"/>
                </a:lnTo>
                <a:lnTo>
                  <a:pt x="143" y="261"/>
                </a:lnTo>
                <a:lnTo>
                  <a:pt x="141" y="248"/>
                </a:lnTo>
                <a:lnTo>
                  <a:pt x="142" y="197"/>
                </a:lnTo>
                <a:lnTo>
                  <a:pt x="142" y="193"/>
                </a:lnTo>
                <a:lnTo>
                  <a:pt x="142" y="184"/>
                </a:lnTo>
                <a:lnTo>
                  <a:pt x="141" y="170"/>
                </a:lnTo>
                <a:lnTo>
                  <a:pt x="140" y="154"/>
                </a:lnTo>
                <a:lnTo>
                  <a:pt x="138" y="137"/>
                </a:lnTo>
                <a:lnTo>
                  <a:pt x="136" y="121"/>
                </a:lnTo>
                <a:lnTo>
                  <a:pt x="132" y="108"/>
                </a:lnTo>
                <a:lnTo>
                  <a:pt x="129" y="100"/>
                </a:lnTo>
                <a:lnTo>
                  <a:pt x="124" y="95"/>
                </a:lnTo>
                <a:lnTo>
                  <a:pt x="117" y="90"/>
                </a:lnTo>
                <a:lnTo>
                  <a:pt x="111" y="84"/>
                </a:lnTo>
                <a:lnTo>
                  <a:pt x="103" y="79"/>
                </a:lnTo>
                <a:lnTo>
                  <a:pt x="96" y="74"/>
                </a:lnTo>
                <a:lnTo>
                  <a:pt x="90" y="71"/>
                </a:lnTo>
                <a:lnTo>
                  <a:pt x="86" y="68"/>
                </a:lnTo>
                <a:lnTo>
                  <a:pt x="84" y="68"/>
                </a:lnTo>
                <a:lnTo>
                  <a:pt x="86" y="56"/>
                </a:lnTo>
                <a:lnTo>
                  <a:pt x="93" y="42"/>
                </a:lnTo>
                <a:lnTo>
                  <a:pt x="94" y="42"/>
                </a:lnTo>
                <a:lnTo>
                  <a:pt x="94" y="39"/>
                </a:lnTo>
                <a:lnTo>
                  <a:pt x="95" y="36"/>
                </a:lnTo>
                <a:lnTo>
                  <a:pt x="95" y="32"/>
                </a:lnTo>
                <a:lnTo>
                  <a:pt x="95" y="27"/>
                </a:lnTo>
                <a:lnTo>
                  <a:pt x="95" y="22"/>
                </a:lnTo>
                <a:lnTo>
                  <a:pt x="93" y="18"/>
                </a:lnTo>
                <a:lnTo>
                  <a:pt x="90" y="14"/>
                </a:lnTo>
                <a:lnTo>
                  <a:pt x="88" y="10"/>
                </a:lnTo>
                <a:lnTo>
                  <a:pt x="86" y="8"/>
                </a:lnTo>
                <a:lnTo>
                  <a:pt x="84" y="5"/>
                </a:lnTo>
                <a:lnTo>
                  <a:pt x="84" y="3"/>
                </a:lnTo>
                <a:lnTo>
                  <a:pt x="82" y="1"/>
                </a:lnTo>
                <a:lnTo>
                  <a:pt x="79" y="0"/>
                </a:lnTo>
                <a:lnTo>
                  <a:pt x="74" y="0"/>
                </a:lnTo>
                <a:lnTo>
                  <a:pt x="67" y="0"/>
                </a:lnTo>
                <a:lnTo>
                  <a:pt x="59" y="0"/>
                </a:lnTo>
                <a:lnTo>
                  <a:pt x="54" y="0"/>
                </a:lnTo>
                <a:lnTo>
                  <a:pt x="52" y="0"/>
                </a:lnTo>
                <a:lnTo>
                  <a:pt x="50" y="2"/>
                </a:lnTo>
                <a:lnTo>
                  <a:pt x="49" y="3"/>
                </a:lnTo>
                <a:lnTo>
                  <a:pt x="47" y="4"/>
                </a:lnTo>
                <a:lnTo>
                  <a:pt x="46" y="7"/>
                </a:lnTo>
                <a:lnTo>
                  <a:pt x="42" y="10"/>
                </a:lnTo>
                <a:lnTo>
                  <a:pt x="40" y="13"/>
                </a:lnTo>
                <a:lnTo>
                  <a:pt x="38" y="17"/>
                </a:lnTo>
                <a:lnTo>
                  <a:pt x="38" y="22"/>
                </a:lnTo>
                <a:lnTo>
                  <a:pt x="38" y="27"/>
                </a:lnTo>
                <a:lnTo>
                  <a:pt x="39" y="31"/>
                </a:lnTo>
                <a:lnTo>
                  <a:pt x="40" y="35"/>
                </a:lnTo>
                <a:lnTo>
                  <a:pt x="41" y="38"/>
                </a:lnTo>
                <a:lnTo>
                  <a:pt x="41" y="39"/>
                </a:lnTo>
                <a:lnTo>
                  <a:pt x="42" y="59"/>
                </a:lnTo>
                <a:lnTo>
                  <a:pt x="52" y="68"/>
                </a:lnTo>
                <a:lnTo>
                  <a:pt x="50" y="69"/>
                </a:lnTo>
                <a:lnTo>
                  <a:pt x="46" y="72"/>
                </a:lnTo>
                <a:lnTo>
                  <a:pt x="39" y="76"/>
                </a:lnTo>
                <a:lnTo>
                  <a:pt x="31" y="81"/>
                </a:lnTo>
                <a:lnTo>
                  <a:pt x="24" y="85"/>
                </a:lnTo>
                <a:lnTo>
                  <a:pt x="17" y="90"/>
                </a:lnTo>
                <a:lnTo>
                  <a:pt x="12" y="94"/>
                </a:lnTo>
                <a:lnTo>
                  <a:pt x="10" y="97"/>
                </a:lnTo>
                <a:lnTo>
                  <a:pt x="10" y="102"/>
                </a:lnTo>
                <a:lnTo>
                  <a:pt x="9" y="111"/>
                </a:lnTo>
                <a:lnTo>
                  <a:pt x="8" y="124"/>
                </a:lnTo>
                <a:lnTo>
                  <a:pt x="6" y="137"/>
                </a:lnTo>
                <a:lnTo>
                  <a:pt x="4" y="152"/>
                </a:lnTo>
                <a:lnTo>
                  <a:pt x="3" y="165"/>
                </a:lnTo>
                <a:lnTo>
                  <a:pt x="1" y="176"/>
                </a:lnTo>
                <a:lnTo>
                  <a:pt x="1" y="182"/>
                </a:lnTo>
                <a:lnTo>
                  <a:pt x="1" y="187"/>
                </a:lnTo>
                <a:lnTo>
                  <a:pt x="0" y="195"/>
                </a:lnTo>
                <a:lnTo>
                  <a:pt x="0" y="206"/>
                </a:lnTo>
                <a:lnTo>
                  <a:pt x="0" y="218"/>
                </a:lnTo>
                <a:lnTo>
                  <a:pt x="0" y="231"/>
                </a:lnTo>
                <a:lnTo>
                  <a:pt x="0" y="244"/>
                </a:lnTo>
                <a:lnTo>
                  <a:pt x="0" y="254"/>
                </a:lnTo>
                <a:lnTo>
                  <a:pt x="2" y="262"/>
                </a:lnTo>
                <a:lnTo>
                  <a:pt x="3" y="266"/>
                </a:lnTo>
                <a:lnTo>
                  <a:pt x="5" y="267"/>
                </a:lnTo>
                <a:lnTo>
                  <a:pt x="8" y="269"/>
                </a:lnTo>
                <a:lnTo>
                  <a:pt x="10" y="270"/>
                </a:lnTo>
                <a:lnTo>
                  <a:pt x="13" y="270"/>
                </a:lnTo>
                <a:lnTo>
                  <a:pt x="15" y="270"/>
                </a:lnTo>
                <a:lnTo>
                  <a:pt x="17" y="269"/>
                </a:lnTo>
                <a:lnTo>
                  <a:pt x="10" y="257"/>
                </a:lnTo>
                <a:lnTo>
                  <a:pt x="23" y="171"/>
                </a:lnTo>
                <a:lnTo>
                  <a:pt x="22" y="263"/>
                </a:lnTo>
                <a:lnTo>
                  <a:pt x="42" y="436"/>
                </a:lnTo>
                <a:lnTo>
                  <a:pt x="26" y="455"/>
                </a:lnTo>
                <a:lnTo>
                  <a:pt x="23" y="468"/>
                </a:lnTo>
                <a:lnTo>
                  <a:pt x="47" y="466"/>
                </a:lnTo>
                <a:lnTo>
                  <a:pt x="68" y="451"/>
                </a:lnTo>
                <a:lnTo>
                  <a:pt x="69" y="452"/>
                </a:lnTo>
                <a:lnTo>
                  <a:pt x="72" y="454"/>
                </a:lnTo>
                <a:lnTo>
                  <a:pt x="76" y="456"/>
                </a:lnTo>
                <a:lnTo>
                  <a:pt x="81" y="459"/>
                </a:lnTo>
                <a:lnTo>
                  <a:pt x="87" y="462"/>
                </a:lnTo>
                <a:lnTo>
                  <a:pt x="92" y="464"/>
                </a:lnTo>
                <a:lnTo>
                  <a:pt x="96" y="466"/>
                </a:lnTo>
                <a:lnTo>
                  <a:pt x="100" y="468"/>
                </a:lnTo>
                <a:lnTo>
                  <a:pt x="103" y="468"/>
                </a:lnTo>
                <a:lnTo>
                  <a:pt x="105" y="468"/>
                </a:lnTo>
                <a:lnTo>
                  <a:pt x="109" y="468"/>
                </a:lnTo>
                <a:lnTo>
                  <a:pt x="112" y="467"/>
                </a:lnTo>
                <a:lnTo>
                  <a:pt x="115" y="466"/>
                </a:lnTo>
                <a:lnTo>
                  <a:pt x="117" y="465"/>
                </a:lnTo>
                <a:lnTo>
                  <a:pt x="118" y="465"/>
                </a:lnTo>
                <a:lnTo>
                  <a:pt x="119" y="464"/>
                </a:lnTo>
                <a:lnTo>
                  <a:pt x="114" y="447"/>
                </a:lnTo>
                <a:lnTo>
                  <a:pt x="95" y="437"/>
                </a:lnTo>
                <a:lnTo>
                  <a:pt x="112" y="274"/>
                </a:lnTo>
                <a:lnTo>
                  <a:pt x="120" y="256"/>
                </a:lnTo>
                <a:lnTo>
                  <a:pt x="111" y="163"/>
                </a:lnTo>
                <a:lnTo>
                  <a:pt x="130" y="258"/>
                </a:lnTo>
                <a:lnTo>
                  <a:pt x="125" y="266"/>
                </a:lnTo>
                <a:lnTo>
                  <a:pt x="125" y="267"/>
                </a:lnTo>
                <a:lnTo>
                  <a:pt x="126" y="268"/>
                </a:lnTo>
                <a:lnTo>
                  <a:pt x="127" y="269"/>
                </a:lnTo>
                <a:lnTo>
                  <a:pt x="127" y="270"/>
                </a:lnTo>
                <a:lnTo>
                  <a:pt x="129" y="270"/>
                </a:lnTo>
                <a:lnTo>
                  <a:pt x="129" y="280"/>
                </a:lnTo>
                <a:lnTo>
                  <a:pt x="118" y="280"/>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4" name="Freeform 14">
            <a:extLst>
              <a:ext uri="{FF2B5EF4-FFF2-40B4-BE49-F238E27FC236}">
                <a16:creationId xmlns:a16="http://schemas.microsoft.com/office/drawing/2014/main" id="{80F6E895-21B7-B59A-A355-9374EA27AFE1}"/>
              </a:ext>
            </a:extLst>
          </p:cNvPr>
          <p:cNvSpPr>
            <a:spLocks/>
          </p:cNvSpPr>
          <p:nvPr/>
        </p:nvSpPr>
        <p:spPr bwMode="auto">
          <a:xfrm>
            <a:off x="1212330" y="3430612"/>
            <a:ext cx="234950" cy="712787"/>
          </a:xfrm>
          <a:custGeom>
            <a:avLst/>
            <a:gdLst>
              <a:gd name="T0" fmla="*/ 2147483646 w 148"/>
              <a:gd name="T1" fmla="*/ 2147483646 h 449"/>
              <a:gd name="T2" fmla="*/ 2147483646 w 148"/>
              <a:gd name="T3" fmla="*/ 2147483646 h 449"/>
              <a:gd name="T4" fmla="*/ 2147483646 w 148"/>
              <a:gd name="T5" fmla="*/ 2147483646 h 449"/>
              <a:gd name="T6" fmla="*/ 2147483646 w 148"/>
              <a:gd name="T7" fmla="*/ 2147483646 h 449"/>
              <a:gd name="T8" fmla="*/ 2147483646 w 148"/>
              <a:gd name="T9" fmla="*/ 2147483646 h 449"/>
              <a:gd name="T10" fmla="*/ 2147483646 w 148"/>
              <a:gd name="T11" fmla="*/ 2147483646 h 449"/>
              <a:gd name="T12" fmla="*/ 2147483646 w 148"/>
              <a:gd name="T13" fmla="*/ 2147483646 h 449"/>
              <a:gd name="T14" fmla="*/ 2147483646 w 148"/>
              <a:gd name="T15" fmla="*/ 2147483646 h 449"/>
              <a:gd name="T16" fmla="*/ 2147483646 w 148"/>
              <a:gd name="T17" fmla="*/ 2147483646 h 449"/>
              <a:gd name="T18" fmla="*/ 2147483646 w 148"/>
              <a:gd name="T19" fmla="*/ 2147483646 h 449"/>
              <a:gd name="T20" fmla="*/ 2147483646 w 148"/>
              <a:gd name="T21" fmla="*/ 2147483646 h 449"/>
              <a:gd name="T22" fmla="*/ 2147483646 w 148"/>
              <a:gd name="T23" fmla="*/ 2147483646 h 449"/>
              <a:gd name="T24" fmla="*/ 2147483646 w 148"/>
              <a:gd name="T25" fmla="*/ 2147483646 h 449"/>
              <a:gd name="T26" fmla="*/ 2147483646 w 148"/>
              <a:gd name="T27" fmla="*/ 2147483646 h 449"/>
              <a:gd name="T28" fmla="*/ 2147483646 w 148"/>
              <a:gd name="T29" fmla="*/ 2147483646 h 449"/>
              <a:gd name="T30" fmla="*/ 2147483646 w 148"/>
              <a:gd name="T31" fmla="*/ 2147483646 h 449"/>
              <a:gd name="T32" fmla="*/ 2147483646 w 148"/>
              <a:gd name="T33" fmla="*/ 2147483646 h 449"/>
              <a:gd name="T34" fmla="*/ 2147483646 w 148"/>
              <a:gd name="T35" fmla="*/ 2147483646 h 449"/>
              <a:gd name="T36" fmla="*/ 2147483646 w 148"/>
              <a:gd name="T37" fmla="*/ 2147483646 h 449"/>
              <a:gd name="T38" fmla="*/ 2147483646 w 148"/>
              <a:gd name="T39" fmla="*/ 2147483646 h 449"/>
              <a:gd name="T40" fmla="*/ 2147483646 w 148"/>
              <a:gd name="T41" fmla="*/ 2147483646 h 449"/>
              <a:gd name="T42" fmla="*/ 2147483646 w 148"/>
              <a:gd name="T43" fmla="*/ 2147483646 h 449"/>
              <a:gd name="T44" fmla="*/ 2147483646 w 148"/>
              <a:gd name="T45" fmla="*/ 0 h 449"/>
              <a:gd name="T46" fmla="*/ 2147483646 w 148"/>
              <a:gd name="T47" fmla="*/ 2147483646 h 449"/>
              <a:gd name="T48" fmla="*/ 2147483646 w 148"/>
              <a:gd name="T49" fmla="*/ 2147483646 h 449"/>
              <a:gd name="T50" fmla="*/ 2147483646 w 148"/>
              <a:gd name="T51" fmla="*/ 2147483646 h 449"/>
              <a:gd name="T52" fmla="*/ 2147483646 w 148"/>
              <a:gd name="T53" fmla="*/ 2147483646 h 449"/>
              <a:gd name="T54" fmla="*/ 2147483646 w 148"/>
              <a:gd name="T55" fmla="*/ 2147483646 h 449"/>
              <a:gd name="T56" fmla="*/ 2147483646 w 148"/>
              <a:gd name="T57" fmla="*/ 2147483646 h 449"/>
              <a:gd name="T58" fmla="*/ 2147483646 w 148"/>
              <a:gd name="T59" fmla="*/ 2147483646 h 449"/>
              <a:gd name="T60" fmla="*/ 0 w 148"/>
              <a:gd name="T61" fmla="*/ 2147483646 h 449"/>
              <a:gd name="T62" fmla="*/ 2147483646 w 148"/>
              <a:gd name="T63" fmla="*/ 2147483646 h 449"/>
              <a:gd name="T64" fmla="*/ 2147483646 w 148"/>
              <a:gd name="T65" fmla="*/ 2147483646 h 449"/>
              <a:gd name="T66" fmla="*/ 2147483646 w 148"/>
              <a:gd name="T67" fmla="*/ 2147483646 h 449"/>
              <a:gd name="T68" fmla="*/ 2147483646 w 148"/>
              <a:gd name="T69" fmla="*/ 2147483646 h 449"/>
              <a:gd name="T70" fmla="*/ 2147483646 w 148"/>
              <a:gd name="T71" fmla="*/ 2147483646 h 449"/>
              <a:gd name="T72" fmla="*/ 2147483646 w 148"/>
              <a:gd name="T73" fmla="*/ 2147483646 h 449"/>
              <a:gd name="T74" fmla="*/ 2147483646 w 148"/>
              <a:gd name="T75" fmla="*/ 2147483646 h 449"/>
              <a:gd name="T76" fmla="*/ 2147483646 w 148"/>
              <a:gd name="T77" fmla="*/ 2147483646 h 449"/>
              <a:gd name="T78" fmla="*/ 2147483646 w 148"/>
              <a:gd name="T79" fmla="*/ 2147483646 h 449"/>
              <a:gd name="T80" fmla="*/ 2147483646 w 148"/>
              <a:gd name="T81" fmla="*/ 2147483646 h 449"/>
              <a:gd name="T82" fmla="*/ 2147483646 w 148"/>
              <a:gd name="T83" fmla="*/ 2147483646 h 449"/>
              <a:gd name="T84" fmla="*/ 2147483646 w 148"/>
              <a:gd name="T85" fmla="*/ 2147483646 h 449"/>
              <a:gd name="T86" fmla="*/ 2147483646 w 148"/>
              <a:gd name="T87" fmla="*/ 2147483646 h 449"/>
              <a:gd name="T88" fmla="*/ 2147483646 w 148"/>
              <a:gd name="T89" fmla="*/ 2147483646 h 449"/>
              <a:gd name="T90" fmla="*/ 2147483646 w 148"/>
              <a:gd name="T91" fmla="*/ 2147483646 h 449"/>
              <a:gd name="T92" fmla="*/ 2147483646 w 148"/>
              <a:gd name="T93" fmla="*/ 2147483646 h 449"/>
              <a:gd name="T94" fmla="*/ 2147483646 w 148"/>
              <a:gd name="T95" fmla="*/ 2147483646 h 449"/>
              <a:gd name="T96" fmla="*/ 2147483646 w 148"/>
              <a:gd name="T97" fmla="*/ 2147483646 h 449"/>
              <a:gd name="T98" fmla="*/ 2147483646 w 148"/>
              <a:gd name="T99" fmla="*/ 2147483646 h 449"/>
              <a:gd name="T100" fmla="*/ 2147483646 w 148"/>
              <a:gd name="T101" fmla="*/ 2147483646 h 449"/>
              <a:gd name="T102" fmla="*/ 2147483646 w 148"/>
              <a:gd name="T103" fmla="*/ 2147483646 h 44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48" h="449">
                <a:moveTo>
                  <a:pt x="79" y="212"/>
                </a:moveTo>
                <a:lnTo>
                  <a:pt x="80" y="211"/>
                </a:lnTo>
                <a:lnTo>
                  <a:pt x="80" y="212"/>
                </a:lnTo>
                <a:lnTo>
                  <a:pt x="79" y="212"/>
                </a:lnTo>
                <a:lnTo>
                  <a:pt x="82" y="210"/>
                </a:lnTo>
                <a:lnTo>
                  <a:pt x="83" y="210"/>
                </a:lnTo>
                <a:lnTo>
                  <a:pt x="82" y="210"/>
                </a:lnTo>
                <a:lnTo>
                  <a:pt x="79" y="212"/>
                </a:lnTo>
                <a:lnTo>
                  <a:pt x="145" y="429"/>
                </a:lnTo>
                <a:lnTo>
                  <a:pt x="144" y="428"/>
                </a:lnTo>
                <a:lnTo>
                  <a:pt x="140" y="426"/>
                </a:lnTo>
                <a:lnTo>
                  <a:pt x="135" y="422"/>
                </a:lnTo>
                <a:lnTo>
                  <a:pt x="129" y="418"/>
                </a:lnTo>
                <a:lnTo>
                  <a:pt x="122" y="413"/>
                </a:lnTo>
                <a:lnTo>
                  <a:pt x="117" y="406"/>
                </a:lnTo>
                <a:lnTo>
                  <a:pt x="113" y="401"/>
                </a:lnTo>
                <a:lnTo>
                  <a:pt x="112" y="394"/>
                </a:lnTo>
                <a:lnTo>
                  <a:pt x="112" y="386"/>
                </a:lnTo>
                <a:lnTo>
                  <a:pt x="113" y="374"/>
                </a:lnTo>
                <a:lnTo>
                  <a:pt x="114" y="360"/>
                </a:lnTo>
                <a:lnTo>
                  <a:pt x="115" y="345"/>
                </a:lnTo>
                <a:lnTo>
                  <a:pt x="117" y="332"/>
                </a:lnTo>
                <a:lnTo>
                  <a:pt x="118" y="320"/>
                </a:lnTo>
                <a:lnTo>
                  <a:pt x="118" y="312"/>
                </a:lnTo>
                <a:lnTo>
                  <a:pt x="119" y="310"/>
                </a:lnTo>
                <a:lnTo>
                  <a:pt x="120" y="309"/>
                </a:lnTo>
                <a:lnTo>
                  <a:pt x="121" y="308"/>
                </a:lnTo>
                <a:lnTo>
                  <a:pt x="123" y="307"/>
                </a:lnTo>
                <a:lnTo>
                  <a:pt x="124" y="303"/>
                </a:lnTo>
                <a:lnTo>
                  <a:pt x="126" y="299"/>
                </a:lnTo>
                <a:lnTo>
                  <a:pt x="127" y="294"/>
                </a:lnTo>
                <a:lnTo>
                  <a:pt x="128" y="287"/>
                </a:lnTo>
                <a:lnTo>
                  <a:pt x="118" y="200"/>
                </a:lnTo>
                <a:lnTo>
                  <a:pt x="118" y="199"/>
                </a:lnTo>
                <a:lnTo>
                  <a:pt x="118" y="200"/>
                </a:lnTo>
                <a:lnTo>
                  <a:pt x="118" y="202"/>
                </a:lnTo>
                <a:lnTo>
                  <a:pt x="120" y="205"/>
                </a:lnTo>
                <a:lnTo>
                  <a:pt x="121" y="209"/>
                </a:lnTo>
                <a:lnTo>
                  <a:pt x="123" y="213"/>
                </a:lnTo>
                <a:lnTo>
                  <a:pt x="124" y="215"/>
                </a:lnTo>
                <a:lnTo>
                  <a:pt x="126" y="216"/>
                </a:lnTo>
                <a:lnTo>
                  <a:pt x="128" y="214"/>
                </a:lnTo>
                <a:lnTo>
                  <a:pt x="129" y="212"/>
                </a:lnTo>
                <a:lnTo>
                  <a:pt x="130" y="209"/>
                </a:lnTo>
                <a:lnTo>
                  <a:pt x="131" y="207"/>
                </a:lnTo>
                <a:lnTo>
                  <a:pt x="132" y="204"/>
                </a:lnTo>
                <a:lnTo>
                  <a:pt x="132" y="200"/>
                </a:lnTo>
                <a:lnTo>
                  <a:pt x="132" y="196"/>
                </a:lnTo>
                <a:lnTo>
                  <a:pt x="130" y="191"/>
                </a:lnTo>
                <a:lnTo>
                  <a:pt x="128" y="186"/>
                </a:lnTo>
                <a:lnTo>
                  <a:pt x="124" y="178"/>
                </a:lnTo>
                <a:lnTo>
                  <a:pt x="124" y="171"/>
                </a:lnTo>
                <a:lnTo>
                  <a:pt x="125" y="165"/>
                </a:lnTo>
                <a:lnTo>
                  <a:pt x="127" y="157"/>
                </a:lnTo>
                <a:lnTo>
                  <a:pt x="129" y="147"/>
                </a:lnTo>
                <a:lnTo>
                  <a:pt x="128" y="132"/>
                </a:lnTo>
                <a:lnTo>
                  <a:pt x="125" y="114"/>
                </a:lnTo>
                <a:lnTo>
                  <a:pt x="118" y="87"/>
                </a:lnTo>
                <a:lnTo>
                  <a:pt x="116" y="83"/>
                </a:lnTo>
                <a:lnTo>
                  <a:pt x="113" y="79"/>
                </a:lnTo>
                <a:lnTo>
                  <a:pt x="108" y="76"/>
                </a:lnTo>
                <a:lnTo>
                  <a:pt x="104" y="72"/>
                </a:lnTo>
                <a:lnTo>
                  <a:pt x="101" y="69"/>
                </a:lnTo>
                <a:lnTo>
                  <a:pt x="97" y="68"/>
                </a:lnTo>
                <a:lnTo>
                  <a:pt x="95" y="66"/>
                </a:lnTo>
                <a:lnTo>
                  <a:pt x="94" y="66"/>
                </a:lnTo>
                <a:lnTo>
                  <a:pt x="95" y="66"/>
                </a:lnTo>
                <a:lnTo>
                  <a:pt x="96" y="66"/>
                </a:lnTo>
                <a:lnTo>
                  <a:pt x="97" y="65"/>
                </a:lnTo>
                <a:lnTo>
                  <a:pt x="99" y="65"/>
                </a:lnTo>
                <a:lnTo>
                  <a:pt x="101" y="64"/>
                </a:lnTo>
                <a:lnTo>
                  <a:pt x="101" y="63"/>
                </a:lnTo>
                <a:lnTo>
                  <a:pt x="103" y="60"/>
                </a:lnTo>
                <a:lnTo>
                  <a:pt x="104" y="58"/>
                </a:lnTo>
                <a:lnTo>
                  <a:pt x="104" y="55"/>
                </a:lnTo>
                <a:lnTo>
                  <a:pt x="104" y="53"/>
                </a:lnTo>
                <a:lnTo>
                  <a:pt x="103" y="51"/>
                </a:lnTo>
                <a:lnTo>
                  <a:pt x="102" y="51"/>
                </a:lnTo>
                <a:lnTo>
                  <a:pt x="101" y="49"/>
                </a:lnTo>
                <a:lnTo>
                  <a:pt x="99" y="48"/>
                </a:lnTo>
                <a:lnTo>
                  <a:pt x="97" y="46"/>
                </a:lnTo>
                <a:lnTo>
                  <a:pt x="96" y="43"/>
                </a:lnTo>
                <a:lnTo>
                  <a:pt x="94" y="40"/>
                </a:lnTo>
                <a:lnTo>
                  <a:pt x="94" y="36"/>
                </a:lnTo>
                <a:lnTo>
                  <a:pt x="94" y="31"/>
                </a:lnTo>
                <a:lnTo>
                  <a:pt x="95" y="27"/>
                </a:lnTo>
                <a:lnTo>
                  <a:pt x="96" y="23"/>
                </a:lnTo>
                <a:lnTo>
                  <a:pt x="96" y="20"/>
                </a:lnTo>
                <a:lnTo>
                  <a:pt x="97" y="18"/>
                </a:lnTo>
                <a:lnTo>
                  <a:pt x="98" y="17"/>
                </a:lnTo>
                <a:lnTo>
                  <a:pt x="97" y="17"/>
                </a:lnTo>
                <a:lnTo>
                  <a:pt x="96" y="15"/>
                </a:lnTo>
                <a:lnTo>
                  <a:pt x="95" y="13"/>
                </a:lnTo>
                <a:lnTo>
                  <a:pt x="93" y="11"/>
                </a:lnTo>
                <a:lnTo>
                  <a:pt x="91" y="8"/>
                </a:lnTo>
                <a:lnTo>
                  <a:pt x="90" y="6"/>
                </a:lnTo>
                <a:lnTo>
                  <a:pt x="88" y="4"/>
                </a:lnTo>
                <a:lnTo>
                  <a:pt x="88" y="2"/>
                </a:lnTo>
                <a:lnTo>
                  <a:pt x="87" y="0"/>
                </a:lnTo>
                <a:lnTo>
                  <a:pt x="84" y="0"/>
                </a:lnTo>
                <a:lnTo>
                  <a:pt x="79" y="0"/>
                </a:lnTo>
                <a:lnTo>
                  <a:pt x="74" y="0"/>
                </a:lnTo>
                <a:lnTo>
                  <a:pt x="69" y="0"/>
                </a:lnTo>
                <a:lnTo>
                  <a:pt x="63" y="1"/>
                </a:lnTo>
                <a:lnTo>
                  <a:pt x="59" y="2"/>
                </a:lnTo>
                <a:lnTo>
                  <a:pt x="56" y="3"/>
                </a:lnTo>
                <a:lnTo>
                  <a:pt x="52" y="4"/>
                </a:lnTo>
                <a:lnTo>
                  <a:pt x="50" y="8"/>
                </a:lnTo>
                <a:lnTo>
                  <a:pt x="46" y="12"/>
                </a:lnTo>
                <a:lnTo>
                  <a:pt x="44" y="17"/>
                </a:lnTo>
                <a:lnTo>
                  <a:pt x="41" y="22"/>
                </a:lnTo>
                <a:lnTo>
                  <a:pt x="39" y="28"/>
                </a:lnTo>
                <a:lnTo>
                  <a:pt x="37" y="34"/>
                </a:lnTo>
                <a:lnTo>
                  <a:pt x="35" y="38"/>
                </a:lnTo>
                <a:lnTo>
                  <a:pt x="33" y="43"/>
                </a:lnTo>
                <a:lnTo>
                  <a:pt x="32" y="47"/>
                </a:lnTo>
                <a:lnTo>
                  <a:pt x="30" y="51"/>
                </a:lnTo>
                <a:lnTo>
                  <a:pt x="28" y="54"/>
                </a:lnTo>
                <a:lnTo>
                  <a:pt x="26" y="55"/>
                </a:lnTo>
                <a:lnTo>
                  <a:pt x="24" y="57"/>
                </a:lnTo>
                <a:lnTo>
                  <a:pt x="23" y="59"/>
                </a:lnTo>
                <a:lnTo>
                  <a:pt x="28" y="64"/>
                </a:lnTo>
                <a:lnTo>
                  <a:pt x="29" y="64"/>
                </a:lnTo>
                <a:lnTo>
                  <a:pt x="31" y="66"/>
                </a:lnTo>
                <a:lnTo>
                  <a:pt x="32" y="68"/>
                </a:lnTo>
                <a:lnTo>
                  <a:pt x="33" y="69"/>
                </a:lnTo>
                <a:lnTo>
                  <a:pt x="33" y="71"/>
                </a:lnTo>
                <a:lnTo>
                  <a:pt x="31" y="73"/>
                </a:lnTo>
                <a:lnTo>
                  <a:pt x="28" y="76"/>
                </a:lnTo>
                <a:lnTo>
                  <a:pt x="23" y="80"/>
                </a:lnTo>
                <a:lnTo>
                  <a:pt x="19" y="88"/>
                </a:lnTo>
                <a:lnTo>
                  <a:pt x="14" y="98"/>
                </a:lnTo>
                <a:lnTo>
                  <a:pt x="10" y="110"/>
                </a:lnTo>
                <a:lnTo>
                  <a:pt x="5" y="121"/>
                </a:lnTo>
                <a:lnTo>
                  <a:pt x="2" y="132"/>
                </a:lnTo>
                <a:lnTo>
                  <a:pt x="0" y="139"/>
                </a:lnTo>
                <a:lnTo>
                  <a:pt x="0" y="143"/>
                </a:lnTo>
                <a:lnTo>
                  <a:pt x="0" y="146"/>
                </a:lnTo>
                <a:lnTo>
                  <a:pt x="0" y="152"/>
                </a:lnTo>
                <a:lnTo>
                  <a:pt x="1" y="160"/>
                </a:lnTo>
                <a:lnTo>
                  <a:pt x="4" y="169"/>
                </a:lnTo>
                <a:lnTo>
                  <a:pt x="6" y="178"/>
                </a:lnTo>
                <a:lnTo>
                  <a:pt x="10" y="185"/>
                </a:lnTo>
                <a:lnTo>
                  <a:pt x="13" y="191"/>
                </a:lnTo>
                <a:lnTo>
                  <a:pt x="18" y="193"/>
                </a:lnTo>
                <a:lnTo>
                  <a:pt x="16" y="204"/>
                </a:lnTo>
                <a:lnTo>
                  <a:pt x="16" y="219"/>
                </a:lnTo>
                <a:lnTo>
                  <a:pt x="15" y="237"/>
                </a:lnTo>
                <a:lnTo>
                  <a:pt x="14" y="256"/>
                </a:lnTo>
                <a:lnTo>
                  <a:pt x="13" y="273"/>
                </a:lnTo>
                <a:lnTo>
                  <a:pt x="12" y="288"/>
                </a:lnTo>
                <a:lnTo>
                  <a:pt x="11" y="298"/>
                </a:lnTo>
                <a:lnTo>
                  <a:pt x="11" y="302"/>
                </a:lnTo>
                <a:lnTo>
                  <a:pt x="12" y="303"/>
                </a:lnTo>
                <a:lnTo>
                  <a:pt x="15" y="305"/>
                </a:lnTo>
                <a:lnTo>
                  <a:pt x="18" y="307"/>
                </a:lnTo>
                <a:lnTo>
                  <a:pt x="22" y="309"/>
                </a:lnTo>
                <a:lnTo>
                  <a:pt x="25" y="311"/>
                </a:lnTo>
                <a:lnTo>
                  <a:pt x="28" y="311"/>
                </a:lnTo>
                <a:lnTo>
                  <a:pt x="31" y="311"/>
                </a:lnTo>
                <a:lnTo>
                  <a:pt x="32" y="310"/>
                </a:lnTo>
                <a:lnTo>
                  <a:pt x="32" y="311"/>
                </a:lnTo>
                <a:lnTo>
                  <a:pt x="33" y="315"/>
                </a:lnTo>
                <a:lnTo>
                  <a:pt x="34" y="320"/>
                </a:lnTo>
                <a:lnTo>
                  <a:pt x="36" y="324"/>
                </a:lnTo>
                <a:lnTo>
                  <a:pt x="38" y="329"/>
                </a:lnTo>
                <a:lnTo>
                  <a:pt x="39" y="333"/>
                </a:lnTo>
                <a:lnTo>
                  <a:pt x="40" y="336"/>
                </a:lnTo>
                <a:lnTo>
                  <a:pt x="40" y="337"/>
                </a:lnTo>
                <a:lnTo>
                  <a:pt x="40" y="338"/>
                </a:lnTo>
                <a:lnTo>
                  <a:pt x="39" y="340"/>
                </a:lnTo>
                <a:lnTo>
                  <a:pt x="39" y="341"/>
                </a:lnTo>
                <a:lnTo>
                  <a:pt x="39" y="344"/>
                </a:lnTo>
                <a:lnTo>
                  <a:pt x="38" y="347"/>
                </a:lnTo>
                <a:lnTo>
                  <a:pt x="37" y="350"/>
                </a:lnTo>
                <a:lnTo>
                  <a:pt x="37" y="355"/>
                </a:lnTo>
                <a:lnTo>
                  <a:pt x="37" y="360"/>
                </a:lnTo>
                <a:lnTo>
                  <a:pt x="38" y="367"/>
                </a:lnTo>
                <a:lnTo>
                  <a:pt x="39" y="375"/>
                </a:lnTo>
                <a:lnTo>
                  <a:pt x="41" y="383"/>
                </a:lnTo>
                <a:lnTo>
                  <a:pt x="43" y="390"/>
                </a:lnTo>
                <a:lnTo>
                  <a:pt x="45" y="396"/>
                </a:lnTo>
                <a:lnTo>
                  <a:pt x="46" y="400"/>
                </a:lnTo>
                <a:lnTo>
                  <a:pt x="46" y="401"/>
                </a:lnTo>
                <a:lnTo>
                  <a:pt x="39" y="417"/>
                </a:lnTo>
                <a:lnTo>
                  <a:pt x="42" y="440"/>
                </a:lnTo>
                <a:lnTo>
                  <a:pt x="42" y="441"/>
                </a:lnTo>
                <a:lnTo>
                  <a:pt x="43" y="442"/>
                </a:lnTo>
                <a:lnTo>
                  <a:pt x="45" y="443"/>
                </a:lnTo>
                <a:lnTo>
                  <a:pt x="47" y="445"/>
                </a:lnTo>
                <a:lnTo>
                  <a:pt x="50" y="447"/>
                </a:lnTo>
                <a:lnTo>
                  <a:pt x="52" y="448"/>
                </a:lnTo>
                <a:lnTo>
                  <a:pt x="56" y="448"/>
                </a:lnTo>
                <a:lnTo>
                  <a:pt x="58" y="447"/>
                </a:lnTo>
                <a:lnTo>
                  <a:pt x="60" y="444"/>
                </a:lnTo>
                <a:lnTo>
                  <a:pt x="62" y="442"/>
                </a:lnTo>
                <a:lnTo>
                  <a:pt x="63" y="439"/>
                </a:lnTo>
                <a:lnTo>
                  <a:pt x="64" y="435"/>
                </a:lnTo>
                <a:lnTo>
                  <a:pt x="65" y="433"/>
                </a:lnTo>
                <a:lnTo>
                  <a:pt x="65" y="430"/>
                </a:lnTo>
                <a:lnTo>
                  <a:pt x="65" y="429"/>
                </a:lnTo>
                <a:lnTo>
                  <a:pt x="59" y="398"/>
                </a:lnTo>
                <a:lnTo>
                  <a:pt x="69" y="336"/>
                </a:lnTo>
                <a:lnTo>
                  <a:pt x="72" y="324"/>
                </a:lnTo>
                <a:lnTo>
                  <a:pt x="84" y="324"/>
                </a:lnTo>
                <a:lnTo>
                  <a:pt x="84" y="327"/>
                </a:lnTo>
                <a:lnTo>
                  <a:pt x="84" y="329"/>
                </a:lnTo>
                <a:lnTo>
                  <a:pt x="84" y="333"/>
                </a:lnTo>
                <a:lnTo>
                  <a:pt x="84" y="338"/>
                </a:lnTo>
                <a:lnTo>
                  <a:pt x="85" y="344"/>
                </a:lnTo>
                <a:lnTo>
                  <a:pt x="85" y="349"/>
                </a:lnTo>
                <a:lnTo>
                  <a:pt x="86" y="355"/>
                </a:lnTo>
                <a:lnTo>
                  <a:pt x="88" y="362"/>
                </a:lnTo>
                <a:lnTo>
                  <a:pt x="90" y="370"/>
                </a:lnTo>
                <a:lnTo>
                  <a:pt x="91" y="377"/>
                </a:lnTo>
                <a:lnTo>
                  <a:pt x="93" y="384"/>
                </a:lnTo>
                <a:lnTo>
                  <a:pt x="94" y="391"/>
                </a:lnTo>
                <a:lnTo>
                  <a:pt x="96" y="396"/>
                </a:lnTo>
                <a:lnTo>
                  <a:pt x="96" y="399"/>
                </a:lnTo>
                <a:lnTo>
                  <a:pt x="96" y="400"/>
                </a:lnTo>
                <a:lnTo>
                  <a:pt x="94" y="427"/>
                </a:lnTo>
                <a:lnTo>
                  <a:pt x="102" y="430"/>
                </a:lnTo>
                <a:lnTo>
                  <a:pt x="102" y="426"/>
                </a:lnTo>
                <a:lnTo>
                  <a:pt x="103" y="426"/>
                </a:lnTo>
                <a:lnTo>
                  <a:pt x="105" y="427"/>
                </a:lnTo>
                <a:lnTo>
                  <a:pt x="107" y="428"/>
                </a:lnTo>
                <a:lnTo>
                  <a:pt x="110" y="430"/>
                </a:lnTo>
                <a:lnTo>
                  <a:pt x="113" y="431"/>
                </a:lnTo>
                <a:lnTo>
                  <a:pt x="117" y="433"/>
                </a:lnTo>
                <a:lnTo>
                  <a:pt x="120" y="435"/>
                </a:lnTo>
                <a:lnTo>
                  <a:pt x="124" y="437"/>
                </a:lnTo>
                <a:lnTo>
                  <a:pt x="128" y="439"/>
                </a:lnTo>
                <a:lnTo>
                  <a:pt x="132" y="439"/>
                </a:lnTo>
                <a:lnTo>
                  <a:pt x="135" y="439"/>
                </a:lnTo>
                <a:lnTo>
                  <a:pt x="139" y="439"/>
                </a:lnTo>
                <a:lnTo>
                  <a:pt x="142" y="438"/>
                </a:lnTo>
                <a:lnTo>
                  <a:pt x="144" y="438"/>
                </a:lnTo>
                <a:lnTo>
                  <a:pt x="146" y="437"/>
                </a:lnTo>
                <a:lnTo>
                  <a:pt x="147" y="437"/>
                </a:lnTo>
                <a:lnTo>
                  <a:pt x="145" y="429"/>
                </a:lnTo>
                <a:lnTo>
                  <a:pt x="79" y="2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5" name="Freeform 15">
            <a:extLst>
              <a:ext uri="{FF2B5EF4-FFF2-40B4-BE49-F238E27FC236}">
                <a16:creationId xmlns:a16="http://schemas.microsoft.com/office/drawing/2014/main" id="{C6D7C3A1-7EF8-1070-CDFA-A7D47C89EF6F}"/>
              </a:ext>
            </a:extLst>
          </p:cNvPr>
          <p:cNvSpPr>
            <a:spLocks/>
          </p:cNvSpPr>
          <p:nvPr/>
        </p:nvSpPr>
        <p:spPr bwMode="auto">
          <a:xfrm>
            <a:off x="1409180" y="3416324"/>
            <a:ext cx="242887" cy="762000"/>
          </a:xfrm>
          <a:custGeom>
            <a:avLst/>
            <a:gdLst>
              <a:gd name="T0" fmla="*/ 2147483646 w 153"/>
              <a:gd name="T1" fmla="*/ 2147483646 h 480"/>
              <a:gd name="T2" fmla="*/ 2147483646 w 153"/>
              <a:gd name="T3" fmla="*/ 2147483646 h 480"/>
              <a:gd name="T4" fmla="*/ 2147483646 w 153"/>
              <a:gd name="T5" fmla="*/ 2147483646 h 480"/>
              <a:gd name="T6" fmla="*/ 2147483646 w 153"/>
              <a:gd name="T7" fmla="*/ 2147483646 h 480"/>
              <a:gd name="T8" fmla="*/ 2147483646 w 153"/>
              <a:gd name="T9" fmla="*/ 2147483646 h 480"/>
              <a:gd name="T10" fmla="*/ 2147483646 w 153"/>
              <a:gd name="T11" fmla="*/ 2147483646 h 480"/>
              <a:gd name="T12" fmla="*/ 2147483646 w 153"/>
              <a:gd name="T13" fmla="*/ 2147483646 h 480"/>
              <a:gd name="T14" fmla="*/ 2147483646 w 153"/>
              <a:gd name="T15" fmla="*/ 2147483646 h 480"/>
              <a:gd name="T16" fmla="*/ 2147483646 w 153"/>
              <a:gd name="T17" fmla="*/ 2147483646 h 480"/>
              <a:gd name="T18" fmla="*/ 2147483646 w 153"/>
              <a:gd name="T19" fmla="*/ 2147483646 h 480"/>
              <a:gd name="T20" fmla="*/ 2147483646 w 153"/>
              <a:gd name="T21" fmla="*/ 2147483646 h 480"/>
              <a:gd name="T22" fmla="*/ 2147483646 w 153"/>
              <a:gd name="T23" fmla="*/ 2147483646 h 480"/>
              <a:gd name="T24" fmla="*/ 2147483646 w 153"/>
              <a:gd name="T25" fmla="*/ 2147483646 h 480"/>
              <a:gd name="T26" fmla="*/ 2147483646 w 153"/>
              <a:gd name="T27" fmla="*/ 2147483646 h 480"/>
              <a:gd name="T28" fmla="*/ 2147483646 w 153"/>
              <a:gd name="T29" fmla="*/ 2147483646 h 480"/>
              <a:gd name="T30" fmla="*/ 2147483646 w 153"/>
              <a:gd name="T31" fmla="*/ 2147483646 h 480"/>
              <a:gd name="T32" fmla="*/ 2147483646 w 153"/>
              <a:gd name="T33" fmla="*/ 2147483646 h 480"/>
              <a:gd name="T34" fmla="*/ 2147483646 w 153"/>
              <a:gd name="T35" fmla="*/ 2147483646 h 480"/>
              <a:gd name="T36" fmla="*/ 2147483646 w 153"/>
              <a:gd name="T37" fmla="*/ 2147483646 h 480"/>
              <a:gd name="T38" fmla="*/ 2147483646 w 153"/>
              <a:gd name="T39" fmla="*/ 0 h 480"/>
              <a:gd name="T40" fmla="*/ 2147483646 w 153"/>
              <a:gd name="T41" fmla="*/ 0 h 480"/>
              <a:gd name="T42" fmla="*/ 2147483646 w 153"/>
              <a:gd name="T43" fmla="*/ 2147483646 h 480"/>
              <a:gd name="T44" fmla="*/ 2147483646 w 153"/>
              <a:gd name="T45" fmla="*/ 2147483646 h 480"/>
              <a:gd name="T46" fmla="*/ 2147483646 w 153"/>
              <a:gd name="T47" fmla="*/ 2147483646 h 480"/>
              <a:gd name="T48" fmla="*/ 2147483646 w 153"/>
              <a:gd name="T49" fmla="*/ 2147483646 h 480"/>
              <a:gd name="T50" fmla="*/ 2147483646 w 153"/>
              <a:gd name="T51" fmla="*/ 2147483646 h 480"/>
              <a:gd name="T52" fmla="*/ 2147483646 w 153"/>
              <a:gd name="T53" fmla="*/ 2147483646 h 480"/>
              <a:gd name="T54" fmla="*/ 2147483646 w 153"/>
              <a:gd name="T55" fmla="*/ 2147483646 h 480"/>
              <a:gd name="T56" fmla="*/ 2147483646 w 153"/>
              <a:gd name="T57" fmla="*/ 2147483646 h 480"/>
              <a:gd name="T58" fmla="*/ 2147483646 w 153"/>
              <a:gd name="T59" fmla="*/ 2147483646 h 480"/>
              <a:gd name="T60" fmla="*/ 2147483646 w 153"/>
              <a:gd name="T61" fmla="*/ 2147483646 h 480"/>
              <a:gd name="T62" fmla="*/ 2147483646 w 153"/>
              <a:gd name="T63" fmla="*/ 2147483646 h 480"/>
              <a:gd name="T64" fmla="*/ 2147483646 w 153"/>
              <a:gd name="T65" fmla="*/ 2147483646 h 480"/>
              <a:gd name="T66" fmla="*/ 2147483646 w 153"/>
              <a:gd name="T67" fmla="*/ 2147483646 h 480"/>
              <a:gd name="T68" fmla="*/ 2147483646 w 153"/>
              <a:gd name="T69" fmla="*/ 2147483646 h 480"/>
              <a:gd name="T70" fmla="*/ 2147483646 w 153"/>
              <a:gd name="T71" fmla="*/ 2147483646 h 480"/>
              <a:gd name="T72" fmla="*/ 2147483646 w 153"/>
              <a:gd name="T73" fmla="*/ 2147483646 h 480"/>
              <a:gd name="T74" fmla="*/ 0 w 153"/>
              <a:gd name="T75" fmla="*/ 2147483646 h 480"/>
              <a:gd name="T76" fmla="*/ 0 w 153"/>
              <a:gd name="T77" fmla="*/ 2147483646 h 480"/>
              <a:gd name="T78" fmla="*/ 0 w 153"/>
              <a:gd name="T79" fmla="*/ 2147483646 h 480"/>
              <a:gd name="T80" fmla="*/ 2147483646 w 153"/>
              <a:gd name="T81" fmla="*/ 2147483646 h 480"/>
              <a:gd name="T82" fmla="*/ 2147483646 w 153"/>
              <a:gd name="T83" fmla="*/ 2147483646 h 480"/>
              <a:gd name="T84" fmla="*/ 2147483646 w 153"/>
              <a:gd name="T85" fmla="*/ 2147483646 h 480"/>
              <a:gd name="T86" fmla="*/ 2147483646 w 153"/>
              <a:gd name="T87" fmla="*/ 2147483646 h 480"/>
              <a:gd name="T88" fmla="*/ 2147483646 w 153"/>
              <a:gd name="T89" fmla="*/ 2147483646 h 480"/>
              <a:gd name="T90" fmla="*/ 2147483646 w 153"/>
              <a:gd name="T91" fmla="*/ 2147483646 h 480"/>
              <a:gd name="T92" fmla="*/ 2147483646 w 153"/>
              <a:gd name="T93" fmla="*/ 2147483646 h 480"/>
              <a:gd name="T94" fmla="*/ 2147483646 w 153"/>
              <a:gd name="T95" fmla="*/ 2147483646 h 480"/>
              <a:gd name="T96" fmla="*/ 2147483646 w 153"/>
              <a:gd name="T97" fmla="*/ 2147483646 h 480"/>
              <a:gd name="T98" fmla="*/ 2147483646 w 153"/>
              <a:gd name="T99" fmla="*/ 2147483646 h 480"/>
              <a:gd name="T100" fmla="*/ 2147483646 w 153"/>
              <a:gd name="T101" fmla="*/ 2147483646 h 480"/>
              <a:gd name="T102" fmla="*/ 2147483646 w 153"/>
              <a:gd name="T103" fmla="*/ 2147483646 h 480"/>
              <a:gd name="T104" fmla="*/ 2147483646 w 153"/>
              <a:gd name="T105" fmla="*/ 2147483646 h 480"/>
              <a:gd name="T106" fmla="*/ 2147483646 w 153"/>
              <a:gd name="T107" fmla="*/ 2147483646 h 480"/>
              <a:gd name="T108" fmla="*/ 2147483646 w 153"/>
              <a:gd name="T109" fmla="*/ 2147483646 h 480"/>
              <a:gd name="T110" fmla="*/ 2147483646 w 153"/>
              <a:gd name="T111" fmla="*/ 2147483646 h 480"/>
              <a:gd name="T112" fmla="*/ 2147483646 w 153"/>
              <a:gd name="T113" fmla="*/ 2147483646 h 480"/>
              <a:gd name="T114" fmla="*/ 2147483646 w 153"/>
              <a:gd name="T115" fmla="*/ 2147483646 h 480"/>
              <a:gd name="T116" fmla="*/ 2147483646 w 153"/>
              <a:gd name="T117" fmla="*/ 2147483646 h 480"/>
              <a:gd name="T118" fmla="*/ 2147483646 w 153"/>
              <a:gd name="T119" fmla="*/ 2147483646 h 48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3" h="480">
                <a:moveTo>
                  <a:pt x="120" y="248"/>
                </a:moveTo>
                <a:lnTo>
                  <a:pt x="123" y="270"/>
                </a:lnTo>
                <a:lnTo>
                  <a:pt x="142" y="243"/>
                </a:lnTo>
                <a:lnTo>
                  <a:pt x="137" y="198"/>
                </a:lnTo>
                <a:lnTo>
                  <a:pt x="152" y="164"/>
                </a:lnTo>
                <a:lnTo>
                  <a:pt x="151" y="163"/>
                </a:lnTo>
                <a:lnTo>
                  <a:pt x="149" y="157"/>
                </a:lnTo>
                <a:lnTo>
                  <a:pt x="147" y="148"/>
                </a:lnTo>
                <a:lnTo>
                  <a:pt x="145" y="138"/>
                </a:lnTo>
                <a:lnTo>
                  <a:pt x="141" y="128"/>
                </a:lnTo>
                <a:lnTo>
                  <a:pt x="138" y="117"/>
                </a:lnTo>
                <a:lnTo>
                  <a:pt x="134" y="108"/>
                </a:lnTo>
                <a:lnTo>
                  <a:pt x="130" y="102"/>
                </a:lnTo>
                <a:lnTo>
                  <a:pt x="124" y="96"/>
                </a:lnTo>
                <a:lnTo>
                  <a:pt x="118" y="90"/>
                </a:lnTo>
                <a:lnTo>
                  <a:pt x="111" y="85"/>
                </a:lnTo>
                <a:lnTo>
                  <a:pt x="103" y="80"/>
                </a:lnTo>
                <a:lnTo>
                  <a:pt x="97" y="76"/>
                </a:lnTo>
                <a:lnTo>
                  <a:pt x="91" y="73"/>
                </a:lnTo>
                <a:lnTo>
                  <a:pt x="86" y="70"/>
                </a:lnTo>
                <a:lnTo>
                  <a:pt x="86" y="69"/>
                </a:lnTo>
                <a:lnTo>
                  <a:pt x="91" y="64"/>
                </a:lnTo>
                <a:lnTo>
                  <a:pt x="92" y="46"/>
                </a:lnTo>
                <a:lnTo>
                  <a:pt x="92" y="44"/>
                </a:lnTo>
                <a:lnTo>
                  <a:pt x="92" y="42"/>
                </a:lnTo>
                <a:lnTo>
                  <a:pt x="93" y="38"/>
                </a:lnTo>
                <a:lnTo>
                  <a:pt x="94" y="34"/>
                </a:lnTo>
                <a:lnTo>
                  <a:pt x="95" y="29"/>
                </a:lnTo>
                <a:lnTo>
                  <a:pt x="94" y="24"/>
                </a:lnTo>
                <a:lnTo>
                  <a:pt x="93" y="19"/>
                </a:lnTo>
                <a:lnTo>
                  <a:pt x="91" y="15"/>
                </a:lnTo>
                <a:lnTo>
                  <a:pt x="88" y="12"/>
                </a:lnTo>
                <a:lnTo>
                  <a:pt x="87" y="9"/>
                </a:lnTo>
                <a:lnTo>
                  <a:pt x="86" y="8"/>
                </a:lnTo>
                <a:lnTo>
                  <a:pt x="86" y="7"/>
                </a:lnTo>
                <a:lnTo>
                  <a:pt x="85" y="6"/>
                </a:lnTo>
                <a:lnTo>
                  <a:pt x="81" y="4"/>
                </a:lnTo>
                <a:lnTo>
                  <a:pt x="77" y="3"/>
                </a:lnTo>
                <a:lnTo>
                  <a:pt x="70" y="0"/>
                </a:lnTo>
                <a:lnTo>
                  <a:pt x="64" y="0"/>
                </a:lnTo>
                <a:lnTo>
                  <a:pt x="59" y="0"/>
                </a:lnTo>
                <a:lnTo>
                  <a:pt x="55" y="0"/>
                </a:lnTo>
                <a:lnTo>
                  <a:pt x="53" y="3"/>
                </a:lnTo>
                <a:lnTo>
                  <a:pt x="49" y="5"/>
                </a:lnTo>
                <a:lnTo>
                  <a:pt x="47" y="8"/>
                </a:lnTo>
                <a:lnTo>
                  <a:pt x="43" y="11"/>
                </a:lnTo>
                <a:lnTo>
                  <a:pt x="40" y="15"/>
                </a:lnTo>
                <a:lnTo>
                  <a:pt x="38" y="21"/>
                </a:lnTo>
                <a:lnTo>
                  <a:pt x="38" y="27"/>
                </a:lnTo>
                <a:lnTo>
                  <a:pt x="39" y="35"/>
                </a:lnTo>
                <a:lnTo>
                  <a:pt x="40" y="42"/>
                </a:lnTo>
                <a:lnTo>
                  <a:pt x="41" y="48"/>
                </a:lnTo>
                <a:lnTo>
                  <a:pt x="42" y="52"/>
                </a:lnTo>
                <a:lnTo>
                  <a:pt x="42" y="54"/>
                </a:lnTo>
                <a:lnTo>
                  <a:pt x="51" y="61"/>
                </a:lnTo>
                <a:lnTo>
                  <a:pt x="52" y="69"/>
                </a:lnTo>
                <a:lnTo>
                  <a:pt x="50" y="70"/>
                </a:lnTo>
                <a:lnTo>
                  <a:pt x="46" y="73"/>
                </a:lnTo>
                <a:lnTo>
                  <a:pt x="39" y="77"/>
                </a:lnTo>
                <a:lnTo>
                  <a:pt x="32" y="81"/>
                </a:lnTo>
                <a:lnTo>
                  <a:pt x="24" y="87"/>
                </a:lnTo>
                <a:lnTo>
                  <a:pt x="17" y="91"/>
                </a:lnTo>
                <a:lnTo>
                  <a:pt x="13" y="95"/>
                </a:lnTo>
                <a:lnTo>
                  <a:pt x="11" y="99"/>
                </a:lnTo>
                <a:lnTo>
                  <a:pt x="10" y="103"/>
                </a:lnTo>
                <a:lnTo>
                  <a:pt x="10" y="112"/>
                </a:lnTo>
                <a:lnTo>
                  <a:pt x="8" y="125"/>
                </a:lnTo>
                <a:lnTo>
                  <a:pt x="6" y="138"/>
                </a:lnTo>
                <a:lnTo>
                  <a:pt x="5" y="153"/>
                </a:lnTo>
                <a:lnTo>
                  <a:pt x="3" y="166"/>
                </a:lnTo>
                <a:lnTo>
                  <a:pt x="2" y="176"/>
                </a:lnTo>
                <a:lnTo>
                  <a:pt x="1" y="183"/>
                </a:lnTo>
                <a:lnTo>
                  <a:pt x="1" y="188"/>
                </a:lnTo>
                <a:lnTo>
                  <a:pt x="0" y="196"/>
                </a:lnTo>
                <a:lnTo>
                  <a:pt x="0" y="207"/>
                </a:lnTo>
                <a:lnTo>
                  <a:pt x="0" y="220"/>
                </a:lnTo>
                <a:lnTo>
                  <a:pt x="0" y="233"/>
                </a:lnTo>
                <a:lnTo>
                  <a:pt x="0" y="245"/>
                </a:lnTo>
                <a:lnTo>
                  <a:pt x="0" y="256"/>
                </a:lnTo>
                <a:lnTo>
                  <a:pt x="2" y="264"/>
                </a:lnTo>
                <a:lnTo>
                  <a:pt x="4" y="267"/>
                </a:lnTo>
                <a:lnTo>
                  <a:pt x="5" y="269"/>
                </a:lnTo>
                <a:lnTo>
                  <a:pt x="8" y="270"/>
                </a:lnTo>
                <a:lnTo>
                  <a:pt x="10" y="271"/>
                </a:lnTo>
                <a:lnTo>
                  <a:pt x="14" y="271"/>
                </a:lnTo>
                <a:lnTo>
                  <a:pt x="16" y="271"/>
                </a:lnTo>
                <a:lnTo>
                  <a:pt x="17" y="271"/>
                </a:lnTo>
                <a:lnTo>
                  <a:pt x="18" y="271"/>
                </a:lnTo>
                <a:lnTo>
                  <a:pt x="16" y="263"/>
                </a:lnTo>
                <a:lnTo>
                  <a:pt x="10" y="258"/>
                </a:lnTo>
                <a:lnTo>
                  <a:pt x="22" y="265"/>
                </a:lnTo>
                <a:lnTo>
                  <a:pt x="19" y="329"/>
                </a:lnTo>
                <a:lnTo>
                  <a:pt x="21" y="349"/>
                </a:lnTo>
                <a:lnTo>
                  <a:pt x="39" y="423"/>
                </a:lnTo>
                <a:lnTo>
                  <a:pt x="17" y="441"/>
                </a:lnTo>
                <a:lnTo>
                  <a:pt x="14" y="453"/>
                </a:lnTo>
                <a:lnTo>
                  <a:pt x="39" y="453"/>
                </a:lnTo>
                <a:lnTo>
                  <a:pt x="69" y="453"/>
                </a:lnTo>
                <a:lnTo>
                  <a:pt x="70" y="454"/>
                </a:lnTo>
                <a:lnTo>
                  <a:pt x="71" y="457"/>
                </a:lnTo>
                <a:lnTo>
                  <a:pt x="74" y="461"/>
                </a:lnTo>
                <a:lnTo>
                  <a:pt x="76" y="465"/>
                </a:lnTo>
                <a:lnTo>
                  <a:pt x="81" y="469"/>
                </a:lnTo>
                <a:lnTo>
                  <a:pt x="84" y="473"/>
                </a:lnTo>
                <a:lnTo>
                  <a:pt x="87" y="476"/>
                </a:lnTo>
                <a:lnTo>
                  <a:pt x="90" y="478"/>
                </a:lnTo>
                <a:lnTo>
                  <a:pt x="93" y="479"/>
                </a:lnTo>
                <a:lnTo>
                  <a:pt x="97" y="478"/>
                </a:lnTo>
                <a:lnTo>
                  <a:pt x="100" y="478"/>
                </a:lnTo>
                <a:lnTo>
                  <a:pt x="103" y="477"/>
                </a:lnTo>
                <a:lnTo>
                  <a:pt x="105" y="476"/>
                </a:lnTo>
                <a:lnTo>
                  <a:pt x="108" y="476"/>
                </a:lnTo>
                <a:lnTo>
                  <a:pt x="109" y="475"/>
                </a:lnTo>
                <a:lnTo>
                  <a:pt x="104" y="458"/>
                </a:lnTo>
                <a:lnTo>
                  <a:pt x="97" y="439"/>
                </a:lnTo>
                <a:lnTo>
                  <a:pt x="114" y="355"/>
                </a:lnTo>
                <a:lnTo>
                  <a:pt x="118" y="276"/>
                </a:lnTo>
                <a:lnTo>
                  <a:pt x="120" y="248"/>
                </a:lnTo>
              </a:path>
            </a:pathLst>
          </a:custGeom>
          <a:solidFill>
            <a:srgbClr val="9966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Freeform 16">
            <a:extLst>
              <a:ext uri="{FF2B5EF4-FFF2-40B4-BE49-F238E27FC236}">
                <a16:creationId xmlns:a16="http://schemas.microsoft.com/office/drawing/2014/main" id="{C8BC3FED-3CC8-CAAA-BFBD-010C20A6EB83}"/>
              </a:ext>
            </a:extLst>
          </p:cNvPr>
          <p:cNvSpPr>
            <a:spLocks/>
          </p:cNvSpPr>
          <p:nvPr/>
        </p:nvSpPr>
        <p:spPr bwMode="auto">
          <a:xfrm>
            <a:off x="1615555" y="3378224"/>
            <a:ext cx="238125" cy="746125"/>
          </a:xfrm>
          <a:custGeom>
            <a:avLst/>
            <a:gdLst>
              <a:gd name="T0" fmla="*/ 2147483646 w 150"/>
              <a:gd name="T1" fmla="*/ 2147483646 h 470"/>
              <a:gd name="T2" fmla="*/ 2147483646 w 150"/>
              <a:gd name="T3" fmla="*/ 2147483646 h 470"/>
              <a:gd name="T4" fmla="*/ 2147483646 w 150"/>
              <a:gd name="T5" fmla="*/ 2147483646 h 470"/>
              <a:gd name="T6" fmla="*/ 2147483646 w 150"/>
              <a:gd name="T7" fmla="*/ 2147483646 h 470"/>
              <a:gd name="T8" fmla="*/ 2147483646 w 150"/>
              <a:gd name="T9" fmla="*/ 2147483646 h 470"/>
              <a:gd name="T10" fmla="*/ 2147483646 w 150"/>
              <a:gd name="T11" fmla="*/ 2147483646 h 470"/>
              <a:gd name="T12" fmla="*/ 2147483646 w 150"/>
              <a:gd name="T13" fmla="*/ 2147483646 h 470"/>
              <a:gd name="T14" fmla="*/ 2147483646 w 150"/>
              <a:gd name="T15" fmla="*/ 2147483646 h 470"/>
              <a:gd name="T16" fmla="*/ 2147483646 w 150"/>
              <a:gd name="T17" fmla="*/ 2147483646 h 470"/>
              <a:gd name="T18" fmla="*/ 2147483646 w 150"/>
              <a:gd name="T19" fmla="*/ 2147483646 h 470"/>
              <a:gd name="T20" fmla="*/ 2147483646 w 150"/>
              <a:gd name="T21" fmla="*/ 2147483646 h 470"/>
              <a:gd name="T22" fmla="*/ 2147483646 w 150"/>
              <a:gd name="T23" fmla="*/ 2147483646 h 470"/>
              <a:gd name="T24" fmla="*/ 2147483646 w 150"/>
              <a:gd name="T25" fmla="*/ 2147483646 h 470"/>
              <a:gd name="T26" fmla="*/ 2147483646 w 150"/>
              <a:gd name="T27" fmla="*/ 2147483646 h 470"/>
              <a:gd name="T28" fmla="*/ 2147483646 w 150"/>
              <a:gd name="T29" fmla="*/ 2147483646 h 470"/>
              <a:gd name="T30" fmla="*/ 2147483646 w 150"/>
              <a:gd name="T31" fmla="*/ 2147483646 h 470"/>
              <a:gd name="T32" fmla="*/ 2147483646 w 150"/>
              <a:gd name="T33" fmla="*/ 0 h 470"/>
              <a:gd name="T34" fmla="*/ 2147483646 w 150"/>
              <a:gd name="T35" fmla="*/ 2147483646 h 470"/>
              <a:gd name="T36" fmla="*/ 2147483646 w 150"/>
              <a:gd name="T37" fmla="*/ 2147483646 h 470"/>
              <a:gd name="T38" fmla="*/ 2147483646 w 150"/>
              <a:gd name="T39" fmla="*/ 2147483646 h 470"/>
              <a:gd name="T40" fmla="*/ 2147483646 w 150"/>
              <a:gd name="T41" fmla="*/ 2147483646 h 470"/>
              <a:gd name="T42" fmla="*/ 2147483646 w 150"/>
              <a:gd name="T43" fmla="*/ 2147483646 h 470"/>
              <a:gd name="T44" fmla="*/ 2147483646 w 150"/>
              <a:gd name="T45" fmla="*/ 2147483646 h 470"/>
              <a:gd name="T46" fmla="*/ 2147483646 w 150"/>
              <a:gd name="T47" fmla="*/ 2147483646 h 470"/>
              <a:gd name="T48" fmla="*/ 2147483646 w 150"/>
              <a:gd name="T49" fmla="*/ 2147483646 h 470"/>
              <a:gd name="T50" fmla="*/ 2147483646 w 150"/>
              <a:gd name="T51" fmla="*/ 2147483646 h 470"/>
              <a:gd name="T52" fmla="*/ 2147483646 w 150"/>
              <a:gd name="T53" fmla="*/ 2147483646 h 470"/>
              <a:gd name="T54" fmla="*/ 2147483646 w 150"/>
              <a:gd name="T55" fmla="*/ 2147483646 h 470"/>
              <a:gd name="T56" fmla="*/ 0 w 150"/>
              <a:gd name="T57" fmla="*/ 2147483646 h 470"/>
              <a:gd name="T58" fmla="*/ 0 w 150"/>
              <a:gd name="T59" fmla="*/ 2147483646 h 470"/>
              <a:gd name="T60" fmla="*/ 2147483646 w 150"/>
              <a:gd name="T61" fmla="*/ 2147483646 h 470"/>
              <a:gd name="T62" fmla="*/ 2147483646 w 150"/>
              <a:gd name="T63" fmla="*/ 2147483646 h 470"/>
              <a:gd name="T64" fmla="*/ 2147483646 w 150"/>
              <a:gd name="T65" fmla="*/ 2147483646 h 470"/>
              <a:gd name="T66" fmla="*/ 2147483646 w 150"/>
              <a:gd name="T67" fmla="*/ 2147483646 h 470"/>
              <a:gd name="T68" fmla="*/ 2147483646 w 150"/>
              <a:gd name="T69" fmla="*/ 2147483646 h 470"/>
              <a:gd name="T70" fmla="*/ 2147483646 w 150"/>
              <a:gd name="T71" fmla="*/ 2147483646 h 470"/>
              <a:gd name="T72" fmla="*/ 2147483646 w 150"/>
              <a:gd name="T73" fmla="*/ 2147483646 h 470"/>
              <a:gd name="T74" fmla="*/ 2147483646 w 150"/>
              <a:gd name="T75" fmla="*/ 2147483646 h 470"/>
              <a:gd name="T76" fmla="*/ 2147483646 w 150"/>
              <a:gd name="T77" fmla="*/ 2147483646 h 470"/>
              <a:gd name="T78" fmla="*/ 2147483646 w 150"/>
              <a:gd name="T79" fmla="*/ 2147483646 h 470"/>
              <a:gd name="T80" fmla="*/ 2147483646 w 150"/>
              <a:gd name="T81" fmla="*/ 2147483646 h 470"/>
              <a:gd name="T82" fmla="*/ 2147483646 w 150"/>
              <a:gd name="T83" fmla="*/ 2147483646 h 470"/>
              <a:gd name="T84" fmla="*/ 2147483646 w 150"/>
              <a:gd name="T85" fmla="*/ 2147483646 h 470"/>
              <a:gd name="T86" fmla="*/ 2147483646 w 150"/>
              <a:gd name="T87" fmla="*/ 2147483646 h 470"/>
              <a:gd name="T88" fmla="*/ 2147483646 w 150"/>
              <a:gd name="T89" fmla="*/ 2147483646 h 470"/>
              <a:gd name="T90" fmla="*/ 2147483646 w 150"/>
              <a:gd name="T91" fmla="*/ 2147483646 h 470"/>
              <a:gd name="T92" fmla="*/ 2147483646 w 150"/>
              <a:gd name="T93" fmla="*/ 2147483646 h 47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50" h="470">
                <a:moveTo>
                  <a:pt x="119" y="281"/>
                </a:moveTo>
                <a:lnTo>
                  <a:pt x="119" y="393"/>
                </a:lnTo>
                <a:lnTo>
                  <a:pt x="149" y="393"/>
                </a:lnTo>
                <a:lnTo>
                  <a:pt x="149" y="281"/>
                </a:lnTo>
                <a:lnTo>
                  <a:pt x="138" y="281"/>
                </a:lnTo>
                <a:lnTo>
                  <a:pt x="138" y="272"/>
                </a:lnTo>
                <a:lnTo>
                  <a:pt x="138" y="271"/>
                </a:lnTo>
                <a:lnTo>
                  <a:pt x="140" y="269"/>
                </a:lnTo>
                <a:lnTo>
                  <a:pt x="141" y="267"/>
                </a:lnTo>
                <a:lnTo>
                  <a:pt x="142" y="266"/>
                </a:lnTo>
                <a:lnTo>
                  <a:pt x="143" y="264"/>
                </a:lnTo>
                <a:lnTo>
                  <a:pt x="143" y="263"/>
                </a:lnTo>
                <a:lnTo>
                  <a:pt x="144" y="262"/>
                </a:lnTo>
                <a:lnTo>
                  <a:pt x="141" y="249"/>
                </a:lnTo>
                <a:lnTo>
                  <a:pt x="143" y="197"/>
                </a:lnTo>
                <a:lnTo>
                  <a:pt x="142" y="194"/>
                </a:lnTo>
                <a:lnTo>
                  <a:pt x="142" y="185"/>
                </a:lnTo>
                <a:lnTo>
                  <a:pt x="141" y="171"/>
                </a:lnTo>
                <a:lnTo>
                  <a:pt x="140" y="154"/>
                </a:lnTo>
                <a:lnTo>
                  <a:pt x="138" y="137"/>
                </a:lnTo>
                <a:lnTo>
                  <a:pt x="136" y="122"/>
                </a:lnTo>
                <a:lnTo>
                  <a:pt x="133" y="109"/>
                </a:lnTo>
                <a:lnTo>
                  <a:pt x="129" y="101"/>
                </a:lnTo>
                <a:lnTo>
                  <a:pt x="124" y="95"/>
                </a:lnTo>
                <a:lnTo>
                  <a:pt x="118" y="90"/>
                </a:lnTo>
                <a:lnTo>
                  <a:pt x="111" y="84"/>
                </a:lnTo>
                <a:lnTo>
                  <a:pt x="103" y="79"/>
                </a:lnTo>
                <a:lnTo>
                  <a:pt x="96" y="75"/>
                </a:lnTo>
                <a:lnTo>
                  <a:pt x="90" y="72"/>
                </a:lnTo>
                <a:lnTo>
                  <a:pt x="86" y="69"/>
                </a:lnTo>
                <a:lnTo>
                  <a:pt x="85" y="68"/>
                </a:lnTo>
                <a:lnTo>
                  <a:pt x="86" y="56"/>
                </a:lnTo>
                <a:lnTo>
                  <a:pt x="94" y="43"/>
                </a:lnTo>
                <a:lnTo>
                  <a:pt x="94" y="42"/>
                </a:lnTo>
                <a:lnTo>
                  <a:pt x="95" y="39"/>
                </a:lnTo>
                <a:lnTo>
                  <a:pt x="95" y="36"/>
                </a:lnTo>
                <a:lnTo>
                  <a:pt x="95" y="32"/>
                </a:lnTo>
                <a:lnTo>
                  <a:pt x="95" y="28"/>
                </a:lnTo>
                <a:lnTo>
                  <a:pt x="95" y="23"/>
                </a:lnTo>
                <a:lnTo>
                  <a:pt x="93" y="18"/>
                </a:lnTo>
                <a:lnTo>
                  <a:pt x="90" y="14"/>
                </a:lnTo>
                <a:lnTo>
                  <a:pt x="88" y="11"/>
                </a:lnTo>
                <a:lnTo>
                  <a:pt x="86" y="8"/>
                </a:lnTo>
                <a:lnTo>
                  <a:pt x="85" y="5"/>
                </a:lnTo>
                <a:lnTo>
                  <a:pt x="84" y="4"/>
                </a:lnTo>
                <a:lnTo>
                  <a:pt x="82" y="2"/>
                </a:lnTo>
                <a:lnTo>
                  <a:pt x="79" y="0"/>
                </a:lnTo>
                <a:lnTo>
                  <a:pt x="74" y="0"/>
                </a:lnTo>
                <a:lnTo>
                  <a:pt x="67" y="0"/>
                </a:lnTo>
                <a:lnTo>
                  <a:pt x="59" y="0"/>
                </a:lnTo>
                <a:lnTo>
                  <a:pt x="55" y="0"/>
                </a:lnTo>
                <a:lnTo>
                  <a:pt x="52" y="1"/>
                </a:lnTo>
                <a:lnTo>
                  <a:pt x="50" y="2"/>
                </a:lnTo>
                <a:lnTo>
                  <a:pt x="49" y="4"/>
                </a:lnTo>
                <a:lnTo>
                  <a:pt x="48" y="5"/>
                </a:lnTo>
                <a:lnTo>
                  <a:pt x="46" y="8"/>
                </a:lnTo>
                <a:lnTo>
                  <a:pt x="42" y="10"/>
                </a:lnTo>
                <a:lnTo>
                  <a:pt x="40" y="13"/>
                </a:lnTo>
                <a:lnTo>
                  <a:pt x="38" y="17"/>
                </a:lnTo>
                <a:lnTo>
                  <a:pt x="38" y="22"/>
                </a:lnTo>
                <a:lnTo>
                  <a:pt x="38" y="27"/>
                </a:lnTo>
                <a:lnTo>
                  <a:pt x="39" y="32"/>
                </a:lnTo>
                <a:lnTo>
                  <a:pt x="40" y="36"/>
                </a:lnTo>
                <a:lnTo>
                  <a:pt x="41" y="38"/>
                </a:lnTo>
                <a:lnTo>
                  <a:pt x="41" y="39"/>
                </a:lnTo>
                <a:lnTo>
                  <a:pt x="42" y="59"/>
                </a:lnTo>
                <a:lnTo>
                  <a:pt x="52" y="68"/>
                </a:lnTo>
                <a:lnTo>
                  <a:pt x="50" y="69"/>
                </a:lnTo>
                <a:lnTo>
                  <a:pt x="46" y="73"/>
                </a:lnTo>
                <a:lnTo>
                  <a:pt x="39" y="77"/>
                </a:lnTo>
                <a:lnTo>
                  <a:pt x="31" y="81"/>
                </a:lnTo>
                <a:lnTo>
                  <a:pt x="24" y="86"/>
                </a:lnTo>
                <a:lnTo>
                  <a:pt x="17" y="91"/>
                </a:lnTo>
                <a:lnTo>
                  <a:pt x="13" y="95"/>
                </a:lnTo>
                <a:lnTo>
                  <a:pt x="11" y="98"/>
                </a:lnTo>
                <a:lnTo>
                  <a:pt x="10" y="103"/>
                </a:lnTo>
                <a:lnTo>
                  <a:pt x="10" y="111"/>
                </a:lnTo>
                <a:lnTo>
                  <a:pt x="8" y="124"/>
                </a:lnTo>
                <a:lnTo>
                  <a:pt x="6" y="138"/>
                </a:lnTo>
                <a:lnTo>
                  <a:pt x="5" y="152"/>
                </a:lnTo>
                <a:lnTo>
                  <a:pt x="3" y="165"/>
                </a:lnTo>
                <a:lnTo>
                  <a:pt x="2" y="176"/>
                </a:lnTo>
                <a:lnTo>
                  <a:pt x="1" y="182"/>
                </a:lnTo>
                <a:lnTo>
                  <a:pt x="1" y="187"/>
                </a:lnTo>
                <a:lnTo>
                  <a:pt x="0" y="195"/>
                </a:lnTo>
                <a:lnTo>
                  <a:pt x="0" y="206"/>
                </a:lnTo>
                <a:lnTo>
                  <a:pt x="0" y="219"/>
                </a:lnTo>
                <a:lnTo>
                  <a:pt x="0" y="232"/>
                </a:lnTo>
                <a:lnTo>
                  <a:pt x="0" y="245"/>
                </a:lnTo>
                <a:lnTo>
                  <a:pt x="0" y="255"/>
                </a:lnTo>
                <a:lnTo>
                  <a:pt x="2" y="263"/>
                </a:lnTo>
                <a:lnTo>
                  <a:pt x="4" y="266"/>
                </a:lnTo>
                <a:lnTo>
                  <a:pt x="5" y="268"/>
                </a:lnTo>
                <a:lnTo>
                  <a:pt x="8" y="269"/>
                </a:lnTo>
                <a:lnTo>
                  <a:pt x="11" y="270"/>
                </a:lnTo>
                <a:lnTo>
                  <a:pt x="14" y="270"/>
                </a:lnTo>
                <a:lnTo>
                  <a:pt x="15" y="270"/>
                </a:lnTo>
                <a:lnTo>
                  <a:pt x="17" y="270"/>
                </a:lnTo>
                <a:lnTo>
                  <a:pt x="18" y="270"/>
                </a:lnTo>
                <a:lnTo>
                  <a:pt x="10" y="258"/>
                </a:lnTo>
                <a:lnTo>
                  <a:pt x="23" y="172"/>
                </a:lnTo>
                <a:lnTo>
                  <a:pt x="23" y="264"/>
                </a:lnTo>
                <a:lnTo>
                  <a:pt x="42" y="436"/>
                </a:lnTo>
                <a:lnTo>
                  <a:pt x="26" y="456"/>
                </a:lnTo>
                <a:lnTo>
                  <a:pt x="23" y="468"/>
                </a:lnTo>
                <a:lnTo>
                  <a:pt x="48" y="467"/>
                </a:lnTo>
                <a:lnTo>
                  <a:pt x="69" y="452"/>
                </a:lnTo>
                <a:lnTo>
                  <a:pt x="73" y="454"/>
                </a:lnTo>
                <a:lnTo>
                  <a:pt x="77" y="456"/>
                </a:lnTo>
                <a:lnTo>
                  <a:pt x="82" y="460"/>
                </a:lnTo>
                <a:lnTo>
                  <a:pt x="87" y="462"/>
                </a:lnTo>
                <a:lnTo>
                  <a:pt x="92" y="464"/>
                </a:lnTo>
                <a:lnTo>
                  <a:pt x="97" y="467"/>
                </a:lnTo>
                <a:lnTo>
                  <a:pt x="101" y="468"/>
                </a:lnTo>
                <a:lnTo>
                  <a:pt x="103" y="469"/>
                </a:lnTo>
                <a:lnTo>
                  <a:pt x="106" y="469"/>
                </a:lnTo>
                <a:lnTo>
                  <a:pt x="110" y="468"/>
                </a:lnTo>
                <a:lnTo>
                  <a:pt x="112" y="467"/>
                </a:lnTo>
                <a:lnTo>
                  <a:pt x="115" y="467"/>
                </a:lnTo>
                <a:lnTo>
                  <a:pt x="117" y="466"/>
                </a:lnTo>
                <a:lnTo>
                  <a:pt x="119" y="465"/>
                </a:lnTo>
                <a:lnTo>
                  <a:pt x="114" y="448"/>
                </a:lnTo>
                <a:lnTo>
                  <a:pt x="96" y="438"/>
                </a:lnTo>
                <a:lnTo>
                  <a:pt x="113" y="275"/>
                </a:lnTo>
                <a:lnTo>
                  <a:pt x="120" y="257"/>
                </a:lnTo>
                <a:lnTo>
                  <a:pt x="111" y="163"/>
                </a:lnTo>
                <a:lnTo>
                  <a:pt x="130" y="259"/>
                </a:lnTo>
                <a:lnTo>
                  <a:pt x="125" y="267"/>
                </a:lnTo>
                <a:lnTo>
                  <a:pt x="126" y="268"/>
                </a:lnTo>
                <a:lnTo>
                  <a:pt x="127" y="269"/>
                </a:lnTo>
                <a:lnTo>
                  <a:pt x="127" y="270"/>
                </a:lnTo>
                <a:lnTo>
                  <a:pt x="128" y="271"/>
                </a:lnTo>
                <a:lnTo>
                  <a:pt x="129" y="271"/>
                </a:lnTo>
                <a:lnTo>
                  <a:pt x="129" y="281"/>
                </a:lnTo>
                <a:lnTo>
                  <a:pt x="119" y="281"/>
                </a:lnTo>
              </a:path>
            </a:pathLst>
          </a:custGeom>
          <a:solidFill>
            <a:srgbClr val="00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7" name="Freeform 17">
            <a:extLst>
              <a:ext uri="{FF2B5EF4-FFF2-40B4-BE49-F238E27FC236}">
                <a16:creationId xmlns:a16="http://schemas.microsoft.com/office/drawing/2014/main" id="{20ACDC6F-5BFF-D633-FFEB-E84774DEABE2}"/>
              </a:ext>
            </a:extLst>
          </p:cNvPr>
          <p:cNvSpPr>
            <a:spLocks/>
          </p:cNvSpPr>
          <p:nvPr/>
        </p:nvSpPr>
        <p:spPr bwMode="auto">
          <a:xfrm>
            <a:off x="1221855" y="3429024"/>
            <a:ext cx="233362" cy="712788"/>
          </a:xfrm>
          <a:custGeom>
            <a:avLst/>
            <a:gdLst>
              <a:gd name="T0" fmla="*/ 2147483646 w 147"/>
              <a:gd name="T1" fmla="*/ 2147483646 h 449"/>
              <a:gd name="T2" fmla="*/ 2147483646 w 147"/>
              <a:gd name="T3" fmla="*/ 2147483646 h 449"/>
              <a:gd name="T4" fmla="*/ 2147483646 w 147"/>
              <a:gd name="T5" fmla="*/ 2147483646 h 449"/>
              <a:gd name="T6" fmla="*/ 2147483646 w 147"/>
              <a:gd name="T7" fmla="*/ 2147483646 h 449"/>
              <a:gd name="T8" fmla="*/ 2147483646 w 147"/>
              <a:gd name="T9" fmla="*/ 2147483646 h 449"/>
              <a:gd name="T10" fmla="*/ 2147483646 w 147"/>
              <a:gd name="T11" fmla="*/ 2147483646 h 449"/>
              <a:gd name="T12" fmla="*/ 2147483646 w 147"/>
              <a:gd name="T13" fmla="*/ 2147483646 h 449"/>
              <a:gd name="T14" fmla="*/ 2147483646 w 147"/>
              <a:gd name="T15" fmla="*/ 2147483646 h 449"/>
              <a:gd name="T16" fmla="*/ 2147483646 w 147"/>
              <a:gd name="T17" fmla="*/ 2147483646 h 449"/>
              <a:gd name="T18" fmla="*/ 2147483646 w 147"/>
              <a:gd name="T19" fmla="*/ 2147483646 h 449"/>
              <a:gd name="T20" fmla="*/ 2147483646 w 147"/>
              <a:gd name="T21" fmla="*/ 2147483646 h 449"/>
              <a:gd name="T22" fmla="*/ 2147483646 w 147"/>
              <a:gd name="T23" fmla="*/ 2147483646 h 449"/>
              <a:gd name="T24" fmla="*/ 2147483646 w 147"/>
              <a:gd name="T25" fmla="*/ 2147483646 h 449"/>
              <a:gd name="T26" fmla="*/ 2147483646 w 147"/>
              <a:gd name="T27" fmla="*/ 2147483646 h 449"/>
              <a:gd name="T28" fmla="*/ 2147483646 w 147"/>
              <a:gd name="T29" fmla="*/ 2147483646 h 449"/>
              <a:gd name="T30" fmla="*/ 2147483646 w 147"/>
              <a:gd name="T31" fmla="*/ 2147483646 h 449"/>
              <a:gd name="T32" fmla="*/ 2147483646 w 147"/>
              <a:gd name="T33" fmla="*/ 2147483646 h 449"/>
              <a:gd name="T34" fmla="*/ 2147483646 w 147"/>
              <a:gd name="T35" fmla="*/ 2147483646 h 449"/>
              <a:gd name="T36" fmla="*/ 2147483646 w 147"/>
              <a:gd name="T37" fmla="*/ 2147483646 h 449"/>
              <a:gd name="T38" fmla="*/ 2147483646 w 147"/>
              <a:gd name="T39" fmla="*/ 2147483646 h 449"/>
              <a:gd name="T40" fmla="*/ 2147483646 w 147"/>
              <a:gd name="T41" fmla="*/ 2147483646 h 449"/>
              <a:gd name="T42" fmla="*/ 2147483646 w 147"/>
              <a:gd name="T43" fmla="*/ 2147483646 h 449"/>
              <a:gd name="T44" fmla="*/ 2147483646 w 147"/>
              <a:gd name="T45" fmla="*/ 0 h 449"/>
              <a:gd name="T46" fmla="*/ 2147483646 w 147"/>
              <a:gd name="T47" fmla="*/ 2147483646 h 449"/>
              <a:gd name="T48" fmla="*/ 2147483646 w 147"/>
              <a:gd name="T49" fmla="*/ 2147483646 h 449"/>
              <a:gd name="T50" fmla="*/ 2147483646 w 147"/>
              <a:gd name="T51" fmla="*/ 2147483646 h 449"/>
              <a:gd name="T52" fmla="*/ 2147483646 w 147"/>
              <a:gd name="T53" fmla="*/ 2147483646 h 449"/>
              <a:gd name="T54" fmla="*/ 2147483646 w 147"/>
              <a:gd name="T55" fmla="*/ 2147483646 h 449"/>
              <a:gd name="T56" fmla="*/ 2147483646 w 147"/>
              <a:gd name="T57" fmla="*/ 2147483646 h 449"/>
              <a:gd name="T58" fmla="*/ 2147483646 w 147"/>
              <a:gd name="T59" fmla="*/ 2147483646 h 449"/>
              <a:gd name="T60" fmla="*/ 0 w 147"/>
              <a:gd name="T61" fmla="*/ 2147483646 h 449"/>
              <a:gd name="T62" fmla="*/ 2147483646 w 147"/>
              <a:gd name="T63" fmla="*/ 2147483646 h 449"/>
              <a:gd name="T64" fmla="*/ 2147483646 w 147"/>
              <a:gd name="T65" fmla="*/ 2147483646 h 449"/>
              <a:gd name="T66" fmla="*/ 2147483646 w 147"/>
              <a:gd name="T67" fmla="*/ 2147483646 h 449"/>
              <a:gd name="T68" fmla="*/ 2147483646 w 147"/>
              <a:gd name="T69" fmla="*/ 2147483646 h 449"/>
              <a:gd name="T70" fmla="*/ 2147483646 w 147"/>
              <a:gd name="T71" fmla="*/ 2147483646 h 449"/>
              <a:gd name="T72" fmla="*/ 2147483646 w 147"/>
              <a:gd name="T73" fmla="*/ 2147483646 h 449"/>
              <a:gd name="T74" fmla="*/ 2147483646 w 147"/>
              <a:gd name="T75" fmla="*/ 2147483646 h 449"/>
              <a:gd name="T76" fmla="*/ 2147483646 w 147"/>
              <a:gd name="T77" fmla="*/ 2147483646 h 449"/>
              <a:gd name="T78" fmla="*/ 2147483646 w 147"/>
              <a:gd name="T79" fmla="*/ 2147483646 h 449"/>
              <a:gd name="T80" fmla="*/ 2147483646 w 147"/>
              <a:gd name="T81" fmla="*/ 2147483646 h 449"/>
              <a:gd name="T82" fmla="*/ 2147483646 w 147"/>
              <a:gd name="T83" fmla="*/ 2147483646 h 449"/>
              <a:gd name="T84" fmla="*/ 2147483646 w 147"/>
              <a:gd name="T85" fmla="*/ 2147483646 h 449"/>
              <a:gd name="T86" fmla="*/ 2147483646 w 147"/>
              <a:gd name="T87" fmla="*/ 2147483646 h 449"/>
              <a:gd name="T88" fmla="*/ 2147483646 w 147"/>
              <a:gd name="T89" fmla="*/ 2147483646 h 449"/>
              <a:gd name="T90" fmla="*/ 2147483646 w 147"/>
              <a:gd name="T91" fmla="*/ 2147483646 h 449"/>
              <a:gd name="T92" fmla="*/ 2147483646 w 147"/>
              <a:gd name="T93" fmla="*/ 2147483646 h 449"/>
              <a:gd name="T94" fmla="*/ 2147483646 w 147"/>
              <a:gd name="T95" fmla="*/ 2147483646 h 449"/>
              <a:gd name="T96" fmla="*/ 2147483646 w 147"/>
              <a:gd name="T97" fmla="*/ 2147483646 h 449"/>
              <a:gd name="T98" fmla="*/ 2147483646 w 147"/>
              <a:gd name="T99" fmla="*/ 2147483646 h 449"/>
              <a:gd name="T100" fmla="*/ 2147483646 w 147"/>
              <a:gd name="T101" fmla="*/ 2147483646 h 449"/>
              <a:gd name="T102" fmla="*/ 2147483646 w 147"/>
              <a:gd name="T103" fmla="*/ 2147483646 h 44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47" h="449">
                <a:moveTo>
                  <a:pt x="80" y="211"/>
                </a:moveTo>
                <a:lnTo>
                  <a:pt x="81" y="211"/>
                </a:lnTo>
                <a:lnTo>
                  <a:pt x="80" y="211"/>
                </a:lnTo>
                <a:lnTo>
                  <a:pt x="81" y="211"/>
                </a:lnTo>
                <a:lnTo>
                  <a:pt x="82" y="210"/>
                </a:lnTo>
                <a:lnTo>
                  <a:pt x="81" y="211"/>
                </a:lnTo>
                <a:lnTo>
                  <a:pt x="80" y="211"/>
                </a:lnTo>
                <a:lnTo>
                  <a:pt x="145" y="428"/>
                </a:lnTo>
                <a:lnTo>
                  <a:pt x="143" y="427"/>
                </a:lnTo>
                <a:lnTo>
                  <a:pt x="140" y="425"/>
                </a:lnTo>
                <a:lnTo>
                  <a:pt x="134" y="422"/>
                </a:lnTo>
                <a:lnTo>
                  <a:pt x="128" y="418"/>
                </a:lnTo>
                <a:lnTo>
                  <a:pt x="122" y="412"/>
                </a:lnTo>
                <a:lnTo>
                  <a:pt x="116" y="406"/>
                </a:lnTo>
                <a:lnTo>
                  <a:pt x="113" y="400"/>
                </a:lnTo>
                <a:lnTo>
                  <a:pt x="111" y="394"/>
                </a:lnTo>
                <a:lnTo>
                  <a:pt x="111" y="385"/>
                </a:lnTo>
                <a:lnTo>
                  <a:pt x="113" y="374"/>
                </a:lnTo>
                <a:lnTo>
                  <a:pt x="113" y="360"/>
                </a:lnTo>
                <a:lnTo>
                  <a:pt x="115" y="346"/>
                </a:lnTo>
                <a:lnTo>
                  <a:pt x="116" y="332"/>
                </a:lnTo>
                <a:lnTo>
                  <a:pt x="117" y="321"/>
                </a:lnTo>
                <a:lnTo>
                  <a:pt x="118" y="312"/>
                </a:lnTo>
                <a:lnTo>
                  <a:pt x="118" y="309"/>
                </a:lnTo>
                <a:lnTo>
                  <a:pt x="119" y="309"/>
                </a:lnTo>
                <a:lnTo>
                  <a:pt x="121" y="308"/>
                </a:lnTo>
                <a:lnTo>
                  <a:pt x="122" y="306"/>
                </a:lnTo>
                <a:lnTo>
                  <a:pt x="124" y="304"/>
                </a:lnTo>
                <a:lnTo>
                  <a:pt x="125" y="300"/>
                </a:lnTo>
                <a:lnTo>
                  <a:pt x="126" y="294"/>
                </a:lnTo>
                <a:lnTo>
                  <a:pt x="127" y="287"/>
                </a:lnTo>
                <a:lnTo>
                  <a:pt x="117" y="200"/>
                </a:lnTo>
                <a:lnTo>
                  <a:pt x="118" y="199"/>
                </a:lnTo>
                <a:lnTo>
                  <a:pt x="118" y="200"/>
                </a:lnTo>
                <a:lnTo>
                  <a:pt x="118" y="202"/>
                </a:lnTo>
                <a:lnTo>
                  <a:pt x="119" y="206"/>
                </a:lnTo>
                <a:lnTo>
                  <a:pt x="121" y="209"/>
                </a:lnTo>
                <a:lnTo>
                  <a:pt x="123" y="212"/>
                </a:lnTo>
                <a:lnTo>
                  <a:pt x="124" y="215"/>
                </a:lnTo>
                <a:lnTo>
                  <a:pt x="125" y="215"/>
                </a:lnTo>
                <a:lnTo>
                  <a:pt x="127" y="215"/>
                </a:lnTo>
                <a:lnTo>
                  <a:pt x="129" y="212"/>
                </a:lnTo>
                <a:lnTo>
                  <a:pt x="129" y="210"/>
                </a:lnTo>
                <a:lnTo>
                  <a:pt x="131" y="207"/>
                </a:lnTo>
                <a:lnTo>
                  <a:pt x="132" y="203"/>
                </a:lnTo>
                <a:lnTo>
                  <a:pt x="132" y="200"/>
                </a:lnTo>
                <a:lnTo>
                  <a:pt x="131" y="196"/>
                </a:lnTo>
                <a:lnTo>
                  <a:pt x="129" y="191"/>
                </a:lnTo>
                <a:lnTo>
                  <a:pt x="127" y="186"/>
                </a:lnTo>
                <a:lnTo>
                  <a:pt x="124" y="178"/>
                </a:lnTo>
                <a:lnTo>
                  <a:pt x="123" y="171"/>
                </a:lnTo>
                <a:lnTo>
                  <a:pt x="124" y="165"/>
                </a:lnTo>
                <a:lnTo>
                  <a:pt x="126" y="157"/>
                </a:lnTo>
                <a:lnTo>
                  <a:pt x="128" y="147"/>
                </a:lnTo>
                <a:lnTo>
                  <a:pt x="128" y="133"/>
                </a:lnTo>
                <a:lnTo>
                  <a:pt x="124" y="114"/>
                </a:lnTo>
                <a:lnTo>
                  <a:pt x="117" y="88"/>
                </a:lnTo>
                <a:lnTo>
                  <a:pt x="115" y="84"/>
                </a:lnTo>
                <a:lnTo>
                  <a:pt x="112" y="80"/>
                </a:lnTo>
                <a:lnTo>
                  <a:pt x="108" y="76"/>
                </a:lnTo>
                <a:lnTo>
                  <a:pt x="104" y="72"/>
                </a:lnTo>
                <a:lnTo>
                  <a:pt x="100" y="70"/>
                </a:lnTo>
                <a:lnTo>
                  <a:pt x="97" y="68"/>
                </a:lnTo>
                <a:lnTo>
                  <a:pt x="95" y="67"/>
                </a:lnTo>
                <a:lnTo>
                  <a:pt x="94" y="66"/>
                </a:lnTo>
                <a:lnTo>
                  <a:pt x="95" y="66"/>
                </a:lnTo>
                <a:lnTo>
                  <a:pt x="97" y="66"/>
                </a:lnTo>
                <a:lnTo>
                  <a:pt x="98" y="65"/>
                </a:lnTo>
                <a:lnTo>
                  <a:pt x="100" y="64"/>
                </a:lnTo>
                <a:lnTo>
                  <a:pt x="102" y="63"/>
                </a:lnTo>
                <a:lnTo>
                  <a:pt x="102" y="61"/>
                </a:lnTo>
                <a:lnTo>
                  <a:pt x="103" y="58"/>
                </a:lnTo>
                <a:lnTo>
                  <a:pt x="104" y="55"/>
                </a:lnTo>
                <a:lnTo>
                  <a:pt x="103" y="53"/>
                </a:lnTo>
                <a:lnTo>
                  <a:pt x="102" y="52"/>
                </a:lnTo>
                <a:lnTo>
                  <a:pt x="102" y="50"/>
                </a:lnTo>
                <a:lnTo>
                  <a:pt x="100" y="50"/>
                </a:lnTo>
                <a:lnTo>
                  <a:pt x="98" y="48"/>
                </a:lnTo>
                <a:lnTo>
                  <a:pt x="97" y="46"/>
                </a:lnTo>
                <a:lnTo>
                  <a:pt x="95" y="43"/>
                </a:lnTo>
                <a:lnTo>
                  <a:pt x="93" y="40"/>
                </a:lnTo>
                <a:lnTo>
                  <a:pt x="93" y="36"/>
                </a:lnTo>
                <a:lnTo>
                  <a:pt x="93" y="32"/>
                </a:lnTo>
                <a:lnTo>
                  <a:pt x="94" y="27"/>
                </a:lnTo>
                <a:lnTo>
                  <a:pt x="95" y="24"/>
                </a:lnTo>
                <a:lnTo>
                  <a:pt x="97" y="21"/>
                </a:lnTo>
                <a:lnTo>
                  <a:pt x="97" y="18"/>
                </a:lnTo>
                <a:lnTo>
                  <a:pt x="97" y="17"/>
                </a:lnTo>
                <a:lnTo>
                  <a:pt x="96" y="16"/>
                </a:lnTo>
                <a:lnTo>
                  <a:pt x="94" y="14"/>
                </a:lnTo>
                <a:lnTo>
                  <a:pt x="92" y="12"/>
                </a:lnTo>
                <a:lnTo>
                  <a:pt x="91" y="9"/>
                </a:lnTo>
                <a:lnTo>
                  <a:pt x="89" y="7"/>
                </a:lnTo>
                <a:lnTo>
                  <a:pt x="88" y="4"/>
                </a:lnTo>
                <a:lnTo>
                  <a:pt x="87" y="2"/>
                </a:lnTo>
                <a:lnTo>
                  <a:pt x="86" y="0"/>
                </a:lnTo>
                <a:lnTo>
                  <a:pt x="83" y="0"/>
                </a:lnTo>
                <a:lnTo>
                  <a:pt x="79" y="0"/>
                </a:lnTo>
                <a:lnTo>
                  <a:pt x="74" y="0"/>
                </a:lnTo>
                <a:lnTo>
                  <a:pt x="69" y="0"/>
                </a:lnTo>
                <a:lnTo>
                  <a:pt x="64" y="1"/>
                </a:lnTo>
                <a:lnTo>
                  <a:pt x="59" y="2"/>
                </a:lnTo>
                <a:lnTo>
                  <a:pt x="55" y="4"/>
                </a:lnTo>
                <a:lnTo>
                  <a:pt x="53" y="5"/>
                </a:lnTo>
                <a:lnTo>
                  <a:pt x="49" y="8"/>
                </a:lnTo>
                <a:lnTo>
                  <a:pt x="47" y="12"/>
                </a:lnTo>
                <a:lnTo>
                  <a:pt x="44" y="17"/>
                </a:lnTo>
                <a:lnTo>
                  <a:pt x="42" y="22"/>
                </a:lnTo>
                <a:lnTo>
                  <a:pt x="39" y="28"/>
                </a:lnTo>
                <a:lnTo>
                  <a:pt x="37" y="33"/>
                </a:lnTo>
                <a:lnTo>
                  <a:pt x="36" y="39"/>
                </a:lnTo>
                <a:lnTo>
                  <a:pt x="34" y="43"/>
                </a:lnTo>
                <a:lnTo>
                  <a:pt x="32" y="47"/>
                </a:lnTo>
                <a:lnTo>
                  <a:pt x="30" y="51"/>
                </a:lnTo>
                <a:lnTo>
                  <a:pt x="28" y="54"/>
                </a:lnTo>
                <a:lnTo>
                  <a:pt x="26" y="56"/>
                </a:lnTo>
                <a:lnTo>
                  <a:pt x="24" y="58"/>
                </a:lnTo>
                <a:lnTo>
                  <a:pt x="23" y="59"/>
                </a:lnTo>
                <a:lnTo>
                  <a:pt x="28" y="63"/>
                </a:lnTo>
                <a:lnTo>
                  <a:pt x="28" y="64"/>
                </a:lnTo>
                <a:lnTo>
                  <a:pt x="30" y="65"/>
                </a:lnTo>
                <a:lnTo>
                  <a:pt x="31" y="66"/>
                </a:lnTo>
                <a:lnTo>
                  <a:pt x="32" y="67"/>
                </a:lnTo>
                <a:lnTo>
                  <a:pt x="33" y="69"/>
                </a:lnTo>
                <a:lnTo>
                  <a:pt x="32" y="71"/>
                </a:lnTo>
                <a:lnTo>
                  <a:pt x="31" y="73"/>
                </a:lnTo>
                <a:lnTo>
                  <a:pt x="28" y="76"/>
                </a:lnTo>
                <a:lnTo>
                  <a:pt x="23" y="80"/>
                </a:lnTo>
                <a:lnTo>
                  <a:pt x="19" y="88"/>
                </a:lnTo>
                <a:lnTo>
                  <a:pt x="14" y="98"/>
                </a:lnTo>
                <a:lnTo>
                  <a:pt x="10" y="110"/>
                </a:lnTo>
                <a:lnTo>
                  <a:pt x="5" y="122"/>
                </a:lnTo>
                <a:lnTo>
                  <a:pt x="2" y="131"/>
                </a:lnTo>
                <a:lnTo>
                  <a:pt x="0" y="139"/>
                </a:lnTo>
                <a:lnTo>
                  <a:pt x="0" y="143"/>
                </a:lnTo>
                <a:lnTo>
                  <a:pt x="0" y="146"/>
                </a:lnTo>
                <a:lnTo>
                  <a:pt x="0" y="152"/>
                </a:lnTo>
                <a:lnTo>
                  <a:pt x="2" y="160"/>
                </a:lnTo>
                <a:lnTo>
                  <a:pt x="4" y="169"/>
                </a:lnTo>
                <a:lnTo>
                  <a:pt x="6" y="177"/>
                </a:lnTo>
                <a:lnTo>
                  <a:pt x="10" y="185"/>
                </a:lnTo>
                <a:lnTo>
                  <a:pt x="13" y="191"/>
                </a:lnTo>
                <a:lnTo>
                  <a:pt x="18" y="193"/>
                </a:lnTo>
                <a:lnTo>
                  <a:pt x="17" y="204"/>
                </a:lnTo>
                <a:lnTo>
                  <a:pt x="16" y="219"/>
                </a:lnTo>
                <a:lnTo>
                  <a:pt x="15" y="236"/>
                </a:lnTo>
                <a:lnTo>
                  <a:pt x="14" y="256"/>
                </a:lnTo>
                <a:lnTo>
                  <a:pt x="13" y="274"/>
                </a:lnTo>
                <a:lnTo>
                  <a:pt x="12" y="288"/>
                </a:lnTo>
                <a:lnTo>
                  <a:pt x="12" y="299"/>
                </a:lnTo>
                <a:lnTo>
                  <a:pt x="12" y="302"/>
                </a:lnTo>
                <a:lnTo>
                  <a:pt x="13" y="303"/>
                </a:lnTo>
                <a:lnTo>
                  <a:pt x="15" y="304"/>
                </a:lnTo>
                <a:lnTo>
                  <a:pt x="18" y="307"/>
                </a:lnTo>
                <a:lnTo>
                  <a:pt x="21" y="308"/>
                </a:lnTo>
                <a:lnTo>
                  <a:pt x="26" y="311"/>
                </a:lnTo>
                <a:lnTo>
                  <a:pt x="28" y="312"/>
                </a:lnTo>
                <a:lnTo>
                  <a:pt x="31" y="312"/>
                </a:lnTo>
                <a:lnTo>
                  <a:pt x="32" y="309"/>
                </a:lnTo>
                <a:lnTo>
                  <a:pt x="32" y="312"/>
                </a:lnTo>
                <a:lnTo>
                  <a:pt x="33" y="315"/>
                </a:lnTo>
                <a:lnTo>
                  <a:pt x="34" y="319"/>
                </a:lnTo>
                <a:lnTo>
                  <a:pt x="36" y="324"/>
                </a:lnTo>
                <a:lnTo>
                  <a:pt x="37" y="329"/>
                </a:lnTo>
                <a:lnTo>
                  <a:pt x="39" y="333"/>
                </a:lnTo>
                <a:lnTo>
                  <a:pt x="40" y="336"/>
                </a:lnTo>
                <a:lnTo>
                  <a:pt x="40" y="337"/>
                </a:lnTo>
                <a:lnTo>
                  <a:pt x="40" y="338"/>
                </a:lnTo>
                <a:lnTo>
                  <a:pt x="39" y="339"/>
                </a:lnTo>
                <a:lnTo>
                  <a:pt x="39" y="342"/>
                </a:lnTo>
                <a:lnTo>
                  <a:pt x="38" y="344"/>
                </a:lnTo>
                <a:lnTo>
                  <a:pt x="37" y="346"/>
                </a:lnTo>
                <a:lnTo>
                  <a:pt x="37" y="350"/>
                </a:lnTo>
                <a:lnTo>
                  <a:pt x="37" y="355"/>
                </a:lnTo>
                <a:lnTo>
                  <a:pt x="37" y="360"/>
                </a:lnTo>
                <a:lnTo>
                  <a:pt x="37" y="367"/>
                </a:lnTo>
                <a:lnTo>
                  <a:pt x="39" y="375"/>
                </a:lnTo>
                <a:lnTo>
                  <a:pt x="41" y="382"/>
                </a:lnTo>
                <a:lnTo>
                  <a:pt x="43" y="389"/>
                </a:lnTo>
                <a:lnTo>
                  <a:pt x="45" y="396"/>
                </a:lnTo>
                <a:lnTo>
                  <a:pt x="46" y="400"/>
                </a:lnTo>
                <a:lnTo>
                  <a:pt x="47" y="401"/>
                </a:lnTo>
                <a:lnTo>
                  <a:pt x="39" y="416"/>
                </a:lnTo>
                <a:lnTo>
                  <a:pt x="42" y="440"/>
                </a:lnTo>
                <a:lnTo>
                  <a:pt x="43" y="442"/>
                </a:lnTo>
                <a:lnTo>
                  <a:pt x="45" y="443"/>
                </a:lnTo>
                <a:lnTo>
                  <a:pt x="48" y="445"/>
                </a:lnTo>
                <a:lnTo>
                  <a:pt x="50" y="446"/>
                </a:lnTo>
                <a:lnTo>
                  <a:pt x="53" y="448"/>
                </a:lnTo>
                <a:lnTo>
                  <a:pt x="55" y="448"/>
                </a:lnTo>
                <a:lnTo>
                  <a:pt x="58" y="446"/>
                </a:lnTo>
                <a:lnTo>
                  <a:pt x="59" y="444"/>
                </a:lnTo>
                <a:lnTo>
                  <a:pt x="61" y="441"/>
                </a:lnTo>
                <a:lnTo>
                  <a:pt x="63" y="439"/>
                </a:lnTo>
                <a:lnTo>
                  <a:pt x="64" y="435"/>
                </a:lnTo>
                <a:lnTo>
                  <a:pt x="64" y="433"/>
                </a:lnTo>
                <a:lnTo>
                  <a:pt x="64" y="431"/>
                </a:lnTo>
                <a:lnTo>
                  <a:pt x="65" y="429"/>
                </a:lnTo>
                <a:lnTo>
                  <a:pt x="65" y="428"/>
                </a:lnTo>
                <a:lnTo>
                  <a:pt x="59" y="397"/>
                </a:lnTo>
                <a:lnTo>
                  <a:pt x="69" y="336"/>
                </a:lnTo>
                <a:lnTo>
                  <a:pt x="71" y="324"/>
                </a:lnTo>
                <a:lnTo>
                  <a:pt x="84" y="324"/>
                </a:lnTo>
                <a:lnTo>
                  <a:pt x="84" y="325"/>
                </a:lnTo>
                <a:lnTo>
                  <a:pt x="84" y="326"/>
                </a:lnTo>
                <a:lnTo>
                  <a:pt x="84" y="329"/>
                </a:lnTo>
                <a:lnTo>
                  <a:pt x="84" y="333"/>
                </a:lnTo>
                <a:lnTo>
                  <a:pt x="84" y="338"/>
                </a:lnTo>
                <a:lnTo>
                  <a:pt x="85" y="343"/>
                </a:lnTo>
                <a:lnTo>
                  <a:pt x="86" y="349"/>
                </a:lnTo>
                <a:lnTo>
                  <a:pt x="86" y="355"/>
                </a:lnTo>
                <a:lnTo>
                  <a:pt x="87" y="362"/>
                </a:lnTo>
                <a:lnTo>
                  <a:pt x="89" y="369"/>
                </a:lnTo>
                <a:lnTo>
                  <a:pt x="91" y="377"/>
                </a:lnTo>
                <a:lnTo>
                  <a:pt x="92" y="384"/>
                </a:lnTo>
                <a:lnTo>
                  <a:pt x="94" y="390"/>
                </a:lnTo>
                <a:lnTo>
                  <a:pt x="95" y="395"/>
                </a:lnTo>
                <a:lnTo>
                  <a:pt x="96" y="398"/>
                </a:lnTo>
                <a:lnTo>
                  <a:pt x="96" y="400"/>
                </a:lnTo>
                <a:lnTo>
                  <a:pt x="94" y="427"/>
                </a:lnTo>
                <a:lnTo>
                  <a:pt x="102" y="430"/>
                </a:lnTo>
                <a:lnTo>
                  <a:pt x="102" y="426"/>
                </a:lnTo>
                <a:lnTo>
                  <a:pt x="104" y="426"/>
                </a:lnTo>
                <a:lnTo>
                  <a:pt x="107" y="428"/>
                </a:lnTo>
                <a:lnTo>
                  <a:pt x="109" y="430"/>
                </a:lnTo>
                <a:lnTo>
                  <a:pt x="113" y="431"/>
                </a:lnTo>
                <a:lnTo>
                  <a:pt x="116" y="433"/>
                </a:lnTo>
                <a:lnTo>
                  <a:pt x="119" y="435"/>
                </a:lnTo>
                <a:lnTo>
                  <a:pt x="124" y="436"/>
                </a:lnTo>
                <a:lnTo>
                  <a:pt x="127" y="438"/>
                </a:lnTo>
                <a:lnTo>
                  <a:pt x="131" y="439"/>
                </a:lnTo>
                <a:lnTo>
                  <a:pt x="135" y="439"/>
                </a:lnTo>
                <a:lnTo>
                  <a:pt x="138" y="439"/>
                </a:lnTo>
                <a:lnTo>
                  <a:pt x="141" y="438"/>
                </a:lnTo>
                <a:lnTo>
                  <a:pt x="144" y="437"/>
                </a:lnTo>
                <a:lnTo>
                  <a:pt x="146" y="437"/>
                </a:lnTo>
                <a:lnTo>
                  <a:pt x="146" y="436"/>
                </a:lnTo>
                <a:lnTo>
                  <a:pt x="145" y="428"/>
                </a:lnTo>
                <a:lnTo>
                  <a:pt x="80" y="211"/>
                </a:lnTo>
              </a:path>
            </a:pathLst>
          </a:custGeom>
          <a:solidFill>
            <a:srgbClr val="0099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8" name="Freeform 18">
            <a:extLst>
              <a:ext uri="{FF2B5EF4-FFF2-40B4-BE49-F238E27FC236}">
                <a16:creationId xmlns:a16="http://schemas.microsoft.com/office/drawing/2014/main" id="{A7C05525-8D3B-9992-3C23-96E376D25E11}"/>
              </a:ext>
            </a:extLst>
          </p:cNvPr>
          <p:cNvSpPr>
            <a:spLocks/>
          </p:cNvSpPr>
          <p:nvPr/>
        </p:nvSpPr>
        <p:spPr bwMode="auto">
          <a:xfrm>
            <a:off x="1291705" y="3489349"/>
            <a:ext cx="242887" cy="760413"/>
          </a:xfrm>
          <a:custGeom>
            <a:avLst/>
            <a:gdLst>
              <a:gd name="T0" fmla="*/ 2147483646 w 153"/>
              <a:gd name="T1" fmla="*/ 2147483646 h 479"/>
              <a:gd name="T2" fmla="*/ 2147483646 w 153"/>
              <a:gd name="T3" fmla="*/ 2147483646 h 479"/>
              <a:gd name="T4" fmla="*/ 0 w 153"/>
              <a:gd name="T5" fmla="*/ 2147483646 h 479"/>
              <a:gd name="T6" fmla="*/ 2147483646 w 153"/>
              <a:gd name="T7" fmla="*/ 2147483646 h 479"/>
              <a:gd name="T8" fmla="*/ 2147483646 w 153"/>
              <a:gd name="T9" fmla="*/ 2147483646 h 479"/>
              <a:gd name="T10" fmla="*/ 2147483646 w 153"/>
              <a:gd name="T11" fmla="*/ 2147483646 h 479"/>
              <a:gd name="T12" fmla="*/ 2147483646 w 153"/>
              <a:gd name="T13" fmla="*/ 2147483646 h 479"/>
              <a:gd name="T14" fmla="*/ 2147483646 w 153"/>
              <a:gd name="T15" fmla="*/ 2147483646 h 479"/>
              <a:gd name="T16" fmla="*/ 2147483646 w 153"/>
              <a:gd name="T17" fmla="*/ 2147483646 h 479"/>
              <a:gd name="T18" fmla="*/ 2147483646 w 153"/>
              <a:gd name="T19" fmla="*/ 2147483646 h 479"/>
              <a:gd name="T20" fmla="*/ 2147483646 w 153"/>
              <a:gd name="T21" fmla="*/ 2147483646 h 479"/>
              <a:gd name="T22" fmla="*/ 2147483646 w 153"/>
              <a:gd name="T23" fmla="*/ 2147483646 h 479"/>
              <a:gd name="T24" fmla="*/ 2147483646 w 153"/>
              <a:gd name="T25" fmla="*/ 2147483646 h 479"/>
              <a:gd name="T26" fmla="*/ 2147483646 w 153"/>
              <a:gd name="T27" fmla="*/ 2147483646 h 479"/>
              <a:gd name="T28" fmla="*/ 2147483646 w 153"/>
              <a:gd name="T29" fmla="*/ 2147483646 h 479"/>
              <a:gd name="T30" fmla="*/ 2147483646 w 153"/>
              <a:gd name="T31" fmla="*/ 2147483646 h 479"/>
              <a:gd name="T32" fmla="*/ 2147483646 w 153"/>
              <a:gd name="T33" fmla="*/ 2147483646 h 479"/>
              <a:gd name="T34" fmla="*/ 2147483646 w 153"/>
              <a:gd name="T35" fmla="*/ 2147483646 h 479"/>
              <a:gd name="T36" fmla="*/ 2147483646 w 153"/>
              <a:gd name="T37" fmla="*/ 0 h 479"/>
              <a:gd name="T38" fmla="*/ 2147483646 w 153"/>
              <a:gd name="T39" fmla="*/ 0 h 479"/>
              <a:gd name="T40" fmla="*/ 2147483646 w 153"/>
              <a:gd name="T41" fmla="*/ 0 h 479"/>
              <a:gd name="T42" fmla="*/ 2147483646 w 153"/>
              <a:gd name="T43" fmla="*/ 2147483646 h 479"/>
              <a:gd name="T44" fmla="*/ 2147483646 w 153"/>
              <a:gd name="T45" fmla="*/ 2147483646 h 479"/>
              <a:gd name="T46" fmla="*/ 2147483646 w 153"/>
              <a:gd name="T47" fmla="*/ 2147483646 h 479"/>
              <a:gd name="T48" fmla="*/ 2147483646 w 153"/>
              <a:gd name="T49" fmla="*/ 2147483646 h 479"/>
              <a:gd name="T50" fmla="*/ 2147483646 w 153"/>
              <a:gd name="T51" fmla="*/ 2147483646 h 479"/>
              <a:gd name="T52" fmla="*/ 2147483646 w 153"/>
              <a:gd name="T53" fmla="*/ 2147483646 h 479"/>
              <a:gd name="T54" fmla="*/ 2147483646 w 153"/>
              <a:gd name="T55" fmla="*/ 2147483646 h 479"/>
              <a:gd name="T56" fmla="*/ 2147483646 w 153"/>
              <a:gd name="T57" fmla="*/ 2147483646 h 479"/>
              <a:gd name="T58" fmla="*/ 2147483646 w 153"/>
              <a:gd name="T59" fmla="*/ 2147483646 h 479"/>
              <a:gd name="T60" fmla="*/ 2147483646 w 153"/>
              <a:gd name="T61" fmla="*/ 2147483646 h 479"/>
              <a:gd name="T62" fmla="*/ 2147483646 w 153"/>
              <a:gd name="T63" fmla="*/ 2147483646 h 479"/>
              <a:gd name="T64" fmla="*/ 2147483646 w 153"/>
              <a:gd name="T65" fmla="*/ 2147483646 h 479"/>
              <a:gd name="T66" fmla="*/ 2147483646 w 153"/>
              <a:gd name="T67" fmla="*/ 2147483646 h 479"/>
              <a:gd name="T68" fmla="*/ 2147483646 w 153"/>
              <a:gd name="T69" fmla="*/ 2147483646 h 479"/>
              <a:gd name="T70" fmla="*/ 2147483646 w 153"/>
              <a:gd name="T71" fmla="*/ 2147483646 h 479"/>
              <a:gd name="T72" fmla="*/ 2147483646 w 153"/>
              <a:gd name="T73" fmla="*/ 2147483646 h 479"/>
              <a:gd name="T74" fmla="*/ 2147483646 w 153"/>
              <a:gd name="T75" fmla="*/ 2147483646 h 479"/>
              <a:gd name="T76" fmla="*/ 2147483646 w 153"/>
              <a:gd name="T77" fmla="*/ 2147483646 h 479"/>
              <a:gd name="T78" fmla="*/ 2147483646 w 153"/>
              <a:gd name="T79" fmla="*/ 2147483646 h 479"/>
              <a:gd name="T80" fmla="*/ 2147483646 w 153"/>
              <a:gd name="T81" fmla="*/ 2147483646 h 479"/>
              <a:gd name="T82" fmla="*/ 2147483646 w 153"/>
              <a:gd name="T83" fmla="*/ 2147483646 h 479"/>
              <a:gd name="T84" fmla="*/ 2147483646 w 153"/>
              <a:gd name="T85" fmla="*/ 2147483646 h 479"/>
              <a:gd name="T86" fmla="*/ 2147483646 w 153"/>
              <a:gd name="T87" fmla="*/ 2147483646 h 479"/>
              <a:gd name="T88" fmla="*/ 2147483646 w 153"/>
              <a:gd name="T89" fmla="*/ 2147483646 h 479"/>
              <a:gd name="T90" fmla="*/ 2147483646 w 153"/>
              <a:gd name="T91" fmla="*/ 2147483646 h 479"/>
              <a:gd name="T92" fmla="*/ 2147483646 w 153"/>
              <a:gd name="T93" fmla="*/ 2147483646 h 479"/>
              <a:gd name="T94" fmla="*/ 2147483646 w 153"/>
              <a:gd name="T95" fmla="*/ 2147483646 h 479"/>
              <a:gd name="T96" fmla="*/ 2147483646 w 153"/>
              <a:gd name="T97" fmla="*/ 2147483646 h 479"/>
              <a:gd name="T98" fmla="*/ 2147483646 w 153"/>
              <a:gd name="T99" fmla="*/ 2147483646 h 479"/>
              <a:gd name="T100" fmla="*/ 2147483646 w 153"/>
              <a:gd name="T101" fmla="*/ 2147483646 h 479"/>
              <a:gd name="T102" fmla="*/ 2147483646 w 153"/>
              <a:gd name="T103" fmla="*/ 2147483646 h 479"/>
              <a:gd name="T104" fmla="*/ 2147483646 w 153"/>
              <a:gd name="T105" fmla="*/ 2147483646 h 479"/>
              <a:gd name="T106" fmla="*/ 2147483646 w 153"/>
              <a:gd name="T107" fmla="*/ 2147483646 h 479"/>
              <a:gd name="T108" fmla="*/ 2147483646 w 153"/>
              <a:gd name="T109" fmla="*/ 2147483646 h 479"/>
              <a:gd name="T110" fmla="*/ 2147483646 w 153"/>
              <a:gd name="T111" fmla="*/ 2147483646 h 479"/>
              <a:gd name="T112" fmla="*/ 2147483646 w 153"/>
              <a:gd name="T113" fmla="*/ 2147483646 h 479"/>
              <a:gd name="T114" fmla="*/ 2147483646 w 153"/>
              <a:gd name="T115" fmla="*/ 2147483646 h 479"/>
              <a:gd name="T116" fmla="*/ 2147483646 w 153"/>
              <a:gd name="T117" fmla="*/ 2147483646 h 479"/>
              <a:gd name="T118" fmla="*/ 2147483646 w 153"/>
              <a:gd name="T119" fmla="*/ 2147483646 h 4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3" h="479">
                <a:moveTo>
                  <a:pt x="31" y="247"/>
                </a:moveTo>
                <a:lnTo>
                  <a:pt x="28" y="269"/>
                </a:lnTo>
                <a:lnTo>
                  <a:pt x="9" y="243"/>
                </a:lnTo>
                <a:lnTo>
                  <a:pt x="13" y="197"/>
                </a:lnTo>
                <a:lnTo>
                  <a:pt x="0" y="164"/>
                </a:lnTo>
                <a:lnTo>
                  <a:pt x="0" y="161"/>
                </a:lnTo>
                <a:lnTo>
                  <a:pt x="1" y="156"/>
                </a:lnTo>
                <a:lnTo>
                  <a:pt x="4" y="147"/>
                </a:lnTo>
                <a:lnTo>
                  <a:pt x="6" y="138"/>
                </a:lnTo>
                <a:lnTo>
                  <a:pt x="10" y="126"/>
                </a:lnTo>
                <a:lnTo>
                  <a:pt x="13" y="117"/>
                </a:lnTo>
                <a:lnTo>
                  <a:pt x="17" y="107"/>
                </a:lnTo>
                <a:lnTo>
                  <a:pt x="21" y="100"/>
                </a:lnTo>
                <a:lnTo>
                  <a:pt x="27" y="95"/>
                </a:lnTo>
                <a:lnTo>
                  <a:pt x="32" y="90"/>
                </a:lnTo>
                <a:lnTo>
                  <a:pt x="40" y="84"/>
                </a:lnTo>
                <a:lnTo>
                  <a:pt x="48" y="79"/>
                </a:lnTo>
                <a:lnTo>
                  <a:pt x="54" y="74"/>
                </a:lnTo>
                <a:lnTo>
                  <a:pt x="60" y="71"/>
                </a:lnTo>
                <a:lnTo>
                  <a:pt x="65" y="69"/>
                </a:lnTo>
                <a:lnTo>
                  <a:pt x="65" y="68"/>
                </a:lnTo>
                <a:lnTo>
                  <a:pt x="65" y="56"/>
                </a:lnTo>
                <a:lnTo>
                  <a:pt x="57" y="42"/>
                </a:lnTo>
                <a:lnTo>
                  <a:pt x="56" y="39"/>
                </a:lnTo>
                <a:lnTo>
                  <a:pt x="56" y="36"/>
                </a:lnTo>
                <a:lnTo>
                  <a:pt x="55" y="32"/>
                </a:lnTo>
                <a:lnTo>
                  <a:pt x="55" y="27"/>
                </a:lnTo>
                <a:lnTo>
                  <a:pt x="56" y="22"/>
                </a:lnTo>
                <a:lnTo>
                  <a:pt x="58" y="18"/>
                </a:lnTo>
                <a:lnTo>
                  <a:pt x="60" y="13"/>
                </a:lnTo>
                <a:lnTo>
                  <a:pt x="63" y="10"/>
                </a:lnTo>
                <a:lnTo>
                  <a:pt x="65" y="8"/>
                </a:lnTo>
                <a:lnTo>
                  <a:pt x="65" y="4"/>
                </a:lnTo>
                <a:lnTo>
                  <a:pt x="67" y="3"/>
                </a:lnTo>
                <a:lnTo>
                  <a:pt x="69" y="1"/>
                </a:lnTo>
                <a:lnTo>
                  <a:pt x="72" y="0"/>
                </a:lnTo>
                <a:lnTo>
                  <a:pt x="76" y="0"/>
                </a:lnTo>
                <a:lnTo>
                  <a:pt x="84" y="0"/>
                </a:lnTo>
                <a:lnTo>
                  <a:pt x="92" y="0"/>
                </a:lnTo>
                <a:lnTo>
                  <a:pt x="96" y="0"/>
                </a:lnTo>
                <a:lnTo>
                  <a:pt x="99" y="0"/>
                </a:lnTo>
                <a:lnTo>
                  <a:pt x="101" y="1"/>
                </a:lnTo>
                <a:lnTo>
                  <a:pt x="102" y="3"/>
                </a:lnTo>
                <a:lnTo>
                  <a:pt x="103" y="4"/>
                </a:lnTo>
                <a:lnTo>
                  <a:pt x="105" y="7"/>
                </a:lnTo>
                <a:lnTo>
                  <a:pt x="108" y="10"/>
                </a:lnTo>
                <a:lnTo>
                  <a:pt x="111" y="13"/>
                </a:lnTo>
                <a:lnTo>
                  <a:pt x="113" y="17"/>
                </a:lnTo>
                <a:lnTo>
                  <a:pt x="113" y="22"/>
                </a:lnTo>
                <a:lnTo>
                  <a:pt x="113" y="27"/>
                </a:lnTo>
                <a:lnTo>
                  <a:pt x="112" y="31"/>
                </a:lnTo>
                <a:lnTo>
                  <a:pt x="111" y="35"/>
                </a:lnTo>
                <a:lnTo>
                  <a:pt x="110" y="38"/>
                </a:lnTo>
                <a:lnTo>
                  <a:pt x="110" y="39"/>
                </a:lnTo>
                <a:lnTo>
                  <a:pt x="100" y="60"/>
                </a:lnTo>
                <a:lnTo>
                  <a:pt x="99" y="68"/>
                </a:lnTo>
                <a:lnTo>
                  <a:pt x="101" y="69"/>
                </a:lnTo>
                <a:lnTo>
                  <a:pt x="105" y="72"/>
                </a:lnTo>
                <a:lnTo>
                  <a:pt x="112" y="76"/>
                </a:lnTo>
                <a:lnTo>
                  <a:pt x="119" y="81"/>
                </a:lnTo>
                <a:lnTo>
                  <a:pt x="127" y="86"/>
                </a:lnTo>
                <a:lnTo>
                  <a:pt x="134" y="91"/>
                </a:lnTo>
                <a:lnTo>
                  <a:pt x="138" y="95"/>
                </a:lnTo>
                <a:lnTo>
                  <a:pt x="140" y="97"/>
                </a:lnTo>
                <a:lnTo>
                  <a:pt x="141" y="102"/>
                </a:lnTo>
                <a:lnTo>
                  <a:pt x="141" y="111"/>
                </a:lnTo>
                <a:lnTo>
                  <a:pt x="143" y="124"/>
                </a:lnTo>
                <a:lnTo>
                  <a:pt x="145" y="138"/>
                </a:lnTo>
                <a:lnTo>
                  <a:pt x="146" y="152"/>
                </a:lnTo>
                <a:lnTo>
                  <a:pt x="148" y="165"/>
                </a:lnTo>
                <a:lnTo>
                  <a:pt x="149" y="176"/>
                </a:lnTo>
                <a:lnTo>
                  <a:pt x="150" y="182"/>
                </a:lnTo>
                <a:lnTo>
                  <a:pt x="150" y="186"/>
                </a:lnTo>
                <a:lnTo>
                  <a:pt x="151" y="195"/>
                </a:lnTo>
                <a:lnTo>
                  <a:pt x="151" y="206"/>
                </a:lnTo>
                <a:lnTo>
                  <a:pt x="152" y="219"/>
                </a:lnTo>
                <a:lnTo>
                  <a:pt x="152" y="232"/>
                </a:lnTo>
                <a:lnTo>
                  <a:pt x="152" y="244"/>
                </a:lnTo>
                <a:lnTo>
                  <a:pt x="151" y="255"/>
                </a:lnTo>
                <a:lnTo>
                  <a:pt x="149" y="263"/>
                </a:lnTo>
                <a:lnTo>
                  <a:pt x="147" y="266"/>
                </a:lnTo>
                <a:lnTo>
                  <a:pt x="146" y="268"/>
                </a:lnTo>
                <a:lnTo>
                  <a:pt x="143" y="269"/>
                </a:lnTo>
                <a:lnTo>
                  <a:pt x="140" y="269"/>
                </a:lnTo>
                <a:lnTo>
                  <a:pt x="137" y="270"/>
                </a:lnTo>
                <a:lnTo>
                  <a:pt x="135" y="269"/>
                </a:lnTo>
                <a:lnTo>
                  <a:pt x="134" y="269"/>
                </a:lnTo>
                <a:lnTo>
                  <a:pt x="133" y="269"/>
                </a:lnTo>
                <a:lnTo>
                  <a:pt x="135" y="263"/>
                </a:lnTo>
                <a:lnTo>
                  <a:pt x="141" y="257"/>
                </a:lnTo>
                <a:lnTo>
                  <a:pt x="129" y="264"/>
                </a:lnTo>
                <a:lnTo>
                  <a:pt x="132" y="328"/>
                </a:lnTo>
                <a:lnTo>
                  <a:pt x="130" y="348"/>
                </a:lnTo>
                <a:lnTo>
                  <a:pt x="112" y="422"/>
                </a:lnTo>
                <a:lnTo>
                  <a:pt x="134" y="441"/>
                </a:lnTo>
                <a:lnTo>
                  <a:pt x="137" y="453"/>
                </a:lnTo>
                <a:lnTo>
                  <a:pt x="112" y="451"/>
                </a:lnTo>
                <a:lnTo>
                  <a:pt x="82" y="452"/>
                </a:lnTo>
                <a:lnTo>
                  <a:pt x="81" y="453"/>
                </a:lnTo>
                <a:lnTo>
                  <a:pt x="80" y="456"/>
                </a:lnTo>
                <a:lnTo>
                  <a:pt x="77" y="460"/>
                </a:lnTo>
                <a:lnTo>
                  <a:pt x="74" y="464"/>
                </a:lnTo>
                <a:lnTo>
                  <a:pt x="70" y="469"/>
                </a:lnTo>
                <a:lnTo>
                  <a:pt x="67" y="473"/>
                </a:lnTo>
                <a:lnTo>
                  <a:pt x="64" y="476"/>
                </a:lnTo>
                <a:lnTo>
                  <a:pt x="60" y="478"/>
                </a:lnTo>
                <a:lnTo>
                  <a:pt x="58" y="478"/>
                </a:lnTo>
                <a:lnTo>
                  <a:pt x="54" y="478"/>
                </a:lnTo>
                <a:lnTo>
                  <a:pt x="51" y="477"/>
                </a:lnTo>
                <a:lnTo>
                  <a:pt x="48" y="477"/>
                </a:lnTo>
                <a:lnTo>
                  <a:pt x="46" y="476"/>
                </a:lnTo>
                <a:lnTo>
                  <a:pt x="43" y="475"/>
                </a:lnTo>
                <a:lnTo>
                  <a:pt x="42" y="475"/>
                </a:lnTo>
                <a:lnTo>
                  <a:pt x="42" y="474"/>
                </a:lnTo>
                <a:lnTo>
                  <a:pt x="47" y="457"/>
                </a:lnTo>
                <a:lnTo>
                  <a:pt x="54" y="438"/>
                </a:lnTo>
                <a:lnTo>
                  <a:pt x="37" y="355"/>
                </a:lnTo>
                <a:lnTo>
                  <a:pt x="33" y="276"/>
                </a:lnTo>
                <a:lnTo>
                  <a:pt x="31" y="247"/>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9" name="Freeform 19">
            <a:extLst>
              <a:ext uri="{FF2B5EF4-FFF2-40B4-BE49-F238E27FC236}">
                <a16:creationId xmlns:a16="http://schemas.microsoft.com/office/drawing/2014/main" id="{EC8BB776-FE93-8BEB-3568-F99A20667DBF}"/>
              </a:ext>
            </a:extLst>
          </p:cNvPr>
          <p:cNvSpPr>
            <a:spLocks/>
          </p:cNvSpPr>
          <p:nvPr/>
        </p:nvSpPr>
        <p:spPr bwMode="auto">
          <a:xfrm>
            <a:off x="1285355" y="3490937"/>
            <a:ext cx="241300" cy="762000"/>
          </a:xfrm>
          <a:custGeom>
            <a:avLst/>
            <a:gdLst>
              <a:gd name="T0" fmla="*/ 2147483646 w 152"/>
              <a:gd name="T1" fmla="*/ 2147483646 h 480"/>
              <a:gd name="T2" fmla="*/ 2147483646 w 152"/>
              <a:gd name="T3" fmla="*/ 2147483646 h 480"/>
              <a:gd name="T4" fmla="*/ 0 w 152"/>
              <a:gd name="T5" fmla="*/ 2147483646 h 480"/>
              <a:gd name="T6" fmla="*/ 2147483646 w 152"/>
              <a:gd name="T7" fmla="*/ 2147483646 h 480"/>
              <a:gd name="T8" fmla="*/ 2147483646 w 152"/>
              <a:gd name="T9" fmla="*/ 2147483646 h 480"/>
              <a:gd name="T10" fmla="*/ 2147483646 w 152"/>
              <a:gd name="T11" fmla="*/ 2147483646 h 480"/>
              <a:gd name="T12" fmla="*/ 2147483646 w 152"/>
              <a:gd name="T13" fmla="*/ 2147483646 h 480"/>
              <a:gd name="T14" fmla="*/ 2147483646 w 152"/>
              <a:gd name="T15" fmla="*/ 2147483646 h 480"/>
              <a:gd name="T16" fmla="*/ 2147483646 w 152"/>
              <a:gd name="T17" fmla="*/ 2147483646 h 480"/>
              <a:gd name="T18" fmla="*/ 2147483646 w 152"/>
              <a:gd name="T19" fmla="*/ 2147483646 h 480"/>
              <a:gd name="T20" fmla="*/ 2147483646 w 152"/>
              <a:gd name="T21" fmla="*/ 2147483646 h 480"/>
              <a:gd name="T22" fmla="*/ 2147483646 w 152"/>
              <a:gd name="T23" fmla="*/ 2147483646 h 480"/>
              <a:gd name="T24" fmla="*/ 2147483646 w 152"/>
              <a:gd name="T25" fmla="*/ 2147483646 h 480"/>
              <a:gd name="T26" fmla="*/ 2147483646 w 152"/>
              <a:gd name="T27" fmla="*/ 2147483646 h 480"/>
              <a:gd name="T28" fmla="*/ 2147483646 w 152"/>
              <a:gd name="T29" fmla="*/ 2147483646 h 480"/>
              <a:gd name="T30" fmla="*/ 2147483646 w 152"/>
              <a:gd name="T31" fmla="*/ 2147483646 h 480"/>
              <a:gd name="T32" fmla="*/ 2147483646 w 152"/>
              <a:gd name="T33" fmla="*/ 2147483646 h 480"/>
              <a:gd name="T34" fmla="*/ 2147483646 w 152"/>
              <a:gd name="T35" fmla="*/ 2147483646 h 480"/>
              <a:gd name="T36" fmla="*/ 2147483646 w 152"/>
              <a:gd name="T37" fmla="*/ 0 h 480"/>
              <a:gd name="T38" fmla="*/ 2147483646 w 152"/>
              <a:gd name="T39" fmla="*/ 0 h 480"/>
              <a:gd name="T40" fmla="*/ 2147483646 w 152"/>
              <a:gd name="T41" fmla="*/ 2147483646 h 480"/>
              <a:gd name="T42" fmla="*/ 2147483646 w 152"/>
              <a:gd name="T43" fmla="*/ 2147483646 h 480"/>
              <a:gd name="T44" fmla="*/ 2147483646 w 152"/>
              <a:gd name="T45" fmla="*/ 2147483646 h 480"/>
              <a:gd name="T46" fmla="*/ 2147483646 w 152"/>
              <a:gd name="T47" fmla="*/ 2147483646 h 480"/>
              <a:gd name="T48" fmla="*/ 2147483646 w 152"/>
              <a:gd name="T49" fmla="*/ 2147483646 h 480"/>
              <a:gd name="T50" fmla="*/ 2147483646 w 152"/>
              <a:gd name="T51" fmla="*/ 2147483646 h 480"/>
              <a:gd name="T52" fmla="*/ 2147483646 w 152"/>
              <a:gd name="T53" fmla="*/ 2147483646 h 480"/>
              <a:gd name="T54" fmla="*/ 2147483646 w 152"/>
              <a:gd name="T55" fmla="*/ 2147483646 h 480"/>
              <a:gd name="T56" fmla="*/ 2147483646 w 152"/>
              <a:gd name="T57" fmla="*/ 2147483646 h 480"/>
              <a:gd name="T58" fmla="*/ 2147483646 w 152"/>
              <a:gd name="T59" fmla="*/ 2147483646 h 480"/>
              <a:gd name="T60" fmla="*/ 2147483646 w 152"/>
              <a:gd name="T61" fmla="*/ 2147483646 h 480"/>
              <a:gd name="T62" fmla="*/ 2147483646 w 152"/>
              <a:gd name="T63" fmla="*/ 2147483646 h 480"/>
              <a:gd name="T64" fmla="*/ 2147483646 w 152"/>
              <a:gd name="T65" fmla="*/ 2147483646 h 480"/>
              <a:gd name="T66" fmla="*/ 2147483646 w 152"/>
              <a:gd name="T67" fmla="*/ 2147483646 h 480"/>
              <a:gd name="T68" fmla="*/ 2147483646 w 152"/>
              <a:gd name="T69" fmla="*/ 2147483646 h 480"/>
              <a:gd name="T70" fmla="*/ 2147483646 w 152"/>
              <a:gd name="T71" fmla="*/ 2147483646 h 480"/>
              <a:gd name="T72" fmla="*/ 2147483646 w 152"/>
              <a:gd name="T73" fmla="*/ 2147483646 h 480"/>
              <a:gd name="T74" fmla="*/ 2147483646 w 152"/>
              <a:gd name="T75" fmla="*/ 2147483646 h 480"/>
              <a:gd name="T76" fmla="*/ 2147483646 w 152"/>
              <a:gd name="T77" fmla="*/ 2147483646 h 480"/>
              <a:gd name="T78" fmla="*/ 2147483646 w 152"/>
              <a:gd name="T79" fmla="*/ 2147483646 h 480"/>
              <a:gd name="T80" fmla="*/ 2147483646 w 152"/>
              <a:gd name="T81" fmla="*/ 2147483646 h 480"/>
              <a:gd name="T82" fmla="*/ 2147483646 w 152"/>
              <a:gd name="T83" fmla="*/ 2147483646 h 480"/>
              <a:gd name="T84" fmla="*/ 2147483646 w 152"/>
              <a:gd name="T85" fmla="*/ 2147483646 h 480"/>
              <a:gd name="T86" fmla="*/ 2147483646 w 152"/>
              <a:gd name="T87" fmla="*/ 2147483646 h 480"/>
              <a:gd name="T88" fmla="*/ 2147483646 w 152"/>
              <a:gd name="T89" fmla="*/ 2147483646 h 480"/>
              <a:gd name="T90" fmla="*/ 2147483646 w 152"/>
              <a:gd name="T91" fmla="*/ 2147483646 h 480"/>
              <a:gd name="T92" fmla="*/ 2147483646 w 152"/>
              <a:gd name="T93" fmla="*/ 2147483646 h 480"/>
              <a:gd name="T94" fmla="*/ 2147483646 w 152"/>
              <a:gd name="T95" fmla="*/ 2147483646 h 480"/>
              <a:gd name="T96" fmla="*/ 2147483646 w 152"/>
              <a:gd name="T97" fmla="*/ 2147483646 h 480"/>
              <a:gd name="T98" fmla="*/ 2147483646 w 152"/>
              <a:gd name="T99" fmla="*/ 2147483646 h 480"/>
              <a:gd name="T100" fmla="*/ 2147483646 w 152"/>
              <a:gd name="T101" fmla="*/ 2147483646 h 480"/>
              <a:gd name="T102" fmla="*/ 2147483646 w 152"/>
              <a:gd name="T103" fmla="*/ 2147483646 h 480"/>
              <a:gd name="T104" fmla="*/ 2147483646 w 152"/>
              <a:gd name="T105" fmla="*/ 2147483646 h 480"/>
              <a:gd name="T106" fmla="*/ 2147483646 w 152"/>
              <a:gd name="T107" fmla="*/ 2147483646 h 480"/>
              <a:gd name="T108" fmla="*/ 2147483646 w 152"/>
              <a:gd name="T109" fmla="*/ 2147483646 h 480"/>
              <a:gd name="T110" fmla="*/ 2147483646 w 152"/>
              <a:gd name="T111" fmla="*/ 2147483646 h 480"/>
              <a:gd name="T112" fmla="*/ 2147483646 w 152"/>
              <a:gd name="T113" fmla="*/ 2147483646 h 480"/>
              <a:gd name="T114" fmla="*/ 2147483646 w 152"/>
              <a:gd name="T115" fmla="*/ 2147483646 h 480"/>
              <a:gd name="T116" fmla="*/ 2147483646 w 152"/>
              <a:gd name="T117" fmla="*/ 2147483646 h 480"/>
              <a:gd name="T118" fmla="*/ 2147483646 w 152"/>
              <a:gd name="T119" fmla="*/ 2147483646 h 48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2" h="480">
                <a:moveTo>
                  <a:pt x="30" y="248"/>
                </a:moveTo>
                <a:lnTo>
                  <a:pt x="27" y="269"/>
                </a:lnTo>
                <a:lnTo>
                  <a:pt x="8" y="243"/>
                </a:lnTo>
                <a:lnTo>
                  <a:pt x="13" y="198"/>
                </a:lnTo>
                <a:lnTo>
                  <a:pt x="0" y="165"/>
                </a:lnTo>
                <a:lnTo>
                  <a:pt x="0" y="162"/>
                </a:lnTo>
                <a:lnTo>
                  <a:pt x="1" y="156"/>
                </a:lnTo>
                <a:lnTo>
                  <a:pt x="3" y="148"/>
                </a:lnTo>
                <a:lnTo>
                  <a:pt x="5" y="138"/>
                </a:lnTo>
                <a:lnTo>
                  <a:pt x="9" y="127"/>
                </a:lnTo>
                <a:lnTo>
                  <a:pt x="12" y="117"/>
                </a:lnTo>
                <a:lnTo>
                  <a:pt x="16" y="108"/>
                </a:lnTo>
                <a:lnTo>
                  <a:pt x="21" y="101"/>
                </a:lnTo>
                <a:lnTo>
                  <a:pt x="26" y="95"/>
                </a:lnTo>
                <a:lnTo>
                  <a:pt x="32" y="90"/>
                </a:lnTo>
                <a:lnTo>
                  <a:pt x="39" y="85"/>
                </a:lnTo>
                <a:lnTo>
                  <a:pt x="47" y="79"/>
                </a:lnTo>
                <a:lnTo>
                  <a:pt x="53" y="75"/>
                </a:lnTo>
                <a:lnTo>
                  <a:pt x="59" y="72"/>
                </a:lnTo>
                <a:lnTo>
                  <a:pt x="64" y="69"/>
                </a:lnTo>
                <a:lnTo>
                  <a:pt x="65" y="69"/>
                </a:lnTo>
                <a:lnTo>
                  <a:pt x="64" y="56"/>
                </a:lnTo>
                <a:lnTo>
                  <a:pt x="57" y="43"/>
                </a:lnTo>
                <a:lnTo>
                  <a:pt x="56" y="42"/>
                </a:lnTo>
                <a:lnTo>
                  <a:pt x="56" y="39"/>
                </a:lnTo>
                <a:lnTo>
                  <a:pt x="55" y="36"/>
                </a:lnTo>
                <a:lnTo>
                  <a:pt x="55" y="32"/>
                </a:lnTo>
                <a:lnTo>
                  <a:pt x="55" y="28"/>
                </a:lnTo>
                <a:lnTo>
                  <a:pt x="55" y="23"/>
                </a:lnTo>
                <a:lnTo>
                  <a:pt x="57" y="18"/>
                </a:lnTo>
                <a:lnTo>
                  <a:pt x="59" y="14"/>
                </a:lnTo>
                <a:lnTo>
                  <a:pt x="62" y="11"/>
                </a:lnTo>
                <a:lnTo>
                  <a:pt x="64" y="8"/>
                </a:lnTo>
                <a:lnTo>
                  <a:pt x="64" y="5"/>
                </a:lnTo>
                <a:lnTo>
                  <a:pt x="66" y="4"/>
                </a:lnTo>
                <a:lnTo>
                  <a:pt x="68" y="2"/>
                </a:lnTo>
                <a:lnTo>
                  <a:pt x="71" y="0"/>
                </a:lnTo>
                <a:lnTo>
                  <a:pt x="76" y="0"/>
                </a:lnTo>
                <a:lnTo>
                  <a:pt x="83" y="0"/>
                </a:lnTo>
                <a:lnTo>
                  <a:pt x="91" y="0"/>
                </a:lnTo>
                <a:lnTo>
                  <a:pt x="96" y="0"/>
                </a:lnTo>
                <a:lnTo>
                  <a:pt x="98" y="1"/>
                </a:lnTo>
                <a:lnTo>
                  <a:pt x="100" y="2"/>
                </a:lnTo>
                <a:lnTo>
                  <a:pt x="101" y="4"/>
                </a:lnTo>
                <a:lnTo>
                  <a:pt x="102" y="5"/>
                </a:lnTo>
                <a:lnTo>
                  <a:pt x="104" y="8"/>
                </a:lnTo>
                <a:lnTo>
                  <a:pt x="107" y="10"/>
                </a:lnTo>
                <a:lnTo>
                  <a:pt x="110" y="13"/>
                </a:lnTo>
                <a:lnTo>
                  <a:pt x="112" y="17"/>
                </a:lnTo>
                <a:lnTo>
                  <a:pt x="112" y="22"/>
                </a:lnTo>
                <a:lnTo>
                  <a:pt x="112" y="27"/>
                </a:lnTo>
                <a:lnTo>
                  <a:pt x="111" y="32"/>
                </a:lnTo>
                <a:lnTo>
                  <a:pt x="110" y="36"/>
                </a:lnTo>
                <a:lnTo>
                  <a:pt x="109" y="39"/>
                </a:lnTo>
                <a:lnTo>
                  <a:pt x="99" y="60"/>
                </a:lnTo>
                <a:lnTo>
                  <a:pt x="98" y="69"/>
                </a:lnTo>
                <a:lnTo>
                  <a:pt x="100" y="69"/>
                </a:lnTo>
                <a:lnTo>
                  <a:pt x="104" y="73"/>
                </a:lnTo>
                <a:lnTo>
                  <a:pt x="111" y="77"/>
                </a:lnTo>
                <a:lnTo>
                  <a:pt x="118" y="82"/>
                </a:lnTo>
                <a:lnTo>
                  <a:pt x="126" y="87"/>
                </a:lnTo>
                <a:lnTo>
                  <a:pt x="133" y="91"/>
                </a:lnTo>
                <a:lnTo>
                  <a:pt x="138" y="95"/>
                </a:lnTo>
                <a:lnTo>
                  <a:pt x="140" y="98"/>
                </a:lnTo>
                <a:lnTo>
                  <a:pt x="140" y="103"/>
                </a:lnTo>
                <a:lnTo>
                  <a:pt x="140" y="112"/>
                </a:lnTo>
                <a:lnTo>
                  <a:pt x="142" y="124"/>
                </a:lnTo>
                <a:lnTo>
                  <a:pt x="144" y="139"/>
                </a:lnTo>
                <a:lnTo>
                  <a:pt x="145" y="152"/>
                </a:lnTo>
                <a:lnTo>
                  <a:pt x="147" y="165"/>
                </a:lnTo>
                <a:lnTo>
                  <a:pt x="149" y="176"/>
                </a:lnTo>
                <a:lnTo>
                  <a:pt x="149" y="182"/>
                </a:lnTo>
                <a:lnTo>
                  <a:pt x="149" y="187"/>
                </a:lnTo>
                <a:lnTo>
                  <a:pt x="150" y="195"/>
                </a:lnTo>
                <a:lnTo>
                  <a:pt x="150" y="207"/>
                </a:lnTo>
                <a:lnTo>
                  <a:pt x="151" y="219"/>
                </a:lnTo>
                <a:lnTo>
                  <a:pt x="151" y="232"/>
                </a:lnTo>
                <a:lnTo>
                  <a:pt x="151" y="245"/>
                </a:lnTo>
                <a:lnTo>
                  <a:pt x="150" y="256"/>
                </a:lnTo>
                <a:lnTo>
                  <a:pt x="148" y="264"/>
                </a:lnTo>
                <a:lnTo>
                  <a:pt x="147" y="267"/>
                </a:lnTo>
                <a:lnTo>
                  <a:pt x="145" y="269"/>
                </a:lnTo>
                <a:lnTo>
                  <a:pt x="142" y="269"/>
                </a:lnTo>
                <a:lnTo>
                  <a:pt x="140" y="270"/>
                </a:lnTo>
                <a:lnTo>
                  <a:pt x="137" y="270"/>
                </a:lnTo>
                <a:lnTo>
                  <a:pt x="134" y="270"/>
                </a:lnTo>
                <a:lnTo>
                  <a:pt x="133" y="270"/>
                </a:lnTo>
                <a:lnTo>
                  <a:pt x="134" y="263"/>
                </a:lnTo>
                <a:lnTo>
                  <a:pt x="140" y="258"/>
                </a:lnTo>
                <a:lnTo>
                  <a:pt x="128" y="265"/>
                </a:lnTo>
                <a:lnTo>
                  <a:pt x="131" y="329"/>
                </a:lnTo>
                <a:lnTo>
                  <a:pt x="129" y="349"/>
                </a:lnTo>
                <a:lnTo>
                  <a:pt x="111" y="423"/>
                </a:lnTo>
                <a:lnTo>
                  <a:pt x="133" y="441"/>
                </a:lnTo>
                <a:lnTo>
                  <a:pt x="136" y="453"/>
                </a:lnTo>
                <a:lnTo>
                  <a:pt x="112" y="452"/>
                </a:lnTo>
                <a:lnTo>
                  <a:pt x="81" y="453"/>
                </a:lnTo>
                <a:lnTo>
                  <a:pt x="80" y="454"/>
                </a:lnTo>
                <a:lnTo>
                  <a:pt x="79" y="457"/>
                </a:lnTo>
                <a:lnTo>
                  <a:pt x="76" y="461"/>
                </a:lnTo>
                <a:lnTo>
                  <a:pt x="74" y="465"/>
                </a:lnTo>
                <a:lnTo>
                  <a:pt x="70" y="470"/>
                </a:lnTo>
                <a:lnTo>
                  <a:pt x="66" y="474"/>
                </a:lnTo>
                <a:lnTo>
                  <a:pt x="63" y="476"/>
                </a:lnTo>
                <a:lnTo>
                  <a:pt x="60" y="478"/>
                </a:lnTo>
                <a:lnTo>
                  <a:pt x="57" y="479"/>
                </a:lnTo>
                <a:lnTo>
                  <a:pt x="53" y="479"/>
                </a:lnTo>
                <a:lnTo>
                  <a:pt x="51" y="478"/>
                </a:lnTo>
                <a:lnTo>
                  <a:pt x="48" y="477"/>
                </a:lnTo>
                <a:lnTo>
                  <a:pt x="45" y="477"/>
                </a:lnTo>
                <a:lnTo>
                  <a:pt x="43" y="476"/>
                </a:lnTo>
                <a:lnTo>
                  <a:pt x="41" y="475"/>
                </a:lnTo>
                <a:lnTo>
                  <a:pt x="46" y="458"/>
                </a:lnTo>
                <a:lnTo>
                  <a:pt x="54" y="439"/>
                </a:lnTo>
                <a:lnTo>
                  <a:pt x="37" y="356"/>
                </a:lnTo>
                <a:lnTo>
                  <a:pt x="32" y="277"/>
                </a:lnTo>
                <a:lnTo>
                  <a:pt x="30" y="248"/>
                </a:lnTo>
              </a:path>
            </a:pathLst>
          </a:custGeom>
          <a:solidFill>
            <a:srgbClr val="9933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0" name="Freeform 20">
            <a:extLst>
              <a:ext uri="{FF2B5EF4-FFF2-40B4-BE49-F238E27FC236}">
                <a16:creationId xmlns:a16="http://schemas.microsoft.com/office/drawing/2014/main" id="{7B00E3E1-9764-6836-5F58-02A8C2231D06}"/>
              </a:ext>
            </a:extLst>
          </p:cNvPr>
          <p:cNvSpPr>
            <a:spLocks/>
          </p:cNvSpPr>
          <p:nvPr/>
        </p:nvSpPr>
        <p:spPr bwMode="auto">
          <a:xfrm>
            <a:off x="1429817" y="3594124"/>
            <a:ext cx="252413" cy="714375"/>
          </a:xfrm>
          <a:custGeom>
            <a:avLst/>
            <a:gdLst>
              <a:gd name="T0" fmla="*/ 2147483646 w 159"/>
              <a:gd name="T1" fmla="*/ 2147483646 h 450"/>
              <a:gd name="T2" fmla="*/ 2147483646 w 159"/>
              <a:gd name="T3" fmla="*/ 2147483646 h 450"/>
              <a:gd name="T4" fmla="*/ 2147483646 w 159"/>
              <a:gd name="T5" fmla="*/ 2147483646 h 450"/>
              <a:gd name="T6" fmla="*/ 2147483646 w 159"/>
              <a:gd name="T7" fmla="*/ 2147483646 h 450"/>
              <a:gd name="T8" fmla="*/ 2147483646 w 159"/>
              <a:gd name="T9" fmla="*/ 2147483646 h 450"/>
              <a:gd name="T10" fmla="*/ 2147483646 w 159"/>
              <a:gd name="T11" fmla="*/ 2147483646 h 450"/>
              <a:gd name="T12" fmla="*/ 2147483646 w 159"/>
              <a:gd name="T13" fmla="*/ 2147483646 h 450"/>
              <a:gd name="T14" fmla="*/ 2147483646 w 159"/>
              <a:gd name="T15" fmla="*/ 2147483646 h 450"/>
              <a:gd name="T16" fmla="*/ 2147483646 w 159"/>
              <a:gd name="T17" fmla="*/ 2147483646 h 450"/>
              <a:gd name="T18" fmla="*/ 2147483646 w 159"/>
              <a:gd name="T19" fmla="*/ 2147483646 h 450"/>
              <a:gd name="T20" fmla="*/ 2147483646 w 159"/>
              <a:gd name="T21" fmla="*/ 2147483646 h 450"/>
              <a:gd name="T22" fmla="*/ 2147483646 w 159"/>
              <a:gd name="T23" fmla="*/ 2147483646 h 450"/>
              <a:gd name="T24" fmla="*/ 2147483646 w 159"/>
              <a:gd name="T25" fmla="*/ 2147483646 h 450"/>
              <a:gd name="T26" fmla="*/ 2147483646 w 159"/>
              <a:gd name="T27" fmla="*/ 2147483646 h 450"/>
              <a:gd name="T28" fmla="*/ 2147483646 w 159"/>
              <a:gd name="T29" fmla="*/ 2147483646 h 450"/>
              <a:gd name="T30" fmla="*/ 2147483646 w 159"/>
              <a:gd name="T31" fmla="*/ 2147483646 h 450"/>
              <a:gd name="T32" fmla="*/ 2147483646 w 159"/>
              <a:gd name="T33" fmla="*/ 2147483646 h 450"/>
              <a:gd name="T34" fmla="*/ 2147483646 w 159"/>
              <a:gd name="T35" fmla="*/ 2147483646 h 450"/>
              <a:gd name="T36" fmla="*/ 2147483646 w 159"/>
              <a:gd name="T37" fmla="*/ 2147483646 h 450"/>
              <a:gd name="T38" fmla="*/ 2147483646 w 159"/>
              <a:gd name="T39" fmla="*/ 2147483646 h 450"/>
              <a:gd name="T40" fmla="*/ 2147483646 w 159"/>
              <a:gd name="T41" fmla="*/ 2147483646 h 450"/>
              <a:gd name="T42" fmla="*/ 2147483646 w 159"/>
              <a:gd name="T43" fmla="*/ 2147483646 h 450"/>
              <a:gd name="T44" fmla="*/ 2147483646 w 159"/>
              <a:gd name="T45" fmla="*/ 2147483646 h 450"/>
              <a:gd name="T46" fmla="*/ 2147483646 w 159"/>
              <a:gd name="T47" fmla="*/ 0 h 450"/>
              <a:gd name="T48" fmla="*/ 2147483646 w 159"/>
              <a:gd name="T49" fmla="*/ 2147483646 h 450"/>
              <a:gd name="T50" fmla="*/ 2147483646 w 159"/>
              <a:gd name="T51" fmla="*/ 2147483646 h 450"/>
              <a:gd name="T52" fmla="*/ 2147483646 w 159"/>
              <a:gd name="T53" fmla="*/ 2147483646 h 450"/>
              <a:gd name="T54" fmla="*/ 2147483646 w 159"/>
              <a:gd name="T55" fmla="*/ 2147483646 h 450"/>
              <a:gd name="T56" fmla="*/ 2147483646 w 159"/>
              <a:gd name="T57" fmla="*/ 2147483646 h 450"/>
              <a:gd name="T58" fmla="*/ 2147483646 w 159"/>
              <a:gd name="T59" fmla="*/ 2147483646 h 450"/>
              <a:gd name="T60" fmla="*/ 2147483646 w 159"/>
              <a:gd name="T61" fmla="*/ 2147483646 h 450"/>
              <a:gd name="T62" fmla="*/ 2147483646 w 159"/>
              <a:gd name="T63" fmla="*/ 2147483646 h 450"/>
              <a:gd name="T64" fmla="*/ 2147483646 w 159"/>
              <a:gd name="T65" fmla="*/ 2147483646 h 450"/>
              <a:gd name="T66" fmla="*/ 2147483646 w 159"/>
              <a:gd name="T67" fmla="*/ 2147483646 h 450"/>
              <a:gd name="T68" fmla="*/ 2147483646 w 159"/>
              <a:gd name="T69" fmla="*/ 2147483646 h 450"/>
              <a:gd name="T70" fmla="*/ 2147483646 w 159"/>
              <a:gd name="T71" fmla="*/ 2147483646 h 450"/>
              <a:gd name="T72" fmla="*/ 0 w 159"/>
              <a:gd name="T73" fmla="*/ 2147483646 h 450"/>
              <a:gd name="T74" fmla="*/ 2147483646 w 159"/>
              <a:gd name="T75" fmla="*/ 2147483646 h 450"/>
              <a:gd name="T76" fmla="*/ 2147483646 w 159"/>
              <a:gd name="T77" fmla="*/ 2147483646 h 450"/>
              <a:gd name="T78" fmla="*/ 2147483646 w 159"/>
              <a:gd name="T79" fmla="*/ 2147483646 h 450"/>
              <a:gd name="T80" fmla="*/ 2147483646 w 159"/>
              <a:gd name="T81" fmla="*/ 2147483646 h 450"/>
              <a:gd name="T82" fmla="*/ 2147483646 w 159"/>
              <a:gd name="T83" fmla="*/ 2147483646 h 450"/>
              <a:gd name="T84" fmla="*/ 2147483646 w 159"/>
              <a:gd name="T85" fmla="*/ 2147483646 h 450"/>
              <a:gd name="T86" fmla="*/ 2147483646 w 159"/>
              <a:gd name="T87" fmla="*/ 2147483646 h 450"/>
              <a:gd name="T88" fmla="*/ 2147483646 w 159"/>
              <a:gd name="T89" fmla="*/ 2147483646 h 450"/>
              <a:gd name="T90" fmla="*/ 2147483646 w 159"/>
              <a:gd name="T91" fmla="*/ 2147483646 h 450"/>
              <a:gd name="T92" fmla="*/ 2147483646 w 159"/>
              <a:gd name="T93" fmla="*/ 2147483646 h 450"/>
              <a:gd name="T94" fmla="*/ 2147483646 w 159"/>
              <a:gd name="T95" fmla="*/ 2147483646 h 450"/>
              <a:gd name="T96" fmla="*/ 2147483646 w 159"/>
              <a:gd name="T97" fmla="*/ 2147483646 h 450"/>
              <a:gd name="T98" fmla="*/ 2147483646 w 159"/>
              <a:gd name="T99" fmla="*/ 2147483646 h 450"/>
              <a:gd name="T100" fmla="*/ 2147483646 w 159"/>
              <a:gd name="T101" fmla="*/ 2147483646 h 450"/>
              <a:gd name="T102" fmla="*/ 2147483646 w 159"/>
              <a:gd name="T103" fmla="*/ 2147483646 h 450"/>
              <a:gd name="T104" fmla="*/ 2147483646 w 159"/>
              <a:gd name="T105" fmla="*/ 2147483646 h 450"/>
              <a:gd name="T106" fmla="*/ 2147483646 w 159"/>
              <a:gd name="T107" fmla="*/ 2147483646 h 450"/>
              <a:gd name="T108" fmla="*/ 2147483646 w 159"/>
              <a:gd name="T109" fmla="*/ 2147483646 h 450"/>
              <a:gd name="T110" fmla="*/ 2147483646 w 159"/>
              <a:gd name="T111" fmla="*/ 2147483646 h 450"/>
              <a:gd name="T112" fmla="*/ 2147483646 w 159"/>
              <a:gd name="T113" fmla="*/ 2147483646 h 450"/>
              <a:gd name="T114" fmla="*/ 2147483646 w 159"/>
              <a:gd name="T115" fmla="*/ 2147483646 h 450"/>
              <a:gd name="T116" fmla="*/ 2147483646 w 159"/>
              <a:gd name="T117" fmla="*/ 2147483646 h 450"/>
              <a:gd name="T118" fmla="*/ 2147483646 w 159"/>
              <a:gd name="T119" fmla="*/ 2147483646 h 450"/>
              <a:gd name="T120" fmla="*/ 2147483646 w 159"/>
              <a:gd name="T121" fmla="*/ 2147483646 h 450"/>
              <a:gd name="T122" fmla="*/ 2147483646 w 159"/>
              <a:gd name="T123" fmla="*/ 2147483646 h 450"/>
              <a:gd name="T124" fmla="*/ 2147483646 w 159"/>
              <a:gd name="T125" fmla="*/ 2147483646 h 45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59" h="450">
                <a:moveTo>
                  <a:pt x="157" y="429"/>
                </a:moveTo>
                <a:lnTo>
                  <a:pt x="155" y="428"/>
                </a:lnTo>
                <a:lnTo>
                  <a:pt x="152" y="427"/>
                </a:lnTo>
                <a:lnTo>
                  <a:pt x="146" y="423"/>
                </a:lnTo>
                <a:lnTo>
                  <a:pt x="140" y="419"/>
                </a:lnTo>
                <a:lnTo>
                  <a:pt x="134" y="413"/>
                </a:lnTo>
                <a:lnTo>
                  <a:pt x="128" y="407"/>
                </a:lnTo>
                <a:lnTo>
                  <a:pt x="125" y="401"/>
                </a:lnTo>
                <a:lnTo>
                  <a:pt x="123" y="395"/>
                </a:lnTo>
                <a:lnTo>
                  <a:pt x="124" y="386"/>
                </a:lnTo>
                <a:lnTo>
                  <a:pt x="125" y="375"/>
                </a:lnTo>
                <a:lnTo>
                  <a:pt x="125" y="361"/>
                </a:lnTo>
                <a:lnTo>
                  <a:pt x="127" y="346"/>
                </a:lnTo>
                <a:lnTo>
                  <a:pt x="128" y="333"/>
                </a:lnTo>
                <a:lnTo>
                  <a:pt x="130" y="321"/>
                </a:lnTo>
                <a:lnTo>
                  <a:pt x="130" y="313"/>
                </a:lnTo>
                <a:lnTo>
                  <a:pt x="130" y="311"/>
                </a:lnTo>
                <a:lnTo>
                  <a:pt x="130" y="310"/>
                </a:lnTo>
                <a:lnTo>
                  <a:pt x="131" y="310"/>
                </a:lnTo>
                <a:lnTo>
                  <a:pt x="133" y="309"/>
                </a:lnTo>
                <a:lnTo>
                  <a:pt x="135" y="307"/>
                </a:lnTo>
                <a:lnTo>
                  <a:pt x="136" y="304"/>
                </a:lnTo>
                <a:lnTo>
                  <a:pt x="137" y="300"/>
                </a:lnTo>
                <a:lnTo>
                  <a:pt x="138" y="295"/>
                </a:lnTo>
                <a:lnTo>
                  <a:pt x="139" y="288"/>
                </a:lnTo>
                <a:lnTo>
                  <a:pt x="130" y="200"/>
                </a:lnTo>
                <a:lnTo>
                  <a:pt x="130" y="203"/>
                </a:lnTo>
                <a:lnTo>
                  <a:pt x="131" y="206"/>
                </a:lnTo>
                <a:lnTo>
                  <a:pt x="133" y="209"/>
                </a:lnTo>
                <a:lnTo>
                  <a:pt x="135" y="213"/>
                </a:lnTo>
                <a:lnTo>
                  <a:pt x="136" y="215"/>
                </a:lnTo>
                <a:lnTo>
                  <a:pt x="137" y="216"/>
                </a:lnTo>
                <a:lnTo>
                  <a:pt x="139" y="215"/>
                </a:lnTo>
                <a:lnTo>
                  <a:pt x="141" y="213"/>
                </a:lnTo>
                <a:lnTo>
                  <a:pt x="142" y="210"/>
                </a:lnTo>
                <a:lnTo>
                  <a:pt x="143" y="207"/>
                </a:lnTo>
                <a:lnTo>
                  <a:pt x="144" y="204"/>
                </a:lnTo>
                <a:lnTo>
                  <a:pt x="144" y="200"/>
                </a:lnTo>
                <a:lnTo>
                  <a:pt x="143" y="196"/>
                </a:lnTo>
                <a:lnTo>
                  <a:pt x="141" y="192"/>
                </a:lnTo>
                <a:lnTo>
                  <a:pt x="139" y="187"/>
                </a:lnTo>
                <a:lnTo>
                  <a:pt x="136" y="179"/>
                </a:lnTo>
                <a:lnTo>
                  <a:pt x="135" y="172"/>
                </a:lnTo>
                <a:lnTo>
                  <a:pt x="136" y="166"/>
                </a:lnTo>
                <a:lnTo>
                  <a:pt x="138" y="158"/>
                </a:lnTo>
                <a:lnTo>
                  <a:pt x="140" y="148"/>
                </a:lnTo>
                <a:lnTo>
                  <a:pt x="140" y="133"/>
                </a:lnTo>
                <a:lnTo>
                  <a:pt x="136" y="114"/>
                </a:lnTo>
                <a:lnTo>
                  <a:pt x="130" y="88"/>
                </a:lnTo>
                <a:lnTo>
                  <a:pt x="127" y="84"/>
                </a:lnTo>
                <a:lnTo>
                  <a:pt x="124" y="80"/>
                </a:lnTo>
                <a:lnTo>
                  <a:pt x="120" y="76"/>
                </a:lnTo>
                <a:lnTo>
                  <a:pt x="116" y="72"/>
                </a:lnTo>
                <a:lnTo>
                  <a:pt x="112" y="70"/>
                </a:lnTo>
                <a:lnTo>
                  <a:pt x="108" y="68"/>
                </a:lnTo>
                <a:lnTo>
                  <a:pt x="107" y="67"/>
                </a:lnTo>
                <a:lnTo>
                  <a:pt x="106" y="67"/>
                </a:lnTo>
                <a:lnTo>
                  <a:pt x="107" y="66"/>
                </a:lnTo>
                <a:lnTo>
                  <a:pt x="108" y="66"/>
                </a:lnTo>
                <a:lnTo>
                  <a:pt x="110" y="65"/>
                </a:lnTo>
                <a:lnTo>
                  <a:pt x="112" y="64"/>
                </a:lnTo>
                <a:lnTo>
                  <a:pt x="114" y="63"/>
                </a:lnTo>
                <a:lnTo>
                  <a:pt x="114" y="61"/>
                </a:lnTo>
                <a:lnTo>
                  <a:pt x="115" y="58"/>
                </a:lnTo>
                <a:lnTo>
                  <a:pt x="116" y="55"/>
                </a:lnTo>
                <a:lnTo>
                  <a:pt x="115" y="52"/>
                </a:lnTo>
                <a:lnTo>
                  <a:pt x="114" y="50"/>
                </a:lnTo>
                <a:lnTo>
                  <a:pt x="114" y="47"/>
                </a:lnTo>
                <a:lnTo>
                  <a:pt x="112" y="44"/>
                </a:lnTo>
                <a:lnTo>
                  <a:pt x="110" y="42"/>
                </a:lnTo>
                <a:lnTo>
                  <a:pt x="108" y="38"/>
                </a:lnTo>
                <a:lnTo>
                  <a:pt x="107" y="35"/>
                </a:lnTo>
                <a:lnTo>
                  <a:pt x="105" y="32"/>
                </a:lnTo>
                <a:lnTo>
                  <a:pt x="104" y="29"/>
                </a:lnTo>
                <a:lnTo>
                  <a:pt x="103" y="25"/>
                </a:lnTo>
                <a:lnTo>
                  <a:pt x="103" y="23"/>
                </a:lnTo>
                <a:lnTo>
                  <a:pt x="103" y="21"/>
                </a:lnTo>
                <a:lnTo>
                  <a:pt x="102" y="18"/>
                </a:lnTo>
                <a:lnTo>
                  <a:pt x="102" y="17"/>
                </a:lnTo>
                <a:lnTo>
                  <a:pt x="102" y="16"/>
                </a:lnTo>
                <a:lnTo>
                  <a:pt x="102" y="15"/>
                </a:lnTo>
                <a:lnTo>
                  <a:pt x="101" y="13"/>
                </a:lnTo>
                <a:lnTo>
                  <a:pt x="101" y="11"/>
                </a:lnTo>
                <a:lnTo>
                  <a:pt x="100" y="8"/>
                </a:lnTo>
                <a:lnTo>
                  <a:pt x="100" y="6"/>
                </a:lnTo>
                <a:lnTo>
                  <a:pt x="99" y="4"/>
                </a:lnTo>
                <a:lnTo>
                  <a:pt x="99" y="2"/>
                </a:lnTo>
                <a:lnTo>
                  <a:pt x="98" y="1"/>
                </a:lnTo>
                <a:lnTo>
                  <a:pt x="96" y="0"/>
                </a:lnTo>
                <a:lnTo>
                  <a:pt x="92" y="0"/>
                </a:lnTo>
                <a:lnTo>
                  <a:pt x="87" y="0"/>
                </a:lnTo>
                <a:lnTo>
                  <a:pt x="81" y="0"/>
                </a:lnTo>
                <a:lnTo>
                  <a:pt x="76" y="1"/>
                </a:lnTo>
                <a:lnTo>
                  <a:pt x="70" y="3"/>
                </a:lnTo>
                <a:lnTo>
                  <a:pt x="67" y="4"/>
                </a:lnTo>
                <a:lnTo>
                  <a:pt x="65" y="5"/>
                </a:lnTo>
                <a:lnTo>
                  <a:pt x="61" y="8"/>
                </a:lnTo>
                <a:lnTo>
                  <a:pt x="59" y="12"/>
                </a:lnTo>
                <a:lnTo>
                  <a:pt x="56" y="17"/>
                </a:lnTo>
                <a:lnTo>
                  <a:pt x="54" y="23"/>
                </a:lnTo>
                <a:lnTo>
                  <a:pt x="51" y="29"/>
                </a:lnTo>
                <a:lnTo>
                  <a:pt x="49" y="34"/>
                </a:lnTo>
                <a:lnTo>
                  <a:pt x="48" y="39"/>
                </a:lnTo>
                <a:lnTo>
                  <a:pt x="46" y="44"/>
                </a:lnTo>
                <a:lnTo>
                  <a:pt x="43" y="47"/>
                </a:lnTo>
                <a:lnTo>
                  <a:pt x="42" y="51"/>
                </a:lnTo>
                <a:lnTo>
                  <a:pt x="40" y="54"/>
                </a:lnTo>
                <a:lnTo>
                  <a:pt x="38" y="56"/>
                </a:lnTo>
                <a:lnTo>
                  <a:pt x="37" y="58"/>
                </a:lnTo>
                <a:lnTo>
                  <a:pt x="35" y="59"/>
                </a:lnTo>
                <a:lnTo>
                  <a:pt x="40" y="64"/>
                </a:lnTo>
                <a:lnTo>
                  <a:pt x="42" y="65"/>
                </a:lnTo>
                <a:lnTo>
                  <a:pt x="43" y="66"/>
                </a:lnTo>
                <a:lnTo>
                  <a:pt x="44" y="68"/>
                </a:lnTo>
                <a:lnTo>
                  <a:pt x="45" y="69"/>
                </a:lnTo>
                <a:lnTo>
                  <a:pt x="44" y="72"/>
                </a:lnTo>
                <a:lnTo>
                  <a:pt x="43" y="74"/>
                </a:lnTo>
                <a:lnTo>
                  <a:pt x="40" y="76"/>
                </a:lnTo>
                <a:lnTo>
                  <a:pt x="35" y="81"/>
                </a:lnTo>
                <a:lnTo>
                  <a:pt x="30" y="90"/>
                </a:lnTo>
                <a:lnTo>
                  <a:pt x="25" y="103"/>
                </a:lnTo>
                <a:lnTo>
                  <a:pt x="20" y="117"/>
                </a:lnTo>
                <a:lnTo>
                  <a:pt x="15" y="131"/>
                </a:lnTo>
                <a:lnTo>
                  <a:pt x="11" y="143"/>
                </a:lnTo>
                <a:lnTo>
                  <a:pt x="9" y="152"/>
                </a:lnTo>
                <a:lnTo>
                  <a:pt x="8" y="157"/>
                </a:lnTo>
                <a:lnTo>
                  <a:pt x="8" y="158"/>
                </a:lnTo>
                <a:lnTo>
                  <a:pt x="8" y="160"/>
                </a:lnTo>
                <a:lnTo>
                  <a:pt x="9" y="162"/>
                </a:lnTo>
                <a:lnTo>
                  <a:pt x="10" y="163"/>
                </a:lnTo>
                <a:lnTo>
                  <a:pt x="11" y="166"/>
                </a:lnTo>
                <a:lnTo>
                  <a:pt x="12" y="168"/>
                </a:lnTo>
                <a:lnTo>
                  <a:pt x="14" y="171"/>
                </a:lnTo>
                <a:lnTo>
                  <a:pt x="16" y="173"/>
                </a:lnTo>
                <a:lnTo>
                  <a:pt x="9" y="196"/>
                </a:lnTo>
                <a:lnTo>
                  <a:pt x="6" y="200"/>
                </a:lnTo>
                <a:lnTo>
                  <a:pt x="5" y="207"/>
                </a:lnTo>
                <a:lnTo>
                  <a:pt x="3" y="217"/>
                </a:lnTo>
                <a:lnTo>
                  <a:pt x="1" y="227"/>
                </a:lnTo>
                <a:lnTo>
                  <a:pt x="0" y="238"/>
                </a:lnTo>
                <a:lnTo>
                  <a:pt x="0" y="248"/>
                </a:lnTo>
                <a:lnTo>
                  <a:pt x="0" y="256"/>
                </a:lnTo>
                <a:lnTo>
                  <a:pt x="1" y="259"/>
                </a:lnTo>
                <a:lnTo>
                  <a:pt x="3" y="260"/>
                </a:lnTo>
                <a:lnTo>
                  <a:pt x="5" y="260"/>
                </a:lnTo>
                <a:lnTo>
                  <a:pt x="8" y="261"/>
                </a:lnTo>
                <a:lnTo>
                  <a:pt x="11" y="262"/>
                </a:lnTo>
                <a:lnTo>
                  <a:pt x="15" y="263"/>
                </a:lnTo>
                <a:lnTo>
                  <a:pt x="20" y="264"/>
                </a:lnTo>
                <a:lnTo>
                  <a:pt x="24" y="265"/>
                </a:lnTo>
                <a:lnTo>
                  <a:pt x="29" y="265"/>
                </a:lnTo>
                <a:lnTo>
                  <a:pt x="28" y="273"/>
                </a:lnTo>
                <a:lnTo>
                  <a:pt x="27" y="280"/>
                </a:lnTo>
                <a:lnTo>
                  <a:pt x="26" y="286"/>
                </a:lnTo>
                <a:lnTo>
                  <a:pt x="26" y="292"/>
                </a:lnTo>
                <a:lnTo>
                  <a:pt x="25" y="296"/>
                </a:lnTo>
                <a:lnTo>
                  <a:pt x="24" y="300"/>
                </a:lnTo>
                <a:lnTo>
                  <a:pt x="24" y="303"/>
                </a:lnTo>
                <a:lnTo>
                  <a:pt x="25" y="303"/>
                </a:lnTo>
                <a:lnTo>
                  <a:pt x="27" y="305"/>
                </a:lnTo>
                <a:lnTo>
                  <a:pt x="30" y="307"/>
                </a:lnTo>
                <a:lnTo>
                  <a:pt x="34" y="310"/>
                </a:lnTo>
                <a:lnTo>
                  <a:pt x="38" y="312"/>
                </a:lnTo>
                <a:lnTo>
                  <a:pt x="41" y="312"/>
                </a:lnTo>
                <a:lnTo>
                  <a:pt x="43" y="312"/>
                </a:lnTo>
                <a:lnTo>
                  <a:pt x="43" y="311"/>
                </a:lnTo>
                <a:lnTo>
                  <a:pt x="44" y="312"/>
                </a:lnTo>
                <a:lnTo>
                  <a:pt x="45" y="316"/>
                </a:lnTo>
                <a:lnTo>
                  <a:pt x="47" y="320"/>
                </a:lnTo>
                <a:lnTo>
                  <a:pt x="48" y="325"/>
                </a:lnTo>
                <a:lnTo>
                  <a:pt x="49" y="329"/>
                </a:lnTo>
                <a:lnTo>
                  <a:pt x="51" y="333"/>
                </a:lnTo>
                <a:lnTo>
                  <a:pt x="52" y="337"/>
                </a:lnTo>
                <a:lnTo>
                  <a:pt x="53" y="337"/>
                </a:lnTo>
                <a:lnTo>
                  <a:pt x="52" y="338"/>
                </a:lnTo>
                <a:lnTo>
                  <a:pt x="52" y="339"/>
                </a:lnTo>
                <a:lnTo>
                  <a:pt x="52" y="340"/>
                </a:lnTo>
                <a:lnTo>
                  <a:pt x="51" y="342"/>
                </a:lnTo>
                <a:lnTo>
                  <a:pt x="50" y="345"/>
                </a:lnTo>
                <a:lnTo>
                  <a:pt x="49" y="348"/>
                </a:lnTo>
                <a:lnTo>
                  <a:pt x="49" y="351"/>
                </a:lnTo>
                <a:lnTo>
                  <a:pt x="49" y="355"/>
                </a:lnTo>
                <a:lnTo>
                  <a:pt x="49" y="361"/>
                </a:lnTo>
                <a:lnTo>
                  <a:pt x="49" y="367"/>
                </a:lnTo>
                <a:lnTo>
                  <a:pt x="51" y="376"/>
                </a:lnTo>
                <a:lnTo>
                  <a:pt x="53" y="383"/>
                </a:lnTo>
                <a:lnTo>
                  <a:pt x="55" y="390"/>
                </a:lnTo>
                <a:lnTo>
                  <a:pt x="57" y="397"/>
                </a:lnTo>
                <a:lnTo>
                  <a:pt x="58" y="401"/>
                </a:lnTo>
                <a:lnTo>
                  <a:pt x="59" y="402"/>
                </a:lnTo>
                <a:lnTo>
                  <a:pt x="51" y="418"/>
                </a:lnTo>
                <a:lnTo>
                  <a:pt x="54" y="441"/>
                </a:lnTo>
                <a:lnTo>
                  <a:pt x="54" y="442"/>
                </a:lnTo>
                <a:lnTo>
                  <a:pt x="55" y="443"/>
                </a:lnTo>
                <a:lnTo>
                  <a:pt x="57" y="444"/>
                </a:lnTo>
                <a:lnTo>
                  <a:pt x="59" y="446"/>
                </a:lnTo>
                <a:lnTo>
                  <a:pt x="62" y="448"/>
                </a:lnTo>
                <a:lnTo>
                  <a:pt x="65" y="449"/>
                </a:lnTo>
                <a:lnTo>
                  <a:pt x="67" y="449"/>
                </a:lnTo>
                <a:lnTo>
                  <a:pt x="70" y="447"/>
                </a:lnTo>
                <a:lnTo>
                  <a:pt x="72" y="445"/>
                </a:lnTo>
                <a:lnTo>
                  <a:pt x="74" y="443"/>
                </a:lnTo>
                <a:lnTo>
                  <a:pt x="75" y="440"/>
                </a:lnTo>
                <a:lnTo>
                  <a:pt x="76" y="436"/>
                </a:lnTo>
                <a:lnTo>
                  <a:pt x="76" y="434"/>
                </a:lnTo>
                <a:lnTo>
                  <a:pt x="77" y="431"/>
                </a:lnTo>
                <a:lnTo>
                  <a:pt x="77" y="430"/>
                </a:lnTo>
                <a:lnTo>
                  <a:pt x="77" y="429"/>
                </a:lnTo>
                <a:lnTo>
                  <a:pt x="71" y="398"/>
                </a:lnTo>
                <a:lnTo>
                  <a:pt x="81" y="337"/>
                </a:lnTo>
                <a:lnTo>
                  <a:pt x="83" y="324"/>
                </a:lnTo>
                <a:lnTo>
                  <a:pt x="96" y="324"/>
                </a:lnTo>
                <a:lnTo>
                  <a:pt x="96" y="325"/>
                </a:lnTo>
                <a:lnTo>
                  <a:pt x="96" y="327"/>
                </a:lnTo>
                <a:lnTo>
                  <a:pt x="96" y="330"/>
                </a:lnTo>
                <a:lnTo>
                  <a:pt x="96" y="334"/>
                </a:lnTo>
                <a:lnTo>
                  <a:pt x="97" y="339"/>
                </a:lnTo>
                <a:lnTo>
                  <a:pt x="97" y="344"/>
                </a:lnTo>
                <a:lnTo>
                  <a:pt x="98" y="350"/>
                </a:lnTo>
                <a:lnTo>
                  <a:pt x="98" y="355"/>
                </a:lnTo>
                <a:lnTo>
                  <a:pt x="99" y="363"/>
                </a:lnTo>
                <a:lnTo>
                  <a:pt x="101" y="371"/>
                </a:lnTo>
                <a:lnTo>
                  <a:pt x="103" y="378"/>
                </a:lnTo>
                <a:lnTo>
                  <a:pt x="104" y="385"/>
                </a:lnTo>
                <a:lnTo>
                  <a:pt x="106" y="391"/>
                </a:lnTo>
                <a:lnTo>
                  <a:pt x="107" y="397"/>
                </a:lnTo>
                <a:lnTo>
                  <a:pt x="108" y="400"/>
                </a:lnTo>
                <a:lnTo>
                  <a:pt x="108" y="401"/>
                </a:lnTo>
                <a:lnTo>
                  <a:pt x="106" y="428"/>
                </a:lnTo>
                <a:lnTo>
                  <a:pt x="114" y="431"/>
                </a:lnTo>
                <a:lnTo>
                  <a:pt x="114" y="427"/>
                </a:lnTo>
                <a:lnTo>
                  <a:pt x="116" y="428"/>
                </a:lnTo>
                <a:lnTo>
                  <a:pt x="119" y="429"/>
                </a:lnTo>
                <a:lnTo>
                  <a:pt x="121" y="431"/>
                </a:lnTo>
                <a:lnTo>
                  <a:pt x="125" y="432"/>
                </a:lnTo>
                <a:lnTo>
                  <a:pt x="128" y="434"/>
                </a:lnTo>
                <a:lnTo>
                  <a:pt x="131" y="436"/>
                </a:lnTo>
                <a:lnTo>
                  <a:pt x="136" y="438"/>
                </a:lnTo>
                <a:lnTo>
                  <a:pt x="139" y="439"/>
                </a:lnTo>
                <a:lnTo>
                  <a:pt x="143" y="440"/>
                </a:lnTo>
                <a:lnTo>
                  <a:pt x="147" y="440"/>
                </a:lnTo>
                <a:lnTo>
                  <a:pt x="150" y="440"/>
                </a:lnTo>
                <a:lnTo>
                  <a:pt x="153" y="439"/>
                </a:lnTo>
                <a:lnTo>
                  <a:pt x="156" y="438"/>
                </a:lnTo>
                <a:lnTo>
                  <a:pt x="158" y="438"/>
                </a:lnTo>
                <a:lnTo>
                  <a:pt x="157" y="42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1" name="Freeform 21">
            <a:extLst>
              <a:ext uri="{FF2B5EF4-FFF2-40B4-BE49-F238E27FC236}">
                <a16:creationId xmlns:a16="http://schemas.microsoft.com/office/drawing/2014/main" id="{E51489CA-AA83-A5A2-D18E-52286E2E86BA}"/>
              </a:ext>
            </a:extLst>
          </p:cNvPr>
          <p:cNvSpPr>
            <a:spLocks/>
          </p:cNvSpPr>
          <p:nvPr/>
        </p:nvSpPr>
        <p:spPr bwMode="auto">
          <a:xfrm>
            <a:off x="1442517" y="3584599"/>
            <a:ext cx="254000" cy="712788"/>
          </a:xfrm>
          <a:custGeom>
            <a:avLst/>
            <a:gdLst>
              <a:gd name="T0" fmla="*/ 2147483646 w 160"/>
              <a:gd name="T1" fmla="*/ 2147483646 h 449"/>
              <a:gd name="T2" fmla="*/ 2147483646 w 160"/>
              <a:gd name="T3" fmla="*/ 2147483646 h 449"/>
              <a:gd name="T4" fmla="*/ 2147483646 w 160"/>
              <a:gd name="T5" fmla="*/ 2147483646 h 449"/>
              <a:gd name="T6" fmla="*/ 2147483646 w 160"/>
              <a:gd name="T7" fmla="*/ 2147483646 h 449"/>
              <a:gd name="T8" fmla="*/ 2147483646 w 160"/>
              <a:gd name="T9" fmla="*/ 2147483646 h 449"/>
              <a:gd name="T10" fmla="*/ 2147483646 w 160"/>
              <a:gd name="T11" fmla="*/ 2147483646 h 449"/>
              <a:gd name="T12" fmla="*/ 2147483646 w 160"/>
              <a:gd name="T13" fmla="*/ 2147483646 h 449"/>
              <a:gd name="T14" fmla="*/ 2147483646 w 160"/>
              <a:gd name="T15" fmla="*/ 2147483646 h 449"/>
              <a:gd name="T16" fmla="*/ 2147483646 w 160"/>
              <a:gd name="T17" fmla="*/ 2147483646 h 449"/>
              <a:gd name="T18" fmla="*/ 2147483646 w 160"/>
              <a:gd name="T19" fmla="*/ 2147483646 h 449"/>
              <a:gd name="T20" fmla="*/ 2147483646 w 160"/>
              <a:gd name="T21" fmla="*/ 2147483646 h 449"/>
              <a:gd name="T22" fmla="*/ 2147483646 w 160"/>
              <a:gd name="T23" fmla="*/ 2147483646 h 449"/>
              <a:gd name="T24" fmla="*/ 2147483646 w 160"/>
              <a:gd name="T25" fmla="*/ 2147483646 h 449"/>
              <a:gd name="T26" fmla="*/ 2147483646 w 160"/>
              <a:gd name="T27" fmla="*/ 2147483646 h 449"/>
              <a:gd name="T28" fmla="*/ 2147483646 w 160"/>
              <a:gd name="T29" fmla="*/ 2147483646 h 449"/>
              <a:gd name="T30" fmla="*/ 2147483646 w 160"/>
              <a:gd name="T31" fmla="*/ 2147483646 h 449"/>
              <a:gd name="T32" fmla="*/ 2147483646 w 160"/>
              <a:gd name="T33" fmla="*/ 2147483646 h 449"/>
              <a:gd name="T34" fmla="*/ 2147483646 w 160"/>
              <a:gd name="T35" fmla="*/ 2147483646 h 449"/>
              <a:gd name="T36" fmla="*/ 2147483646 w 160"/>
              <a:gd name="T37" fmla="*/ 2147483646 h 449"/>
              <a:gd name="T38" fmla="*/ 2147483646 w 160"/>
              <a:gd name="T39" fmla="*/ 2147483646 h 449"/>
              <a:gd name="T40" fmla="*/ 2147483646 w 160"/>
              <a:gd name="T41" fmla="*/ 2147483646 h 449"/>
              <a:gd name="T42" fmla="*/ 2147483646 w 160"/>
              <a:gd name="T43" fmla="*/ 2147483646 h 449"/>
              <a:gd name="T44" fmla="*/ 2147483646 w 160"/>
              <a:gd name="T45" fmla="*/ 0 h 449"/>
              <a:gd name="T46" fmla="*/ 2147483646 w 160"/>
              <a:gd name="T47" fmla="*/ 0 h 449"/>
              <a:gd name="T48" fmla="*/ 2147483646 w 160"/>
              <a:gd name="T49" fmla="*/ 2147483646 h 449"/>
              <a:gd name="T50" fmla="*/ 2147483646 w 160"/>
              <a:gd name="T51" fmla="*/ 2147483646 h 449"/>
              <a:gd name="T52" fmla="*/ 2147483646 w 160"/>
              <a:gd name="T53" fmla="*/ 2147483646 h 449"/>
              <a:gd name="T54" fmla="*/ 2147483646 w 160"/>
              <a:gd name="T55" fmla="*/ 2147483646 h 449"/>
              <a:gd name="T56" fmla="*/ 2147483646 w 160"/>
              <a:gd name="T57" fmla="*/ 2147483646 h 449"/>
              <a:gd name="T58" fmla="*/ 2147483646 w 160"/>
              <a:gd name="T59" fmla="*/ 2147483646 h 449"/>
              <a:gd name="T60" fmla="*/ 2147483646 w 160"/>
              <a:gd name="T61" fmla="*/ 2147483646 h 449"/>
              <a:gd name="T62" fmla="*/ 2147483646 w 160"/>
              <a:gd name="T63" fmla="*/ 2147483646 h 449"/>
              <a:gd name="T64" fmla="*/ 2147483646 w 160"/>
              <a:gd name="T65" fmla="*/ 2147483646 h 449"/>
              <a:gd name="T66" fmla="*/ 2147483646 w 160"/>
              <a:gd name="T67" fmla="*/ 2147483646 h 449"/>
              <a:gd name="T68" fmla="*/ 2147483646 w 160"/>
              <a:gd name="T69" fmla="*/ 2147483646 h 449"/>
              <a:gd name="T70" fmla="*/ 2147483646 w 160"/>
              <a:gd name="T71" fmla="*/ 2147483646 h 449"/>
              <a:gd name="T72" fmla="*/ 0 w 160"/>
              <a:gd name="T73" fmla="*/ 2147483646 h 449"/>
              <a:gd name="T74" fmla="*/ 2147483646 w 160"/>
              <a:gd name="T75" fmla="*/ 2147483646 h 449"/>
              <a:gd name="T76" fmla="*/ 2147483646 w 160"/>
              <a:gd name="T77" fmla="*/ 2147483646 h 449"/>
              <a:gd name="T78" fmla="*/ 2147483646 w 160"/>
              <a:gd name="T79" fmla="*/ 2147483646 h 449"/>
              <a:gd name="T80" fmla="*/ 2147483646 w 160"/>
              <a:gd name="T81" fmla="*/ 2147483646 h 449"/>
              <a:gd name="T82" fmla="*/ 2147483646 w 160"/>
              <a:gd name="T83" fmla="*/ 2147483646 h 449"/>
              <a:gd name="T84" fmla="*/ 2147483646 w 160"/>
              <a:gd name="T85" fmla="*/ 2147483646 h 449"/>
              <a:gd name="T86" fmla="*/ 2147483646 w 160"/>
              <a:gd name="T87" fmla="*/ 2147483646 h 449"/>
              <a:gd name="T88" fmla="*/ 2147483646 w 160"/>
              <a:gd name="T89" fmla="*/ 2147483646 h 449"/>
              <a:gd name="T90" fmla="*/ 2147483646 w 160"/>
              <a:gd name="T91" fmla="*/ 2147483646 h 449"/>
              <a:gd name="T92" fmla="*/ 2147483646 w 160"/>
              <a:gd name="T93" fmla="*/ 2147483646 h 449"/>
              <a:gd name="T94" fmla="*/ 2147483646 w 160"/>
              <a:gd name="T95" fmla="*/ 2147483646 h 449"/>
              <a:gd name="T96" fmla="*/ 2147483646 w 160"/>
              <a:gd name="T97" fmla="*/ 2147483646 h 449"/>
              <a:gd name="T98" fmla="*/ 2147483646 w 160"/>
              <a:gd name="T99" fmla="*/ 2147483646 h 449"/>
              <a:gd name="T100" fmla="*/ 2147483646 w 160"/>
              <a:gd name="T101" fmla="*/ 2147483646 h 449"/>
              <a:gd name="T102" fmla="*/ 2147483646 w 160"/>
              <a:gd name="T103" fmla="*/ 2147483646 h 449"/>
              <a:gd name="T104" fmla="*/ 2147483646 w 160"/>
              <a:gd name="T105" fmla="*/ 2147483646 h 449"/>
              <a:gd name="T106" fmla="*/ 2147483646 w 160"/>
              <a:gd name="T107" fmla="*/ 2147483646 h 449"/>
              <a:gd name="T108" fmla="*/ 2147483646 w 160"/>
              <a:gd name="T109" fmla="*/ 2147483646 h 449"/>
              <a:gd name="T110" fmla="*/ 2147483646 w 160"/>
              <a:gd name="T111" fmla="*/ 2147483646 h 449"/>
              <a:gd name="T112" fmla="*/ 2147483646 w 160"/>
              <a:gd name="T113" fmla="*/ 2147483646 h 449"/>
              <a:gd name="T114" fmla="*/ 2147483646 w 160"/>
              <a:gd name="T115" fmla="*/ 2147483646 h 449"/>
              <a:gd name="T116" fmla="*/ 2147483646 w 160"/>
              <a:gd name="T117" fmla="*/ 2147483646 h 449"/>
              <a:gd name="T118" fmla="*/ 2147483646 w 160"/>
              <a:gd name="T119" fmla="*/ 2147483646 h 449"/>
              <a:gd name="T120" fmla="*/ 2147483646 w 160"/>
              <a:gd name="T121" fmla="*/ 2147483646 h 449"/>
              <a:gd name="T122" fmla="*/ 2147483646 w 160"/>
              <a:gd name="T123" fmla="*/ 2147483646 h 449"/>
              <a:gd name="T124" fmla="*/ 2147483646 w 160"/>
              <a:gd name="T125" fmla="*/ 2147483646 h 44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0" h="449">
                <a:moveTo>
                  <a:pt x="157" y="429"/>
                </a:moveTo>
                <a:lnTo>
                  <a:pt x="155" y="428"/>
                </a:lnTo>
                <a:lnTo>
                  <a:pt x="152" y="426"/>
                </a:lnTo>
                <a:lnTo>
                  <a:pt x="147" y="422"/>
                </a:lnTo>
                <a:lnTo>
                  <a:pt x="140" y="418"/>
                </a:lnTo>
                <a:lnTo>
                  <a:pt x="134" y="413"/>
                </a:lnTo>
                <a:lnTo>
                  <a:pt x="129" y="407"/>
                </a:lnTo>
                <a:lnTo>
                  <a:pt x="125" y="401"/>
                </a:lnTo>
                <a:lnTo>
                  <a:pt x="124" y="394"/>
                </a:lnTo>
                <a:lnTo>
                  <a:pt x="124" y="386"/>
                </a:lnTo>
                <a:lnTo>
                  <a:pt x="125" y="374"/>
                </a:lnTo>
                <a:lnTo>
                  <a:pt x="126" y="360"/>
                </a:lnTo>
                <a:lnTo>
                  <a:pt x="127" y="346"/>
                </a:lnTo>
                <a:lnTo>
                  <a:pt x="128" y="332"/>
                </a:lnTo>
                <a:lnTo>
                  <a:pt x="130" y="321"/>
                </a:lnTo>
                <a:lnTo>
                  <a:pt x="131" y="313"/>
                </a:lnTo>
                <a:lnTo>
                  <a:pt x="131" y="310"/>
                </a:lnTo>
                <a:lnTo>
                  <a:pt x="132" y="310"/>
                </a:lnTo>
                <a:lnTo>
                  <a:pt x="133" y="308"/>
                </a:lnTo>
                <a:lnTo>
                  <a:pt x="135" y="307"/>
                </a:lnTo>
                <a:lnTo>
                  <a:pt x="137" y="304"/>
                </a:lnTo>
                <a:lnTo>
                  <a:pt x="137" y="300"/>
                </a:lnTo>
                <a:lnTo>
                  <a:pt x="139" y="294"/>
                </a:lnTo>
                <a:lnTo>
                  <a:pt x="140" y="287"/>
                </a:lnTo>
                <a:lnTo>
                  <a:pt x="130" y="200"/>
                </a:lnTo>
                <a:lnTo>
                  <a:pt x="131" y="203"/>
                </a:lnTo>
                <a:lnTo>
                  <a:pt x="131" y="206"/>
                </a:lnTo>
                <a:lnTo>
                  <a:pt x="133" y="209"/>
                </a:lnTo>
                <a:lnTo>
                  <a:pt x="135" y="213"/>
                </a:lnTo>
                <a:lnTo>
                  <a:pt x="137" y="215"/>
                </a:lnTo>
                <a:lnTo>
                  <a:pt x="138" y="216"/>
                </a:lnTo>
                <a:lnTo>
                  <a:pt x="140" y="215"/>
                </a:lnTo>
                <a:lnTo>
                  <a:pt x="141" y="213"/>
                </a:lnTo>
                <a:lnTo>
                  <a:pt x="142" y="210"/>
                </a:lnTo>
                <a:lnTo>
                  <a:pt x="143" y="207"/>
                </a:lnTo>
                <a:lnTo>
                  <a:pt x="144" y="204"/>
                </a:lnTo>
                <a:lnTo>
                  <a:pt x="144" y="200"/>
                </a:lnTo>
                <a:lnTo>
                  <a:pt x="143" y="196"/>
                </a:lnTo>
                <a:lnTo>
                  <a:pt x="142" y="192"/>
                </a:lnTo>
                <a:lnTo>
                  <a:pt x="140" y="186"/>
                </a:lnTo>
                <a:lnTo>
                  <a:pt x="136" y="178"/>
                </a:lnTo>
                <a:lnTo>
                  <a:pt x="136" y="171"/>
                </a:lnTo>
                <a:lnTo>
                  <a:pt x="137" y="165"/>
                </a:lnTo>
                <a:lnTo>
                  <a:pt x="139" y="157"/>
                </a:lnTo>
                <a:lnTo>
                  <a:pt x="140" y="147"/>
                </a:lnTo>
                <a:lnTo>
                  <a:pt x="140" y="133"/>
                </a:lnTo>
                <a:lnTo>
                  <a:pt x="137" y="114"/>
                </a:lnTo>
                <a:lnTo>
                  <a:pt x="130" y="88"/>
                </a:lnTo>
                <a:lnTo>
                  <a:pt x="127" y="83"/>
                </a:lnTo>
                <a:lnTo>
                  <a:pt x="125" y="80"/>
                </a:lnTo>
                <a:lnTo>
                  <a:pt x="120" y="76"/>
                </a:lnTo>
                <a:lnTo>
                  <a:pt x="116" y="72"/>
                </a:lnTo>
                <a:lnTo>
                  <a:pt x="113" y="70"/>
                </a:lnTo>
                <a:lnTo>
                  <a:pt x="109" y="68"/>
                </a:lnTo>
                <a:lnTo>
                  <a:pt x="107" y="67"/>
                </a:lnTo>
                <a:lnTo>
                  <a:pt x="106" y="66"/>
                </a:lnTo>
                <a:lnTo>
                  <a:pt x="108" y="66"/>
                </a:lnTo>
                <a:lnTo>
                  <a:pt x="109" y="66"/>
                </a:lnTo>
                <a:lnTo>
                  <a:pt x="110" y="65"/>
                </a:lnTo>
                <a:lnTo>
                  <a:pt x="112" y="64"/>
                </a:lnTo>
                <a:lnTo>
                  <a:pt x="114" y="63"/>
                </a:lnTo>
                <a:lnTo>
                  <a:pt x="115" y="60"/>
                </a:lnTo>
                <a:lnTo>
                  <a:pt x="116" y="58"/>
                </a:lnTo>
                <a:lnTo>
                  <a:pt x="116" y="55"/>
                </a:lnTo>
                <a:lnTo>
                  <a:pt x="116" y="52"/>
                </a:lnTo>
                <a:lnTo>
                  <a:pt x="115" y="49"/>
                </a:lnTo>
                <a:lnTo>
                  <a:pt x="114" y="46"/>
                </a:lnTo>
                <a:lnTo>
                  <a:pt x="113" y="44"/>
                </a:lnTo>
                <a:lnTo>
                  <a:pt x="111" y="41"/>
                </a:lnTo>
                <a:lnTo>
                  <a:pt x="109" y="38"/>
                </a:lnTo>
                <a:lnTo>
                  <a:pt x="107" y="35"/>
                </a:lnTo>
                <a:lnTo>
                  <a:pt x="105" y="32"/>
                </a:lnTo>
                <a:lnTo>
                  <a:pt x="104" y="29"/>
                </a:lnTo>
                <a:lnTo>
                  <a:pt x="104" y="25"/>
                </a:lnTo>
                <a:lnTo>
                  <a:pt x="103" y="22"/>
                </a:lnTo>
                <a:lnTo>
                  <a:pt x="103" y="20"/>
                </a:lnTo>
                <a:lnTo>
                  <a:pt x="103" y="18"/>
                </a:lnTo>
                <a:lnTo>
                  <a:pt x="103" y="17"/>
                </a:lnTo>
                <a:lnTo>
                  <a:pt x="102" y="16"/>
                </a:lnTo>
                <a:lnTo>
                  <a:pt x="102" y="15"/>
                </a:lnTo>
                <a:lnTo>
                  <a:pt x="102" y="13"/>
                </a:lnTo>
                <a:lnTo>
                  <a:pt x="101" y="11"/>
                </a:lnTo>
                <a:lnTo>
                  <a:pt x="100" y="8"/>
                </a:lnTo>
                <a:lnTo>
                  <a:pt x="100" y="6"/>
                </a:lnTo>
                <a:lnTo>
                  <a:pt x="100" y="4"/>
                </a:lnTo>
                <a:lnTo>
                  <a:pt x="100" y="2"/>
                </a:lnTo>
                <a:lnTo>
                  <a:pt x="98" y="0"/>
                </a:lnTo>
                <a:lnTo>
                  <a:pt x="96" y="0"/>
                </a:lnTo>
                <a:lnTo>
                  <a:pt x="92" y="0"/>
                </a:lnTo>
                <a:lnTo>
                  <a:pt x="87" y="0"/>
                </a:lnTo>
                <a:lnTo>
                  <a:pt x="81" y="0"/>
                </a:lnTo>
                <a:lnTo>
                  <a:pt x="76" y="1"/>
                </a:lnTo>
                <a:lnTo>
                  <a:pt x="71" y="2"/>
                </a:lnTo>
                <a:lnTo>
                  <a:pt x="67" y="3"/>
                </a:lnTo>
                <a:lnTo>
                  <a:pt x="65" y="5"/>
                </a:lnTo>
                <a:lnTo>
                  <a:pt x="62" y="8"/>
                </a:lnTo>
                <a:lnTo>
                  <a:pt x="59" y="12"/>
                </a:lnTo>
                <a:lnTo>
                  <a:pt x="56" y="17"/>
                </a:lnTo>
                <a:lnTo>
                  <a:pt x="54" y="22"/>
                </a:lnTo>
                <a:lnTo>
                  <a:pt x="51" y="28"/>
                </a:lnTo>
                <a:lnTo>
                  <a:pt x="49" y="34"/>
                </a:lnTo>
                <a:lnTo>
                  <a:pt x="48" y="38"/>
                </a:lnTo>
                <a:lnTo>
                  <a:pt x="46" y="43"/>
                </a:lnTo>
                <a:lnTo>
                  <a:pt x="44" y="47"/>
                </a:lnTo>
                <a:lnTo>
                  <a:pt x="42" y="51"/>
                </a:lnTo>
                <a:lnTo>
                  <a:pt x="40" y="54"/>
                </a:lnTo>
                <a:lnTo>
                  <a:pt x="38" y="56"/>
                </a:lnTo>
                <a:lnTo>
                  <a:pt x="37" y="58"/>
                </a:lnTo>
                <a:lnTo>
                  <a:pt x="36" y="59"/>
                </a:lnTo>
                <a:lnTo>
                  <a:pt x="35" y="59"/>
                </a:lnTo>
                <a:lnTo>
                  <a:pt x="40" y="64"/>
                </a:lnTo>
                <a:lnTo>
                  <a:pt x="41" y="64"/>
                </a:lnTo>
                <a:lnTo>
                  <a:pt x="42" y="65"/>
                </a:lnTo>
                <a:lnTo>
                  <a:pt x="43" y="66"/>
                </a:lnTo>
                <a:lnTo>
                  <a:pt x="44" y="68"/>
                </a:lnTo>
                <a:lnTo>
                  <a:pt x="45" y="69"/>
                </a:lnTo>
                <a:lnTo>
                  <a:pt x="45" y="72"/>
                </a:lnTo>
                <a:lnTo>
                  <a:pt x="43" y="73"/>
                </a:lnTo>
                <a:lnTo>
                  <a:pt x="40" y="76"/>
                </a:lnTo>
                <a:lnTo>
                  <a:pt x="36" y="81"/>
                </a:lnTo>
                <a:lnTo>
                  <a:pt x="31" y="90"/>
                </a:lnTo>
                <a:lnTo>
                  <a:pt x="25" y="102"/>
                </a:lnTo>
                <a:lnTo>
                  <a:pt x="20" y="116"/>
                </a:lnTo>
                <a:lnTo>
                  <a:pt x="16" y="131"/>
                </a:lnTo>
                <a:lnTo>
                  <a:pt x="11" y="143"/>
                </a:lnTo>
                <a:lnTo>
                  <a:pt x="9" y="152"/>
                </a:lnTo>
                <a:lnTo>
                  <a:pt x="8" y="157"/>
                </a:lnTo>
                <a:lnTo>
                  <a:pt x="9" y="159"/>
                </a:lnTo>
                <a:lnTo>
                  <a:pt x="10" y="162"/>
                </a:lnTo>
                <a:lnTo>
                  <a:pt x="10" y="163"/>
                </a:lnTo>
                <a:lnTo>
                  <a:pt x="11" y="166"/>
                </a:lnTo>
                <a:lnTo>
                  <a:pt x="13" y="168"/>
                </a:lnTo>
                <a:lnTo>
                  <a:pt x="14" y="170"/>
                </a:lnTo>
                <a:lnTo>
                  <a:pt x="16" y="173"/>
                </a:lnTo>
                <a:lnTo>
                  <a:pt x="9" y="196"/>
                </a:lnTo>
                <a:lnTo>
                  <a:pt x="7" y="200"/>
                </a:lnTo>
                <a:lnTo>
                  <a:pt x="5" y="206"/>
                </a:lnTo>
                <a:lnTo>
                  <a:pt x="3" y="216"/>
                </a:lnTo>
                <a:lnTo>
                  <a:pt x="1" y="227"/>
                </a:lnTo>
                <a:lnTo>
                  <a:pt x="0" y="238"/>
                </a:lnTo>
                <a:lnTo>
                  <a:pt x="0" y="247"/>
                </a:lnTo>
                <a:lnTo>
                  <a:pt x="0" y="255"/>
                </a:lnTo>
                <a:lnTo>
                  <a:pt x="2" y="259"/>
                </a:lnTo>
                <a:lnTo>
                  <a:pt x="3" y="260"/>
                </a:lnTo>
                <a:lnTo>
                  <a:pt x="5" y="260"/>
                </a:lnTo>
                <a:lnTo>
                  <a:pt x="8" y="261"/>
                </a:lnTo>
                <a:lnTo>
                  <a:pt x="11" y="262"/>
                </a:lnTo>
                <a:lnTo>
                  <a:pt x="16" y="263"/>
                </a:lnTo>
                <a:lnTo>
                  <a:pt x="20" y="264"/>
                </a:lnTo>
                <a:lnTo>
                  <a:pt x="24" y="264"/>
                </a:lnTo>
                <a:lnTo>
                  <a:pt x="29" y="264"/>
                </a:lnTo>
                <a:lnTo>
                  <a:pt x="28" y="272"/>
                </a:lnTo>
                <a:lnTo>
                  <a:pt x="27" y="279"/>
                </a:lnTo>
                <a:lnTo>
                  <a:pt x="27" y="285"/>
                </a:lnTo>
                <a:lnTo>
                  <a:pt x="26" y="291"/>
                </a:lnTo>
                <a:lnTo>
                  <a:pt x="25" y="296"/>
                </a:lnTo>
                <a:lnTo>
                  <a:pt x="24" y="300"/>
                </a:lnTo>
                <a:lnTo>
                  <a:pt x="24" y="302"/>
                </a:lnTo>
                <a:lnTo>
                  <a:pt x="25" y="303"/>
                </a:lnTo>
                <a:lnTo>
                  <a:pt x="27" y="305"/>
                </a:lnTo>
                <a:lnTo>
                  <a:pt x="30" y="307"/>
                </a:lnTo>
                <a:lnTo>
                  <a:pt x="34" y="309"/>
                </a:lnTo>
                <a:lnTo>
                  <a:pt x="38" y="311"/>
                </a:lnTo>
                <a:lnTo>
                  <a:pt x="41" y="312"/>
                </a:lnTo>
                <a:lnTo>
                  <a:pt x="43" y="312"/>
                </a:lnTo>
                <a:lnTo>
                  <a:pt x="44" y="310"/>
                </a:lnTo>
                <a:lnTo>
                  <a:pt x="44" y="312"/>
                </a:lnTo>
                <a:lnTo>
                  <a:pt x="45" y="315"/>
                </a:lnTo>
                <a:lnTo>
                  <a:pt x="47" y="320"/>
                </a:lnTo>
                <a:lnTo>
                  <a:pt x="49" y="324"/>
                </a:lnTo>
                <a:lnTo>
                  <a:pt x="50" y="329"/>
                </a:lnTo>
                <a:lnTo>
                  <a:pt x="51" y="333"/>
                </a:lnTo>
                <a:lnTo>
                  <a:pt x="52" y="337"/>
                </a:lnTo>
                <a:lnTo>
                  <a:pt x="53" y="337"/>
                </a:lnTo>
                <a:lnTo>
                  <a:pt x="52" y="338"/>
                </a:lnTo>
                <a:lnTo>
                  <a:pt x="52" y="340"/>
                </a:lnTo>
                <a:lnTo>
                  <a:pt x="51" y="341"/>
                </a:lnTo>
                <a:lnTo>
                  <a:pt x="50" y="345"/>
                </a:lnTo>
                <a:lnTo>
                  <a:pt x="50" y="347"/>
                </a:lnTo>
                <a:lnTo>
                  <a:pt x="49" y="351"/>
                </a:lnTo>
                <a:lnTo>
                  <a:pt x="49" y="355"/>
                </a:lnTo>
                <a:lnTo>
                  <a:pt x="49" y="361"/>
                </a:lnTo>
                <a:lnTo>
                  <a:pt x="50" y="367"/>
                </a:lnTo>
                <a:lnTo>
                  <a:pt x="51" y="375"/>
                </a:lnTo>
                <a:lnTo>
                  <a:pt x="54" y="383"/>
                </a:lnTo>
                <a:lnTo>
                  <a:pt x="55" y="390"/>
                </a:lnTo>
                <a:lnTo>
                  <a:pt x="57" y="396"/>
                </a:lnTo>
                <a:lnTo>
                  <a:pt x="59" y="400"/>
                </a:lnTo>
                <a:lnTo>
                  <a:pt x="59" y="401"/>
                </a:lnTo>
                <a:lnTo>
                  <a:pt x="51" y="417"/>
                </a:lnTo>
                <a:lnTo>
                  <a:pt x="54" y="441"/>
                </a:lnTo>
                <a:lnTo>
                  <a:pt x="55" y="443"/>
                </a:lnTo>
                <a:lnTo>
                  <a:pt x="57" y="444"/>
                </a:lnTo>
                <a:lnTo>
                  <a:pt x="60" y="446"/>
                </a:lnTo>
                <a:lnTo>
                  <a:pt x="62" y="447"/>
                </a:lnTo>
                <a:lnTo>
                  <a:pt x="65" y="448"/>
                </a:lnTo>
                <a:lnTo>
                  <a:pt x="67" y="448"/>
                </a:lnTo>
                <a:lnTo>
                  <a:pt x="70" y="447"/>
                </a:lnTo>
                <a:lnTo>
                  <a:pt x="72" y="444"/>
                </a:lnTo>
                <a:lnTo>
                  <a:pt x="74" y="442"/>
                </a:lnTo>
                <a:lnTo>
                  <a:pt x="75" y="439"/>
                </a:lnTo>
                <a:lnTo>
                  <a:pt x="76" y="436"/>
                </a:lnTo>
                <a:lnTo>
                  <a:pt x="76" y="433"/>
                </a:lnTo>
                <a:lnTo>
                  <a:pt x="77" y="431"/>
                </a:lnTo>
                <a:lnTo>
                  <a:pt x="77" y="430"/>
                </a:lnTo>
                <a:lnTo>
                  <a:pt x="77" y="429"/>
                </a:lnTo>
                <a:lnTo>
                  <a:pt x="71" y="398"/>
                </a:lnTo>
                <a:lnTo>
                  <a:pt x="82" y="337"/>
                </a:lnTo>
                <a:lnTo>
                  <a:pt x="84" y="324"/>
                </a:lnTo>
                <a:lnTo>
                  <a:pt x="96" y="324"/>
                </a:lnTo>
                <a:lnTo>
                  <a:pt x="96" y="325"/>
                </a:lnTo>
                <a:lnTo>
                  <a:pt x="96" y="327"/>
                </a:lnTo>
                <a:lnTo>
                  <a:pt x="96" y="330"/>
                </a:lnTo>
                <a:lnTo>
                  <a:pt x="97" y="334"/>
                </a:lnTo>
                <a:lnTo>
                  <a:pt x="97" y="339"/>
                </a:lnTo>
                <a:lnTo>
                  <a:pt x="97" y="344"/>
                </a:lnTo>
                <a:lnTo>
                  <a:pt x="98" y="349"/>
                </a:lnTo>
                <a:lnTo>
                  <a:pt x="98" y="355"/>
                </a:lnTo>
                <a:lnTo>
                  <a:pt x="100" y="362"/>
                </a:lnTo>
                <a:lnTo>
                  <a:pt x="101" y="370"/>
                </a:lnTo>
                <a:lnTo>
                  <a:pt x="103" y="378"/>
                </a:lnTo>
                <a:lnTo>
                  <a:pt x="104" y="384"/>
                </a:lnTo>
                <a:lnTo>
                  <a:pt x="106" y="391"/>
                </a:lnTo>
                <a:lnTo>
                  <a:pt x="108" y="396"/>
                </a:lnTo>
                <a:lnTo>
                  <a:pt x="108" y="399"/>
                </a:lnTo>
                <a:lnTo>
                  <a:pt x="109" y="401"/>
                </a:lnTo>
                <a:lnTo>
                  <a:pt x="106" y="428"/>
                </a:lnTo>
                <a:lnTo>
                  <a:pt x="115" y="430"/>
                </a:lnTo>
                <a:lnTo>
                  <a:pt x="115" y="426"/>
                </a:lnTo>
                <a:lnTo>
                  <a:pt x="116" y="427"/>
                </a:lnTo>
                <a:lnTo>
                  <a:pt x="119" y="429"/>
                </a:lnTo>
                <a:lnTo>
                  <a:pt x="121" y="430"/>
                </a:lnTo>
                <a:lnTo>
                  <a:pt x="125" y="432"/>
                </a:lnTo>
                <a:lnTo>
                  <a:pt x="128" y="434"/>
                </a:lnTo>
                <a:lnTo>
                  <a:pt x="132" y="435"/>
                </a:lnTo>
                <a:lnTo>
                  <a:pt x="136" y="437"/>
                </a:lnTo>
                <a:lnTo>
                  <a:pt x="140" y="439"/>
                </a:lnTo>
                <a:lnTo>
                  <a:pt x="143" y="439"/>
                </a:lnTo>
                <a:lnTo>
                  <a:pt x="148" y="439"/>
                </a:lnTo>
                <a:lnTo>
                  <a:pt x="151" y="439"/>
                </a:lnTo>
                <a:lnTo>
                  <a:pt x="153" y="439"/>
                </a:lnTo>
                <a:lnTo>
                  <a:pt x="156" y="438"/>
                </a:lnTo>
                <a:lnTo>
                  <a:pt x="158" y="438"/>
                </a:lnTo>
                <a:lnTo>
                  <a:pt x="159" y="437"/>
                </a:lnTo>
                <a:lnTo>
                  <a:pt x="157" y="429"/>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8790" name="Rectangle 22">
            <a:extLst>
              <a:ext uri="{FF2B5EF4-FFF2-40B4-BE49-F238E27FC236}">
                <a16:creationId xmlns:a16="http://schemas.microsoft.com/office/drawing/2014/main" id="{7EE0C191-2B3D-09A4-193D-6B21D25B4953}"/>
              </a:ext>
            </a:extLst>
          </p:cNvPr>
          <p:cNvSpPr>
            <a:spLocks noChangeArrowheads="1"/>
          </p:cNvSpPr>
          <p:nvPr/>
        </p:nvSpPr>
        <p:spPr bwMode="auto">
          <a:xfrm>
            <a:off x="1379017" y="3630637"/>
            <a:ext cx="369888" cy="457200"/>
          </a:xfrm>
          <a:prstGeom prst="rect">
            <a:avLst/>
          </a:prstGeom>
          <a:noFill/>
          <a:ln>
            <a:noFill/>
          </a:ln>
          <a:effectLst/>
        </p:spPr>
        <p:txBody>
          <a:bodyPr wrap="none" lIns="92075" tIns="46038" rIns="92075" bIns="46038">
            <a:spAutoFit/>
          </a:bodyPr>
          <a:lstStyle/>
          <a:p>
            <a:pPr>
              <a:defRPr/>
            </a:pPr>
            <a:r>
              <a:rPr lang="en-US" b="1">
                <a:effectLst>
                  <a:outerShdw blurRad="38100" dist="38100" dir="2700000" algn="tl">
                    <a:srgbClr val="FFFFFF"/>
                  </a:outerShdw>
                </a:effectLst>
              </a:rPr>
              <a:t>?</a:t>
            </a:r>
          </a:p>
        </p:txBody>
      </p:sp>
      <p:sp>
        <p:nvSpPr>
          <p:cNvPr id="8213" name="Rectangle 23">
            <a:extLst>
              <a:ext uri="{FF2B5EF4-FFF2-40B4-BE49-F238E27FC236}">
                <a16:creationId xmlns:a16="http://schemas.microsoft.com/office/drawing/2014/main" id="{F5F7BDC3-A105-C535-92FB-8A13FBCE4C0A}"/>
              </a:ext>
            </a:extLst>
          </p:cNvPr>
          <p:cNvSpPr>
            <a:spLocks noChangeArrowheads="1"/>
          </p:cNvSpPr>
          <p:nvPr/>
        </p:nvSpPr>
        <p:spPr bwMode="auto">
          <a:xfrm>
            <a:off x="2194992" y="4421212"/>
            <a:ext cx="5965825" cy="177006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214" name="Rectangle 24">
            <a:extLst>
              <a:ext uri="{FF2B5EF4-FFF2-40B4-BE49-F238E27FC236}">
                <a16:creationId xmlns:a16="http://schemas.microsoft.com/office/drawing/2014/main" id="{C100E7F8-A569-5FF7-3270-C4AC5F8AF1FD}"/>
              </a:ext>
            </a:extLst>
          </p:cNvPr>
          <p:cNvSpPr>
            <a:spLocks noChangeArrowheads="1"/>
          </p:cNvSpPr>
          <p:nvPr/>
        </p:nvSpPr>
        <p:spPr bwMode="auto">
          <a:xfrm>
            <a:off x="3603105" y="5146699"/>
            <a:ext cx="4002087"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200" b="1">
                <a:solidFill>
                  <a:srgbClr val="0000CC"/>
                </a:solidFill>
                <a:latin typeface="Cambria" panose="02040503050406030204" pitchFamily="18" charset="0"/>
                <a:ea typeface="Cambria" panose="02040503050406030204" pitchFamily="18" charset="0"/>
              </a:rPr>
              <a:t>“What is Jones’ salary?”</a:t>
            </a:r>
          </a:p>
        </p:txBody>
      </p:sp>
      <p:sp>
        <p:nvSpPr>
          <p:cNvPr id="8215" name="Oval 25">
            <a:extLst>
              <a:ext uri="{FF2B5EF4-FFF2-40B4-BE49-F238E27FC236}">
                <a16:creationId xmlns:a16="http://schemas.microsoft.com/office/drawing/2014/main" id="{86819962-8A68-ED2E-5A56-F326F5FA200F}"/>
              </a:ext>
            </a:extLst>
          </p:cNvPr>
          <p:cNvSpPr>
            <a:spLocks noChangeArrowheads="1"/>
          </p:cNvSpPr>
          <p:nvPr/>
        </p:nvSpPr>
        <p:spPr bwMode="auto">
          <a:xfrm>
            <a:off x="2372792" y="4846662"/>
            <a:ext cx="1117600" cy="1106487"/>
          </a:xfrm>
          <a:prstGeom prst="ellipse">
            <a:avLst/>
          </a:prstGeom>
          <a:solidFill>
            <a:srgbClr val="FF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8216" name="Group 26">
            <a:extLst>
              <a:ext uri="{FF2B5EF4-FFF2-40B4-BE49-F238E27FC236}">
                <a16:creationId xmlns:a16="http://schemas.microsoft.com/office/drawing/2014/main" id="{A4AB45A6-388E-D34B-6CBB-0B5E3E2A58C2}"/>
              </a:ext>
            </a:extLst>
          </p:cNvPr>
          <p:cNvGrpSpPr>
            <a:grpSpLocks/>
          </p:cNvGrpSpPr>
          <p:nvPr/>
        </p:nvGrpSpPr>
        <p:grpSpPr bwMode="auto">
          <a:xfrm>
            <a:off x="2645842" y="5010174"/>
            <a:ext cx="612775" cy="776288"/>
            <a:chOff x="1698" y="2928"/>
            <a:chExt cx="386" cy="489"/>
          </a:xfrm>
        </p:grpSpPr>
        <p:grpSp>
          <p:nvGrpSpPr>
            <p:cNvPr id="8220" name="Group 27">
              <a:extLst>
                <a:ext uri="{FF2B5EF4-FFF2-40B4-BE49-F238E27FC236}">
                  <a16:creationId xmlns:a16="http://schemas.microsoft.com/office/drawing/2014/main" id="{5AE035E0-BFB9-62CF-4E0F-99B3DF791DD4}"/>
                </a:ext>
              </a:extLst>
            </p:cNvPr>
            <p:cNvGrpSpPr>
              <a:grpSpLocks/>
            </p:cNvGrpSpPr>
            <p:nvPr/>
          </p:nvGrpSpPr>
          <p:grpSpPr bwMode="auto">
            <a:xfrm>
              <a:off x="1781" y="3018"/>
              <a:ext cx="303" cy="399"/>
              <a:chOff x="1781" y="3018"/>
              <a:chExt cx="303" cy="399"/>
            </a:xfrm>
          </p:grpSpPr>
          <p:sp>
            <p:nvSpPr>
              <p:cNvPr id="8241" name="Freeform 28">
                <a:extLst>
                  <a:ext uri="{FF2B5EF4-FFF2-40B4-BE49-F238E27FC236}">
                    <a16:creationId xmlns:a16="http://schemas.microsoft.com/office/drawing/2014/main" id="{1A371266-D019-CC95-BC4A-45CD95B0FA4C}"/>
                  </a:ext>
                </a:extLst>
              </p:cNvPr>
              <p:cNvSpPr>
                <a:spLocks/>
              </p:cNvSpPr>
              <p:nvPr/>
            </p:nvSpPr>
            <p:spPr bwMode="auto">
              <a:xfrm>
                <a:off x="1788" y="3044"/>
                <a:ext cx="296" cy="373"/>
              </a:xfrm>
              <a:custGeom>
                <a:avLst/>
                <a:gdLst>
                  <a:gd name="T0" fmla="*/ 2 w 296"/>
                  <a:gd name="T1" fmla="*/ 353 h 373"/>
                  <a:gd name="T2" fmla="*/ 1 w 296"/>
                  <a:gd name="T3" fmla="*/ 348 h 373"/>
                  <a:gd name="T4" fmla="*/ 0 w 296"/>
                  <a:gd name="T5" fmla="*/ 334 h 373"/>
                  <a:gd name="T6" fmla="*/ 0 w 296"/>
                  <a:gd name="T7" fmla="*/ 315 h 373"/>
                  <a:gd name="T8" fmla="*/ 0 w 296"/>
                  <a:gd name="T9" fmla="*/ 290 h 373"/>
                  <a:gd name="T10" fmla="*/ 2 w 296"/>
                  <a:gd name="T11" fmla="*/ 262 h 373"/>
                  <a:gd name="T12" fmla="*/ 6 w 296"/>
                  <a:gd name="T13" fmla="*/ 234 h 373"/>
                  <a:gd name="T14" fmla="*/ 15 w 296"/>
                  <a:gd name="T15" fmla="*/ 209 h 373"/>
                  <a:gd name="T16" fmla="*/ 26 w 296"/>
                  <a:gd name="T17" fmla="*/ 186 h 373"/>
                  <a:gd name="T18" fmla="*/ 40 w 296"/>
                  <a:gd name="T19" fmla="*/ 170 h 373"/>
                  <a:gd name="T20" fmla="*/ 54 w 296"/>
                  <a:gd name="T21" fmla="*/ 161 h 373"/>
                  <a:gd name="T22" fmla="*/ 68 w 296"/>
                  <a:gd name="T23" fmla="*/ 155 h 373"/>
                  <a:gd name="T24" fmla="*/ 80 w 296"/>
                  <a:gd name="T25" fmla="*/ 151 h 373"/>
                  <a:gd name="T26" fmla="*/ 94 w 296"/>
                  <a:gd name="T27" fmla="*/ 146 h 373"/>
                  <a:gd name="T28" fmla="*/ 107 w 296"/>
                  <a:gd name="T29" fmla="*/ 139 h 373"/>
                  <a:gd name="T30" fmla="*/ 121 w 296"/>
                  <a:gd name="T31" fmla="*/ 127 h 373"/>
                  <a:gd name="T32" fmla="*/ 134 w 296"/>
                  <a:gd name="T33" fmla="*/ 108 h 373"/>
                  <a:gd name="T34" fmla="*/ 146 w 296"/>
                  <a:gd name="T35" fmla="*/ 85 h 373"/>
                  <a:gd name="T36" fmla="*/ 154 w 296"/>
                  <a:gd name="T37" fmla="*/ 63 h 373"/>
                  <a:gd name="T38" fmla="*/ 160 w 296"/>
                  <a:gd name="T39" fmla="*/ 45 h 373"/>
                  <a:gd name="T40" fmla="*/ 164 w 296"/>
                  <a:gd name="T41" fmla="*/ 29 h 373"/>
                  <a:gd name="T42" fmla="*/ 167 w 296"/>
                  <a:gd name="T43" fmla="*/ 17 h 373"/>
                  <a:gd name="T44" fmla="*/ 168 w 296"/>
                  <a:gd name="T45" fmla="*/ 7 h 373"/>
                  <a:gd name="T46" fmla="*/ 168 w 296"/>
                  <a:gd name="T47" fmla="*/ 1 h 373"/>
                  <a:gd name="T48" fmla="*/ 168 w 296"/>
                  <a:gd name="T49" fmla="*/ 0 h 373"/>
                  <a:gd name="T50" fmla="*/ 295 w 296"/>
                  <a:gd name="T51" fmla="*/ 19 h 373"/>
                  <a:gd name="T52" fmla="*/ 294 w 296"/>
                  <a:gd name="T53" fmla="*/ 25 h 373"/>
                  <a:gd name="T54" fmla="*/ 292 w 296"/>
                  <a:gd name="T55" fmla="*/ 39 h 373"/>
                  <a:gd name="T56" fmla="*/ 287 w 296"/>
                  <a:gd name="T57" fmla="*/ 60 h 373"/>
                  <a:gd name="T58" fmla="*/ 281 w 296"/>
                  <a:gd name="T59" fmla="*/ 85 h 373"/>
                  <a:gd name="T60" fmla="*/ 273 w 296"/>
                  <a:gd name="T61" fmla="*/ 112 h 373"/>
                  <a:gd name="T62" fmla="*/ 264 w 296"/>
                  <a:gd name="T63" fmla="*/ 136 h 373"/>
                  <a:gd name="T64" fmla="*/ 253 w 296"/>
                  <a:gd name="T65" fmla="*/ 158 h 373"/>
                  <a:gd name="T66" fmla="*/ 242 w 296"/>
                  <a:gd name="T67" fmla="*/ 171 h 373"/>
                  <a:gd name="T68" fmla="*/ 228 w 296"/>
                  <a:gd name="T69" fmla="*/ 180 h 373"/>
                  <a:gd name="T70" fmla="*/ 212 w 296"/>
                  <a:gd name="T71" fmla="*/ 186 h 373"/>
                  <a:gd name="T72" fmla="*/ 194 w 296"/>
                  <a:gd name="T73" fmla="*/ 191 h 373"/>
                  <a:gd name="T74" fmla="*/ 176 w 296"/>
                  <a:gd name="T75" fmla="*/ 195 h 373"/>
                  <a:gd name="T76" fmla="*/ 159 w 296"/>
                  <a:gd name="T77" fmla="*/ 202 h 373"/>
                  <a:gd name="T78" fmla="*/ 145 w 296"/>
                  <a:gd name="T79" fmla="*/ 211 h 373"/>
                  <a:gd name="T80" fmla="*/ 132 w 296"/>
                  <a:gd name="T81" fmla="*/ 224 h 373"/>
                  <a:gd name="T82" fmla="*/ 124 w 296"/>
                  <a:gd name="T83" fmla="*/ 242 h 373"/>
                  <a:gd name="T84" fmla="*/ 121 w 296"/>
                  <a:gd name="T85" fmla="*/ 263 h 373"/>
                  <a:gd name="T86" fmla="*/ 118 w 296"/>
                  <a:gd name="T87" fmla="*/ 286 h 373"/>
                  <a:gd name="T88" fmla="*/ 117 w 296"/>
                  <a:gd name="T89" fmla="*/ 308 h 373"/>
                  <a:gd name="T90" fmla="*/ 117 w 296"/>
                  <a:gd name="T91" fmla="*/ 327 h 373"/>
                  <a:gd name="T92" fmla="*/ 118 w 296"/>
                  <a:gd name="T93" fmla="*/ 345 h 373"/>
                  <a:gd name="T94" fmla="*/ 119 w 296"/>
                  <a:gd name="T95" fmla="*/ 359 h 373"/>
                  <a:gd name="T96" fmla="*/ 120 w 296"/>
                  <a:gd name="T97" fmla="*/ 368 h 373"/>
                  <a:gd name="T98" fmla="*/ 121 w 296"/>
                  <a:gd name="T99" fmla="*/ 372 h 373"/>
                  <a:gd name="T100" fmla="*/ 2 w 296"/>
                  <a:gd name="T101" fmla="*/ 353 h 3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 h="373">
                    <a:moveTo>
                      <a:pt x="2" y="353"/>
                    </a:moveTo>
                    <a:lnTo>
                      <a:pt x="1" y="348"/>
                    </a:lnTo>
                    <a:lnTo>
                      <a:pt x="0" y="334"/>
                    </a:lnTo>
                    <a:lnTo>
                      <a:pt x="0" y="315"/>
                    </a:lnTo>
                    <a:lnTo>
                      <a:pt x="0" y="290"/>
                    </a:lnTo>
                    <a:lnTo>
                      <a:pt x="2" y="262"/>
                    </a:lnTo>
                    <a:lnTo>
                      <a:pt x="6" y="234"/>
                    </a:lnTo>
                    <a:lnTo>
                      <a:pt x="15" y="209"/>
                    </a:lnTo>
                    <a:lnTo>
                      <a:pt x="26" y="186"/>
                    </a:lnTo>
                    <a:lnTo>
                      <a:pt x="40" y="170"/>
                    </a:lnTo>
                    <a:lnTo>
                      <a:pt x="54" y="161"/>
                    </a:lnTo>
                    <a:lnTo>
                      <a:pt x="68" y="155"/>
                    </a:lnTo>
                    <a:lnTo>
                      <a:pt x="80" y="151"/>
                    </a:lnTo>
                    <a:lnTo>
                      <a:pt x="94" y="146"/>
                    </a:lnTo>
                    <a:lnTo>
                      <a:pt x="107" y="139"/>
                    </a:lnTo>
                    <a:lnTo>
                      <a:pt x="121" y="127"/>
                    </a:lnTo>
                    <a:lnTo>
                      <a:pt x="134" y="108"/>
                    </a:lnTo>
                    <a:lnTo>
                      <a:pt x="146" y="85"/>
                    </a:lnTo>
                    <a:lnTo>
                      <a:pt x="154" y="63"/>
                    </a:lnTo>
                    <a:lnTo>
                      <a:pt x="160" y="45"/>
                    </a:lnTo>
                    <a:lnTo>
                      <a:pt x="164" y="29"/>
                    </a:lnTo>
                    <a:lnTo>
                      <a:pt x="167" y="17"/>
                    </a:lnTo>
                    <a:lnTo>
                      <a:pt x="168" y="7"/>
                    </a:lnTo>
                    <a:lnTo>
                      <a:pt x="168" y="1"/>
                    </a:lnTo>
                    <a:lnTo>
                      <a:pt x="168" y="0"/>
                    </a:lnTo>
                    <a:lnTo>
                      <a:pt x="295" y="19"/>
                    </a:lnTo>
                    <a:lnTo>
                      <a:pt x="294" y="25"/>
                    </a:lnTo>
                    <a:lnTo>
                      <a:pt x="292" y="39"/>
                    </a:lnTo>
                    <a:lnTo>
                      <a:pt x="287" y="60"/>
                    </a:lnTo>
                    <a:lnTo>
                      <a:pt x="281" y="85"/>
                    </a:lnTo>
                    <a:lnTo>
                      <a:pt x="273" y="112"/>
                    </a:lnTo>
                    <a:lnTo>
                      <a:pt x="264" y="136"/>
                    </a:lnTo>
                    <a:lnTo>
                      <a:pt x="253" y="158"/>
                    </a:lnTo>
                    <a:lnTo>
                      <a:pt x="242" y="171"/>
                    </a:lnTo>
                    <a:lnTo>
                      <a:pt x="228" y="180"/>
                    </a:lnTo>
                    <a:lnTo>
                      <a:pt x="212" y="186"/>
                    </a:lnTo>
                    <a:lnTo>
                      <a:pt x="194" y="191"/>
                    </a:lnTo>
                    <a:lnTo>
                      <a:pt x="176" y="195"/>
                    </a:lnTo>
                    <a:lnTo>
                      <a:pt x="159" y="202"/>
                    </a:lnTo>
                    <a:lnTo>
                      <a:pt x="145" y="211"/>
                    </a:lnTo>
                    <a:lnTo>
                      <a:pt x="132" y="224"/>
                    </a:lnTo>
                    <a:lnTo>
                      <a:pt x="124" y="242"/>
                    </a:lnTo>
                    <a:lnTo>
                      <a:pt x="121" y="263"/>
                    </a:lnTo>
                    <a:lnTo>
                      <a:pt x="118" y="286"/>
                    </a:lnTo>
                    <a:lnTo>
                      <a:pt x="117" y="308"/>
                    </a:lnTo>
                    <a:lnTo>
                      <a:pt x="117" y="327"/>
                    </a:lnTo>
                    <a:lnTo>
                      <a:pt x="118" y="345"/>
                    </a:lnTo>
                    <a:lnTo>
                      <a:pt x="119" y="359"/>
                    </a:lnTo>
                    <a:lnTo>
                      <a:pt x="120" y="368"/>
                    </a:lnTo>
                    <a:lnTo>
                      <a:pt x="121" y="372"/>
                    </a:lnTo>
                    <a:lnTo>
                      <a:pt x="2" y="35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2" name="Freeform 29">
                <a:extLst>
                  <a:ext uri="{FF2B5EF4-FFF2-40B4-BE49-F238E27FC236}">
                    <a16:creationId xmlns:a16="http://schemas.microsoft.com/office/drawing/2014/main" id="{42159E28-9957-2131-A97B-ECF3BBBAF5F6}"/>
                  </a:ext>
                </a:extLst>
              </p:cNvPr>
              <p:cNvSpPr>
                <a:spLocks/>
              </p:cNvSpPr>
              <p:nvPr/>
            </p:nvSpPr>
            <p:spPr bwMode="auto">
              <a:xfrm>
                <a:off x="1781" y="3018"/>
                <a:ext cx="298" cy="374"/>
              </a:xfrm>
              <a:custGeom>
                <a:avLst/>
                <a:gdLst>
                  <a:gd name="T0" fmla="*/ 2 w 298"/>
                  <a:gd name="T1" fmla="*/ 354 h 374"/>
                  <a:gd name="T2" fmla="*/ 1 w 298"/>
                  <a:gd name="T3" fmla="*/ 350 h 374"/>
                  <a:gd name="T4" fmla="*/ 0 w 298"/>
                  <a:gd name="T5" fmla="*/ 336 h 374"/>
                  <a:gd name="T6" fmla="*/ 0 w 298"/>
                  <a:gd name="T7" fmla="*/ 315 h 374"/>
                  <a:gd name="T8" fmla="*/ 0 w 298"/>
                  <a:gd name="T9" fmla="*/ 290 h 374"/>
                  <a:gd name="T10" fmla="*/ 2 w 298"/>
                  <a:gd name="T11" fmla="*/ 263 h 374"/>
                  <a:gd name="T12" fmla="*/ 7 w 298"/>
                  <a:gd name="T13" fmla="*/ 236 h 374"/>
                  <a:gd name="T14" fmla="*/ 15 w 298"/>
                  <a:gd name="T15" fmla="*/ 209 h 374"/>
                  <a:gd name="T16" fmla="*/ 27 w 298"/>
                  <a:gd name="T17" fmla="*/ 187 h 374"/>
                  <a:gd name="T18" fmla="*/ 41 w 298"/>
                  <a:gd name="T19" fmla="*/ 172 h 374"/>
                  <a:gd name="T20" fmla="*/ 54 w 298"/>
                  <a:gd name="T21" fmla="*/ 161 h 374"/>
                  <a:gd name="T22" fmla="*/ 68 w 298"/>
                  <a:gd name="T23" fmla="*/ 156 h 374"/>
                  <a:gd name="T24" fmla="*/ 81 w 298"/>
                  <a:gd name="T25" fmla="*/ 152 h 374"/>
                  <a:gd name="T26" fmla="*/ 94 w 298"/>
                  <a:gd name="T27" fmla="*/ 148 h 374"/>
                  <a:gd name="T28" fmla="*/ 108 w 298"/>
                  <a:gd name="T29" fmla="*/ 141 h 374"/>
                  <a:gd name="T30" fmla="*/ 121 w 298"/>
                  <a:gd name="T31" fmla="*/ 128 h 374"/>
                  <a:gd name="T32" fmla="*/ 135 w 298"/>
                  <a:gd name="T33" fmla="*/ 109 h 374"/>
                  <a:gd name="T34" fmla="*/ 146 w 298"/>
                  <a:gd name="T35" fmla="*/ 85 h 374"/>
                  <a:gd name="T36" fmla="*/ 155 w 298"/>
                  <a:gd name="T37" fmla="*/ 65 h 374"/>
                  <a:gd name="T38" fmla="*/ 162 w 298"/>
                  <a:gd name="T39" fmla="*/ 46 h 374"/>
                  <a:gd name="T40" fmla="*/ 165 w 298"/>
                  <a:gd name="T41" fmla="*/ 30 h 374"/>
                  <a:gd name="T42" fmla="*/ 167 w 298"/>
                  <a:gd name="T43" fmla="*/ 18 h 374"/>
                  <a:gd name="T44" fmla="*/ 168 w 298"/>
                  <a:gd name="T45" fmla="*/ 7 h 374"/>
                  <a:gd name="T46" fmla="*/ 168 w 298"/>
                  <a:gd name="T47" fmla="*/ 2 h 374"/>
                  <a:gd name="T48" fmla="*/ 168 w 298"/>
                  <a:gd name="T49" fmla="*/ 0 h 374"/>
                  <a:gd name="T50" fmla="*/ 297 w 298"/>
                  <a:gd name="T51" fmla="*/ 20 h 374"/>
                  <a:gd name="T52" fmla="*/ 296 w 298"/>
                  <a:gd name="T53" fmla="*/ 25 h 374"/>
                  <a:gd name="T54" fmla="*/ 293 w 298"/>
                  <a:gd name="T55" fmla="*/ 39 h 374"/>
                  <a:gd name="T56" fmla="*/ 288 w 298"/>
                  <a:gd name="T57" fmla="*/ 61 h 374"/>
                  <a:gd name="T58" fmla="*/ 282 w 298"/>
                  <a:gd name="T59" fmla="*/ 86 h 374"/>
                  <a:gd name="T60" fmla="*/ 274 w 298"/>
                  <a:gd name="T61" fmla="*/ 112 h 374"/>
                  <a:gd name="T62" fmla="*/ 265 w 298"/>
                  <a:gd name="T63" fmla="*/ 138 h 374"/>
                  <a:gd name="T64" fmla="*/ 254 w 298"/>
                  <a:gd name="T65" fmla="*/ 158 h 374"/>
                  <a:gd name="T66" fmla="*/ 243 w 298"/>
                  <a:gd name="T67" fmla="*/ 173 h 374"/>
                  <a:gd name="T68" fmla="*/ 229 w 298"/>
                  <a:gd name="T69" fmla="*/ 181 h 374"/>
                  <a:gd name="T70" fmla="*/ 213 w 298"/>
                  <a:gd name="T71" fmla="*/ 187 h 374"/>
                  <a:gd name="T72" fmla="*/ 194 w 298"/>
                  <a:gd name="T73" fmla="*/ 191 h 374"/>
                  <a:gd name="T74" fmla="*/ 177 w 298"/>
                  <a:gd name="T75" fmla="*/ 197 h 374"/>
                  <a:gd name="T76" fmla="*/ 160 w 298"/>
                  <a:gd name="T77" fmla="*/ 203 h 374"/>
                  <a:gd name="T78" fmla="*/ 145 w 298"/>
                  <a:gd name="T79" fmla="*/ 212 h 374"/>
                  <a:gd name="T80" fmla="*/ 133 w 298"/>
                  <a:gd name="T81" fmla="*/ 224 h 374"/>
                  <a:gd name="T82" fmla="*/ 125 w 298"/>
                  <a:gd name="T83" fmla="*/ 242 h 374"/>
                  <a:gd name="T84" fmla="*/ 121 w 298"/>
                  <a:gd name="T85" fmla="*/ 265 h 374"/>
                  <a:gd name="T86" fmla="*/ 118 w 298"/>
                  <a:gd name="T87" fmla="*/ 287 h 374"/>
                  <a:gd name="T88" fmla="*/ 117 w 298"/>
                  <a:gd name="T89" fmla="*/ 309 h 374"/>
                  <a:gd name="T90" fmla="*/ 117 w 298"/>
                  <a:gd name="T91" fmla="*/ 329 h 374"/>
                  <a:gd name="T92" fmla="*/ 118 w 298"/>
                  <a:gd name="T93" fmla="*/ 346 h 374"/>
                  <a:gd name="T94" fmla="*/ 119 w 298"/>
                  <a:gd name="T95" fmla="*/ 360 h 374"/>
                  <a:gd name="T96" fmla="*/ 120 w 298"/>
                  <a:gd name="T97" fmla="*/ 369 h 374"/>
                  <a:gd name="T98" fmla="*/ 121 w 298"/>
                  <a:gd name="T99" fmla="*/ 373 h 374"/>
                  <a:gd name="T100" fmla="*/ 2 w 298"/>
                  <a:gd name="T101" fmla="*/ 354 h 37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8" h="374">
                    <a:moveTo>
                      <a:pt x="2" y="354"/>
                    </a:moveTo>
                    <a:lnTo>
                      <a:pt x="1" y="350"/>
                    </a:lnTo>
                    <a:lnTo>
                      <a:pt x="0" y="336"/>
                    </a:lnTo>
                    <a:lnTo>
                      <a:pt x="0" y="315"/>
                    </a:lnTo>
                    <a:lnTo>
                      <a:pt x="0" y="290"/>
                    </a:lnTo>
                    <a:lnTo>
                      <a:pt x="2" y="263"/>
                    </a:lnTo>
                    <a:lnTo>
                      <a:pt x="7" y="236"/>
                    </a:lnTo>
                    <a:lnTo>
                      <a:pt x="15" y="209"/>
                    </a:lnTo>
                    <a:lnTo>
                      <a:pt x="27" y="187"/>
                    </a:lnTo>
                    <a:lnTo>
                      <a:pt x="41" y="172"/>
                    </a:lnTo>
                    <a:lnTo>
                      <a:pt x="54" y="161"/>
                    </a:lnTo>
                    <a:lnTo>
                      <a:pt x="68" y="156"/>
                    </a:lnTo>
                    <a:lnTo>
                      <a:pt x="81" y="152"/>
                    </a:lnTo>
                    <a:lnTo>
                      <a:pt x="94" y="148"/>
                    </a:lnTo>
                    <a:lnTo>
                      <a:pt x="108" y="141"/>
                    </a:lnTo>
                    <a:lnTo>
                      <a:pt x="121" y="128"/>
                    </a:lnTo>
                    <a:lnTo>
                      <a:pt x="135" y="109"/>
                    </a:lnTo>
                    <a:lnTo>
                      <a:pt x="146" y="85"/>
                    </a:lnTo>
                    <a:lnTo>
                      <a:pt x="155" y="65"/>
                    </a:lnTo>
                    <a:lnTo>
                      <a:pt x="162" y="46"/>
                    </a:lnTo>
                    <a:lnTo>
                      <a:pt x="165" y="30"/>
                    </a:lnTo>
                    <a:lnTo>
                      <a:pt x="167" y="18"/>
                    </a:lnTo>
                    <a:lnTo>
                      <a:pt x="168" y="7"/>
                    </a:lnTo>
                    <a:lnTo>
                      <a:pt x="168" y="2"/>
                    </a:lnTo>
                    <a:lnTo>
                      <a:pt x="168" y="0"/>
                    </a:lnTo>
                    <a:lnTo>
                      <a:pt x="297" y="20"/>
                    </a:lnTo>
                    <a:lnTo>
                      <a:pt x="296" y="25"/>
                    </a:lnTo>
                    <a:lnTo>
                      <a:pt x="293" y="39"/>
                    </a:lnTo>
                    <a:lnTo>
                      <a:pt x="288" y="61"/>
                    </a:lnTo>
                    <a:lnTo>
                      <a:pt x="282" y="86"/>
                    </a:lnTo>
                    <a:lnTo>
                      <a:pt x="274" y="112"/>
                    </a:lnTo>
                    <a:lnTo>
                      <a:pt x="265" y="138"/>
                    </a:lnTo>
                    <a:lnTo>
                      <a:pt x="254" y="158"/>
                    </a:lnTo>
                    <a:lnTo>
                      <a:pt x="243" y="173"/>
                    </a:lnTo>
                    <a:lnTo>
                      <a:pt x="229" y="181"/>
                    </a:lnTo>
                    <a:lnTo>
                      <a:pt x="213" y="187"/>
                    </a:lnTo>
                    <a:lnTo>
                      <a:pt x="194" y="191"/>
                    </a:lnTo>
                    <a:lnTo>
                      <a:pt x="177" y="197"/>
                    </a:lnTo>
                    <a:lnTo>
                      <a:pt x="160" y="203"/>
                    </a:lnTo>
                    <a:lnTo>
                      <a:pt x="145" y="212"/>
                    </a:lnTo>
                    <a:lnTo>
                      <a:pt x="133" y="224"/>
                    </a:lnTo>
                    <a:lnTo>
                      <a:pt x="125" y="242"/>
                    </a:lnTo>
                    <a:lnTo>
                      <a:pt x="121" y="265"/>
                    </a:lnTo>
                    <a:lnTo>
                      <a:pt x="118" y="287"/>
                    </a:lnTo>
                    <a:lnTo>
                      <a:pt x="117" y="309"/>
                    </a:lnTo>
                    <a:lnTo>
                      <a:pt x="117" y="329"/>
                    </a:lnTo>
                    <a:lnTo>
                      <a:pt x="118" y="346"/>
                    </a:lnTo>
                    <a:lnTo>
                      <a:pt x="119" y="360"/>
                    </a:lnTo>
                    <a:lnTo>
                      <a:pt x="120" y="369"/>
                    </a:lnTo>
                    <a:lnTo>
                      <a:pt x="121" y="373"/>
                    </a:lnTo>
                    <a:lnTo>
                      <a:pt x="2" y="354"/>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3" name="Freeform 30">
                <a:extLst>
                  <a:ext uri="{FF2B5EF4-FFF2-40B4-BE49-F238E27FC236}">
                    <a16:creationId xmlns:a16="http://schemas.microsoft.com/office/drawing/2014/main" id="{06EEAA6C-EE55-794B-59D3-7EE46FBA0DBE}"/>
                  </a:ext>
                </a:extLst>
              </p:cNvPr>
              <p:cNvSpPr>
                <a:spLocks/>
              </p:cNvSpPr>
              <p:nvPr/>
            </p:nvSpPr>
            <p:spPr bwMode="auto">
              <a:xfrm>
                <a:off x="1798" y="3048"/>
                <a:ext cx="259" cy="319"/>
              </a:xfrm>
              <a:custGeom>
                <a:avLst/>
                <a:gdLst>
                  <a:gd name="T0" fmla="*/ 1 w 259"/>
                  <a:gd name="T1" fmla="*/ 303 h 319"/>
                  <a:gd name="T2" fmla="*/ 1 w 259"/>
                  <a:gd name="T3" fmla="*/ 299 h 319"/>
                  <a:gd name="T4" fmla="*/ 0 w 259"/>
                  <a:gd name="T5" fmla="*/ 287 h 319"/>
                  <a:gd name="T6" fmla="*/ 0 w 259"/>
                  <a:gd name="T7" fmla="*/ 270 h 319"/>
                  <a:gd name="T8" fmla="*/ 0 w 259"/>
                  <a:gd name="T9" fmla="*/ 248 h 319"/>
                  <a:gd name="T10" fmla="*/ 0 w 259"/>
                  <a:gd name="T11" fmla="*/ 226 h 319"/>
                  <a:gd name="T12" fmla="*/ 4 w 259"/>
                  <a:gd name="T13" fmla="*/ 203 h 319"/>
                  <a:gd name="T14" fmla="*/ 11 w 259"/>
                  <a:gd name="T15" fmla="*/ 181 h 319"/>
                  <a:gd name="T16" fmla="*/ 22 w 259"/>
                  <a:gd name="T17" fmla="*/ 164 h 319"/>
                  <a:gd name="T18" fmla="*/ 35 w 259"/>
                  <a:gd name="T19" fmla="*/ 152 h 319"/>
                  <a:gd name="T20" fmla="*/ 50 w 259"/>
                  <a:gd name="T21" fmla="*/ 143 h 319"/>
                  <a:gd name="T22" fmla="*/ 66 w 259"/>
                  <a:gd name="T23" fmla="*/ 135 h 319"/>
                  <a:gd name="T24" fmla="*/ 83 w 259"/>
                  <a:gd name="T25" fmla="*/ 128 h 319"/>
                  <a:gd name="T26" fmla="*/ 99 w 259"/>
                  <a:gd name="T27" fmla="*/ 120 h 319"/>
                  <a:gd name="T28" fmla="*/ 114 w 259"/>
                  <a:gd name="T29" fmla="*/ 107 h 319"/>
                  <a:gd name="T30" fmla="*/ 127 w 259"/>
                  <a:gd name="T31" fmla="*/ 91 h 319"/>
                  <a:gd name="T32" fmla="*/ 139 w 259"/>
                  <a:gd name="T33" fmla="*/ 68 h 319"/>
                  <a:gd name="T34" fmla="*/ 145 w 259"/>
                  <a:gd name="T35" fmla="*/ 48 h 319"/>
                  <a:gd name="T36" fmla="*/ 151 w 259"/>
                  <a:gd name="T37" fmla="*/ 34 h 319"/>
                  <a:gd name="T38" fmla="*/ 155 w 259"/>
                  <a:gd name="T39" fmla="*/ 21 h 319"/>
                  <a:gd name="T40" fmla="*/ 159 w 259"/>
                  <a:gd name="T41" fmla="*/ 12 h 319"/>
                  <a:gd name="T42" fmla="*/ 161 w 259"/>
                  <a:gd name="T43" fmla="*/ 6 h 319"/>
                  <a:gd name="T44" fmla="*/ 162 w 259"/>
                  <a:gd name="T45" fmla="*/ 2 h 319"/>
                  <a:gd name="T46" fmla="*/ 163 w 259"/>
                  <a:gd name="T47" fmla="*/ 0 h 319"/>
                  <a:gd name="T48" fmla="*/ 163 w 259"/>
                  <a:gd name="T49" fmla="*/ 0 h 319"/>
                  <a:gd name="T50" fmla="*/ 258 w 259"/>
                  <a:gd name="T51" fmla="*/ 17 h 319"/>
                  <a:gd name="T52" fmla="*/ 257 w 259"/>
                  <a:gd name="T53" fmla="*/ 21 h 319"/>
                  <a:gd name="T54" fmla="*/ 254 w 259"/>
                  <a:gd name="T55" fmla="*/ 32 h 319"/>
                  <a:gd name="T56" fmla="*/ 250 w 259"/>
                  <a:gd name="T57" fmla="*/ 48 h 319"/>
                  <a:gd name="T58" fmla="*/ 245 w 259"/>
                  <a:gd name="T59" fmla="*/ 68 h 319"/>
                  <a:gd name="T60" fmla="*/ 238 w 259"/>
                  <a:gd name="T61" fmla="*/ 88 h 319"/>
                  <a:gd name="T62" fmla="*/ 230 w 259"/>
                  <a:gd name="T63" fmla="*/ 107 h 319"/>
                  <a:gd name="T64" fmla="*/ 222 w 259"/>
                  <a:gd name="T65" fmla="*/ 123 h 319"/>
                  <a:gd name="T66" fmla="*/ 212 w 259"/>
                  <a:gd name="T67" fmla="*/ 134 h 319"/>
                  <a:gd name="T68" fmla="*/ 200 w 259"/>
                  <a:gd name="T69" fmla="*/ 140 h 319"/>
                  <a:gd name="T70" fmla="*/ 184 w 259"/>
                  <a:gd name="T71" fmla="*/ 146 h 319"/>
                  <a:gd name="T72" fmla="*/ 167 w 259"/>
                  <a:gd name="T73" fmla="*/ 152 h 319"/>
                  <a:gd name="T74" fmla="*/ 148 w 259"/>
                  <a:gd name="T75" fmla="*/ 157 h 319"/>
                  <a:gd name="T76" fmla="*/ 130 w 259"/>
                  <a:gd name="T77" fmla="*/ 165 h 319"/>
                  <a:gd name="T78" fmla="*/ 114 w 259"/>
                  <a:gd name="T79" fmla="*/ 176 h 319"/>
                  <a:gd name="T80" fmla="*/ 100 w 259"/>
                  <a:gd name="T81" fmla="*/ 189 h 319"/>
                  <a:gd name="T82" fmla="*/ 90 w 259"/>
                  <a:gd name="T83" fmla="*/ 206 h 319"/>
                  <a:gd name="T84" fmla="*/ 86 w 259"/>
                  <a:gd name="T85" fmla="*/ 223 h 319"/>
                  <a:gd name="T86" fmla="*/ 83 w 259"/>
                  <a:gd name="T87" fmla="*/ 241 h 319"/>
                  <a:gd name="T88" fmla="*/ 83 w 259"/>
                  <a:gd name="T89" fmla="*/ 260 h 319"/>
                  <a:gd name="T90" fmla="*/ 83 w 259"/>
                  <a:gd name="T91" fmla="*/ 278 h 319"/>
                  <a:gd name="T92" fmla="*/ 85 w 259"/>
                  <a:gd name="T93" fmla="*/ 293 h 319"/>
                  <a:gd name="T94" fmla="*/ 86 w 259"/>
                  <a:gd name="T95" fmla="*/ 305 h 319"/>
                  <a:gd name="T96" fmla="*/ 88 w 259"/>
                  <a:gd name="T97" fmla="*/ 314 h 319"/>
                  <a:gd name="T98" fmla="*/ 88 w 259"/>
                  <a:gd name="T99" fmla="*/ 318 h 319"/>
                  <a:gd name="T100" fmla="*/ 1 w 259"/>
                  <a:gd name="T101" fmla="*/ 303 h 31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9" h="319">
                    <a:moveTo>
                      <a:pt x="1" y="303"/>
                    </a:moveTo>
                    <a:lnTo>
                      <a:pt x="1" y="299"/>
                    </a:lnTo>
                    <a:lnTo>
                      <a:pt x="0" y="287"/>
                    </a:lnTo>
                    <a:lnTo>
                      <a:pt x="0" y="270"/>
                    </a:lnTo>
                    <a:lnTo>
                      <a:pt x="0" y="248"/>
                    </a:lnTo>
                    <a:lnTo>
                      <a:pt x="0" y="226"/>
                    </a:lnTo>
                    <a:lnTo>
                      <a:pt x="4" y="203"/>
                    </a:lnTo>
                    <a:lnTo>
                      <a:pt x="11" y="181"/>
                    </a:lnTo>
                    <a:lnTo>
                      <a:pt x="22" y="164"/>
                    </a:lnTo>
                    <a:lnTo>
                      <a:pt x="35" y="152"/>
                    </a:lnTo>
                    <a:lnTo>
                      <a:pt x="50" y="143"/>
                    </a:lnTo>
                    <a:lnTo>
                      <a:pt x="66" y="135"/>
                    </a:lnTo>
                    <a:lnTo>
                      <a:pt x="83" y="128"/>
                    </a:lnTo>
                    <a:lnTo>
                      <a:pt x="99" y="120"/>
                    </a:lnTo>
                    <a:lnTo>
                      <a:pt x="114" y="107"/>
                    </a:lnTo>
                    <a:lnTo>
                      <a:pt x="127" y="91"/>
                    </a:lnTo>
                    <a:lnTo>
                      <a:pt x="139" y="68"/>
                    </a:lnTo>
                    <a:lnTo>
                      <a:pt x="145" y="48"/>
                    </a:lnTo>
                    <a:lnTo>
                      <a:pt x="151" y="34"/>
                    </a:lnTo>
                    <a:lnTo>
                      <a:pt x="155" y="21"/>
                    </a:lnTo>
                    <a:lnTo>
                      <a:pt x="159" y="12"/>
                    </a:lnTo>
                    <a:lnTo>
                      <a:pt x="161" y="6"/>
                    </a:lnTo>
                    <a:lnTo>
                      <a:pt x="162" y="2"/>
                    </a:lnTo>
                    <a:lnTo>
                      <a:pt x="163" y="0"/>
                    </a:lnTo>
                    <a:lnTo>
                      <a:pt x="258" y="17"/>
                    </a:lnTo>
                    <a:lnTo>
                      <a:pt x="257" y="21"/>
                    </a:lnTo>
                    <a:lnTo>
                      <a:pt x="254" y="32"/>
                    </a:lnTo>
                    <a:lnTo>
                      <a:pt x="250" y="48"/>
                    </a:lnTo>
                    <a:lnTo>
                      <a:pt x="245" y="68"/>
                    </a:lnTo>
                    <a:lnTo>
                      <a:pt x="238" y="88"/>
                    </a:lnTo>
                    <a:lnTo>
                      <a:pt x="230" y="107"/>
                    </a:lnTo>
                    <a:lnTo>
                      <a:pt x="222" y="123"/>
                    </a:lnTo>
                    <a:lnTo>
                      <a:pt x="212" y="134"/>
                    </a:lnTo>
                    <a:lnTo>
                      <a:pt x="200" y="140"/>
                    </a:lnTo>
                    <a:lnTo>
                      <a:pt x="184" y="146"/>
                    </a:lnTo>
                    <a:lnTo>
                      <a:pt x="167" y="152"/>
                    </a:lnTo>
                    <a:lnTo>
                      <a:pt x="148" y="157"/>
                    </a:lnTo>
                    <a:lnTo>
                      <a:pt x="130" y="165"/>
                    </a:lnTo>
                    <a:lnTo>
                      <a:pt x="114" y="176"/>
                    </a:lnTo>
                    <a:lnTo>
                      <a:pt x="100" y="189"/>
                    </a:lnTo>
                    <a:lnTo>
                      <a:pt x="90" y="206"/>
                    </a:lnTo>
                    <a:lnTo>
                      <a:pt x="86" y="223"/>
                    </a:lnTo>
                    <a:lnTo>
                      <a:pt x="83" y="241"/>
                    </a:lnTo>
                    <a:lnTo>
                      <a:pt x="83" y="260"/>
                    </a:lnTo>
                    <a:lnTo>
                      <a:pt x="83" y="278"/>
                    </a:lnTo>
                    <a:lnTo>
                      <a:pt x="85" y="293"/>
                    </a:lnTo>
                    <a:lnTo>
                      <a:pt x="86" y="305"/>
                    </a:lnTo>
                    <a:lnTo>
                      <a:pt x="88" y="314"/>
                    </a:lnTo>
                    <a:lnTo>
                      <a:pt x="88" y="318"/>
                    </a:lnTo>
                    <a:lnTo>
                      <a:pt x="1" y="303"/>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4" name="Freeform 31">
                <a:extLst>
                  <a:ext uri="{FF2B5EF4-FFF2-40B4-BE49-F238E27FC236}">
                    <a16:creationId xmlns:a16="http://schemas.microsoft.com/office/drawing/2014/main" id="{A8771BE6-ECC2-083E-ACBB-FB3AD529394E}"/>
                  </a:ext>
                </a:extLst>
              </p:cNvPr>
              <p:cNvSpPr>
                <a:spLocks/>
              </p:cNvSpPr>
              <p:nvPr/>
            </p:nvSpPr>
            <p:spPr bwMode="auto">
              <a:xfrm>
                <a:off x="1850" y="3166"/>
                <a:ext cx="123" cy="56"/>
              </a:xfrm>
              <a:custGeom>
                <a:avLst/>
                <a:gdLst>
                  <a:gd name="T0" fmla="*/ 64 w 123"/>
                  <a:gd name="T1" fmla="*/ 52 h 56"/>
                  <a:gd name="T2" fmla="*/ 76 w 123"/>
                  <a:gd name="T3" fmla="*/ 49 h 56"/>
                  <a:gd name="T4" fmla="*/ 88 w 123"/>
                  <a:gd name="T5" fmla="*/ 45 h 56"/>
                  <a:gd name="T6" fmla="*/ 97 w 123"/>
                  <a:gd name="T7" fmla="*/ 41 h 56"/>
                  <a:gd name="T8" fmla="*/ 106 w 123"/>
                  <a:gd name="T9" fmla="*/ 36 h 56"/>
                  <a:gd name="T10" fmla="*/ 113 w 123"/>
                  <a:gd name="T11" fmla="*/ 30 h 56"/>
                  <a:gd name="T12" fmla="*/ 118 w 123"/>
                  <a:gd name="T13" fmla="*/ 26 h 56"/>
                  <a:gd name="T14" fmla="*/ 121 w 123"/>
                  <a:gd name="T15" fmla="*/ 20 h 56"/>
                  <a:gd name="T16" fmla="*/ 122 w 123"/>
                  <a:gd name="T17" fmla="*/ 14 h 56"/>
                  <a:gd name="T18" fmla="*/ 120 w 123"/>
                  <a:gd name="T19" fmla="*/ 10 h 56"/>
                  <a:gd name="T20" fmla="*/ 116 w 123"/>
                  <a:gd name="T21" fmla="*/ 6 h 56"/>
                  <a:gd name="T22" fmla="*/ 109 w 123"/>
                  <a:gd name="T23" fmla="*/ 3 h 56"/>
                  <a:gd name="T24" fmla="*/ 101 w 123"/>
                  <a:gd name="T25" fmla="*/ 1 h 56"/>
                  <a:gd name="T26" fmla="*/ 91 w 123"/>
                  <a:gd name="T27" fmla="*/ 0 h 56"/>
                  <a:gd name="T28" fmla="*/ 81 w 123"/>
                  <a:gd name="T29" fmla="*/ 0 h 56"/>
                  <a:gd name="T30" fmla="*/ 69 w 123"/>
                  <a:gd name="T31" fmla="*/ 0 h 56"/>
                  <a:gd name="T32" fmla="*/ 57 w 123"/>
                  <a:gd name="T33" fmla="*/ 2 h 56"/>
                  <a:gd name="T34" fmla="*/ 45 w 123"/>
                  <a:gd name="T35" fmla="*/ 5 h 56"/>
                  <a:gd name="T36" fmla="*/ 33 w 123"/>
                  <a:gd name="T37" fmla="*/ 9 h 56"/>
                  <a:gd name="T38" fmla="*/ 24 w 123"/>
                  <a:gd name="T39" fmla="*/ 13 h 56"/>
                  <a:gd name="T40" fmla="*/ 15 w 123"/>
                  <a:gd name="T41" fmla="*/ 18 h 56"/>
                  <a:gd name="T42" fmla="*/ 8 w 123"/>
                  <a:gd name="T43" fmla="*/ 22 h 56"/>
                  <a:gd name="T44" fmla="*/ 3 w 123"/>
                  <a:gd name="T45" fmla="*/ 28 h 56"/>
                  <a:gd name="T46" fmla="*/ 0 w 123"/>
                  <a:gd name="T47" fmla="*/ 34 h 56"/>
                  <a:gd name="T48" fmla="*/ 0 w 123"/>
                  <a:gd name="T49" fmla="*/ 38 h 56"/>
                  <a:gd name="T50" fmla="*/ 1 w 123"/>
                  <a:gd name="T51" fmla="*/ 44 h 56"/>
                  <a:gd name="T52" fmla="*/ 5 w 123"/>
                  <a:gd name="T53" fmla="*/ 48 h 56"/>
                  <a:gd name="T54" fmla="*/ 12 w 123"/>
                  <a:gd name="T55" fmla="*/ 51 h 56"/>
                  <a:gd name="T56" fmla="*/ 20 w 123"/>
                  <a:gd name="T57" fmla="*/ 53 h 56"/>
                  <a:gd name="T58" fmla="*/ 30 w 123"/>
                  <a:gd name="T59" fmla="*/ 55 h 56"/>
                  <a:gd name="T60" fmla="*/ 40 w 123"/>
                  <a:gd name="T61" fmla="*/ 55 h 56"/>
                  <a:gd name="T62" fmla="*/ 52 w 123"/>
                  <a:gd name="T63" fmla="*/ 53 h 56"/>
                  <a:gd name="T64" fmla="*/ 64 w 123"/>
                  <a:gd name="T65" fmla="*/ 52 h 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3" h="56">
                    <a:moveTo>
                      <a:pt x="64" y="52"/>
                    </a:moveTo>
                    <a:lnTo>
                      <a:pt x="76" y="49"/>
                    </a:lnTo>
                    <a:lnTo>
                      <a:pt x="88" y="45"/>
                    </a:lnTo>
                    <a:lnTo>
                      <a:pt x="97" y="41"/>
                    </a:lnTo>
                    <a:lnTo>
                      <a:pt x="106" y="36"/>
                    </a:lnTo>
                    <a:lnTo>
                      <a:pt x="113" y="30"/>
                    </a:lnTo>
                    <a:lnTo>
                      <a:pt x="118" y="26"/>
                    </a:lnTo>
                    <a:lnTo>
                      <a:pt x="121" y="20"/>
                    </a:lnTo>
                    <a:lnTo>
                      <a:pt x="122" y="14"/>
                    </a:lnTo>
                    <a:lnTo>
                      <a:pt x="120" y="10"/>
                    </a:lnTo>
                    <a:lnTo>
                      <a:pt x="116" y="6"/>
                    </a:lnTo>
                    <a:lnTo>
                      <a:pt x="109" y="3"/>
                    </a:lnTo>
                    <a:lnTo>
                      <a:pt x="101" y="1"/>
                    </a:lnTo>
                    <a:lnTo>
                      <a:pt x="91" y="0"/>
                    </a:lnTo>
                    <a:lnTo>
                      <a:pt x="81" y="0"/>
                    </a:lnTo>
                    <a:lnTo>
                      <a:pt x="69" y="0"/>
                    </a:lnTo>
                    <a:lnTo>
                      <a:pt x="57" y="2"/>
                    </a:lnTo>
                    <a:lnTo>
                      <a:pt x="45" y="5"/>
                    </a:lnTo>
                    <a:lnTo>
                      <a:pt x="33" y="9"/>
                    </a:lnTo>
                    <a:lnTo>
                      <a:pt x="24" y="13"/>
                    </a:lnTo>
                    <a:lnTo>
                      <a:pt x="15" y="18"/>
                    </a:lnTo>
                    <a:lnTo>
                      <a:pt x="8" y="22"/>
                    </a:lnTo>
                    <a:lnTo>
                      <a:pt x="3" y="28"/>
                    </a:lnTo>
                    <a:lnTo>
                      <a:pt x="0" y="34"/>
                    </a:lnTo>
                    <a:lnTo>
                      <a:pt x="0" y="38"/>
                    </a:lnTo>
                    <a:lnTo>
                      <a:pt x="1" y="44"/>
                    </a:lnTo>
                    <a:lnTo>
                      <a:pt x="5" y="48"/>
                    </a:lnTo>
                    <a:lnTo>
                      <a:pt x="12" y="51"/>
                    </a:lnTo>
                    <a:lnTo>
                      <a:pt x="20" y="53"/>
                    </a:lnTo>
                    <a:lnTo>
                      <a:pt x="30" y="55"/>
                    </a:lnTo>
                    <a:lnTo>
                      <a:pt x="40" y="55"/>
                    </a:lnTo>
                    <a:lnTo>
                      <a:pt x="52" y="53"/>
                    </a:lnTo>
                    <a:lnTo>
                      <a:pt x="64" y="5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5" name="Freeform 32">
                <a:extLst>
                  <a:ext uri="{FF2B5EF4-FFF2-40B4-BE49-F238E27FC236}">
                    <a16:creationId xmlns:a16="http://schemas.microsoft.com/office/drawing/2014/main" id="{197A460C-E0BB-1933-439A-E4243467CD11}"/>
                  </a:ext>
                </a:extLst>
              </p:cNvPr>
              <p:cNvSpPr>
                <a:spLocks/>
              </p:cNvSpPr>
              <p:nvPr/>
            </p:nvSpPr>
            <p:spPr bwMode="auto">
              <a:xfrm>
                <a:off x="1860" y="3170"/>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6" name="Freeform 33">
                <a:extLst>
                  <a:ext uri="{FF2B5EF4-FFF2-40B4-BE49-F238E27FC236}">
                    <a16:creationId xmlns:a16="http://schemas.microsoft.com/office/drawing/2014/main" id="{DF668225-A759-C238-EE28-1105EF77AD2C}"/>
                  </a:ext>
                </a:extLst>
              </p:cNvPr>
              <p:cNvSpPr>
                <a:spLocks/>
              </p:cNvSpPr>
              <p:nvPr/>
            </p:nvSpPr>
            <p:spPr bwMode="auto">
              <a:xfrm>
                <a:off x="1953" y="3034"/>
                <a:ext cx="26" cy="40"/>
              </a:xfrm>
              <a:custGeom>
                <a:avLst/>
                <a:gdLst>
                  <a:gd name="T0" fmla="*/ 2 w 26"/>
                  <a:gd name="T1" fmla="*/ 14 h 40"/>
                  <a:gd name="T2" fmla="*/ 0 w 26"/>
                  <a:gd name="T3" fmla="*/ 17 h 40"/>
                  <a:gd name="T4" fmla="*/ 0 w 26"/>
                  <a:gd name="T5" fmla="*/ 21 h 40"/>
                  <a:gd name="T6" fmla="*/ 0 w 26"/>
                  <a:gd name="T7" fmla="*/ 25 h 40"/>
                  <a:gd name="T8" fmla="*/ 0 w 26"/>
                  <a:gd name="T9" fmla="*/ 28 h 40"/>
                  <a:gd name="T10" fmla="*/ 0 w 26"/>
                  <a:gd name="T11" fmla="*/ 31 h 40"/>
                  <a:gd name="T12" fmla="*/ 1 w 26"/>
                  <a:gd name="T13" fmla="*/ 34 h 40"/>
                  <a:gd name="T14" fmla="*/ 2 w 26"/>
                  <a:gd name="T15" fmla="*/ 36 h 40"/>
                  <a:gd name="T16" fmla="*/ 4 w 26"/>
                  <a:gd name="T17" fmla="*/ 37 h 40"/>
                  <a:gd name="T18" fmla="*/ 6 w 26"/>
                  <a:gd name="T19" fmla="*/ 39 h 40"/>
                  <a:gd name="T20" fmla="*/ 8 w 26"/>
                  <a:gd name="T21" fmla="*/ 39 h 40"/>
                  <a:gd name="T22" fmla="*/ 11 w 26"/>
                  <a:gd name="T23" fmla="*/ 37 h 40"/>
                  <a:gd name="T24" fmla="*/ 13 w 26"/>
                  <a:gd name="T25" fmla="*/ 36 h 40"/>
                  <a:gd name="T26" fmla="*/ 16 w 26"/>
                  <a:gd name="T27" fmla="*/ 34 h 40"/>
                  <a:gd name="T28" fmla="*/ 18 w 26"/>
                  <a:gd name="T29" fmla="*/ 31 h 40"/>
                  <a:gd name="T30" fmla="*/ 20 w 26"/>
                  <a:gd name="T31" fmla="*/ 27 h 40"/>
                  <a:gd name="T32" fmla="*/ 22 w 26"/>
                  <a:gd name="T33" fmla="*/ 24 h 40"/>
                  <a:gd name="T34" fmla="*/ 23 w 26"/>
                  <a:gd name="T35" fmla="*/ 21 h 40"/>
                  <a:gd name="T36" fmla="*/ 24 w 26"/>
                  <a:gd name="T37" fmla="*/ 16 h 40"/>
                  <a:gd name="T38" fmla="*/ 25 w 26"/>
                  <a:gd name="T39" fmla="*/ 13 h 40"/>
                  <a:gd name="T40" fmla="*/ 24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0 w 26"/>
                  <a:gd name="T57" fmla="*/ 2 h 40"/>
                  <a:gd name="T58" fmla="*/ 8 w 26"/>
                  <a:gd name="T59" fmla="*/ 4 h 40"/>
                  <a:gd name="T60" fmla="*/ 6 w 26"/>
                  <a:gd name="T61" fmla="*/ 7 h 40"/>
                  <a:gd name="T62" fmla="*/ 4 w 26"/>
                  <a:gd name="T63" fmla="*/ 10 h 40"/>
                  <a:gd name="T64" fmla="*/ 2 w 26"/>
                  <a:gd name="T65" fmla="*/ 14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4"/>
                    </a:moveTo>
                    <a:lnTo>
                      <a:pt x="0" y="17"/>
                    </a:lnTo>
                    <a:lnTo>
                      <a:pt x="0" y="21"/>
                    </a:lnTo>
                    <a:lnTo>
                      <a:pt x="0" y="25"/>
                    </a:lnTo>
                    <a:lnTo>
                      <a:pt x="0" y="28"/>
                    </a:lnTo>
                    <a:lnTo>
                      <a:pt x="0" y="31"/>
                    </a:lnTo>
                    <a:lnTo>
                      <a:pt x="1" y="34"/>
                    </a:lnTo>
                    <a:lnTo>
                      <a:pt x="2" y="36"/>
                    </a:lnTo>
                    <a:lnTo>
                      <a:pt x="4" y="37"/>
                    </a:lnTo>
                    <a:lnTo>
                      <a:pt x="6" y="39"/>
                    </a:lnTo>
                    <a:lnTo>
                      <a:pt x="8" y="39"/>
                    </a:lnTo>
                    <a:lnTo>
                      <a:pt x="11" y="37"/>
                    </a:lnTo>
                    <a:lnTo>
                      <a:pt x="13" y="36"/>
                    </a:lnTo>
                    <a:lnTo>
                      <a:pt x="16" y="34"/>
                    </a:lnTo>
                    <a:lnTo>
                      <a:pt x="18" y="31"/>
                    </a:lnTo>
                    <a:lnTo>
                      <a:pt x="20" y="27"/>
                    </a:lnTo>
                    <a:lnTo>
                      <a:pt x="22" y="24"/>
                    </a:lnTo>
                    <a:lnTo>
                      <a:pt x="23" y="21"/>
                    </a:lnTo>
                    <a:lnTo>
                      <a:pt x="24" y="16"/>
                    </a:lnTo>
                    <a:lnTo>
                      <a:pt x="25" y="13"/>
                    </a:lnTo>
                    <a:lnTo>
                      <a:pt x="24" y="10"/>
                    </a:lnTo>
                    <a:lnTo>
                      <a:pt x="24" y="6"/>
                    </a:lnTo>
                    <a:lnTo>
                      <a:pt x="23" y="4"/>
                    </a:lnTo>
                    <a:lnTo>
                      <a:pt x="22" y="2"/>
                    </a:lnTo>
                    <a:lnTo>
                      <a:pt x="20" y="1"/>
                    </a:lnTo>
                    <a:lnTo>
                      <a:pt x="18" y="0"/>
                    </a:lnTo>
                    <a:lnTo>
                      <a:pt x="15" y="0"/>
                    </a:lnTo>
                    <a:lnTo>
                      <a:pt x="13" y="1"/>
                    </a:lnTo>
                    <a:lnTo>
                      <a:pt x="10" y="2"/>
                    </a:lnTo>
                    <a:lnTo>
                      <a:pt x="8" y="4"/>
                    </a:lnTo>
                    <a:lnTo>
                      <a:pt x="6" y="7"/>
                    </a:lnTo>
                    <a:lnTo>
                      <a:pt x="4" y="10"/>
                    </a:lnTo>
                    <a:lnTo>
                      <a:pt x="2"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7" name="Freeform 34">
                <a:extLst>
                  <a:ext uri="{FF2B5EF4-FFF2-40B4-BE49-F238E27FC236}">
                    <a16:creationId xmlns:a16="http://schemas.microsoft.com/office/drawing/2014/main" id="{DE010582-9C32-3860-06D9-ABE5E7DF2E28}"/>
                  </a:ext>
                </a:extLst>
              </p:cNvPr>
              <p:cNvSpPr>
                <a:spLocks/>
              </p:cNvSpPr>
              <p:nvPr/>
            </p:nvSpPr>
            <p:spPr bwMode="auto">
              <a:xfrm>
                <a:off x="2033" y="3046"/>
                <a:ext cx="26" cy="40"/>
              </a:xfrm>
              <a:custGeom>
                <a:avLst/>
                <a:gdLst>
                  <a:gd name="T0" fmla="*/ 2 w 26"/>
                  <a:gd name="T1" fmla="*/ 13 h 40"/>
                  <a:gd name="T2" fmla="*/ 1 w 26"/>
                  <a:gd name="T3" fmla="*/ 18 h 40"/>
                  <a:gd name="T4" fmla="*/ 0 w 26"/>
                  <a:gd name="T5" fmla="*/ 21 h 40"/>
                  <a:gd name="T6" fmla="*/ 0 w 26"/>
                  <a:gd name="T7" fmla="*/ 26 h 40"/>
                  <a:gd name="T8" fmla="*/ 0 w 26"/>
                  <a:gd name="T9" fmla="*/ 29 h 40"/>
                  <a:gd name="T10" fmla="*/ 0 w 26"/>
                  <a:gd name="T11" fmla="*/ 32 h 40"/>
                  <a:gd name="T12" fmla="*/ 1 w 26"/>
                  <a:gd name="T13" fmla="*/ 35 h 40"/>
                  <a:gd name="T14" fmla="*/ 2 w 26"/>
                  <a:gd name="T15" fmla="*/ 36 h 40"/>
                  <a:gd name="T16" fmla="*/ 4 w 26"/>
                  <a:gd name="T17" fmla="*/ 39 h 40"/>
                  <a:gd name="T18" fmla="*/ 6 w 26"/>
                  <a:gd name="T19" fmla="*/ 39 h 40"/>
                  <a:gd name="T20" fmla="*/ 8 w 26"/>
                  <a:gd name="T21" fmla="*/ 39 h 40"/>
                  <a:gd name="T22" fmla="*/ 11 w 26"/>
                  <a:gd name="T23" fmla="*/ 39 h 40"/>
                  <a:gd name="T24" fmla="*/ 13 w 26"/>
                  <a:gd name="T25" fmla="*/ 36 h 40"/>
                  <a:gd name="T26" fmla="*/ 16 w 26"/>
                  <a:gd name="T27" fmla="*/ 34 h 40"/>
                  <a:gd name="T28" fmla="*/ 18 w 26"/>
                  <a:gd name="T29" fmla="*/ 32 h 40"/>
                  <a:gd name="T30" fmla="*/ 20 w 26"/>
                  <a:gd name="T31" fmla="*/ 28 h 40"/>
                  <a:gd name="T32" fmla="*/ 22 w 26"/>
                  <a:gd name="T33" fmla="*/ 25 h 40"/>
                  <a:gd name="T34" fmla="*/ 23 w 26"/>
                  <a:gd name="T35" fmla="*/ 21 h 40"/>
                  <a:gd name="T36" fmla="*/ 24 w 26"/>
                  <a:gd name="T37" fmla="*/ 17 h 40"/>
                  <a:gd name="T38" fmla="*/ 25 w 26"/>
                  <a:gd name="T39" fmla="*/ 13 h 40"/>
                  <a:gd name="T40" fmla="*/ 25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1 w 26"/>
                  <a:gd name="T57" fmla="*/ 2 h 40"/>
                  <a:gd name="T58" fmla="*/ 8 w 26"/>
                  <a:gd name="T59" fmla="*/ 4 h 40"/>
                  <a:gd name="T60" fmla="*/ 6 w 26"/>
                  <a:gd name="T61" fmla="*/ 6 h 40"/>
                  <a:gd name="T62" fmla="*/ 4 w 26"/>
                  <a:gd name="T63" fmla="*/ 10 h 40"/>
                  <a:gd name="T64" fmla="*/ 2 w 26"/>
                  <a:gd name="T65" fmla="*/ 13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3"/>
                    </a:moveTo>
                    <a:lnTo>
                      <a:pt x="1" y="18"/>
                    </a:lnTo>
                    <a:lnTo>
                      <a:pt x="0" y="21"/>
                    </a:lnTo>
                    <a:lnTo>
                      <a:pt x="0" y="26"/>
                    </a:lnTo>
                    <a:lnTo>
                      <a:pt x="0" y="29"/>
                    </a:lnTo>
                    <a:lnTo>
                      <a:pt x="0" y="32"/>
                    </a:lnTo>
                    <a:lnTo>
                      <a:pt x="1" y="35"/>
                    </a:lnTo>
                    <a:lnTo>
                      <a:pt x="2" y="36"/>
                    </a:lnTo>
                    <a:lnTo>
                      <a:pt x="4" y="39"/>
                    </a:lnTo>
                    <a:lnTo>
                      <a:pt x="6" y="39"/>
                    </a:lnTo>
                    <a:lnTo>
                      <a:pt x="8" y="39"/>
                    </a:lnTo>
                    <a:lnTo>
                      <a:pt x="11" y="39"/>
                    </a:lnTo>
                    <a:lnTo>
                      <a:pt x="13" y="36"/>
                    </a:lnTo>
                    <a:lnTo>
                      <a:pt x="16" y="34"/>
                    </a:lnTo>
                    <a:lnTo>
                      <a:pt x="18" y="32"/>
                    </a:lnTo>
                    <a:lnTo>
                      <a:pt x="20" y="28"/>
                    </a:lnTo>
                    <a:lnTo>
                      <a:pt x="22" y="25"/>
                    </a:lnTo>
                    <a:lnTo>
                      <a:pt x="23" y="21"/>
                    </a:lnTo>
                    <a:lnTo>
                      <a:pt x="24" y="17"/>
                    </a:lnTo>
                    <a:lnTo>
                      <a:pt x="25" y="13"/>
                    </a:lnTo>
                    <a:lnTo>
                      <a:pt x="25" y="10"/>
                    </a:lnTo>
                    <a:lnTo>
                      <a:pt x="24" y="6"/>
                    </a:lnTo>
                    <a:lnTo>
                      <a:pt x="23" y="4"/>
                    </a:lnTo>
                    <a:lnTo>
                      <a:pt x="22" y="2"/>
                    </a:lnTo>
                    <a:lnTo>
                      <a:pt x="20" y="1"/>
                    </a:lnTo>
                    <a:lnTo>
                      <a:pt x="18" y="0"/>
                    </a:lnTo>
                    <a:lnTo>
                      <a:pt x="15" y="0"/>
                    </a:lnTo>
                    <a:lnTo>
                      <a:pt x="13" y="1"/>
                    </a:lnTo>
                    <a:lnTo>
                      <a:pt x="11" y="2"/>
                    </a:lnTo>
                    <a:lnTo>
                      <a:pt x="8" y="4"/>
                    </a:lnTo>
                    <a:lnTo>
                      <a:pt x="6" y="6"/>
                    </a:lnTo>
                    <a:lnTo>
                      <a:pt x="4" y="10"/>
                    </a:lnTo>
                    <a:lnTo>
                      <a:pt x="2"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8" name="Freeform 35">
                <a:extLst>
                  <a:ext uri="{FF2B5EF4-FFF2-40B4-BE49-F238E27FC236}">
                    <a16:creationId xmlns:a16="http://schemas.microsoft.com/office/drawing/2014/main" id="{6E58E47C-B98A-441A-DB7D-7116B8D38E1E}"/>
                  </a:ext>
                </a:extLst>
              </p:cNvPr>
              <p:cNvSpPr>
                <a:spLocks/>
              </p:cNvSpPr>
              <p:nvPr/>
            </p:nvSpPr>
            <p:spPr bwMode="auto">
              <a:xfrm>
                <a:off x="1871" y="3338"/>
                <a:ext cx="23" cy="43"/>
              </a:xfrm>
              <a:custGeom>
                <a:avLst/>
                <a:gdLst>
                  <a:gd name="T0" fmla="*/ 0 w 23"/>
                  <a:gd name="T1" fmla="*/ 20 h 43"/>
                  <a:gd name="T2" fmla="*/ 0 w 23"/>
                  <a:gd name="T3" fmla="*/ 23 h 43"/>
                  <a:gd name="T4" fmla="*/ 0 w 23"/>
                  <a:gd name="T5" fmla="*/ 28 h 43"/>
                  <a:gd name="T6" fmla="*/ 1 w 23"/>
                  <a:gd name="T7" fmla="*/ 31 h 43"/>
                  <a:gd name="T8" fmla="*/ 2 w 23"/>
                  <a:gd name="T9" fmla="*/ 35 h 43"/>
                  <a:gd name="T10" fmla="*/ 3 w 23"/>
                  <a:gd name="T11" fmla="*/ 37 h 43"/>
                  <a:gd name="T12" fmla="*/ 5 w 23"/>
                  <a:gd name="T13" fmla="*/ 39 h 43"/>
                  <a:gd name="T14" fmla="*/ 7 w 23"/>
                  <a:gd name="T15" fmla="*/ 40 h 43"/>
                  <a:gd name="T16" fmla="*/ 9 w 23"/>
                  <a:gd name="T17" fmla="*/ 42 h 43"/>
                  <a:gd name="T18" fmla="*/ 12 w 23"/>
                  <a:gd name="T19" fmla="*/ 42 h 43"/>
                  <a:gd name="T20" fmla="*/ 14 w 23"/>
                  <a:gd name="T21" fmla="*/ 40 h 43"/>
                  <a:gd name="T22" fmla="*/ 16 w 23"/>
                  <a:gd name="T23" fmla="*/ 38 h 43"/>
                  <a:gd name="T24" fmla="*/ 18 w 23"/>
                  <a:gd name="T25" fmla="*/ 36 h 43"/>
                  <a:gd name="T26" fmla="*/ 19 w 23"/>
                  <a:gd name="T27" fmla="*/ 32 h 43"/>
                  <a:gd name="T28" fmla="*/ 20 w 23"/>
                  <a:gd name="T29" fmla="*/ 29 h 43"/>
                  <a:gd name="T30" fmla="*/ 21 w 23"/>
                  <a:gd name="T31" fmla="*/ 26 h 43"/>
                  <a:gd name="T32" fmla="*/ 22 w 23"/>
                  <a:gd name="T33" fmla="*/ 21 h 43"/>
                  <a:gd name="T34" fmla="*/ 21 w 23"/>
                  <a:gd name="T35" fmla="*/ 17 h 43"/>
                  <a:gd name="T36" fmla="*/ 21 w 23"/>
                  <a:gd name="T37" fmla="*/ 13 h 43"/>
                  <a:gd name="T38" fmla="*/ 20 w 23"/>
                  <a:gd name="T39" fmla="*/ 10 h 43"/>
                  <a:gd name="T40" fmla="*/ 19 w 23"/>
                  <a:gd name="T41" fmla="*/ 6 h 43"/>
                  <a:gd name="T42" fmla="*/ 18 w 23"/>
                  <a:gd name="T43" fmla="*/ 4 h 43"/>
                  <a:gd name="T44" fmla="*/ 16 w 23"/>
                  <a:gd name="T45" fmla="*/ 2 h 43"/>
                  <a:gd name="T46" fmla="*/ 14 w 23"/>
                  <a:gd name="T47" fmla="*/ 1 h 43"/>
                  <a:gd name="T48" fmla="*/ 12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3"/>
                    </a:lnTo>
                    <a:lnTo>
                      <a:pt x="0" y="28"/>
                    </a:lnTo>
                    <a:lnTo>
                      <a:pt x="1" y="31"/>
                    </a:lnTo>
                    <a:lnTo>
                      <a:pt x="2" y="35"/>
                    </a:lnTo>
                    <a:lnTo>
                      <a:pt x="3" y="37"/>
                    </a:lnTo>
                    <a:lnTo>
                      <a:pt x="5" y="39"/>
                    </a:lnTo>
                    <a:lnTo>
                      <a:pt x="7" y="40"/>
                    </a:lnTo>
                    <a:lnTo>
                      <a:pt x="9" y="42"/>
                    </a:lnTo>
                    <a:lnTo>
                      <a:pt x="12" y="42"/>
                    </a:lnTo>
                    <a:lnTo>
                      <a:pt x="14" y="40"/>
                    </a:lnTo>
                    <a:lnTo>
                      <a:pt x="16" y="38"/>
                    </a:lnTo>
                    <a:lnTo>
                      <a:pt x="18" y="36"/>
                    </a:lnTo>
                    <a:lnTo>
                      <a:pt x="19" y="32"/>
                    </a:lnTo>
                    <a:lnTo>
                      <a:pt x="20" y="29"/>
                    </a:lnTo>
                    <a:lnTo>
                      <a:pt x="21" y="26"/>
                    </a:lnTo>
                    <a:lnTo>
                      <a:pt x="22" y="21"/>
                    </a:lnTo>
                    <a:lnTo>
                      <a:pt x="21" y="17"/>
                    </a:lnTo>
                    <a:lnTo>
                      <a:pt x="21" y="13"/>
                    </a:lnTo>
                    <a:lnTo>
                      <a:pt x="20" y="10"/>
                    </a:lnTo>
                    <a:lnTo>
                      <a:pt x="19" y="6"/>
                    </a:lnTo>
                    <a:lnTo>
                      <a:pt x="18" y="4"/>
                    </a:lnTo>
                    <a:lnTo>
                      <a:pt x="16" y="2"/>
                    </a:lnTo>
                    <a:lnTo>
                      <a:pt x="14" y="1"/>
                    </a:lnTo>
                    <a:lnTo>
                      <a:pt x="12"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9" name="Freeform 36">
                <a:extLst>
                  <a:ext uri="{FF2B5EF4-FFF2-40B4-BE49-F238E27FC236}">
                    <a16:creationId xmlns:a16="http://schemas.microsoft.com/office/drawing/2014/main" id="{C9B52524-1469-30BC-8C30-90CB2F616D75}"/>
                  </a:ext>
                </a:extLst>
              </p:cNvPr>
              <p:cNvSpPr>
                <a:spLocks/>
              </p:cNvSpPr>
              <p:nvPr/>
            </p:nvSpPr>
            <p:spPr bwMode="auto">
              <a:xfrm>
                <a:off x="1791" y="3324"/>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8221" name="Group 37">
              <a:extLst>
                <a:ext uri="{FF2B5EF4-FFF2-40B4-BE49-F238E27FC236}">
                  <a16:creationId xmlns:a16="http://schemas.microsoft.com/office/drawing/2014/main" id="{E94374B3-83FE-6B6C-C120-4E1F88CE976E}"/>
                </a:ext>
              </a:extLst>
            </p:cNvPr>
            <p:cNvGrpSpPr>
              <a:grpSpLocks/>
            </p:cNvGrpSpPr>
            <p:nvPr/>
          </p:nvGrpSpPr>
          <p:grpSpPr bwMode="auto">
            <a:xfrm>
              <a:off x="1740" y="2985"/>
              <a:ext cx="303" cy="399"/>
              <a:chOff x="1740" y="2985"/>
              <a:chExt cx="303" cy="399"/>
            </a:xfrm>
          </p:grpSpPr>
          <p:sp>
            <p:nvSpPr>
              <p:cNvPr id="8232" name="Freeform 38">
                <a:extLst>
                  <a:ext uri="{FF2B5EF4-FFF2-40B4-BE49-F238E27FC236}">
                    <a16:creationId xmlns:a16="http://schemas.microsoft.com/office/drawing/2014/main" id="{22D4A414-9A64-B696-EBFD-B07AEC80A139}"/>
                  </a:ext>
                </a:extLst>
              </p:cNvPr>
              <p:cNvSpPr>
                <a:spLocks/>
              </p:cNvSpPr>
              <p:nvPr/>
            </p:nvSpPr>
            <p:spPr bwMode="auto">
              <a:xfrm>
                <a:off x="1746" y="3012"/>
                <a:ext cx="297" cy="372"/>
              </a:xfrm>
              <a:custGeom>
                <a:avLst/>
                <a:gdLst>
                  <a:gd name="T0" fmla="*/ 2 w 297"/>
                  <a:gd name="T1" fmla="*/ 352 h 372"/>
                  <a:gd name="T2" fmla="*/ 1 w 297"/>
                  <a:gd name="T3" fmla="*/ 347 h 372"/>
                  <a:gd name="T4" fmla="*/ 0 w 297"/>
                  <a:gd name="T5" fmla="*/ 333 h 372"/>
                  <a:gd name="T6" fmla="*/ 0 w 297"/>
                  <a:gd name="T7" fmla="*/ 314 h 372"/>
                  <a:gd name="T8" fmla="*/ 0 w 297"/>
                  <a:gd name="T9" fmla="*/ 289 h 372"/>
                  <a:gd name="T10" fmla="*/ 2 w 297"/>
                  <a:gd name="T11" fmla="*/ 262 h 372"/>
                  <a:gd name="T12" fmla="*/ 6 w 297"/>
                  <a:gd name="T13" fmla="*/ 233 h 372"/>
                  <a:gd name="T14" fmla="*/ 15 w 297"/>
                  <a:gd name="T15" fmla="*/ 208 h 372"/>
                  <a:gd name="T16" fmla="*/ 26 w 297"/>
                  <a:gd name="T17" fmla="*/ 186 h 372"/>
                  <a:gd name="T18" fmla="*/ 40 w 297"/>
                  <a:gd name="T19" fmla="*/ 170 h 372"/>
                  <a:gd name="T20" fmla="*/ 54 w 297"/>
                  <a:gd name="T21" fmla="*/ 161 h 372"/>
                  <a:gd name="T22" fmla="*/ 68 w 297"/>
                  <a:gd name="T23" fmla="*/ 155 h 372"/>
                  <a:gd name="T24" fmla="*/ 80 w 297"/>
                  <a:gd name="T25" fmla="*/ 150 h 372"/>
                  <a:gd name="T26" fmla="*/ 94 w 297"/>
                  <a:gd name="T27" fmla="*/ 146 h 372"/>
                  <a:gd name="T28" fmla="*/ 107 w 297"/>
                  <a:gd name="T29" fmla="*/ 139 h 372"/>
                  <a:gd name="T30" fmla="*/ 121 w 297"/>
                  <a:gd name="T31" fmla="*/ 127 h 372"/>
                  <a:gd name="T32" fmla="*/ 134 w 297"/>
                  <a:gd name="T33" fmla="*/ 107 h 372"/>
                  <a:gd name="T34" fmla="*/ 146 w 297"/>
                  <a:gd name="T35" fmla="*/ 85 h 372"/>
                  <a:gd name="T36" fmla="*/ 155 w 297"/>
                  <a:gd name="T37" fmla="*/ 63 h 372"/>
                  <a:gd name="T38" fmla="*/ 161 w 297"/>
                  <a:gd name="T39" fmla="*/ 45 h 372"/>
                  <a:gd name="T40" fmla="*/ 164 w 297"/>
                  <a:gd name="T41" fmla="*/ 29 h 372"/>
                  <a:gd name="T42" fmla="*/ 167 w 297"/>
                  <a:gd name="T43" fmla="*/ 17 h 372"/>
                  <a:gd name="T44" fmla="*/ 168 w 297"/>
                  <a:gd name="T45" fmla="*/ 7 h 372"/>
                  <a:gd name="T46" fmla="*/ 168 w 297"/>
                  <a:gd name="T47" fmla="*/ 1 h 372"/>
                  <a:gd name="T48" fmla="*/ 168 w 297"/>
                  <a:gd name="T49" fmla="*/ 0 h 372"/>
                  <a:gd name="T50" fmla="*/ 296 w 297"/>
                  <a:gd name="T51" fmla="*/ 19 h 372"/>
                  <a:gd name="T52" fmla="*/ 295 w 297"/>
                  <a:gd name="T53" fmla="*/ 24 h 372"/>
                  <a:gd name="T54" fmla="*/ 293 w 297"/>
                  <a:gd name="T55" fmla="*/ 39 h 372"/>
                  <a:gd name="T56" fmla="*/ 288 w 297"/>
                  <a:gd name="T57" fmla="*/ 60 h 372"/>
                  <a:gd name="T58" fmla="*/ 282 w 297"/>
                  <a:gd name="T59" fmla="*/ 85 h 372"/>
                  <a:gd name="T60" fmla="*/ 274 w 297"/>
                  <a:gd name="T61" fmla="*/ 112 h 372"/>
                  <a:gd name="T62" fmla="*/ 265 w 297"/>
                  <a:gd name="T63" fmla="*/ 136 h 372"/>
                  <a:gd name="T64" fmla="*/ 254 w 297"/>
                  <a:gd name="T65" fmla="*/ 157 h 372"/>
                  <a:gd name="T66" fmla="*/ 242 w 297"/>
                  <a:gd name="T67" fmla="*/ 171 h 372"/>
                  <a:gd name="T68" fmla="*/ 229 w 297"/>
                  <a:gd name="T69" fmla="*/ 180 h 372"/>
                  <a:gd name="T70" fmla="*/ 213 w 297"/>
                  <a:gd name="T71" fmla="*/ 186 h 372"/>
                  <a:gd name="T72" fmla="*/ 194 w 297"/>
                  <a:gd name="T73" fmla="*/ 190 h 372"/>
                  <a:gd name="T74" fmla="*/ 177 w 297"/>
                  <a:gd name="T75" fmla="*/ 195 h 372"/>
                  <a:gd name="T76" fmla="*/ 160 w 297"/>
                  <a:gd name="T77" fmla="*/ 201 h 372"/>
                  <a:gd name="T78" fmla="*/ 145 w 297"/>
                  <a:gd name="T79" fmla="*/ 211 h 372"/>
                  <a:gd name="T80" fmla="*/ 133 w 297"/>
                  <a:gd name="T81" fmla="*/ 223 h 372"/>
                  <a:gd name="T82" fmla="*/ 125 w 297"/>
                  <a:gd name="T83" fmla="*/ 241 h 372"/>
                  <a:gd name="T84" fmla="*/ 121 w 297"/>
                  <a:gd name="T85" fmla="*/ 263 h 372"/>
                  <a:gd name="T86" fmla="*/ 118 w 297"/>
                  <a:gd name="T87" fmla="*/ 285 h 372"/>
                  <a:gd name="T88" fmla="*/ 117 w 297"/>
                  <a:gd name="T89" fmla="*/ 307 h 372"/>
                  <a:gd name="T90" fmla="*/ 117 w 297"/>
                  <a:gd name="T91" fmla="*/ 326 h 372"/>
                  <a:gd name="T92" fmla="*/ 118 w 297"/>
                  <a:gd name="T93" fmla="*/ 344 h 372"/>
                  <a:gd name="T94" fmla="*/ 119 w 297"/>
                  <a:gd name="T95" fmla="*/ 358 h 372"/>
                  <a:gd name="T96" fmla="*/ 120 w 297"/>
                  <a:gd name="T97" fmla="*/ 367 h 372"/>
                  <a:gd name="T98" fmla="*/ 121 w 297"/>
                  <a:gd name="T99" fmla="*/ 371 h 372"/>
                  <a:gd name="T100" fmla="*/ 2 w 297"/>
                  <a:gd name="T101" fmla="*/ 352 h 3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7" h="372">
                    <a:moveTo>
                      <a:pt x="2" y="352"/>
                    </a:moveTo>
                    <a:lnTo>
                      <a:pt x="1" y="347"/>
                    </a:lnTo>
                    <a:lnTo>
                      <a:pt x="0" y="333"/>
                    </a:lnTo>
                    <a:lnTo>
                      <a:pt x="0" y="314"/>
                    </a:lnTo>
                    <a:lnTo>
                      <a:pt x="0" y="289"/>
                    </a:lnTo>
                    <a:lnTo>
                      <a:pt x="2" y="262"/>
                    </a:lnTo>
                    <a:lnTo>
                      <a:pt x="6" y="233"/>
                    </a:lnTo>
                    <a:lnTo>
                      <a:pt x="15" y="208"/>
                    </a:lnTo>
                    <a:lnTo>
                      <a:pt x="26" y="186"/>
                    </a:lnTo>
                    <a:lnTo>
                      <a:pt x="40" y="170"/>
                    </a:lnTo>
                    <a:lnTo>
                      <a:pt x="54" y="161"/>
                    </a:lnTo>
                    <a:lnTo>
                      <a:pt x="68" y="155"/>
                    </a:lnTo>
                    <a:lnTo>
                      <a:pt x="80" y="150"/>
                    </a:lnTo>
                    <a:lnTo>
                      <a:pt x="94" y="146"/>
                    </a:lnTo>
                    <a:lnTo>
                      <a:pt x="107" y="139"/>
                    </a:lnTo>
                    <a:lnTo>
                      <a:pt x="121" y="127"/>
                    </a:lnTo>
                    <a:lnTo>
                      <a:pt x="134" y="107"/>
                    </a:lnTo>
                    <a:lnTo>
                      <a:pt x="146" y="85"/>
                    </a:lnTo>
                    <a:lnTo>
                      <a:pt x="155" y="63"/>
                    </a:lnTo>
                    <a:lnTo>
                      <a:pt x="161" y="45"/>
                    </a:lnTo>
                    <a:lnTo>
                      <a:pt x="164" y="29"/>
                    </a:lnTo>
                    <a:lnTo>
                      <a:pt x="167" y="17"/>
                    </a:lnTo>
                    <a:lnTo>
                      <a:pt x="168" y="7"/>
                    </a:lnTo>
                    <a:lnTo>
                      <a:pt x="168" y="1"/>
                    </a:lnTo>
                    <a:lnTo>
                      <a:pt x="168" y="0"/>
                    </a:lnTo>
                    <a:lnTo>
                      <a:pt x="296" y="19"/>
                    </a:lnTo>
                    <a:lnTo>
                      <a:pt x="295" y="24"/>
                    </a:lnTo>
                    <a:lnTo>
                      <a:pt x="293" y="39"/>
                    </a:lnTo>
                    <a:lnTo>
                      <a:pt x="288" y="60"/>
                    </a:lnTo>
                    <a:lnTo>
                      <a:pt x="282" y="85"/>
                    </a:lnTo>
                    <a:lnTo>
                      <a:pt x="274" y="112"/>
                    </a:lnTo>
                    <a:lnTo>
                      <a:pt x="265" y="136"/>
                    </a:lnTo>
                    <a:lnTo>
                      <a:pt x="254" y="157"/>
                    </a:lnTo>
                    <a:lnTo>
                      <a:pt x="242" y="171"/>
                    </a:lnTo>
                    <a:lnTo>
                      <a:pt x="229" y="180"/>
                    </a:lnTo>
                    <a:lnTo>
                      <a:pt x="213" y="186"/>
                    </a:lnTo>
                    <a:lnTo>
                      <a:pt x="194" y="190"/>
                    </a:lnTo>
                    <a:lnTo>
                      <a:pt x="177" y="195"/>
                    </a:lnTo>
                    <a:lnTo>
                      <a:pt x="160" y="201"/>
                    </a:lnTo>
                    <a:lnTo>
                      <a:pt x="145" y="211"/>
                    </a:lnTo>
                    <a:lnTo>
                      <a:pt x="133" y="223"/>
                    </a:lnTo>
                    <a:lnTo>
                      <a:pt x="125" y="241"/>
                    </a:lnTo>
                    <a:lnTo>
                      <a:pt x="121" y="263"/>
                    </a:lnTo>
                    <a:lnTo>
                      <a:pt x="118" y="285"/>
                    </a:lnTo>
                    <a:lnTo>
                      <a:pt x="117" y="307"/>
                    </a:lnTo>
                    <a:lnTo>
                      <a:pt x="117" y="326"/>
                    </a:lnTo>
                    <a:lnTo>
                      <a:pt x="118" y="344"/>
                    </a:lnTo>
                    <a:lnTo>
                      <a:pt x="119" y="358"/>
                    </a:lnTo>
                    <a:lnTo>
                      <a:pt x="120" y="367"/>
                    </a:lnTo>
                    <a:lnTo>
                      <a:pt x="121" y="371"/>
                    </a:lnTo>
                    <a:lnTo>
                      <a:pt x="2" y="35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3" name="Freeform 39">
                <a:extLst>
                  <a:ext uri="{FF2B5EF4-FFF2-40B4-BE49-F238E27FC236}">
                    <a16:creationId xmlns:a16="http://schemas.microsoft.com/office/drawing/2014/main" id="{4D0B3A73-369C-4E43-BAB5-36599A00553D}"/>
                  </a:ext>
                </a:extLst>
              </p:cNvPr>
              <p:cNvSpPr>
                <a:spLocks/>
              </p:cNvSpPr>
              <p:nvPr/>
            </p:nvSpPr>
            <p:spPr bwMode="auto">
              <a:xfrm>
                <a:off x="1740" y="2985"/>
                <a:ext cx="297" cy="374"/>
              </a:xfrm>
              <a:custGeom>
                <a:avLst/>
                <a:gdLst>
                  <a:gd name="T0" fmla="*/ 2 w 297"/>
                  <a:gd name="T1" fmla="*/ 354 h 374"/>
                  <a:gd name="T2" fmla="*/ 1 w 297"/>
                  <a:gd name="T3" fmla="*/ 350 h 374"/>
                  <a:gd name="T4" fmla="*/ 0 w 297"/>
                  <a:gd name="T5" fmla="*/ 336 h 374"/>
                  <a:gd name="T6" fmla="*/ 0 w 297"/>
                  <a:gd name="T7" fmla="*/ 315 h 374"/>
                  <a:gd name="T8" fmla="*/ 0 w 297"/>
                  <a:gd name="T9" fmla="*/ 290 h 374"/>
                  <a:gd name="T10" fmla="*/ 2 w 297"/>
                  <a:gd name="T11" fmla="*/ 263 h 374"/>
                  <a:gd name="T12" fmla="*/ 7 w 297"/>
                  <a:gd name="T13" fmla="*/ 236 h 374"/>
                  <a:gd name="T14" fmla="*/ 15 w 297"/>
                  <a:gd name="T15" fmla="*/ 209 h 374"/>
                  <a:gd name="T16" fmla="*/ 26 w 297"/>
                  <a:gd name="T17" fmla="*/ 187 h 374"/>
                  <a:gd name="T18" fmla="*/ 41 w 297"/>
                  <a:gd name="T19" fmla="*/ 172 h 374"/>
                  <a:gd name="T20" fmla="*/ 54 w 297"/>
                  <a:gd name="T21" fmla="*/ 161 h 374"/>
                  <a:gd name="T22" fmla="*/ 68 w 297"/>
                  <a:gd name="T23" fmla="*/ 156 h 374"/>
                  <a:gd name="T24" fmla="*/ 81 w 297"/>
                  <a:gd name="T25" fmla="*/ 152 h 374"/>
                  <a:gd name="T26" fmla="*/ 94 w 297"/>
                  <a:gd name="T27" fmla="*/ 148 h 374"/>
                  <a:gd name="T28" fmla="*/ 107 w 297"/>
                  <a:gd name="T29" fmla="*/ 141 h 374"/>
                  <a:gd name="T30" fmla="*/ 121 w 297"/>
                  <a:gd name="T31" fmla="*/ 128 h 374"/>
                  <a:gd name="T32" fmla="*/ 134 w 297"/>
                  <a:gd name="T33" fmla="*/ 109 h 374"/>
                  <a:gd name="T34" fmla="*/ 146 w 297"/>
                  <a:gd name="T35" fmla="*/ 85 h 374"/>
                  <a:gd name="T36" fmla="*/ 154 w 297"/>
                  <a:gd name="T37" fmla="*/ 65 h 374"/>
                  <a:gd name="T38" fmla="*/ 161 w 297"/>
                  <a:gd name="T39" fmla="*/ 46 h 374"/>
                  <a:gd name="T40" fmla="*/ 165 w 297"/>
                  <a:gd name="T41" fmla="*/ 30 h 374"/>
                  <a:gd name="T42" fmla="*/ 167 w 297"/>
                  <a:gd name="T43" fmla="*/ 18 h 374"/>
                  <a:gd name="T44" fmla="*/ 168 w 297"/>
                  <a:gd name="T45" fmla="*/ 7 h 374"/>
                  <a:gd name="T46" fmla="*/ 168 w 297"/>
                  <a:gd name="T47" fmla="*/ 2 h 374"/>
                  <a:gd name="T48" fmla="*/ 168 w 297"/>
                  <a:gd name="T49" fmla="*/ 0 h 374"/>
                  <a:gd name="T50" fmla="*/ 296 w 297"/>
                  <a:gd name="T51" fmla="*/ 20 h 374"/>
                  <a:gd name="T52" fmla="*/ 295 w 297"/>
                  <a:gd name="T53" fmla="*/ 25 h 374"/>
                  <a:gd name="T54" fmla="*/ 292 w 297"/>
                  <a:gd name="T55" fmla="*/ 39 h 374"/>
                  <a:gd name="T56" fmla="*/ 287 w 297"/>
                  <a:gd name="T57" fmla="*/ 61 h 374"/>
                  <a:gd name="T58" fmla="*/ 281 w 297"/>
                  <a:gd name="T59" fmla="*/ 86 h 374"/>
                  <a:gd name="T60" fmla="*/ 273 w 297"/>
                  <a:gd name="T61" fmla="*/ 112 h 374"/>
                  <a:gd name="T62" fmla="*/ 264 w 297"/>
                  <a:gd name="T63" fmla="*/ 138 h 374"/>
                  <a:gd name="T64" fmla="*/ 253 w 297"/>
                  <a:gd name="T65" fmla="*/ 158 h 374"/>
                  <a:gd name="T66" fmla="*/ 242 w 297"/>
                  <a:gd name="T67" fmla="*/ 173 h 374"/>
                  <a:gd name="T68" fmla="*/ 228 w 297"/>
                  <a:gd name="T69" fmla="*/ 181 h 374"/>
                  <a:gd name="T70" fmla="*/ 212 w 297"/>
                  <a:gd name="T71" fmla="*/ 187 h 374"/>
                  <a:gd name="T72" fmla="*/ 194 w 297"/>
                  <a:gd name="T73" fmla="*/ 191 h 374"/>
                  <a:gd name="T74" fmla="*/ 176 w 297"/>
                  <a:gd name="T75" fmla="*/ 197 h 374"/>
                  <a:gd name="T76" fmla="*/ 159 w 297"/>
                  <a:gd name="T77" fmla="*/ 203 h 374"/>
                  <a:gd name="T78" fmla="*/ 145 w 297"/>
                  <a:gd name="T79" fmla="*/ 212 h 374"/>
                  <a:gd name="T80" fmla="*/ 132 w 297"/>
                  <a:gd name="T81" fmla="*/ 224 h 374"/>
                  <a:gd name="T82" fmla="*/ 124 w 297"/>
                  <a:gd name="T83" fmla="*/ 242 h 374"/>
                  <a:gd name="T84" fmla="*/ 121 w 297"/>
                  <a:gd name="T85" fmla="*/ 265 h 374"/>
                  <a:gd name="T86" fmla="*/ 118 w 297"/>
                  <a:gd name="T87" fmla="*/ 287 h 374"/>
                  <a:gd name="T88" fmla="*/ 117 w 297"/>
                  <a:gd name="T89" fmla="*/ 309 h 374"/>
                  <a:gd name="T90" fmla="*/ 117 w 297"/>
                  <a:gd name="T91" fmla="*/ 329 h 374"/>
                  <a:gd name="T92" fmla="*/ 118 w 297"/>
                  <a:gd name="T93" fmla="*/ 346 h 374"/>
                  <a:gd name="T94" fmla="*/ 119 w 297"/>
                  <a:gd name="T95" fmla="*/ 360 h 374"/>
                  <a:gd name="T96" fmla="*/ 120 w 297"/>
                  <a:gd name="T97" fmla="*/ 369 h 374"/>
                  <a:gd name="T98" fmla="*/ 121 w 297"/>
                  <a:gd name="T99" fmla="*/ 373 h 374"/>
                  <a:gd name="T100" fmla="*/ 2 w 297"/>
                  <a:gd name="T101" fmla="*/ 354 h 37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7" h="374">
                    <a:moveTo>
                      <a:pt x="2" y="354"/>
                    </a:moveTo>
                    <a:lnTo>
                      <a:pt x="1" y="350"/>
                    </a:lnTo>
                    <a:lnTo>
                      <a:pt x="0" y="336"/>
                    </a:lnTo>
                    <a:lnTo>
                      <a:pt x="0" y="315"/>
                    </a:lnTo>
                    <a:lnTo>
                      <a:pt x="0" y="290"/>
                    </a:lnTo>
                    <a:lnTo>
                      <a:pt x="2" y="263"/>
                    </a:lnTo>
                    <a:lnTo>
                      <a:pt x="7" y="236"/>
                    </a:lnTo>
                    <a:lnTo>
                      <a:pt x="15" y="209"/>
                    </a:lnTo>
                    <a:lnTo>
                      <a:pt x="26" y="187"/>
                    </a:lnTo>
                    <a:lnTo>
                      <a:pt x="41" y="172"/>
                    </a:lnTo>
                    <a:lnTo>
                      <a:pt x="54" y="161"/>
                    </a:lnTo>
                    <a:lnTo>
                      <a:pt x="68" y="156"/>
                    </a:lnTo>
                    <a:lnTo>
                      <a:pt x="81" y="152"/>
                    </a:lnTo>
                    <a:lnTo>
                      <a:pt x="94" y="148"/>
                    </a:lnTo>
                    <a:lnTo>
                      <a:pt x="107" y="141"/>
                    </a:lnTo>
                    <a:lnTo>
                      <a:pt x="121" y="128"/>
                    </a:lnTo>
                    <a:lnTo>
                      <a:pt x="134" y="109"/>
                    </a:lnTo>
                    <a:lnTo>
                      <a:pt x="146" y="85"/>
                    </a:lnTo>
                    <a:lnTo>
                      <a:pt x="154" y="65"/>
                    </a:lnTo>
                    <a:lnTo>
                      <a:pt x="161" y="46"/>
                    </a:lnTo>
                    <a:lnTo>
                      <a:pt x="165" y="30"/>
                    </a:lnTo>
                    <a:lnTo>
                      <a:pt x="167" y="18"/>
                    </a:lnTo>
                    <a:lnTo>
                      <a:pt x="168" y="7"/>
                    </a:lnTo>
                    <a:lnTo>
                      <a:pt x="168" y="2"/>
                    </a:lnTo>
                    <a:lnTo>
                      <a:pt x="168" y="0"/>
                    </a:lnTo>
                    <a:lnTo>
                      <a:pt x="296" y="20"/>
                    </a:lnTo>
                    <a:lnTo>
                      <a:pt x="295" y="25"/>
                    </a:lnTo>
                    <a:lnTo>
                      <a:pt x="292" y="39"/>
                    </a:lnTo>
                    <a:lnTo>
                      <a:pt x="287" y="61"/>
                    </a:lnTo>
                    <a:lnTo>
                      <a:pt x="281" y="86"/>
                    </a:lnTo>
                    <a:lnTo>
                      <a:pt x="273" y="112"/>
                    </a:lnTo>
                    <a:lnTo>
                      <a:pt x="264" y="138"/>
                    </a:lnTo>
                    <a:lnTo>
                      <a:pt x="253" y="158"/>
                    </a:lnTo>
                    <a:lnTo>
                      <a:pt x="242" y="173"/>
                    </a:lnTo>
                    <a:lnTo>
                      <a:pt x="228" y="181"/>
                    </a:lnTo>
                    <a:lnTo>
                      <a:pt x="212" y="187"/>
                    </a:lnTo>
                    <a:lnTo>
                      <a:pt x="194" y="191"/>
                    </a:lnTo>
                    <a:lnTo>
                      <a:pt x="176" y="197"/>
                    </a:lnTo>
                    <a:lnTo>
                      <a:pt x="159" y="203"/>
                    </a:lnTo>
                    <a:lnTo>
                      <a:pt x="145" y="212"/>
                    </a:lnTo>
                    <a:lnTo>
                      <a:pt x="132" y="224"/>
                    </a:lnTo>
                    <a:lnTo>
                      <a:pt x="124" y="242"/>
                    </a:lnTo>
                    <a:lnTo>
                      <a:pt x="121" y="265"/>
                    </a:lnTo>
                    <a:lnTo>
                      <a:pt x="118" y="287"/>
                    </a:lnTo>
                    <a:lnTo>
                      <a:pt x="117" y="309"/>
                    </a:lnTo>
                    <a:lnTo>
                      <a:pt x="117" y="329"/>
                    </a:lnTo>
                    <a:lnTo>
                      <a:pt x="118" y="346"/>
                    </a:lnTo>
                    <a:lnTo>
                      <a:pt x="119" y="360"/>
                    </a:lnTo>
                    <a:lnTo>
                      <a:pt x="120" y="369"/>
                    </a:lnTo>
                    <a:lnTo>
                      <a:pt x="121" y="373"/>
                    </a:lnTo>
                    <a:lnTo>
                      <a:pt x="2" y="354"/>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4" name="Freeform 40">
                <a:extLst>
                  <a:ext uri="{FF2B5EF4-FFF2-40B4-BE49-F238E27FC236}">
                    <a16:creationId xmlns:a16="http://schemas.microsoft.com/office/drawing/2014/main" id="{9F8A7874-DB87-360C-3383-BA2D4901C282}"/>
                  </a:ext>
                </a:extLst>
              </p:cNvPr>
              <p:cNvSpPr>
                <a:spLocks/>
              </p:cNvSpPr>
              <p:nvPr/>
            </p:nvSpPr>
            <p:spPr bwMode="auto">
              <a:xfrm>
                <a:off x="1757" y="3015"/>
                <a:ext cx="258" cy="319"/>
              </a:xfrm>
              <a:custGeom>
                <a:avLst/>
                <a:gdLst>
                  <a:gd name="T0" fmla="*/ 1 w 258"/>
                  <a:gd name="T1" fmla="*/ 303 h 319"/>
                  <a:gd name="T2" fmla="*/ 1 w 258"/>
                  <a:gd name="T3" fmla="*/ 299 h 319"/>
                  <a:gd name="T4" fmla="*/ 0 w 258"/>
                  <a:gd name="T5" fmla="*/ 287 h 319"/>
                  <a:gd name="T6" fmla="*/ 0 w 258"/>
                  <a:gd name="T7" fmla="*/ 270 h 319"/>
                  <a:gd name="T8" fmla="*/ 0 w 258"/>
                  <a:gd name="T9" fmla="*/ 248 h 319"/>
                  <a:gd name="T10" fmla="*/ 0 w 258"/>
                  <a:gd name="T11" fmla="*/ 226 h 319"/>
                  <a:gd name="T12" fmla="*/ 4 w 258"/>
                  <a:gd name="T13" fmla="*/ 203 h 319"/>
                  <a:gd name="T14" fmla="*/ 11 w 258"/>
                  <a:gd name="T15" fmla="*/ 181 h 319"/>
                  <a:gd name="T16" fmla="*/ 22 w 258"/>
                  <a:gd name="T17" fmla="*/ 164 h 319"/>
                  <a:gd name="T18" fmla="*/ 35 w 258"/>
                  <a:gd name="T19" fmla="*/ 152 h 319"/>
                  <a:gd name="T20" fmla="*/ 50 w 258"/>
                  <a:gd name="T21" fmla="*/ 143 h 319"/>
                  <a:gd name="T22" fmla="*/ 66 w 258"/>
                  <a:gd name="T23" fmla="*/ 135 h 319"/>
                  <a:gd name="T24" fmla="*/ 82 w 258"/>
                  <a:gd name="T25" fmla="*/ 128 h 319"/>
                  <a:gd name="T26" fmla="*/ 99 w 258"/>
                  <a:gd name="T27" fmla="*/ 120 h 319"/>
                  <a:gd name="T28" fmla="*/ 113 w 258"/>
                  <a:gd name="T29" fmla="*/ 107 h 319"/>
                  <a:gd name="T30" fmla="*/ 127 w 258"/>
                  <a:gd name="T31" fmla="*/ 91 h 319"/>
                  <a:gd name="T32" fmla="*/ 138 w 258"/>
                  <a:gd name="T33" fmla="*/ 68 h 319"/>
                  <a:gd name="T34" fmla="*/ 145 w 258"/>
                  <a:gd name="T35" fmla="*/ 48 h 319"/>
                  <a:gd name="T36" fmla="*/ 151 w 258"/>
                  <a:gd name="T37" fmla="*/ 34 h 319"/>
                  <a:gd name="T38" fmla="*/ 154 w 258"/>
                  <a:gd name="T39" fmla="*/ 21 h 319"/>
                  <a:gd name="T40" fmla="*/ 158 w 258"/>
                  <a:gd name="T41" fmla="*/ 12 h 319"/>
                  <a:gd name="T42" fmla="*/ 160 w 258"/>
                  <a:gd name="T43" fmla="*/ 6 h 319"/>
                  <a:gd name="T44" fmla="*/ 161 w 258"/>
                  <a:gd name="T45" fmla="*/ 2 h 319"/>
                  <a:gd name="T46" fmla="*/ 162 w 258"/>
                  <a:gd name="T47" fmla="*/ 0 h 319"/>
                  <a:gd name="T48" fmla="*/ 162 w 258"/>
                  <a:gd name="T49" fmla="*/ 0 h 319"/>
                  <a:gd name="T50" fmla="*/ 257 w 258"/>
                  <a:gd name="T51" fmla="*/ 17 h 319"/>
                  <a:gd name="T52" fmla="*/ 256 w 258"/>
                  <a:gd name="T53" fmla="*/ 21 h 319"/>
                  <a:gd name="T54" fmla="*/ 253 w 258"/>
                  <a:gd name="T55" fmla="*/ 32 h 319"/>
                  <a:gd name="T56" fmla="*/ 249 w 258"/>
                  <a:gd name="T57" fmla="*/ 48 h 319"/>
                  <a:gd name="T58" fmla="*/ 244 w 258"/>
                  <a:gd name="T59" fmla="*/ 68 h 319"/>
                  <a:gd name="T60" fmla="*/ 237 w 258"/>
                  <a:gd name="T61" fmla="*/ 88 h 319"/>
                  <a:gd name="T62" fmla="*/ 230 w 258"/>
                  <a:gd name="T63" fmla="*/ 107 h 319"/>
                  <a:gd name="T64" fmla="*/ 221 w 258"/>
                  <a:gd name="T65" fmla="*/ 123 h 319"/>
                  <a:gd name="T66" fmla="*/ 211 w 258"/>
                  <a:gd name="T67" fmla="*/ 134 h 319"/>
                  <a:gd name="T68" fmla="*/ 199 w 258"/>
                  <a:gd name="T69" fmla="*/ 140 h 319"/>
                  <a:gd name="T70" fmla="*/ 183 w 258"/>
                  <a:gd name="T71" fmla="*/ 146 h 319"/>
                  <a:gd name="T72" fmla="*/ 166 w 258"/>
                  <a:gd name="T73" fmla="*/ 152 h 319"/>
                  <a:gd name="T74" fmla="*/ 148 w 258"/>
                  <a:gd name="T75" fmla="*/ 157 h 319"/>
                  <a:gd name="T76" fmla="*/ 129 w 258"/>
                  <a:gd name="T77" fmla="*/ 165 h 319"/>
                  <a:gd name="T78" fmla="*/ 113 w 258"/>
                  <a:gd name="T79" fmla="*/ 176 h 319"/>
                  <a:gd name="T80" fmla="*/ 100 w 258"/>
                  <a:gd name="T81" fmla="*/ 189 h 319"/>
                  <a:gd name="T82" fmla="*/ 90 w 258"/>
                  <a:gd name="T83" fmla="*/ 206 h 319"/>
                  <a:gd name="T84" fmla="*/ 85 w 258"/>
                  <a:gd name="T85" fmla="*/ 223 h 319"/>
                  <a:gd name="T86" fmla="*/ 82 w 258"/>
                  <a:gd name="T87" fmla="*/ 241 h 319"/>
                  <a:gd name="T88" fmla="*/ 82 w 258"/>
                  <a:gd name="T89" fmla="*/ 260 h 319"/>
                  <a:gd name="T90" fmla="*/ 82 w 258"/>
                  <a:gd name="T91" fmla="*/ 278 h 319"/>
                  <a:gd name="T92" fmla="*/ 84 w 258"/>
                  <a:gd name="T93" fmla="*/ 293 h 319"/>
                  <a:gd name="T94" fmla="*/ 86 w 258"/>
                  <a:gd name="T95" fmla="*/ 305 h 319"/>
                  <a:gd name="T96" fmla="*/ 88 w 258"/>
                  <a:gd name="T97" fmla="*/ 314 h 319"/>
                  <a:gd name="T98" fmla="*/ 88 w 258"/>
                  <a:gd name="T99" fmla="*/ 318 h 319"/>
                  <a:gd name="T100" fmla="*/ 1 w 258"/>
                  <a:gd name="T101" fmla="*/ 303 h 31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8" h="319">
                    <a:moveTo>
                      <a:pt x="1" y="303"/>
                    </a:moveTo>
                    <a:lnTo>
                      <a:pt x="1" y="299"/>
                    </a:lnTo>
                    <a:lnTo>
                      <a:pt x="0" y="287"/>
                    </a:lnTo>
                    <a:lnTo>
                      <a:pt x="0" y="270"/>
                    </a:lnTo>
                    <a:lnTo>
                      <a:pt x="0" y="248"/>
                    </a:lnTo>
                    <a:lnTo>
                      <a:pt x="0" y="226"/>
                    </a:lnTo>
                    <a:lnTo>
                      <a:pt x="4" y="203"/>
                    </a:lnTo>
                    <a:lnTo>
                      <a:pt x="11" y="181"/>
                    </a:lnTo>
                    <a:lnTo>
                      <a:pt x="22" y="164"/>
                    </a:lnTo>
                    <a:lnTo>
                      <a:pt x="35" y="152"/>
                    </a:lnTo>
                    <a:lnTo>
                      <a:pt x="50" y="143"/>
                    </a:lnTo>
                    <a:lnTo>
                      <a:pt x="66" y="135"/>
                    </a:lnTo>
                    <a:lnTo>
                      <a:pt x="82" y="128"/>
                    </a:lnTo>
                    <a:lnTo>
                      <a:pt x="99" y="120"/>
                    </a:lnTo>
                    <a:lnTo>
                      <a:pt x="113" y="107"/>
                    </a:lnTo>
                    <a:lnTo>
                      <a:pt x="127" y="91"/>
                    </a:lnTo>
                    <a:lnTo>
                      <a:pt x="138" y="68"/>
                    </a:lnTo>
                    <a:lnTo>
                      <a:pt x="145" y="48"/>
                    </a:lnTo>
                    <a:lnTo>
                      <a:pt x="151" y="34"/>
                    </a:lnTo>
                    <a:lnTo>
                      <a:pt x="154" y="21"/>
                    </a:lnTo>
                    <a:lnTo>
                      <a:pt x="158" y="12"/>
                    </a:lnTo>
                    <a:lnTo>
                      <a:pt x="160" y="6"/>
                    </a:lnTo>
                    <a:lnTo>
                      <a:pt x="161" y="2"/>
                    </a:lnTo>
                    <a:lnTo>
                      <a:pt x="162" y="0"/>
                    </a:lnTo>
                    <a:lnTo>
                      <a:pt x="257" y="17"/>
                    </a:lnTo>
                    <a:lnTo>
                      <a:pt x="256" y="21"/>
                    </a:lnTo>
                    <a:lnTo>
                      <a:pt x="253" y="32"/>
                    </a:lnTo>
                    <a:lnTo>
                      <a:pt x="249" y="48"/>
                    </a:lnTo>
                    <a:lnTo>
                      <a:pt x="244" y="68"/>
                    </a:lnTo>
                    <a:lnTo>
                      <a:pt x="237" y="88"/>
                    </a:lnTo>
                    <a:lnTo>
                      <a:pt x="230" y="107"/>
                    </a:lnTo>
                    <a:lnTo>
                      <a:pt x="221" y="123"/>
                    </a:lnTo>
                    <a:lnTo>
                      <a:pt x="211" y="134"/>
                    </a:lnTo>
                    <a:lnTo>
                      <a:pt x="199" y="140"/>
                    </a:lnTo>
                    <a:lnTo>
                      <a:pt x="183" y="146"/>
                    </a:lnTo>
                    <a:lnTo>
                      <a:pt x="166" y="152"/>
                    </a:lnTo>
                    <a:lnTo>
                      <a:pt x="148" y="157"/>
                    </a:lnTo>
                    <a:lnTo>
                      <a:pt x="129" y="165"/>
                    </a:lnTo>
                    <a:lnTo>
                      <a:pt x="113" y="176"/>
                    </a:lnTo>
                    <a:lnTo>
                      <a:pt x="100" y="189"/>
                    </a:lnTo>
                    <a:lnTo>
                      <a:pt x="90" y="206"/>
                    </a:lnTo>
                    <a:lnTo>
                      <a:pt x="85" y="223"/>
                    </a:lnTo>
                    <a:lnTo>
                      <a:pt x="82" y="241"/>
                    </a:lnTo>
                    <a:lnTo>
                      <a:pt x="82" y="260"/>
                    </a:lnTo>
                    <a:lnTo>
                      <a:pt x="82" y="278"/>
                    </a:lnTo>
                    <a:lnTo>
                      <a:pt x="84" y="293"/>
                    </a:lnTo>
                    <a:lnTo>
                      <a:pt x="86" y="305"/>
                    </a:lnTo>
                    <a:lnTo>
                      <a:pt x="88" y="314"/>
                    </a:lnTo>
                    <a:lnTo>
                      <a:pt x="88" y="318"/>
                    </a:lnTo>
                    <a:lnTo>
                      <a:pt x="1" y="303"/>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5" name="Freeform 41">
                <a:extLst>
                  <a:ext uri="{FF2B5EF4-FFF2-40B4-BE49-F238E27FC236}">
                    <a16:creationId xmlns:a16="http://schemas.microsoft.com/office/drawing/2014/main" id="{C7254EAB-58BE-18A3-04BF-397C8FF892E0}"/>
                  </a:ext>
                </a:extLst>
              </p:cNvPr>
              <p:cNvSpPr>
                <a:spLocks/>
              </p:cNvSpPr>
              <p:nvPr/>
            </p:nvSpPr>
            <p:spPr bwMode="auto">
              <a:xfrm>
                <a:off x="1809" y="3134"/>
                <a:ext cx="122" cy="55"/>
              </a:xfrm>
              <a:custGeom>
                <a:avLst/>
                <a:gdLst>
                  <a:gd name="T0" fmla="*/ 64 w 122"/>
                  <a:gd name="T1" fmla="*/ 51 h 55"/>
                  <a:gd name="T2" fmla="*/ 75 w 122"/>
                  <a:gd name="T3" fmla="*/ 48 h 55"/>
                  <a:gd name="T4" fmla="*/ 87 w 122"/>
                  <a:gd name="T5" fmla="*/ 45 h 55"/>
                  <a:gd name="T6" fmla="*/ 96 w 122"/>
                  <a:gd name="T7" fmla="*/ 40 h 55"/>
                  <a:gd name="T8" fmla="*/ 105 w 122"/>
                  <a:gd name="T9" fmla="*/ 36 h 55"/>
                  <a:gd name="T10" fmla="*/ 112 w 122"/>
                  <a:gd name="T11" fmla="*/ 30 h 55"/>
                  <a:gd name="T12" fmla="*/ 117 w 122"/>
                  <a:gd name="T13" fmla="*/ 25 h 55"/>
                  <a:gd name="T14" fmla="*/ 120 w 122"/>
                  <a:gd name="T15" fmla="*/ 20 h 55"/>
                  <a:gd name="T16" fmla="*/ 121 w 122"/>
                  <a:gd name="T17" fmla="*/ 14 h 55"/>
                  <a:gd name="T18" fmla="*/ 119 w 122"/>
                  <a:gd name="T19" fmla="*/ 10 h 55"/>
                  <a:gd name="T20" fmla="*/ 115 w 122"/>
                  <a:gd name="T21" fmla="*/ 6 h 55"/>
                  <a:gd name="T22" fmla="*/ 108 w 122"/>
                  <a:gd name="T23" fmla="*/ 3 h 55"/>
                  <a:gd name="T24" fmla="*/ 100 w 122"/>
                  <a:gd name="T25" fmla="*/ 1 h 55"/>
                  <a:gd name="T26" fmla="*/ 91 w 122"/>
                  <a:gd name="T27" fmla="*/ 0 h 55"/>
                  <a:gd name="T28" fmla="*/ 80 w 122"/>
                  <a:gd name="T29" fmla="*/ 0 h 55"/>
                  <a:gd name="T30" fmla="*/ 69 w 122"/>
                  <a:gd name="T31" fmla="*/ 0 h 55"/>
                  <a:gd name="T32" fmla="*/ 56 w 122"/>
                  <a:gd name="T33" fmla="*/ 2 h 55"/>
                  <a:gd name="T34" fmla="*/ 45 w 122"/>
                  <a:gd name="T35" fmla="*/ 5 h 55"/>
                  <a:gd name="T36" fmla="*/ 33 w 122"/>
                  <a:gd name="T37" fmla="*/ 9 h 55"/>
                  <a:gd name="T38" fmla="*/ 24 w 122"/>
                  <a:gd name="T39" fmla="*/ 13 h 55"/>
                  <a:gd name="T40" fmla="*/ 15 w 122"/>
                  <a:gd name="T41" fmla="*/ 18 h 55"/>
                  <a:gd name="T42" fmla="*/ 8 w 122"/>
                  <a:gd name="T43" fmla="*/ 22 h 55"/>
                  <a:gd name="T44" fmla="*/ 3 w 122"/>
                  <a:gd name="T45" fmla="*/ 28 h 55"/>
                  <a:gd name="T46" fmla="*/ 0 w 122"/>
                  <a:gd name="T47" fmla="*/ 33 h 55"/>
                  <a:gd name="T48" fmla="*/ 0 w 122"/>
                  <a:gd name="T49" fmla="*/ 38 h 55"/>
                  <a:gd name="T50" fmla="*/ 1 w 122"/>
                  <a:gd name="T51" fmla="*/ 43 h 55"/>
                  <a:gd name="T52" fmla="*/ 5 w 122"/>
                  <a:gd name="T53" fmla="*/ 47 h 55"/>
                  <a:gd name="T54" fmla="*/ 12 w 122"/>
                  <a:gd name="T55" fmla="*/ 50 h 55"/>
                  <a:gd name="T56" fmla="*/ 20 w 122"/>
                  <a:gd name="T57" fmla="*/ 52 h 55"/>
                  <a:gd name="T58" fmla="*/ 29 w 122"/>
                  <a:gd name="T59" fmla="*/ 54 h 55"/>
                  <a:gd name="T60" fmla="*/ 40 w 122"/>
                  <a:gd name="T61" fmla="*/ 54 h 55"/>
                  <a:gd name="T62" fmla="*/ 51 w 122"/>
                  <a:gd name="T63" fmla="*/ 52 h 55"/>
                  <a:gd name="T64" fmla="*/ 64 w 122"/>
                  <a:gd name="T65" fmla="*/ 51 h 5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2" h="55">
                    <a:moveTo>
                      <a:pt x="64" y="51"/>
                    </a:moveTo>
                    <a:lnTo>
                      <a:pt x="75" y="48"/>
                    </a:lnTo>
                    <a:lnTo>
                      <a:pt x="87" y="45"/>
                    </a:lnTo>
                    <a:lnTo>
                      <a:pt x="96" y="40"/>
                    </a:lnTo>
                    <a:lnTo>
                      <a:pt x="105" y="36"/>
                    </a:lnTo>
                    <a:lnTo>
                      <a:pt x="112" y="30"/>
                    </a:lnTo>
                    <a:lnTo>
                      <a:pt x="117" y="25"/>
                    </a:lnTo>
                    <a:lnTo>
                      <a:pt x="120" y="20"/>
                    </a:lnTo>
                    <a:lnTo>
                      <a:pt x="121" y="14"/>
                    </a:lnTo>
                    <a:lnTo>
                      <a:pt x="119" y="10"/>
                    </a:lnTo>
                    <a:lnTo>
                      <a:pt x="115" y="6"/>
                    </a:lnTo>
                    <a:lnTo>
                      <a:pt x="108" y="3"/>
                    </a:lnTo>
                    <a:lnTo>
                      <a:pt x="100" y="1"/>
                    </a:lnTo>
                    <a:lnTo>
                      <a:pt x="91" y="0"/>
                    </a:lnTo>
                    <a:lnTo>
                      <a:pt x="80" y="0"/>
                    </a:lnTo>
                    <a:lnTo>
                      <a:pt x="69" y="0"/>
                    </a:lnTo>
                    <a:lnTo>
                      <a:pt x="56" y="2"/>
                    </a:lnTo>
                    <a:lnTo>
                      <a:pt x="45" y="5"/>
                    </a:lnTo>
                    <a:lnTo>
                      <a:pt x="33" y="9"/>
                    </a:lnTo>
                    <a:lnTo>
                      <a:pt x="24" y="13"/>
                    </a:lnTo>
                    <a:lnTo>
                      <a:pt x="15" y="18"/>
                    </a:lnTo>
                    <a:lnTo>
                      <a:pt x="8" y="22"/>
                    </a:lnTo>
                    <a:lnTo>
                      <a:pt x="3" y="28"/>
                    </a:lnTo>
                    <a:lnTo>
                      <a:pt x="0" y="33"/>
                    </a:lnTo>
                    <a:lnTo>
                      <a:pt x="0" y="38"/>
                    </a:lnTo>
                    <a:lnTo>
                      <a:pt x="1" y="43"/>
                    </a:lnTo>
                    <a:lnTo>
                      <a:pt x="5" y="47"/>
                    </a:lnTo>
                    <a:lnTo>
                      <a:pt x="12" y="50"/>
                    </a:lnTo>
                    <a:lnTo>
                      <a:pt x="20" y="52"/>
                    </a:lnTo>
                    <a:lnTo>
                      <a:pt x="29" y="54"/>
                    </a:lnTo>
                    <a:lnTo>
                      <a:pt x="40" y="54"/>
                    </a:lnTo>
                    <a:lnTo>
                      <a:pt x="51" y="52"/>
                    </a:lnTo>
                    <a:lnTo>
                      <a:pt x="64" y="5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6" name="Freeform 42">
                <a:extLst>
                  <a:ext uri="{FF2B5EF4-FFF2-40B4-BE49-F238E27FC236}">
                    <a16:creationId xmlns:a16="http://schemas.microsoft.com/office/drawing/2014/main" id="{9B37BFA6-FC67-749B-05AD-E2C40E38121A}"/>
                  </a:ext>
                </a:extLst>
              </p:cNvPr>
              <p:cNvSpPr>
                <a:spLocks/>
              </p:cNvSpPr>
              <p:nvPr/>
            </p:nvSpPr>
            <p:spPr bwMode="auto">
              <a:xfrm>
                <a:off x="1818" y="3138"/>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7" name="Freeform 43">
                <a:extLst>
                  <a:ext uri="{FF2B5EF4-FFF2-40B4-BE49-F238E27FC236}">
                    <a16:creationId xmlns:a16="http://schemas.microsoft.com/office/drawing/2014/main" id="{038473AE-3B4A-9251-61CA-0B5BB7170787}"/>
                  </a:ext>
                </a:extLst>
              </p:cNvPr>
              <p:cNvSpPr>
                <a:spLocks/>
              </p:cNvSpPr>
              <p:nvPr/>
            </p:nvSpPr>
            <p:spPr bwMode="auto">
              <a:xfrm>
                <a:off x="1911" y="3001"/>
                <a:ext cx="26" cy="40"/>
              </a:xfrm>
              <a:custGeom>
                <a:avLst/>
                <a:gdLst>
                  <a:gd name="T0" fmla="*/ 2 w 26"/>
                  <a:gd name="T1" fmla="*/ 14 h 40"/>
                  <a:gd name="T2" fmla="*/ 0 w 26"/>
                  <a:gd name="T3" fmla="*/ 17 h 40"/>
                  <a:gd name="T4" fmla="*/ 0 w 26"/>
                  <a:gd name="T5" fmla="*/ 21 h 40"/>
                  <a:gd name="T6" fmla="*/ 0 w 26"/>
                  <a:gd name="T7" fmla="*/ 25 h 40"/>
                  <a:gd name="T8" fmla="*/ 0 w 26"/>
                  <a:gd name="T9" fmla="*/ 28 h 40"/>
                  <a:gd name="T10" fmla="*/ 0 w 26"/>
                  <a:gd name="T11" fmla="*/ 31 h 40"/>
                  <a:gd name="T12" fmla="*/ 1 w 26"/>
                  <a:gd name="T13" fmla="*/ 34 h 40"/>
                  <a:gd name="T14" fmla="*/ 2 w 26"/>
                  <a:gd name="T15" fmla="*/ 36 h 40"/>
                  <a:gd name="T16" fmla="*/ 4 w 26"/>
                  <a:gd name="T17" fmla="*/ 37 h 40"/>
                  <a:gd name="T18" fmla="*/ 6 w 26"/>
                  <a:gd name="T19" fmla="*/ 39 h 40"/>
                  <a:gd name="T20" fmla="*/ 8 w 26"/>
                  <a:gd name="T21" fmla="*/ 39 h 40"/>
                  <a:gd name="T22" fmla="*/ 11 w 26"/>
                  <a:gd name="T23" fmla="*/ 37 h 40"/>
                  <a:gd name="T24" fmla="*/ 13 w 26"/>
                  <a:gd name="T25" fmla="*/ 36 h 40"/>
                  <a:gd name="T26" fmla="*/ 16 w 26"/>
                  <a:gd name="T27" fmla="*/ 34 h 40"/>
                  <a:gd name="T28" fmla="*/ 18 w 26"/>
                  <a:gd name="T29" fmla="*/ 31 h 40"/>
                  <a:gd name="T30" fmla="*/ 20 w 26"/>
                  <a:gd name="T31" fmla="*/ 27 h 40"/>
                  <a:gd name="T32" fmla="*/ 22 w 26"/>
                  <a:gd name="T33" fmla="*/ 24 h 40"/>
                  <a:gd name="T34" fmla="*/ 23 w 26"/>
                  <a:gd name="T35" fmla="*/ 21 h 40"/>
                  <a:gd name="T36" fmla="*/ 24 w 26"/>
                  <a:gd name="T37" fmla="*/ 16 h 40"/>
                  <a:gd name="T38" fmla="*/ 25 w 26"/>
                  <a:gd name="T39" fmla="*/ 13 h 40"/>
                  <a:gd name="T40" fmla="*/ 24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0 w 26"/>
                  <a:gd name="T57" fmla="*/ 2 h 40"/>
                  <a:gd name="T58" fmla="*/ 8 w 26"/>
                  <a:gd name="T59" fmla="*/ 4 h 40"/>
                  <a:gd name="T60" fmla="*/ 6 w 26"/>
                  <a:gd name="T61" fmla="*/ 7 h 40"/>
                  <a:gd name="T62" fmla="*/ 4 w 26"/>
                  <a:gd name="T63" fmla="*/ 10 h 40"/>
                  <a:gd name="T64" fmla="*/ 2 w 26"/>
                  <a:gd name="T65" fmla="*/ 14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4"/>
                    </a:moveTo>
                    <a:lnTo>
                      <a:pt x="0" y="17"/>
                    </a:lnTo>
                    <a:lnTo>
                      <a:pt x="0" y="21"/>
                    </a:lnTo>
                    <a:lnTo>
                      <a:pt x="0" y="25"/>
                    </a:lnTo>
                    <a:lnTo>
                      <a:pt x="0" y="28"/>
                    </a:lnTo>
                    <a:lnTo>
                      <a:pt x="0" y="31"/>
                    </a:lnTo>
                    <a:lnTo>
                      <a:pt x="1" y="34"/>
                    </a:lnTo>
                    <a:lnTo>
                      <a:pt x="2" y="36"/>
                    </a:lnTo>
                    <a:lnTo>
                      <a:pt x="4" y="37"/>
                    </a:lnTo>
                    <a:lnTo>
                      <a:pt x="6" y="39"/>
                    </a:lnTo>
                    <a:lnTo>
                      <a:pt x="8" y="39"/>
                    </a:lnTo>
                    <a:lnTo>
                      <a:pt x="11" y="37"/>
                    </a:lnTo>
                    <a:lnTo>
                      <a:pt x="13" y="36"/>
                    </a:lnTo>
                    <a:lnTo>
                      <a:pt x="16" y="34"/>
                    </a:lnTo>
                    <a:lnTo>
                      <a:pt x="18" y="31"/>
                    </a:lnTo>
                    <a:lnTo>
                      <a:pt x="20" y="27"/>
                    </a:lnTo>
                    <a:lnTo>
                      <a:pt x="22" y="24"/>
                    </a:lnTo>
                    <a:lnTo>
                      <a:pt x="23" y="21"/>
                    </a:lnTo>
                    <a:lnTo>
                      <a:pt x="24" y="16"/>
                    </a:lnTo>
                    <a:lnTo>
                      <a:pt x="25" y="13"/>
                    </a:lnTo>
                    <a:lnTo>
                      <a:pt x="24" y="10"/>
                    </a:lnTo>
                    <a:lnTo>
                      <a:pt x="24" y="6"/>
                    </a:lnTo>
                    <a:lnTo>
                      <a:pt x="23" y="4"/>
                    </a:lnTo>
                    <a:lnTo>
                      <a:pt x="22" y="2"/>
                    </a:lnTo>
                    <a:lnTo>
                      <a:pt x="20" y="1"/>
                    </a:lnTo>
                    <a:lnTo>
                      <a:pt x="18" y="0"/>
                    </a:lnTo>
                    <a:lnTo>
                      <a:pt x="15" y="0"/>
                    </a:lnTo>
                    <a:lnTo>
                      <a:pt x="13" y="1"/>
                    </a:lnTo>
                    <a:lnTo>
                      <a:pt x="10" y="2"/>
                    </a:lnTo>
                    <a:lnTo>
                      <a:pt x="8" y="4"/>
                    </a:lnTo>
                    <a:lnTo>
                      <a:pt x="6" y="7"/>
                    </a:lnTo>
                    <a:lnTo>
                      <a:pt x="4" y="10"/>
                    </a:lnTo>
                    <a:lnTo>
                      <a:pt x="2"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8" name="Freeform 44">
                <a:extLst>
                  <a:ext uri="{FF2B5EF4-FFF2-40B4-BE49-F238E27FC236}">
                    <a16:creationId xmlns:a16="http://schemas.microsoft.com/office/drawing/2014/main" id="{333B0B1F-1F45-F531-AF65-F9FF3C97E803}"/>
                  </a:ext>
                </a:extLst>
              </p:cNvPr>
              <p:cNvSpPr>
                <a:spLocks/>
              </p:cNvSpPr>
              <p:nvPr/>
            </p:nvSpPr>
            <p:spPr bwMode="auto">
              <a:xfrm>
                <a:off x="1991" y="3014"/>
                <a:ext cx="27" cy="40"/>
              </a:xfrm>
              <a:custGeom>
                <a:avLst/>
                <a:gdLst>
                  <a:gd name="T0" fmla="*/ 3 w 27"/>
                  <a:gd name="T1" fmla="*/ 13 h 40"/>
                  <a:gd name="T2" fmla="*/ 2 w 27"/>
                  <a:gd name="T3" fmla="*/ 18 h 40"/>
                  <a:gd name="T4" fmla="*/ 1 w 27"/>
                  <a:gd name="T5" fmla="*/ 21 h 40"/>
                  <a:gd name="T6" fmla="*/ 0 w 27"/>
                  <a:gd name="T7" fmla="*/ 26 h 40"/>
                  <a:gd name="T8" fmla="*/ 0 w 27"/>
                  <a:gd name="T9" fmla="*/ 29 h 40"/>
                  <a:gd name="T10" fmla="*/ 1 w 27"/>
                  <a:gd name="T11" fmla="*/ 32 h 40"/>
                  <a:gd name="T12" fmla="*/ 2 w 27"/>
                  <a:gd name="T13" fmla="*/ 35 h 40"/>
                  <a:gd name="T14" fmla="*/ 3 w 27"/>
                  <a:gd name="T15" fmla="*/ 36 h 40"/>
                  <a:gd name="T16" fmla="*/ 5 w 27"/>
                  <a:gd name="T17" fmla="*/ 39 h 40"/>
                  <a:gd name="T18" fmla="*/ 7 w 27"/>
                  <a:gd name="T19" fmla="*/ 39 h 40"/>
                  <a:gd name="T20" fmla="*/ 9 w 27"/>
                  <a:gd name="T21" fmla="*/ 39 h 40"/>
                  <a:gd name="T22" fmla="*/ 12 w 27"/>
                  <a:gd name="T23" fmla="*/ 39 h 40"/>
                  <a:gd name="T24" fmla="*/ 14 w 27"/>
                  <a:gd name="T25" fmla="*/ 36 h 40"/>
                  <a:gd name="T26" fmla="*/ 17 w 27"/>
                  <a:gd name="T27" fmla="*/ 34 h 40"/>
                  <a:gd name="T28" fmla="*/ 19 w 27"/>
                  <a:gd name="T29" fmla="*/ 32 h 40"/>
                  <a:gd name="T30" fmla="*/ 21 w 27"/>
                  <a:gd name="T31" fmla="*/ 28 h 40"/>
                  <a:gd name="T32" fmla="*/ 23 w 27"/>
                  <a:gd name="T33" fmla="*/ 25 h 40"/>
                  <a:gd name="T34" fmla="*/ 24 w 27"/>
                  <a:gd name="T35" fmla="*/ 21 h 40"/>
                  <a:gd name="T36" fmla="*/ 25 w 27"/>
                  <a:gd name="T37" fmla="*/ 17 h 40"/>
                  <a:gd name="T38" fmla="*/ 26 w 27"/>
                  <a:gd name="T39" fmla="*/ 13 h 40"/>
                  <a:gd name="T40" fmla="*/ 26 w 27"/>
                  <a:gd name="T41" fmla="*/ 10 h 40"/>
                  <a:gd name="T42" fmla="*/ 25 w 27"/>
                  <a:gd name="T43" fmla="*/ 6 h 40"/>
                  <a:gd name="T44" fmla="*/ 24 w 27"/>
                  <a:gd name="T45" fmla="*/ 4 h 40"/>
                  <a:gd name="T46" fmla="*/ 23 w 27"/>
                  <a:gd name="T47" fmla="*/ 2 h 40"/>
                  <a:gd name="T48" fmla="*/ 21 w 27"/>
                  <a:gd name="T49" fmla="*/ 1 h 40"/>
                  <a:gd name="T50" fmla="*/ 19 w 27"/>
                  <a:gd name="T51" fmla="*/ 0 h 40"/>
                  <a:gd name="T52" fmla="*/ 16 w 27"/>
                  <a:gd name="T53" fmla="*/ 0 h 40"/>
                  <a:gd name="T54" fmla="*/ 14 w 27"/>
                  <a:gd name="T55" fmla="*/ 1 h 40"/>
                  <a:gd name="T56" fmla="*/ 12 w 27"/>
                  <a:gd name="T57" fmla="*/ 2 h 40"/>
                  <a:gd name="T58" fmla="*/ 9 w 27"/>
                  <a:gd name="T59" fmla="*/ 4 h 40"/>
                  <a:gd name="T60" fmla="*/ 7 w 27"/>
                  <a:gd name="T61" fmla="*/ 6 h 40"/>
                  <a:gd name="T62" fmla="*/ 5 w 27"/>
                  <a:gd name="T63" fmla="*/ 10 h 40"/>
                  <a:gd name="T64" fmla="*/ 3 w 27"/>
                  <a:gd name="T65" fmla="*/ 13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 h="40">
                    <a:moveTo>
                      <a:pt x="3" y="13"/>
                    </a:moveTo>
                    <a:lnTo>
                      <a:pt x="2" y="18"/>
                    </a:lnTo>
                    <a:lnTo>
                      <a:pt x="1" y="21"/>
                    </a:lnTo>
                    <a:lnTo>
                      <a:pt x="0" y="26"/>
                    </a:lnTo>
                    <a:lnTo>
                      <a:pt x="0" y="29"/>
                    </a:lnTo>
                    <a:lnTo>
                      <a:pt x="1" y="32"/>
                    </a:lnTo>
                    <a:lnTo>
                      <a:pt x="2" y="35"/>
                    </a:lnTo>
                    <a:lnTo>
                      <a:pt x="3" y="36"/>
                    </a:lnTo>
                    <a:lnTo>
                      <a:pt x="5" y="39"/>
                    </a:lnTo>
                    <a:lnTo>
                      <a:pt x="7" y="39"/>
                    </a:lnTo>
                    <a:lnTo>
                      <a:pt x="9" y="39"/>
                    </a:lnTo>
                    <a:lnTo>
                      <a:pt x="12" y="39"/>
                    </a:lnTo>
                    <a:lnTo>
                      <a:pt x="14" y="36"/>
                    </a:lnTo>
                    <a:lnTo>
                      <a:pt x="17" y="34"/>
                    </a:lnTo>
                    <a:lnTo>
                      <a:pt x="19" y="32"/>
                    </a:lnTo>
                    <a:lnTo>
                      <a:pt x="21" y="28"/>
                    </a:lnTo>
                    <a:lnTo>
                      <a:pt x="23" y="25"/>
                    </a:lnTo>
                    <a:lnTo>
                      <a:pt x="24" y="21"/>
                    </a:lnTo>
                    <a:lnTo>
                      <a:pt x="25" y="17"/>
                    </a:lnTo>
                    <a:lnTo>
                      <a:pt x="26" y="13"/>
                    </a:lnTo>
                    <a:lnTo>
                      <a:pt x="26" y="10"/>
                    </a:lnTo>
                    <a:lnTo>
                      <a:pt x="25" y="6"/>
                    </a:lnTo>
                    <a:lnTo>
                      <a:pt x="24" y="4"/>
                    </a:lnTo>
                    <a:lnTo>
                      <a:pt x="23" y="2"/>
                    </a:lnTo>
                    <a:lnTo>
                      <a:pt x="21" y="1"/>
                    </a:lnTo>
                    <a:lnTo>
                      <a:pt x="19" y="0"/>
                    </a:lnTo>
                    <a:lnTo>
                      <a:pt x="16" y="0"/>
                    </a:lnTo>
                    <a:lnTo>
                      <a:pt x="14" y="1"/>
                    </a:lnTo>
                    <a:lnTo>
                      <a:pt x="12" y="2"/>
                    </a:lnTo>
                    <a:lnTo>
                      <a:pt x="9" y="4"/>
                    </a:lnTo>
                    <a:lnTo>
                      <a:pt x="7" y="6"/>
                    </a:lnTo>
                    <a:lnTo>
                      <a:pt x="5" y="10"/>
                    </a:lnTo>
                    <a:lnTo>
                      <a:pt x="3"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9" name="Freeform 45">
                <a:extLst>
                  <a:ext uri="{FF2B5EF4-FFF2-40B4-BE49-F238E27FC236}">
                    <a16:creationId xmlns:a16="http://schemas.microsoft.com/office/drawing/2014/main" id="{C486904C-57AE-E61C-8617-C6C3C72A0F2A}"/>
                  </a:ext>
                </a:extLst>
              </p:cNvPr>
              <p:cNvSpPr>
                <a:spLocks/>
              </p:cNvSpPr>
              <p:nvPr/>
            </p:nvSpPr>
            <p:spPr bwMode="auto">
              <a:xfrm>
                <a:off x="1830" y="3306"/>
                <a:ext cx="22" cy="43"/>
              </a:xfrm>
              <a:custGeom>
                <a:avLst/>
                <a:gdLst>
                  <a:gd name="T0" fmla="*/ 0 w 22"/>
                  <a:gd name="T1" fmla="*/ 20 h 43"/>
                  <a:gd name="T2" fmla="*/ 0 w 22"/>
                  <a:gd name="T3" fmla="*/ 23 h 43"/>
                  <a:gd name="T4" fmla="*/ 0 w 22"/>
                  <a:gd name="T5" fmla="*/ 28 h 43"/>
                  <a:gd name="T6" fmla="*/ 0 w 22"/>
                  <a:gd name="T7" fmla="*/ 31 h 43"/>
                  <a:gd name="T8" fmla="*/ 1 w 22"/>
                  <a:gd name="T9" fmla="*/ 35 h 43"/>
                  <a:gd name="T10" fmla="*/ 2 w 22"/>
                  <a:gd name="T11" fmla="*/ 37 h 43"/>
                  <a:gd name="T12" fmla="*/ 4 w 22"/>
                  <a:gd name="T13" fmla="*/ 39 h 43"/>
                  <a:gd name="T14" fmla="*/ 6 w 22"/>
                  <a:gd name="T15" fmla="*/ 40 h 43"/>
                  <a:gd name="T16" fmla="*/ 8 w 22"/>
                  <a:gd name="T17" fmla="*/ 42 h 43"/>
                  <a:gd name="T18" fmla="*/ 11 w 22"/>
                  <a:gd name="T19" fmla="*/ 42 h 43"/>
                  <a:gd name="T20" fmla="*/ 13 w 22"/>
                  <a:gd name="T21" fmla="*/ 40 h 43"/>
                  <a:gd name="T22" fmla="*/ 15 w 22"/>
                  <a:gd name="T23" fmla="*/ 38 h 43"/>
                  <a:gd name="T24" fmla="*/ 17 w 22"/>
                  <a:gd name="T25" fmla="*/ 36 h 43"/>
                  <a:gd name="T26" fmla="*/ 18 w 22"/>
                  <a:gd name="T27" fmla="*/ 32 h 43"/>
                  <a:gd name="T28" fmla="*/ 19 w 22"/>
                  <a:gd name="T29" fmla="*/ 29 h 43"/>
                  <a:gd name="T30" fmla="*/ 20 w 22"/>
                  <a:gd name="T31" fmla="*/ 26 h 43"/>
                  <a:gd name="T32" fmla="*/ 21 w 22"/>
                  <a:gd name="T33" fmla="*/ 21 h 43"/>
                  <a:gd name="T34" fmla="*/ 20 w 22"/>
                  <a:gd name="T35" fmla="*/ 17 h 43"/>
                  <a:gd name="T36" fmla="*/ 20 w 22"/>
                  <a:gd name="T37" fmla="*/ 13 h 43"/>
                  <a:gd name="T38" fmla="*/ 19 w 22"/>
                  <a:gd name="T39" fmla="*/ 10 h 43"/>
                  <a:gd name="T40" fmla="*/ 18 w 22"/>
                  <a:gd name="T41" fmla="*/ 6 h 43"/>
                  <a:gd name="T42" fmla="*/ 17 w 22"/>
                  <a:gd name="T43" fmla="*/ 4 h 43"/>
                  <a:gd name="T44" fmla="*/ 15 w 22"/>
                  <a:gd name="T45" fmla="*/ 2 h 43"/>
                  <a:gd name="T46" fmla="*/ 13 w 22"/>
                  <a:gd name="T47" fmla="*/ 1 h 43"/>
                  <a:gd name="T48" fmla="*/ 11 w 22"/>
                  <a:gd name="T49" fmla="*/ 0 h 43"/>
                  <a:gd name="T50" fmla="*/ 8 w 22"/>
                  <a:gd name="T51" fmla="*/ 0 h 43"/>
                  <a:gd name="T52" fmla="*/ 6 w 22"/>
                  <a:gd name="T53" fmla="*/ 1 h 43"/>
                  <a:gd name="T54" fmla="*/ 4 w 22"/>
                  <a:gd name="T55" fmla="*/ 3 h 43"/>
                  <a:gd name="T56" fmla="*/ 2 w 22"/>
                  <a:gd name="T57" fmla="*/ 5 h 43"/>
                  <a:gd name="T58" fmla="*/ 1 w 22"/>
                  <a:gd name="T59" fmla="*/ 9 h 43"/>
                  <a:gd name="T60" fmla="*/ 0 w 22"/>
                  <a:gd name="T61" fmla="*/ 12 h 43"/>
                  <a:gd name="T62" fmla="*/ 0 w 22"/>
                  <a:gd name="T63" fmla="*/ 15 h 43"/>
                  <a:gd name="T64" fmla="*/ 0 w 22"/>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2" h="43">
                    <a:moveTo>
                      <a:pt x="0" y="20"/>
                    </a:moveTo>
                    <a:lnTo>
                      <a:pt x="0" y="23"/>
                    </a:lnTo>
                    <a:lnTo>
                      <a:pt x="0" y="28"/>
                    </a:lnTo>
                    <a:lnTo>
                      <a:pt x="0" y="31"/>
                    </a:lnTo>
                    <a:lnTo>
                      <a:pt x="1" y="35"/>
                    </a:lnTo>
                    <a:lnTo>
                      <a:pt x="2" y="37"/>
                    </a:lnTo>
                    <a:lnTo>
                      <a:pt x="4" y="39"/>
                    </a:lnTo>
                    <a:lnTo>
                      <a:pt x="6" y="40"/>
                    </a:lnTo>
                    <a:lnTo>
                      <a:pt x="8" y="42"/>
                    </a:lnTo>
                    <a:lnTo>
                      <a:pt x="11" y="42"/>
                    </a:lnTo>
                    <a:lnTo>
                      <a:pt x="13" y="40"/>
                    </a:lnTo>
                    <a:lnTo>
                      <a:pt x="15" y="38"/>
                    </a:lnTo>
                    <a:lnTo>
                      <a:pt x="17" y="36"/>
                    </a:lnTo>
                    <a:lnTo>
                      <a:pt x="18" y="32"/>
                    </a:lnTo>
                    <a:lnTo>
                      <a:pt x="19" y="29"/>
                    </a:lnTo>
                    <a:lnTo>
                      <a:pt x="20" y="26"/>
                    </a:lnTo>
                    <a:lnTo>
                      <a:pt x="21" y="21"/>
                    </a:lnTo>
                    <a:lnTo>
                      <a:pt x="20" y="17"/>
                    </a:lnTo>
                    <a:lnTo>
                      <a:pt x="20" y="13"/>
                    </a:lnTo>
                    <a:lnTo>
                      <a:pt x="19" y="10"/>
                    </a:lnTo>
                    <a:lnTo>
                      <a:pt x="18" y="6"/>
                    </a:lnTo>
                    <a:lnTo>
                      <a:pt x="17" y="4"/>
                    </a:lnTo>
                    <a:lnTo>
                      <a:pt x="15" y="2"/>
                    </a:lnTo>
                    <a:lnTo>
                      <a:pt x="13" y="1"/>
                    </a:lnTo>
                    <a:lnTo>
                      <a:pt x="11" y="0"/>
                    </a:lnTo>
                    <a:lnTo>
                      <a:pt x="8" y="0"/>
                    </a:lnTo>
                    <a:lnTo>
                      <a:pt x="6" y="1"/>
                    </a:lnTo>
                    <a:lnTo>
                      <a:pt x="4" y="3"/>
                    </a:lnTo>
                    <a:lnTo>
                      <a:pt x="2" y="5"/>
                    </a:lnTo>
                    <a:lnTo>
                      <a:pt x="1" y="9"/>
                    </a:lnTo>
                    <a:lnTo>
                      <a:pt x="0"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0" name="Freeform 46">
                <a:extLst>
                  <a:ext uri="{FF2B5EF4-FFF2-40B4-BE49-F238E27FC236}">
                    <a16:creationId xmlns:a16="http://schemas.microsoft.com/office/drawing/2014/main" id="{E047D0B3-8D83-6E19-3404-75FF6439F158}"/>
                  </a:ext>
                </a:extLst>
              </p:cNvPr>
              <p:cNvSpPr>
                <a:spLocks/>
              </p:cNvSpPr>
              <p:nvPr/>
            </p:nvSpPr>
            <p:spPr bwMode="auto">
              <a:xfrm>
                <a:off x="1750" y="3291"/>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8222" name="Group 47">
              <a:extLst>
                <a:ext uri="{FF2B5EF4-FFF2-40B4-BE49-F238E27FC236}">
                  <a16:creationId xmlns:a16="http://schemas.microsoft.com/office/drawing/2014/main" id="{6053114D-B7F0-6B3B-9DAA-BBA472989E33}"/>
                </a:ext>
              </a:extLst>
            </p:cNvPr>
            <p:cNvGrpSpPr>
              <a:grpSpLocks/>
            </p:cNvGrpSpPr>
            <p:nvPr/>
          </p:nvGrpSpPr>
          <p:grpSpPr bwMode="auto">
            <a:xfrm>
              <a:off x="1698" y="2928"/>
              <a:ext cx="303" cy="399"/>
              <a:chOff x="1698" y="2928"/>
              <a:chExt cx="303" cy="399"/>
            </a:xfrm>
          </p:grpSpPr>
          <p:sp>
            <p:nvSpPr>
              <p:cNvPr id="8223" name="Freeform 48">
                <a:extLst>
                  <a:ext uri="{FF2B5EF4-FFF2-40B4-BE49-F238E27FC236}">
                    <a16:creationId xmlns:a16="http://schemas.microsoft.com/office/drawing/2014/main" id="{8EA2DE13-35F4-B1E1-EE13-1A035E885AD4}"/>
                  </a:ext>
                </a:extLst>
              </p:cNvPr>
              <p:cNvSpPr>
                <a:spLocks/>
              </p:cNvSpPr>
              <p:nvPr/>
            </p:nvSpPr>
            <p:spPr bwMode="auto">
              <a:xfrm>
                <a:off x="1705" y="2954"/>
                <a:ext cx="296" cy="373"/>
              </a:xfrm>
              <a:custGeom>
                <a:avLst/>
                <a:gdLst>
                  <a:gd name="T0" fmla="*/ 2 w 296"/>
                  <a:gd name="T1" fmla="*/ 353 h 373"/>
                  <a:gd name="T2" fmla="*/ 1 w 296"/>
                  <a:gd name="T3" fmla="*/ 348 h 373"/>
                  <a:gd name="T4" fmla="*/ 0 w 296"/>
                  <a:gd name="T5" fmla="*/ 334 h 373"/>
                  <a:gd name="T6" fmla="*/ 0 w 296"/>
                  <a:gd name="T7" fmla="*/ 315 h 373"/>
                  <a:gd name="T8" fmla="*/ 0 w 296"/>
                  <a:gd name="T9" fmla="*/ 290 h 373"/>
                  <a:gd name="T10" fmla="*/ 2 w 296"/>
                  <a:gd name="T11" fmla="*/ 262 h 373"/>
                  <a:gd name="T12" fmla="*/ 6 w 296"/>
                  <a:gd name="T13" fmla="*/ 234 h 373"/>
                  <a:gd name="T14" fmla="*/ 15 w 296"/>
                  <a:gd name="T15" fmla="*/ 209 h 373"/>
                  <a:gd name="T16" fmla="*/ 26 w 296"/>
                  <a:gd name="T17" fmla="*/ 186 h 373"/>
                  <a:gd name="T18" fmla="*/ 40 w 296"/>
                  <a:gd name="T19" fmla="*/ 170 h 373"/>
                  <a:gd name="T20" fmla="*/ 54 w 296"/>
                  <a:gd name="T21" fmla="*/ 161 h 373"/>
                  <a:gd name="T22" fmla="*/ 68 w 296"/>
                  <a:gd name="T23" fmla="*/ 155 h 373"/>
                  <a:gd name="T24" fmla="*/ 80 w 296"/>
                  <a:gd name="T25" fmla="*/ 151 h 373"/>
                  <a:gd name="T26" fmla="*/ 94 w 296"/>
                  <a:gd name="T27" fmla="*/ 146 h 373"/>
                  <a:gd name="T28" fmla="*/ 107 w 296"/>
                  <a:gd name="T29" fmla="*/ 139 h 373"/>
                  <a:gd name="T30" fmla="*/ 121 w 296"/>
                  <a:gd name="T31" fmla="*/ 127 h 373"/>
                  <a:gd name="T32" fmla="*/ 134 w 296"/>
                  <a:gd name="T33" fmla="*/ 108 h 373"/>
                  <a:gd name="T34" fmla="*/ 146 w 296"/>
                  <a:gd name="T35" fmla="*/ 85 h 373"/>
                  <a:gd name="T36" fmla="*/ 154 w 296"/>
                  <a:gd name="T37" fmla="*/ 63 h 373"/>
                  <a:gd name="T38" fmla="*/ 160 w 296"/>
                  <a:gd name="T39" fmla="*/ 45 h 373"/>
                  <a:gd name="T40" fmla="*/ 164 w 296"/>
                  <a:gd name="T41" fmla="*/ 29 h 373"/>
                  <a:gd name="T42" fmla="*/ 167 w 296"/>
                  <a:gd name="T43" fmla="*/ 17 h 373"/>
                  <a:gd name="T44" fmla="*/ 168 w 296"/>
                  <a:gd name="T45" fmla="*/ 7 h 373"/>
                  <a:gd name="T46" fmla="*/ 168 w 296"/>
                  <a:gd name="T47" fmla="*/ 1 h 373"/>
                  <a:gd name="T48" fmla="*/ 168 w 296"/>
                  <a:gd name="T49" fmla="*/ 0 h 373"/>
                  <a:gd name="T50" fmla="*/ 295 w 296"/>
                  <a:gd name="T51" fmla="*/ 19 h 373"/>
                  <a:gd name="T52" fmla="*/ 294 w 296"/>
                  <a:gd name="T53" fmla="*/ 25 h 373"/>
                  <a:gd name="T54" fmla="*/ 292 w 296"/>
                  <a:gd name="T55" fmla="*/ 39 h 373"/>
                  <a:gd name="T56" fmla="*/ 287 w 296"/>
                  <a:gd name="T57" fmla="*/ 60 h 373"/>
                  <a:gd name="T58" fmla="*/ 281 w 296"/>
                  <a:gd name="T59" fmla="*/ 85 h 373"/>
                  <a:gd name="T60" fmla="*/ 273 w 296"/>
                  <a:gd name="T61" fmla="*/ 112 h 373"/>
                  <a:gd name="T62" fmla="*/ 264 w 296"/>
                  <a:gd name="T63" fmla="*/ 136 h 373"/>
                  <a:gd name="T64" fmla="*/ 253 w 296"/>
                  <a:gd name="T65" fmla="*/ 158 h 373"/>
                  <a:gd name="T66" fmla="*/ 242 w 296"/>
                  <a:gd name="T67" fmla="*/ 171 h 373"/>
                  <a:gd name="T68" fmla="*/ 228 w 296"/>
                  <a:gd name="T69" fmla="*/ 180 h 373"/>
                  <a:gd name="T70" fmla="*/ 212 w 296"/>
                  <a:gd name="T71" fmla="*/ 186 h 373"/>
                  <a:gd name="T72" fmla="*/ 194 w 296"/>
                  <a:gd name="T73" fmla="*/ 191 h 373"/>
                  <a:gd name="T74" fmla="*/ 176 w 296"/>
                  <a:gd name="T75" fmla="*/ 195 h 373"/>
                  <a:gd name="T76" fmla="*/ 159 w 296"/>
                  <a:gd name="T77" fmla="*/ 202 h 373"/>
                  <a:gd name="T78" fmla="*/ 145 w 296"/>
                  <a:gd name="T79" fmla="*/ 211 h 373"/>
                  <a:gd name="T80" fmla="*/ 132 w 296"/>
                  <a:gd name="T81" fmla="*/ 224 h 373"/>
                  <a:gd name="T82" fmla="*/ 124 w 296"/>
                  <a:gd name="T83" fmla="*/ 242 h 373"/>
                  <a:gd name="T84" fmla="*/ 121 w 296"/>
                  <a:gd name="T85" fmla="*/ 263 h 373"/>
                  <a:gd name="T86" fmla="*/ 118 w 296"/>
                  <a:gd name="T87" fmla="*/ 286 h 373"/>
                  <a:gd name="T88" fmla="*/ 117 w 296"/>
                  <a:gd name="T89" fmla="*/ 308 h 373"/>
                  <a:gd name="T90" fmla="*/ 117 w 296"/>
                  <a:gd name="T91" fmla="*/ 327 h 373"/>
                  <a:gd name="T92" fmla="*/ 118 w 296"/>
                  <a:gd name="T93" fmla="*/ 345 h 373"/>
                  <a:gd name="T94" fmla="*/ 119 w 296"/>
                  <a:gd name="T95" fmla="*/ 359 h 373"/>
                  <a:gd name="T96" fmla="*/ 120 w 296"/>
                  <a:gd name="T97" fmla="*/ 368 h 373"/>
                  <a:gd name="T98" fmla="*/ 121 w 296"/>
                  <a:gd name="T99" fmla="*/ 372 h 373"/>
                  <a:gd name="T100" fmla="*/ 2 w 296"/>
                  <a:gd name="T101" fmla="*/ 353 h 3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 h="373">
                    <a:moveTo>
                      <a:pt x="2" y="353"/>
                    </a:moveTo>
                    <a:lnTo>
                      <a:pt x="1" y="348"/>
                    </a:lnTo>
                    <a:lnTo>
                      <a:pt x="0" y="334"/>
                    </a:lnTo>
                    <a:lnTo>
                      <a:pt x="0" y="315"/>
                    </a:lnTo>
                    <a:lnTo>
                      <a:pt x="0" y="290"/>
                    </a:lnTo>
                    <a:lnTo>
                      <a:pt x="2" y="262"/>
                    </a:lnTo>
                    <a:lnTo>
                      <a:pt x="6" y="234"/>
                    </a:lnTo>
                    <a:lnTo>
                      <a:pt x="15" y="209"/>
                    </a:lnTo>
                    <a:lnTo>
                      <a:pt x="26" y="186"/>
                    </a:lnTo>
                    <a:lnTo>
                      <a:pt x="40" y="170"/>
                    </a:lnTo>
                    <a:lnTo>
                      <a:pt x="54" y="161"/>
                    </a:lnTo>
                    <a:lnTo>
                      <a:pt x="68" y="155"/>
                    </a:lnTo>
                    <a:lnTo>
                      <a:pt x="80" y="151"/>
                    </a:lnTo>
                    <a:lnTo>
                      <a:pt x="94" y="146"/>
                    </a:lnTo>
                    <a:lnTo>
                      <a:pt x="107" y="139"/>
                    </a:lnTo>
                    <a:lnTo>
                      <a:pt x="121" y="127"/>
                    </a:lnTo>
                    <a:lnTo>
                      <a:pt x="134" y="108"/>
                    </a:lnTo>
                    <a:lnTo>
                      <a:pt x="146" y="85"/>
                    </a:lnTo>
                    <a:lnTo>
                      <a:pt x="154" y="63"/>
                    </a:lnTo>
                    <a:lnTo>
                      <a:pt x="160" y="45"/>
                    </a:lnTo>
                    <a:lnTo>
                      <a:pt x="164" y="29"/>
                    </a:lnTo>
                    <a:lnTo>
                      <a:pt x="167" y="17"/>
                    </a:lnTo>
                    <a:lnTo>
                      <a:pt x="168" y="7"/>
                    </a:lnTo>
                    <a:lnTo>
                      <a:pt x="168" y="1"/>
                    </a:lnTo>
                    <a:lnTo>
                      <a:pt x="168" y="0"/>
                    </a:lnTo>
                    <a:lnTo>
                      <a:pt x="295" y="19"/>
                    </a:lnTo>
                    <a:lnTo>
                      <a:pt x="294" y="25"/>
                    </a:lnTo>
                    <a:lnTo>
                      <a:pt x="292" y="39"/>
                    </a:lnTo>
                    <a:lnTo>
                      <a:pt x="287" y="60"/>
                    </a:lnTo>
                    <a:lnTo>
                      <a:pt x="281" y="85"/>
                    </a:lnTo>
                    <a:lnTo>
                      <a:pt x="273" y="112"/>
                    </a:lnTo>
                    <a:lnTo>
                      <a:pt x="264" y="136"/>
                    </a:lnTo>
                    <a:lnTo>
                      <a:pt x="253" y="158"/>
                    </a:lnTo>
                    <a:lnTo>
                      <a:pt x="242" y="171"/>
                    </a:lnTo>
                    <a:lnTo>
                      <a:pt x="228" y="180"/>
                    </a:lnTo>
                    <a:lnTo>
                      <a:pt x="212" y="186"/>
                    </a:lnTo>
                    <a:lnTo>
                      <a:pt x="194" y="191"/>
                    </a:lnTo>
                    <a:lnTo>
                      <a:pt x="176" y="195"/>
                    </a:lnTo>
                    <a:lnTo>
                      <a:pt x="159" y="202"/>
                    </a:lnTo>
                    <a:lnTo>
                      <a:pt x="145" y="211"/>
                    </a:lnTo>
                    <a:lnTo>
                      <a:pt x="132" y="224"/>
                    </a:lnTo>
                    <a:lnTo>
                      <a:pt x="124" y="242"/>
                    </a:lnTo>
                    <a:lnTo>
                      <a:pt x="121" y="263"/>
                    </a:lnTo>
                    <a:lnTo>
                      <a:pt x="118" y="286"/>
                    </a:lnTo>
                    <a:lnTo>
                      <a:pt x="117" y="308"/>
                    </a:lnTo>
                    <a:lnTo>
                      <a:pt x="117" y="327"/>
                    </a:lnTo>
                    <a:lnTo>
                      <a:pt x="118" y="345"/>
                    </a:lnTo>
                    <a:lnTo>
                      <a:pt x="119" y="359"/>
                    </a:lnTo>
                    <a:lnTo>
                      <a:pt x="120" y="368"/>
                    </a:lnTo>
                    <a:lnTo>
                      <a:pt x="121" y="372"/>
                    </a:lnTo>
                    <a:lnTo>
                      <a:pt x="2" y="35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4" name="Freeform 49">
                <a:extLst>
                  <a:ext uri="{FF2B5EF4-FFF2-40B4-BE49-F238E27FC236}">
                    <a16:creationId xmlns:a16="http://schemas.microsoft.com/office/drawing/2014/main" id="{DF146CE5-3332-679C-447B-E1404AAE37CF}"/>
                  </a:ext>
                </a:extLst>
              </p:cNvPr>
              <p:cNvSpPr>
                <a:spLocks/>
              </p:cNvSpPr>
              <p:nvPr/>
            </p:nvSpPr>
            <p:spPr bwMode="auto">
              <a:xfrm>
                <a:off x="1698" y="2928"/>
                <a:ext cx="298" cy="373"/>
              </a:xfrm>
              <a:custGeom>
                <a:avLst/>
                <a:gdLst>
                  <a:gd name="T0" fmla="*/ 2 w 298"/>
                  <a:gd name="T1" fmla="*/ 353 h 373"/>
                  <a:gd name="T2" fmla="*/ 1 w 298"/>
                  <a:gd name="T3" fmla="*/ 349 h 373"/>
                  <a:gd name="T4" fmla="*/ 0 w 298"/>
                  <a:gd name="T5" fmla="*/ 335 h 373"/>
                  <a:gd name="T6" fmla="*/ 0 w 298"/>
                  <a:gd name="T7" fmla="*/ 315 h 373"/>
                  <a:gd name="T8" fmla="*/ 0 w 298"/>
                  <a:gd name="T9" fmla="*/ 290 h 373"/>
                  <a:gd name="T10" fmla="*/ 2 w 298"/>
                  <a:gd name="T11" fmla="*/ 262 h 373"/>
                  <a:gd name="T12" fmla="*/ 7 w 298"/>
                  <a:gd name="T13" fmla="*/ 235 h 373"/>
                  <a:gd name="T14" fmla="*/ 15 w 298"/>
                  <a:gd name="T15" fmla="*/ 209 h 373"/>
                  <a:gd name="T16" fmla="*/ 27 w 298"/>
                  <a:gd name="T17" fmla="*/ 186 h 373"/>
                  <a:gd name="T18" fmla="*/ 41 w 298"/>
                  <a:gd name="T19" fmla="*/ 171 h 373"/>
                  <a:gd name="T20" fmla="*/ 54 w 298"/>
                  <a:gd name="T21" fmla="*/ 161 h 373"/>
                  <a:gd name="T22" fmla="*/ 68 w 298"/>
                  <a:gd name="T23" fmla="*/ 155 h 373"/>
                  <a:gd name="T24" fmla="*/ 81 w 298"/>
                  <a:gd name="T25" fmla="*/ 152 h 373"/>
                  <a:gd name="T26" fmla="*/ 94 w 298"/>
                  <a:gd name="T27" fmla="*/ 147 h 373"/>
                  <a:gd name="T28" fmla="*/ 108 w 298"/>
                  <a:gd name="T29" fmla="*/ 141 h 373"/>
                  <a:gd name="T30" fmla="*/ 121 w 298"/>
                  <a:gd name="T31" fmla="*/ 128 h 373"/>
                  <a:gd name="T32" fmla="*/ 135 w 298"/>
                  <a:gd name="T33" fmla="*/ 109 h 373"/>
                  <a:gd name="T34" fmla="*/ 146 w 298"/>
                  <a:gd name="T35" fmla="*/ 85 h 373"/>
                  <a:gd name="T36" fmla="*/ 155 w 298"/>
                  <a:gd name="T37" fmla="*/ 64 h 373"/>
                  <a:gd name="T38" fmla="*/ 162 w 298"/>
                  <a:gd name="T39" fmla="*/ 46 h 373"/>
                  <a:gd name="T40" fmla="*/ 165 w 298"/>
                  <a:gd name="T41" fmla="*/ 30 h 373"/>
                  <a:gd name="T42" fmla="*/ 167 w 298"/>
                  <a:gd name="T43" fmla="*/ 18 h 373"/>
                  <a:gd name="T44" fmla="*/ 168 w 298"/>
                  <a:gd name="T45" fmla="*/ 7 h 373"/>
                  <a:gd name="T46" fmla="*/ 168 w 298"/>
                  <a:gd name="T47" fmla="*/ 2 h 373"/>
                  <a:gd name="T48" fmla="*/ 168 w 298"/>
                  <a:gd name="T49" fmla="*/ 0 h 373"/>
                  <a:gd name="T50" fmla="*/ 297 w 298"/>
                  <a:gd name="T51" fmla="*/ 20 h 373"/>
                  <a:gd name="T52" fmla="*/ 296 w 298"/>
                  <a:gd name="T53" fmla="*/ 25 h 373"/>
                  <a:gd name="T54" fmla="*/ 293 w 298"/>
                  <a:gd name="T55" fmla="*/ 39 h 373"/>
                  <a:gd name="T56" fmla="*/ 288 w 298"/>
                  <a:gd name="T57" fmla="*/ 61 h 373"/>
                  <a:gd name="T58" fmla="*/ 282 w 298"/>
                  <a:gd name="T59" fmla="*/ 86 h 373"/>
                  <a:gd name="T60" fmla="*/ 274 w 298"/>
                  <a:gd name="T61" fmla="*/ 112 h 373"/>
                  <a:gd name="T62" fmla="*/ 265 w 298"/>
                  <a:gd name="T63" fmla="*/ 137 h 373"/>
                  <a:gd name="T64" fmla="*/ 254 w 298"/>
                  <a:gd name="T65" fmla="*/ 158 h 373"/>
                  <a:gd name="T66" fmla="*/ 243 w 298"/>
                  <a:gd name="T67" fmla="*/ 172 h 373"/>
                  <a:gd name="T68" fmla="*/ 229 w 298"/>
                  <a:gd name="T69" fmla="*/ 180 h 373"/>
                  <a:gd name="T70" fmla="*/ 213 w 298"/>
                  <a:gd name="T71" fmla="*/ 186 h 373"/>
                  <a:gd name="T72" fmla="*/ 194 w 298"/>
                  <a:gd name="T73" fmla="*/ 191 h 373"/>
                  <a:gd name="T74" fmla="*/ 177 w 298"/>
                  <a:gd name="T75" fmla="*/ 196 h 373"/>
                  <a:gd name="T76" fmla="*/ 160 w 298"/>
                  <a:gd name="T77" fmla="*/ 202 h 373"/>
                  <a:gd name="T78" fmla="*/ 145 w 298"/>
                  <a:gd name="T79" fmla="*/ 211 h 373"/>
                  <a:gd name="T80" fmla="*/ 133 w 298"/>
                  <a:gd name="T81" fmla="*/ 224 h 373"/>
                  <a:gd name="T82" fmla="*/ 125 w 298"/>
                  <a:gd name="T83" fmla="*/ 242 h 373"/>
                  <a:gd name="T84" fmla="*/ 121 w 298"/>
                  <a:gd name="T85" fmla="*/ 265 h 373"/>
                  <a:gd name="T86" fmla="*/ 118 w 298"/>
                  <a:gd name="T87" fmla="*/ 286 h 373"/>
                  <a:gd name="T88" fmla="*/ 117 w 298"/>
                  <a:gd name="T89" fmla="*/ 308 h 373"/>
                  <a:gd name="T90" fmla="*/ 117 w 298"/>
                  <a:gd name="T91" fmla="*/ 328 h 373"/>
                  <a:gd name="T92" fmla="*/ 118 w 298"/>
                  <a:gd name="T93" fmla="*/ 345 h 373"/>
                  <a:gd name="T94" fmla="*/ 119 w 298"/>
                  <a:gd name="T95" fmla="*/ 359 h 373"/>
                  <a:gd name="T96" fmla="*/ 120 w 298"/>
                  <a:gd name="T97" fmla="*/ 368 h 373"/>
                  <a:gd name="T98" fmla="*/ 121 w 298"/>
                  <a:gd name="T99" fmla="*/ 372 h 373"/>
                  <a:gd name="T100" fmla="*/ 2 w 298"/>
                  <a:gd name="T101" fmla="*/ 353 h 3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8" h="373">
                    <a:moveTo>
                      <a:pt x="2" y="353"/>
                    </a:moveTo>
                    <a:lnTo>
                      <a:pt x="1" y="349"/>
                    </a:lnTo>
                    <a:lnTo>
                      <a:pt x="0" y="335"/>
                    </a:lnTo>
                    <a:lnTo>
                      <a:pt x="0" y="315"/>
                    </a:lnTo>
                    <a:lnTo>
                      <a:pt x="0" y="290"/>
                    </a:lnTo>
                    <a:lnTo>
                      <a:pt x="2" y="262"/>
                    </a:lnTo>
                    <a:lnTo>
                      <a:pt x="7" y="235"/>
                    </a:lnTo>
                    <a:lnTo>
                      <a:pt x="15" y="209"/>
                    </a:lnTo>
                    <a:lnTo>
                      <a:pt x="27" y="186"/>
                    </a:lnTo>
                    <a:lnTo>
                      <a:pt x="41" y="171"/>
                    </a:lnTo>
                    <a:lnTo>
                      <a:pt x="54" y="161"/>
                    </a:lnTo>
                    <a:lnTo>
                      <a:pt x="68" y="155"/>
                    </a:lnTo>
                    <a:lnTo>
                      <a:pt x="81" y="152"/>
                    </a:lnTo>
                    <a:lnTo>
                      <a:pt x="94" y="147"/>
                    </a:lnTo>
                    <a:lnTo>
                      <a:pt x="108" y="141"/>
                    </a:lnTo>
                    <a:lnTo>
                      <a:pt x="121" y="128"/>
                    </a:lnTo>
                    <a:lnTo>
                      <a:pt x="135" y="109"/>
                    </a:lnTo>
                    <a:lnTo>
                      <a:pt x="146" y="85"/>
                    </a:lnTo>
                    <a:lnTo>
                      <a:pt x="155" y="64"/>
                    </a:lnTo>
                    <a:lnTo>
                      <a:pt x="162" y="46"/>
                    </a:lnTo>
                    <a:lnTo>
                      <a:pt x="165" y="30"/>
                    </a:lnTo>
                    <a:lnTo>
                      <a:pt x="167" y="18"/>
                    </a:lnTo>
                    <a:lnTo>
                      <a:pt x="168" y="7"/>
                    </a:lnTo>
                    <a:lnTo>
                      <a:pt x="168" y="2"/>
                    </a:lnTo>
                    <a:lnTo>
                      <a:pt x="168" y="0"/>
                    </a:lnTo>
                    <a:lnTo>
                      <a:pt x="297" y="20"/>
                    </a:lnTo>
                    <a:lnTo>
                      <a:pt x="296" y="25"/>
                    </a:lnTo>
                    <a:lnTo>
                      <a:pt x="293" y="39"/>
                    </a:lnTo>
                    <a:lnTo>
                      <a:pt x="288" y="61"/>
                    </a:lnTo>
                    <a:lnTo>
                      <a:pt x="282" y="86"/>
                    </a:lnTo>
                    <a:lnTo>
                      <a:pt x="274" y="112"/>
                    </a:lnTo>
                    <a:lnTo>
                      <a:pt x="265" y="137"/>
                    </a:lnTo>
                    <a:lnTo>
                      <a:pt x="254" y="158"/>
                    </a:lnTo>
                    <a:lnTo>
                      <a:pt x="243" y="172"/>
                    </a:lnTo>
                    <a:lnTo>
                      <a:pt x="229" y="180"/>
                    </a:lnTo>
                    <a:lnTo>
                      <a:pt x="213" y="186"/>
                    </a:lnTo>
                    <a:lnTo>
                      <a:pt x="194" y="191"/>
                    </a:lnTo>
                    <a:lnTo>
                      <a:pt x="177" y="196"/>
                    </a:lnTo>
                    <a:lnTo>
                      <a:pt x="160" y="202"/>
                    </a:lnTo>
                    <a:lnTo>
                      <a:pt x="145" y="211"/>
                    </a:lnTo>
                    <a:lnTo>
                      <a:pt x="133" y="224"/>
                    </a:lnTo>
                    <a:lnTo>
                      <a:pt x="125" y="242"/>
                    </a:lnTo>
                    <a:lnTo>
                      <a:pt x="121" y="265"/>
                    </a:lnTo>
                    <a:lnTo>
                      <a:pt x="118" y="286"/>
                    </a:lnTo>
                    <a:lnTo>
                      <a:pt x="117" y="308"/>
                    </a:lnTo>
                    <a:lnTo>
                      <a:pt x="117" y="328"/>
                    </a:lnTo>
                    <a:lnTo>
                      <a:pt x="118" y="345"/>
                    </a:lnTo>
                    <a:lnTo>
                      <a:pt x="119" y="359"/>
                    </a:lnTo>
                    <a:lnTo>
                      <a:pt x="120" y="368"/>
                    </a:lnTo>
                    <a:lnTo>
                      <a:pt x="121" y="372"/>
                    </a:lnTo>
                    <a:lnTo>
                      <a:pt x="2" y="353"/>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5" name="Freeform 50">
                <a:extLst>
                  <a:ext uri="{FF2B5EF4-FFF2-40B4-BE49-F238E27FC236}">
                    <a16:creationId xmlns:a16="http://schemas.microsoft.com/office/drawing/2014/main" id="{C8988227-B84E-46F8-4FF5-2C1C8F2948FA}"/>
                  </a:ext>
                </a:extLst>
              </p:cNvPr>
              <p:cNvSpPr>
                <a:spLocks/>
              </p:cNvSpPr>
              <p:nvPr/>
            </p:nvSpPr>
            <p:spPr bwMode="auto">
              <a:xfrm>
                <a:off x="1715" y="2957"/>
                <a:ext cx="258" cy="320"/>
              </a:xfrm>
              <a:custGeom>
                <a:avLst/>
                <a:gdLst>
                  <a:gd name="T0" fmla="*/ 1 w 258"/>
                  <a:gd name="T1" fmla="*/ 304 h 320"/>
                  <a:gd name="T2" fmla="*/ 1 w 258"/>
                  <a:gd name="T3" fmla="*/ 300 h 320"/>
                  <a:gd name="T4" fmla="*/ 0 w 258"/>
                  <a:gd name="T5" fmla="*/ 288 h 320"/>
                  <a:gd name="T6" fmla="*/ 0 w 258"/>
                  <a:gd name="T7" fmla="*/ 271 h 320"/>
                  <a:gd name="T8" fmla="*/ 0 w 258"/>
                  <a:gd name="T9" fmla="*/ 249 h 320"/>
                  <a:gd name="T10" fmla="*/ 0 w 258"/>
                  <a:gd name="T11" fmla="*/ 226 h 320"/>
                  <a:gd name="T12" fmla="*/ 4 w 258"/>
                  <a:gd name="T13" fmla="*/ 203 h 320"/>
                  <a:gd name="T14" fmla="*/ 11 w 258"/>
                  <a:gd name="T15" fmla="*/ 182 h 320"/>
                  <a:gd name="T16" fmla="*/ 22 w 258"/>
                  <a:gd name="T17" fmla="*/ 165 h 320"/>
                  <a:gd name="T18" fmla="*/ 35 w 258"/>
                  <a:gd name="T19" fmla="*/ 152 h 320"/>
                  <a:gd name="T20" fmla="*/ 50 w 258"/>
                  <a:gd name="T21" fmla="*/ 143 h 320"/>
                  <a:gd name="T22" fmla="*/ 66 w 258"/>
                  <a:gd name="T23" fmla="*/ 135 h 320"/>
                  <a:gd name="T24" fmla="*/ 82 w 258"/>
                  <a:gd name="T25" fmla="*/ 128 h 320"/>
                  <a:gd name="T26" fmla="*/ 99 w 258"/>
                  <a:gd name="T27" fmla="*/ 120 h 320"/>
                  <a:gd name="T28" fmla="*/ 113 w 258"/>
                  <a:gd name="T29" fmla="*/ 108 h 320"/>
                  <a:gd name="T30" fmla="*/ 127 w 258"/>
                  <a:gd name="T31" fmla="*/ 92 h 320"/>
                  <a:gd name="T32" fmla="*/ 138 w 258"/>
                  <a:gd name="T33" fmla="*/ 68 h 320"/>
                  <a:gd name="T34" fmla="*/ 145 w 258"/>
                  <a:gd name="T35" fmla="*/ 48 h 320"/>
                  <a:gd name="T36" fmla="*/ 151 w 258"/>
                  <a:gd name="T37" fmla="*/ 34 h 320"/>
                  <a:gd name="T38" fmla="*/ 154 w 258"/>
                  <a:gd name="T39" fmla="*/ 21 h 320"/>
                  <a:gd name="T40" fmla="*/ 158 w 258"/>
                  <a:gd name="T41" fmla="*/ 12 h 320"/>
                  <a:gd name="T42" fmla="*/ 160 w 258"/>
                  <a:gd name="T43" fmla="*/ 6 h 320"/>
                  <a:gd name="T44" fmla="*/ 161 w 258"/>
                  <a:gd name="T45" fmla="*/ 2 h 320"/>
                  <a:gd name="T46" fmla="*/ 162 w 258"/>
                  <a:gd name="T47" fmla="*/ 0 h 320"/>
                  <a:gd name="T48" fmla="*/ 162 w 258"/>
                  <a:gd name="T49" fmla="*/ 0 h 320"/>
                  <a:gd name="T50" fmla="*/ 257 w 258"/>
                  <a:gd name="T51" fmla="*/ 17 h 320"/>
                  <a:gd name="T52" fmla="*/ 256 w 258"/>
                  <a:gd name="T53" fmla="*/ 21 h 320"/>
                  <a:gd name="T54" fmla="*/ 253 w 258"/>
                  <a:gd name="T55" fmla="*/ 33 h 320"/>
                  <a:gd name="T56" fmla="*/ 249 w 258"/>
                  <a:gd name="T57" fmla="*/ 48 h 320"/>
                  <a:gd name="T58" fmla="*/ 244 w 258"/>
                  <a:gd name="T59" fmla="*/ 68 h 320"/>
                  <a:gd name="T60" fmla="*/ 237 w 258"/>
                  <a:gd name="T61" fmla="*/ 88 h 320"/>
                  <a:gd name="T62" fmla="*/ 230 w 258"/>
                  <a:gd name="T63" fmla="*/ 108 h 320"/>
                  <a:gd name="T64" fmla="*/ 221 w 258"/>
                  <a:gd name="T65" fmla="*/ 124 h 320"/>
                  <a:gd name="T66" fmla="*/ 211 w 258"/>
                  <a:gd name="T67" fmla="*/ 134 h 320"/>
                  <a:gd name="T68" fmla="*/ 199 w 258"/>
                  <a:gd name="T69" fmla="*/ 141 h 320"/>
                  <a:gd name="T70" fmla="*/ 183 w 258"/>
                  <a:gd name="T71" fmla="*/ 146 h 320"/>
                  <a:gd name="T72" fmla="*/ 166 w 258"/>
                  <a:gd name="T73" fmla="*/ 152 h 320"/>
                  <a:gd name="T74" fmla="*/ 148 w 258"/>
                  <a:gd name="T75" fmla="*/ 158 h 320"/>
                  <a:gd name="T76" fmla="*/ 129 w 258"/>
                  <a:gd name="T77" fmla="*/ 166 h 320"/>
                  <a:gd name="T78" fmla="*/ 113 w 258"/>
                  <a:gd name="T79" fmla="*/ 176 h 320"/>
                  <a:gd name="T80" fmla="*/ 100 w 258"/>
                  <a:gd name="T81" fmla="*/ 190 h 320"/>
                  <a:gd name="T82" fmla="*/ 90 w 258"/>
                  <a:gd name="T83" fmla="*/ 207 h 320"/>
                  <a:gd name="T84" fmla="*/ 85 w 258"/>
                  <a:gd name="T85" fmla="*/ 224 h 320"/>
                  <a:gd name="T86" fmla="*/ 82 w 258"/>
                  <a:gd name="T87" fmla="*/ 242 h 320"/>
                  <a:gd name="T88" fmla="*/ 82 w 258"/>
                  <a:gd name="T89" fmla="*/ 260 h 320"/>
                  <a:gd name="T90" fmla="*/ 82 w 258"/>
                  <a:gd name="T91" fmla="*/ 279 h 320"/>
                  <a:gd name="T92" fmla="*/ 84 w 258"/>
                  <a:gd name="T93" fmla="*/ 293 h 320"/>
                  <a:gd name="T94" fmla="*/ 86 w 258"/>
                  <a:gd name="T95" fmla="*/ 306 h 320"/>
                  <a:gd name="T96" fmla="*/ 88 w 258"/>
                  <a:gd name="T97" fmla="*/ 315 h 320"/>
                  <a:gd name="T98" fmla="*/ 88 w 258"/>
                  <a:gd name="T99" fmla="*/ 319 h 320"/>
                  <a:gd name="T100" fmla="*/ 1 w 258"/>
                  <a:gd name="T101" fmla="*/ 304 h 3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8" h="320">
                    <a:moveTo>
                      <a:pt x="1" y="304"/>
                    </a:moveTo>
                    <a:lnTo>
                      <a:pt x="1" y="300"/>
                    </a:lnTo>
                    <a:lnTo>
                      <a:pt x="0" y="288"/>
                    </a:lnTo>
                    <a:lnTo>
                      <a:pt x="0" y="271"/>
                    </a:lnTo>
                    <a:lnTo>
                      <a:pt x="0" y="249"/>
                    </a:lnTo>
                    <a:lnTo>
                      <a:pt x="0" y="226"/>
                    </a:lnTo>
                    <a:lnTo>
                      <a:pt x="4" y="203"/>
                    </a:lnTo>
                    <a:lnTo>
                      <a:pt x="11" y="182"/>
                    </a:lnTo>
                    <a:lnTo>
                      <a:pt x="22" y="165"/>
                    </a:lnTo>
                    <a:lnTo>
                      <a:pt x="35" y="152"/>
                    </a:lnTo>
                    <a:lnTo>
                      <a:pt x="50" y="143"/>
                    </a:lnTo>
                    <a:lnTo>
                      <a:pt x="66" y="135"/>
                    </a:lnTo>
                    <a:lnTo>
                      <a:pt x="82" y="128"/>
                    </a:lnTo>
                    <a:lnTo>
                      <a:pt x="99" y="120"/>
                    </a:lnTo>
                    <a:lnTo>
                      <a:pt x="113" y="108"/>
                    </a:lnTo>
                    <a:lnTo>
                      <a:pt x="127" y="92"/>
                    </a:lnTo>
                    <a:lnTo>
                      <a:pt x="138" y="68"/>
                    </a:lnTo>
                    <a:lnTo>
                      <a:pt x="145" y="48"/>
                    </a:lnTo>
                    <a:lnTo>
                      <a:pt x="151" y="34"/>
                    </a:lnTo>
                    <a:lnTo>
                      <a:pt x="154" y="21"/>
                    </a:lnTo>
                    <a:lnTo>
                      <a:pt x="158" y="12"/>
                    </a:lnTo>
                    <a:lnTo>
                      <a:pt x="160" y="6"/>
                    </a:lnTo>
                    <a:lnTo>
                      <a:pt x="161" y="2"/>
                    </a:lnTo>
                    <a:lnTo>
                      <a:pt x="162" y="0"/>
                    </a:lnTo>
                    <a:lnTo>
                      <a:pt x="257" y="17"/>
                    </a:lnTo>
                    <a:lnTo>
                      <a:pt x="256" y="21"/>
                    </a:lnTo>
                    <a:lnTo>
                      <a:pt x="253" y="33"/>
                    </a:lnTo>
                    <a:lnTo>
                      <a:pt x="249" y="48"/>
                    </a:lnTo>
                    <a:lnTo>
                      <a:pt x="244" y="68"/>
                    </a:lnTo>
                    <a:lnTo>
                      <a:pt x="237" y="88"/>
                    </a:lnTo>
                    <a:lnTo>
                      <a:pt x="230" y="108"/>
                    </a:lnTo>
                    <a:lnTo>
                      <a:pt x="221" y="124"/>
                    </a:lnTo>
                    <a:lnTo>
                      <a:pt x="211" y="134"/>
                    </a:lnTo>
                    <a:lnTo>
                      <a:pt x="199" y="141"/>
                    </a:lnTo>
                    <a:lnTo>
                      <a:pt x="183" y="146"/>
                    </a:lnTo>
                    <a:lnTo>
                      <a:pt x="166" y="152"/>
                    </a:lnTo>
                    <a:lnTo>
                      <a:pt x="148" y="158"/>
                    </a:lnTo>
                    <a:lnTo>
                      <a:pt x="129" y="166"/>
                    </a:lnTo>
                    <a:lnTo>
                      <a:pt x="113" y="176"/>
                    </a:lnTo>
                    <a:lnTo>
                      <a:pt x="100" y="190"/>
                    </a:lnTo>
                    <a:lnTo>
                      <a:pt x="90" y="207"/>
                    </a:lnTo>
                    <a:lnTo>
                      <a:pt x="85" y="224"/>
                    </a:lnTo>
                    <a:lnTo>
                      <a:pt x="82" y="242"/>
                    </a:lnTo>
                    <a:lnTo>
                      <a:pt x="82" y="260"/>
                    </a:lnTo>
                    <a:lnTo>
                      <a:pt x="82" y="279"/>
                    </a:lnTo>
                    <a:lnTo>
                      <a:pt x="84" y="293"/>
                    </a:lnTo>
                    <a:lnTo>
                      <a:pt x="86" y="306"/>
                    </a:lnTo>
                    <a:lnTo>
                      <a:pt x="88" y="315"/>
                    </a:lnTo>
                    <a:lnTo>
                      <a:pt x="88" y="319"/>
                    </a:lnTo>
                    <a:lnTo>
                      <a:pt x="1" y="304"/>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6" name="Freeform 51">
                <a:extLst>
                  <a:ext uri="{FF2B5EF4-FFF2-40B4-BE49-F238E27FC236}">
                    <a16:creationId xmlns:a16="http://schemas.microsoft.com/office/drawing/2014/main" id="{32FA282D-0E10-5EDF-B341-8473D3A034A6}"/>
                  </a:ext>
                </a:extLst>
              </p:cNvPr>
              <p:cNvSpPr>
                <a:spLocks/>
              </p:cNvSpPr>
              <p:nvPr/>
            </p:nvSpPr>
            <p:spPr bwMode="auto">
              <a:xfrm>
                <a:off x="1767" y="3076"/>
                <a:ext cx="122" cy="55"/>
              </a:xfrm>
              <a:custGeom>
                <a:avLst/>
                <a:gdLst>
                  <a:gd name="T0" fmla="*/ 64 w 122"/>
                  <a:gd name="T1" fmla="*/ 51 h 55"/>
                  <a:gd name="T2" fmla="*/ 75 w 122"/>
                  <a:gd name="T3" fmla="*/ 48 h 55"/>
                  <a:gd name="T4" fmla="*/ 87 w 122"/>
                  <a:gd name="T5" fmla="*/ 45 h 55"/>
                  <a:gd name="T6" fmla="*/ 96 w 122"/>
                  <a:gd name="T7" fmla="*/ 40 h 55"/>
                  <a:gd name="T8" fmla="*/ 105 w 122"/>
                  <a:gd name="T9" fmla="*/ 36 h 55"/>
                  <a:gd name="T10" fmla="*/ 112 w 122"/>
                  <a:gd name="T11" fmla="*/ 30 h 55"/>
                  <a:gd name="T12" fmla="*/ 117 w 122"/>
                  <a:gd name="T13" fmla="*/ 25 h 55"/>
                  <a:gd name="T14" fmla="*/ 120 w 122"/>
                  <a:gd name="T15" fmla="*/ 20 h 55"/>
                  <a:gd name="T16" fmla="*/ 121 w 122"/>
                  <a:gd name="T17" fmla="*/ 14 h 55"/>
                  <a:gd name="T18" fmla="*/ 119 w 122"/>
                  <a:gd name="T19" fmla="*/ 10 h 55"/>
                  <a:gd name="T20" fmla="*/ 115 w 122"/>
                  <a:gd name="T21" fmla="*/ 6 h 55"/>
                  <a:gd name="T22" fmla="*/ 108 w 122"/>
                  <a:gd name="T23" fmla="*/ 3 h 55"/>
                  <a:gd name="T24" fmla="*/ 100 w 122"/>
                  <a:gd name="T25" fmla="*/ 1 h 55"/>
                  <a:gd name="T26" fmla="*/ 91 w 122"/>
                  <a:gd name="T27" fmla="*/ 0 h 55"/>
                  <a:gd name="T28" fmla="*/ 80 w 122"/>
                  <a:gd name="T29" fmla="*/ 0 h 55"/>
                  <a:gd name="T30" fmla="*/ 69 w 122"/>
                  <a:gd name="T31" fmla="*/ 0 h 55"/>
                  <a:gd name="T32" fmla="*/ 56 w 122"/>
                  <a:gd name="T33" fmla="*/ 2 h 55"/>
                  <a:gd name="T34" fmla="*/ 45 w 122"/>
                  <a:gd name="T35" fmla="*/ 5 h 55"/>
                  <a:gd name="T36" fmla="*/ 33 w 122"/>
                  <a:gd name="T37" fmla="*/ 9 h 55"/>
                  <a:gd name="T38" fmla="*/ 24 w 122"/>
                  <a:gd name="T39" fmla="*/ 13 h 55"/>
                  <a:gd name="T40" fmla="*/ 15 w 122"/>
                  <a:gd name="T41" fmla="*/ 18 h 55"/>
                  <a:gd name="T42" fmla="*/ 8 w 122"/>
                  <a:gd name="T43" fmla="*/ 22 h 55"/>
                  <a:gd name="T44" fmla="*/ 3 w 122"/>
                  <a:gd name="T45" fmla="*/ 28 h 55"/>
                  <a:gd name="T46" fmla="*/ 0 w 122"/>
                  <a:gd name="T47" fmla="*/ 33 h 55"/>
                  <a:gd name="T48" fmla="*/ 0 w 122"/>
                  <a:gd name="T49" fmla="*/ 38 h 55"/>
                  <a:gd name="T50" fmla="*/ 1 w 122"/>
                  <a:gd name="T51" fmla="*/ 43 h 55"/>
                  <a:gd name="T52" fmla="*/ 5 w 122"/>
                  <a:gd name="T53" fmla="*/ 47 h 55"/>
                  <a:gd name="T54" fmla="*/ 12 w 122"/>
                  <a:gd name="T55" fmla="*/ 50 h 55"/>
                  <a:gd name="T56" fmla="*/ 20 w 122"/>
                  <a:gd name="T57" fmla="*/ 52 h 55"/>
                  <a:gd name="T58" fmla="*/ 29 w 122"/>
                  <a:gd name="T59" fmla="*/ 54 h 55"/>
                  <a:gd name="T60" fmla="*/ 40 w 122"/>
                  <a:gd name="T61" fmla="*/ 54 h 55"/>
                  <a:gd name="T62" fmla="*/ 51 w 122"/>
                  <a:gd name="T63" fmla="*/ 52 h 55"/>
                  <a:gd name="T64" fmla="*/ 64 w 122"/>
                  <a:gd name="T65" fmla="*/ 51 h 5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2" h="55">
                    <a:moveTo>
                      <a:pt x="64" y="51"/>
                    </a:moveTo>
                    <a:lnTo>
                      <a:pt x="75" y="48"/>
                    </a:lnTo>
                    <a:lnTo>
                      <a:pt x="87" y="45"/>
                    </a:lnTo>
                    <a:lnTo>
                      <a:pt x="96" y="40"/>
                    </a:lnTo>
                    <a:lnTo>
                      <a:pt x="105" y="36"/>
                    </a:lnTo>
                    <a:lnTo>
                      <a:pt x="112" y="30"/>
                    </a:lnTo>
                    <a:lnTo>
                      <a:pt x="117" y="25"/>
                    </a:lnTo>
                    <a:lnTo>
                      <a:pt x="120" y="20"/>
                    </a:lnTo>
                    <a:lnTo>
                      <a:pt x="121" y="14"/>
                    </a:lnTo>
                    <a:lnTo>
                      <a:pt x="119" y="10"/>
                    </a:lnTo>
                    <a:lnTo>
                      <a:pt x="115" y="6"/>
                    </a:lnTo>
                    <a:lnTo>
                      <a:pt x="108" y="3"/>
                    </a:lnTo>
                    <a:lnTo>
                      <a:pt x="100" y="1"/>
                    </a:lnTo>
                    <a:lnTo>
                      <a:pt x="91" y="0"/>
                    </a:lnTo>
                    <a:lnTo>
                      <a:pt x="80" y="0"/>
                    </a:lnTo>
                    <a:lnTo>
                      <a:pt x="69" y="0"/>
                    </a:lnTo>
                    <a:lnTo>
                      <a:pt x="56" y="2"/>
                    </a:lnTo>
                    <a:lnTo>
                      <a:pt x="45" y="5"/>
                    </a:lnTo>
                    <a:lnTo>
                      <a:pt x="33" y="9"/>
                    </a:lnTo>
                    <a:lnTo>
                      <a:pt x="24" y="13"/>
                    </a:lnTo>
                    <a:lnTo>
                      <a:pt x="15" y="18"/>
                    </a:lnTo>
                    <a:lnTo>
                      <a:pt x="8" y="22"/>
                    </a:lnTo>
                    <a:lnTo>
                      <a:pt x="3" y="28"/>
                    </a:lnTo>
                    <a:lnTo>
                      <a:pt x="0" y="33"/>
                    </a:lnTo>
                    <a:lnTo>
                      <a:pt x="0" y="38"/>
                    </a:lnTo>
                    <a:lnTo>
                      <a:pt x="1" y="43"/>
                    </a:lnTo>
                    <a:lnTo>
                      <a:pt x="5" y="47"/>
                    </a:lnTo>
                    <a:lnTo>
                      <a:pt x="12" y="50"/>
                    </a:lnTo>
                    <a:lnTo>
                      <a:pt x="20" y="52"/>
                    </a:lnTo>
                    <a:lnTo>
                      <a:pt x="29" y="54"/>
                    </a:lnTo>
                    <a:lnTo>
                      <a:pt x="40" y="54"/>
                    </a:lnTo>
                    <a:lnTo>
                      <a:pt x="51" y="52"/>
                    </a:lnTo>
                    <a:lnTo>
                      <a:pt x="64" y="5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7" name="Freeform 52">
                <a:extLst>
                  <a:ext uri="{FF2B5EF4-FFF2-40B4-BE49-F238E27FC236}">
                    <a16:creationId xmlns:a16="http://schemas.microsoft.com/office/drawing/2014/main" id="{C4CC3621-C3B8-9C8C-2DA0-5378486E18DF}"/>
                  </a:ext>
                </a:extLst>
              </p:cNvPr>
              <p:cNvSpPr>
                <a:spLocks/>
              </p:cNvSpPr>
              <p:nvPr/>
            </p:nvSpPr>
            <p:spPr bwMode="auto">
              <a:xfrm>
                <a:off x="1777" y="3080"/>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8" name="Freeform 53">
                <a:extLst>
                  <a:ext uri="{FF2B5EF4-FFF2-40B4-BE49-F238E27FC236}">
                    <a16:creationId xmlns:a16="http://schemas.microsoft.com/office/drawing/2014/main" id="{E5FFF2A2-44F6-1F8F-71DF-22DC6EF9BA8D}"/>
                  </a:ext>
                </a:extLst>
              </p:cNvPr>
              <p:cNvSpPr>
                <a:spLocks/>
              </p:cNvSpPr>
              <p:nvPr/>
            </p:nvSpPr>
            <p:spPr bwMode="auto">
              <a:xfrm>
                <a:off x="1869" y="2944"/>
                <a:ext cx="27" cy="40"/>
              </a:xfrm>
              <a:custGeom>
                <a:avLst/>
                <a:gdLst>
                  <a:gd name="T0" fmla="*/ 3 w 27"/>
                  <a:gd name="T1" fmla="*/ 14 h 40"/>
                  <a:gd name="T2" fmla="*/ 1 w 27"/>
                  <a:gd name="T3" fmla="*/ 17 h 40"/>
                  <a:gd name="T4" fmla="*/ 1 w 27"/>
                  <a:gd name="T5" fmla="*/ 21 h 40"/>
                  <a:gd name="T6" fmla="*/ 0 w 27"/>
                  <a:gd name="T7" fmla="*/ 25 h 40"/>
                  <a:gd name="T8" fmla="*/ 0 w 27"/>
                  <a:gd name="T9" fmla="*/ 28 h 40"/>
                  <a:gd name="T10" fmla="*/ 1 w 27"/>
                  <a:gd name="T11" fmla="*/ 31 h 40"/>
                  <a:gd name="T12" fmla="*/ 2 w 27"/>
                  <a:gd name="T13" fmla="*/ 34 h 40"/>
                  <a:gd name="T14" fmla="*/ 3 w 27"/>
                  <a:gd name="T15" fmla="*/ 36 h 40"/>
                  <a:gd name="T16" fmla="*/ 5 w 27"/>
                  <a:gd name="T17" fmla="*/ 37 h 40"/>
                  <a:gd name="T18" fmla="*/ 7 w 27"/>
                  <a:gd name="T19" fmla="*/ 39 h 40"/>
                  <a:gd name="T20" fmla="*/ 9 w 27"/>
                  <a:gd name="T21" fmla="*/ 39 h 40"/>
                  <a:gd name="T22" fmla="*/ 12 w 27"/>
                  <a:gd name="T23" fmla="*/ 37 h 40"/>
                  <a:gd name="T24" fmla="*/ 14 w 27"/>
                  <a:gd name="T25" fmla="*/ 36 h 40"/>
                  <a:gd name="T26" fmla="*/ 17 w 27"/>
                  <a:gd name="T27" fmla="*/ 34 h 40"/>
                  <a:gd name="T28" fmla="*/ 19 w 27"/>
                  <a:gd name="T29" fmla="*/ 31 h 40"/>
                  <a:gd name="T30" fmla="*/ 21 w 27"/>
                  <a:gd name="T31" fmla="*/ 27 h 40"/>
                  <a:gd name="T32" fmla="*/ 23 w 27"/>
                  <a:gd name="T33" fmla="*/ 24 h 40"/>
                  <a:gd name="T34" fmla="*/ 24 w 27"/>
                  <a:gd name="T35" fmla="*/ 21 h 40"/>
                  <a:gd name="T36" fmla="*/ 25 w 27"/>
                  <a:gd name="T37" fmla="*/ 16 h 40"/>
                  <a:gd name="T38" fmla="*/ 26 w 27"/>
                  <a:gd name="T39" fmla="*/ 13 h 40"/>
                  <a:gd name="T40" fmla="*/ 25 w 27"/>
                  <a:gd name="T41" fmla="*/ 10 h 40"/>
                  <a:gd name="T42" fmla="*/ 25 w 27"/>
                  <a:gd name="T43" fmla="*/ 6 h 40"/>
                  <a:gd name="T44" fmla="*/ 24 w 27"/>
                  <a:gd name="T45" fmla="*/ 4 h 40"/>
                  <a:gd name="T46" fmla="*/ 23 w 27"/>
                  <a:gd name="T47" fmla="*/ 2 h 40"/>
                  <a:gd name="T48" fmla="*/ 21 w 27"/>
                  <a:gd name="T49" fmla="*/ 1 h 40"/>
                  <a:gd name="T50" fmla="*/ 19 w 27"/>
                  <a:gd name="T51" fmla="*/ 0 h 40"/>
                  <a:gd name="T52" fmla="*/ 16 w 27"/>
                  <a:gd name="T53" fmla="*/ 0 h 40"/>
                  <a:gd name="T54" fmla="*/ 14 w 27"/>
                  <a:gd name="T55" fmla="*/ 1 h 40"/>
                  <a:gd name="T56" fmla="*/ 11 w 27"/>
                  <a:gd name="T57" fmla="*/ 2 h 40"/>
                  <a:gd name="T58" fmla="*/ 9 w 27"/>
                  <a:gd name="T59" fmla="*/ 4 h 40"/>
                  <a:gd name="T60" fmla="*/ 7 w 27"/>
                  <a:gd name="T61" fmla="*/ 7 h 40"/>
                  <a:gd name="T62" fmla="*/ 5 w 27"/>
                  <a:gd name="T63" fmla="*/ 10 h 40"/>
                  <a:gd name="T64" fmla="*/ 3 w 27"/>
                  <a:gd name="T65" fmla="*/ 14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 h="40">
                    <a:moveTo>
                      <a:pt x="3" y="14"/>
                    </a:moveTo>
                    <a:lnTo>
                      <a:pt x="1" y="17"/>
                    </a:lnTo>
                    <a:lnTo>
                      <a:pt x="1" y="21"/>
                    </a:lnTo>
                    <a:lnTo>
                      <a:pt x="0" y="25"/>
                    </a:lnTo>
                    <a:lnTo>
                      <a:pt x="0" y="28"/>
                    </a:lnTo>
                    <a:lnTo>
                      <a:pt x="1" y="31"/>
                    </a:lnTo>
                    <a:lnTo>
                      <a:pt x="2" y="34"/>
                    </a:lnTo>
                    <a:lnTo>
                      <a:pt x="3" y="36"/>
                    </a:lnTo>
                    <a:lnTo>
                      <a:pt x="5" y="37"/>
                    </a:lnTo>
                    <a:lnTo>
                      <a:pt x="7" y="39"/>
                    </a:lnTo>
                    <a:lnTo>
                      <a:pt x="9" y="39"/>
                    </a:lnTo>
                    <a:lnTo>
                      <a:pt x="12" y="37"/>
                    </a:lnTo>
                    <a:lnTo>
                      <a:pt x="14" y="36"/>
                    </a:lnTo>
                    <a:lnTo>
                      <a:pt x="17" y="34"/>
                    </a:lnTo>
                    <a:lnTo>
                      <a:pt x="19" y="31"/>
                    </a:lnTo>
                    <a:lnTo>
                      <a:pt x="21" y="27"/>
                    </a:lnTo>
                    <a:lnTo>
                      <a:pt x="23" y="24"/>
                    </a:lnTo>
                    <a:lnTo>
                      <a:pt x="24" y="21"/>
                    </a:lnTo>
                    <a:lnTo>
                      <a:pt x="25" y="16"/>
                    </a:lnTo>
                    <a:lnTo>
                      <a:pt x="26" y="13"/>
                    </a:lnTo>
                    <a:lnTo>
                      <a:pt x="25" y="10"/>
                    </a:lnTo>
                    <a:lnTo>
                      <a:pt x="25" y="6"/>
                    </a:lnTo>
                    <a:lnTo>
                      <a:pt x="24" y="4"/>
                    </a:lnTo>
                    <a:lnTo>
                      <a:pt x="23" y="2"/>
                    </a:lnTo>
                    <a:lnTo>
                      <a:pt x="21" y="1"/>
                    </a:lnTo>
                    <a:lnTo>
                      <a:pt x="19" y="0"/>
                    </a:lnTo>
                    <a:lnTo>
                      <a:pt x="16" y="0"/>
                    </a:lnTo>
                    <a:lnTo>
                      <a:pt x="14" y="1"/>
                    </a:lnTo>
                    <a:lnTo>
                      <a:pt x="11" y="2"/>
                    </a:lnTo>
                    <a:lnTo>
                      <a:pt x="9" y="4"/>
                    </a:lnTo>
                    <a:lnTo>
                      <a:pt x="7" y="7"/>
                    </a:lnTo>
                    <a:lnTo>
                      <a:pt x="5" y="10"/>
                    </a:lnTo>
                    <a:lnTo>
                      <a:pt x="3"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9" name="Freeform 54">
                <a:extLst>
                  <a:ext uri="{FF2B5EF4-FFF2-40B4-BE49-F238E27FC236}">
                    <a16:creationId xmlns:a16="http://schemas.microsoft.com/office/drawing/2014/main" id="{E4AC6001-49AD-C71E-3AF7-12E7156DE5E5}"/>
                  </a:ext>
                </a:extLst>
              </p:cNvPr>
              <p:cNvSpPr>
                <a:spLocks/>
              </p:cNvSpPr>
              <p:nvPr/>
            </p:nvSpPr>
            <p:spPr bwMode="auto">
              <a:xfrm>
                <a:off x="1950" y="2956"/>
                <a:ext cx="26" cy="40"/>
              </a:xfrm>
              <a:custGeom>
                <a:avLst/>
                <a:gdLst>
                  <a:gd name="T0" fmla="*/ 2 w 26"/>
                  <a:gd name="T1" fmla="*/ 13 h 40"/>
                  <a:gd name="T2" fmla="*/ 1 w 26"/>
                  <a:gd name="T3" fmla="*/ 18 h 40"/>
                  <a:gd name="T4" fmla="*/ 0 w 26"/>
                  <a:gd name="T5" fmla="*/ 21 h 40"/>
                  <a:gd name="T6" fmla="*/ 0 w 26"/>
                  <a:gd name="T7" fmla="*/ 26 h 40"/>
                  <a:gd name="T8" fmla="*/ 0 w 26"/>
                  <a:gd name="T9" fmla="*/ 29 h 40"/>
                  <a:gd name="T10" fmla="*/ 0 w 26"/>
                  <a:gd name="T11" fmla="*/ 32 h 40"/>
                  <a:gd name="T12" fmla="*/ 1 w 26"/>
                  <a:gd name="T13" fmla="*/ 35 h 40"/>
                  <a:gd name="T14" fmla="*/ 2 w 26"/>
                  <a:gd name="T15" fmla="*/ 36 h 40"/>
                  <a:gd name="T16" fmla="*/ 4 w 26"/>
                  <a:gd name="T17" fmla="*/ 39 h 40"/>
                  <a:gd name="T18" fmla="*/ 6 w 26"/>
                  <a:gd name="T19" fmla="*/ 39 h 40"/>
                  <a:gd name="T20" fmla="*/ 8 w 26"/>
                  <a:gd name="T21" fmla="*/ 39 h 40"/>
                  <a:gd name="T22" fmla="*/ 11 w 26"/>
                  <a:gd name="T23" fmla="*/ 39 h 40"/>
                  <a:gd name="T24" fmla="*/ 13 w 26"/>
                  <a:gd name="T25" fmla="*/ 36 h 40"/>
                  <a:gd name="T26" fmla="*/ 16 w 26"/>
                  <a:gd name="T27" fmla="*/ 34 h 40"/>
                  <a:gd name="T28" fmla="*/ 18 w 26"/>
                  <a:gd name="T29" fmla="*/ 32 h 40"/>
                  <a:gd name="T30" fmla="*/ 20 w 26"/>
                  <a:gd name="T31" fmla="*/ 28 h 40"/>
                  <a:gd name="T32" fmla="*/ 22 w 26"/>
                  <a:gd name="T33" fmla="*/ 25 h 40"/>
                  <a:gd name="T34" fmla="*/ 23 w 26"/>
                  <a:gd name="T35" fmla="*/ 21 h 40"/>
                  <a:gd name="T36" fmla="*/ 24 w 26"/>
                  <a:gd name="T37" fmla="*/ 17 h 40"/>
                  <a:gd name="T38" fmla="*/ 25 w 26"/>
                  <a:gd name="T39" fmla="*/ 13 h 40"/>
                  <a:gd name="T40" fmla="*/ 25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1 w 26"/>
                  <a:gd name="T57" fmla="*/ 2 h 40"/>
                  <a:gd name="T58" fmla="*/ 8 w 26"/>
                  <a:gd name="T59" fmla="*/ 4 h 40"/>
                  <a:gd name="T60" fmla="*/ 6 w 26"/>
                  <a:gd name="T61" fmla="*/ 6 h 40"/>
                  <a:gd name="T62" fmla="*/ 4 w 26"/>
                  <a:gd name="T63" fmla="*/ 10 h 40"/>
                  <a:gd name="T64" fmla="*/ 2 w 26"/>
                  <a:gd name="T65" fmla="*/ 13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3"/>
                    </a:moveTo>
                    <a:lnTo>
                      <a:pt x="1" y="18"/>
                    </a:lnTo>
                    <a:lnTo>
                      <a:pt x="0" y="21"/>
                    </a:lnTo>
                    <a:lnTo>
                      <a:pt x="0" y="26"/>
                    </a:lnTo>
                    <a:lnTo>
                      <a:pt x="0" y="29"/>
                    </a:lnTo>
                    <a:lnTo>
                      <a:pt x="0" y="32"/>
                    </a:lnTo>
                    <a:lnTo>
                      <a:pt x="1" y="35"/>
                    </a:lnTo>
                    <a:lnTo>
                      <a:pt x="2" y="36"/>
                    </a:lnTo>
                    <a:lnTo>
                      <a:pt x="4" y="39"/>
                    </a:lnTo>
                    <a:lnTo>
                      <a:pt x="6" y="39"/>
                    </a:lnTo>
                    <a:lnTo>
                      <a:pt x="8" y="39"/>
                    </a:lnTo>
                    <a:lnTo>
                      <a:pt x="11" y="39"/>
                    </a:lnTo>
                    <a:lnTo>
                      <a:pt x="13" y="36"/>
                    </a:lnTo>
                    <a:lnTo>
                      <a:pt x="16" y="34"/>
                    </a:lnTo>
                    <a:lnTo>
                      <a:pt x="18" y="32"/>
                    </a:lnTo>
                    <a:lnTo>
                      <a:pt x="20" y="28"/>
                    </a:lnTo>
                    <a:lnTo>
                      <a:pt x="22" y="25"/>
                    </a:lnTo>
                    <a:lnTo>
                      <a:pt x="23" y="21"/>
                    </a:lnTo>
                    <a:lnTo>
                      <a:pt x="24" y="17"/>
                    </a:lnTo>
                    <a:lnTo>
                      <a:pt x="25" y="13"/>
                    </a:lnTo>
                    <a:lnTo>
                      <a:pt x="25" y="10"/>
                    </a:lnTo>
                    <a:lnTo>
                      <a:pt x="24" y="6"/>
                    </a:lnTo>
                    <a:lnTo>
                      <a:pt x="23" y="4"/>
                    </a:lnTo>
                    <a:lnTo>
                      <a:pt x="22" y="2"/>
                    </a:lnTo>
                    <a:lnTo>
                      <a:pt x="20" y="1"/>
                    </a:lnTo>
                    <a:lnTo>
                      <a:pt x="18" y="0"/>
                    </a:lnTo>
                    <a:lnTo>
                      <a:pt x="15" y="0"/>
                    </a:lnTo>
                    <a:lnTo>
                      <a:pt x="13" y="1"/>
                    </a:lnTo>
                    <a:lnTo>
                      <a:pt x="11" y="2"/>
                    </a:lnTo>
                    <a:lnTo>
                      <a:pt x="8" y="4"/>
                    </a:lnTo>
                    <a:lnTo>
                      <a:pt x="6" y="6"/>
                    </a:lnTo>
                    <a:lnTo>
                      <a:pt x="4" y="10"/>
                    </a:lnTo>
                    <a:lnTo>
                      <a:pt x="2"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0" name="Freeform 55">
                <a:extLst>
                  <a:ext uri="{FF2B5EF4-FFF2-40B4-BE49-F238E27FC236}">
                    <a16:creationId xmlns:a16="http://schemas.microsoft.com/office/drawing/2014/main" id="{A85B0548-0FC3-46C7-9FB9-C5C3EEA02682}"/>
                  </a:ext>
                </a:extLst>
              </p:cNvPr>
              <p:cNvSpPr>
                <a:spLocks/>
              </p:cNvSpPr>
              <p:nvPr/>
            </p:nvSpPr>
            <p:spPr bwMode="auto">
              <a:xfrm>
                <a:off x="1788" y="3248"/>
                <a:ext cx="23" cy="43"/>
              </a:xfrm>
              <a:custGeom>
                <a:avLst/>
                <a:gdLst>
                  <a:gd name="T0" fmla="*/ 0 w 23"/>
                  <a:gd name="T1" fmla="*/ 20 h 43"/>
                  <a:gd name="T2" fmla="*/ 0 w 23"/>
                  <a:gd name="T3" fmla="*/ 23 h 43"/>
                  <a:gd name="T4" fmla="*/ 0 w 23"/>
                  <a:gd name="T5" fmla="*/ 28 h 43"/>
                  <a:gd name="T6" fmla="*/ 1 w 23"/>
                  <a:gd name="T7" fmla="*/ 31 h 43"/>
                  <a:gd name="T8" fmla="*/ 2 w 23"/>
                  <a:gd name="T9" fmla="*/ 35 h 43"/>
                  <a:gd name="T10" fmla="*/ 3 w 23"/>
                  <a:gd name="T11" fmla="*/ 37 h 43"/>
                  <a:gd name="T12" fmla="*/ 5 w 23"/>
                  <a:gd name="T13" fmla="*/ 39 h 43"/>
                  <a:gd name="T14" fmla="*/ 7 w 23"/>
                  <a:gd name="T15" fmla="*/ 40 h 43"/>
                  <a:gd name="T16" fmla="*/ 9 w 23"/>
                  <a:gd name="T17" fmla="*/ 42 h 43"/>
                  <a:gd name="T18" fmla="*/ 12 w 23"/>
                  <a:gd name="T19" fmla="*/ 42 h 43"/>
                  <a:gd name="T20" fmla="*/ 14 w 23"/>
                  <a:gd name="T21" fmla="*/ 40 h 43"/>
                  <a:gd name="T22" fmla="*/ 16 w 23"/>
                  <a:gd name="T23" fmla="*/ 38 h 43"/>
                  <a:gd name="T24" fmla="*/ 18 w 23"/>
                  <a:gd name="T25" fmla="*/ 36 h 43"/>
                  <a:gd name="T26" fmla="*/ 19 w 23"/>
                  <a:gd name="T27" fmla="*/ 32 h 43"/>
                  <a:gd name="T28" fmla="*/ 20 w 23"/>
                  <a:gd name="T29" fmla="*/ 29 h 43"/>
                  <a:gd name="T30" fmla="*/ 21 w 23"/>
                  <a:gd name="T31" fmla="*/ 26 h 43"/>
                  <a:gd name="T32" fmla="*/ 22 w 23"/>
                  <a:gd name="T33" fmla="*/ 21 h 43"/>
                  <a:gd name="T34" fmla="*/ 21 w 23"/>
                  <a:gd name="T35" fmla="*/ 17 h 43"/>
                  <a:gd name="T36" fmla="*/ 21 w 23"/>
                  <a:gd name="T37" fmla="*/ 13 h 43"/>
                  <a:gd name="T38" fmla="*/ 20 w 23"/>
                  <a:gd name="T39" fmla="*/ 10 h 43"/>
                  <a:gd name="T40" fmla="*/ 19 w 23"/>
                  <a:gd name="T41" fmla="*/ 6 h 43"/>
                  <a:gd name="T42" fmla="*/ 18 w 23"/>
                  <a:gd name="T43" fmla="*/ 4 h 43"/>
                  <a:gd name="T44" fmla="*/ 16 w 23"/>
                  <a:gd name="T45" fmla="*/ 2 h 43"/>
                  <a:gd name="T46" fmla="*/ 14 w 23"/>
                  <a:gd name="T47" fmla="*/ 1 h 43"/>
                  <a:gd name="T48" fmla="*/ 12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3"/>
                    </a:lnTo>
                    <a:lnTo>
                      <a:pt x="0" y="28"/>
                    </a:lnTo>
                    <a:lnTo>
                      <a:pt x="1" y="31"/>
                    </a:lnTo>
                    <a:lnTo>
                      <a:pt x="2" y="35"/>
                    </a:lnTo>
                    <a:lnTo>
                      <a:pt x="3" y="37"/>
                    </a:lnTo>
                    <a:lnTo>
                      <a:pt x="5" y="39"/>
                    </a:lnTo>
                    <a:lnTo>
                      <a:pt x="7" y="40"/>
                    </a:lnTo>
                    <a:lnTo>
                      <a:pt x="9" y="42"/>
                    </a:lnTo>
                    <a:lnTo>
                      <a:pt x="12" y="42"/>
                    </a:lnTo>
                    <a:lnTo>
                      <a:pt x="14" y="40"/>
                    </a:lnTo>
                    <a:lnTo>
                      <a:pt x="16" y="38"/>
                    </a:lnTo>
                    <a:lnTo>
                      <a:pt x="18" y="36"/>
                    </a:lnTo>
                    <a:lnTo>
                      <a:pt x="19" y="32"/>
                    </a:lnTo>
                    <a:lnTo>
                      <a:pt x="20" y="29"/>
                    </a:lnTo>
                    <a:lnTo>
                      <a:pt x="21" y="26"/>
                    </a:lnTo>
                    <a:lnTo>
                      <a:pt x="22" y="21"/>
                    </a:lnTo>
                    <a:lnTo>
                      <a:pt x="21" y="17"/>
                    </a:lnTo>
                    <a:lnTo>
                      <a:pt x="21" y="13"/>
                    </a:lnTo>
                    <a:lnTo>
                      <a:pt x="20" y="10"/>
                    </a:lnTo>
                    <a:lnTo>
                      <a:pt x="19" y="6"/>
                    </a:lnTo>
                    <a:lnTo>
                      <a:pt x="18" y="4"/>
                    </a:lnTo>
                    <a:lnTo>
                      <a:pt x="16" y="2"/>
                    </a:lnTo>
                    <a:lnTo>
                      <a:pt x="14" y="1"/>
                    </a:lnTo>
                    <a:lnTo>
                      <a:pt x="12"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1" name="Freeform 56">
                <a:extLst>
                  <a:ext uri="{FF2B5EF4-FFF2-40B4-BE49-F238E27FC236}">
                    <a16:creationId xmlns:a16="http://schemas.microsoft.com/office/drawing/2014/main" id="{F9ABE17A-ADD3-0EAD-1BA0-062CA7B96A63}"/>
                  </a:ext>
                </a:extLst>
              </p:cNvPr>
              <p:cNvSpPr>
                <a:spLocks/>
              </p:cNvSpPr>
              <p:nvPr/>
            </p:nvSpPr>
            <p:spPr bwMode="auto">
              <a:xfrm>
                <a:off x="1708" y="3234"/>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88825" name="Rectangle 57">
            <a:extLst>
              <a:ext uri="{FF2B5EF4-FFF2-40B4-BE49-F238E27FC236}">
                <a16:creationId xmlns:a16="http://schemas.microsoft.com/office/drawing/2014/main" id="{3EE2A510-E93A-5FD6-A557-E5ACD3EC1F73}"/>
              </a:ext>
            </a:extLst>
          </p:cNvPr>
          <p:cNvSpPr>
            <a:spLocks noChangeArrowheads="1"/>
          </p:cNvSpPr>
          <p:nvPr/>
        </p:nvSpPr>
        <p:spPr bwMode="auto">
          <a:xfrm>
            <a:off x="2496617" y="4900637"/>
            <a:ext cx="325410" cy="462307"/>
          </a:xfrm>
          <a:prstGeom prst="rect">
            <a:avLst/>
          </a:prstGeom>
          <a:noFill/>
          <a:ln>
            <a:noFill/>
          </a:ln>
          <a:effectLst/>
        </p:spPr>
        <p:txBody>
          <a:bodyPr wrap="none" lIns="92075" tIns="46038" rIns="92075" bIns="46038">
            <a:spAutoFit/>
          </a:bodyPr>
          <a:lstStyle/>
          <a:p>
            <a:pPr>
              <a:defRPr/>
            </a:pPr>
            <a:r>
              <a:rPr lang="en-US" b="1">
                <a:solidFill>
                  <a:srgbClr val="0000CC"/>
                </a:solidFill>
                <a:effectLst>
                  <a:outerShdw blurRad="38100" dist="38100" dir="2700000" algn="tl">
                    <a:srgbClr val="FFFFFF"/>
                  </a:outerShdw>
                </a:effectLst>
                <a:latin typeface="Cambria" panose="02040503050406030204" pitchFamily="18" charset="0"/>
                <a:ea typeface="Cambria" panose="02040503050406030204" pitchFamily="18" charset="0"/>
              </a:rPr>
              <a:t>?</a:t>
            </a:r>
          </a:p>
        </p:txBody>
      </p:sp>
      <p:sp>
        <p:nvSpPr>
          <p:cNvPr id="8218" name="Rectangle 58">
            <a:extLst>
              <a:ext uri="{FF2B5EF4-FFF2-40B4-BE49-F238E27FC236}">
                <a16:creationId xmlns:a16="http://schemas.microsoft.com/office/drawing/2014/main" id="{854249CA-8161-2282-977C-1BEFFF517054}"/>
              </a:ext>
            </a:extLst>
          </p:cNvPr>
          <p:cNvSpPr>
            <a:spLocks noChangeArrowheads="1"/>
          </p:cNvSpPr>
          <p:nvPr/>
        </p:nvSpPr>
        <p:spPr bwMode="auto">
          <a:xfrm>
            <a:off x="2293417" y="4460899"/>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latin typeface="Cambria" panose="02040503050406030204" pitchFamily="18" charset="0"/>
                <a:ea typeface="Cambria" panose="02040503050406030204" pitchFamily="18" charset="0"/>
              </a:rPr>
              <a:t>Subquery</a:t>
            </a:r>
          </a:p>
        </p:txBody>
      </p:sp>
      <p:sp>
        <p:nvSpPr>
          <p:cNvPr id="288827" name="Arc 59">
            <a:extLst>
              <a:ext uri="{FF2B5EF4-FFF2-40B4-BE49-F238E27FC236}">
                <a16:creationId xmlns:a16="http://schemas.microsoft.com/office/drawing/2014/main" id="{7A619929-5985-156B-5DB7-F5F20188A554}"/>
              </a:ext>
            </a:extLst>
          </p:cNvPr>
          <p:cNvSpPr>
            <a:spLocks/>
          </p:cNvSpPr>
          <p:nvPr/>
        </p:nvSpPr>
        <p:spPr bwMode="auto">
          <a:xfrm rot="-1980000">
            <a:off x="5970067" y="4000524"/>
            <a:ext cx="381000" cy="8001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50800" cap="rnd">
            <a:solidFill>
              <a:srgbClr val="FF505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 name="Rectangle 3">
            <a:extLst>
              <a:ext uri="{FF2B5EF4-FFF2-40B4-BE49-F238E27FC236}">
                <a16:creationId xmlns:a16="http://schemas.microsoft.com/office/drawing/2014/main" id="{553E7AB8-7881-144D-4547-A6E2B91F90E7}"/>
              </a:ext>
            </a:extLst>
          </p:cNvPr>
          <p:cNvSpPr txBox="1">
            <a:spLocks noChangeArrowheads="1"/>
          </p:cNvSpPr>
          <p:nvPr/>
        </p:nvSpPr>
        <p:spPr bwMode="auto">
          <a:xfrm>
            <a:off x="394866" y="741784"/>
            <a:ext cx="8394700" cy="1935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subquery is a query </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within</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another query.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A subquery </a:t>
            </a:r>
            <a:r>
              <a:rPr lang="en-US" alt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(aka inner query)</a:t>
            </a: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 can be placed in the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SELECT list, FROM clause,</a:t>
            </a: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WHERE clause, </a:t>
            </a:r>
            <a:r>
              <a:rPr lang="en-US" altLang="en-US" sz="2400" dirty="0">
                <a:latin typeface="Cambria" panose="02040503050406030204" pitchFamily="18" charset="0"/>
                <a:ea typeface="Cambria" panose="02040503050406030204" pitchFamily="18" charset="0"/>
                <a:cs typeface="Calibri" panose="020F0502020204030204" pitchFamily="34" charset="0"/>
              </a:rPr>
              <a:t>or</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HAVING clause</a:t>
            </a: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 of another query </a:t>
            </a:r>
            <a:r>
              <a:rPr lang="en-US" alt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(outer query).</a:t>
            </a: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4" name="Slide Number Placeholder 23">
            <a:extLst>
              <a:ext uri="{FF2B5EF4-FFF2-40B4-BE49-F238E27FC236}">
                <a16:creationId xmlns:a16="http://schemas.microsoft.com/office/drawing/2014/main" id="{A3716013-CBE5-B513-C05C-E408AD49FD3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19C2346A-8876-03CA-1175-496FBE841B9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79917771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88827"/>
                                        </p:tgtEl>
                                        <p:attrNameLst>
                                          <p:attrName>style.visibility</p:attrName>
                                        </p:attrNameLst>
                                      </p:cBhvr>
                                      <p:to>
                                        <p:strVal val="visible"/>
                                      </p:to>
                                    </p:set>
                                    <p:animEffect transition="in" filter="wipe(down)">
                                      <p:cBhvr>
                                        <p:cTn id="7" dur="500"/>
                                        <p:tgtEl>
                                          <p:spTgt spid="288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3B33FD9-0C8C-B03E-ECB2-266DB1C10950}"/>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CE2E87C6-2527-B786-3D3D-82E7518E2686}"/>
              </a:ext>
            </a:extLst>
          </p:cNvPr>
          <p:cNvSpPr>
            <a:spLocks noGrp="1" noChangeArrowheads="1"/>
          </p:cNvSpPr>
          <p:nvPr>
            <p:ph type="title"/>
          </p:nvPr>
        </p:nvSpPr>
        <p:spPr>
          <a:xfrm>
            <a:off x="433388" y="228600"/>
            <a:ext cx="8277225" cy="4540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Subqueries</a:t>
            </a:r>
          </a:p>
        </p:txBody>
      </p:sp>
      <p:sp>
        <p:nvSpPr>
          <p:cNvPr id="2" name="Rectangle 3">
            <a:extLst>
              <a:ext uri="{FF2B5EF4-FFF2-40B4-BE49-F238E27FC236}">
                <a16:creationId xmlns:a16="http://schemas.microsoft.com/office/drawing/2014/main" id="{13ED55CA-EA2F-956A-70FD-48072E4ACB4E}"/>
              </a:ext>
            </a:extLst>
          </p:cNvPr>
          <p:cNvSpPr txBox="1">
            <a:spLocks noChangeArrowheads="1"/>
          </p:cNvSpPr>
          <p:nvPr/>
        </p:nvSpPr>
        <p:spPr bwMode="auto">
          <a:xfrm>
            <a:off x="251520" y="256490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subquery </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executes once before the main (outer) query.</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result(s) of the subquery is/are used by the main query.</a:t>
            </a: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Bottom-up or inward-outward parsing</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4" name="Slide Number Placeholder 23">
            <a:extLst>
              <a:ext uri="{FF2B5EF4-FFF2-40B4-BE49-F238E27FC236}">
                <a16:creationId xmlns:a16="http://schemas.microsoft.com/office/drawing/2014/main" id="{83BDF52F-E945-95AE-4657-45D97419D271}"/>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F1A318E9-C9A3-61E4-D6C8-1137649657F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7D475F6C-C0AA-947D-4037-DEA6B14AF9A6}"/>
              </a:ext>
            </a:extLst>
          </p:cNvPr>
          <p:cNvSpPr>
            <a:spLocks noChangeArrowheads="1"/>
          </p:cNvSpPr>
          <p:nvPr/>
        </p:nvSpPr>
        <p:spPr bwMode="blackWhite">
          <a:xfrm>
            <a:off x="703402" y="921420"/>
            <a:ext cx="7161213"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 name="Rectangle 5">
            <a:extLst>
              <a:ext uri="{FF2B5EF4-FFF2-40B4-BE49-F238E27FC236}">
                <a16:creationId xmlns:a16="http://schemas.microsoft.com/office/drawing/2014/main" id="{3A664621-FFBD-415C-BB84-DE3C27763B3A}"/>
              </a:ext>
            </a:extLst>
          </p:cNvPr>
          <p:cNvSpPr>
            <a:spLocks noChangeArrowheads="1"/>
          </p:cNvSpPr>
          <p:nvPr/>
        </p:nvSpPr>
        <p:spPr bwMode="ltGray">
          <a:xfrm>
            <a:off x="3441840" y="1767558"/>
            <a:ext cx="4189412" cy="552450"/>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 name="Rectangle 6">
            <a:extLst>
              <a:ext uri="{FF2B5EF4-FFF2-40B4-BE49-F238E27FC236}">
                <a16:creationId xmlns:a16="http://schemas.microsoft.com/office/drawing/2014/main" id="{CCCE32A5-E162-65F4-F979-13A53FB351A8}"/>
              </a:ext>
            </a:extLst>
          </p:cNvPr>
          <p:cNvSpPr>
            <a:spLocks noChangeArrowheads="1"/>
          </p:cNvSpPr>
          <p:nvPr/>
        </p:nvSpPr>
        <p:spPr bwMode="blackWhite">
          <a:xfrm>
            <a:off x="825640" y="908720"/>
            <a:ext cx="7694612"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i="1" dirty="0" err="1">
                <a:solidFill>
                  <a:srgbClr val="000000"/>
                </a:solidFill>
                <a:latin typeface="Courier New" panose="02070309020205020404" pitchFamily="49" charset="0"/>
              </a:rPr>
              <a:t>select_list</a:t>
            </a:r>
            <a:r>
              <a:rPr lang="en-US" altLang="en-US" sz="1800" b="1" i="1" dirty="0">
                <a:solidFill>
                  <a:srgbClr val="000000"/>
                </a:solidFill>
                <a:latin typeface="Courier New" panose="02070309020205020404" pitchFamily="49" charset="0"/>
              </a:rPr>
              <a:t> </a:t>
            </a:r>
            <a:r>
              <a:rPr lang="en-US" altLang="en-US" sz="1800" b="1" i="1" dirty="0">
                <a:solidFill>
                  <a:srgbClr val="FF0000"/>
                </a:solidFill>
                <a:latin typeface="Courier New" panose="02070309020205020404" pitchFamily="49" charset="0"/>
              </a:rPr>
              <a:t>[subquery]</a:t>
            </a:r>
            <a:endParaRPr lang="en-US" altLang="en-US" sz="1800" b="1" dirty="0">
              <a:solidFill>
                <a:srgbClr val="FF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 </a:t>
            </a:r>
            <a:r>
              <a:rPr lang="en-US" altLang="en-US" sz="1800" b="1" i="1" dirty="0">
                <a:solidFill>
                  <a:srgbClr val="FF0000"/>
                </a:solidFill>
                <a:latin typeface="Courier New" panose="02070309020205020404" pitchFamily="49" charset="0"/>
              </a:rPr>
              <a:t>[subquery]</a:t>
            </a:r>
            <a:endParaRPr lang="en-US" altLang="en-US" sz="1800" b="1" dirty="0">
              <a:solidFill>
                <a:srgbClr val="FF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i="1" dirty="0">
                <a:solidFill>
                  <a:srgbClr val="000000"/>
                </a:solidFill>
                <a:latin typeface="Courier New" panose="02070309020205020404" pitchFamily="49" charset="0"/>
              </a:rPr>
              <a:t>expr operator</a:t>
            </a:r>
          </a:p>
          <a:p>
            <a:pPr>
              <a:spcBef>
                <a:spcPct val="0"/>
              </a:spcBef>
              <a:buFontTx/>
              <a:buNone/>
            </a:pPr>
            <a:r>
              <a:rPr lang="en-US" altLang="en-US" sz="1800" b="1" dirty="0">
                <a:solidFill>
                  <a:srgbClr val="000000"/>
                </a:solidFill>
                <a:latin typeface="Courier New" panose="02070309020205020404" pitchFamily="49" charset="0"/>
              </a:rPr>
              <a:t>		 	(SELECT	</a:t>
            </a:r>
            <a:r>
              <a:rPr lang="en-US" altLang="en-US" sz="1800" b="1" i="1" dirty="0" err="1">
                <a:solidFill>
                  <a:srgbClr val="000000"/>
                </a:solidFill>
                <a:latin typeface="Courier New" panose="02070309020205020404" pitchFamily="49" charset="0"/>
              </a:rPr>
              <a:t>select_list</a:t>
            </a:r>
            <a:endParaRPr lang="en-US" altLang="en-US" sz="1800" b="1" i="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FROM		</a:t>
            </a:r>
            <a:r>
              <a:rPr lang="en-US" altLang="en-US" sz="1800" b="1" i="1" dirty="0">
                <a:solidFill>
                  <a:srgbClr val="000000"/>
                </a:solidFill>
                <a:latin typeface="Courier New" panose="02070309020205020404" pitchFamily="49" charset="0"/>
              </a:rPr>
              <a:t>table</a:t>
            </a:r>
            <a:r>
              <a:rPr lang="en-US" altLang="en-US" sz="1800" b="1" dirty="0">
                <a:solidFill>
                  <a:srgbClr val="000000"/>
                </a:solidFill>
                <a:latin typeface="Courier New" panose="02070309020205020404" pitchFamily="49" charset="0"/>
              </a:rPr>
              <a:t>);</a:t>
            </a:r>
          </a:p>
        </p:txBody>
      </p:sp>
      <p:sp>
        <p:nvSpPr>
          <p:cNvPr id="8" name="Rectangle 2">
            <a:extLst>
              <a:ext uri="{FF2B5EF4-FFF2-40B4-BE49-F238E27FC236}">
                <a16:creationId xmlns:a16="http://schemas.microsoft.com/office/drawing/2014/main" id="{0EDADF68-7E27-C34F-427A-E20C34847955}"/>
              </a:ext>
            </a:extLst>
          </p:cNvPr>
          <p:cNvSpPr>
            <a:spLocks noChangeArrowheads="1"/>
          </p:cNvSpPr>
          <p:nvPr/>
        </p:nvSpPr>
        <p:spPr bwMode="blackWhite">
          <a:xfrm>
            <a:off x="703402" y="4009826"/>
            <a:ext cx="7470775" cy="17621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9" name="Group 3">
            <a:extLst>
              <a:ext uri="{FF2B5EF4-FFF2-40B4-BE49-F238E27FC236}">
                <a16:creationId xmlns:a16="http://schemas.microsoft.com/office/drawing/2014/main" id="{6B8169D5-53DF-A384-18DF-8BBEAB0FD189}"/>
              </a:ext>
            </a:extLst>
          </p:cNvPr>
          <p:cNvGrpSpPr>
            <a:grpSpLocks/>
          </p:cNvGrpSpPr>
          <p:nvPr/>
        </p:nvGrpSpPr>
        <p:grpSpPr bwMode="auto">
          <a:xfrm>
            <a:off x="3089415" y="4333676"/>
            <a:ext cx="4811712" cy="1379538"/>
            <a:chOff x="2101" y="1076"/>
            <a:chExt cx="3031" cy="869"/>
          </a:xfrm>
        </p:grpSpPr>
        <p:sp>
          <p:nvSpPr>
            <p:cNvPr id="10" name="Rectangle 4">
              <a:extLst>
                <a:ext uri="{FF2B5EF4-FFF2-40B4-BE49-F238E27FC236}">
                  <a16:creationId xmlns:a16="http://schemas.microsoft.com/office/drawing/2014/main" id="{FF4A0E54-E8DC-58FE-924C-7C56C5B487E1}"/>
                </a:ext>
              </a:extLst>
            </p:cNvPr>
            <p:cNvSpPr>
              <a:spLocks noChangeArrowheads="1"/>
            </p:cNvSpPr>
            <p:nvPr/>
          </p:nvSpPr>
          <p:spPr bwMode="ltGray">
            <a:xfrm>
              <a:off x="2101" y="1413"/>
              <a:ext cx="30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Arc 5">
              <a:extLst>
                <a:ext uri="{FF2B5EF4-FFF2-40B4-BE49-F238E27FC236}">
                  <a16:creationId xmlns:a16="http://schemas.microsoft.com/office/drawing/2014/main" id="{F8E922D6-3A23-EFFA-4DDC-DA5921488DA0}"/>
                </a:ext>
              </a:extLst>
            </p:cNvPr>
            <p:cNvSpPr>
              <a:spLocks/>
            </p:cNvSpPr>
            <p:nvPr/>
          </p:nvSpPr>
          <p:spPr bwMode="auto">
            <a:xfrm rot="10800000">
              <a:off x="2317" y="1290"/>
              <a:ext cx="1084" cy="248"/>
            </a:xfrm>
            <a:custGeom>
              <a:avLst/>
              <a:gdLst>
                <a:gd name="T0" fmla="*/ 0 w 27008"/>
                <a:gd name="T1" fmla="*/ 0 h 21600"/>
                <a:gd name="T2" fmla="*/ 0 w 27008"/>
                <a:gd name="T3" fmla="*/ 0 h 21600"/>
                <a:gd name="T4" fmla="*/ 0 w 27008"/>
                <a:gd name="T5" fmla="*/ 0 h 21600"/>
                <a:gd name="T6" fmla="*/ 0 60000 65536"/>
                <a:gd name="T7" fmla="*/ 0 60000 65536"/>
                <a:gd name="T8" fmla="*/ 0 60000 65536"/>
              </a:gdLst>
              <a:ahLst/>
              <a:cxnLst>
                <a:cxn ang="T6">
                  <a:pos x="T0" y="T1"/>
                </a:cxn>
                <a:cxn ang="T7">
                  <a:pos x="T2" y="T3"/>
                </a:cxn>
                <a:cxn ang="T8">
                  <a:pos x="T4" y="T5"/>
                </a:cxn>
              </a:cxnLst>
              <a:rect l="0" t="0" r="r" b="b"/>
              <a:pathLst>
                <a:path w="27008" h="21600" fill="none" extrusionOk="0">
                  <a:moveTo>
                    <a:pt x="27008" y="20912"/>
                  </a:moveTo>
                  <a:cubicBezTo>
                    <a:pt x="25241" y="21368"/>
                    <a:pt x="23424" y="21599"/>
                    <a:pt x="21600" y="21600"/>
                  </a:cubicBezTo>
                  <a:cubicBezTo>
                    <a:pt x="9670" y="21600"/>
                    <a:pt x="0" y="11929"/>
                    <a:pt x="0" y="0"/>
                  </a:cubicBezTo>
                </a:path>
                <a:path w="27008" h="21600" stroke="0" extrusionOk="0">
                  <a:moveTo>
                    <a:pt x="27008" y="20912"/>
                  </a:moveTo>
                  <a:cubicBezTo>
                    <a:pt x="25241" y="21368"/>
                    <a:pt x="23424" y="21599"/>
                    <a:pt x="21600" y="21600"/>
                  </a:cubicBezTo>
                  <a:cubicBezTo>
                    <a:pt x="9670" y="21600"/>
                    <a:pt x="0" y="11929"/>
                    <a:pt x="0" y="0"/>
                  </a:cubicBezTo>
                  <a:lnTo>
                    <a:pt x="21600" y="0"/>
                  </a:lnTo>
                  <a:lnTo>
                    <a:pt x="27008" y="20912"/>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2" name="Rectangle 6">
              <a:extLst>
                <a:ext uri="{FF2B5EF4-FFF2-40B4-BE49-F238E27FC236}">
                  <a16:creationId xmlns:a16="http://schemas.microsoft.com/office/drawing/2014/main" id="{2E533438-D3F3-48AD-0F5B-489ACA113EBB}"/>
                </a:ext>
              </a:extLst>
            </p:cNvPr>
            <p:cNvSpPr>
              <a:spLocks noChangeArrowheads="1"/>
            </p:cNvSpPr>
            <p:nvPr/>
          </p:nvSpPr>
          <p:spPr bwMode="auto">
            <a:xfrm>
              <a:off x="2379" y="1076"/>
              <a:ext cx="401"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2975</a:t>
              </a:r>
            </a:p>
          </p:txBody>
        </p:sp>
      </p:grpSp>
      <p:sp>
        <p:nvSpPr>
          <p:cNvPr id="13" name="Rectangle 7">
            <a:extLst>
              <a:ext uri="{FF2B5EF4-FFF2-40B4-BE49-F238E27FC236}">
                <a16:creationId xmlns:a16="http://schemas.microsoft.com/office/drawing/2014/main" id="{EE1E70FE-6459-8D2D-BC9A-08CB98255D50}"/>
              </a:ext>
            </a:extLst>
          </p:cNvPr>
          <p:cNvSpPr>
            <a:spLocks noChangeArrowheads="1"/>
          </p:cNvSpPr>
          <p:nvPr/>
        </p:nvSpPr>
        <p:spPr bwMode="auto">
          <a:xfrm>
            <a:off x="833577" y="4005064"/>
            <a:ext cx="567213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&gt; </a:t>
            </a:r>
          </a:p>
          <a:p>
            <a:pPr>
              <a:spcBef>
                <a:spcPct val="0"/>
              </a:spcBef>
              <a:buFontTx/>
              <a:buNone/>
            </a:pPr>
            <a:r>
              <a:rPr lang="en-US" altLang="en-US" sz="1800" b="1">
                <a:solidFill>
                  <a:srgbClr val="000000"/>
                </a:solidFill>
                <a:latin typeface="Courier New" panose="02070309020205020404" pitchFamily="49" charset="0"/>
              </a:rPr>
              <a:t>  4		    (SELECT sal</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WHERE  empno=7566);</a:t>
            </a:r>
          </a:p>
        </p:txBody>
      </p:sp>
      <p:sp>
        <p:nvSpPr>
          <p:cNvPr id="14" name="Rectangle 8">
            <a:extLst>
              <a:ext uri="{FF2B5EF4-FFF2-40B4-BE49-F238E27FC236}">
                <a16:creationId xmlns:a16="http://schemas.microsoft.com/office/drawing/2014/main" id="{E08C2706-B1F7-7A6D-D134-952988D4F670}"/>
              </a:ext>
            </a:extLst>
          </p:cNvPr>
          <p:cNvSpPr>
            <a:spLocks noChangeArrowheads="1"/>
          </p:cNvSpPr>
          <p:nvPr/>
        </p:nvSpPr>
        <p:spPr bwMode="auto">
          <a:xfrm>
            <a:off x="704990" y="4057451"/>
            <a:ext cx="7315200" cy="180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400050">
              <a:spcBef>
                <a:spcPct val="20000"/>
              </a:spcBef>
              <a:buChar char="•"/>
              <a:tabLst>
                <a:tab pos="400050" algn="r"/>
                <a:tab pos="685800" algn="l"/>
              </a:tabLst>
              <a:defRPr sz="2800">
                <a:solidFill>
                  <a:schemeClr val="tx1"/>
                </a:solidFill>
                <a:latin typeface="Arial" panose="020B0604020202020204" pitchFamily="34" charset="0"/>
              </a:defRPr>
            </a:lvl1pPr>
            <a:lvl2pPr marL="742950" indent="-285750" defTabSz="400050">
              <a:spcBef>
                <a:spcPct val="20000"/>
              </a:spcBef>
              <a:buChar char="–"/>
              <a:tabLst>
                <a:tab pos="400050" algn="r"/>
                <a:tab pos="685800" algn="l"/>
              </a:tabLst>
              <a:defRPr sz="2400">
                <a:solidFill>
                  <a:schemeClr val="tx1"/>
                </a:solidFill>
                <a:latin typeface="Arial" panose="020B0604020202020204" pitchFamily="34" charset="0"/>
              </a:defRPr>
            </a:lvl2pPr>
            <a:lvl3pPr marL="1143000" indent="-228600" defTabSz="400050">
              <a:spcBef>
                <a:spcPct val="20000"/>
              </a:spcBef>
              <a:buChar char="•"/>
              <a:tabLst>
                <a:tab pos="400050" algn="r"/>
                <a:tab pos="685800" algn="l"/>
              </a:tabLst>
              <a:defRPr sz="2000">
                <a:solidFill>
                  <a:schemeClr val="tx1"/>
                </a:solidFill>
                <a:latin typeface="Arial" panose="020B0604020202020204" pitchFamily="34" charset="0"/>
              </a:defRPr>
            </a:lvl3pPr>
            <a:lvl4pPr marL="1600200" indent="-228600" defTabSz="400050">
              <a:spcBef>
                <a:spcPct val="20000"/>
              </a:spcBef>
              <a:buChar char="–"/>
              <a:tabLst>
                <a:tab pos="400050" algn="r"/>
                <a:tab pos="685800" algn="l"/>
              </a:tabLst>
              <a:defRPr sz="2000">
                <a:solidFill>
                  <a:schemeClr val="tx1"/>
                </a:solidFill>
                <a:latin typeface="Arial" panose="020B0604020202020204" pitchFamily="34" charset="0"/>
              </a:defRPr>
            </a:lvl4pPr>
            <a:lvl5pPr marL="2057400" indent="-228600" defTabSz="400050">
              <a:spcBef>
                <a:spcPct val="20000"/>
              </a:spcBef>
              <a:buChar char="»"/>
              <a:tabLst>
                <a:tab pos="400050" algn="r"/>
                <a:tab pos="685800" algn="l"/>
              </a:tabLst>
              <a:defRPr sz="2000">
                <a:solidFill>
                  <a:schemeClr val="tx1"/>
                </a:solidFill>
                <a:latin typeface="Arial" panose="020B0604020202020204" pitchFamily="34" charset="0"/>
              </a:defRPr>
            </a:lvl5pPr>
            <a:lvl6pPr marL="25146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6pPr>
            <a:lvl7pPr marL="29718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7pPr>
            <a:lvl8pPr marL="34290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8pPr>
            <a:lvl9pPr marL="38862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9pPr>
          </a:lstStyle>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p:txBody>
      </p:sp>
    </p:spTree>
    <p:extLst>
      <p:ext uri="{BB962C8B-B14F-4D97-AF65-F5344CB8AC3E}">
        <p14:creationId xmlns:p14="http://schemas.microsoft.com/office/powerpoint/2010/main" val="56802464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7BC68-77FE-CB8C-2C00-58FD6D35668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D679582-B315-C5E7-37F5-47D2803AC42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Exercise</a:t>
            </a:r>
          </a:p>
        </p:txBody>
      </p:sp>
      <p:sp>
        <p:nvSpPr>
          <p:cNvPr id="38915" name="Rectangle 3">
            <a:extLst>
              <a:ext uri="{FF2B5EF4-FFF2-40B4-BE49-F238E27FC236}">
                <a16:creationId xmlns:a16="http://schemas.microsoft.com/office/drawing/2014/main" id="{BE1D24B8-078E-9207-458A-FFFE79D956D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A96A8A9-9D1B-8FF9-C3A3-5280621066C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8C6FD99C-5AE1-332E-119A-B5D5D2CB5253}"/>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employees with salary greater than the average salary of the employees.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employees with salary greater than the average salary of the employees of a certain job/department.</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Find the name of the highest paid employee.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Find the name of the most senior employee.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employees with the same job/department  as that of a given employee.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F6C5AB59-21F0-5D50-4AB0-B03EEE6DB6C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0121345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6E07C-0608-7500-754E-E857A99E9C32}"/>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D13DF4AF-2780-C881-F472-5FFD05748F5E}"/>
              </a:ext>
            </a:extLst>
          </p:cNvPr>
          <p:cNvSpPr>
            <a:spLocks noGrp="1" noChangeArrowheads="1"/>
          </p:cNvSpPr>
          <p:nvPr>
            <p:ph type="title"/>
          </p:nvPr>
        </p:nvSpPr>
        <p:spPr>
          <a:xfrm>
            <a:off x="395288" y="186916"/>
            <a:ext cx="53625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Types of Subqueries</a:t>
            </a:r>
          </a:p>
        </p:txBody>
      </p:sp>
      <p:sp>
        <p:nvSpPr>
          <p:cNvPr id="16387" name="Rectangle 3">
            <a:extLst>
              <a:ext uri="{FF2B5EF4-FFF2-40B4-BE49-F238E27FC236}">
                <a16:creationId xmlns:a16="http://schemas.microsoft.com/office/drawing/2014/main" id="{8EB9D5FC-D71A-794A-4097-A03E3CB1E998}"/>
              </a:ext>
            </a:extLst>
          </p:cNvPr>
          <p:cNvSpPr>
            <a:spLocks noGrp="1" noChangeArrowheads="1"/>
          </p:cNvSpPr>
          <p:nvPr>
            <p:ph type="body" idx="1"/>
          </p:nvPr>
        </p:nvSpPr>
        <p:spPr>
          <a:xfrm>
            <a:off x="395288" y="692696"/>
            <a:ext cx="8497887" cy="5485221"/>
          </a:xfrm>
        </p:spPr>
        <p:txBody>
          <a:bodyPr lIns="92075" tIns="46038" rIns="92075" bIns="46038">
            <a:spAutoFit/>
          </a:bodyPr>
          <a:lstStyle/>
          <a:p>
            <a:pPr marL="0" indent="0" algn="just">
              <a:buFontTx/>
              <a:buNone/>
              <a:defRPr/>
            </a:pPr>
            <a:r>
              <a:rPr lang="en-US" altLang="en-US" sz="2400" b="1" dirty="0">
                <a:solidFill>
                  <a:srgbClr val="0000CC"/>
                </a:solidFill>
                <a:latin typeface="Cambria" panose="02040503050406030204" pitchFamily="18" charset="0"/>
                <a:ea typeface="Cambria" panose="02040503050406030204" pitchFamily="18" charset="0"/>
              </a:rPr>
              <a:t>1. Single-row subquery</a:t>
            </a:r>
          </a:p>
          <a:p>
            <a:pPr marL="230188" indent="-230188" algn="just">
              <a:defRPr/>
            </a:pPr>
            <a:r>
              <a:rPr lang="en-US" altLang="en-US" sz="2400" dirty="0">
                <a:latin typeface="Cambria" panose="02040503050406030204" pitchFamily="18" charset="0"/>
                <a:ea typeface="Cambria" panose="02040503050406030204" pitchFamily="18" charset="0"/>
              </a:rPr>
              <a:t>Returns </a:t>
            </a:r>
            <a:r>
              <a:rPr lang="en-US" altLang="en-US" sz="2400" u="sng" dirty="0">
                <a:solidFill>
                  <a:srgbClr val="FF0000"/>
                </a:solidFill>
                <a:latin typeface="Cambria" panose="02040503050406030204" pitchFamily="18" charset="0"/>
                <a:ea typeface="Cambria" panose="02040503050406030204" pitchFamily="18" charset="0"/>
              </a:rPr>
              <a:t>zero</a:t>
            </a:r>
            <a:r>
              <a:rPr lang="en-US" altLang="en-US" sz="2400" dirty="0">
                <a:latin typeface="Cambria" panose="02040503050406030204" pitchFamily="18" charset="0"/>
                <a:ea typeface="Cambria" panose="02040503050406030204" pitchFamily="18" charset="0"/>
              </a:rPr>
              <a:t> or </a:t>
            </a:r>
            <a:r>
              <a:rPr lang="en-US" altLang="en-US" sz="2400" u="sng" dirty="0">
                <a:solidFill>
                  <a:srgbClr val="FF0000"/>
                </a:solidFill>
                <a:latin typeface="Cambria" panose="02040503050406030204" pitchFamily="18" charset="0"/>
                <a:ea typeface="Cambria" panose="02040503050406030204" pitchFamily="18" charset="0"/>
              </a:rPr>
              <a:t>one row</a:t>
            </a:r>
            <a:r>
              <a:rPr lang="en-US" altLang="en-US" sz="2400" dirty="0">
                <a:latin typeface="Cambria" panose="02040503050406030204" pitchFamily="18" charset="0"/>
                <a:ea typeface="Cambria" panose="02040503050406030204" pitchFamily="18" charset="0"/>
              </a:rPr>
              <a:t> to the outer query. </a:t>
            </a:r>
          </a:p>
          <a:p>
            <a:pPr marL="230188" indent="-230188" algn="just">
              <a:defRPr/>
            </a:pPr>
            <a:r>
              <a:rPr lang="en-US" altLang="en-US" sz="2400" dirty="0">
                <a:latin typeface="Cambria" panose="02040503050406030204" pitchFamily="18" charset="0"/>
                <a:ea typeface="Cambria" panose="02040503050406030204" pitchFamily="18" charset="0"/>
              </a:rPr>
              <a:t>A special case called </a:t>
            </a:r>
            <a:r>
              <a:rPr lang="en-US" altLang="en-US" sz="2400" dirty="0">
                <a:solidFill>
                  <a:srgbClr val="FF0000"/>
                </a:solidFill>
                <a:latin typeface="Cambria" panose="02040503050406030204" pitchFamily="18" charset="0"/>
                <a:ea typeface="Cambria" panose="02040503050406030204" pitchFamily="18" charset="0"/>
              </a:rPr>
              <a:t>scalar subquery</a:t>
            </a:r>
            <a:r>
              <a:rPr lang="en-US" altLang="en-US" sz="2400" dirty="0">
                <a:latin typeface="Cambria" panose="02040503050406030204" pitchFamily="18" charset="0"/>
                <a:ea typeface="Cambria" panose="02040503050406030204" pitchFamily="18" charset="0"/>
              </a:rPr>
              <a:t> contains exactly one column.</a:t>
            </a:r>
          </a:p>
          <a:p>
            <a:pPr marL="0" indent="0" algn="just">
              <a:buFontTx/>
              <a:buNone/>
              <a:defRPr/>
            </a:pPr>
            <a:r>
              <a:rPr lang="en-US" altLang="en-US" sz="2400" b="1" dirty="0">
                <a:solidFill>
                  <a:srgbClr val="0000CC"/>
                </a:solidFill>
                <a:latin typeface="Cambria" panose="02040503050406030204" pitchFamily="18" charset="0"/>
                <a:ea typeface="Cambria" panose="02040503050406030204" pitchFamily="18" charset="0"/>
              </a:rPr>
              <a:t>2. Multiple-row subquery</a:t>
            </a:r>
          </a:p>
          <a:p>
            <a:pPr marL="230188" indent="-230188" algn="just">
              <a:defRPr/>
            </a:pPr>
            <a:r>
              <a:rPr lang="en-US" altLang="en-US" sz="2400" dirty="0">
                <a:latin typeface="Cambria" panose="02040503050406030204" pitchFamily="18" charset="0"/>
                <a:ea typeface="Cambria" panose="02040503050406030204" pitchFamily="18" charset="0"/>
              </a:rPr>
              <a:t>Returns one or more rows to the outer query. </a:t>
            </a:r>
          </a:p>
          <a:p>
            <a:pPr marL="230188" indent="-230188" algn="just">
              <a:defRPr/>
            </a:pPr>
            <a:r>
              <a:rPr lang="en-US" altLang="en-US" sz="2400" dirty="0">
                <a:latin typeface="Cambria" panose="02040503050406030204" pitchFamily="18" charset="0"/>
                <a:ea typeface="Cambria" panose="02040503050406030204" pitchFamily="18" charset="0"/>
              </a:rPr>
              <a:t>In addition, there are </a:t>
            </a:r>
            <a:r>
              <a:rPr lang="en-US" altLang="en-US" sz="2400" u="sng" dirty="0">
                <a:solidFill>
                  <a:srgbClr val="FF0000"/>
                </a:solidFill>
                <a:latin typeface="Cambria" panose="02040503050406030204" pitchFamily="18" charset="0"/>
                <a:ea typeface="Cambria" panose="02040503050406030204" pitchFamily="18" charset="0"/>
              </a:rPr>
              <a:t>three subtypes of subqueries</a:t>
            </a:r>
            <a:r>
              <a:rPr lang="en-US" altLang="en-US" sz="2400" dirty="0">
                <a:latin typeface="Cambria" panose="02040503050406030204" pitchFamily="18" charset="0"/>
                <a:ea typeface="Cambria" panose="02040503050406030204" pitchFamily="18" charset="0"/>
              </a:rPr>
              <a:t> that may return single or multiple rows:</a:t>
            </a:r>
          </a:p>
          <a:p>
            <a:pPr marL="0" indent="0" algn="just">
              <a:buClr>
                <a:srgbClr val="0000CC"/>
              </a:buClr>
              <a:buFontTx/>
              <a:buAutoNum type="alphaLcParenR"/>
              <a:defRPr/>
            </a:pPr>
            <a:r>
              <a:rPr lang="en-US" altLang="en-US" sz="2400" dirty="0">
                <a:solidFill>
                  <a:srgbClr val="FF0000"/>
                </a:solidFill>
                <a:latin typeface="Cambria" panose="02040503050406030204" pitchFamily="18" charset="0"/>
                <a:ea typeface="Cambria" panose="02040503050406030204" pitchFamily="18" charset="0"/>
              </a:rPr>
              <a:t> Multiple-column subqueries</a:t>
            </a:r>
            <a:r>
              <a:rPr lang="en-US" altLang="en-US" sz="2400" dirty="0">
                <a:latin typeface="Cambria" panose="02040503050406030204" pitchFamily="18" charset="0"/>
                <a:ea typeface="Cambria" panose="02040503050406030204" pitchFamily="18" charset="0"/>
              </a:rPr>
              <a:t> return more than one column to the outer SQL statement.</a:t>
            </a:r>
          </a:p>
          <a:p>
            <a:pPr marL="0" indent="0" algn="just">
              <a:buClr>
                <a:srgbClr val="0000CC"/>
              </a:buClr>
              <a:buFontTx/>
              <a:buAutoNum type="alphaLcParenR"/>
              <a:defRPr/>
            </a:pPr>
            <a:r>
              <a:rPr lang="en-US" altLang="en-US" sz="2400" dirty="0">
                <a:solidFill>
                  <a:srgbClr val="FF0000"/>
                </a:solidFill>
                <a:latin typeface="Cambria" panose="02040503050406030204" pitchFamily="18" charset="0"/>
                <a:ea typeface="Cambria" panose="02040503050406030204" pitchFamily="18" charset="0"/>
              </a:rPr>
              <a:t> Correlated subqueries</a:t>
            </a:r>
            <a:r>
              <a:rPr lang="en-US" altLang="en-US" sz="2400" dirty="0">
                <a:latin typeface="Cambria" panose="02040503050406030204" pitchFamily="18" charset="0"/>
                <a:ea typeface="Cambria" panose="02040503050406030204" pitchFamily="18" charset="0"/>
              </a:rPr>
              <a:t> reference one or more columns in the outer SQL statement. </a:t>
            </a:r>
          </a:p>
          <a:p>
            <a:pPr marL="0" indent="0" algn="just">
              <a:buClr>
                <a:srgbClr val="0000CC"/>
              </a:buClr>
              <a:buFontTx/>
              <a:buAutoNum type="alphaLcParenR"/>
              <a:defRPr/>
            </a:pPr>
            <a:r>
              <a:rPr lang="en-US" altLang="en-US" sz="2400" dirty="0">
                <a:solidFill>
                  <a:srgbClr val="FF0000"/>
                </a:solidFill>
                <a:latin typeface="Cambria" panose="02040503050406030204" pitchFamily="18" charset="0"/>
                <a:ea typeface="Cambria" panose="02040503050406030204" pitchFamily="18" charset="0"/>
              </a:rPr>
              <a:t> Nested subqueries</a:t>
            </a:r>
            <a:r>
              <a:rPr lang="en-US" altLang="en-US" sz="2400" dirty="0">
                <a:latin typeface="Cambria" panose="02040503050406030204" pitchFamily="18" charset="0"/>
                <a:ea typeface="Cambria" panose="02040503050406030204" pitchFamily="18" charset="0"/>
              </a:rPr>
              <a:t> are placed within another subquery. </a:t>
            </a:r>
          </a:p>
        </p:txBody>
      </p:sp>
      <p:sp>
        <p:nvSpPr>
          <p:cNvPr id="2" name="Footer Placeholder 2">
            <a:extLst>
              <a:ext uri="{FF2B5EF4-FFF2-40B4-BE49-F238E27FC236}">
                <a16:creationId xmlns:a16="http://schemas.microsoft.com/office/drawing/2014/main" id="{6F07E12C-EDBE-F76D-FB48-6599DE921DC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9017508A-8815-51B4-C62C-B47CC236CE5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103634390"/>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19A50-4186-AAC6-B7D2-BD623C386D01}"/>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4F8691E2-7A22-673B-D2C6-3954939A0092}"/>
              </a:ext>
            </a:extLst>
          </p:cNvPr>
          <p:cNvSpPr>
            <a:spLocks noGrp="1" noChangeArrowheads="1"/>
          </p:cNvSpPr>
          <p:nvPr>
            <p:ph type="title"/>
          </p:nvPr>
        </p:nvSpPr>
        <p:spPr>
          <a:xfrm>
            <a:off x="395288" y="186916"/>
            <a:ext cx="53625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Types of Subqueries</a:t>
            </a:r>
          </a:p>
        </p:txBody>
      </p:sp>
      <p:sp>
        <p:nvSpPr>
          <p:cNvPr id="3" name="Footer Placeholder 2">
            <a:extLst>
              <a:ext uri="{FF2B5EF4-FFF2-40B4-BE49-F238E27FC236}">
                <a16:creationId xmlns:a16="http://schemas.microsoft.com/office/drawing/2014/main" id="{06D43030-2043-FD95-BFAC-302B6D7CCAE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36B390AE-B855-81B0-5E01-0DA3D4F0147B}"/>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5" name="Rectangle 3">
            <a:extLst>
              <a:ext uri="{FF2B5EF4-FFF2-40B4-BE49-F238E27FC236}">
                <a16:creationId xmlns:a16="http://schemas.microsoft.com/office/drawing/2014/main" id="{1866EDFF-1C31-F0DA-EDF1-BA5691D6D33F}"/>
              </a:ext>
            </a:extLst>
          </p:cNvPr>
          <p:cNvSpPr txBox="1">
            <a:spLocks noChangeArrowheads="1"/>
          </p:cNvSpPr>
          <p:nvPr/>
        </p:nvSpPr>
        <p:spPr bwMode="auto">
          <a:xfrm>
            <a:off x="119063" y="782029"/>
            <a:ext cx="8567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vert="horz" wrap="square" lIns="92075" tIns="46038" rIns="92075" bIns="46038" numCol="1" anchor="t" anchorCtr="0" compatLnSpc="1">
            <a:prstTxWarp prst="textNoShape">
              <a:avLst/>
            </a:prstTxWarp>
            <a:spAutoFit/>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19088" lvl="1" indent="0">
              <a:buNone/>
            </a:pPr>
            <a:r>
              <a:rPr lang="en-US" altLang="en-US" dirty="0">
                <a:solidFill>
                  <a:srgbClr val="0000CC"/>
                </a:solidFill>
                <a:latin typeface="Cambria" panose="02040503050406030204" pitchFamily="18" charset="0"/>
                <a:ea typeface="Cambria" panose="02040503050406030204" pitchFamily="18" charset="0"/>
              </a:rPr>
              <a:t>Single-row subquery</a:t>
            </a:r>
          </a:p>
        </p:txBody>
      </p:sp>
      <p:grpSp>
        <p:nvGrpSpPr>
          <p:cNvPr id="6" name="Group 4">
            <a:extLst>
              <a:ext uri="{FF2B5EF4-FFF2-40B4-BE49-F238E27FC236}">
                <a16:creationId xmlns:a16="http://schemas.microsoft.com/office/drawing/2014/main" id="{200AB20E-4EB5-C831-037B-BF701FD63AE0}"/>
              </a:ext>
            </a:extLst>
          </p:cNvPr>
          <p:cNvGrpSpPr>
            <a:grpSpLocks/>
          </p:cNvGrpSpPr>
          <p:nvPr/>
        </p:nvGrpSpPr>
        <p:grpSpPr bwMode="auto">
          <a:xfrm>
            <a:off x="1531938" y="1290029"/>
            <a:ext cx="3967162" cy="1038225"/>
            <a:chOff x="1185" y="938"/>
            <a:chExt cx="2499" cy="654"/>
          </a:xfrm>
        </p:grpSpPr>
        <p:sp>
          <p:nvSpPr>
            <p:cNvPr id="7" name="Rectangle 5">
              <a:extLst>
                <a:ext uri="{FF2B5EF4-FFF2-40B4-BE49-F238E27FC236}">
                  <a16:creationId xmlns:a16="http://schemas.microsoft.com/office/drawing/2014/main" id="{16490F49-5F91-078B-A12C-EA7B55C6A01A}"/>
                </a:ext>
              </a:extLst>
            </p:cNvPr>
            <p:cNvSpPr>
              <a:spLocks noChangeArrowheads="1"/>
            </p:cNvSpPr>
            <p:nvPr/>
          </p:nvSpPr>
          <p:spPr bwMode="blackWhite">
            <a:xfrm>
              <a:off x="1200" y="939"/>
              <a:ext cx="1231" cy="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8" name="Rectangle 6">
              <a:extLst>
                <a:ext uri="{FF2B5EF4-FFF2-40B4-BE49-F238E27FC236}">
                  <a16:creationId xmlns:a16="http://schemas.microsoft.com/office/drawing/2014/main" id="{ABC094AB-73FB-46FC-54E0-DAD6169028D6}"/>
                </a:ext>
              </a:extLst>
            </p:cNvPr>
            <p:cNvSpPr>
              <a:spLocks noChangeArrowheads="1"/>
            </p:cNvSpPr>
            <p:nvPr/>
          </p:nvSpPr>
          <p:spPr bwMode="auto">
            <a:xfrm>
              <a:off x="1185" y="938"/>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Main query</a:t>
              </a:r>
            </a:p>
          </p:txBody>
        </p:sp>
        <p:sp>
          <p:nvSpPr>
            <p:cNvPr id="9" name="Rectangle 7">
              <a:extLst>
                <a:ext uri="{FF2B5EF4-FFF2-40B4-BE49-F238E27FC236}">
                  <a16:creationId xmlns:a16="http://schemas.microsoft.com/office/drawing/2014/main" id="{776DF7A7-835C-EFE3-83F4-81E792C4F660}"/>
                </a:ext>
              </a:extLst>
            </p:cNvPr>
            <p:cNvSpPr>
              <a:spLocks noChangeArrowheads="1"/>
            </p:cNvSpPr>
            <p:nvPr/>
          </p:nvSpPr>
          <p:spPr bwMode="ltGray">
            <a:xfrm>
              <a:off x="1458" y="1236"/>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0" name="Rectangle 8">
              <a:extLst>
                <a:ext uri="{FF2B5EF4-FFF2-40B4-BE49-F238E27FC236}">
                  <a16:creationId xmlns:a16="http://schemas.microsoft.com/office/drawing/2014/main" id="{F89EE7E6-3DC5-9780-4251-9FC6ACC53FFB}"/>
                </a:ext>
              </a:extLst>
            </p:cNvPr>
            <p:cNvSpPr>
              <a:spLocks noChangeArrowheads="1"/>
            </p:cNvSpPr>
            <p:nvPr/>
          </p:nvSpPr>
          <p:spPr bwMode="auto">
            <a:xfrm>
              <a:off x="1551" y="1305"/>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Subquery</a:t>
              </a:r>
            </a:p>
          </p:txBody>
        </p:sp>
        <p:sp>
          <p:nvSpPr>
            <p:cNvPr id="11" name="Rectangle 9">
              <a:extLst>
                <a:ext uri="{FF2B5EF4-FFF2-40B4-BE49-F238E27FC236}">
                  <a16:creationId xmlns:a16="http://schemas.microsoft.com/office/drawing/2014/main" id="{8869346A-19FD-BDA2-9BF0-CAAD82080853}"/>
                </a:ext>
              </a:extLst>
            </p:cNvPr>
            <p:cNvSpPr>
              <a:spLocks noChangeArrowheads="1"/>
            </p:cNvSpPr>
            <p:nvPr/>
          </p:nvSpPr>
          <p:spPr bwMode="auto">
            <a:xfrm>
              <a:off x="3388" y="1254"/>
              <a:ext cx="167" cy="330"/>
            </a:xfrm>
            <a:prstGeom prst="rect">
              <a:avLst/>
            </a:prstGeom>
            <a:noFill/>
            <a:ln>
              <a:noFill/>
            </a:ln>
            <a:effectLst/>
          </p:spPr>
          <p:txBody>
            <a:bodyPr wrap="none" lIns="92075" tIns="46038" rIns="92075" bIns="46038">
              <a:spAutoFit/>
            </a:bodyPr>
            <a:lstStyle/>
            <a:p>
              <a:pPr defTabSz="822325">
                <a:spcBef>
                  <a:spcPct val="50000"/>
                </a:spcBef>
                <a:defRPr/>
              </a:pPr>
              <a:r>
                <a:rPr lang="en-US" sz="2800" b="1">
                  <a:solidFill>
                    <a:srgbClr val="D3EAF8"/>
                  </a:solidFill>
                  <a:effectLst>
                    <a:outerShdw blurRad="38100" dist="38100" dir="2700000" algn="tl">
                      <a:srgbClr val="000000"/>
                    </a:outerShdw>
                  </a:effectLst>
                  <a:latin typeface="Cambria" panose="02040503050406030204" pitchFamily="18" charset="0"/>
                  <a:ea typeface="Cambria" panose="02040503050406030204" pitchFamily="18" charset="0"/>
                </a:rPr>
                <a:t> </a:t>
              </a:r>
            </a:p>
          </p:txBody>
        </p:sp>
        <p:sp>
          <p:nvSpPr>
            <p:cNvPr id="12" name="Line 10">
              <a:extLst>
                <a:ext uri="{FF2B5EF4-FFF2-40B4-BE49-F238E27FC236}">
                  <a16:creationId xmlns:a16="http://schemas.microsoft.com/office/drawing/2014/main" id="{6A62DF34-F52A-9ED2-32DA-FE14BADA230C}"/>
                </a:ext>
              </a:extLst>
            </p:cNvPr>
            <p:cNvSpPr>
              <a:spLocks noChangeShapeType="1"/>
            </p:cNvSpPr>
            <p:nvPr/>
          </p:nvSpPr>
          <p:spPr bwMode="auto">
            <a:xfrm>
              <a:off x="2336" y="1415"/>
              <a:ext cx="1348"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13" name="Rectangle 11">
              <a:extLst>
                <a:ext uri="{FF2B5EF4-FFF2-40B4-BE49-F238E27FC236}">
                  <a16:creationId xmlns:a16="http://schemas.microsoft.com/office/drawing/2014/main" id="{EAA428DE-40E1-2DB0-BECB-5A4016908CC7}"/>
                </a:ext>
              </a:extLst>
            </p:cNvPr>
            <p:cNvSpPr>
              <a:spLocks noChangeArrowheads="1"/>
            </p:cNvSpPr>
            <p:nvPr/>
          </p:nvSpPr>
          <p:spPr bwMode="auto">
            <a:xfrm>
              <a:off x="2664" y="1169"/>
              <a:ext cx="620" cy="233"/>
            </a:xfrm>
            <a:prstGeom prst="rect">
              <a:avLst/>
            </a:prstGeom>
            <a:noFill/>
            <a:ln>
              <a:noFill/>
            </a:ln>
            <a:effectLst/>
          </p:spPr>
          <p:txBody>
            <a:bodyPr wrap="none" lIns="92075" tIns="46038" rIns="92075" bIns="46038">
              <a:spAutoFit/>
            </a:bodyPr>
            <a:lstStyle/>
            <a:p>
              <a:pPr defTabSz="822325">
                <a:spcBef>
                  <a:spcPct val="50000"/>
                </a:spcBef>
                <a:defRPr/>
              </a:pPr>
              <a:r>
                <a:rPr lang="en-US" sz="1800" b="1" dirty="0">
                  <a:solidFill>
                    <a:srgbClr val="FF0000"/>
                  </a:solidFill>
                  <a:effectLst>
                    <a:outerShdw blurRad="38100" dist="38100" dir="2700000" algn="tl">
                      <a:srgbClr val="FFFFFF"/>
                    </a:outerShdw>
                  </a:effectLst>
                  <a:latin typeface="Cambria" panose="02040503050406030204" pitchFamily="18" charset="0"/>
                  <a:ea typeface="Cambria" panose="02040503050406030204" pitchFamily="18" charset="0"/>
                </a:rPr>
                <a:t>returns</a:t>
              </a:r>
            </a:p>
          </p:txBody>
        </p:sp>
      </p:grpSp>
      <p:sp>
        <p:nvSpPr>
          <p:cNvPr id="14" name="Rectangle 12">
            <a:extLst>
              <a:ext uri="{FF2B5EF4-FFF2-40B4-BE49-F238E27FC236}">
                <a16:creationId xmlns:a16="http://schemas.microsoft.com/office/drawing/2014/main" id="{280DD32C-B958-C1E4-B1B2-C610B469723D}"/>
              </a:ext>
            </a:extLst>
          </p:cNvPr>
          <p:cNvSpPr>
            <a:spLocks noChangeArrowheads="1"/>
          </p:cNvSpPr>
          <p:nvPr/>
        </p:nvSpPr>
        <p:spPr bwMode="auto">
          <a:xfrm>
            <a:off x="5622925" y="1815492"/>
            <a:ext cx="966611" cy="400752"/>
          </a:xfrm>
          <a:prstGeom prst="rect">
            <a:avLst/>
          </a:prstGeom>
          <a:noFill/>
          <a:ln>
            <a:noFill/>
          </a:ln>
          <a:effectLst/>
        </p:spPr>
        <p:txBody>
          <a:bodyPr wrap="none" lIns="92075" tIns="46038" rIns="92075" bIns="46038">
            <a:spAutoFit/>
          </a:bodyPr>
          <a:lstStyle/>
          <a:p>
            <a:pPr defTabSz="822325">
              <a:spcBef>
                <a:spcPct val="50000"/>
              </a:spcBef>
              <a:defRPr/>
            </a:pPr>
            <a:r>
              <a:rPr lang="en-US" sz="2000" b="1" dirty="0">
                <a:solidFill>
                  <a:srgbClr val="0000CC"/>
                </a:solidFill>
                <a:latin typeface="Cambria" panose="02040503050406030204" pitchFamily="18" charset="0"/>
                <a:ea typeface="Cambria" panose="02040503050406030204" pitchFamily="18" charset="0"/>
              </a:rPr>
              <a:t>CLERK</a:t>
            </a:r>
          </a:p>
        </p:txBody>
      </p:sp>
      <p:grpSp>
        <p:nvGrpSpPr>
          <p:cNvPr id="15" name="Group 13">
            <a:extLst>
              <a:ext uri="{FF2B5EF4-FFF2-40B4-BE49-F238E27FC236}">
                <a16:creationId xmlns:a16="http://schemas.microsoft.com/office/drawing/2014/main" id="{C6D2285D-D584-4E05-5F27-69B9730FFBCB}"/>
              </a:ext>
            </a:extLst>
          </p:cNvPr>
          <p:cNvGrpSpPr>
            <a:grpSpLocks/>
          </p:cNvGrpSpPr>
          <p:nvPr/>
        </p:nvGrpSpPr>
        <p:grpSpPr bwMode="auto">
          <a:xfrm>
            <a:off x="271737" y="2547329"/>
            <a:ext cx="7324725" cy="1562100"/>
            <a:chOff x="406" y="1730"/>
            <a:chExt cx="4614" cy="984"/>
          </a:xfrm>
        </p:grpSpPr>
        <p:sp>
          <p:nvSpPr>
            <p:cNvPr id="16" name="Rectangle 14">
              <a:extLst>
                <a:ext uri="{FF2B5EF4-FFF2-40B4-BE49-F238E27FC236}">
                  <a16:creationId xmlns:a16="http://schemas.microsoft.com/office/drawing/2014/main" id="{3393F370-F5E1-BA89-0AE1-7166F8E16C60}"/>
                </a:ext>
              </a:extLst>
            </p:cNvPr>
            <p:cNvSpPr>
              <a:spLocks noChangeArrowheads="1"/>
            </p:cNvSpPr>
            <p:nvPr/>
          </p:nvSpPr>
          <p:spPr bwMode="auto">
            <a:xfrm>
              <a:off x="406" y="1730"/>
              <a:ext cx="4614"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marL="114300" lvl="1" indent="0">
                <a:lnSpc>
                  <a:spcPct val="95000"/>
                </a:lnSpc>
                <a:spcBef>
                  <a:spcPct val="35000"/>
                </a:spcBef>
                <a:buClr>
                  <a:srgbClr val="FFCC66"/>
                </a:buClr>
                <a:buNone/>
              </a:pPr>
              <a:r>
                <a:rPr lang="en-US" altLang="en-US" dirty="0">
                  <a:solidFill>
                    <a:srgbClr val="0000CC"/>
                  </a:solidFill>
                  <a:latin typeface="Cambria" panose="02040503050406030204" pitchFamily="18" charset="0"/>
                  <a:ea typeface="Cambria" panose="02040503050406030204" pitchFamily="18" charset="0"/>
                </a:rPr>
                <a:t>Multiple-row subquery</a:t>
              </a:r>
            </a:p>
          </p:txBody>
        </p:sp>
        <p:sp>
          <p:nvSpPr>
            <p:cNvPr id="17" name="Rectangle 15">
              <a:extLst>
                <a:ext uri="{FF2B5EF4-FFF2-40B4-BE49-F238E27FC236}">
                  <a16:creationId xmlns:a16="http://schemas.microsoft.com/office/drawing/2014/main" id="{65183090-F9D8-CBE2-52AB-635EE20E58FB}"/>
                </a:ext>
              </a:extLst>
            </p:cNvPr>
            <p:cNvSpPr>
              <a:spLocks noChangeArrowheads="1"/>
            </p:cNvSpPr>
            <p:nvPr/>
          </p:nvSpPr>
          <p:spPr bwMode="auto">
            <a:xfrm>
              <a:off x="3762" y="2268"/>
              <a:ext cx="871" cy="446"/>
            </a:xfrm>
            <a:prstGeom prst="rect">
              <a:avLst/>
            </a:prstGeom>
            <a:noFill/>
            <a:ln>
              <a:noFill/>
            </a:ln>
            <a:effectLst/>
          </p:spPr>
          <p:txBody>
            <a:bodyPr wrap="none" lIns="92075" tIns="46038" rIns="92075" bIns="46038">
              <a:spAutoFit/>
            </a:bodyPr>
            <a:lstStyle/>
            <a:p>
              <a:pPr defTabSz="822325">
                <a:defRPr/>
              </a:pPr>
              <a:r>
                <a:rPr lang="en-US" sz="2000" b="1" dirty="0">
                  <a:solidFill>
                    <a:srgbClr val="0000CC"/>
                  </a:solidFill>
                  <a:latin typeface="Cambria" panose="02040503050406030204" pitchFamily="18" charset="0"/>
                  <a:ea typeface="Cambria" panose="02040503050406030204" pitchFamily="18" charset="0"/>
                </a:rPr>
                <a:t>CLERK</a:t>
              </a:r>
            </a:p>
            <a:p>
              <a:pPr defTabSz="822325">
                <a:defRPr/>
              </a:pPr>
              <a:r>
                <a:rPr lang="en-US" sz="2000" b="1" dirty="0">
                  <a:solidFill>
                    <a:srgbClr val="0000CC"/>
                  </a:solidFill>
                  <a:latin typeface="Cambria" panose="02040503050406030204" pitchFamily="18" charset="0"/>
                  <a:ea typeface="Cambria" panose="02040503050406030204" pitchFamily="18" charset="0"/>
                </a:rPr>
                <a:t>MANAGER</a:t>
              </a:r>
            </a:p>
          </p:txBody>
        </p:sp>
        <p:grpSp>
          <p:nvGrpSpPr>
            <p:cNvPr id="18" name="Group 16">
              <a:extLst>
                <a:ext uri="{FF2B5EF4-FFF2-40B4-BE49-F238E27FC236}">
                  <a16:creationId xmlns:a16="http://schemas.microsoft.com/office/drawing/2014/main" id="{EF9F419A-C112-20BC-35EF-AF5DE6C03D09}"/>
                </a:ext>
              </a:extLst>
            </p:cNvPr>
            <p:cNvGrpSpPr>
              <a:grpSpLocks/>
            </p:cNvGrpSpPr>
            <p:nvPr/>
          </p:nvGrpSpPr>
          <p:grpSpPr bwMode="auto">
            <a:xfrm>
              <a:off x="1185" y="2042"/>
              <a:ext cx="2499" cy="654"/>
              <a:chOff x="1185" y="2042"/>
              <a:chExt cx="2499" cy="654"/>
            </a:xfrm>
          </p:grpSpPr>
          <p:sp>
            <p:nvSpPr>
              <p:cNvPr id="19" name="Rectangle 17">
                <a:extLst>
                  <a:ext uri="{FF2B5EF4-FFF2-40B4-BE49-F238E27FC236}">
                    <a16:creationId xmlns:a16="http://schemas.microsoft.com/office/drawing/2014/main" id="{0B87D4D3-C085-6205-B4AE-8AEC951450DC}"/>
                  </a:ext>
                </a:extLst>
              </p:cNvPr>
              <p:cNvSpPr>
                <a:spLocks noChangeArrowheads="1"/>
              </p:cNvSpPr>
              <p:nvPr/>
            </p:nvSpPr>
            <p:spPr bwMode="blackWhite">
              <a:xfrm>
                <a:off x="1200" y="2043"/>
                <a:ext cx="1231" cy="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0" name="Rectangle 18">
                <a:extLst>
                  <a:ext uri="{FF2B5EF4-FFF2-40B4-BE49-F238E27FC236}">
                    <a16:creationId xmlns:a16="http://schemas.microsoft.com/office/drawing/2014/main" id="{B1F528A8-5006-2B21-4275-672AD57B2A86}"/>
                  </a:ext>
                </a:extLst>
              </p:cNvPr>
              <p:cNvSpPr>
                <a:spLocks noChangeArrowheads="1"/>
              </p:cNvSpPr>
              <p:nvPr/>
            </p:nvSpPr>
            <p:spPr bwMode="auto">
              <a:xfrm>
                <a:off x="1185" y="2042"/>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Main query</a:t>
                </a:r>
              </a:p>
            </p:txBody>
          </p:sp>
          <p:sp>
            <p:nvSpPr>
              <p:cNvPr id="21" name="Rectangle 19">
                <a:extLst>
                  <a:ext uri="{FF2B5EF4-FFF2-40B4-BE49-F238E27FC236}">
                    <a16:creationId xmlns:a16="http://schemas.microsoft.com/office/drawing/2014/main" id="{8ABC80CC-8334-CFED-5612-78103350B377}"/>
                  </a:ext>
                </a:extLst>
              </p:cNvPr>
              <p:cNvSpPr>
                <a:spLocks noChangeArrowheads="1"/>
              </p:cNvSpPr>
              <p:nvPr/>
            </p:nvSpPr>
            <p:spPr bwMode="ltGray">
              <a:xfrm>
                <a:off x="1458" y="2340"/>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2" name="Rectangle 20">
                <a:extLst>
                  <a:ext uri="{FF2B5EF4-FFF2-40B4-BE49-F238E27FC236}">
                    <a16:creationId xmlns:a16="http://schemas.microsoft.com/office/drawing/2014/main" id="{F41C3C02-6A54-F203-6981-C9588B438428}"/>
                  </a:ext>
                </a:extLst>
              </p:cNvPr>
              <p:cNvSpPr>
                <a:spLocks noChangeArrowheads="1"/>
              </p:cNvSpPr>
              <p:nvPr/>
            </p:nvSpPr>
            <p:spPr bwMode="auto">
              <a:xfrm>
                <a:off x="1551" y="2409"/>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Subquery</a:t>
                </a:r>
              </a:p>
            </p:txBody>
          </p:sp>
          <p:sp>
            <p:nvSpPr>
              <p:cNvPr id="23" name="Rectangle 21">
                <a:extLst>
                  <a:ext uri="{FF2B5EF4-FFF2-40B4-BE49-F238E27FC236}">
                    <a16:creationId xmlns:a16="http://schemas.microsoft.com/office/drawing/2014/main" id="{716DA853-561A-B8EB-5B19-D5BA35F9CFC7}"/>
                  </a:ext>
                </a:extLst>
              </p:cNvPr>
              <p:cNvSpPr>
                <a:spLocks noChangeArrowheads="1"/>
              </p:cNvSpPr>
              <p:nvPr/>
            </p:nvSpPr>
            <p:spPr bwMode="auto">
              <a:xfrm>
                <a:off x="3388" y="2358"/>
                <a:ext cx="167" cy="330"/>
              </a:xfrm>
              <a:prstGeom prst="rect">
                <a:avLst/>
              </a:prstGeom>
              <a:noFill/>
              <a:ln>
                <a:noFill/>
              </a:ln>
              <a:effectLst/>
            </p:spPr>
            <p:txBody>
              <a:bodyPr wrap="none" lIns="92075" tIns="46038" rIns="92075" bIns="46038">
                <a:spAutoFit/>
              </a:bodyPr>
              <a:lstStyle/>
              <a:p>
                <a:pPr defTabSz="822325">
                  <a:spcBef>
                    <a:spcPct val="50000"/>
                  </a:spcBef>
                  <a:defRPr/>
                </a:pPr>
                <a:r>
                  <a:rPr lang="en-US" sz="2800" b="1">
                    <a:solidFill>
                      <a:srgbClr val="D3EAF8"/>
                    </a:solidFill>
                    <a:effectLst>
                      <a:outerShdw blurRad="38100" dist="38100" dir="2700000" algn="tl">
                        <a:srgbClr val="000000"/>
                      </a:outerShdw>
                    </a:effectLst>
                    <a:latin typeface="Cambria" panose="02040503050406030204" pitchFamily="18" charset="0"/>
                    <a:ea typeface="Cambria" panose="02040503050406030204" pitchFamily="18" charset="0"/>
                  </a:rPr>
                  <a:t> </a:t>
                </a:r>
              </a:p>
            </p:txBody>
          </p:sp>
          <p:sp>
            <p:nvSpPr>
              <p:cNvPr id="24" name="Line 22">
                <a:extLst>
                  <a:ext uri="{FF2B5EF4-FFF2-40B4-BE49-F238E27FC236}">
                    <a16:creationId xmlns:a16="http://schemas.microsoft.com/office/drawing/2014/main" id="{F1C95472-1B43-3197-79FF-E6D1C8DFB6C1}"/>
                  </a:ext>
                </a:extLst>
              </p:cNvPr>
              <p:cNvSpPr>
                <a:spLocks noChangeShapeType="1"/>
              </p:cNvSpPr>
              <p:nvPr/>
            </p:nvSpPr>
            <p:spPr bwMode="auto">
              <a:xfrm>
                <a:off x="2336" y="2519"/>
                <a:ext cx="1348"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25" name="Rectangle 23">
                <a:extLst>
                  <a:ext uri="{FF2B5EF4-FFF2-40B4-BE49-F238E27FC236}">
                    <a16:creationId xmlns:a16="http://schemas.microsoft.com/office/drawing/2014/main" id="{CA7040EF-A8C6-22A2-3343-82A30CE449FF}"/>
                  </a:ext>
                </a:extLst>
              </p:cNvPr>
              <p:cNvSpPr>
                <a:spLocks noChangeArrowheads="1"/>
              </p:cNvSpPr>
              <p:nvPr/>
            </p:nvSpPr>
            <p:spPr bwMode="auto">
              <a:xfrm>
                <a:off x="2664" y="2273"/>
                <a:ext cx="620" cy="233"/>
              </a:xfrm>
              <a:prstGeom prst="rect">
                <a:avLst/>
              </a:prstGeom>
              <a:noFill/>
              <a:ln>
                <a:noFill/>
              </a:ln>
              <a:effectLst/>
            </p:spPr>
            <p:txBody>
              <a:bodyPr wrap="none" lIns="92075" tIns="46038" rIns="92075" bIns="46038">
                <a:spAutoFit/>
              </a:bodyPr>
              <a:lstStyle/>
              <a:p>
                <a:pPr defTabSz="822325">
                  <a:spcBef>
                    <a:spcPct val="50000"/>
                  </a:spcBef>
                  <a:defRPr/>
                </a:pPr>
                <a:r>
                  <a:rPr lang="en-US" sz="1800" b="1" dirty="0">
                    <a:solidFill>
                      <a:srgbClr val="FF0000"/>
                    </a:solidFill>
                    <a:effectLst>
                      <a:outerShdw blurRad="38100" dist="38100" dir="2700000" algn="tl">
                        <a:srgbClr val="FFFFFF"/>
                      </a:outerShdw>
                    </a:effectLst>
                    <a:latin typeface="Cambria" panose="02040503050406030204" pitchFamily="18" charset="0"/>
                    <a:ea typeface="Cambria" panose="02040503050406030204" pitchFamily="18" charset="0"/>
                  </a:rPr>
                  <a:t>returns</a:t>
                </a:r>
              </a:p>
            </p:txBody>
          </p:sp>
        </p:grpSp>
      </p:grpSp>
      <p:grpSp>
        <p:nvGrpSpPr>
          <p:cNvPr id="26" name="Group 24">
            <a:extLst>
              <a:ext uri="{FF2B5EF4-FFF2-40B4-BE49-F238E27FC236}">
                <a16:creationId xmlns:a16="http://schemas.microsoft.com/office/drawing/2014/main" id="{6548093F-C375-906C-CAC1-E2B46024AB5C}"/>
              </a:ext>
            </a:extLst>
          </p:cNvPr>
          <p:cNvGrpSpPr>
            <a:grpSpLocks/>
          </p:cNvGrpSpPr>
          <p:nvPr/>
        </p:nvGrpSpPr>
        <p:grpSpPr bwMode="auto">
          <a:xfrm>
            <a:off x="323851" y="4258654"/>
            <a:ext cx="7383463" cy="1774825"/>
            <a:chOff x="424" y="2808"/>
            <a:chExt cx="4651" cy="1118"/>
          </a:xfrm>
        </p:grpSpPr>
        <p:sp>
          <p:nvSpPr>
            <p:cNvPr id="27" name="Rectangle 25">
              <a:extLst>
                <a:ext uri="{FF2B5EF4-FFF2-40B4-BE49-F238E27FC236}">
                  <a16:creationId xmlns:a16="http://schemas.microsoft.com/office/drawing/2014/main" id="{FC577CEA-7A10-0957-BF4A-EA46A046D1A7}"/>
                </a:ext>
              </a:extLst>
            </p:cNvPr>
            <p:cNvSpPr>
              <a:spLocks noChangeArrowheads="1"/>
            </p:cNvSpPr>
            <p:nvPr/>
          </p:nvSpPr>
          <p:spPr bwMode="auto">
            <a:xfrm>
              <a:off x="2267" y="2808"/>
              <a:ext cx="252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8" name="Rectangle 26">
              <a:extLst>
                <a:ext uri="{FF2B5EF4-FFF2-40B4-BE49-F238E27FC236}">
                  <a16:creationId xmlns:a16="http://schemas.microsoft.com/office/drawing/2014/main" id="{66E53B66-150E-BF92-FB05-B4BD30EA9A75}"/>
                </a:ext>
              </a:extLst>
            </p:cNvPr>
            <p:cNvSpPr>
              <a:spLocks noChangeArrowheads="1"/>
            </p:cNvSpPr>
            <p:nvPr/>
          </p:nvSpPr>
          <p:spPr bwMode="auto">
            <a:xfrm>
              <a:off x="424" y="2844"/>
              <a:ext cx="4614"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marL="114300" lvl="1" indent="0">
                <a:lnSpc>
                  <a:spcPct val="95000"/>
                </a:lnSpc>
                <a:spcBef>
                  <a:spcPct val="35000"/>
                </a:spcBef>
                <a:buClr>
                  <a:srgbClr val="FFCC66"/>
                </a:buClr>
                <a:buNone/>
              </a:pPr>
              <a:r>
                <a:rPr lang="en-US" altLang="en-US" dirty="0">
                  <a:solidFill>
                    <a:srgbClr val="0000CC"/>
                  </a:solidFill>
                  <a:latin typeface="Cambria" panose="02040503050406030204" pitchFamily="18" charset="0"/>
                  <a:ea typeface="Cambria" panose="02040503050406030204" pitchFamily="18" charset="0"/>
                </a:rPr>
                <a:t>Multiple-column subquery</a:t>
              </a:r>
            </a:p>
          </p:txBody>
        </p:sp>
        <p:sp>
          <p:nvSpPr>
            <p:cNvPr id="29" name="Rectangle 27">
              <a:extLst>
                <a:ext uri="{FF2B5EF4-FFF2-40B4-BE49-F238E27FC236}">
                  <a16:creationId xmlns:a16="http://schemas.microsoft.com/office/drawing/2014/main" id="{39BA2F7B-0FD8-2EAA-8284-856890D0521E}"/>
                </a:ext>
              </a:extLst>
            </p:cNvPr>
            <p:cNvSpPr>
              <a:spLocks noChangeArrowheads="1"/>
            </p:cNvSpPr>
            <p:nvPr/>
          </p:nvSpPr>
          <p:spPr bwMode="auto">
            <a:xfrm>
              <a:off x="3750" y="3480"/>
              <a:ext cx="1325" cy="446"/>
            </a:xfrm>
            <a:prstGeom prst="rect">
              <a:avLst/>
            </a:prstGeom>
            <a:noFill/>
            <a:ln>
              <a:noFill/>
            </a:ln>
            <a:effectLst/>
          </p:spPr>
          <p:txBody>
            <a:bodyPr wrap="none" lIns="92075" tIns="46038" rIns="92075" bIns="46038">
              <a:spAutoFit/>
            </a:bodyPr>
            <a:lstStyle/>
            <a:p>
              <a:pPr defTabSz="822325">
                <a:spcBef>
                  <a:spcPct val="50000"/>
                </a:spcBef>
                <a:defRPr/>
              </a:pPr>
              <a:r>
                <a:rPr lang="en-US" sz="2000" b="1" dirty="0">
                  <a:solidFill>
                    <a:srgbClr val="0000CC"/>
                  </a:solidFill>
                  <a:latin typeface="Cambria" panose="02040503050406030204" pitchFamily="18" charset="0"/>
                  <a:ea typeface="Cambria" panose="02040503050406030204" pitchFamily="18" charset="0"/>
                </a:rPr>
                <a:t>CLERK        7900</a:t>
              </a:r>
              <a:br>
                <a:rPr lang="en-US" sz="2000" b="1" dirty="0">
                  <a:solidFill>
                    <a:srgbClr val="0000CC"/>
                  </a:solidFill>
                  <a:latin typeface="Cambria" panose="02040503050406030204" pitchFamily="18" charset="0"/>
                  <a:ea typeface="Cambria" panose="02040503050406030204" pitchFamily="18" charset="0"/>
                </a:rPr>
              </a:br>
              <a:r>
                <a:rPr lang="en-US" sz="2000" b="1" dirty="0">
                  <a:solidFill>
                    <a:srgbClr val="0000CC"/>
                  </a:solidFill>
                  <a:latin typeface="Cambria" panose="02040503050406030204" pitchFamily="18" charset="0"/>
                  <a:ea typeface="Cambria" panose="02040503050406030204" pitchFamily="18" charset="0"/>
                </a:rPr>
                <a:t>MANAGER  7698</a:t>
              </a:r>
            </a:p>
          </p:txBody>
        </p:sp>
        <p:grpSp>
          <p:nvGrpSpPr>
            <p:cNvPr id="30" name="Group 28">
              <a:extLst>
                <a:ext uri="{FF2B5EF4-FFF2-40B4-BE49-F238E27FC236}">
                  <a16:creationId xmlns:a16="http://schemas.microsoft.com/office/drawing/2014/main" id="{CBD5EE9E-B519-C9B4-3D6D-CDD93E77FA4F}"/>
                </a:ext>
              </a:extLst>
            </p:cNvPr>
            <p:cNvGrpSpPr>
              <a:grpSpLocks/>
            </p:cNvGrpSpPr>
            <p:nvPr/>
          </p:nvGrpSpPr>
          <p:grpSpPr bwMode="auto">
            <a:xfrm>
              <a:off x="1173" y="3146"/>
              <a:ext cx="2499" cy="654"/>
              <a:chOff x="1173" y="3146"/>
              <a:chExt cx="2499" cy="654"/>
            </a:xfrm>
          </p:grpSpPr>
          <p:sp>
            <p:nvSpPr>
              <p:cNvPr id="31" name="Rectangle 29">
                <a:extLst>
                  <a:ext uri="{FF2B5EF4-FFF2-40B4-BE49-F238E27FC236}">
                    <a16:creationId xmlns:a16="http://schemas.microsoft.com/office/drawing/2014/main" id="{230E557F-5FBF-357E-6BA1-80208C5B59C0}"/>
                  </a:ext>
                </a:extLst>
              </p:cNvPr>
              <p:cNvSpPr>
                <a:spLocks noChangeArrowheads="1"/>
              </p:cNvSpPr>
              <p:nvPr/>
            </p:nvSpPr>
            <p:spPr bwMode="blackWhite">
              <a:xfrm>
                <a:off x="1188" y="3147"/>
                <a:ext cx="1231" cy="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6384" name="Rectangle 30">
                <a:extLst>
                  <a:ext uri="{FF2B5EF4-FFF2-40B4-BE49-F238E27FC236}">
                    <a16:creationId xmlns:a16="http://schemas.microsoft.com/office/drawing/2014/main" id="{9FFFBEE4-6597-3D94-6F90-10C12F64888E}"/>
                  </a:ext>
                </a:extLst>
              </p:cNvPr>
              <p:cNvSpPr>
                <a:spLocks noChangeArrowheads="1"/>
              </p:cNvSpPr>
              <p:nvPr/>
            </p:nvSpPr>
            <p:spPr bwMode="auto">
              <a:xfrm>
                <a:off x="1173" y="3146"/>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Main query</a:t>
                </a:r>
              </a:p>
            </p:txBody>
          </p:sp>
          <p:sp>
            <p:nvSpPr>
              <p:cNvPr id="16385" name="Rectangle 31">
                <a:extLst>
                  <a:ext uri="{FF2B5EF4-FFF2-40B4-BE49-F238E27FC236}">
                    <a16:creationId xmlns:a16="http://schemas.microsoft.com/office/drawing/2014/main" id="{D871473C-D186-E851-764C-9337B0EEE78B}"/>
                  </a:ext>
                </a:extLst>
              </p:cNvPr>
              <p:cNvSpPr>
                <a:spLocks noChangeArrowheads="1"/>
              </p:cNvSpPr>
              <p:nvPr/>
            </p:nvSpPr>
            <p:spPr bwMode="ltGray">
              <a:xfrm>
                <a:off x="1446" y="3444"/>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6386" name="Rectangle 32">
                <a:extLst>
                  <a:ext uri="{FF2B5EF4-FFF2-40B4-BE49-F238E27FC236}">
                    <a16:creationId xmlns:a16="http://schemas.microsoft.com/office/drawing/2014/main" id="{9951F26F-92B0-D39E-50F9-8F839FCED173}"/>
                  </a:ext>
                </a:extLst>
              </p:cNvPr>
              <p:cNvSpPr>
                <a:spLocks noChangeArrowheads="1"/>
              </p:cNvSpPr>
              <p:nvPr/>
            </p:nvSpPr>
            <p:spPr bwMode="auto">
              <a:xfrm>
                <a:off x="1539" y="3513"/>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Subquery</a:t>
                </a:r>
              </a:p>
            </p:txBody>
          </p:sp>
          <p:sp>
            <p:nvSpPr>
              <p:cNvPr id="16388" name="Rectangle 33">
                <a:extLst>
                  <a:ext uri="{FF2B5EF4-FFF2-40B4-BE49-F238E27FC236}">
                    <a16:creationId xmlns:a16="http://schemas.microsoft.com/office/drawing/2014/main" id="{BBF124BD-F7AA-1EF7-5972-BBAA7ADCA580}"/>
                  </a:ext>
                </a:extLst>
              </p:cNvPr>
              <p:cNvSpPr>
                <a:spLocks noChangeArrowheads="1"/>
              </p:cNvSpPr>
              <p:nvPr/>
            </p:nvSpPr>
            <p:spPr bwMode="auto">
              <a:xfrm>
                <a:off x="3376" y="3462"/>
                <a:ext cx="167" cy="330"/>
              </a:xfrm>
              <a:prstGeom prst="rect">
                <a:avLst/>
              </a:prstGeom>
              <a:noFill/>
              <a:ln>
                <a:noFill/>
              </a:ln>
              <a:effectLst/>
            </p:spPr>
            <p:txBody>
              <a:bodyPr wrap="none" lIns="92075" tIns="46038" rIns="92075" bIns="46038">
                <a:spAutoFit/>
              </a:bodyPr>
              <a:lstStyle/>
              <a:p>
                <a:pPr defTabSz="822325">
                  <a:spcBef>
                    <a:spcPct val="50000"/>
                  </a:spcBef>
                  <a:defRPr/>
                </a:pPr>
                <a:r>
                  <a:rPr lang="en-US" sz="2800" b="1">
                    <a:solidFill>
                      <a:srgbClr val="D3EAF8"/>
                    </a:solidFill>
                    <a:effectLst>
                      <a:outerShdw blurRad="38100" dist="38100" dir="2700000" algn="tl">
                        <a:srgbClr val="000000"/>
                      </a:outerShdw>
                    </a:effectLst>
                    <a:latin typeface="Cambria" panose="02040503050406030204" pitchFamily="18" charset="0"/>
                    <a:ea typeface="Cambria" panose="02040503050406030204" pitchFamily="18" charset="0"/>
                  </a:rPr>
                  <a:t> </a:t>
                </a:r>
              </a:p>
            </p:txBody>
          </p:sp>
          <p:sp>
            <p:nvSpPr>
              <p:cNvPr id="16389" name="Line 34">
                <a:extLst>
                  <a:ext uri="{FF2B5EF4-FFF2-40B4-BE49-F238E27FC236}">
                    <a16:creationId xmlns:a16="http://schemas.microsoft.com/office/drawing/2014/main" id="{B54BF39A-A60B-6D63-409B-7B804D34C7A2}"/>
                  </a:ext>
                </a:extLst>
              </p:cNvPr>
              <p:cNvSpPr>
                <a:spLocks noChangeShapeType="1"/>
              </p:cNvSpPr>
              <p:nvPr/>
            </p:nvSpPr>
            <p:spPr bwMode="auto">
              <a:xfrm>
                <a:off x="2324" y="3623"/>
                <a:ext cx="1348"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16390" name="Rectangle 35">
                <a:extLst>
                  <a:ext uri="{FF2B5EF4-FFF2-40B4-BE49-F238E27FC236}">
                    <a16:creationId xmlns:a16="http://schemas.microsoft.com/office/drawing/2014/main" id="{C16378E7-F2F0-F9F9-D2DA-1083DB9841E2}"/>
                  </a:ext>
                </a:extLst>
              </p:cNvPr>
              <p:cNvSpPr>
                <a:spLocks noChangeArrowheads="1"/>
              </p:cNvSpPr>
              <p:nvPr/>
            </p:nvSpPr>
            <p:spPr bwMode="auto">
              <a:xfrm>
                <a:off x="2652" y="3377"/>
                <a:ext cx="620" cy="233"/>
              </a:xfrm>
              <a:prstGeom prst="rect">
                <a:avLst/>
              </a:prstGeom>
              <a:noFill/>
              <a:ln>
                <a:noFill/>
              </a:ln>
              <a:effectLst/>
            </p:spPr>
            <p:txBody>
              <a:bodyPr wrap="none" lIns="92075" tIns="46038" rIns="92075" bIns="46038">
                <a:spAutoFit/>
              </a:bodyPr>
              <a:lstStyle/>
              <a:p>
                <a:pPr defTabSz="822325">
                  <a:spcBef>
                    <a:spcPct val="50000"/>
                  </a:spcBef>
                  <a:defRPr/>
                </a:pPr>
                <a:r>
                  <a:rPr lang="en-US" sz="1800" b="1" dirty="0">
                    <a:solidFill>
                      <a:srgbClr val="FF0000"/>
                    </a:solidFill>
                    <a:effectLst>
                      <a:outerShdw blurRad="38100" dist="38100" dir="2700000" algn="tl">
                        <a:srgbClr val="FFFFFF"/>
                      </a:outerShdw>
                    </a:effectLst>
                    <a:latin typeface="Cambria" panose="02040503050406030204" pitchFamily="18" charset="0"/>
                    <a:ea typeface="Cambria" panose="02040503050406030204" pitchFamily="18" charset="0"/>
                  </a:rPr>
                  <a:t>returns</a:t>
                </a:r>
              </a:p>
            </p:txBody>
          </p:sp>
        </p:grpSp>
      </p:grpSp>
    </p:spTree>
    <p:extLst>
      <p:ext uri="{BB962C8B-B14F-4D97-AF65-F5344CB8AC3E}">
        <p14:creationId xmlns:p14="http://schemas.microsoft.com/office/powerpoint/2010/main" val="11436759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2BEEC-044A-EE6D-BBED-87A2345FE27B}"/>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90F3DAF9-9839-556E-76DB-929D0FEC057F}"/>
              </a:ext>
            </a:extLst>
          </p:cNvPr>
          <p:cNvSpPr>
            <a:spLocks noGrp="1" noChangeArrowheads="1"/>
          </p:cNvSpPr>
          <p:nvPr>
            <p:ph type="title"/>
          </p:nvPr>
        </p:nvSpPr>
        <p:spPr>
          <a:xfrm>
            <a:off x="395288" y="186916"/>
            <a:ext cx="5760888"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Guidelines for writing Subqueries</a:t>
            </a:r>
          </a:p>
        </p:txBody>
      </p:sp>
      <p:sp>
        <p:nvSpPr>
          <p:cNvPr id="16387" name="Rectangle 3">
            <a:extLst>
              <a:ext uri="{FF2B5EF4-FFF2-40B4-BE49-F238E27FC236}">
                <a16:creationId xmlns:a16="http://schemas.microsoft.com/office/drawing/2014/main" id="{F6B52DFA-CDE7-E0D8-9C48-948D8E5FDE8D}"/>
              </a:ext>
            </a:extLst>
          </p:cNvPr>
          <p:cNvSpPr>
            <a:spLocks noGrp="1" noChangeArrowheads="1"/>
          </p:cNvSpPr>
          <p:nvPr>
            <p:ph type="body" idx="1"/>
          </p:nvPr>
        </p:nvSpPr>
        <p:spPr>
          <a:xfrm>
            <a:off x="395288" y="692696"/>
            <a:ext cx="8497887" cy="4355681"/>
          </a:xfrm>
        </p:spPr>
        <p:txBody>
          <a:bodyPr lIns="92075" tIns="46038" rIns="92075" bIns="46038">
            <a:spAutoFit/>
          </a:bodyPr>
          <a:lstStyle/>
          <a:p>
            <a:pPr marL="230188" indent="-230188" algn="just">
              <a:defRPr/>
            </a:pPr>
            <a:r>
              <a:rPr lang="en-US" altLang="en-US" sz="2800" dirty="0">
                <a:latin typeface="Cambria" panose="02040503050406030204" pitchFamily="18" charset="0"/>
                <a:ea typeface="Cambria" panose="02040503050406030204" pitchFamily="18" charset="0"/>
              </a:rPr>
              <a:t>Enclose subqueries in parentheses. </a:t>
            </a:r>
          </a:p>
          <a:p>
            <a:pPr marL="230188" indent="-230188" algn="just">
              <a:defRPr/>
            </a:pPr>
            <a:r>
              <a:rPr lang="en-US" altLang="en-US" sz="2800" dirty="0">
                <a:latin typeface="Cambria" panose="02040503050406030204" pitchFamily="18" charset="0"/>
                <a:ea typeface="Cambria" panose="02040503050406030204" pitchFamily="18" charset="0"/>
              </a:rPr>
              <a:t>Place subqueries on the right side of the comparison operator.</a:t>
            </a:r>
          </a:p>
          <a:p>
            <a:pPr marL="230188" indent="-230188" algn="just">
              <a:defRPr/>
            </a:pPr>
            <a:r>
              <a:rPr lang="en-US" altLang="en-US" sz="2800" dirty="0">
                <a:solidFill>
                  <a:srgbClr val="FF0000"/>
                </a:solidFill>
                <a:latin typeface="Cambria" panose="02040503050406030204" pitchFamily="18" charset="0"/>
                <a:ea typeface="Cambria" panose="02040503050406030204" pitchFamily="18" charset="0"/>
              </a:rPr>
              <a:t>ORDER BY</a:t>
            </a:r>
            <a:r>
              <a:rPr lang="en-US" altLang="en-US" sz="2800" dirty="0">
                <a:latin typeface="Cambria" panose="02040503050406030204" pitchFamily="18" charset="0"/>
                <a:ea typeface="Cambria" panose="02040503050406030204" pitchFamily="18" charset="0"/>
              </a:rPr>
              <a:t> clause is </a:t>
            </a:r>
            <a:r>
              <a:rPr lang="en-US" altLang="en-US" sz="2800" dirty="0">
                <a:solidFill>
                  <a:srgbClr val="FF0000"/>
                </a:solidFill>
                <a:latin typeface="Cambria" panose="02040503050406030204" pitchFamily="18" charset="0"/>
                <a:ea typeface="Cambria" panose="02040503050406030204" pitchFamily="18" charset="0"/>
              </a:rPr>
              <a:t>not required</a:t>
            </a:r>
            <a:r>
              <a:rPr lang="en-US" altLang="en-US" sz="2800" dirty="0">
                <a:latin typeface="Cambria" panose="02040503050406030204" pitchFamily="18" charset="0"/>
                <a:ea typeface="Cambria" panose="02040503050406030204" pitchFamily="18" charset="0"/>
              </a:rPr>
              <a:t> in  a subquery.</a:t>
            </a:r>
          </a:p>
          <a:p>
            <a:pPr marL="230188" indent="-230188" algn="just">
              <a:defRPr/>
            </a:pPr>
            <a:r>
              <a:rPr lang="en-US" altLang="en-US" sz="2800" dirty="0">
                <a:latin typeface="Cambria" panose="02040503050406030204" pitchFamily="18" charset="0"/>
                <a:ea typeface="Cambria" panose="02040503050406030204" pitchFamily="18" charset="0"/>
              </a:rPr>
              <a:t>Use </a:t>
            </a:r>
            <a:r>
              <a:rPr lang="en-US" altLang="en-US" sz="2800" dirty="0">
                <a:solidFill>
                  <a:srgbClr val="FF0000"/>
                </a:solidFill>
                <a:latin typeface="Cambria" panose="02040503050406030204" pitchFamily="18" charset="0"/>
                <a:ea typeface="Cambria" panose="02040503050406030204" pitchFamily="18" charset="0"/>
              </a:rPr>
              <a:t>single-row operators </a:t>
            </a:r>
            <a:r>
              <a:rPr lang="en-US" altLang="en-US" sz="2800" dirty="0">
                <a:solidFill>
                  <a:srgbClr val="0000CC"/>
                </a:solidFill>
                <a:latin typeface="Cambria" panose="02040503050406030204" pitchFamily="18" charset="0"/>
                <a:ea typeface="Cambria" panose="02040503050406030204" pitchFamily="18" charset="0"/>
              </a:rPr>
              <a:t>(=, &gt;, &gt;=, &lt;, &lt;=, &lt;&gt;)</a:t>
            </a:r>
            <a:r>
              <a:rPr lang="en-US" altLang="en-US" sz="2800" dirty="0">
                <a:latin typeface="Cambria" panose="02040503050406030204" pitchFamily="18" charset="0"/>
                <a:ea typeface="Cambria" panose="02040503050406030204" pitchFamily="18" charset="0"/>
              </a:rPr>
              <a:t> with </a:t>
            </a:r>
            <a:r>
              <a:rPr lang="en-US" altLang="en-US" sz="2800" dirty="0">
                <a:solidFill>
                  <a:srgbClr val="FF0000"/>
                </a:solidFill>
                <a:latin typeface="Cambria" panose="02040503050406030204" pitchFamily="18" charset="0"/>
                <a:ea typeface="Cambria" panose="02040503050406030204" pitchFamily="18" charset="0"/>
              </a:rPr>
              <a:t>single-row subqueries.</a:t>
            </a:r>
          </a:p>
          <a:p>
            <a:pPr marL="230188" indent="-230188" algn="just">
              <a:defRPr/>
            </a:pPr>
            <a:r>
              <a:rPr lang="en-US" altLang="en-US" sz="2800" dirty="0">
                <a:latin typeface="Cambria" panose="02040503050406030204" pitchFamily="18" charset="0"/>
                <a:ea typeface="Cambria" panose="02040503050406030204" pitchFamily="18" charset="0"/>
              </a:rPr>
              <a:t>Use </a:t>
            </a:r>
            <a:r>
              <a:rPr lang="en-US" altLang="en-US" sz="2800" dirty="0">
                <a:solidFill>
                  <a:srgbClr val="FF0000"/>
                </a:solidFill>
                <a:latin typeface="Cambria" panose="02040503050406030204" pitchFamily="18" charset="0"/>
                <a:ea typeface="Cambria" panose="02040503050406030204" pitchFamily="18" charset="0"/>
              </a:rPr>
              <a:t>multiple-row operators </a:t>
            </a:r>
            <a:r>
              <a:rPr lang="en-US" altLang="en-US" sz="2800" dirty="0">
                <a:solidFill>
                  <a:srgbClr val="0000CC"/>
                </a:solidFill>
                <a:latin typeface="Cambria" panose="02040503050406030204" pitchFamily="18" charset="0"/>
                <a:ea typeface="Cambria" panose="02040503050406030204" pitchFamily="18" charset="0"/>
              </a:rPr>
              <a:t>(IN, ANY, ALL, EXISTS)</a:t>
            </a:r>
            <a:r>
              <a:rPr lang="en-US" altLang="en-US" sz="2800" dirty="0">
                <a:latin typeface="Cambria" panose="02040503050406030204" pitchFamily="18" charset="0"/>
                <a:ea typeface="Cambria" panose="02040503050406030204" pitchFamily="18" charset="0"/>
              </a:rPr>
              <a:t> with multiple-row subqueries.</a:t>
            </a:r>
          </a:p>
          <a:p>
            <a:pPr marL="0" indent="0" algn="just">
              <a:buClr>
                <a:srgbClr val="0000CC"/>
              </a:buClr>
              <a:buNone/>
              <a:defRPr/>
            </a:pPr>
            <a:endParaRPr lang="en-US" altLang="en-US" sz="2800" dirty="0">
              <a:latin typeface="Cambria" panose="02040503050406030204" pitchFamily="18" charset="0"/>
              <a:ea typeface="Cambria" panose="02040503050406030204" pitchFamily="18" charset="0"/>
            </a:endParaRPr>
          </a:p>
        </p:txBody>
      </p:sp>
      <p:sp>
        <p:nvSpPr>
          <p:cNvPr id="2" name="Footer Placeholder 2">
            <a:extLst>
              <a:ext uri="{FF2B5EF4-FFF2-40B4-BE49-F238E27FC236}">
                <a16:creationId xmlns:a16="http://schemas.microsoft.com/office/drawing/2014/main" id="{44C70C69-29B0-01D6-0823-50272ACA49E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106A1C4A-12E7-4AAA-DF86-60A136CCF6F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66521098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6A27A-5C40-069A-AAEC-CFB4EA2B78E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13DAB47B-5DA1-E93E-A785-111B0744B7B7}"/>
              </a:ext>
            </a:extLst>
          </p:cNvPr>
          <p:cNvSpPr>
            <a:spLocks noChangeArrowheads="1"/>
          </p:cNvSpPr>
          <p:nvPr/>
        </p:nvSpPr>
        <p:spPr bwMode="blackWhite">
          <a:xfrm>
            <a:off x="939800" y="980479"/>
            <a:ext cx="7480300" cy="28384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857500" algn="l"/>
                <a:tab pos="4572000" algn="l"/>
              </a:tabLst>
              <a:defRPr sz="2800">
                <a:solidFill>
                  <a:schemeClr val="tx1"/>
                </a:solidFill>
                <a:latin typeface="Arial" panose="020B0604020202020204" pitchFamily="34" charset="0"/>
              </a:defRPr>
            </a:lvl1pPr>
            <a:lvl2pPr marL="742950" indent="-285750">
              <a:spcBef>
                <a:spcPct val="20000"/>
              </a:spcBef>
              <a:buChar char="–"/>
              <a:tabLst>
                <a:tab pos="1200150" algn="l"/>
                <a:tab pos="2857500" algn="l"/>
                <a:tab pos="4572000" algn="l"/>
              </a:tabLst>
              <a:defRPr sz="2400">
                <a:solidFill>
                  <a:schemeClr val="tx1"/>
                </a:solidFill>
                <a:latin typeface="Arial" panose="020B0604020202020204" pitchFamily="34" charset="0"/>
              </a:defRPr>
            </a:lvl2pPr>
            <a:lvl3pPr marL="11430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3pPr>
            <a:lvl4pPr marL="16002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4pPr>
            <a:lvl5pPr marL="20574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p>
        </p:txBody>
      </p:sp>
      <p:sp>
        <p:nvSpPr>
          <p:cNvPr id="26627" name="Rectangle 3">
            <a:extLst>
              <a:ext uri="{FF2B5EF4-FFF2-40B4-BE49-F238E27FC236}">
                <a16:creationId xmlns:a16="http://schemas.microsoft.com/office/drawing/2014/main" id="{78AD414B-6F58-B125-06AE-1712A9957346}"/>
              </a:ext>
            </a:extLst>
          </p:cNvPr>
          <p:cNvSpPr>
            <a:spLocks noGrp="1" noChangeArrowheads="1"/>
          </p:cNvSpPr>
          <p:nvPr>
            <p:ph type="title"/>
          </p:nvPr>
        </p:nvSpPr>
        <p:spPr>
          <a:xfrm>
            <a:off x="467544" y="257174"/>
            <a:ext cx="5616575" cy="522288"/>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Executing Single-Row Subqueries</a:t>
            </a:r>
          </a:p>
        </p:txBody>
      </p:sp>
      <p:grpSp>
        <p:nvGrpSpPr>
          <p:cNvPr id="301060" name="Group 4">
            <a:extLst>
              <a:ext uri="{FF2B5EF4-FFF2-40B4-BE49-F238E27FC236}">
                <a16:creationId xmlns:a16="http://schemas.microsoft.com/office/drawing/2014/main" id="{C6610314-519B-A752-B6E6-47331ED9C6EF}"/>
              </a:ext>
            </a:extLst>
          </p:cNvPr>
          <p:cNvGrpSpPr>
            <a:grpSpLocks/>
          </p:cNvGrpSpPr>
          <p:nvPr/>
        </p:nvGrpSpPr>
        <p:grpSpPr bwMode="auto">
          <a:xfrm>
            <a:off x="3754438" y="1501179"/>
            <a:ext cx="4335462" cy="1189038"/>
            <a:chOff x="2365" y="1256"/>
            <a:chExt cx="2731" cy="749"/>
          </a:xfrm>
        </p:grpSpPr>
        <p:sp>
          <p:nvSpPr>
            <p:cNvPr id="26635" name="Rectangle 5">
              <a:extLst>
                <a:ext uri="{FF2B5EF4-FFF2-40B4-BE49-F238E27FC236}">
                  <a16:creationId xmlns:a16="http://schemas.microsoft.com/office/drawing/2014/main" id="{C6CDBE1F-A98B-624E-005A-CC4A01EFEC72}"/>
                </a:ext>
              </a:extLst>
            </p:cNvPr>
            <p:cNvSpPr>
              <a:spLocks noChangeArrowheads="1"/>
            </p:cNvSpPr>
            <p:nvPr/>
          </p:nvSpPr>
          <p:spPr bwMode="ltGray">
            <a:xfrm>
              <a:off x="2365" y="1473"/>
              <a:ext cx="27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CC"/>
                </a:solidFill>
              </a:endParaRPr>
            </a:p>
          </p:txBody>
        </p:sp>
        <p:sp>
          <p:nvSpPr>
            <p:cNvPr id="26636" name="Arc 6">
              <a:extLst>
                <a:ext uri="{FF2B5EF4-FFF2-40B4-BE49-F238E27FC236}">
                  <a16:creationId xmlns:a16="http://schemas.microsoft.com/office/drawing/2014/main" id="{A756F85B-02C7-3F43-8859-F2610686CD42}"/>
                </a:ext>
              </a:extLst>
            </p:cNvPr>
            <p:cNvSpPr>
              <a:spLocks/>
            </p:cNvSpPr>
            <p:nvPr/>
          </p:nvSpPr>
          <p:spPr bwMode="auto">
            <a:xfrm rot="10800000">
              <a:off x="2629" y="1338"/>
              <a:ext cx="1777" cy="383"/>
            </a:xfrm>
            <a:custGeom>
              <a:avLst/>
              <a:gdLst>
                <a:gd name="T0" fmla="*/ 0 w 27031"/>
                <a:gd name="T1" fmla="*/ 0 h 24187"/>
                <a:gd name="T2" fmla="*/ 0 w 27031"/>
                <a:gd name="T3" fmla="*/ 0 h 24187"/>
                <a:gd name="T4" fmla="*/ 0 w 27031"/>
                <a:gd name="T5" fmla="*/ 0 h 24187"/>
                <a:gd name="T6" fmla="*/ 0 60000 65536"/>
                <a:gd name="T7" fmla="*/ 0 60000 65536"/>
                <a:gd name="T8" fmla="*/ 0 60000 65536"/>
              </a:gdLst>
              <a:ahLst/>
              <a:cxnLst>
                <a:cxn ang="T6">
                  <a:pos x="T0" y="T1"/>
                </a:cxn>
                <a:cxn ang="T7">
                  <a:pos x="T2" y="T3"/>
                </a:cxn>
                <a:cxn ang="T8">
                  <a:pos x="T4" y="T5"/>
                </a:cxn>
              </a:cxnLst>
              <a:rect l="0" t="0" r="r" b="b"/>
              <a:pathLst>
                <a:path w="27031" h="24187" fill="none" extrusionOk="0">
                  <a:moveTo>
                    <a:pt x="27031" y="23493"/>
                  </a:moveTo>
                  <a:cubicBezTo>
                    <a:pt x="25257" y="23953"/>
                    <a:pt x="23432" y="24186"/>
                    <a:pt x="21600" y="24187"/>
                  </a:cubicBezTo>
                  <a:cubicBezTo>
                    <a:pt x="9670" y="24187"/>
                    <a:pt x="0" y="14516"/>
                    <a:pt x="0" y="2587"/>
                  </a:cubicBezTo>
                  <a:cubicBezTo>
                    <a:pt x="-1" y="1722"/>
                    <a:pt x="51" y="858"/>
                    <a:pt x="155" y="-1"/>
                  </a:cubicBezTo>
                </a:path>
                <a:path w="27031" h="24187" stroke="0" extrusionOk="0">
                  <a:moveTo>
                    <a:pt x="27031" y="23493"/>
                  </a:moveTo>
                  <a:cubicBezTo>
                    <a:pt x="25257" y="23953"/>
                    <a:pt x="23432" y="24186"/>
                    <a:pt x="21600" y="24187"/>
                  </a:cubicBezTo>
                  <a:cubicBezTo>
                    <a:pt x="9670" y="24187"/>
                    <a:pt x="0" y="14516"/>
                    <a:pt x="0" y="2587"/>
                  </a:cubicBezTo>
                  <a:cubicBezTo>
                    <a:pt x="-1" y="1722"/>
                    <a:pt x="51" y="858"/>
                    <a:pt x="155" y="-1"/>
                  </a:cubicBezTo>
                  <a:lnTo>
                    <a:pt x="21600" y="2587"/>
                  </a:lnTo>
                  <a:lnTo>
                    <a:pt x="27031" y="23493"/>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solidFill>
                  <a:srgbClr val="0000CC"/>
                </a:solidFill>
              </a:endParaRPr>
            </a:p>
          </p:txBody>
        </p:sp>
        <p:sp>
          <p:nvSpPr>
            <p:cNvPr id="26637" name="Rectangle 7">
              <a:extLst>
                <a:ext uri="{FF2B5EF4-FFF2-40B4-BE49-F238E27FC236}">
                  <a16:creationId xmlns:a16="http://schemas.microsoft.com/office/drawing/2014/main" id="{3AF8AA5E-374F-506D-4099-2A37BCE1EFE5}"/>
                </a:ext>
              </a:extLst>
            </p:cNvPr>
            <p:cNvSpPr>
              <a:spLocks noChangeArrowheads="1"/>
            </p:cNvSpPr>
            <p:nvPr/>
          </p:nvSpPr>
          <p:spPr bwMode="auto">
            <a:xfrm>
              <a:off x="3896" y="1256"/>
              <a:ext cx="560"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0000CC"/>
                  </a:solidFill>
                </a:rPr>
                <a:t>CLERK</a:t>
              </a:r>
            </a:p>
          </p:txBody>
        </p:sp>
      </p:grpSp>
      <p:grpSp>
        <p:nvGrpSpPr>
          <p:cNvPr id="301064" name="Group 8">
            <a:extLst>
              <a:ext uri="{FF2B5EF4-FFF2-40B4-BE49-F238E27FC236}">
                <a16:creationId xmlns:a16="http://schemas.microsoft.com/office/drawing/2014/main" id="{AEDA3022-EB34-D146-77F6-D9E3527CC1E3}"/>
              </a:ext>
            </a:extLst>
          </p:cNvPr>
          <p:cNvGrpSpPr>
            <a:grpSpLocks/>
          </p:cNvGrpSpPr>
          <p:nvPr/>
        </p:nvGrpSpPr>
        <p:grpSpPr bwMode="auto">
          <a:xfrm>
            <a:off x="3754438" y="2606079"/>
            <a:ext cx="4335462" cy="1150938"/>
            <a:chOff x="2365" y="1952"/>
            <a:chExt cx="2731" cy="725"/>
          </a:xfrm>
        </p:grpSpPr>
        <p:sp>
          <p:nvSpPr>
            <p:cNvPr id="26632" name="Rectangle 9">
              <a:extLst>
                <a:ext uri="{FF2B5EF4-FFF2-40B4-BE49-F238E27FC236}">
                  <a16:creationId xmlns:a16="http://schemas.microsoft.com/office/drawing/2014/main" id="{72EF34C5-3DC8-849D-5481-03548668F514}"/>
                </a:ext>
              </a:extLst>
            </p:cNvPr>
            <p:cNvSpPr>
              <a:spLocks noChangeArrowheads="1"/>
            </p:cNvSpPr>
            <p:nvPr/>
          </p:nvSpPr>
          <p:spPr bwMode="ltGray">
            <a:xfrm>
              <a:off x="2365" y="2145"/>
              <a:ext cx="27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CC"/>
                </a:solidFill>
              </a:endParaRPr>
            </a:p>
          </p:txBody>
        </p:sp>
        <p:sp>
          <p:nvSpPr>
            <p:cNvPr id="26633" name="Arc 10">
              <a:extLst>
                <a:ext uri="{FF2B5EF4-FFF2-40B4-BE49-F238E27FC236}">
                  <a16:creationId xmlns:a16="http://schemas.microsoft.com/office/drawing/2014/main" id="{9338C89B-0BE4-85E5-95B9-CE1241B395D8}"/>
                </a:ext>
              </a:extLst>
            </p:cNvPr>
            <p:cNvSpPr>
              <a:spLocks/>
            </p:cNvSpPr>
            <p:nvPr/>
          </p:nvSpPr>
          <p:spPr bwMode="auto">
            <a:xfrm rot="10800000">
              <a:off x="2629" y="2046"/>
              <a:ext cx="1777" cy="383"/>
            </a:xfrm>
            <a:custGeom>
              <a:avLst/>
              <a:gdLst>
                <a:gd name="T0" fmla="*/ 0 w 27031"/>
                <a:gd name="T1" fmla="*/ 0 h 24187"/>
                <a:gd name="T2" fmla="*/ 0 w 27031"/>
                <a:gd name="T3" fmla="*/ 0 h 24187"/>
                <a:gd name="T4" fmla="*/ 0 w 27031"/>
                <a:gd name="T5" fmla="*/ 0 h 24187"/>
                <a:gd name="T6" fmla="*/ 0 60000 65536"/>
                <a:gd name="T7" fmla="*/ 0 60000 65536"/>
                <a:gd name="T8" fmla="*/ 0 60000 65536"/>
              </a:gdLst>
              <a:ahLst/>
              <a:cxnLst>
                <a:cxn ang="T6">
                  <a:pos x="T0" y="T1"/>
                </a:cxn>
                <a:cxn ang="T7">
                  <a:pos x="T2" y="T3"/>
                </a:cxn>
                <a:cxn ang="T8">
                  <a:pos x="T4" y="T5"/>
                </a:cxn>
              </a:cxnLst>
              <a:rect l="0" t="0" r="r" b="b"/>
              <a:pathLst>
                <a:path w="27031" h="24187" fill="none" extrusionOk="0">
                  <a:moveTo>
                    <a:pt x="27031" y="23493"/>
                  </a:moveTo>
                  <a:cubicBezTo>
                    <a:pt x="25257" y="23953"/>
                    <a:pt x="23432" y="24186"/>
                    <a:pt x="21600" y="24187"/>
                  </a:cubicBezTo>
                  <a:cubicBezTo>
                    <a:pt x="9670" y="24187"/>
                    <a:pt x="0" y="14516"/>
                    <a:pt x="0" y="2587"/>
                  </a:cubicBezTo>
                  <a:cubicBezTo>
                    <a:pt x="-1" y="1722"/>
                    <a:pt x="51" y="858"/>
                    <a:pt x="155" y="-1"/>
                  </a:cubicBezTo>
                </a:path>
                <a:path w="27031" h="24187" stroke="0" extrusionOk="0">
                  <a:moveTo>
                    <a:pt x="27031" y="23493"/>
                  </a:moveTo>
                  <a:cubicBezTo>
                    <a:pt x="25257" y="23953"/>
                    <a:pt x="23432" y="24186"/>
                    <a:pt x="21600" y="24187"/>
                  </a:cubicBezTo>
                  <a:cubicBezTo>
                    <a:pt x="9670" y="24187"/>
                    <a:pt x="0" y="14516"/>
                    <a:pt x="0" y="2587"/>
                  </a:cubicBezTo>
                  <a:cubicBezTo>
                    <a:pt x="-1" y="1722"/>
                    <a:pt x="51" y="858"/>
                    <a:pt x="155" y="-1"/>
                  </a:cubicBezTo>
                  <a:lnTo>
                    <a:pt x="21600" y="2587"/>
                  </a:lnTo>
                  <a:lnTo>
                    <a:pt x="27031" y="23493"/>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solidFill>
                  <a:srgbClr val="0000CC"/>
                </a:solidFill>
              </a:endParaRPr>
            </a:p>
          </p:txBody>
        </p:sp>
        <p:sp>
          <p:nvSpPr>
            <p:cNvPr id="26634" name="Rectangle 11">
              <a:extLst>
                <a:ext uri="{FF2B5EF4-FFF2-40B4-BE49-F238E27FC236}">
                  <a16:creationId xmlns:a16="http://schemas.microsoft.com/office/drawing/2014/main" id="{C96A1702-2B53-47DB-323B-EE8A7C05ABE8}"/>
                </a:ext>
              </a:extLst>
            </p:cNvPr>
            <p:cNvSpPr>
              <a:spLocks noChangeArrowheads="1"/>
            </p:cNvSpPr>
            <p:nvPr/>
          </p:nvSpPr>
          <p:spPr bwMode="auto">
            <a:xfrm>
              <a:off x="3922" y="1952"/>
              <a:ext cx="397"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0000CC"/>
                  </a:solidFill>
                </a:rPr>
                <a:t>1100</a:t>
              </a:r>
            </a:p>
          </p:txBody>
        </p:sp>
      </p:grpSp>
      <p:sp>
        <p:nvSpPr>
          <p:cNvPr id="301068" name="Rectangle 12">
            <a:extLst>
              <a:ext uri="{FF2B5EF4-FFF2-40B4-BE49-F238E27FC236}">
                <a16:creationId xmlns:a16="http://schemas.microsoft.com/office/drawing/2014/main" id="{1D05AEAE-DB12-8DFA-1DA4-5F966CF9AA81}"/>
              </a:ext>
            </a:extLst>
          </p:cNvPr>
          <p:cNvSpPr>
            <a:spLocks noChangeArrowheads="1"/>
          </p:cNvSpPr>
          <p:nvPr/>
        </p:nvSpPr>
        <p:spPr bwMode="blackWhite">
          <a:xfrm>
            <a:off x="941388" y="4241204"/>
            <a:ext cx="7478712" cy="9159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JOB</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MILLER     CLERK</a:t>
            </a:r>
          </a:p>
        </p:txBody>
      </p:sp>
      <p:sp>
        <p:nvSpPr>
          <p:cNvPr id="26631" name="Rectangle 13">
            <a:extLst>
              <a:ext uri="{FF2B5EF4-FFF2-40B4-BE49-F238E27FC236}">
                <a16:creationId xmlns:a16="http://schemas.microsoft.com/office/drawing/2014/main" id="{200B49DC-398C-06C3-9DE1-8462F1CDDAC9}"/>
              </a:ext>
            </a:extLst>
          </p:cNvPr>
          <p:cNvSpPr>
            <a:spLocks noChangeArrowheads="1"/>
          </p:cNvSpPr>
          <p:nvPr/>
        </p:nvSpPr>
        <p:spPr bwMode="blackWhite">
          <a:xfrm>
            <a:off x="928688" y="967779"/>
            <a:ext cx="7229475" cy="286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857500" algn="l"/>
                <a:tab pos="4572000" algn="l"/>
              </a:tabLst>
              <a:defRPr sz="2800">
                <a:solidFill>
                  <a:schemeClr val="tx1"/>
                </a:solidFill>
                <a:latin typeface="Arial" panose="020B0604020202020204" pitchFamily="34" charset="0"/>
              </a:defRPr>
            </a:lvl1pPr>
            <a:lvl2pPr marL="742950" indent="-285750">
              <a:spcBef>
                <a:spcPct val="20000"/>
              </a:spcBef>
              <a:buChar char="–"/>
              <a:tabLst>
                <a:tab pos="1200150" algn="l"/>
                <a:tab pos="2857500" algn="l"/>
                <a:tab pos="4572000" algn="l"/>
              </a:tabLst>
              <a:defRPr sz="2400">
                <a:solidFill>
                  <a:schemeClr val="tx1"/>
                </a:solidFill>
                <a:latin typeface="Arial" panose="020B0604020202020204" pitchFamily="34" charset="0"/>
              </a:defRPr>
            </a:lvl2pPr>
            <a:lvl3pPr marL="11430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3pPr>
            <a:lvl4pPr marL="16002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4pPr>
            <a:lvl5pPr marL="20574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WHERE    job = </a:t>
            </a:r>
          </a:p>
          <a:p>
            <a:pPr>
              <a:spcBef>
                <a:spcPct val="0"/>
              </a:spcBef>
              <a:buFontTx/>
              <a:buNone/>
            </a:pPr>
            <a:r>
              <a:rPr lang="en-US" altLang="en-US" sz="1800" b="1" dirty="0">
                <a:solidFill>
                  <a:srgbClr val="000000"/>
                </a:solidFill>
                <a:latin typeface="Courier New" panose="02070309020205020404" pitchFamily="49" charset="0"/>
              </a:rPr>
              <a:t>  4		(SELECT  	job</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5	     	FROM     	emp</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6	    	WHERE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 7369)</a:t>
            </a:r>
          </a:p>
          <a:p>
            <a:pPr>
              <a:spcBef>
                <a:spcPct val="0"/>
              </a:spcBef>
              <a:buFontTx/>
              <a:buNone/>
            </a:pPr>
            <a:r>
              <a:rPr lang="en-US" altLang="en-US" sz="1800" b="1" dirty="0">
                <a:solidFill>
                  <a:srgbClr val="000000"/>
                </a:solidFill>
                <a:latin typeface="Courier New" panose="02070309020205020404" pitchFamily="49" charset="0"/>
              </a:rPr>
              <a:t>  7  AND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&gt; </a:t>
            </a:r>
          </a:p>
          <a:p>
            <a:pPr>
              <a:spcBef>
                <a:spcPct val="0"/>
              </a:spcBef>
              <a:buFontTx/>
              <a:buNone/>
            </a:pPr>
            <a:r>
              <a:rPr lang="en-US" altLang="en-US" sz="1800" b="1" dirty="0">
                <a:solidFill>
                  <a:srgbClr val="000000"/>
                </a:solidFill>
                <a:latin typeface="Courier New" panose="02070309020205020404" pitchFamily="49" charset="0"/>
              </a:rPr>
              <a:t>  8		(SELECT  	</a:t>
            </a:r>
            <a:r>
              <a:rPr lang="en-US" altLang="en-US" sz="1800" b="1" dirty="0" err="1">
                <a:solidFill>
                  <a:srgbClr val="000000"/>
                </a:solidFill>
                <a:latin typeface="Courier New" panose="02070309020205020404" pitchFamily="49" charset="0"/>
              </a:rPr>
              <a:t>sal</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9		FROM	emp</a:t>
            </a:r>
          </a:p>
          <a:p>
            <a:pPr>
              <a:spcBef>
                <a:spcPct val="0"/>
              </a:spcBef>
              <a:buFontTx/>
              <a:buNone/>
            </a:pPr>
            <a:r>
              <a:rPr lang="en-US" altLang="en-US" sz="1800" b="1" dirty="0">
                <a:solidFill>
                  <a:srgbClr val="000000"/>
                </a:solidFill>
                <a:latin typeface="Courier New" panose="02070309020205020404" pitchFamily="49" charset="0"/>
              </a:rPr>
              <a:t>  10		WHERE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 7876); </a:t>
            </a:r>
          </a:p>
        </p:txBody>
      </p:sp>
      <p:sp>
        <p:nvSpPr>
          <p:cNvPr id="2" name="Footer Placeholder 2">
            <a:extLst>
              <a:ext uri="{FF2B5EF4-FFF2-40B4-BE49-F238E27FC236}">
                <a16:creationId xmlns:a16="http://schemas.microsoft.com/office/drawing/2014/main" id="{7EA1C18E-78DC-20C0-1FF9-14187B72A8D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D52D74F6-8DF8-4405-1B69-618C6B5CDE2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15742021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1060"/>
                                        </p:tgtEl>
                                        <p:attrNameLst>
                                          <p:attrName>style.visibility</p:attrName>
                                        </p:attrNameLst>
                                      </p:cBhvr>
                                      <p:to>
                                        <p:strVal val="visible"/>
                                      </p:to>
                                    </p:set>
                                    <p:animEffect transition="in" filter="wipe(up)">
                                      <p:cBhvr>
                                        <p:cTn id="7" dur="500"/>
                                        <p:tgtEl>
                                          <p:spTgt spid="30106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01064"/>
                                        </p:tgtEl>
                                        <p:attrNameLst>
                                          <p:attrName>style.visibility</p:attrName>
                                        </p:attrNameLst>
                                      </p:cBhvr>
                                      <p:to>
                                        <p:strVal val="visible"/>
                                      </p:to>
                                    </p:set>
                                    <p:animEffect transition="in" filter="wipe(up)">
                                      <p:cBhvr>
                                        <p:cTn id="11" dur="500"/>
                                        <p:tgtEl>
                                          <p:spTgt spid="30106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01068"/>
                                        </p:tgtEl>
                                        <p:attrNameLst>
                                          <p:attrName>style.visibility</p:attrName>
                                        </p:attrNameLst>
                                      </p:cBhvr>
                                      <p:to>
                                        <p:strVal val="visible"/>
                                      </p:to>
                                    </p:set>
                                    <p:animEffect transition="in" filter="wipe(up)">
                                      <p:cBhvr>
                                        <p:cTn id="16" dur="500"/>
                                        <p:tgtEl>
                                          <p:spTgt spid="301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8"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9F911-C8E8-4FA7-AB41-4C0625FA9508}"/>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CF0611B7-F8CA-F966-3056-E8988453B54B}"/>
              </a:ext>
            </a:extLst>
          </p:cNvPr>
          <p:cNvSpPr>
            <a:spLocks noChangeArrowheads="1"/>
          </p:cNvSpPr>
          <p:nvPr/>
        </p:nvSpPr>
        <p:spPr bwMode="blackWhite">
          <a:xfrm>
            <a:off x="949325" y="1065436"/>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8675" name="Rectangle 3">
            <a:extLst>
              <a:ext uri="{FF2B5EF4-FFF2-40B4-BE49-F238E27FC236}">
                <a16:creationId xmlns:a16="http://schemas.microsoft.com/office/drawing/2014/main" id="{5A30AE4F-1166-73C5-23BD-D6198F36B949}"/>
              </a:ext>
            </a:extLst>
          </p:cNvPr>
          <p:cNvSpPr>
            <a:spLocks noGrp="1" noChangeArrowheads="1"/>
          </p:cNvSpPr>
          <p:nvPr>
            <p:ph type="title"/>
          </p:nvPr>
        </p:nvSpPr>
        <p:spPr>
          <a:xfrm>
            <a:off x="433388" y="188913"/>
            <a:ext cx="8277225" cy="526619"/>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Using Group Functions in a Subquery</a:t>
            </a:r>
          </a:p>
        </p:txBody>
      </p:sp>
      <p:grpSp>
        <p:nvGrpSpPr>
          <p:cNvPr id="303108" name="Group 4">
            <a:extLst>
              <a:ext uri="{FF2B5EF4-FFF2-40B4-BE49-F238E27FC236}">
                <a16:creationId xmlns:a16="http://schemas.microsoft.com/office/drawing/2014/main" id="{C24564C3-6C64-15F9-2E46-F4B38F1BD2D8}"/>
              </a:ext>
            </a:extLst>
          </p:cNvPr>
          <p:cNvGrpSpPr>
            <a:grpSpLocks/>
          </p:cNvGrpSpPr>
          <p:nvPr/>
        </p:nvGrpSpPr>
        <p:grpSpPr bwMode="auto">
          <a:xfrm>
            <a:off x="3678238" y="1271811"/>
            <a:ext cx="4508500" cy="1339850"/>
            <a:chOff x="2317" y="1376"/>
            <a:chExt cx="2840" cy="844"/>
          </a:xfrm>
        </p:grpSpPr>
        <p:sp>
          <p:nvSpPr>
            <p:cNvPr id="28680" name="Rectangle 5">
              <a:extLst>
                <a:ext uri="{FF2B5EF4-FFF2-40B4-BE49-F238E27FC236}">
                  <a16:creationId xmlns:a16="http://schemas.microsoft.com/office/drawing/2014/main" id="{EBAB64F0-7FB0-34B5-C1A5-297561A33F8E}"/>
                </a:ext>
              </a:extLst>
            </p:cNvPr>
            <p:cNvSpPr>
              <a:spLocks noChangeArrowheads="1"/>
            </p:cNvSpPr>
            <p:nvPr/>
          </p:nvSpPr>
          <p:spPr bwMode="ltGray">
            <a:xfrm>
              <a:off x="2317" y="1812"/>
              <a:ext cx="2840" cy="408"/>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81" name="Rectangle 6">
              <a:extLst>
                <a:ext uri="{FF2B5EF4-FFF2-40B4-BE49-F238E27FC236}">
                  <a16:creationId xmlns:a16="http://schemas.microsoft.com/office/drawing/2014/main" id="{80B77613-897A-9B71-8FBD-5D9172C0030B}"/>
                </a:ext>
              </a:extLst>
            </p:cNvPr>
            <p:cNvSpPr>
              <a:spLocks noChangeArrowheads="1"/>
            </p:cNvSpPr>
            <p:nvPr/>
          </p:nvSpPr>
          <p:spPr bwMode="ltGray">
            <a:xfrm>
              <a:off x="3457" y="1824"/>
              <a:ext cx="792" cy="192"/>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82" name="Arc 7">
              <a:extLst>
                <a:ext uri="{FF2B5EF4-FFF2-40B4-BE49-F238E27FC236}">
                  <a16:creationId xmlns:a16="http://schemas.microsoft.com/office/drawing/2014/main" id="{5D1F2567-242A-E71D-BABC-AD0E9F94C2CA}"/>
                </a:ext>
              </a:extLst>
            </p:cNvPr>
            <p:cNvSpPr>
              <a:spLocks/>
            </p:cNvSpPr>
            <p:nvPr/>
          </p:nvSpPr>
          <p:spPr bwMode="auto">
            <a:xfrm rot="10380000">
              <a:off x="2534" y="1578"/>
              <a:ext cx="1969" cy="342"/>
            </a:xfrm>
            <a:custGeom>
              <a:avLst/>
              <a:gdLst>
                <a:gd name="T0" fmla="*/ 0 w 27023"/>
                <a:gd name="T1" fmla="*/ 0 h 21600"/>
                <a:gd name="T2" fmla="*/ 0 w 27023"/>
                <a:gd name="T3" fmla="*/ 0 h 21600"/>
                <a:gd name="T4" fmla="*/ 0 w 27023"/>
                <a:gd name="T5" fmla="*/ 0 h 21600"/>
                <a:gd name="T6" fmla="*/ 0 60000 65536"/>
                <a:gd name="T7" fmla="*/ 0 60000 65536"/>
                <a:gd name="T8" fmla="*/ 0 60000 65536"/>
              </a:gdLst>
              <a:ahLst/>
              <a:cxnLst>
                <a:cxn ang="T6">
                  <a:pos x="T0" y="T1"/>
                </a:cxn>
                <a:cxn ang="T7">
                  <a:pos x="T2" y="T3"/>
                </a:cxn>
                <a:cxn ang="T8">
                  <a:pos x="T4" y="T5"/>
                </a:cxn>
              </a:cxnLst>
              <a:rect l="0" t="0" r="r" b="b"/>
              <a:pathLst>
                <a:path w="27023" h="21600" fill="none" extrusionOk="0">
                  <a:moveTo>
                    <a:pt x="27023" y="20908"/>
                  </a:moveTo>
                  <a:cubicBezTo>
                    <a:pt x="25251" y="21367"/>
                    <a:pt x="23429" y="21599"/>
                    <a:pt x="21600" y="21600"/>
                  </a:cubicBezTo>
                  <a:cubicBezTo>
                    <a:pt x="9670" y="21600"/>
                    <a:pt x="0" y="11929"/>
                    <a:pt x="0" y="0"/>
                  </a:cubicBezTo>
                </a:path>
                <a:path w="27023" h="21600" stroke="0" extrusionOk="0">
                  <a:moveTo>
                    <a:pt x="27023" y="20908"/>
                  </a:moveTo>
                  <a:cubicBezTo>
                    <a:pt x="25251" y="21367"/>
                    <a:pt x="23429" y="21599"/>
                    <a:pt x="21600" y="21600"/>
                  </a:cubicBezTo>
                  <a:cubicBezTo>
                    <a:pt x="9670" y="21600"/>
                    <a:pt x="0" y="11929"/>
                    <a:pt x="0" y="0"/>
                  </a:cubicBezTo>
                  <a:lnTo>
                    <a:pt x="21600" y="0"/>
                  </a:lnTo>
                  <a:lnTo>
                    <a:pt x="27023" y="20908"/>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8683" name="Rectangle 8">
              <a:extLst>
                <a:ext uri="{FF2B5EF4-FFF2-40B4-BE49-F238E27FC236}">
                  <a16:creationId xmlns:a16="http://schemas.microsoft.com/office/drawing/2014/main" id="{BBA662D5-161A-A22E-C459-443D2E0696F6}"/>
                </a:ext>
              </a:extLst>
            </p:cNvPr>
            <p:cNvSpPr>
              <a:spLocks noChangeArrowheads="1"/>
            </p:cNvSpPr>
            <p:nvPr/>
          </p:nvSpPr>
          <p:spPr bwMode="auto">
            <a:xfrm>
              <a:off x="3629" y="1376"/>
              <a:ext cx="33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800</a:t>
              </a:r>
            </a:p>
          </p:txBody>
        </p:sp>
      </p:grpSp>
      <p:sp>
        <p:nvSpPr>
          <p:cNvPr id="303113" name="Rectangle 9">
            <a:extLst>
              <a:ext uri="{FF2B5EF4-FFF2-40B4-BE49-F238E27FC236}">
                <a16:creationId xmlns:a16="http://schemas.microsoft.com/office/drawing/2014/main" id="{E63F531A-EC70-42EF-C3B5-771C37F3FB8F}"/>
              </a:ext>
            </a:extLst>
          </p:cNvPr>
          <p:cNvSpPr>
            <a:spLocks noChangeArrowheads="1"/>
          </p:cNvSpPr>
          <p:nvPr/>
        </p:nvSpPr>
        <p:spPr bwMode="blackWhite">
          <a:xfrm>
            <a:off x="939800" y="2801044"/>
            <a:ext cx="7480300" cy="9159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JOB             SAL</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SMITH      CLERK           800</a:t>
            </a:r>
          </a:p>
        </p:txBody>
      </p:sp>
      <p:sp>
        <p:nvSpPr>
          <p:cNvPr id="28678" name="Rectangle 10">
            <a:extLst>
              <a:ext uri="{FF2B5EF4-FFF2-40B4-BE49-F238E27FC236}">
                <a16:creationId xmlns:a16="http://schemas.microsoft.com/office/drawing/2014/main" id="{C86DD937-00EB-65FD-FD72-4F554C29ED94}"/>
              </a:ext>
            </a:extLst>
          </p:cNvPr>
          <p:cNvSpPr>
            <a:spLocks noChangeArrowheads="1"/>
          </p:cNvSpPr>
          <p:nvPr/>
        </p:nvSpPr>
        <p:spPr bwMode="blackWhite">
          <a:xfrm>
            <a:off x="936625" y="1052736"/>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a:t>
            </a:r>
            <a:r>
              <a:rPr lang="en-US" altLang="en-US" sz="1800" b="1" dirty="0" err="1">
                <a:solidFill>
                  <a:srgbClr val="000000"/>
                </a:solidFill>
                <a:latin typeface="Courier New" panose="02070309020205020404" pitchFamily="49" charset="0"/>
              </a:rPr>
              <a:t>sal</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 </a:t>
            </a:r>
          </a:p>
          <a:p>
            <a:pPr>
              <a:spcBef>
                <a:spcPct val="0"/>
              </a:spcBef>
              <a:buFontTx/>
              <a:buNone/>
            </a:pPr>
            <a:r>
              <a:rPr lang="en-US" altLang="en-US" sz="1800" b="1" dirty="0">
                <a:solidFill>
                  <a:srgbClr val="000000"/>
                </a:solidFill>
                <a:latin typeface="Courier New" panose="02070309020205020404" pitchFamily="49" charset="0"/>
              </a:rPr>
              <a:t>  4			(SELECT	MIN(</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5			FROM		emp);</a:t>
            </a:r>
          </a:p>
        </p:txBody>
      </p:sp>
      <p:sp>
        <p:nvSpPr>
          <p:cNvPr id="3" name="Rectangle 3">
            <a:extLst>
              <a:ext uri="{FF2B5EF4-FFF2-40B4-BE49-F238E27FC236}">
                <a16:creationId xmlns:a16="http://schemas.microsoft.com/office/drawing/2014/main" id="{8A14AC2D-361F-B14A-A8FC-B028920665EE}"/>
              </a:ext>
            </a:extLst>
          </p:cNvPr>
          <p:cNvSpPr txBox="1">
            <a:spLocks noChangeArrowheads="1"/>
          </p:cNvSpPr>
          <p:nvPr/>
        </p:nvSpPr>
        <p:spPr bwMode="auto">
          <a:xfrm>
            <a:off x="416163" y="620688"/>
            <a:ext cx="8394700" cy="508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Find the lowest paid employee.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Find the employee with the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second/third</a:t>
            </a: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 lowest salary.</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4" name="Footer Placeholder 2">
            <a:extLst>
              <a:ext uri="{FF2B5EF4-FFF2-40B4-BE49-F238E27FC236}">
                <a16:creationId xmlns:a16="http://schemas.microsoft.com/office/drawing/2014/main" id="{79BA8830-6E40-6161-CECA-E91D4D210944}"/>
              </a:ext>
            </a:extLst>
          </p:cNvPr>
          <p:cNvSpPr>
            <a:spLocks noGrp="1"/>
          </p:cNvSpPr>
          <p:nvPr>
            <p:ph type="ftr" sz="quarter" idx="11"/>
          </p:nvPr>
        </p:nvSpPr>
        <p:spPr>
          <a:xfrm>
            <a:off x="2555776" y="6324897"/>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9B00B982-905D-979F-D668-5A86659C5BE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6" name="Rectangle 2">
            <a:extLst>
              <a:ext uri="{FF2B5EF4-FFF2-40B4-BE49-F238E27FC236}">
                <a16:creationId xmlns:a16="http://schemas.microsoft.com/office/drawing/2014/main" id="{835C65F5-EDAD-65EE-F5C2-5D5DB2328FD4}"/>
              </a:ext>
            </a:extLst>
          </p:cNvPr>
          <p:cNvSpPr>
            <a:spLocks noChangeArrowheads="1"/>
          </p:cNvSpPr>
          <p:nvPr/>
        </p:nvSpPr>
        <p:spPr bwMode="blackWhite">
          <a:xfrm>
            <a:off x="949325" y="4305796"/>
            <a:ext cx="7470775" cy="7953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7" name="Rectangle 10">
            <a:extLst>
              <a:ext uri="{FF2B5EF4-FFF2-40B4-BE49-F238E27FC236}">
                <a16:creationId xmlns:a16="http://schemas.microsoft.com/office/drawing/2014/main" id="{ECA96FAF-FFD1-F7BF-230A-8B6F0082DE12}"/>
              </a:ext>
            </a:extLst>
          </p:cNvPr>
          <p:cNvSpPr>
            <a:spLocks noChangeArrowheads="1"/>
          </p:cNvSpPr>
          <p:nvPr/>
        </p:nvSpPr>
        <p:spPr bwMode="blackWhite">
          <a:xfrm>
            <a:off x="936625" y="4293096"/>
            <a:ext cx="7308850"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MAX(sal) FROM	emp</a:t>
            </a:r>
          </a:p>
          <a:p>
            <a:pPr>
              <a:spcBef>
                <a:spcPct val="0"/>
              </a:spcBef>
              <a:buFontTx/>
              <a:buNone/>
            </a:pPr>
            <a:r>
              <a:rPr lang="en-US" altLang="en-US" sz="1800" b="1">
                <a:solidFill>
                  <a:srgbClr val="000000"/>
                </a:solidFill>
                <a:latin typeface="Courier New" panose="02070309020205020404" pitchFamily="49" charset="0"/>
              </a:rPr>
              <a:t>  2  WHERE sal &lt; (SELECT	MAX(sal) FROM	 emp);</a:t>
            </a:r>
          </a:p>
        </p:txBody>
      </p:sp>
      <p:sp>
        <p:nvSpPr>
          <p:cNvPr id="8" name="Rectangle 2">
            <a:extLst>
              <a:ext uri="{FF2B5EF4-FFF2-40B4-BE49-F238E27FC236}">
                <a16:creationId xmlns:a16="http://schemas.microsoft.com/office/drawing/2014/main" id="{7968E1BD-40D2-E20E-105A-3330638D96F8}"/>
              </a:ext>
            </a:extLst>
          </p:cNvPr>
          <p:cNvSpPr>
            <a:spLocks noChangeArrowheads="1"/>
          </p:cNvSpPr>
          <p:nvPr/>
        </p:nvSpPr>
        <p:spPr bwMode="blackWhite">
          <a:xfrm>
            <a:off x="958850" y="5210001"/>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9" name="Rectangle 10">
            <a:extLst>
              <a:ext uri="{FF2B5EF4-FFF2-40B4-BE49-F238E27FC236}">
                <a16:creationId xmlns:a16="http://schemas.microsoft.com/office/drawing/2014/main" id="{8C7F178E-BC77-5D84-5926-A2903B526CBE}"/>
              </a:ext>
            </a:extLst>
          </p:cNvPr>
          <p:cNvSpPr>
            <a:spLocks noChangeArrowheads="1"/>
          </p:cNvSpPr>
          <p:nvPr/>
        </p:nvSpPr>
        <p:spPr bwMode="blackWhite">
          <a:xfrm>
            <a:off x="946150" y="5197301"/>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a:t>
            </a:r>
            <a:r>
              <a:rPr lang="en-US" altLang="en-US" sz="1800" b="1" dirty="0" err="1">
                <a:solidFill>
                  <a:srgbClr val="000000"/>
                </a:solidFill>
                <a:latin typeface="Courier New" panose="02070309020205020404" pitchFamily="49" charset="0"/>
              </a:rPr>
              <a:t>sal</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 </a:t>
            </a:r>
          </a:p>
          <a:p>
            <a:pPr>
              <a:spcBef>
                <a:spcPct val="0"/>
              </a:spcBef>
              <a:buFontTx/>
              <a:buNone/>
            </a:pPr>
            <a:r>
              <a:rPr lang="en-US" altLang="en-US" sz="1800" b="1" dirty="0">
                <a:solidFill>
                  <a:srgbClr val="000000"/>
                </a:solidFill>
                <a:latin typeface="Courier New" panose="02070309020205020404" pitchFamily="49" charset="0"/>
              </a:rPr>
              <a:t>  4		    (SELECT MAX(</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FROM	emp</a:t>
            </a:r>
          </a:p>
          <a:p>
            <a:pPr>
              <a:spcBef>
                <a:spcPct val="0"/>
              </a:spcBef>
              <a:buFontTx/>
              <a:buNone/>
            </a:pPr>
            <a:r>
              <a:rPr lang="en-US" altLang="en-US" sz="1800" b="1" dirty="0">
                <a:solidFill>
                  <a:srgbClr val="000000"/>
                </a:solidFill>
                <a:latin typeface="Courier New" panose="02070309020205020404" pitchFamily="49" charset="0"/>
              </a:rPr>
              <a:t>  5  WHERE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&lt; (SELECT	MAX(</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FROM	 emp));</a:t>
            </a:r>
          </a:p>
        </p:txBody>
      </p:sp>
    </p:spTree>
    <p:extLst>
      <p:ext uri="{BB962C8B-B14F-4D97-AF65-F5344CB8AC3E}">
        <p14:creationId xmlns:p14="http://schemas.microsoft.com/office/powerpoint/2010/main" val="27580349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3108"/>
                                        </p:tgtEl>
                                        <p:attrNameLst>
                                          <p:attrName>style.visibility</p:attrName>
                                        </p:attrNameLst>
                                      </p:cBhvr>
                                      <p:to>
                                        <p:strVal val="visible"/>
                                      </p:to>
                                    </p:set>
                                    <p:animEffect transition="in" filter="wipe(up)">
                                      <p:cBhvr>
                                        <p:cTn id="7" dur="500"/>
                                        <p:tgtEl>
                                          <p:spTgt spid="303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3113"/>
                                        </p:tgtEl>
                                        <p:attrNameLst>
                                          <p:attrName>style.visibility</p:attrName>
                                        </p:attrNameLst>
                                      </p:cBhvr>
                                      <p:to>
                                        <p:strVal val="visible"/>
                                      </p:to>
                                    </p:set>
                                    <p:animEffect transition="in" filter="wipe(up)">
                                      <p:cBhvr>
                                        <p:cTn id="12" dur="500"/>
                                        <p:tgtEl>
                                          <p:spTgt spid="303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3"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F7E7F-56AF-709E-6008-A06BA814358F}"/>
            </a:ext>
          </a:extLst>
        </p:cNvPr>
        <p:cNvGrpSpPr/>
        <p:nvPr/>
      </p:nvGrpSpPr>
      <p:grpSpPr>
        <a:xfrm>
          <a:off x="0" y="0"/>
          <a:ext cx="0" cy="0"/>
          <a:chOff x="0" y="0"/>
          <a:chExt cx="0" cy="0"/>
        </a:xfrm>
      </p:grpSpPr>
      <p:sp>
        <p:nvSpPr>
          <p:cNvPr id="28675" name="Rectangle 3">
            <a:extLst>
              <a:ext uri="{FF2B5EF4-FFF2-40B4-BE49-F238E27FC236}">
                <a16:creationId xmlns:a16="http://schemas.microsoft.com/office/drawing/2014/main" id="{75216ADB-C431-EC87-573E-98DC8557BCF4}"/>
              </a:ext>
            </a:extLst>
          </p:cNvPr>
          <p:cNvSpPr>
            <a:spLocks noGrp="1" noChangeArrowheads="1"/>
          </p:cNvSpPr>
          <p:nvPr>
            <p:ph type="title"/>
          </p:nvPr>
        </p:nvSpPr>
        <p:spPr>
          <a:xfrm>
            <a:off x="433388" y="188913"/>
            <a:ext cx="8277225" cy="526619"/>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Subquery in a HAVING Clause</a:t>
            </a:r>
          </a:p>
        </p:txBody>
      </p:sp>
      <p:sp>
        <p:nvSpPr>
          <p:cNvPr id="3" name="Rectangle 3">
            <a:extLst>
              <a:ext uri="{FF2B5EF4-FFF2-40B4-BE49-F238E27FC236}">
                <a16:creationId xmlns:a16="http://schemas.microsoft.com/office/drawing/2014/main" id="{F3178A7D-6B1F-D7D7-3479-0D5E5C1B92E0}"/>
              </a:ext>
            </a:extLst>
          </p:cNvPr>
          <p:cNvSpPr txBox="1">
            <a:spLocks noChangeArrowheads="1"/>
          </p:cNvSpPr>
          <p:nvPr/>
        </p:nvSpPr>
        <p:spPr bwMode="auto">
          <a:xfrm>
            <a:off x="315913" y="3069777"/>
            <a:ext cx="8394700" cy="151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Find the name of the department with the highest/lowest number of employees. </a:t>
            </a: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List job, average salary of those jobs whose average salary is greater than the minimum average of different jobs.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Slide Number Placeholder 23">
            <a:extLst>
              <a:ext uri="{FF2B5EF4-FFF2-40B4-BE49-F238E27FC236}">
                <a16:creationId xmlns:a16="http://schemas.microsoft.com/office/drawing/2014/main" id="{724BA6C0-099C-71B9-CF55-FECED247BC36}"/>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2" name="Rectangle 2">
            <a:extLst>
              <a:ext uri="{FF2B5EF4-FFF2-40B4-BE49-F238E27FC236}">
                <a16:creationId xmlns:a16="http://schemas.microsoft.com/office/drawing/2014/main" id="{F5427E83-FE2A-9E69-67D6-8F11D8C09DEF}"/>
              </a:ext>
            </a:extLst>
          </p:cNvPr>
          <p:cNvSpPr>
            <a:spLocks noChangeArrowheads="1"/>
          </p:cNvSpPr>
          <p:nvPr/>
        </p:nvSpPr>
        <p:spPr bwMode="blackWhite">
          <a:xfrm>
            <a:off x="657151" y="723668"/>
            <a:ext cx="7480300" cy="21304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2400300" algn="l"/>
                <a:tab pos="3600450" algn="l"/>
                <a:tab pos="5029200" algn="l"/>
              </a:tabLst>
              <a:defRPr sz="2800">
                <a:solidFill>
                  <a:schemeClr val="tx1"/>
                </a:solidFill>
                <a:latin typeface="Arial" panose="020B0604020202020204" pitchFamily="34" charset="0"/>
              </a:defRPr>
            </a:lvl1pPr>
            <a:lvl2pPr marL="742950" indent="-285750">
              <a:spcBef>
                <a:spcPct val="20000"/>
              </a:spcBef>
              <a:buChar char="–"/>
              <a:tabLst>
                <a:tab pos="2400300" algn="l"/>
                <a:tab pos="3600450" algn="l"/>
                <a:tab pos="5029200" algn="l"/>
              </a:tabLst>
              <a:defRPr sz="2400">
                <a:solidFill>
                  <a:schemeClr val="tx1"/>
                </a:solidFill>
                <a:latin typeface="Arial" panose="020B0604020202020204" pitchFamily="34" charset="0"/>
              </a:defRPr>
            </a:lvl2pPr>
            <a:lvl3pPr marL="11430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3pPr>
            <a:lvl4pPr marL="16002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4pPr>
            <a:lvl5pPr marL="20574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10" name="Group 5">
            <a:extLst>
              <a:ext uri="{FF2B5EF4-FFF2-40B4-BE49-F238E27FC236}">
                <a16:creationId xmlns:a16="http://schemas.microsoft.com/office/drawing/2014/main" id="{12467D6A-FFE9-5F0F-AE88-D29AF80E5924}"/>
              </a:ext>
            </a:extLst>
          </p:cNvPr>
          <p:cNvGrpSpPr>
            <a:grpSpLocks/>
          </p:cNvGrpSpPr>
          <p:nvPr/>
        </p:nvGrpSpPr>
        <p:grpSpPr bwMode="auto">
          <a:xfrm>
            <a:off x="1390576" y="1474555"/>
            <a:ext cx="6356350" cy="1354138"/>
            <a:chOff x="1054" y="2723"/>
            <a:chExt cx="4004" cy="853"/>
          </a:xfrm>
        </p:grpSpPr>
        <p:sp>
          <p:nvSpPr>
            <p:cNvPr id="11" name="Rectangle 6">
              <a:extLst>
                <a:ext uri="{FF2B5EF4-FFF2-40B4-BE49-F238E27FC236}">
                  <a16:creationId xmlns:a16="http://schemas.microsoft.com/office/drawing/2014/main" id="{121074A0-2735-0976-B568-6932F513271C}"/>
                </a:ext>
              </a:extLst>
            </p:cNvPr>
            <p:cNvSpPr>
              <a:spLocks noChangeArrowheads="1"/>
            </p:cNvSpPr>
            <p:nvPr/>
          </p:nvSpPr>
          <p:spPr bwMode="ltGray">
            <a:xfrm>
              <a:off x="1054" y="2841"/>
              <a:ext cx="1872" cy="207"/>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2" name="Rectangle 7">
              <a:extLst>
                <a:ext uri="{FF2B5EF4-FFF2-40B4-BE49-F238E27FC236}">
                  <a16:creationId xmlns:a16="http://schemas.microsoft.com/office/drawing/2014/main" id="{84D17F61-8735-F744-1B0D-EDEB3BEDBB12}"/>
                </a:ext>
              </a:extLst>
            </p:cNvPr>
            <p:cNvSpPr>
              <a:spLocks noChangeArrowheads="1"/>
            </p:cNvSpPr>
            <p:nvPr/>
          </p:nvSpPr>
          <p:spPr bwMode="ltGray">
            <a:xfrm>
              <a:off x="2926" y="3020"/>
              <a:ext cx="2132" cy="556"/>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3" name="Arc 8">
              <a:extLst>
                <a:ext uri="{FF2B5EF4-FFF2-40B4-BE49-F238E27FC236}">
                  <a16:creationId xmlns:a16="http://schemas.microsoft.com/office/drawing/2014/main" id="{8A6C43A5-C5BC-C20A-72C3-EE7FCA96469C}"/>
                </a:ext>
              </a:extLst>
            </p:cNvPr>
            <p:cNvSpPr>
              <a:spLocks/>
            </p:cNvSpPr>
            <p:nvPr/>
          </p:nvSpPr>
          <p:spPr bwMode="auto">
            <a:xfrm rot="-10740000">
              <a:off x="3263" y="2912"/>
              <a:ext cx="1788" cy="342"/>
            </a:xfrm>
            <a:custGeom>
              <a:avLst/>
              <a:gdLst>
                <a:gd name="T0" fmla="*/ 0 w 27027"/>
                <a:gd name="T1" fmla="*/ 0 h 21600"/>
                <a:gd name="T2" fmla="*/ 0 w 27027"/>
                <a:gd name="T3" fmla="*/ 0 h 21600"/>
                <a:gd name="T4" fmla="*/ 0 w 27027"/>
                <a:gd name="T5" fmla="*/ 0 h 21600"/>
                <a:gd name="T6" fmla="*/ 0 60000 65536"/>
                <a:gd name="T7" fmla="*/ 0 60000 65536"/>
                <a:gd name="T8" fmla="*/ 0 60000 65536"/>
              </a:gdLst>
              <a:ahLst/>
              <a:cxnLst>
                <a:cxn ang="T6">
                  <a:pos x="T0" y="T1"/>
                </a:cxn>
                <a:cxn ang="T7">
                  <a:pos x="T2" y="T3"/>
                </a:cxn>
                <a:cxn ang="T8">
                  <a:pos x="T4" y="T5"/>
                </a:cxn>
              </a:cxnLst>
              <a:rect l="0" t="0" r="r" b="b"/>
              <a:pathLst>
                <a:path w="27027" h="21600" fill="none" extrusionOk="0">
                  <a:moveTo>
                    <a:pt x="27027" y="20907"/>
                  </a:moveTo>
                  <a:cubicBezTo>
                    <a:pt x="25254" y="21367"/>
                    <a:pt x="23431" y="21599"/>
                    <a:pt x="21600" y="21600"/>
                  </a:cubicBezTo>
                  <a:cubicBezTo>
                    <a:pt x="9670" y="21600"/>
                    <a:pt x="0" y="11929"/>
                    <a:pt x="0" y="0"/>
                  </a:cubicBezTo>
                </a:path>
                <a:path w="27027" h="21600" stroke="0" extrusionOk="0">
                  <a:moveTo>
                    <a:pt x="27027" y="20907"/>
                  </a:moveTo>
                  <a:cubicBezTo>
                    <a:pt x="25254" y="21367"/>
                    <a:pt x="23431" y="21599"/>
                    <a:pt x="21600" y="21600"/>
                  </a:cubicBezTo>
                  <a:cubicBezTo>
                    <a:pt x="9670" y="21600"/>
                    <a:pt x="0" y="11929"/>
                    <a:pt x="0" y="0"/>
                  </a:cubicBezTo>
                  <a:lnTo>
                    <a:pt x="21600" y="0"/>
                  </a:lnTo>
                  <a:lnTo>
                    <a:pt x="27027" y="20907"/>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4" name="Rectangle 9">
              <a:extLst>
                <a:ext uri="{FF2B5EF4-FFF2-40B4-BE49-F238E27FC236}">
                  <a16:creationId xmlns:a16="http://schemas.microsoft.com/office/drawing/2014/main" id="{985CF770-EBC1-B90D-70BA-216742F337AC}"/>
                </a:ext>
              </a:extLst>
            </p:cNvPr>
            <p:cNvSpPr>
              <a:spLocks noChangeArrowheads="1"/>
            </p:cNvSpPr>
            <p:nvPr/>
          </p:nvSpPr>
          <p:spPr bwMode="auto">
            <a:xfrm>
              <a:off x="3904" y="2723"/>
              <a:ext cx="33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800</a:t>
              </a:r>
            </a:p>
          </p:txBody>
        </p:sp>
      </p:grpSp>
      <p:sp>
        <p:nvSpPr>
          <p:cNvPr id="15" name="Rectangle 10">
            <a:extLst>
              <a:ext uri="{FF2B5EF4-FFF2-40B4-BE49-F238E27FC236}">
                <a16:creationId xmlns:a16="http://schemas.microsoft.com/office/drawing/2014/main" id="{05C8CC3B-B582-B1A6-0874-DD4324F00B48}"/>
              </a:ext>
            </a:extLst>
          </p:cNvPr>
          <p:cNvSpPr>
            <a:spLocks noChangeArrowheads="1"/>
          </p:cNvSpPr>
          <p:nvPr/>
        </p:nvSpPr>
        <p:spPr bwMode="blackWhite">
          <a:xfrm>
            <a:off x="755576" y="749068"/>
            <a:ext cx="716915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2400300" algn="l"/>
                <a:tab pos="3600450" algn="l"/>
                <a:tab pos="5029200" algn="l"/>
              </a:tabLst>
              <a:defRPr sz="2800">
                <a:solidFill>
                  <a:schemeClr val="tx1"/>
                </a:solidFill>
                <a:latin typeface="Arial" panose="020B0604020202020204" pitchFamily="34" charset="0"/>
              </a:defRPr>
            </a:lvl1pPr>
            <a:lvl2pPr marL="742950" indent="-285750">
              <a:spcBef>
                <a:spcPct val="20000"/>
              </a:spcBef>
              <a:buChar char="–"/>
              <a:tabLst>
                <a:tab pos="2400300" algn="l"/>
                <a:tab pos="3600450" algn="l"/>
                <a:tab pos="5029200" algn="l"/>
              </a:tabLst>
              <a:defRPr sz="2400">
                <a:solidFill>
                  <a:schemeClr val="tx1"/>
                </a:solidFill>
                <a:latin typeface="Arial" panose="020B0604020202020204" pitchFamily="34" charset="0"/>
              </a:defRPr>
            </a:lvl2pPr>
            <a:lvl3pPr marL="11430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3pPr>
            <a:lvl4pPr marL="16002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4pPr>
            <a:lvl5pPr marL="20574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deptno, MIN(sal)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GROUP BY	deptno</a:t>
            </a:r>
          </a:p>
          <a:p>
            <a:pPr>
              <a:spcBef>
                <a:spcPct val="0"/>
              </a:spcBef>
              <a:buFontTx/>
              <a:buNone/>
            </a:pPr>
            <a:r>
              <a:rPr lang="en-US" altLang="en-US" sz="1800" b="1">
                <a:solidFill>
                  <a:srgbClr val="000000"/>
                </a:solidFill>
                <a:latin typeface="Courier New" panose="02070309020205020404" pitchFamily="49" charset="0"/>
              </a:rPr>
              <a:t>  4  HAVING	MIN(sal) &gt;</a:t>
            </a:r>
          </a:p>
          <a:p>
            <a:pPr>
              <a:spcBef>
                <a:spcPct val="0"/>
              </a:spcBef>
              <a:buFontTx/>
              <a:buNone/>
            </a:pPr>
            <a:r>
              <a:rPr lang="en-US" altLang="en-US" sz="1800" b="1">
                <a:solidFill>
                  <a:srgbClr val="000000"/>
                </a:solidFill>
                <a:latin typeface="Courier New" panose="02070309020205020404" pitchFamily="49" charset="0"/>
              </a:rPr>
              <a:t>  5		(SELECT	MIN(sal)</a:t>
            </a:r>
          </a:p>
          <a:p>
            <a:pPr>
              <a:spcBef>
                <a:spcPct val="0"/>
              </a:spcBef>
              <a:buFontTx/>
              <a:buNone/>
            </a:pPr>
            <a:r>
              <a:rPr lang="en-US" altLang="en-US" sz="1800" b="1">
                <a:solidFill>
                  <a:srgbClr val="000000"/>
                </a:solidFill>
                <a:latin typeface="Courier New" panose="02070309020205020404" pitchFamily="49" charset="0"/>
              </a:rPr>
              <a:t>  6		FROM	emp</a:t>
            </a:r>
          </a:p>
          <a:p>
            <a:pPr>
              <a:spcBef>
                <a:spcPct val="0"/>
              </a:spcBef>
              <a:buFontTx/>
              <a:buNone/>
            </a:pPr>
            <a:r>
              <a:rPr lang="en-US" altLang="en-US" sz="1800" b="1">
                <a:solidFill>
                  <a:srgbClr val="000000"/>
                </a:solidFill>
                <a:latin typeface="Courier New" panose="02070309020205020404" pitchFamily="49" charset="0"/>
              </a:rPr>
              <a:t>  7		WHERE	deptno = 20);</a:t>
            </a:r>
          </a:p>
        </p:txBody>
      </p:sp>
      <p:sp>
        <p:nvSpPr>
          <p:cNvPr id="16" name="Rectangle 2">
            <a:extLst>
              <a:ext uri="{FF2B5EF4-FFF2-40B4-BE49-F238E27FC236}">
                <a16:creationId xmlns:a16="http://schemas.microsoft.com/office/drawing/2014/main" id="{DF9AC84C-90E8-82ED-6133-794AD6DEDDFC}"/>
              </a:ext>
            </a:extLst>
          </p:cNvPr>
          <p:cNvSpPr>
            <a:spLocks noChangeArrowheads="1"/>
          </p:cNvSpPr>
          <p:nvPr/>
        </p:nvSpPr>
        <p:spPr bwMode="blackWhite">
          <a:xfrm>
            <a:off x="657151" y="4719639"/>
            <a:ext cx="7470775" cy="194944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2000" b="1">
              <a:solidFill>
                <a:srgbClr val="000000"/>
              </a:solidFill>
              <a:latin typeface="Courier New" panose="02070309020205020404" pitchFamily="49" charset="0"/>
            </a:endParaRPr>
          </a:p>
          <a:p>
            <a:pPr>
              <a:spcBef>
                <a:spcPct val="0"/>
              </a:spcBef>
              <a:buFontTx/>
              <a:buNone/>
            </a:pPr>
            <a:endParaRPr lang="en-US" altLang="en-US" sz="2000" b="1">
              <a:solidFill>
                <a:srgbClr val="000000"/>
              </a:solidFill>
              <a:latin typeface="Courier New" panose="02070309020205020404" pitchFamily="49" charset="0"/>
            </a:endParaRPr>
          </a:p>
        </p:txBody>
      </p:sp>
      <p:sp>
        <p:nvSpPr>
          <p:cNvPr id="17" name="Rectangle 10">
            <a:extLst>
              <a:ext uri="{FF2B5EF4-FFF2-40B4-BE49-F238E27FC236}">
                <a16:creationId xmlns:a16="http://schemas.microsoft.com/office/drawing/2014/main" id="{AFE178D7-FAE1-234C-CBAF-C7C3A4C90014}"/>
              </a:ext>
            </a:extLst>
          </p:cNvPr>
          <p:cNvSpPr>
            <a:spLocks noChangeArrowheads="1"/>
          </p:cNvSpPr>
          <p:nvPr/>
        </p:nvSpPr>
        <p:spPr bwMode="blackWhite">
          <a:xfrm>
            <a:off x="963539" y="5229200"/>
            <a:ext cx="73088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dirty="0">
                <a:solidFill>
                  <a:srgbClr val="000000"/>
                </a:solidFill>
                <a:latin typeface="Cambria" panose="02040503050406030204" pitchFamily="18" charset="0"/>
                <a:ea typeface="Cambria" panose="02040503050406030204" pitchFamily="18" charset="0"/>
              </a:rPr>
              <a:t>SELECT JOB, AVG(SAL) FROM EMP</a:t>
            </a:r>
          </a:p>
          <a:p>
            <a:pPr>
              <a:spcBef>
                <a:spcPct val="0"/>
              </a:spcBef>
              <a:buFontTx/>
              <a:buNone/>
            </a:pPr>
            <a:r>
              <a:rPr lang="en-US" altLang="en-US" sz="2400" dirty="0">
                <a:solidFill>
                  <a:srgbClr val="000000"/>
                </a:solidFill>
                <a:latin typeface="Cambria" panose="02040503050406030204" pitchFamily="18" charset="0"/>
                <a:ea typeface="Cambria" panose="02040503050406030204" pitchFamily="18" charset="0"/>
              </a:rPr>
              <a:t>GROUP BY JOB</a:t>
            </a:r>
          </a:p>
          <a:p>
            <a:pPr>
              <a:spcBef>
                <a:spcPct val="0"/>
              </a:spcBef>
              <a:buFontTx/>
              <a:buNone/>
            </a:pPr>
            <a:r>
              <a:rPr lang="en-US" altLang="en-US" sz="2400" dirty="0">
                <a:solidFill>
                  <a:srgbClr val="FF0000"/>
                </a:solidFill>
                <a:latin typeface="Cambria" panose="02040503050406030204" pitchFamily="18" charset="0"/>
                <a:ea typeface="Cambria" panose="02040503050406030204" pitchFamily="18" charset="0"/>
              </a:rPr>
              <a:t>HAVING AVG(SAL) &gt;</a:t>
            </a:r>
            <a:r>
              <a:rPr lang="en-US" altLang="en-US" sz="2400" dirty="0">
                <a:solidFill>
                  <a:srgbClr val="000000"/>
                </a:solidFill>
                <a:latin typeface="Cambria" panose="02040503050406030204" pitchFamily="18" charset="0"/>
                <a:ea typeface="Cambria" panose="02040503050406030204" pitchFamily="18" charset="0"/>
              </a:rPr>
              <a:t> </a:t>
            </a:r>
          </a:p>
          <a:p>
            <a:pPr>
              <a:spcBef>
                <a:spcPct val="0"/>
              </a:spcBef>
              <a:buFontTx/>
              <a:buNone/>
            </a:pPr>
            <a:r>
              <a:rPr lang="en-US" altLang="en-US" sz="2400" dirty="0">
                <a:solidFill>
                  <a:srgbClr val="0000CC"/>
                </a:solidFill>
                <a:latin typeface="Cambria" panose="02040503050406030204" pitchFamily="18" charset="0"/>
                <a:ea typeface="Cambria" panose="02040503050406030204" pitchFamily="18" charset="0"/>
              </a:rPr>
              <a:t>(SELECT MIN(AVG(SAL)) FROM EMP </a:t>
            </a:r>
          </a:p>
          <a:p>
            <a:pPr>
              <a:spcBef>
                <a:spcPct val="0"/>
              </a:spcBef>
              <a:buFontTx/>
              <a:buNone/>
            </a:pPr>
            <a:r>
              <a:rPr lang="en-US" altLang="en-US" sz="2400" dirty="0">
                <a:solidFill>
                  <a:srgbClr val="0000CC"/>
                </a:solidFill>
                <a:latin typeface="Cambria" panose="02040503050406030204" pitchFamily="18" charset="0"/>
                <a:ea typeface="Cambria" panose="02040503050406030204" pitchFamily="18" charset="0"/>
              </a:rPr>
              <a:t>GROUP BY JOB)</a:t>
            </a:r>
          </a:p>
        </p:txBody>
      </p:sp>
    </p:spTree>
    <p:extLst>
      <p:ext uri="{BB962C8B-B14F-4D97-AF65-F5344CB8AC3E}">
        <p14:creationId xmlns:p14="http://schemas.microsoft.com/office/powerpoint/2010/main" val="360991836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A4460-A0DC-C096-BD16-8CFD720DFD6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9EA7D4F-059D-DD7D-B896-E73125261BD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CTE Subquery</a:t>
            </a:r>
          </a:p>
        </p:txBody>
      </p:sp>
      <p:sp>
        <p:nvSpPr>
          <p:cNvPr id="38915" name="Rectangle 3">
            <a:extLst>
              <a:ext uri="{FF2B5EF4-FFF2-40B4-BE49-F238E27FC236}">
                <a16:creationId xmlns:a16="http://schemas.microsoft.com/office/drawing/2014/main" id="{AEFBC32F-4038-3180-2351-343055BB5468}"/>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077D9EEF-EE0D-EA60-322B-38D2B2F1D6D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E1DC054F-0A72-2C89-22CE-2F0519E4DADE}"/>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Common Table Expression (CTE)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is a temporary named result of a query.</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CTE breaks down complex queries into smaller, and reusable components </a:t>
            </a: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that results in better </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readability.</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A8CB2DD5-C946-A674-B61A-F8269B5848C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3B40CD23-6DCD-8463-61F3-12CEBD766A6E}"/>
              </a:ext>
            </a:extLst>
          </p:cNvPr>
          <p:cNvSpPr>
            <a:spLocks noChangeArrowheads="1"/>
          </p:cNvSpPr>
          <p:nvPr/>
        </p:nvSpPr>
        <p:spPr bwMode="blackWhite">
          <a:xfrm>
            <a:off x="1259632" y="2436801"/>
            <a:ext cx="6768752" cy="135223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200150" algn="l"/>
              </a:tabLst>
              <a:defRPr/>
            </a:pPr>
            <a:r>
              <a:rPr kumimoji="0" lang="en-US" altLang="en-US" sz="2200" b="1"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WITH</a:t>
            </a:r>
            <a:r>
              <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 </a:t>
            </a:r>
            <a:r>
              <a:rPr kumimoji="0" lang="en-US" altLang="en-US" sz="22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n-cs"/>
              </a:rPr>
              <a:t>cte_name1</a:t>
            </a:r>
            <a:r>
              <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 AS (SELECT query),</a:t>
            </a:r>
          </a:p>
          <a:p>
            <a:pPr lvl="0">
              <a:spcBef>
                <a:spcPct val="0"/>
              </a:spcBef>
              <a:buNone/>
            </a:pPr>
            <a:r>
              <a:rPr lang="en-US" altLang="en-US" sz="2200" dirty="0">
                <a:solidFill>
                  <a:srgbClr val="FF0000"/>
                </a:solidFill>
                <a:highlight>
                  <a:srgbClr val="00FFFF"/>
                </a:highlight>
                <a:latin typeface="Cambria" panose="02040503050406030204" pitchFamily="18" charset="0"/>
                <a:ea typeface="Cambria" panose="02040503050406030204" pitchFamily="18" charset="0"/>
              </a:rPr>
              <a:t>[cte_name2</a:t>
            </a:r>
            <a:r>
              <a:rPr lang="en-US" altLang="en-US" sz="2200" dirty="0">
                <a:solidFill>
                  <a:srgbClr val="000000"/>
                </a:solidFill>
                <a:highlight>
                  <a:srgbClr val="00FFFF"/>
                </a:highlight>
                <a:latin typeface="Cambria" panose="02040503050406030204" pitchFamily="18" charset="0"/>
                <a:ea typeface="Cambria" panose="02040503050406030204" pitchFamily="18" charset="0"/>
              </a:rPr>
              <a:t> AS (SELECT query),….]</a:t>
            </a:r>
          </a:p>
          <a:p>
            <a:pPr lvl="0">
              <a:spcBef>
                <a:spcPct val="0"/>
              </a:spcBef>
              <a:buNone/>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tab pos="1200150" algn="l"/>
              </a:tabLst>
              <a:defRPr/>
            </a:pPr>
            <a:r>
              <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SELECT * FROM </a:t>
            </a:r>
            <a:r>
              <a:rPr kumimoji="0" lang="en-US" altLang="en-US" sz="22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mn-cs"/>
              </a:rPr>
              <a:t>cte_name</a:t>
            </a:r>
            <a:r>
              <a:rPr kumimoji="0" lang="en-US" altLang="en-US" sz="22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n-cs"/>
              </a:rPr>
              <a:t>;</a:t>
            </a:r>
          </a:p>
        </p:txBody>
      </p:sp>
      <p:sp>
        <p:nvSpPr>
          <p:cNvPr id="5" name="TextBox 4">
            <a:extLst>
              <a:ext uri="{FF2B5EF4-FFF2-40B4-BE49-F238E27FC236}">
                <a16:creationId xmlns:a16="http://schemas.microsoft.com/office/drawing/2014/main" id="{870887A9-0DDD-9CCB-66F7-CA68B18121C5}"/>
              </a:ext>
            </a:extLst>
          </p:cNvPr>
          <p:cNvSpPr txBox="1"/>
          <p:nvPr/>
        </p:nvSpPr>
        <p:spPr>
          <a:xfrm>
            <a:off x="1259632" y="4207682"/>
            <a:ext cx="6768752" cy="1261884"/>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b="1" dirty="0">
                <a:solidFill>
                  <a:srgbClr val="0000CC"/>
                </a:solidFill>
                <a:latin typeface="Cambria" panose="02040503050406030204" pitchFamily="18" charset="0"/>
                <a:ea typeface="Cambria" panose="02040503050406030204" pitchFamily="18" charset="0"/>
              </a:rPr>
              <a:t>WITH</a:t>
            </a:r>
            <a:r>
              <a:rPr lang="en-US" sz="2200" dirty="0">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sal_cte</a:t>
            </a:r>
            <a:r>
              <a:rPr lang="en-US" sz="2200" dirty="0">
                <a:latin typeface="Cambria" panose="02040503050406030204" pitchFamily="18" charset="0"/>
                <a:ea typeface="Cambria" panose="02040503050406030204" pitchFamily="18" charset="0"/>
              </a:rPr>
              <a:t> as (SELECT MAX(</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MaxSal</a:t>
            </a:r>
            <a:r>
              <a:rPr lang="en-US" sz="2200" dirty="0">
                <a:latin typeface="Cambria" panose="02040503050406030204" pitchFamily="18" charset="0"/>
                <a:ea typeface="Cambria" panose="02040503050406030204" pitchFamily="18" charset="0"/>
              </a:rPr>
              <a:t> FROM emp)</a:t>
            </a:r>
          </a:p>
          <a:p>
            <a:pPr>
              <a:spcBef>
                <a:spcPts val="600"/>
              </a:spcBef>
              <a:spcAft>
                <a:spcPts val="0"/>
              </a:spcAft>
            </a:pPr>
            <a:r>
              <a:rPr lang="en-US" sz="2200" dirty="0">
                <a:latin typeface="Cambria" panose="02040503050406030204" pitchFamily="18" charset="0"/>
                <a:ea typeface="Cambria" panose="02040503050406030204" pitchFamily="18" charset="0"/>
              </a:rPr>
              <a:t>SELECT </a:t>
            </a:r>
            <a:r>
              <a:rPr lang="en-US" sz="2200" dirty="0" err="1">
                <a:latin typeface="Cambria" panose="02040503050406030204" pitchFamily="18" charset="0"/>
                <a:ea typeface="Cambria" panose="02040503050406030204" pitchFamily="18" charset="0"/>
              </a:rPr>
              <a:t>ename</a:t>
            </a:r>
            <a:r>
              <a:rPr lang="en-US" sz="2200" dirty="0">
                <a:latin typeface="Cambria" panose="02040503050406030204" pitchFamily="18" charset="0"/>
                <a:ea typeface="Cambria" panose="02040503050406030204" pitchFamily="18" charset="0"/>
              </a:rPr>
              <a:t>, job,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FROM emp, </a:t>
            </a:r>
            <a:r>
              <a:rPr lang="en-US" sz="2200" dirty="0" err="1">
                <a:latin typeface="Cambria" panose="02040503050406030204" pitchFamily="18" charset="0"/>
                <a:ea typeface="Cambria" panose="02040503050406030204" pitchFamily="18" charset="0"/>
              </a:rPr>
              <a:t>sal_cte</a:t>
            </a:r>
            <a:r>
              <a:rPr lang="en-US" sz="2200" dirty="0">
                <a:latin typeface="Cambria" panose="02040503050406030204" pitchFamily="18" charset="0"/>
                <a:ea typeface="Cambria" panose="02040503050406030204" pitchFamily="18" charset="0"/>
              </a:rPr>
              <a:t> </a:t>
            </a:r>
          </a:p>
          <a:p>
            <a:pPr>
              <a:spcBef>
                <a:spcPts val="600"/>
              </a:spcBef>
              <a:spcAft>
                <a:spcPts val="0"/>
              </a:spcAft>
            </a:pPr>
            <a:r>
              <a:rPr lang="en-US" sz="2200" dirty="0">
                <a:latin typeface="Cambria" panose="02040503050406030204" pitchFamily="18" charset="0"/>
                <a:ea typeface="Cambria" panose="02040503050406030204" pitchFamily="18" charset="0"/>
              </a:rPr>
              <a:t>WHERE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 </a:t>
            </a:r>
            <a:r>
              <a:rPr lang="en-US" sz="2200" dirty="0" err="1">
                <a:latin typeface="Cambria" panose="02040503050406030204" pitchFamily="18" charset="0"/>
                <a:ea typeface="Cambria" panose="02040503050406030204" pitchFamily="18" charset="0"/>
              </a:rPr>
              <a:t>MaxSal</a:t>
            </a:r>
            <a:endParaRPr lang="en-US"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0325678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F3A5-DF58-ADDA-93B4-32AD5B5D758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40D21C2-AC97-9218-0E86-E9EAC8820032}"/>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CTE Subquery</a:t>
            </a:r>
          </a:p>
        </p:txBody>
      </p:sp>
      <p:sp>
        <p:nvSpPr>
          <p:cNvPr id="38915" name="Rectangle 3">
            <a:extLst>
              <a:ext uri="{FF2B5EF4-FFF2-40B4-BE49-F238E27FC236}">
                <a16:creationId xmlns:a16="http://schemas.microsoft.com/office/drawing/2014/main" id="{21EBA53E-47A2-5773-3CD1-FB2F1EE152C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1368BF4-2F2D-F1AB-9ADE-3230CC9DFC9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8442C69F-1D83-AFD2-CE74-B5FAD34DBD0D}"/>
              </a:ext>
            </a:extLst>
          </p:cNvPr>
          <p:cNvSpPr txBox="1">
            <a:spLocks noChangeArrowheads="1"/>
          </p:cNvSpPr>
          <p:nvPr/>
        </p:nvSpPr>
        <p:spPr bwMode="auto">
          <a:xfrm>
            <a:off x="394866" y="646451"/>
            <a:ext cx="8394700"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the jobs with max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sal</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below 2000.</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2A157D40-FEAD-3B4A-0E58-04CF6199CAD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TextBox 2">
            <a:extLst>
              <a:ext uri="{FF2B5EF4-FFF2-40B4-BE49-F238E27FC236}">
                <a16:creationId xmlns:a16="http://schemas.microsoft.com/office/drawing/2014/main" id="{A793FB1E-CAA6-673A-C917-11B2BDDCA667}"/>
              </a:ext>
            </a:extLst>
          </p:cNvPr>
          <p:cNvSpPr txBox="1"/>
          <p:nvPr/>
        </p:nvSpPr>
        <p:spPr>
          <a:xfrm>
            <a:off x="178842" y="1194170"/>
            <a:ext cx="6193358" cy="1354217"/>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dirty="0">
                <a:latin typeface="Cambria" panose="02040503050406030204" pitchFamily="18" charset="0"/>
                <a:ea typeface="Cambria" panose="02040503050406030204" pitchFamily="18" charset="0"/>
              </a:rPr>
              <a:t>SELECT job, MAX(</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 as “Max-Sal" FROM emp </a:t>
            </a:r>
          </a:p>
          <a:p>
            <a:pPr>
              <a:spcBef>
                <a:spcPts val="600"/>
              </a:spcBef>
              <a:spcAft>
                <a:spcPts val="0"/>
              </a:spcAft>
            </a:pPr>
            <a:r>
              <a:rPr lang="en-US" dirty="0">
                <a:latin typeface="Cambria" panose="02040503050406030204" pitchFamily="18" charset="0"/>
                <a:ea typeface="Cambria" panose="02040503050406030204" pitchFamily="18" charset="0"/>
              </a:rPr>
              <a:t>GROUP BY job</a:t>
            </a:r>
          </a:p>
          <a:p>
            <a:pPr>
              <a:spcBef>
                <a:spcPts val="600"/>
              </a:spcBef>
              <a:spcAft>
                <a:spcPts val="0"/>
              </a:spcAft>
            </a:pPr>
            <a:r>
              <a:rPr lang="en-US" dirty="0">
                <a:latin typeface="Cambria" panose="02040503050406030204" pitchFamily="18" charset="0"/>
                <a:ea typeface="Cambria" panose="02040503050406030204" pitchFamily="18" charset="0"/>
              </a:rPr>
              <a:t>HAVING MAX(</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 &lt; 2000; </a:t>
            </a:r>
          </a:p>
        </p:txBody>
      </p:sp>
      <p:graphicFrame>
        <p:nvGraphicFramePr>
          <p:cNvPr id="7" name="Table 6">
            <a:extLst>
              <a:ext uri="{FF2B5EF4-FFF2-40B4-BE49-F238E27FC236}">
                <a16:creationId xmlns:a16="http://schemas.microsoft.com/office/drawing/2014/main" id="{51E29B7F-41FB-6722-7735-D02237EF360E}"/>
              </a:ext>
            </a:extLst>
          </p:cNvPr>
          <p:cNvGraphicFramePr>
            <a:graphicFrameLocks noGrp="1"/>
          </p:cNvGraphicFramePr>
          <p:nvPr/>
        </p:nvGraphicFramePr>
        <p:xfrm>
          <a:off x="6485954" y="1323562"/>
          <a:ext cx="2550542" cy="1097326"/>
        </p:xfrm>
        <a:graphic>
          <a:graphicData uri="http://schemas.openxmlformats.org/drawingml/2006/table">
            <a:tbl>
              <a:tblPr/>
              <a:tblGrid>
                <a:gridCol w="1440160">
                  <a:extLst>
                    <a:ext uri="{9D8B030D-6E8A-4147-A177-3AD203B41FA5}">
                      <a16:colId xmlns:a16="http://schemas.microsoft.com/office/drawing/2014/main" val="20001"/>
                    </a:ext>
                  </a:extLst>
                </a:gridCol>
                <a:gridCol w="1110382">
                  <a:extLst>
                    <a:ext uri="{9D8B030D-6E8A-4147-A177-3AD203B41FA5}">
                      <a16:colId xmlns:a16="http://schemas.microsoft.com/office/drawing/2014/main" val="20002"/>
                    </a:ext>
                  </a:extLst>
                </a:gridCol>
              </a:tblGrid>
              <a:tr h="365849">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Max-Sal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20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1300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20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1600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BB7F27F4-0FE8-30F2-1271-9D2DA5B41168}"/>
              </a:ext>
            </a:extLst>
          </p:cNvPr>
          <p:cNvSpPr txBox="1"/>
          <p:nvPr/>
        </p:nvSpPr>
        <p:spPr>
          <a:xfrm>
            <a:off x="1763688" y="2689821"/>
            <a:ext cx="6768430" cy="1800493"/>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dirty="0">
                <a:latin typeface="Cambria" panose="02040503050406030204" pitchFamily="18" charset="0"/>
                <a:ea typeface="Cambria" panose="02040503050406030204" pitchFamily="18" charset="0"/>
              </a:rPr>
              <a:t>SELECT * FROM</a:t>
            </a:r>
          </a:p>
          <a:p>
            <a:pPr>
              <a:spcBef>
                <a:spcPts val="600"/>
              </a:spcBef>
              <a:spcAft>
                <a:spcPts val="0"/>
              </a:spcAft>
            </a:pPr>
            <a:r>
              <a:rPr lang="en-US" dirty="0">
                <a:latin typeface="Cambria" panose="02040503050406030204" pitchFamily="18" charset="0"/>
                <a:ea typeface="Cambria" panose="02040503050406030204" pitchFamily="18" charset="0"/>
              </a:rPr>
              <a:t>	</a:t>
            </a:r>
            <a:r>
              <a:rPr lang="en-US" dirty="0">
                <a:highlight>
                  <a:srgbClr val="FFFF00"/>
                </a:highlight>
                <a:latin typeface="Cambria" panose="02040503050406030204" pitchFamily="18" charset="0"/>
                <a:ea typeface="Cambria" panose="02040503050406030204" pitchFamily="18" charset="0"/>
              </a:rPr>
              <a:t>(SELECT job, MAX(</a:t>
            </a:r>
            <a:r>
              <a:rPr lang="en-US" dirty="0" err="1">
                <a:highlight>
                  <a:srgbClr val="FFFF00"/>
                </a:highlight>
                <a:latin typeface="Cambria" panose="02040503050406030204" pitchFamily="18" charset="0"/>
                <a:ea typeface="Cambria" panose="02040503050406030204" pitchFamily="18" charset="0"/>
              </a:rPr>
              <a:t>sal</a:t>
            </a:r>
            <a:r>
              <a:rPr lang="en-US" dirty="0">
                <a:highlight>
                  <a:srgbClr val="FFFF00"/>
                </a:highlight>
                <a:latin typeface="Cambria" panose="02040503050406030204" pitchFamily="18" charset="0"/>
                <a:ea typeface="Cambria" panose="02040503050406030204" pitchFamily="18" charset="0"/>
              </a:rPr>
              <a:t>) as </a:t>
            </a:r>
            <a:r>
              <a:rPr lang="en-US" dirty="0" err="1">
                <a:solidFill>
                  <a:srgbClr val="FF0000"/>
                </a:solidFill>
                <a:highlight>
                  <a:srgbClr val="FFFF00"/>
                </a:highlight>
                <a:latin typeface="Cambria" panose="02040503050406030204" pitchFamily="18" charset="0"/>
                <a:ea typeface="Cambria" panose="02040503050406030204" pitchFamily="18" charset="0"/>
              </a:rPr>
              <a:t>ms</a:t>
            </a:r>
            <a:r>
              <a:rPr lang="en-US" dirty="0">
                <a:highlight>
                  <a:srgbClr val="FFFF00"/>
                </a:highlight>
                <a:latin typeface="Cambria" panose="02040503050406030204" pitchFamily="18" charset="0"/>
                <a:ea typeface="Cambria" panose="02040503050406030204" pitchFamily="18" charset="0"/>
              </a:rPr>
              <a:t> FROM emp  </a:t>
            </a:r>
          </a:p>
          <a:p>
            <a:pPr>
              <a:spcBef>
                <a:spcPts val="600"/>
              </a:spcBef>
              <a:spcAft>
                <a:spcPts val="0"/>
              </a:spcAft>
            </a:pPr>
            <a:r>
              <a:rPr lang="en-US" dirty="0">
                <a:latin typeface="Cambria" panose="02040503050406030204" pitchFamily="18" charset="0"/>
                <a:ea typeface="Cambria" panose="02040503050406030204" pitchFamily="18" charset="0"/>
              </a:rPr>
              <a:t>	</a:t>
            </a:r>
            <a:r>
              <a:rPr lang="en-US" dirty="0">
                <a:highlight>
                  <a:srgbClr val="FFFF00"/>
                </a:highlight>
                <a:latin typeface="Cambria" panose="02040503050406030204" pitchFamily="18" charset="0"/>
                <a:ea typeface="Cambria" panose="02040503050406030204" pitchFamily="18" charset="0"/>
              </a:rPr>
              <a:t>GROUP BY job) </a:t>
            </a:r>
            <a:r>
              <a:rPr lang="en-US" dirty="0">
                <a:solidFill>
                  <a:srgbClr val="FF0000"/>
                </a:solidFill>
                <a:highlight>
                  <a:srgbClr val="FFFF00"/>
                </a:highlight>
                <a:latin typeface="Cambria" panose="02040503050406030204" pitchFamily="18" charset="0"/>
                <a:ea typeface="Cambria" panose="02040503050406030204" pitchFamily="18" charset="0"/>
              </a:rPr>
              <a:t>sq</a:t>
            </a:r>
          </a:p>
          <a:p>
            <a:pPr>
              <a:spcBef>
                <a:spcPts val="600"/>
              </a:spcBef>
              <a:spcAft>
                <a:spcPts val="0"/>
              </a:spcAft>
            </a:pPr>
            <a:r>
              <a:rPr lang="en-US" dirty="0">
                <a:latin typeface="Cambria" panose="02040503050406030204" pitchFamily="18" charset="0"/>
                <a:ea typeface="Cambria" panose="02040503050406030204" pitchFamily="18" charset="0"/>
              </a:rPr>
              <a:t>WHERE </a:t>
            </a:r>
            <a:r>
              <a:rPr lang="en-US" dirty="0" err="1">
                <a:latin typeface="Cambria" panose="02040503050406030204" pitchFamily="18" charset="0"/>
                <a:ea typeface="Cambria" panose="02040503050406030204" pitchFamily="18" charset="0"/>
              </a:rPr>
              <a:t>ms</a:t>
            </a:r>
            <a:r>
              <a:rPr lang="en-US" dirty="0">
                <a:latin typeface="Cambria" panose="02040503050406030204" pitchFamily="18" charset="0"/>
                <a:ea typeface="Cambria" panose="02040503050406030204" pitchFamily="18" charset="0"/>
              </a:rPr>
              <a:t> &lt; 2000; </a:t>
            </a:r>
          </a:p>
        </p:txBody>
      </p:sp>
      <p:sp>
        <p:nvSpPr>
          <p:cNvPr id="6" name="TextBox 5">
            <a:extLst>
              <a:ext uri="{FF2B5EF4-FFF2-40B4-BE49-F238E27FC236}">
                <a16:creationId xmlns:a16="http://schemas.microsoft.com/office/drawing/2014/main" id="{9B522E78-6D50-E4B7-D91D-BBA09FC98DF0}"/>
              </a:ext>
            </a:extLst>
          </p:cNvPr>
          <p:cNvSpPr txBox="1"/>
          <p:nvPr/>
        </p:nvSpPr>
        <p:spPr>
          <a:xfrm>
            <a:off x="1763688" y="4581128"/>
            <a:ext cx="6768430" cy="1800493"/>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b="1" dirty="0">
                <a:solidFill>
                  <a:srgbClr val="0000CC"/>
                </a:solidFill>
                <a:highlight>
                  <a:srgbClr val="FFFF00"/>
                </a:highlight>
                <a:latin typeface="Cambria" panose="02040503050406030204" pitchFamily="18" charset="0"/>
                <a:ea typeface="Cambria" panose="02040503050406030204" pitchFamily="18" charset="0"/>
              </a:rPr>
              <a:t>WITH</a:t>
            </a:r>
            <a:r>
              <a:rPr lang="en-US" dirty="0">
                <a:highlight>
                  <a:srgbClr val="FFFF00"/>
                </a:highlight>
                <a:latin typeface="Cambria" panose="02040503050406030204" pitchFamily="18" charset="0"/>
                <a:ea typeface="Cambria" panose="02040503050406030204" pitchFamily="18" charset="0"/>
              </a:rPr>
              <a:t> </a:t>
            </a:r>
            <a:r>
              <a:rPr lang="en-US" dirty="0">
                <a:solidFill>
                  <a:srgbClr val="FF0000"/>
                </a:solidFill>
                <a:highlight>
                  <a:srgbClr val="FFFF00"/>
                </a:highlight>
                <a:latin typeface="Cambria" panose="02040503050406030204" pitchFamily="18" charset="0"/>
                <a:ea typeface="Cambria" panose="02040503050406030204" pitchFamily="18" charset="0"/>
              </a:rPr>
              <a:t>sq</a:t>
            </a:r>
            <a:r>
              <a:rPr lang="en-US" dirty="0">
                <a:highlight>
                  <a:srgbClr val="FFFF00"/>
                </a:highlight>
                <a:latin typeface="Cambria" panose="02040503050406030204" pitchFamily="18" charset="0"/>
                <a:ea typeface="Cambria" panose="02040503050406030204" pitchFamily="18" charset="0"/>
              </a:rPr>
              <a:t> AS (SELECT job, MAX(</a:t>
            </a:r>
            <a:r>
              <a:rPr lang="en-US" dirty="0" err="1">
                <a:highlight>
                  <a:srgbClr val="FFFF00"/>
                </a:highlight>
                <a:latin typeface="Cambria" panose="02040503050406030204" pitchFamily="18" charset="0"/>
                <a:ea typeface="Cambria" panose="02040503050406030204" pitchFamily="18" charset="0"/>
              </a:rPr>
              <a:t>sal</a:t>
            </a:r>
            <a:r>
              <a:rPr lang="en-US" dirty="0">
                <a:highlight>
                  <a:srgbClr val="FFFF00"/>
                </a:highlight>
                <a:latin typeface="Cambria" panose="02040503050406030204" pitchFamily="18" charset="0"/>
                <a:ea typeface="Cambria" panose="02040503050406030204" pitchFamily="18" charset="0"/>
              </a:rPr>
              <a:t>) as </a:t>
            </a:r>
            <a:r>
              <a:rPr lang="en-US" dirty="0" err="1">
                <a:solidFill>
                  <a:srgbClr val="FF0000"/>
                </a:solidFill>
                <a:highlight>
                  <a:srgbClr val="FFFF00"/>
                </a:highlight>
                <a:latin typeface="Cambria" panose="02040503050406030204" pitchFamily="18" charset="0"/>
                <a:ea typeface="Cambria" panose="02040503050406030204" pitchFamily="18" charset="0"/>
              </a:rPr>
              <a:t>ms</a:t>
            </a:r>
            <a:r>
              <a:rPr lang="en-US" dirty="0">
                <a:highlight>
                  <a:srgbClr val="FFFF00"/>
                </a:highlight>
                <a:latin typeface="Cambria" panose="02040503050406030204" pitchFamily="18" charset="0"/>
                <a:ea typeface="Cambria" panose="02040503050406030204" pitchFamily="18" charset="0"/>
              </a:rPr>
              <a:t> </a:t>
            </a:r>
          </a:p>
          <a:p>
            <a:pPr>
              <a:spcBef>
                <a:spcPts val="600"/>
              </a:spcBef>
              <a:spcAft>
                <a:spcPts val="0"/>
              </a:spcAft>
            </a:pPr>
            <a:r>
              <a:rPr lang="en-US" dirty="0">
                <a:highlight>
                  <a:srgbClr val="FFFF00"/>
                </a:highlight>
                <a:latin typeface="Cambria" panose="02040503050406030204" pitchFamily="18" charset="0"/>
                <a:ea typeface="Cambria" panose="02040503050406030204" pitchFamily="18" charset="0"/>
              </a:rPr>
              <a:t>		FROM emp  GROUP BY job)</a:t>
            </a:r>
            <a:endParaRPr lang="en-US" dirty="0">
              <a:solidFill>
                <a:srgbClr val="FF0000"/>
              </a:solidFill>
              <a:highlight>
                <a:srgbClr val="FFFF00"/>
              </a:highlight>
              <a:latin typeface="Cambria" panose="02040503050406030204" pitchFamily="18" charset="0"/>
              <a:ea typeface="Cambria" panose="02040503050406030204" pitchFamily="18" charset="0"/>
            </a:endParaRPr>
          </a:p>
          <a:p>
            <a:pPr>
              <a:spcBef>
                <a:spcPts val="600"/>
              </a:spcBef>
              <a:spcAft>
                <a:spcPts val="0"/>
              </a:spcAft>
            </a:pPr>
            <a:r>
              <a:rPr lang="en-US" dirty="0">
                <a:latin typeface="Cambria" panose="02040503050406030204" pitchFamily="18" charset="0"/>
                <a:ea typeface="Cambria" panose="02040503050406030204" pitchFamily="18" charset="0"/>
              </a:rPr>
              <a:t>SELECT * FROM sq</a:t>
            </a:r>
          </a:p>
          <a:p>
            <a:pPr>
              <a:spcBef>
                <a:spcPts val="600"/>
              </a:spcBef>
              <a:spcAft>
                <a:spcPts val="0"/>
              </a:spcAft>
            </a:pPr>
            <a:r>
              <a:rPr lang="en-US" dirty="0">
                <a:latin typeface="Cambria" panose="02040503050406030204" pitchFamily="18" charset="0"/>
                <a:ea typeface="Cambria" panose="02040503050406030204" pitchFamily="18" charset="0"/>
              </a:rPr>
              <a:t>WHERE </a:t>
            </a:r>
            <a:r>
              <a:rPr lang="en-US" dirty="0" err="1">
                <a:latin typeface="Cambria" panose="02040503050406030204" pitchFamily="18" charset="0"/>
                <a:ea typeface="Cambria" panose="02040503050406030204" pitchFamily="18" charset="0"/>
              </a:rPr>
              <a:t>ms</a:t>
            </a:r>
            <a:r>
              <a:rPr lang="en-US" dirty="0">
                <a:latin typeface="Cambria" panose="02040503050406030204" pitchFamily="18" charset="0"/>
                <a:ea typeface="Cambria" panose="02040503050406030204" pitchFamily="18" charset="0"/>
              </a:rPr>
              <a:t> &lt; 2000; </a:t>
            </a:r>
          </a:p>
        </p:txBody>
      </p:sp>
      <p:sp>
        <p:nvSpPr>
          <p:cNvPr id="8" name="Rectangle 3">
            <a:extLst>
              <a:ext uri="{FF2B5EF4-FFF2-40B4-BE49-F238E27FC236}">
                <a16:creationId xmlns:a16="http://schemas.microsoft.com/office/drawing/2014/main" id="{5784F7FC-1384-D255-2C50-9146A9176637}"/>
              </a:ext>
            </a:extLst>
          </p:cNvPr>
          <p:cNvSpPr txBox="1">
            <a:spLocks noChangeArrowheads="1"/>
          </p:cNvSpPr>
          <p:nvPr/>
        </p:nvSpPr>
        <p:spPr bwMode="auto">
          <a:xfrm>
            <a:off x="179512" y="3410500"/>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Subquery</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9" name="Rectangle 3">
            <a:extLst>
              <a:ext uri="{FF2B5EF4-FFF2-40B4-BE49-F238E27FC236}">
                <a16:creationId xmlns:a16="http://schemas.microsoft.com/office/drawing/2014/main" id="{34B7B095-9ADF-BDC0-F9A6-FD5D00C73BC0}"/>
              </a:ext>
            </a:extLst>
          </p:cNvPr>
          <p:cNvSpPr txBox="1">
            <a:spLocks noChangeArrowheads="1"/>
          </p:cNvSpPr>
          <p:nvPr/>
        </p:nvSpPr>
        <p:spPr bwMode="auto">
          <a:xfrm>
            <a:off x="251520" y="5182955"/>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CTE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85246765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32464-CAA9-B95F-E690-B0EF2D32AD8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FADA510-30C5-644A-D233-12F5DAB8E85E}"/>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CTE Subquery</a:t>
            </a:r>
          </a:p>
        </p:txBody>
      </p:sp>
      <p:sp>
        <p:nvSpPr>
          <p:cNvPr id="38915" name="Rectangle 3">
            <a:extLst>
              <a:ext uri="{FF2B5EF4-FFF2-40B4-BE49-F238E27FC236}">
                <a16:creationId xmlns:a16="http://schemas.microsoft.com/office/drawing/2014/main" id="{11DF9ABE-BAD2-0F13-F662-07437F32E8E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FB9D1F6-DA84-8452-E7E3-F9A95A42A9F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4566B63B-EE1A-8C92-4A07-B4701B976DB4}"/>
              </a:ext>
            </a:extLst>
          </p:cNvPr>
          <p:cNvSpPr txBox="1">
            <a:spLocks noChangeArrowheads="1"/>
          </p:cNvSpPr>
          <p:nvPr/>
        </p:nvSpPr>
        <p:spPr bwMode="auto">
          <a:xfrm>
            <a:off x="394866" y="646451"/>
            <a:ext cx="8394700" cy="1198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employees with </a:t>
            </a:r>
            <a:r>
              <a:rPr kumimoji="0" lang="en-US" altLang="en-US" sz="22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salary lesser than the average salary</a:t>
            </a:r>
            <a:r>
              <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of the all the employees.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DA171C44-2C0F-88B3-CD85-4CB83B5CC23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TextBox 2">
            <a:extLst>
              <a:ext uri="{FF2B5EF4-FFF2-40B4-BE49-F238E27FC236}">
                <a16:creationId xmlns:a16="http://schemas.microsoft.com/office/drawing/2014/main" id="{FA0F0A32-3A21-D52D-11E0-E716F353F1DB}"/>
              </a:ext>
            </a:extLst>
          </p:cNvPr>
          <p:cNvSpPr txBox="1"/>
          <p:nvPr/>
        </p:nvSpPr>
        <p:spPr>
          <a:xfrm>
            <a:off x="539552" y="1352000"/>
            <a:ext cx="6840760" cy="846386"/>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dirty="0">
                <a:latin typeface="Cambria" panose="02040503050406030204" pitchFamily="18" charset="0"/>
                <a:ea typeface="Cambria" panose="02040503050406030204" pitchFamily="18" charset="0"/>
              </a:rPr>
              <a:t>SELECT </a:t>
            </a:r>
            <a:r>
              <a:rPr lang="en-US" sz="2200" dirty="0" err="1">
                <a:latin typeface="Cambria" panose="02040503050406030204" pitchFamily="18" charset="0"/>
                <a:ea typeface="Cambria" panose="02040503050406030204" pitchFamily="18" charset="0"/>
              </a:rPr>
              <a:t>ename</a:t>
            </a:r>
            <a:r>
              <a:rPr lang="en-US" sz="2200" dirty="0">
                <a:latin typeface="Cambria" panose="02040503050406030204" pitchFamily="18" charset="0"/>
                <a:ea typeface="Cambria" panose="02040503050406030204" pitchFamily="18" charset="0"/>
              </a:rPr>
              <a:t>, job,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FROM emp outer </a:t>
            </a:r>
          </a:p>
          <a:p>
            <a:pPr>
              <a:spcBef>
                <a:spcPts val="600"/>
              </a:spcBef>
              <a:spcAft>
                <a:spcPts val="0"/>
              </a:spcAft>
            </a:pPr>
            <a:r>
              <a:rPr lang="en-US" sz="2200" dirty="0">
                <a:latin typeface="Cambria" panose="02040503050406030204" pitchFamily="18" charset="0"/>
                <a:ea typeface="Cambria" panose="02040503050406030204" pitchFamily="18" charset="0"/>
              </a:rPr>
              <a:t>WHERE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&lt; </a:t>
            </a:r>
            <a:r>
              <a:rPr lang="en-US" sz="2200" dirty="0">
                <a:solidFill>
                  <a:srgbClr val="0000CC"/>
                </a:solidFill>
                <a:latin typeface="Cambria" panose="02040503050406030204" pitchFamily="18" charset="0"/>
                <a:ea typeface="Cambria" panose="02040503050406030204" pitchFamily="18" charset="0"/>
              </a:rPr>
              <a:t>(SELECT </a:t>
            </a:r>
            <a:r>
              <a:rPr lang="en-US" sz="2200" dirty="0">
                <a:solidFill>
                  <a:srgbClr val="FF0000"/>
                </a:solidFill>
                <a:latin typeface="Cambria" panose="02040503050406030204" pitchFamily="18" charset="0"/>
                <a:ea typeface="Cambria" panose="02040503050406030204" pitchFamily="18" charset="0"/>
              </a:rPr>
              <a:t>round(avg(</a:t>
            </a:r>
            <a:r>
              <a:rPr lang="en-US" sz="2200" dirty="0" err="1">
                <a:solidFill>
                  <a:srgbClr val="FF0000"/>
                </a:solidFill>
                <a:latin typeface="Cambria" panose="02040503050406030204" pitchFamily="18" charset="0"/>
                <a:ea typeface="Cambria" panose="02040503050406030204" pitchFamily="18" charset="0"/>
              </a:rPr>
              <a:t>sal</a:t>
            </a:r>
            <a:r>
              <a:rPr lang="en-US" sz="2200" dirty="0">
                <a:solidFill>
                  <a:srgbClr val="FF0000"/>
                </a:solidFill>
                <a:latin typeface="Cambria" panose="02040503050406030204" pitchFamily="18" charset="0"/>
                <a:ea typeface="Cambria" panose="02040503050406030204" pitchFamily="18" charset="0"/>
              </a:rPr>
              <a:t>))</a:t>
            </a:r>
            <a:r>
              <a:rPr lang="en-US" sz="2200" dirty="0">
                <a:solidFill>
                  <a:srgbClr val="0000CC"/>
                </a:solidFill>
                <a:latin typeface="Cambria" panose="02040503050406030204" pitchFamily="18" charset="0"/>
                <a:ea typeface="Cambria" panose="02040503050406030204" pitchFamily="18" charset="0"/>
              </a:rPr>
              <a:t> FROM emp</a:t>
            </a:r>
            <a:r>
              <a:rPr lang="en-US" sz="2200" dirty="0">
                <a:latin typeface="Cambria" panose="02040503050406030204" pitchFamily="18" charset="0"/>
                <a:ea typeface="Cambria" panose="02040503050406030204" pitchFamily="18" charset="0"/>
              </a:rPr>
              <a:t>) </a:t>
            </a:r>
          </a:p>
        </p:txBody>
      </p:sp>
      <p:graphicFrame>
        <p:nvGraphicFramePr>
          <p:cNvPr id="7" name="Table 6">
            <a:extLst>
              <a:ext uri="{FF2B5EF4-FFF2-40B4-BE49-F238E27FC236}">
                <a16:creationId xmlns:a16="http://schemas.microsoft.com/office/drawing/2014/main" id="{C8FB1A01-AC1D-A3A1-4157-8403032E6CFD}"/>
              </a:ext>
            </a:extLst>
          </p:cNvPr>
          <p:cNvGraphicFramePr>
            <a:graphicFrameLocks noGrp="1"/>
          </p:cNvGraphicFramePr>
          <p:nvPr>
            <p:extLst>
              <p:ext uri="{D42A27DB-BD31-4B8C-83A1-F6EECF244321}">
                <p14:modId xmlns:p14="http://schemas.microsoft.com/office/powerpoint/2010/main" val="1451029988"/>
              </p:ext>
            </p:extLst>
          </p:nvPr>
        </p:nvGraphicFramePr>
        <p:xfrm>
          <a:off x="2369319" y="3645024"/>
          <a:ext cx="4445793" cy="2926726"/>
        </p:xfrm>
        <a:graphic>
          <a:graphicData uri="http://schemas.openxmlformats.org/drawingml/2006/table">
            <a:tbl>
              <a:tblPr/>
              <a:tblGrid>
                <a:gridCol w="1481931">
                  <a:extLst>
                    <a:ext uri="{9D8B030D-6E8A-4147-A177-3AD203B41FA5}">
                      <a16:colId xmlns:a16="http://schemas.microsoft.com/office/drawing/2014/main" val="20000"/>
                    </a:ext>
                  </a:extLst>
                </a:gridCol>
                <a:gridCol w="1481931">
                  <a:extLst>
                    <a:ext uri="{9D8B030D-6E8A-4147-A177-3AD203B41FA5}">
                      <a16:colId xmlns:a16="http://schemas.microsoft.com/office/drawing/2014/main" val="20001"/>
                    </a:ext>
                  </a:extLst>
                </a:gridCol>
                <a:gridCol w="1481931">
                  <a:extLst>
                    <a:ext uri="{9D8B030D-6E8A-4147-A177-3AD203B41FA5}">
                      <a16:colId xmlns:a16="http://schemas.microsoft.com/office/drawing/2014/main" val="20002"/>
                    </a:ext>
                  </a:extLst>
                </a:gridCol>
              </a:tblGrid>
              <a:tr h="144016">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1800" dirty="0">
                          <a:effectLst/>
                          <a:latin typeface="Cambria" panose="02040503050406030204" pitchFamily="18" charset="0"/>
                          <a:ea typeface="Cambria" panose="02040503050406030204" pitchFamily="18" charset="0"/>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1800" dirty="0">
                          <a:effectLst/>
                          <a:latin typeface="Cambria" panose="02040503050406030204" pitchFamily="18" charset="0"/>
                          <a:ea typeface="Cambria" panose="02040503050406030204" pitchFamily="18" charset="0"/>
                        </a:rPr>
                        <a:t>ALLEN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1600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1800" dirty="0">
                          <a:effectLst/>
                          <a:latin typeface="Cambria" panose="02040503050406030204" pitchFamily="18" charset="0"/>
                          <a:ea typeface="Cambria" panose="02040503050406030204" pitchFamily="18" charset="0"/>
                        </a:rPr>
                        <a:t>WARD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1250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1800" dirty="0">
                          <a:effectLst/>
                          <a:latin typeface="Cambria" panose="02040503050406030204" pitchFamily="18" charset="0"/>
                          <a:ea typeface="Cambria" panose="02040503050406030204" pitchFamily="18" charset="0"/>
                        </a:rPr>
                        <a:t>MARTIN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1250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1800" dirty="0">
                          <a:effectLst/>
                          <a:latin typeface="Cambria" panose="02040503050406030204" pitchFamily="18" charset="0"/>
                          <a:ea typeface="Cambria" panose="02040503050406030204" pitchFamily="18" charset="0"/>
                        </a:rPr>
                        <a:t>TURNER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1500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320118">
                <a:tc>
                  <a:txBody>
                    <a:bodyPr/>
                    <a:lstStyle/>
                    <a:p>
                      <a:r>
                        <a:rPr lang="en-US" sz="1800" dirty="0">
                          <a:effectLst/>
                          <a:latin typeface="Cambria" panose="02040503050406030204" pitchFamily="18" charset="0"/>
                          <a:ea typeface="Cambria" panose="02040503050406030204" pitchFamily="18" charset="0"/>
                        </a:rPr>
                        <a:t>ADAMS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1100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369085388"/>
                  </a:ext>
                </a:extLst>
              </a:tr>
              <a:tr h="320118">
                <a:tc>
                  <a:txBody>
                    <a:bodyPr/>
                    <a:lstStyle/>
                    <a:p>
                      <a:r>
                        <a:rPr lang="en-US" sz="1800" dirty="0">
                          <a:effectLst/>
                          <a:latin typeface="Cambria" panose="02040503050406030204" pitchFamily="18" charset="0"/>
                          <a:ea typeface="Cambria" panose="02040503050406030204" pitchFamily="18" charset="0"/>
                        </a:rPr>
                        <a:t>JAMES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950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682452926"/>
                  </a:ext>
                </a:extLst>
              </a:tr>
              <a:tr h="320118">
                <a:tc>
                  <a:txBody>
                    <a:bodyPr/>
                    <a:lstStyle/>
                    <a:p>
                      <a:r>
                        <a:rPr lang="en-US" sz="1800" dirty="0">
                          <a:effectLst/>
                          <a:latin typeface="Cambria" panose="02040503050406030204" pitchFamily="18" charset="0"/>
                          <a:ea typeface="Cambria" panose="02040503050406030204" pitchFamily="18" charset="0"/>
                        </a:rPr>
                        <a:t>MILLER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1300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3016578842"/>
                  </a:ext>
                </a:extLst>
              </a:tr>
            </a:tbl>
          </a:graphicData>
        </a:graphic>
      </p:graphicFrame>
      <p:sp>
        <p:nvSpPr>
          <p:cNvPr id="5" name="TextBox 4">
            <a:extLst>
              <a:ext uri="{FF2B5EF4-FFF2-40B4-BE49-F238E27FC236}">
                <a16:creationId xmlns:a16="http://schemas.microsoft.com/office/drawing/2014/main" id="{D63AC7A1-4B55-1159-C2B0-962FB46C919C}"/>
              </a:ext>
            </a:extLst>
          </p:cNvPr>
          <p:cNvSpPr txBox="1"/>
          <p:nvPr/>
        </p:nvSpPr>
        <p:spPr>
          <a:xfrm>
            <a:off x="539552" y="2276872"/>
            <a:ext cx="6840760" cy="1261884"/>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b="1" dirty="0">
                <a:solidFill>
                  <a:srgbClr val="0000CC"/>
                </a:solidFill>
                <a:latin typeface="Cambria" panose="02040503050406030204" pitchFamily="18" charset="0"/>
                <a:ea typeface="Cambria" panose="02040503050406030204" pitchFamily="18" charset="0"/>
              </a:rPr>
              <a:t>WITH</a:t>
            </a:r>
            <a:r>
              <a:rPr lang="en-US" sz="2200" dirty="0">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avg_cte</a:t>
            </a:r>
            <a:r>
              <a:rPr lang="en-US" sz="2200" dirty="0">
                <a:latin typeface="Cambria" panose="02040503050406030204" pitchFamily="18" charset="0"/>
                <a:ea typeface="Cambria" panose="02040503050406030204" pitchFamily="18" charset="0"/>
              </a:rPr>
              <a:t> as (SELECT avg(</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AvgSal</a:t>
            </a:r>
            <a:r>
              <a:rPr lang="en-US" sz="2200" dirty="0">
                <a:latin typeface="Cambria" panose="02040503050406030204" pitchFamily="18" charset="0"/>
                <a:ea typeface="Cambria" panose="02040503050406030204" pitchFamily="18" charset="0"/>
              </a:rPr>
              <a:t> FROM emp)</a:t>
            </a:r>
          </a:p>
          <a:p>
            <a:pPr>
              <a:spcBef>
                <a:spcPts val="600"/>
              </a:spcBef>
              <a:spcAft>
                <a:spcPts val="0"/>
              </a:spcAft>
            </a:pPr>
            <a:r>
              <a:rPr lang="en-US" sz="2200" dirty="0">
                <a:latin typeface="Cambria" panose="02040503050406030204" pitchFamily="18" charset="0"/>
                <a:ea typeface="Cambria" panose="02040503050406030204" pitchFamily="18" charset="0"/>
              </a:rPr>
              <a:t>SELECT </a:t>
            </a:r>
            <a:r>
              <a:rPr lang="en-US" sz="2200" dirty="0" err="1">
                <a:latin typeface="Cambria" panose="02040503050406030204" pitchFamily="18" charset="0"/>
                <a:ea typeface="Cambria" panose="02040503050406030204" pitchFamily="18" charset="0"/>
              </a:rPr>
              <a:t>ename</a:t>
            </a:r>
            <a:r>
              <a:rPr lang="en-US" sz="2200" dirty="0">
                <a:latin typeface="Cambria" panose="02040503050406030204" pitchFamily="18" charset="0"/>
                <a:ea typeface="Cambria" panose="02040503050406030204" pitchFamily="18" charset="0"/>
              </a:rPr>
              <a:t>, job,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FROM emp, </a:t>
            </a:r>
            <a:r>
              <a:rPr lang="en-US" sz="2200" dirty="0" err="1">
                <a:latin typeface="Cambria" panose="02040503050406030204" pitchFamily="18" charset="0"/>
                <a:ea typeface="Cambria" panose="02040503050406030204" pitchFamily="18" charset="0"/>
              </a:rPr>
              <a:t>avg_cte</a:t>
            </a:r>
            <a:r>
              <a:rPr lang="en-US" sz="2200" dirty="0">
                <a:latin typeface="Cambria" panose="02040503050406030204" pitchFamily="18" charset="0"/>
                <a:ea typeface="Cambria" panose="02040503050406030204" pitchFamily="18" charset="0"/>
              </a:rPr>
              <a:t> </a:t>
            </a:r>
          </a:p>
          <a:p>
            <a:pPr>
              <a:spcBef>
                <a:spcPts val="600"/>
              </a:spcBef>
              <a:spcAft>
                <a:spcPts val="0"/>
              </a:spcAft>
            </a:pPr>
            <a:r>
              <a:rPr lang="en-US" sz="2200" dirty="0">
                <a:latin typeface="Cambria" panose="02040503050406030204" pitchFamily="18" charset="0"/>
                <a:ea typeface="Cambria" panose="02040503050406030204" pitchFamily="18" charset="0"/>
              </a:rPr>
              <a:t>WHERE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&lt; </a:t>
            </a:r>
            <a:r>
              <a:rPr lang="en-US" sz="2200" dirty="0" err="1">
                <a:latin typeface="Cambria" panose="02040503050406030204" pitchFamily="18" charset="0"/>
                <a:ea typeface="Cambria" panose="02040503050406030204" pitchFamily="18" charset="0"/>
              </a:rPr>
              <a:t>AvgSal</a:t>
            </a:r>
            <a:endParaRPr lang="en-US" sz="2200" dirty="0">
              <a:latin typeface="Cambria" panose="02040503050406030204" pitchFamily="18" charset="0"/>
              <a:ea typeface="Cambria" panose="02040503050406030204" pitchFamily="18" charset="0"/>
            </a:endParaRPr>
          </a:p>
        </p:txBody>
      </p:sp>
      <p:sp>
        <p:nvSpPr>
          <p:cNvPr id="6" name="Rectangle 3">
            <a:extLst>
              <a:ext uri="{FF2B5EF4-FFF2-40B4-BE49-F238E27FC236}">
                <a16:creationId xmlns:a16="http://schemas.microsoft.com/office/drawing/2014/main" id="{84371051-04E0-52E5-5944-4893723B405B}"/>
              </a:ext>
            </a:extLst>
          </p:cNvPr>
          <p:cNvSpPr txBox="1">
            <a:spLocks noChangeArrowheads="1"/>
          </p:cNvSpPr>
          <p:nvPr/>
        </p:nvSpPr>
        <p:spPr bwMode="auto">
          <a:xfrm>
            <a:off x="7500533" y="1533872"/>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Subquery</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8" name="Rectangle 3">
            <a:extLst>
              <a:ext uri="{FF2B5EF4-FFF2-40B4-BE49-F238E27FC236}">
                <a16:creationId xmlns:a16="http://schemas.microsoft.com/office/drawing/2014/main" id="{1D249DA1-E427-8A80-E7DF-D9E3B0A117FC}"/>
              </a:ext>
            </a:extLst>
          </p:cNvPr>
          <p:cNvSpPr txBox="1">
            <a:spLocks noChangeArrowheads="1"/>
          </p:cNvSpPr>
          <p:nvPr/>
        </p:nvSpPr>
        <p:spPr bwMode="auto">
          <a:xfrm>
            <a:off x="7494414" y="2636912"/>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lang="en-US" alt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CTE</a:t>
            </a: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9" name="Rectangle 3">
            <a:extLst>
              <a:ext uri="{FF2B5EF4-FFF2-40B4-BE49-F238E27FC236}">
                <a16:creationId xmlns:a16="http://schemas.microsoft.com/office/drawing/2014/main" id="{D04C15A9-AD22-51D2-E57A-CA82E229F036}"/>
              </a:ext>
            </a:extLst>
          </p:cNvPr>
          <p:cNvSpPr txBox="1">
            <a:spLocks noChangeArrowheads="1"/>
          </p:cNvSpPr>
          <p:nvPr/>
        </p:nvSpPr>
        <p:spPr bwMode="auto">
          <a:xfrm>
            <a:off x="6660232" y="4882041"/>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ts val="575"/>
              </a:spcBef>
              <a:spcAft>
                <a:spcPct val="0"/>
              </a:spcAft>
              <a:buClr>
                <a:srgbClr val="D34817"/>
              </a:buClr>
              <a:buSzPct val="50000"/>
              <a:buNone/>
              <a:tabLst/>
              <a:defRPr/>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8 Rows Selected</a:t>
            </a: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8915983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93D2A-1C2F-EAD6-F3C4-F3D7E99E5AE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9707B75-E5F2-56A7-0879-2752BFEBA071}"/>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CTE Subquery</a:t>
            </a:r>
          </a:p>
        </p:txBody>
      </p:sp>
      <p:sp>
        <p:nvSpPr>
          <p:cNvPr id="38915" name="Rectangle 3">
            <a:extLst>
              <a:ext uri="{FF2B5EF4-FFF2-40B4-BE49-F238E27FC236}">
                <a16:creationId xmlns:a16="http://schemas.microsoft.com/office/drawing/2014/main" id="{F1987E2C-CA41-0F25-2F35-3763038043F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75844B79-F31C-396E-513A-2148D34BCA2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5DA4795E-2562-B6F9-F1AC-BB87DACE1237}"/>
              </a:ext>
            </a:extLst>
          </p:cNvPr>
          <p:cNvSpPr txBox="1">
            <a:spLocks noChangeArrowheads="1"/>
          </p:cNvSpPr>
          <p:nvPr/>
        </p:nvSpPr>
        <p:spPr bwMode="auto">
          <a:xfrm>
            <a:off x="394866" y="646451"/>
            <a:ext cx="8394700" cy="1198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employees with </a:t>
            </a:r>
            <a:r>
              <a:rPr kumimoji="0" lang="en-US" altLang="en-US" sz="22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salary lesser than the average salary</a:t>
            </a:r>
            <a:r>
              <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of the all the employees </a:t>
            </a:r>
            <a:r>
              <a:rPr kumimoji="0" lang="en-US" altLang="en-US" sz="2200" b="0" i="0" u="none" strike="noStrike" kern="1200" cap="none" spc="0" normalizeH="0" baseline="0" noProof="0" dirty="0">
                <a:ln>
                  <a:noFill/>
                </a:ln>
                <a:solidFill>
                  <a:prstClr val="black"/>
                </a:solidFill>
                <a:effectLst/>
                <a:highlight>
                  <a:srgbClr val="FFFF00"/>
                </a:highlight>
                <a:uLnTx/>
                <a:uFillTx/>
                <a:latin typeface="Cambria" panose="02040503050406030204" pitchFamily="18" charset="0"/>
                <a:ea typeface="Cambria" panose="02040503050406030204" pitchFamily="18" charset="0"/>
                <a:cs typeface="Calibri" panose="020F0502020204030204" pitchFamily="34" charset="0"/>
              </a:rPr>
              <a:t>doing the same job.</a:t>
            </a:r>
            <a:r>
              <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E96F3710-F02D-A64A-1B81-F3BF2F0CC49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TextBox 2">
            <a:extLst>
              <a:ext uri="{FF2B5EF4-FFF2-40B4-BE49-F238E27FC236}">
                <a16:creationId xmlns:a16="http://schemas.microsoft.com/office/drawing/2014/main" id="{F39047C1-E3B6-F7C9-2DD0-1EBD5575DA03}"/>
              </a:ext>
            </a:extLst>
          </p:cNvPr>
          <p:cNvSpPr txBox="1"/>
          <p:nvPr/>
        </p:nvSpPr>
        <p:spPr>
          <a:xfrm>
            <a:off x="539551" y="1352000"/>
            <a:ext cx="7056783" cy="1261884"/>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dirty="0">
                <a:latin typeface="Cambria" panose="02040503050406030204" pitchFamily="18" charset="0"/>
                <a:ea typeface="Cambria" panose="02040503050406030204" pitchFamily="18" charset="0"/>
              </a:rPr>
              <a:t>SELECT </a:t>
            </a:r>
            <a:r>
              <a:rPr lang="en-US" sz="2200" dirty="0" err="1">
                <a:latin typeface="Cambria" panose="02040503050406030204" pitchFamily="18" charset="0"/>
                <a:ea typeface="Cambria" panose="02040503050406030204" pitchFamily="18" charset="0"/>
              </a:rPr>
              <a:t>ename</a:t>
            </a:r>
            <a:r>
              <a:rPr lang="en-US" sz="2200" dirty="0">
                <a:latin typeface="Cambria" panose="02040503050406030204" pitchFamily="18" charset="0"/>
                <a:ea typeface="Cambria" panose="02040503050406030204" pitchFamily="18" charset="0"/>
              </a:rPr>
              <a:t>, job,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FROM emp outer </a:t>
            </a:r>
          </a:p>
          <a:p>
            <a:pPr>
              <a:spcBef>
                <a:spcPts val="600"/>
              </a:spcBef>
              <a:spcAft>
                <a:spcPts val="0"/>
              </a:spcAft>
            </a:pPr>
            <a:r>
              <a:rPr lang="en-US" sz="2200" dirty="0">
                <a:latin typeface="Cambria" panose="02040503050406030204" pitchFamily="18" charset="0"/>
                <a:ea typeface="Cambria" panose="02040503050406030204" pitchFamily="18" charset="0"/>
              </a:rPr>
              <a:t>WHERE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&lt; </a:t>
            </a:r>
            <a:r>
              <a:rPr lang="en-US" sz="2200" dirty="0">
                <a:solidFill>
                  <a:srgbClr val="0000CC"/>
                </a:solidFill>
                <a:latin typeface="Cambria" panose="02040503050406030204" pitchFamily="18" charset="0"/>
                <a:ea typeface="Cambria" panose="02040503050406030204" pitchFamily="18" charset="0"/>
              </a:rPr>
              <a:t>(SELECT </a:t>
            </a:r>
            <a:r>
              <a:rPr lang="en-US" sz="2200" dirty="0">
                <a:solidFill>
                  <a:srgbClr val="FF0000"/>
                </a:solidFill>
                <a:latin typeface="Cambria" panose="02040503050406030204" pitchFamily="18" charset="0"/>
                <a:ea typeface="Cambria" panose="02040503050406030204" pitchFamily="18" charset="0"/>
              </a:rPr>
              <a:t>round(avg(</a:t>
            </a:r>
            <a:r>
              <a:rPr lang="en-US" sz="2200" dirty="0" err="1">
                <a:solidFill>
                  <a:srgbClr val="FF0000"/>
                </a:solidFill>
                <a:latin typeface="Cambria" panose="02040503050406030204" pitchFamily="18" charset="0"/>
                <a:ea typeface="Cambria" panose="02040503050406030204" pitchFamily="18" charset="0"/>
              </a:rPr>
              <a:t>sal</a:t>
            </a:r>
            <a:r>
              <a:rPr lang="en-US" sz="2200" dirty="0">
                <a:solidFill>
                  <a:srgbClr val="FF0000"/>
                </a:solidFill>
                <a:latin typeface="Cambria" panose="02040503050406030204" pitchFamily="18" charset="0"/>
                <a:ea typeface="Cambria" panose="02040503050406030204" pitchFamily="18" charset="0"/>
              </a:rPr>
              <a:t>))</a:t>
            </a:r>
            <a:r>
              <a:rPr lang="en-US" sz="2200" dirty="0">
                <a:solidFill>
                  <a:srgbClr val="0000CC"/>
                </a:solidFill>
                <a:latin typeface="Cambria" panose="02040503050406030204" pitchFamily="18" charset="0"/>
                <a:ea typeface="Cambria" panose="02040503050406030204" pitchFamily="18" charset="0"/>
              </a:rPr>
              <a:t> FROM emp</a:t>
            </a:r>
            <a:r>
              <a:rPr lang="en-US" sz="2200" dirty="0">
                <a:latin typeface="Cambria" panose="02040503050406030204" pitchFamily="18" charset="0"/>
                <a:ea typeface="Cambria" panose="02040503050406030204" pitchFamily="18" charset="0"/>
              </a:rPr>
              <a:t>) </a:t>
            </a:r>
          </a:p>
          <a:p>
            <a:pPr>
              <a:spcBef>
                <a:spcPts val="600"/>
              </a:spcBef>
              <a:spcAft>
                <a:spcPts val="0"/>
              </a:spcAft>
            </a:pPr>
            <a:r>
              <a:rPr lang="en-US" sz="2200" dirty="0">
                <a:latin typeface="Cambria" panose="02040503050406030204" pitchFamily="18" charset="0"/>
                <a:ea typeface="Cambria" panose="02040503050406030204" pitchFamily="18" charset="0"/>
              </a:rPr>
              <a:t>			</a:t>
            </a:r>
            <a:r>
              <a:rPr lang="en-US" sz="2200" dirty="0">
                <a:highlight>
                  <a:srgbClr val="FFFF00"/>
                </a:highlight>
                <a:latin typeface="Cambria" panose="02040503050406030204" pitchFamily="18" charset="0"/>
                <a:ea typeface="Cambria" panose="02040503050406030204" pitchFamily="18" charset="0"/>
              </a:rPr>
              <a:t>WHERE </a:t>
            </a:r>
            <a:r>
              <a:rPr lang="en-US" sz="2200" dirty="0" err="1">
                <a:highlight>
                  <a:srgbClr val="FFFF00"/>
                </a:highlight>
                <a:latin typeface="Cambria" panose="02040503050406030204" pitchFamily="18" charset="0"/>
                <a:ea typeface="Cambria" panose="02040503050406030204" pitchFamily="18" charset="0"/>
              </a:rPr>
              <a:t>outer.job</a:t>
            </a:r>
            <a:r>
              <a:rPr lang="en-US" sz="2200" dirty="0">
                <a:highlight>
                  <a:srgbClr val="FFFF00"/>
                </a:highlight>
                <a:latin typeface="Cambria" panose="02040503050406030204" pitchFamily="18" charset="0"/>
                <a:ea typeface="Cambria" panose="02040503050406030204" pitchFamily="18" charset="0"/>
              </a:rPr>
              <a:t>=</a:t>
            </a:r>
            <a:r>
              <a:rPr lang="en-US" sz="2200" dirty="0" err="1">
                <a:highlight>
                  <a:srgbClr val="FFFF00"/>
                </a:highlight>
                <a:latin typeface="Cambria" panose="02040503050406030204" pitchFamily="18" charset="0"/>
                <a:ea typeface="Cambria" panose="02040503050406030204" pitchFamily="18" charset="0"/>
              </a:rPr>
              <a:t>inner.job</a:t>
            </a:r>
            <a:r>
              <a:rPr lang="en-US" sz="2200" dirty="0">
                <a:highlight>
                  <a:srgbClr val="FFFF00"/>
                </a:highlight>
                <a:latin typeface="Cambria" panose="02040503050406030204" pitchFamily="18" charset="0"/>
                <a:ea typeface="Cambria" panose="02040503050406030204" pitchFamily="18" charset="0"/>
              </a:rPr>
              <a:t>);</a:t>
            </a:r>
          </a:p>
        </p:txBody>
      </p:sp>
      <p:sp>
        <p:nvSpPr>
          <p:cNvPr id="5" name="TextBox 4">
            <a:extLst>
              <a:ext uri="{FF2B5EF4-FFF2-40B4-BE49-F238E27FC236}">
                <a16:creationId xmlns:a16="http://schemas.microsoft.com/office/drawing/2014/main" id="{674ED2BD-E78D-C8DD-7631-C8069154C888}"/>
              </a:ext>
            </a:extLst>
          </p:cNvPr>
          <p:cNvSpPr txBox="1"/>
          <p:nvPr/>
        </p:nvSpPr>
        <p:spPr>
          <a:xfrm>
            <a:off x="539552" y="2687722"/>
            <a:ext cx="7056784" cy="1677382"/>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b="1" dirty="0">
                <a:solidFill>
                  <a:srgbClr val="0000CC"/>
                </a:solidFill>
                <a:latin typeface="Cambria" panose="02040503050406030204" pitchFamily="18" charset="0"/>
                <a:ea typeface="Cambria" panose="02040503050406030204" pitchFamily="18" charset="0"/>
              </a:rPr>
              <a:t>WITH</a:t>
            </a:r>
            <a:r>
              <a:rPr lang="en-US" sz="2200" dirty="0">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avg_cte</a:t>
            </a:r>
            <a:r>
              <a:rPr lang="en-US" sz="2200" dirty="0">
                <a:latin typeface="Cambria" panose="02040503050406030204" pitchFamily="18" charset="0"/>
                <a:ea typeface="Cambria" panose="02040503050406030204" pitchFamily="18" charset="0"/>
              </a:rPr>
              <a:t> as (SELECT avg(</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AvgSal</a:t>
            </a:r>
            <a:r>
              <a:rPr lang="en-US" sz="2200" dirty="0">
                <a:solidFill>
                  <a:srgbClr val="FF0000"/>
                </a:solidFill>
                <a:latin typeface="Cambria" panose="02040503050406030204" pitchFamily="18" charset="0"/>
                <a:ea typeface="Cambria" panose="02040503050406030204" pitchFamily="18" charset="0"/>
              </a:rPr>
              <a:t>, job</a:t>
            </a:r>
            <a:r>
              <a:rPr lang="en-US" sz="2200" dirty="0">
                <a:latin typeface="Cambria" panose="02040503050406030204" pitchFamily="18" charset="0"/>
                <a:ea typeface="Cambria" panose="02040503050406030204" pitchFamily="18" charset="0"/>
              </a:rPr>
              <a:t> FROM emp</a:t>
            </a:r>
          </a:p>
          <a:p>
            <a:pPr>
              <a:spcBef>
                <a:spcPts val="600"/>
              </a:spcBef>
              <a:spcAft>
                <a:spcPts val="0"/>
              </a:spcAft>
            </a:pPr>
            <a:r>
              <a:rPr lang="en-US" sz="2200" dirty="0">
                <a:latin typeface="Cambria" panose="02040503050406030204" pitchFamily="18" charset="0"/>
                <a:ea typeface="Cambria" panose="02040503050406030204" pitchFamily="18" charset="0"/>
              </a:rPr>
              <a:t>		     GROUP BY job)</a:t>
            </a:r>
          </a:p>
          <a:p>
            <a:pPr>
              <a:spcBef>
                <a:spcPts val="600"/>
              </a:spcBef>
              <a:spcAft>
                <a:spcPts val="0"/>
              </a:spcAft>
            </a:pPr>
            <a:r>
              <a:rPr lang="en-US" sz="2200" dirty="0">
                <a:latin typeface="Cambria" panose="02040503050406030204" pitchFamily="18" charset="0"/>
                <a:ea typeface="Cambria" panose="02040503050406030204" pitchFamily="18" charset="0"/>
              </a:rPr>
              <a:t>SELECT </a:t>
            </a:r>
            <a:r>
              <a:rPr lang="en-US" sz="2200" dirty="0" err="1">
                <a:latin typeface="Cambria" panose="02040503050406030204" pitchFamily="18" charset="0"/>
                <a:ea typeface="Cambria" panose="02040503050406030204" pitchFamily="18" charset="0"/>
              </a:rPr>
              <a:t>ename</a:t>
            </a:r>
            <a:r>
              <a:rPr lang="en-US" sz="2200" dirty="0">
                <a:latin typeface="Cambria" panose="02040503050406030204" pitchFamily="18" charset="0"/>
                <a:ea typeface="Cambria" panose="02040503050406030204" pitchFamily="18" charset="0"/>
              </a:rPr>
              <a:t>, </a:t>
            </a:r>
            <a:r>
              <a:rPr lang="en-US" sz="2200" dirty="0" err="1">
                <a:latin typeface="Cambria" panose="02040503050406030204" pitchFamily="18" charset="0"/>
                <a:ea typeface="Cambria" panose="02040503050406030204" pitchFamily="18" charset="0"/>
              </a:rPr>
              <a:t>emp.job</a:t>
            </a:r>
            <a:r>
              <a:rPr lang="en-US" sz="2200" dirty="0">
                <a:latin typeface="Cambria" panose="02040503050406030204" pitchFamily="18" charset="0"/>
                <a:ea typeface="Cambria" panose="02040503050406030204" pitchFamily="18" charset="0"/>
              </a:rPr>
              <a:t>,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FROM emp, </a:t>
            </a:r>
            <a:r>
              <a:rPr lang="en-US" sz="2200" dirty="0" err="1">
                <a:latin typeface="Cambria" panose="02040503050406030204" pitchFamily="18" charset="0"/>
                <a:ea typeface="Cambria" panose="02040503050406030204" pitchFamily="18" charset="0"/>
              </a:rPr>
              <a:t>avg_cte</a:t>
            </a:r>
            <a:r>
              <a:rPr lang="en-US" sz="2200" dirty="0">
                <a:latin typeface="Cambria" panose="02040503050406030204" pitchFamily="18" charset="0"/>
                <a:ea typeface="Cambria" panose="02040503050406030204" pitchFamily="18" charset="0"/>
              </a:rPr>
              <a:t> </a:t>
            </a:r>
          </a:p>
          <a:p>
            <a:pPr>
              <a:spcBef>
                <a:spcPts val="600"/>
              </a:spcBef>
              <a:spcAft>
                <a:spcPts val="0"/>
              </a:spcAft>
            </a:pPr>
            <a:r>
              <a:rPr lang="en-US" sz="2200" dirty="0">
                <a:latin typeface="Cambria" panose="02040503050406030204" pitchFamily="18" charset="0"/>
                <a:ea typeface="Cambria" panose="02040503050406030204" pitchFamily="18" charset="0"/>
              </a:rPr>
              <a:t>WHERE </a:t>
            </a:r>
            <a:r>
              <a:rPr lang="en-US" sz="2200" dirty="0" err="1">
                <a:latin typeface="Cambria" panose="02040503050406030204" pitchFamily="18" charset="0"/>
                <a:ea typeface="Cambria" panose="02040503050406030204" pitchFamily="18" charset="0"/>
              </a:rPr>
              <a:t>sal</a:t>
            </a:r>
            <a:r>
              <a:rPr lang="en-US" sz="2200" dirty="0">
                <a:latin typeface="Cambria" panose="02040503050406030204" pitchFamily="18" charset="0"/>
                <a:ea typeface="Cambria" panose="02040503050406030204" pitchFamily="18" charset="0"/>
              </a:rPr>
              <a:t> &lt; </a:t>
            </a:r>
            <a:r>
              <a:rPr lang="en-US" sz="2200" dirty="0" err="1">
                <a:latin typeface="Cambria" panose="02040503050406030204" pitchFamily="18" charset="0"/>
                <a:ea typeface="Cambria" panose="02040503050406030204" pitchFamily="18" charset="0"/>
              </a:rPr>
              <a:t>AvgSal</a:t>
            </a:r>
            <a:r>
              <a:rPr lang="en-US" sz="2200" dirty="0">
                <a:latin typeface="Cambria" panose="02040503050406030204" pitchFamily="18" charset="0"/>
                <a:ea typeface="Cambria" panose="02040503050406030204" pitchFamily="18" charset="0"/>
              </a:rPr>
              <a:t> AND </a:t>
            </a:r>
            <a:r>
              <a:rPr lang="en-US" sz="2200" dirty="0" err="1">
                <a:highlight>
                  <a:srgbClr val="FFFF00"/>
                </a:highlight>
                <a:latin typeface="Cambria" panose="02040503050406030204" pitchFamily="18" charset="0"/>
                <a:ea typeface="Cambria" panose="02040503050406030204" pitchFamily="18" charset="0"/>
              </a:rPr>
              <a:t>emp.job</a:t>
            </a:r>
            <a:r>
              <a:rPr lang="en-US" sz="2200" dirty="0">
                <a:highlight>
                  <a:srgbClr val="FFFF00"/>
                </a:highlight>
                <a:latin typeface="Cambria" panose="02040503050406030204" pitchFamily="18" charset="0"/>
                <a:ea typeface="Cambria" panose="02040503050406030204" pitchFamily="18" charset="0"/>
              </a:rPr>
              <a:t> = </a:t>
            </a:r>
            <a:r>
              <a:rPr lang="en-US" sz="2200" dirty="0" err="1">
                <a:highlight>
                  <a:srgbClr val="FFFF00"/>
                </a:highlight>
                <a:latin typeface="Cambria" panose="02040503050406030204" pitchFamily="18" charset="0"/>
                <a:ea typeface="Cambria" panose="02040503050406030204" pitchFamily="18" charset="0"/>
              </a:rPr>
              <a:t>avg_cte.job</a:t>
            </a:r>
            <a:r>
              <a:rPr lang="en-US" sz="2200" dirty="0">
                <a:highlight>
                  <a:srgbClr val="FFFF00"/>
                </a:highlight>
                <a:latin typeface="Cambria" panose="02040503050406030204" pitchFamily="18" charset="0"/>
                <a:ea typeface="Cambria" panose="02040503050406030204" pitchFamily="18" charset="0"/>
              </a:rPr>
              <a:t>;</a:t>
            </a:r>
          </a:p>
        </p:txBody>
      </p:sp>
      <p:sp>
        <p:nvSpPr>
          <p:cNvPr id="6" name="Rectangle 3">
            <a:extLst>
              <a:ext uri="{FF2B5EF4-FFF2-40B4-BE49-F238E27FC236}">
                <a16:creationId xmlns:a16="http://schemas.microsoft.com/office/drawing/2014/main" id="{8A2D9C2F-C210-647F-F413-F89E91B61BE7}"/>
              </a:ext>
            </a:extLst>
          </p:cNvPr>
          <p:cNvSpPr txBox="1">
            <a:spLocks noChangeArrowheads="1"/>
          </p:cNvSpPr>
          <p:nvPr/>
        </p:nvSpPr>
        <p:spPr bwMode="auto">
          <a:xfrm>
            <a:off x="7500533" y="1533872"/>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Subquery</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8" name="Rectangle 3">
            <a:extLst>
              <a:ext uri="{FF2B5EF4-FFF2-40B4-BE49-F238E27FC236}">
                <a16:creationId xmlns:a16="http://schemas.microsoft.com/office/drawing/2014/main" id="{472E9B13-6B07-F8A7-35BD-EE09E4D4DACC}"/>
              </a:ext>
            </a:extLst>
          </p:cNvPr>
          <p:cNvSpPr txBox="1">
            <a:spLocks noChangeArrowheads="1"/>
          </p:cNvSpPr>
          <p:nvPr/>
        </p:nvSpPr>
        <p:spPr bwMode="auto">
          <a:xfrm>
            <a:off x="7609053" y="3284984"/>
            <a:ext cx="995395"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lang="en-US" alt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CTE</a:t>
            </a: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9" name="Rectangle 3">
            <a:extLst>
              <a:ext uri="{FF2B5EF4-FFF2-40B4-BE49-F238E27FC236}">
                <a16:creationId xmlns:a16="http://schemas.microsoft.com/office/drawing/2014/main" id="{4CCAB933-61BD-5C55-DC9F-9E3C4CAA2B20}"/>
              </a:ext>
            </a:extLst>
          </p:cNvPr>
          <p:cNvSpPr txBox="1">
            <a:spLocks noChangeArrowheads="1"/>
          </p:cNvSpPr>
          <p:nvPr/>
        </p:nvSpPr>
        <p:spPr bwMode="auto">
          <a:xfrm>
            <a:off x="6660232" y="5326971"/>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ts val="575"/>
              </a:spcBef>
              <a:spcAft>
                <a:spcPct val="0"/>
              </a:spcAft>
              <a:buClr>
                <a:srgbClr val="D34817"/>
              </a:buClr>
              <a:buSzPct val="50000"/>
              <a:buNone/>
              <a:tabLst/>
              <a:defRPr/>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5 Rows Selected</a:t>
            </a: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ctr"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10" name="Table 9">
            <a:extLst>
              <a:ext uri="{FF2B5EF4-FFF2-40B4-BE49-F238E27FC236}">
                <a16:creationId xmlns:a16="http://schemas.microsoft.com/office/drawing/2014/main" id="{7A461E55-C8CF-B4D2-817E-96331DB3C37C}"/>
              </a:ext>
            </a:extLst>
          </p:cNvPr>
          <p:cNvGraphicFramePr>
            <a:graphicFrameLocks noGrp="1"/>
          </p:cNvGraphicFramePr>
          <p:nvPr>
            <p:extLst>
              <p:ext uri="{D42A27DB-BD31-4B8C-83A1-F6EECF244321}">
                <p14:modId xmlns:p14="http://schemas.microsoft.com/office/powerpoint/2010/main" val="384827209"/>
              </p:ext>
            </p:extLst>
          </p:nvPr>
        </p:nvGraphicFramePr>
        <p:xfrm>
          <a:off x="2399903" y="4581128"/>
          <a:ext cx="4445793" cy="1966439"/>
        </p:xfrm>
        <a:graphic>
          <a:graphicData uri="http://schemas.openxmlformats.org/drawingml/2006/table">
            <a:tbl>
              <a:tblPr/>
              <a:tblGrid>
                <a:gridCol w="1481931">
                  <a:extLst>
                    <a:ext uri="{9D8B030D-6E8A-4147-A177-3AD203B41FA5}">
                      <a16:colId xmlns:a16="http://schemas.microsoft.com/office/drawing/2014/main" val="20000"/>
                    </a:ext>
                  </a:extLst>
                </a:gridCol>
                <a:gridCol w="1481931">
                  <a:extLst>
                    <a:ext uri="{9D8B030D-6E8A-4147-A177-3AD203B41FA5}">
                      <a16:colId xmlns:a16="http://schemas.microsoft.com/office/drawing/2014/main" val="20001"/>
                    </a:ext>
                  </a:extLst>
                </a:gridCol>
                <a:gridCol w="1481931">
                  <a:extLst>
                    <a:ext uri="{9D8B030D-6E8A-4147-A177-3AD203B41FA5}">
                      <a16:colId xmlns:a16="http://schemas.microsoft.com/office/drawing/2014/main" val="20002"/>
                    </a:ext>
                  </a:extLst>
                </a:gridCol>
              </a:tblGrid>
              <a:tr h="365849">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latin typeface="Cambria" panose="02040503050406030204" pitchFamily="18" charset="0"/>
                          <a:ea typeface="Cambria" panose="02040503050406030204" pitchFamily="18" charset="0"/>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1800" dirty="0">
                          <a:effectLst/>
                          <a:latin typeface="Cambria" panose="02040503050406030204" pitchFamily="18" charset="0"/>
                          <a:ea typeface="Cambria" panose="02040503050406030204" pitchFamily="18" charset="0"/>
                        </a:rPr>
                        <a:t>CLARK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2450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1800" dirty="0">
                          <a:effectLst/>
                          <a:latin typeface="Cambria" panose="02040503050406030204" pitchFamily="18" charset="0"/>
                          <a:ea typeface="Cambria" panose="02040503050406030204" pitchFamily="18" charset="0"/>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1800" dirty="0">
                          <a:effectLst/>
                          <a:latin typeface="Cambria" panose="02040503050406030204" pitchFamily="18" charset="0"/>
                          <a:ea typeface="Cambria" panose="02040503050406030204" pitchFamily="18" charset="0"/>
                        </a:rPr>
                        <a:t>WARD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1250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1800" dirty="0">
                          <a:effectLst/>
                          <a:latin typeface="Cambria" panose="02040503050406030204" pitchFamily="18" charset="0"/>
                          <a:ea typeface="Cambria" panose="02040503050406030204" pitchFamily="18" charset="0"/>
                        </a:rPr>
                        <a:t>MARTIN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1250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1800" dirty="0">
                          <a:effectLst/>
                          <a:latin typeface="Cambria" panose="02040503050406030204" pitchFamily="18" charset="0"/>
                          <a:ea typeface="Cambria" panose="02040503050406030204" pitchFamily="18" charset="0"/>
                        </a:rPr>
                        <a:t>JAMES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950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8916690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1E53F-9F53-9002-D51C-72B4D48930F9}"/>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0879095B-DE10-87C6-9A4F-FC6F18BB574F}"/>
              </a:ext>
            </a:extLst>
          </p:cNvPr>
          <p:cNvSpPr>
            <a:spLocks noChangeArrowheads="1"/>
          </p:cNvSpPr>
          <p:nvPr/>
        </p:nvSpPr>
        <p:spPr bwMode="blackWhite">
          <a:xfrm>
            <a:off x="933450" y="1425476"/>
            <a:ext cx="7486650" cy="17541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3087688" algn="l"/>
              </a:tabLst>
              <a:defRPr sz="2800">
                <a:solidFill>
                  <a:schemeClr val="tx1"/>
                </a:solidFill>
                <a:latin typeface="Arial" panose="020B0604020202020204" pitchFamily="34" charset="0"/>
              </a:defRPr>
            </a:lvl1pPr>
            <a:lvl2pPr marL="742950" indent="-285750">
              <a:spcBef>
                <a:spcPct val="20000"/>
              </a:spcBef>
              <a:buChar char="–"/>
              <a:tabLst>
                <a:tab pos="1200150" algn="l"/>
                <a:tab pos="3087688" algn="l"/>
              </a:tabLst>
              <a:defRPr sz="2400">
                <a:solidFill>
                  <a:schemeClr val="tx1"/>
                </a:solidFill>
                <a:latin typeface="Arial" panose="020B0604020202020204" pitchFamily="34" charset="0"/>
              </a:defRPr>
            </a:lvl2pPr>
            <a:lvl3pPr marL="1143000" indent="-228600">
              <a:spcBef>
                <a:spcPct val="20000"/>
              </a:spcBef>
              <a:buChar char="•"/>
              <a:tabLst>
                <a:tab pos="1200150" algn="l"/>
                <a:tab pos="3087688" algn="l"/>
              </a:tabLst>
              <a:defRPr sz="2000">
                <a:solidFill>
                  <a:schemeClr val="tx1"/>
                </a:solidFill>
                <a:latin typeface="Arial" panose="020B0604020202020204" pitchFamily="34" charset="0"/>
              </a:defRPr>
            </a:lvl3pPr>
            <a:lvl4pPr marL="1600200" indent="-228600">
              <a:spcBef>
                <a:spcPct val="20000"/>
              </a:spcBef>
              <a:buChar char="–"/>
              <a:tabLst>
                <a:tab pos="1200150" algn="l"/>
                <a:tab pos="3087688" algn="l"/>
              </a:tabLst>
              <a:defRPr sz="2000">
                <a:solidFill>
                  <a:schemeClr val="tx1"/>
                </a:solidFill>
                <a:latin typeface="Arial" panose="020B0604020202020204" pitchFamily="34" charset="0"/>
              </a:defRPr>
            </a:lvl4pPr>
            <a:lvl5pPr marL="2057400" indent="-228600">
              <a:spcBef>
                <a:spcPct val="20000"/>
              </a:spcBef>
              <a:buChar char="»"/>
              <a:tabLst>
                <a:tab pos="1200150" algn="l"/>
                <a:tab pos="30876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6867" name="Rectangle 3">
            <a:extLst>
              <a:ext uri="{FF2B5EF4-FFF2-40B4-BE49-F238E27FC236}">
                <a16:creationId xmlns:a16="http://schemas.microsoft.com/office/drawing/2014/main" id="{8ECB6F9A-046D-DEC2-5B16-D54FF9C278B0}"/>
              </a:ext>
            </a:extLst>
          </p:cNvPr>
          <p:cNvSpPr>
            <a:spLocks noGrp="1" noChangeArrowheads="1"/>
          </p:cNvSpPr>
          <p:nvPr>
            <p:ph type="title"/>
          </p:nvPr>
        </p:nvSpPr>
        <p:spPr>
          <a:xfrm>
            <a:off x="433388" y="228600"/>
            <a:ext cx="7815262" cy="896938"/>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Single-row operator with </a:t>
            </a: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Multiple-row subquery</a:t>
            </a:r>
          </a:p>
        </p:txBody>
      </p:sp>
      <p:grpSp>
        <p:nvGrpSpPr>
          <p:cNvPr id="307204" name="Group 4">
            <a:extLst>
              <a:ext uri="{FF2B5EF4-FFF2-40B4-BE49-F238E27FC236}">
                <a16:creationId xmlns:a16="http://schemas.microsoft.com/office/drawing/2014/main" id="{91665C48-87E9-A1C8-D559-1D9978A709DA}"/>
              </a:ext>
            </a:extLst>
          </p:cNvPr>
          <p:cNvGrpSpPr>
            <a:grpSpLocks/>
          </p:cNvGrpSpPr>
          <p:nvPr/>
        </p:nvGrpSpPr>
        <p:grpSpPr bwMode="auto">
          <a:xfrm>
            <a:off x="3105150" y="1987451"/>
            <a:ext cx="5041900" cy="1174750"/>
            <a:chOff x="1956" y="1496"/>
            <a:chExt cx="3176" cy="740"/>
          </a:xfrm>
        </p:grpSpPr>
        <p:sp>
          <p:nvSpPr>
            <p:cNvPr id="36872" name="Rectangle 5">
              <a:extLst>
                <a:ext uri="{FF2B5EF4-FFF2-40B4-BE49-F238E27FC236}">
                  <a16:creationId xmlns:a16="http://schemas.microsoft.com/office/drawing/2014/main" id="{05BC1E0A-70F5-0A7A-8C30-CB799C8ECA00}"/>
                </a:ext>
              </a:extLst>
            </p:cNvPr>
            <p:cNvSpPr>
              <a:spLocks noChangeArrowheads="1"/>
            </p:cNvSpPr>
            <p:nvPr/>
          </p:nvSpPr>
          <p:spPr bwMode="ltGray">
            <a:xfrm>
              <a:off x="2532" y="1668"/>
              <a:ext cx="2600" cy="56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36873" name="Group 6">
              <a:extLst>
                <a:ext uri="{FF2B5EF4-FFF2-40B4-BE49-F238E27FC236}">
                  <a16:creationId xmlns:a16="http://schemas.microsoft.com/office/drawing/2014/main" id="{804B22D7-C3C0-B93D-771E-5B18B5583555}"/>
                </a:ext>
              </a:extLst>
            </p:cNvPr>
            <p:cNvGrpSpPr>
              <a:grpSpLocks/>
            </p:cNvGrpSpPr>
            <p:nvPr/>
          </p:nvGrpSpPr>
          <p:grpSpPr bwMode="auto">
            <a:xfrm>
              <a:off x="1956" y="1496"/>
              <a:ext cx="2228" cy="740"/>
              <a:chOff x="1956" y="1496"/>
              <a:chExt cx="2228" cy="740"/>
            </a:xfrm>
          </p:grpSpPr>
          <p:sp>
            <p:nvSpPr>
              <p:cNvPr id="36874" name="Rectangle 7">
                <a:extLst>
                  <a:ext uri="{FF2B5EF4-FFF2-40B4-BE49-F238E27FC236}">
                    <a16:creationId xmlns:a16="http://schemas.microsoft.com/office/drawing/2014/main" id="{4111D8BF-BD54-3520-19FD-B6C9FB56BAE4}"/>
                  </a:ext>
                </a:extLst>
              </p:cNvPr>
              <p:cNvSpPr>
                <a:spLocks noChangeArrowheads="1"/>
              </p:cNvSpPr>
              <p:nvPr/>
            </p:nvSpPr>
            <p:spPr bwMode="ltGray">
              <a:xfrm>
                <a:off x="2568" y="2016"/>
                <a:ext cx="1616" cy="22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6875" name="Rectangle 8">
                <a:extLst>
                  <a:ext uri="{FF2B5EF4-FFF2-40B4-BE49-F238E27FC236}">
                    <a16:creationId xmlns:a16="http://schemas.microsoft.com/office/drawing/2014/main" id="{F7B74F0D-05A1-587F-AD2F-512704BE64C5}"/>
                  </a:ext>
                </a:extLst>
              </p:cNvPr>
              <p:cNvSpPr>
                <a:spLocks noChangeArrowheads="1"/>
              </p:cNvSpPr>
              <p:nvPr/>
            </p:nvSpPr>
            <p:spPr bwMode="ltGray">
              <a:xfrm>
                <a:off x="1956" y="1496"/>
                <a:ext cx="288" cy="22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sp>
        <p:nvSpPr>
          <p:cNvPr id="307209" name="Rectangle 9">
            <a:extLst>
              <a:ext uri="{FF2B5EF4-FFF2-40B4-BE49-F238E27FC236}">
                <a16:creationId xmlns:a16="http://schemas.microsoft.com/office/drawing/2014/main" id="{21C0CF73-D11F-B16C-4417-902A9AA8A5B7}"/>
              </a:ext>
            </a:extLst>
          </p:cNvPr>
          <p:cNvSpPr>
            <a:spLocks noChangeArrowheads="1"/>
          </p:cNvSpPr>
          <p:nvPr/>
        </p:nvSpPr>
        <p:spPr bwMode="blackWhite">
          <a:xfrm>
            <a:off x="946150" y="3401591"/>
            <a:ext cx="7473950" cy="146526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ERROR:</a:t>
            </a:r>
          </a:p>
          <a:p>
            <a:pPr>
              <a:spcBef>
                <a:spcPct val="0"/>
              </a:spcBef>
              <a:buFontTx/>
              <a:buNone/>
            </a:pPr>
            <a:r>
              <a:rPr lang="en-US" altLang="en-US" sz="1800" b="1">
                <a:solidFill>
                  <a:srgbClr val="000000"/>
                </a:solidFill>
                <a:latin typeface="Courier New" panose="02070309020205020404" pitchFamily="49" charset="0"/>
              </a:rPr>
              <a:t>ORA-01427: single-row subquery returns more than</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one row</a:t>
            </a: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no rows selected</a:t>
            </a:r>
          </a:p>
        </p:txBody>
      </p:sp>
      <p:sp>
        <p:nvSpPr>
          <p:cNvPr id="36870" name="Rectangle 10">
            <a:extLst>
              <a:ext uri="{FF2B5EF4-FFF2-40B4-BE49-F238E27FC236}">
                <a16:creationId xmlns:a16="http://schemas.microsoft.com/office/drawing/2014/main" id="{2F109D2E-FA3A-A9C3-BC07-959A50E31A21}"/>
              </a:ext>
            </a:extLst>
          </p:cNvPr>
          <p:cNvSpPr>
            <a:spLocks noChangeArrowheads="1"/>
          </p:cNvSpPr>
          <p:nvPr/>
        </p:nvSpPr>
        <p:spPr bwMode="blackWhite">
          <a:xfrm>
            <a:off x="933450" y="1412776"/>
            <a:ext cx="7315200" cy="177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3087688" algn="l"/>
              </a:tabLst>
              <a:defRPr sz="2800">
                <a:solidFill>
                  <a:schemeClr val="tx1"/>
                </a:solidFill>
                <a:latin typeface="Arial" panose="020B0604020202020204" pitchFamily="34" charset="0"/>
              </a:defRPr>
            </a:lvl1pPr>
            <a:lvl2pPr marL="742950" indent="-285750">
              <a:spcBef>
                <a:spcPct val="20000"/>
              </a:spcBef>
              <a:buChar char="–"/>
              <a:tabLst>
                <a:tab pos="1200150" algn="l"/>
                <a:tab pos="3087688" algn="l"/>
              </a:tabLst>
              <a:defRPr sz="2400">
                <a:solidFill>
                  <a:schemeClr val="tx1"/>
                </a:solidFill>
                <a:latin typeface="Arial" panose="020B0604020202020204" pitchFamily="34" charset="0"/>
              </a:defRPr>
            </a:lvl2pPr>
            <a:lvl3pPr marL="1143000" indent="-228600">
              <a:spcBef>
                <a:spcPct val="20000"/>
              </a:spcBef>
              <a:buChar char="•"/>
              <a:tabLst>
                <a:tab pos="1200150" algn="l"/>
                <a:tab pos="3087688" algn="l"/>
              </a:tabLst>
              <a:defRPr sz="2000">
                <a:solidFill>
                  <a:schemeClr val="tx1"/>
                </a:solidFill>
                <a:latin typeface="Arial" panose="020B0604020202020204" pitchFamily="34" charset="0"/>
              </a:defRPr>
            </a:lvl3pPr>
            <a:lvl4pPr marL="1600200" indent="-228600">
              <a:spcBef>
                <a:spcPct val="20000"/>
              </a:spcBef>
              <a:buChar char="–"/>
              <a:tabLst>
                <a:tab pos="1200150" algn="l"/>
                <a:tab pos="3087688" algn="l"/>
              </a:tabLst>
              <a:defRPr sz="2000">
                <a:solidFill>
                  <a:schemeClr val="tx1"/>
                </a:solidFill>
                <a:latin typeface="Arial" panose="020B0604020202020204" pitchFamily="34" charset="0"/>
              </a:defRPr>
            </a:lvl4pPr>
            <a:lvl5pPr marL="2057400" indent="-228600">
              <a:spcBef>
                <a:spcPct val="20000"/>
              </a:spcBef>
              <a:buChar char="»"/>
              <a:tabLst>
                <a:tab pos="1200150" algn="l"/>
                <a:tab pos="30876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 </a:t>
            </a:r>
          </a:p>
          <a:p>
            <a:pPr>
              <a:spcBef>
                <a:spcPct val="0"/>
              </a:spcBef>
              <a:buFontTx/>
              <a:buNone/>
            </a:pPr>
            <a:r>
              <a:rPr lang="en-US" altLang="en-US" sz="1800" b="1">
                <a:solidFill>
                  <a:srgbClr val="000000"/>
                </a:solidFill>
                <a:latin typeface="Courier New" panose="02070309020205020404" pitchFamily="49" charset="0"/>
              </a:rPr>
              <a:t>  4		(SELECT   MIN(sal)</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GROUP BY  deptno);</a:t>
            </a:r>
          </a:p>
        </p:txBody>
      </p:sp>
      <p:sp>
        <p:nvSpPr>
          <p:cNvPr id="2" name="Slide Number Placeholder 23">
            <a:extLst>
              <a:ext uri="{FF2B5EF4-FFF2-40B4-BE49-F238E27FC236}">
                <a16:creationId xmlns:a16="http://schemas.microsoft.com/office/drawing/2014/main" id="{9585C578-2B4A-1F6E-EECC-4C859489FD3C}"/>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2E2DCA04-AA1D-8C67-4940-C7FF16009A5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21271801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7204"/>
                                        </p:tgtEl>
                                        <p:attrNameLst>
                                          <p:attrName>style.visibility</p:attrName>
                                        </p:attrNameLst>
                                      </p:cBhvr>
                                      <p:to>
                                        <p:strVal val="visible"/>
                                      </p:to>
                                    </p:set>
                                    <p:animEffect transition="in" filter="wipe(up)">
                                      <p:cBhvr>
                                        <p:cTn id="7" dur="500"/>
                                        <p:tgtEl>
                                          <p:spTgt spid="3072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7209"/>
                                        </p:tgtEl>
                                        <p:attrNameLst>
                                          <p:attrName>style.visibility</p:attrName>
                                        </p:attrNameLst>
                                      </p:cBhvr>
                                      <p:to>
                                        <p:strVal val="visible"/>
                                      </p:to>
                                    </p:set>
                                    <p:animEffect transition="in" filter="wipe(up)">
                                      <p:cBhvr>
                                        <p:cTn id="12" dur="500"/>
                                        <p:tgtEl>
                                          <p:spTgt spid="307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9"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EC8B6-2992-359F-3017-4B6F26A4E90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CC5C5CF-AD16-8185-BAE5-8C88480BB96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Multiple-Row Subqueries</a:t>
            </a:r>
          </a:p>
        </p:txBody>
      </p:sp>
      <p:sp>
        <p:nvSpPr>
          <p:cNvPr id="38915" name="Rectangle 3">
            <a:extLst>
              <a:ext uri="{FF2B5EF4-FFF2-40B4-BE49-F238E27FC236}">
                <a16:creationId xmlns:a16="http://schemas.microsoft.com/office/drawing/2014/main" id="{A5626EDD-84CF-D100-5FFB-37C5BC829FC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A429B41-4E65-015F-F9F0-8128C04384D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4AB34B18-94F8-3647-FDA2-D8AAF8D1EE65}"/>
              </a:ext>
            </a:extLst>
          </p:cNvPr>
          <p:cNvSpPr txBox="1">
            <a:spLocks noChangeArrowheads="1"/>
          </p:cNvSpPr>
          <p:nvPr/>
        </p:nvSpPr>
        <p:spPr bwMode="auto">
          <a:xfrm>
            <a:off x="394866" y="646451"/>
            <a:ext cx="8394700" cy="1198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Return more than one row</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Use multiple-row comparison operators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ANY, ALL</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must always be proceeded by any of the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relational operators (&lt;, &lt;=, &gt;, &gt;=, =, &lt;&gt;)</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FD16276D-6200-6818-DC55-30907C9422E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7" name="Table 6">
            <a:extLst>
              <a:ext uri="{FF2B5EF4-FFF2-40B4-BE49-F238E27FC236}">
                <a16:creationId xmlns:a16="http://schemas.microsoft.com/office/drawing/2014/main" id="{8E7AD51F-BB29-3A7F-5540-AC65A06EDAD5}"/>
              </a:ext>
            </a:extLst>
          </p:cNvPr>
          <p:cNvGraphicFramePr>
            <a:graphicFrameLocks noGrp="1"/>
          </p:cNvGraphicFramePr>
          <p:nvPr>
            <p:extLst>
              <p:ext uri="{D42A27DB-BD31-4B8C-83A1-F6EECF244321}">
                <p14:modId xmlns:p14="http://schemas.microsoft.com/office/powerpoint/2010/main" val="2741626780"/>
              </p:ext>
            </p:extLst>
          </p:nvPr>
        </p:nvGraphicFramePr>
        <p:xfrm>
          <a:off x="516048" y="1638369"/>
          <a:ext cx="8273517" cy="3858768"/>
        </p:xfrm>
        <a:graphic>
          <a:graphicData uri="http://schemas.openxmlformats.org/drawingml/2006/table">
            <a:tbl>
              <a:tblPr firstRow="1" bandRow="1">
                <a:tableStyleId>{5C22544A-7EE6-4342-B048-85BDC9FD1C3A}</a:tableStyleId>
              </a:tblPr>
              <a:tblGrid>
                <a:gridCol w="1391656">
                  <a:extLst>
                    <a:ext uri="{9D8B030D-6E8A-4147-A177-3AD203B41FA5}">
                      <a16:colId xmlns:a16="http://schemas.microsoft.com/office/drawing/2014/main" val="2759632180"/>
                    </a:ext>
                  </a:extLst>
                </a:gridCol>
                <a:gridCol w="6881861">
                  <a:extLst>
                    <a:ext uri="{9D8B030D-6E8A-4147-A177-3AD203B41FA5}">
                      <a16:colId xmlns:a16="http://schemas.microsoft.com/office/drawing/2014/main" val="3200554078"/>
                    </a:ext>
                  </a:extLst>
                </a:gridCol>
              </a:tblGrid>
              <a:tr h="370840">
                <a:tc>
                  <a:txBody>
                    <a:bodyPr/>
                    <a:lstStyle/>
                    <a:p>
                      <a:r>
                        <a:rPr lang="en-US" sz="2400" b="1" dirty="0">
                          <a:solidFill>
                            <a:srgbClr val="FFFF00"/>
                          </a:solidFill>
                        </a:rPr>
                        <a:t>Operator</a:t>
                      </a:r>
                    </a:p>
                  </a:txBody>
                  <a:tcPr/>
                </a:tc>
                <a:tc>
                  <a:txBody>
                    <a:bodyPr/>
                    <a:lstStyle/>
                    <a:p>
                      <a:r>
                        <a:rPr lang="en-US" sz="2400" b="1" dirty="0">
                          <a:solidFill>
                            <a:srgbClr val="FFFF00"/>
                          </a:solidFill>
                        </a:rPr>
                        <a:t>Description</a:t>
                      </a:r>
                    </a:p>
                  </a:txBody>
                  <a:tcPr/>
                </a:tc>
                <a:extLst>
                  <a:ext uri="{0D108BD9-81ED-4DB2-BD59-A6C34878D82A}">
                    <a16:rowId xmlns:a16="http://schemas.microsoft.com/office/drawing/2014/main" val="602588737"/>
                  </a:ext>
                </a:extLst>
              </a:tr>
              <a:tr h="0">
                <a:tc>
                  <a:txBody>
                    <a:bodyPr/>
                    <a:lstStyle/>
                    <a:p>
                      <a:pPr algn="ctr"/>
                      <a:r>
                        <a:rPr lang="en-US" sz="2400" dirty="0">
                          <a:solidFill>
                            <a:srgbClr val="0000CC"/>
                          </a:solidFill>
                        </a:rPr>
                        <a:t>IN</a:t>
                      </a:r>
                    </a:p>
                  </a:txBody>
                  <a:tcPr anchor="ctr"/>
                </a:tc>
                <a:tc>
                  <a:txBody>
                    <a:bodyPr/>
                    <a:lstStyle/>
                    <a:p>
                      <a:pPr algn="just">
                        <a:lnSpc>
                          <a:spcPct val="120000"/>
                        </a:lnSpc>
                        <a:spcBef>
                          <a:spcPct val="60000"/>
                        </a:spcBef>
                        <a:buFontTx/>
                        <a:buNone/>
                      </a:pPr>
                      <a:r>
                        <a:rPr lang="en-US" altLang="en-US" sz="2400" b="0" dirty="0">
                          <a:solidFill>
                            <a:srgbClr val="000000"/>
                          </a:solidFill>
                        </a:rPr>
                        <a:t>Equal to any member in the list</a:t>
                      </a:r>
                      <a:endParaRPr lang="en-US" sz="2400" b="0" dirty="0"/>
                    </a:p>
                  </a:txBody>
                  <a:tcPr anchor="ctr"/>
                </a:tc>
                <a:extLst>
                  <a:ext uri="{0D108BD9-81ED-4DB2-BD59-A6C34878D82A}">
                    <a16:rowId xmlns:a16="http://schemas.microsoft.com/office/drawing/2014/main" val="1734045723"/>
                  </a:ext>
                </a:extLst>
              </a:tr>
              <a:tr h="370840">
                <a:tc>
                  <a:txBody>
                    <a:bodyPr/>
                    <a:lstStyle/>
                    <a:p>
                      <a:pPr algn="ctr"/>
                      <a:r>
                        <a:rPr lang="en-US" sz="2400" dirty="0">
                          <a:solidFill>
                            <a:srgbClr val="0000CC"/>
                          </a:solidFill>
                        </a:rPr>
                        <a:t>ANY</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2400" b="0" dirty="0">
                          <a:solidFill>
                            <a:srgbClr val="000000"/>
                          </a:solidFill>
                        </a:rPr>
                        <a:t>Compare value to each value returned by the subquery. The overall result is TRUE if it is TRUE for ANY of the values returned by the subquery. </a:t>
                      </a:r>
                      <a:endParaRPr lang="en-US" sz="2400" b="0" dirty="0"/>
                    </a:p>
                  </a:txBody>
                  <a:tcPr/>
                </a:tc>
                <a:extLst>
                  <a:ext uri="{0D108BD9-81ED-4DB2-BD59-A6C34878D82A}">
                    <a16:rowId xmlns:a16="http://schemas.microsoft.com/office/drawing/2014/main" val="3705304246"/>
                  </a:ext>
                </a:extLst>
              </a:tr>
              <a:tr h="370840">
                <a:tc>
                  <a:txBody>
                    <a:bodyPr/>
                    <a:lstStyle/>
                    <a:p>
                      <a:pPr algn="ctr"/>
                      <a:r>
                        <a:rPr lang="en-US" sz="2400" dirty="0">
                          <a:solidFill>
                            <a:srgbClr val="0000CC"/>
                          </a:solidFill>
                        </a:rPr>
                        <a:t>ALL</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2400" b="0" dirty="0">
                          <a:solidFill>
                            <a:srgbClr val="000000"/>
                          </a:solidFill>
                        </a:rPr>
                        <a:t>Compare value to every value returned by the subquery. The overall result is TRUE only if it is TRUE for ALL of the values returned by the subquery. </a:t>
                      </a:r>
                      <a:endParaRPr lang="en-US" sz="2400" b="0" dirty="0"/>
                    </a:p>
                  </a:txBody>
                  <a:tcPr/>
                </a:tc>
                <a:extLst>
                  <a:ext uri="{0D108BD9-81ED-4DB2-BD59-A6C34878D82A}">
                    <a16:rowId xmlns:a16="http://schemas.microsoft.com/office/drawing/2014/main" val="4026553498"/>
                  </a:ext>
                </a:extLst>
              </a:tr>
              <a:tr h="370840">
                <a:tc>
                  <a:txBody>
                    <a:bodyPr/>
                    <a:lstStyle/>
                    <a:p>
                      <a:pPr algn="ctr"/>
                      <a:r>
                        <a:rPr lang="en-US" sz="2400" dirty="0">
                          <a:solidFill>
                            <a:srgbClr val="0000CC"/>
                          </a:solidFill>
                        </a:rPr>
                        <a:t>EXISTS</a:t>
                      </a:r>
                    </a:p>
                  </a:txBody>
                  <a:tcPr anchor="ctr"/>
                </a:tc>
                <a:tc>
                  <a:txBody>
                    <a:bodyPr/>
                    <a:lstStyle/>
                    <a:p>
                      <a:pPr algn="just">
                        <a:lnSpc>
                          <a:spcPct val="120000"/>
                        </a:lnSpc>
                        <a:spcBef>
                          <a:spcPct val="60000"/>
                        </a:spcBef>
                        <a:buFontTx/>
                        <a:buNone/>
                      </a:pPr>
                      <a:r>
                        <a:rPr lang="en-US" altLang="en-US" sz="2400" b="0" dirty="0">
                          <a:solidFill>
                            <a:srgbClr val="000000"/>
                          </a:solidFill>
                        </a:rPr>
                        <a:t>Return </a:t>
                      </a:r>
                      <a:r>
                        <a:rPr lang="en-US" altLang="en-US" sz="2400" b="0" dirty="0">
                          <a:solidFill>
                            <a:srgbClr val="FF0000"/>
                          </a:solidFill>
                        </a:rPr>
                        <a:t>TRUE</a:t>
                      </a:r>
                      <a:r>
                        <a:rPr lang="en-US" altLang="en-US" sz="2400" b="0" dirty="0">
                          <a:solidFill>
                            <a:srgbClr val="000000"/>
                          </a:solidFill>
                        </a:rPr>
                        <a:t> if the subquery returns at least one row. </a:t>
                      </a:r>
                      <a:endParaRPr lang="en-US" sz="2400" b="0" dirty="0"/>
                    </a:p>
                  </a:txBody>
                  <a:tcPr anchor="ctr"/>
                </a:tc>
                <a:extLst>
                  <a:ext uri="{0D108BD9-81ED-4DB2-BD59-A6C34878D82A}">
                    <a16:rowId xmlns:a16="http://schemas.microsoft.com/office/drawing/2014/main" val="1970502683"/>
                  </a:ext>
                </a:extLst>
              </a:tr>
            </a:tbl>
          </a:graphicData>
        </a:graphic>
      </p:graphicFrame>
    </p:spTree>
    <p:extLst>
      <p:ext uri="{BB962C8B-B14F-4D97-AF65-F5344CB8AC3E}">
        <p14:creationId xmlns:p14="http://schemas.microsoft.com/office/powerpoint/2010/main" val="294744628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581AB-0B3A-E46C-3124-24E0C3081165}"/>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5907E96-E6FA-4A4D-7AE5-379DEAAC54CD}"/>
              </a:ext>
            </a:extLst>
          </p:cNvPr>
          <p:cNvSpPr>
            <a:spLocks noGrp="1" noChangeArrowheads="1"/>
          </p:cNvSpPr>
          <p:nvPr>
            <p:ph type="title"/>
          </p:nvPr>
        </p:nvSpPr>
        <p:spPr>
          <a:xfrm>
            <a:off x="323850" y="208384"/>
            <a:ext cx="7056462"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IN operator in Multiple-Row Subqueries</a:t>
            </a:r>
          </a:p>
        </p:txBody>
      </p:sp>
      <p:sp>
        <p:nvSpPr>
          <p:cNvPr id="38915" name="Rectangle 3">
            <a:extLst>
              <a:ext uri="{FF2B5EF4-FFF2-40B4-BE49-F238E27FC236}">
                <a16:creationId xmlns:a16="http://schemas.microsoft.com/office/drawing/2014/main" id="{552D80CD-B51F-7093-E5DD-C59A45FD6CAD}"/>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4B45349C-10CC-91F4-72F2-2D6A85B2F5C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07F345EC-C6E6-F5F2-CC90-0329D7FD7D4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3010" name="Rectangle 2">
            <a:extLst>
              <a:ext uri="{FF2B5EF4-FFF2-40B4-BE49-F238E27FC236}">
                <a16:creationId xmlns:a16="http://schemas.microsoft.com/office/drawing/2014/main" id="{199FCA86-F0F1-ED51-1DFF-82489BF352C8}"/>
              </a:ext>
            </a:extLst>
          </p:cNvPr>
          <p:cNvSpPr>
            <a:spLocks noChangeArrowheads="1"/>
          </p:cNvSpPr>
          <p:nvPr/>
        </p:nvSpPr>
        <p:spPr bwMode="blackWhite">
          <a:xfrm>
            <a:off x="939800" y="836712"/>
            <a:ext cx="7480300" cy="18002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21552" name="Rectangle 16">
            <a:extLst>
              <a:ext uri="{FF2B5EF4-FFF2-40B4-BE49-F238E27FC236}">
                <a16:creationId xmlns:a16="http://schemas.microsoft.com/office/drawing/2014/main" id="{A36AE6D5-E5F8-5B9A-679E-563549179088}"/>
              </a:ext>
            </a:extLst>
          </p:cNvPr>
          <p:cNvSpPr>
            <a:spLocks noChangeArrowheads="1"/>
          </p:cNvSpPr>
          <p:nvPr/>
        </p:nvSpPr>
        <p:spPr bwMode="blackWhite">
          <a:xfrm>
            <a:off x="933450" y="4148237"/>
            <a:ext cx="7486650" cy="18002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7369 SMITH      CLERK </a:t>
            </a:r>
          </a:p>
          <a:p>
            <a:pPr>
              <a:spcBef>
                <a:spcPct val="0"/>
              </a:spcBef>
              <a:buFontTx/>
              <a:buNone/>
            </a:pPr>
            <a:r>
              <a:rPr lang="en-US" altLang="en-US" sz="1800" b="1">
                <a:solidFill>
                  <a:srgbClr val="000000"/>
                </a:solidFill>
                <a:latin typeface="Courier New" panose="02070309020205020404" pitchFamily="49" charset="0"/>
              </a:rPr>
              <a:t>     7900 JAMES      CLERK</a:t>
            </a:r>
          </a:p>
          <a:p>
            <a:pPr>
              <a:spcBef>
                <a:spcPct val="0"/>
              </a:spcBef>
              <a:buFontTx/>
              <a:buNone/>
            </a:pPr>
            <a:r>
              <a:rPr lang="en-US" altLang="en-US" sz="1800" b="1">
                <a:solidFill>
                  <a:srgbClr val="000000"/>
                </a:solidFill>
                <a:latin typeface="Courier New" panose="02070309020205020404" pitchFamily="49" charset="0"/>
              </a:rPr>
              <a:t>     7934 MILLER     CLERK 	 </a:t>
            </a:r>
          </a:p>
        </p:txBody>
      </p:sp>
      <p:sp>
        <p:nvSpPr>
          <p:cNvPr id="43013" name="Rectangle 17">
            <a:extLst>
              <a:ext uri="{FF2B5EF4-FFF2-40B4-BE49-F238E27FC236}">
                <a16:creationId xmlns:a16="http://schemas.microsoft.com/office/drawing/2014/main" id="{4A9C0487-176C-0684-13D3-517D020B675C}"/>
              </a:ext>
            </a:extLst>
          </p:cNvPr>
          <p:cNvSpPr>
            <a:spLocks noChangeArrowheads="1"/>
          </p:cNvSpPr>
          <p:nvPr/>
        </p:nvSpPr>
        <p:spPr bwMode="blackWhite">
          <a:xfrm>
            <a:off x="920750" y="836712"/>
            <a:ext cx="74326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SQL&gt; SELECT  empno, ename, job</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IN 	(SELECT	MIN(sal)</a:t>
            </a:r>
          </a:p>
          <a:p>
            <a:pPr>
              <a:spcBef>
                <a:spcPct val="0"/>
              </a:spcBef>
              <a:buFontTx/>
              <a:buNone/>
            </a:pPr>
            <a:r>
              <a:rPr lang="en-US" altLang="en-US" sz="1800" b="1">
                <a:solidFill>
                  <a:srgbClr val="000000"/>
                </a:solidFill>
                <a:latin typeface="Courier New" panose="02070309020205020404" pitchFamily="49" charset="0"/>
              </a:rPr>
              <a:t>  4 			FROM	emp</a:t>
            </a:r>
          </a:p>
          <a:p>
            <a:pPr>
              <a:spcBef>
                <a:spcPct val="0"/>
              </a:spcBef>
              <a:buFontTx/>
              <a:buNone/>
            </a:pPr>
            <a:r>
              <a:rPr lang="en-US" altLang="en-US" sz="1800" b="1">
                <a:solidFill>
                  <a:srgbClr val="000000"/>
                </a:solidFill>
                <a:latin typeface="Courier New" panose="02070309020205020404" pitchFamily="49" charset="0"/>
              </a:rPr>
              <a:t>  5			GROUP BY deptno);</a:t>
            </a:r>
          </a:p>
          <a:p>
            <a:pPr>
              <a:spcBef>
                <a:spcPct val="0"/>
              </a:spcBef>
              <a:buFontTx/>
              <a:buNone/>
            </a:pPr>
            <a:r>
              <a:rPr lang="en-US" altLang="en-US" sz="1800" b="1">
                <a:solidFill>
                  <a:srgbClr val="000000"/>
                </a:solidFill>
                <a:latin typeface="Courier New" panose="02070309020205020404" pitchFamily="49" charset="0"/>
              </a:rPr>
              <a:t>  </a:t>
            </a:r>
          </a:p>
        </p:txBody>
      </p:sp>
      <p:sp>
        <p:nvSpPr>
          <p:cNvPr id="43014" name="Rectangle 18">
            <a:extLst>
              <a:ext uri="{FF2B5EF4-FFF2-40B4-BE49-F238E27FC236}">
                <a16:creationId xmlns:a16="http://schemas.microsoft.com/office/drawing/2014/main" id="{D9596B33-93E6-16AD-280C-28720312868B}"/>
              </a:ext>
            </a:extLst>
          </p:cNvPr>
          <p:cNvSpPr>
            <a:spLocks noChangeArrowheads="1"/>
          </p:cNvSpPr>
          <p:nvPr/>
        </p:nvSpPr>
        <p:spPr bwMode="blackWhite">
          <a:xfrm>
            <a:off x="919163" y="2852837"/>
            <a:ext cx="7480300" cy="10080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3015" name="Rectangle 19">
            <a:extLst>
              <a:ext uri="{FF2B5EF4-FFF2-40B4-BE49-F238E27FC236}">
                <a16:creationId xmlns:a16="http://schemas.microsoft.com/office/drawing/2014/main" id="{49176B66-D8AF-6229-6B81-35B76EE5F22A}"/>
              </a:ext>
            </a:extLst>
          </p:cNvPr>
          <p:cNvSpPr>
            <a:spLocks noChangeArrowheads="1"/>
          </p:cNvSpPr>
          <p:nvPr/>
        </p:nvSpPr>
        <p:spPr bwMode="blackWhite">
          <a:xfrm>
            <a:off x="971550" y="2852837"/>
            <a:ext cx="7432675"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detpno</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&lt; </a:t>
            </a:r>
            <a:r>
              <a:rPr lang="en-US" altLang="en-US" sz="1800" b="1" dirty="0">
                <a:solidFill>
                  <a:srgbClr val="0000CC"/>
                </a:solidFill>
                <a:latin typeface="Courier New" panose="02070309020205020404" pitchFamily="49" charset="0"/>
              </a:rPr>
              <a:t>IN (800, 950, 1300);</a:t>
            </a:r>
          </a:p>
          <a:p>
            <a:pPr>
              <a:spcBef>
                <a:spcPct val="0"/>
              </a:spcBef>
              <a:buFontTx/>
              <a:buNone/>
            </a:pPr>
            <a:r>
              <a:rPr lang="en-US" altLang="en-US" sz="1800" b="1" dirty="0">
                <a:solidFill>
                  <a:srgbClr val="000000"/>
                </a:solidFill>
                <a:latin typeface="Courier New" panose="02070309020205020404" pitchFamily="49" charset="0"/>
              </a:rPr>
              <a:t>  </a:t>
            </a:r>
          </a:p>
        </p:txBody>
      </p:sp>
    </p:spTree>
    <p:extLst>
      <p:ext uri="{BB962C8B-B14F-4D97-AF65-F5344CB8AC3E}">
        <p14:creationId xmlns:p14="http://schemas.microsoft.com/office/powerpoint/2010/main" val="14709378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21552"/>
                                        </p:tgtEl>
                                        <p:attrNameLst>
                                          <p:attrName>style.visibility</p:attrName>
                                        </p:attrNameLst>
                                      </p:cBhvr>
                                      <p:to>
                                        <p:strVal val="visible"/>
                                      </p:to>
                                    </p:set>
                                    <p:animEffect transition="in" filter="wipe(up)">
                                      <p:cBhvr>
                                        <p:cTn id="7" dur="500"/>
                                        <p:tgtEl>
                                          <p:spTgt spid="321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5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D5E11-8818-85B9-03E5-13EBAFD4931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DC7FFF1-6892-CE36-4AAC-F7694914AA89}"/>
              </a:ext>
            </a:extLst>
          </p:cNvPr>
          <p:cNvSpPr>
            <a:spLocks noGrp="1" noChangeArrowheads="1"/>
          </p:cNvSpPr>
          <p:nvPr>
            <p:ph type="title"/>
          </p:nvPr>
        </p:nvSpPr>
        <p:spPr>
          <a:xfrm>
            <a:off x="323850" y="208384"/>
            <a:ext cx="7056462"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ANY operator in Multiple-Row Subqueries</a:t>
            </a:r>
          </a:p>
        </p:txBody>
      </p:sp>
      <p:sp>
        <p:nvSpPr>
          <p:cNvPr id="38915" name="Rectangle 3">
            <a:extLst>
              <a:ext uri="{FF2B5EF4-FFF2-40B4-BE49-F238E27FC236}">
                <a16:creationId xmlns:a16="http://schemas.microsoft.com/office/drawing/2014/main" id="{F9B460F5-59C6-AB99-5179-6775D3B4FC8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63AA67AD-F93C-6488-D378-45D04CAEB16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2FE584CC-886B-0BAC-32AA-2BFF0B90968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EB94268D-D9D0-91D1-DEA6-053ACD1B422C}"/>
              </a:ext>
            </a:extLst>
          </p:cNvPr>
          <p:cNvSpPr>
            <a:spLocks noChangeArrowheads="1"/>
          </p:cNvSpPr>
          <p:nvPr/>
        </p:nvSpPr>
        <p:spPr bwMode="blackWhite">
          <a:xfrm>
            <a:off x="774626" y="793229"/>
            <a:ext cx="7480300" cy="20923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4" name="Group 4">
            <a:extLst>
              <a:ext uri="{FF2B5EF4-FFF2-40B4-BE49-F238E27FC236}">
                <a16:creationId xmlns:a16="http://schemas.microsoft.com/office/drawing/2014/main" id="{0D86D1FB-7122-B09F-2A7B-9A78AA03369E}"/>
              </a:ext>
            </a:extLst>
          </p:cNvPr>
          <p:cNvGrpSpPr>
            <a:grpSpLocks/>
          </p:cNvGrpSpPr>
          <p:nvPr/>
        </p:nvGrpSpPr>
        <p:grpSpPr bwMode="auto">
          <a:xfrm>
            <a:off x="3392414" y="909117"/>
            <a:ext cx="4722812" cy="1651000"/>
            <a:chOff x="2241" y="1243"/>
            <a:chExt cx="2975" cy="1040"/>
          </a:xfrm>
        </p:grpSpPr>
        <p:sp>
          <p:nvSpPr>
            <p:cNvPr id="5" name="Rectangle 5">
              <a:extLst>
                <a:ext uri="{FF2B5EF4-FFF2-40B4-BE49-F238E27FC236}">
                  <a16:creationId xmlns:a16="http://schemas.microsoft.com/office/drawing/2014/main" id="{5940427F-98D9-7430-4162-790E3B8C85E2}"/>
                </a:ext>
              </a:extLst>
            </p:cNvPr>
            <p:cNvSpPr>
              <a:spLocks noChangeArrowheads="1"/>
            </p:cNvSpPr>
            <p:nvPr/>
          </p:nvSpPr>
          <p:spPr bwMode="ltGray">
            <a:xfrm>
              <a:off x="2605" y="1751"/>
              <a:ext cx="261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6" name="Group 6">
              <a:extLst>
                <a:ext uri="{FF2B5EF4-FFF2-40B4-BE49-F238E27FC236}">
                  <a16:creationId xmlns:a16="http://schemas.microsoft.com/office/drawing/2014/main" id="{5A1F9A46-5DF5-4FEA-E99D-9627D9A6CBF3}"/>
                </a:ext>
              </a:extLst>
            </p:cNvPr>
            <p:cNvGrpSpPr>
              <a:grpSpLocks/>
            </p:cNvGrpSpPr>
            <p:nvPr/>
          </p:nvGrpSpPr>
          <p:grpSpPr bwMode="auto">
            <a:xfrm>
              <a:off x="2241" y="1243"/>
              <a:ext cx="2040" cy="846"/>
              <a:chOff x="2241" y="1243"/>
              <a:chExt cx="2040" cy="846"/>
            </a:xfrm>
          </p:grpSpPr>
          <p:sp>
            <p:nvSpPr>
              <p:cNvPr id="7" name="Rectangle 7">
                <a:extLst>
                  <a:ext uri="{FF2B5EF4-FFF2-40B4-BE49-F238E27FC236}">
                    <a16:creationId xmlns:a16="http://schemas.microsoft.com/office/drawing/2014/main" id="{FA343466-97D0-42EA-29EB-E73C3C193880}"/>
                  </a:ext>
                </a:extLst>
              </p:cNvPr>
              <p:cNvSpPr>
                <a:spLocks noChangeArrowheads="1"/>
              </p:cNvSpPr>
              <p:nvPr/>
            </p:nvSpPr>
            <p:spPr bwMode="ltGray">
              <a:xfrm>
                <a:off x="2241" y="1569"/>
                <a:ext cx="339" cy="207"/>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Arc 8">
                <a:extLst>
                  <a:ext uri="{FF2B5EF4-FFF2-40B4-BE49-F238E27FC236}">
                    <a16:creationId xmlns:a16="http://schemas.microsoft.com/office/drawing/2014/main" id="{AEA03022-D227-6F11-E0F1-E984903E315E}"/>
                  </a:ext>
                </a:extLst>
              </p:cNvPr>
              <p:cNvSpPr>
                <a:spLocks/>
              </p:cNvSpPr>
              <p:nvPr/>
            </p:nvSpPr>
            <p:spPr bwMode="auto">
              <a:xfrm rot="10800000">
                <a:off x="2756" y="1706"/>
                <a:ext cx="1349" cy="383"/>
              </a:xfrm>
              <a:custGeom>
                <a:avLst/>
                <a:gdLst>
                  <a:gd name="T0" fmla="*/ 0 w 27030"/>
                  <a:gd name="T1" fmla="*/ 0 h 24188"/>
                  <a:gd name="T2" fmla="*/ 0 w 27030"/>
                  <a:gd name="T3" fmla="*/ 0 h 24188"/>
                  <a:gd name="T4" fmla="*/ 0 w 27030"/>
                  <a:gd name="T5" fmla="*/ 0 h 24188"/>
                  <a:gd name="T6" fmla="*/ 0 60000 65536"/>
                  <a:gd name="T7" fmla="*/ 0 60000 65536"/>
                  <a:gd name="T8" fmla="*/ 0 60000 65536"/>
                </a:gdLst>
                <a:ahLst/>
                <a:cxnLst>
                  <a:cxn ang="T6">
                    <a:pos x="T0" y="T1"/>
                  </a:cxn>
                  <a:cxn ang="T7">
                    <a:pos x="T2" y="T3"/>
                  </a:cxn>
                  <a:cxn ang="T8">
                    <a:pos x="T4" y="T5"/>
                  </a:cxn>
                </a:cxnLst>
                <a:rect l="0" t="0" r="r" b="b"/>
                <a:pathLst>
                  <a:path w="27030" h="24188" fill="none" extrusionOk="0">
                    <a:moveTo>
                      <a:pt x="27030" y="23494"/>
                    </a:moveTo>
                    <a:cubicBezTo>
                      <a:pt x="25256" y="23954"/>
                      <a:pt x="23432" y="24187"/>
                      <a:pt x="21600" y="24188"/>
                    </a:cubicBezTo>
                    <a:cubicBezTo>
                      <a:pt x="9670" y="24188"/>
                      <a:pt x="0" y="14517"/>
                      <a:pt x="0" y="2588"/>
                    </a:cubicBezTo>
                    <a:cubicBezTo>
                      <a:pt x="-1" y="1722"/>
                      <a:pt x="51" y="858"/>
                      <a:pt x="155" y="-1"/>
                    </a:cubicBezTo>
                  </a:path>
                  <a:path w="27030" h="24188" stroke="0" extrusionOk="0">
                    <a:moveTo>
                      <a:pt x="27030" y="23494"/>
                    </a:moveTo>
                    <a:cubicBezTo>
                      <a:pt x="25256" y="23954"/>
                      <a:pt x="23432" y="24187"/>
                      <a:pt x="21600" y="24188"/>
                    </a:cubicBezTo>
                    <a:cubicBezTo>
                      <a:pt x="9670" y="24188"/>
                      <a:pt x="0" y="14517"/>
                      <a:pt x="0" y="2588"/>
                    </a:cubicBezTo>
                    <a:cubicBezTo>
                      <a:pt x="-1" y="1722"/>
                      <a:pt x="51" y="858"/>
                      <a:pt x="155" y="-1"/>
                    </a:cubicBezTo>
                    <a:lnTo>
                      <a:pt x="21600" y="2588"/>
                    </a:lnTo>
                    <a:lnTo>
                      <a:pt x="27030" y="23494"/>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9" name="Rectangle 9">
                <a:extLst>
                  <a:ext uri="{FF2B5EF4-FFF2-40B4-BE49-F238E27FC236}">
                    <a16:creationId xmlns:a16="http://schemas.microsoft.com/office/drawing/2014/main" id="{B8118EE3-4377-29DD-933C-18AFBC96E833}"/>
                  </a:ext>
                </a:extLst>
              </p:cNvPr>
              <p:cNvSpPr>
                <a:spLocks noChangeArrowheads="1"/>
              </p:cNvSpPr>
              <p:nvPr/>
            </p:nvSpPr>
            <p:spPr bwMode="auto">
              <a:xfrm>
                <a:off x="2847" y="1571"/>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950</a:t>
                </a:r>
              </a:p>
            </p:txBody>
          </p:sp>
          <p:sp>
            <p:nvSpPr>
              <p:cNvPr id="10" name="Arc 10">
                <a:extLst>
                  <a:ext uri="{FF2B5EF4-FFF2-40B4-BE49-F238E27FC236}">
                    <a16:creationId xmlns:a16="http://schemas.microsoft.com/office/drawing/2014/main" id="{AFD21335-2420-3B9A-6102-0BE2FC19E414}"/>
                  </a:ext>
                </a:extLst>
              </p:cNvPr>
              <p:cNvSpPr>
                <a:spLocks/>
              </p:cNvSpPr>
              <p:nvPr/>
            </p:nvSpPr>
            <p:spPr bwMode="auto">
              <a:xfrm rot="10800000">
                <a:off x="2757" y="1594"/>
                <a:ext cx="1389" cy="383"/>
              </a:xfrm>
              <a:custGeom>
                <a:avLst/>
                <a:gdLst>
                  <a:gd name="T0" fmla="*/ 0 w 27030"/>
                  <a:gd name="T1" fmla="*/ 0 h 24187"/>
                  <a:gd name="T2" fmla="*/ 0 w 27030"/>
                  <a:gd name="T3" fmla="*/ 0 h 24187"/>
                  <a:gd name="T4" fmla="*/ 0 w 27030"/>
                  <a:gd name="T5" fmla="*/ 0 h 24187"/>
                  <a:gd name="T6" fmla="*/ 0 60000 65536"/>
                  <a:gd name="T7" fmla="*/ 0 60000 65536"/>
                  <a:gd name="T8" fmla="*/ 0 60000 65536"/>
                </a:gdLst>
                <a:ahLst/>
                <a:cxnLst>
                  <a:cxn ang="T6">
                    <a:pos x="T0" y="T1"/>
                  </a:cxn>
                  <a:cxn ang="T7">
                    <a:pos x="T2" y="T3"/>
                  </a:cxn>
                  <a:cxn ang="T8">
                    <a:pos x="T4" y="T5"/>
                  </a:cxn>
                </a:cxnLst>
                <a:rect l="0" t="0" r="r" b="b"/>
                <a:pathLst>
                  <a:path w="27030" h="24187" fill="none" extrusionOk="0">
                    <a:moveTo>
                      <a:pt x="27030" y="23493"/>
                    </a:moveTo>
                    <a:cubicBezTo>
                      <a:pt x="25256" y="23953"/>
                      <a:pt x="23432" y="24186"/>
                      <a:pt x="21600" y="24187"/>
                    </a:cubicBezTo>
                    <a:cubicBezTo>
                      <a:pt x="9670" y="24187"/>
                      <a:pt x="0" y="14516"/>
                      <a:pt x="0" y="2587"/>
                    </a:cubicBezTo>
                    <a:cubicBezTo>
                      <a:pt x="-1" y="1722"/>
                      <a:pt x="51" y="858"/>
                      <a:pt x="155" y="0"/>
                    </a:cubicBezTo>
                  </a:path>
                  <a:path w="27030" h="24187" stroke="0" extrusionOk="0">
                    <a:moveTo>
                      <a:pt x="27030" y="23493"/>
                    </a:moveTo>
                    <a:cubicBezTo>
                      <a:pt x="25256" y="23953"/>
                      <a:pt x="23432" y="24186"/>
                      <a:pt x="21600" y="24187"/>
                    </a:cubicBezTo>
                    <a:cubicBezTo>
                      <a:pt x="9670" y="24187"/>
                      <a:pt x="0" y="14516"/>
                      <a:pt x="0" y="2587"/>
                    </a:cubicBezTo>
                    <a:cubicBezTo>
                      <a:pt x="-1" y="1722"/>
                      <a:pt x="51" y="858"/>
                      <a:pt x="155" y="0"/>
                    </a:cubicBezTo>
                    <a:lnTo>
                      <a:pt x="21600" y="2587"/>
                    </a:lnTo>
                    <a:lnTo>
                      <a:pt x="27030" y="23493"/>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1" name="Arc 11">
                <a:extLst>
                  <a:ext uri="{FF2B5EF4-FFF2-40B4-BE49-F238E27FC236}">
                    <a16:creationId xmlns:a16="http://schemas.microsoft.com/office/drawing/2014/main" id="{40E9808C-0EAC-88F7-3A0C-CBE05F9D7B8F}"/>
                  </a:ext>
                </a:extLst>
              </p:cNvPr>
              <p:cNvSpPr>
                <a:spLocks/>
              </p:cNvSpPr>
              <p:nvPr/>
            </p:nvSpPr>
            <p:spPr bwMode="auto">
              <a:xfrm rot="10800000">
                <a:off x="2757" y="1482"/>
                <a:ext cx="1457" cy="383"/>
              </a:xfrm>
              <a:custGeom>
                <a:avLst/>
                <a:gdLst>
                  <a:gd name="T0" fmla="*/ 0 w 27017"/>
                  <a:gd name="T1" fmla="*/ 0 h 24187"/>
                  <a:gd name="T2" fmla="*/ 0 w 27017"/>
                  <a:gd name="T3" fmla="*/ 0 h 24187"/>
                  <a:gd name="T4" fmla="*/ 0 w 27017"/>
                  <a:gd name="T5" fmla="*/ 0 h 24187"/>
                  <a:gd name="T6" fmla="*/ 0 60000 65536"/>
                  <a:gd name="T7" fmla="*/ 0 60000 65536"/>
                  <a:gd name="T8" fmla="*/ 0 60000 65536"/>
                </a:gdLst>
                <a:ahLst/>
                <a:cxnLst>
                  <a:cxn ang="T6">
                    <a:pos x="T0" y="T1"/>
                  </a:cxn>
                  <a:cxn ang="T7">
                    <a:pos x="T2" y="T3"/>
                  </a:cxn>
                  <a:cxn ang="T8">
                    <a:pos x="T4" y="T5"/>
                  </a:cxn>
                </a:cxnLst>
                <a:rect l="0" t="0" r="r" b="b"/>
                <a:pathLst>
                  <a:path w="27017" h="24187" fill="none" extrusionOk="0">
                    <a:moveTo>
                      <a:pt x="27016" y="23496"/>
                    </a:moveTo>
                    <a:cubicBezTo>
                      <a:pt x="25247" y="23955"/>
                      <a:pt x="23427" y="24186"/>
                      <a:pt x="21600" y="24187"/>
                    </a:cubicBezTo>
                    <a:cubicBezTo>
                      <a:pt x="9670" y="24187"/>
                      <a:pt x="0" y="14516"/>
                      <a:pt x="0" y="2587"/>
                    </a:cubicBezTo>
                    <a:cubicBezTo>
                      <a:pt x="-1" y="1722"/>
                      <a:pt x="51" y="858"/>
                      <a:pt x="155" y="-1"/>
                    </a:cubicBezTo>
                  </a:path>
                  <a:path w="27017" h="24187" stroke="0" extrusionOk="0">
                    <a:moveTo>
                      <a:pt x="27016" y="23496"/>
                    </a:moveTo>
                    <a:cubicBezTo>
                      <a:pt x="25247" y="23955"/>
                      <a:pt x="23427" y="24186"/>
                      <a:pt x="21600" y="24187"/>
                    </a:cubicBezTo>
                    <a:cubicBezTo>
                      <a:pt x="9670" y="24187"/>
                      <a:pt x="0" y="14516"/>
                      <a:pt x="0" y="2587"/>
                    </a:cubicBezTo>
                    <a:cubicBezTo>
                      <a:pt x="-1" y="1722"/>
                      <a:pt x="51" y="858"/>
                      <a:pt x="155" y="-1"/>
                    </a:cubicBezTo>
                    <a:lnTo>
                      <a:pt x="21600" y="2587"/>
                    </a:lnTo>
                    <a:lnTo>
                      <a:pt x="27016" y="23496"/>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2" name="Arc 12">
                <a:extLst>
                  <a:ext uri="{FF2B5EF4-FFF2-40B4-BE49-F238E27FC236}">
                    <a16:creationId xmlns:a16="http://schemas.microsoft.com/office/drawing/2014/main" id="{2BC05FED-4C65-7EA6-8EB1-CC952E114498}"/>
                  </a:ext>
                </a:extLst>
              </p:cNvPr>
              <p:cNvSpPr>
                <a:spLocks/>
              </p:cNvSpPr>
              <p:nvPr/>
            </p:nvSpPr>
            <p:spPr bwMode="auto">
              <a:xfrm rot="10800000">
                <a:off x="2757" y="1370"/>
                <a:ext cx="1524" cy="383"/>
              </a:xfrm>
              <a:custGeom>
                <a:avLst/>
                <a:gdLst>
                  <a:gd name="T0" fmla="*/ 0 w 27008"/>
                  <a:gd name="T1" fmla="*/ 0 h 24187"/>
                  <a:gd name="T2" fmla="*/ 0 w 27008"/>
                  <a:gd name="T3" fmla="*/ 0 h 24187"/>
                  <a:gd name="T4" fmla="*/ 0 w 27008"/>
                  <a:gd name="T5" fmla="*/ 0 h 24187"/>
                  <a:gd name="T6" fmla="*/ 0 60000 65536"/>
                  <a:gd name="T7" fmla="*/ 0 60000 65536"/>
                  <a:gd name="T8" fmla="*/ 0 60000 65536"/>
                </a:gdLst>
                <a:ahLst/>
                <a:cxnLst>
                  <a:cxn ang="T6">
                    <a:pos x="T0" y="T1"/>
                  </a:cxn>
                  <a:cxn ang="T7">
                    <a:pos x="T2" y="T3"/>
                  </a:cxn>
                  <a:cxn ang="T8">
                    <a:pos x="T4" y="T5"/>
                  </a:cxn>
                </a:cxnLst>
                <a:rect l="0" t="0" r="r" b="b"/>
                <a:pathLst>
                  <a:path w="27008" h="24187" fill="none" extrusionOk="0">
                    <a:moveTo>
                      <a:pt x="27008" y="23499"/>
                    </a:moveTo>
                    <a:cubicBezTo>
                      <a:pt x="25241" y="23955"/>
                      <a:pt x="23424" y="24186"/>
                      <a:pt x="21600" y="24187"/>
                    </a:cubicBezTo>
                    <a:cubicBezTo>
                      <a:pt x="9670" y="24187"/>
                      <a:pt x="0" y="14516"/>
                      <a:pt x="0" y="2587"/>
                    </a:cubicBezTo>
                    <a:cubicBezTo>
                      <a:pt x="-1" y="1722"/>
                      <a:pt x="51" y="858"/>
                      <a:pt x="155" y="0"/>
                    </a:cubicBezTo>
                  </a:path>
                  <a:path w="27008" h="24187" stroke="0" extrusionOk="0">
                    <a:moveTo>
                      <a:pt x="27008" y="23499"/>
                    </a:moveTo>
                    <a:cubicBezTo>
                      <a:pt x="25241" y="23955"/>
                      <a:pt x="23424" y="24186"/>
                      <a:pt x="21600" y="24187"/>
                    </a:cubicBezTo>
                    <a:cubicBezTo>
                      <a:pt x="9670" y="24187"/>
                      <a:pt x="0" y="14516"/>
                      <a:pt x="0" y="2587"/>
                    </a:cubicBezTo>
                    <a:cubicBezTo>
                      <a:pt x="-1" y="1722"/>
                      <a:pt x="51" y="858"/>
                      <a:pt x="155" y="0"/>
                    </a:cubicBezTo>
                    <a:lnTo>
                      <a:pt x="21600" y="2587"/>
                    </a:lnTo>
                    <a:lnTo>
                      <a:pt x="27008" y="23499"/>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3" name="Rectangle 13">
                <a:extLst>
                  <a:ext uri="{FF2B5EF4-FFF2-40B4-BE49-F238E27FC236}">
                    <a16:creationId xmlns:a16="http://schemas.microsoft.com/office/drawing/2014/main" id="{1D68A19F-25FD-E6C1-5CDB-8BE535C1437D}"/>
                  </a:ext>
                </a:extLst>
              </p:cNvPr>
              <p:cNvSpPr>
                <a:spLocks noChangeArrowheads="1"/>
              </p:cNvSpPr>
              <p:nvPr/>
            </p:nvSpPr>
            <p:spPr bwMode="auto">
              <a:xfrm>
                <a:off x="2891" y="1459"/>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800</a:t>
                </a:r>
              </a:p>
            </p:txBody>
          </p:sp>
          <p:sp>
            <p:nvSpPr>
              <p:cNvPr id="14" name="Rectangle 14">
                <a:extLst>
                  <a:ext uri="{FF2B5EF4-FFF2-40B4-BE49-F238E27FC236}">
                    <a16:creationId xmlns:a16="http://schemas.microsoft.com/office/drawing/2014/main" id="{EA9BAE4E-A3B2-B772-64A9-531A7DCF8460}"/>
                  </a:ext>
                </a:extLst>
              </p:cNvPr>
              <p:cNvSpPr>
                <a:spLocks noChangeArrowheads="1"/>
              </p:cNvSpPr>
              <p:nvPr/>
            </p:nvSpPr>
            <p:spPr bwMode="auto">
              <a:xfrm>
                <a:off x="2908" y="1347"/>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1100</a:t>
                </a:r>
              </a:p>
            </p:txBody>
          </p:sp>
          <p:sp>
            <p:nvSpPr>
              <p:cNvPr id="15" name="Rectangle 15">
                <a:extLst>
                  <a:ext uri="{FF2B5EF4-FFF2-40B4-BE49-F238E27FC236}">
                    <a16:creationId xmlns:a16="http://schemas.microsoft.com/office/drawing/2014/main" id="{A5D1BC5E-F7B6-55F6-0D0A-14213EF608A3}"/>
                  </a:ext>
                </a:extLst>
              </p:cNvPr>
              <p:cNvSpPr>
                <a:spLocks noChangeArrowheads="1"/>
              </p:cNvSpPr>
              <p:nvPr/>
            </p:nvSpPr>
            <p:spPr bwMode="auto">
              <a:xfrm>
                <a:off x="3228" y="1243"/>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1300</a:t>
                </a:r>
              </a:p>
            </p:txBody>
          </p:sp>
        </p:grpSp>
      </p:grpSp>
      <p:sp>
        <p:nvSpPr>
          <p:cNvPr id="16" name="Rectangle 16">
            <a:extLst>
              <a:ext uri="{FF2B5EF4-FFF2-40B4-BE49-F238E27FC236}">
                <a16:creationId xmlns:a16="http://schemas.microsoft.com/office/drawing/2014/main" id="{AC86ECED-08AB-8933-306C-77A18D4D6361}"/>
              </a:ext>
            </a:extLst>
          </p:cNvPr>
          <p:cNvSpPr>
            <a:spLocks noChangeArrowheads="1"/>
          </p:cNvSpPr>
          <p:nvPr/>
        </p:nvSpPr>
        <p:spPr bwMode="blackWhite">
          <a:xfrm>
            <a:off x="768276" y="3174479"/>
            <a:ext cx="7486650" cy="11906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7654 MARTIN     SALESMAN </a:t>
            </a:r>
          </a:p>
          <a:p>
            <a:pPr>
              <a:spcBef>
                <a:spcPct val="0"/>
              </a:spcBef>
              <a:buFontTx/>
              <a:buNone/>
            </a:pPr>
            <a:r>
              <a:rPr lang="en-US" altLang="en-US" sz="1800" b="1">
                <a:solidFill>
                  <a:srgbClr val="000000"/>
                </a:solidFill>
                <a:latin typeface="Courier New" panose="02070309020205020404" pitchFamily="49" charset="0"/>
              </a:rPr>
              <a:t>     7521 WARD       SALESMAN </a:t>
            </a:r>
          </a:p>
        </p:txBody>
      </p:sp>
      <p:sp>
        <p:nvSpPr>
          <p:cNvPr id="17" name="Rectangle 17">
            <a:extLst>
              <a:ext uri="{FF2B5EF4-FFF2-40B4-BE49-F238E27FC236}">
                <a16:creationId xmlns:a16="http://schemas.microsoft.com/office/drawing/2014/main" id="{A02D081A-12AE-18CE-2ED3-29900249B2AC}"/>
              </a:ext>
            </a:extLst>
          </p:cNvPr>
          <p:cNvSpPr>
            <a:spLocks noChangeArrowheads="1"/>
          </p:cNvSpPr>
          <p:nvPr/>
        </p:nvSpPr>
        <p:spPr bwMode="blackWhite">
          <a:xfrm>
            <a:off x="755576" y="780529"/>
            <a:ext cx="7432675" cy="211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a:t>
            </a: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&lt; ANY </a:t>
            </a:r>
          </a:p>
          <a:p>
            <a:pPr>
              <a:spcBef>
                <a:spcPct val="0"/>
              </a:spcBef>
              <a:buFontTx/>
              <a:buNone/>
            </a:pPr>
            <a:r>
              <a:rPr lang="en-US" altLang="en-US" sz="1800" b="1" dirty="0">
                <a:solidFill>
                  <a:srgbClr val="000000"/>
                </a:solidFill>
                <a:latin typeface="Courier New" panose="02070309020205020404" pitchFamily="49" charset="0"/>
              </a:rPr>
              <a:t>  4			(SELECT	</a:t>
            </a:r>
            <a:r>
              <a:rPr lang="en-US" altLang="en-US" sz="1800" b="1" dirty="0" err="1">
                <a:solidFill>
                  <a:srgbClr val="000000"/>
                </a:solidFill>
                <a:latin typeface="Courier New" panose="02070309020205020404" pitchFamily="49" charset="0"/>
              </a:rPr>
              <a:t>sal</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5 			FROM	emp</a:t>
            </a:r>
          </a:p>
          <a:p>
            <a:pPr>
              <a:spcBef>
                <a:spcPct val="0"/>
              </a:spcBef>
              <a:buFontTx/>
              <a:buNone/>
            </a:pPr>
            <a:r>
              <a:rPr lang="en-US" altLang="en-US" sz="1800" b="1" dirty="0">
                <a:solidFill>
                  <a:srgbClr val="000000"/>
                </a:solidFill>
                <a:latin typeface="Courier New" panose="02070309020205020404" pitchFamily="49" charset="0"/>
              </a:rPr>
              <a:t>  6			WHERE	job = 'CLERK')</a:t>
            </a:r>
          </a:p>
          <a:p>
            <a:pPr>
              <a:spcBef>
                <a:spcPct val="0"/>
              </a:spcBef>
              <a:buFontTx/>
              <a:buNone/>
            </a:pPr>
            <a:r>
              <a:rPr lang="en-US" altLang="en-US" sz="1800" b="1" dirty="0">
                <a:solidFill>
                  <a:srgbClr val="000000"/>
                </a:solidFill>
                <a:latin typeface="Courier New" panose="02070309020205020404" pitchFamily="49" charset="0"/>
              </a:rPr>
              <a:t>  7  AND	    job &lt;&gt; 'CLERK';</a:t>
            </a:r>
          </a:p>
        </p:txBody>
      </p:sp>
    </p:spTree>
    <p:extLst>
      <p:ext uri="{BB962C8B-B14F-4D97-AF65-F5344CB8AC3E}">
        <p14:creationId xmlns:p14="http://schemas.microsoft.com/office/powerpoint/2010/main" val="5597811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C3238-32E2-3287-F96C-8342E5E9C60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B5DC42C-9A87-C310-A1A6-A03B8B056190}"/>
              </a:ext>
            </a:extLst>
          </p:cNvPr>
          <p:cNvSpPr>
            <a:spLocks noGrp="1" noChangeArrowheads="1"/>
          </p:cNvSpPr>
          <p:nvPr>
            <p:ph type="title"/>
          </p:nvPr>
        </p:nvSpPr>
        <p:spPr>
          <a:xfrm>
            <a:off x="323850" y="208384"/>
            <a:ext cx="7056462"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ALL operator in Multiple-Row Subqueries</a:t>
            </a:r>
          </a:p>
        </p:txBody>
      </p:sp>
      <p:sp>
        <p:nvSpPr>
          <p:cNvPr id="38915" name="Rectangle 3">
            <a:extLst>
              <a:ext uri="{FF2B5EF4-FFF2-40B4-BE49-F238E27FC236}">
                <a16:creationId xmlns:a16="http://schemas.microsoft.com/office/drawing/2014/main" id="{BB6F86F3-5410-3C9E-E019-45D207EE6E7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E3CD238-BB53-01A4-5199-1573F37EBA6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4C2C4518-23AD-0EB3-84F6-6F02B5B37C4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18" name="Rectangle 2">
            <a:extLst>
              <a:ext uri="{FF2B5EF4-FFF2-40B4-BE49-F238E27FC236}">
                <a16:creationId xmlns:a16="http://schemas.microsoft.com/office/drawing/2014/main" id="{2C85034D-3AD7-C67B-C4EB-348DBE5A94F0}"/>
              </a:ext>
            </a:extLst>
          </p:cNvPr>
          <p:cNvSpPr>
            <a:spLocks noChangeArrowheads="1"/>
          </p:cNvSpPr>
          <p:nvPr/>
        </p:nvSpPr>
        <p:spPr bwMode="blackWhite">
          <a:xfrm>
            <a:off x="946150" y="1002010"/>
            <a:ext cx="7473950" cy="18494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19" name="Group 4">
            <a:extLst>
              <a:ext uri="{FF2B5EF4-FFF2-40B4-BE49-F238E27FC236}">
                <a16:creationId xmlns:a16="http://schemas.microsoft.com/office/drawing/2014/main" id="{B23F7462-04FA-47AD-DC10-11C161265C2B}"/>
              </a:ext>
            </a:extLst>
          </p:cNvPr>
          <p:cNvGrpSpPr>
            <a:grpSpLocks/>
          </p:cNvGrpSpPr>
          <p:nvPr/>
        </p:nvGrpSpPr>
        <p:grpSpPr bwMode="auto">
          <a:xfrm>
            <a:off x="3536950" y="1202035"/>
            <a:ext cx="4697413" cy="1584325"/>
            <a:chOff x="2228" y="1317"/>
            <a:chExt cx="2959" cy="998"/>
          </a:xfrm>
        </p:grpSpPr>
        <p:sp>
          <p:nvSpPr>
            <p:cNvPr id="21" name="Rectangle 5">
              <a:extLst>
                <a:ext uri="{FF2B5EF4-FFF2-40B4-BE49-F238E27FC236}">
                  <a16:creationId xmlns:a16="http://schemas.microsoft.com/office/drawing/2014/main" id="{88B3D68B-3B25-8208-2F72-F774A0F74085}"/>
                </a:ext>
              </a:extLst>
            </p:cNvPr>
            <p:cNvSpPr>
              <a:spLocks noChangeArrowheads="1"/>
            </p:cNvSpPr>
            <p:nvPr/>
          </p:nvSpPr>
          <p:spPr bwMode="ltGray">
            <a:xfrm>
              <a:off x="2336" y="1783"/>
              <a:ext cx="285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22" name="Group 6">
              <a:extLst>
                <a:ext uri="{FF2B5EF4-FFF2-40B4-BE49-F238E27FC236}">
                  <a16:creationId xmlns:a16="http://schemas.microsoft.com/office/drawing/2014/main" id="{594A7C0D-29C9-5695-B217-DA0AC72432E8}"/>
                </a:ext>
              </a:extLst>
            </p:cNvPr>
            <p:cNvGrpSpPr>
              <a:grpSpLocks/>
            </p:cNvGrpSpPr>
            <p:nvPr/>
          </p:nvGrpSpPr>
          <p:grpSpPr bwMode="auto">
            <a:xfrm>
              <a:off x="2228" y="1317"/>
              <a:ext cx="2365" cy="736"/>
              <a:chOff x="2228" y="1317"/>
              <a:chExt cx="2365" cy="736"/>
            </a:xfrm>
          </p:grpSpPr>
          <p:sp>
            <p:nvSpPr>
              <p:cNvPr id="23" name="Rectangle 7">
                <a:extLst>
                  <a:ext uri="{FF2B5EF4-FFF2-40B4-BE49-F238E27FC236}">
                    <a16:creationId xmlns:a16="http://schemas.microsoft.com/office/drawing/2014/main" id="{08264A6F-75A8-2D96-289A-7A7C51884569}"/>
                  </a:ext>
                </a:extLst>
              </p:cNvPr>
              <p:cNvSpPr>
                <a:spLocks noChangeArrowheads="1"/>
              </p:cNvSpPr>
              <p:nvPr/>
            </p:nvSpPr>
            <p:spPr bwMode="ltGray">
              <a:xfrm>
                <a:off x="2228" y="1573"/>
                <a:ext cx="339" cy="207"/>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4" name="Arc 8">
                <a:extLst>
                  <a:ext uri="{FF2B5EF4-FFF2-40B4-BE49-F238E27FC236}">
                    <a16:creationId xmlns:a16="http://schemas.microsoft.com/office/drawing/2014/main" id="{145BAA6D-CE12-5754-4B35-289F9045DDF3}"/>
                  </a:ext>
                </a:extLst>
              </p:cNvPr>
              <p:cNvSpPr>
                <a:spLocks/>
              </p:cNvSpPr>
              <p:nvPr/>
            </p:nvSpPr>
            <p:spPr bwMode="auto">
              <a:xfrm rot="10800000">
                <a:off x="2728" y="1670"/>
                <a:ext cx="1775" cy="383"/>
              </a:xfrm>
              <a:custGeom>
                <a:avLst/>
                <a:gdLst>
                  <a:gd name="T0" fmla="*/ 0 w 27022"/>
                  <a:gd name="T1" fmla="*/ 0 h 24186"/>
                  <a:gd name="T2" fmla="*/ 0 w 27022"/>
                  <a:gd name="T3" fmla="*/ 0 h 24186"/>
                  <a:gd name="T4" fmla="*/ 0 w 27022"/>
                  <a:gd name="T5" fmla="*/ 0 h 24186"/>
                  <a:gd name="T6" fmla="*/ 0 60000 65536"/>
                  <a:gd name="T7" fmla="*/ 0 60000 65536"/>
                  <a:gd name="T8" fmla="*/ 0 60000 65536"/>
                </a:gdLst>
                <a:ahLst/>
                <a:cxnLst>
                  <a:cxn ang="T6">
                    <a:pos x="T0" y="T1"/>
                  </a:cxn>
                  <a:cxn ang="T7">
                    <a:pos x="T2" y="T3"/>
                  </a:cxn>
                  <a:cxn ang="T8">
                    <a:pos x="T4" y="T5"/>
                  </a:cxn>
                </a:cxnLst>
                <a:rect l="0" t="0" r="r" b="b"/>
                <a:pathLst>
                  <a:path w="27022" h="24186" fill="none" extrusionOk="0">
                    <a:moveTo>
                      <a:pt x="27022" y="23494"/>
                    </a:moveTo>
                    <a:cubicBezTo>
                      <a:pt x="25251" y="23953"/>
                      <a:pt x="23429" y="24185"/>
                      <a:pt x="21600" y="24186"/>
                    </a:cubicBezTo>
                    <a:cubicBezTo>
                      <a:pt x="9670" y="24186"/>
                      <a:pt x="0" y="14515"/>
                      <a:pt x="0" y="2586"/>
                    </a:cubicBezTo>
                    <a:cubicBezTo>
                      <a:pt x="-1" y="1721"/>
                      <a:pt x="51" y="858"/>
                      <a:pt x="155" y="0"/>
                    </a:cubicBezTo>
                  </a:path>
                  <a:path w="27022" h="24186" stroke="0" extrusionOk="0">
                    <a:moveTo>
                      <a:pt x="27022" y="23494"/>
                    </a:moveTo>
                    <a:cubicBezTo>
                      <a:pt x="25251" y="23953"/>
                      <a:pt x="23429" y="24185"/>
                      <a:pt x="21600" y="24186"/>
                    </a:cubicBezTo>
                    <a:cubicBezTo>
                      <a:pt x="9670" y="24186"/>
                      <a:pt x="0" y="14515"/>
                      <a:pt x="0" y="2586"/>
                    </a:cubicBezTo>
                    <a:cubicBezTo>
                      <a:pt x="-1" y="1721"/>
                      <a:pt x="51" y="858"/>
                      <a:pt x="155" y="0"/>
                    </a:cubicBezTo>
                    <a:lnTo>
                      <a:pt x="21600" y="2586"/>
                    </a:lnTo>
                    <a:lnTo>
                      <a:pt x="27022" y="23494"/>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 name="Rectangle 9">
                <a:extLst>
                  <a:ext uri="{FF2B5EF4-FFF2-40B4-BE49-F238E27FC236}">
                    <a16:creationId xmlns:a16="http://schemas.microsoft.com/office/drawing/2014/main" id="{D4208D46-9597-9869-80EE-D4A3D6E196E1}"/>
                  </a:ext>
                </a:extLst>
              </p:cNvPr>
              <p:cNvSpPr>
                <a:spLocks noChangeArrowheads="1"/>
              </p:cNvSpPr>
              <p:nvPr/>
            </p:nvSpPr>
            <p:spPr bwMode="auto">
              <a:xfrm>
                <a:off x="2752" y="154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000" b="1">
                    <a:solidFill>
                      <a:srgbClr val="FF5050"/>
                    </a:solidFill>
                  </a:rPr>
                  <a:t>2916.6667</a:t>
                </a:r>
              </a:p>
            </p:txBody>
          </p:sp>
          <p:sp>
            <p:nvSpPr>
              <p:cNvPr id="26" name="Arc 10">
                <a:extLst>
                  <a:ext uri="{FF2B5EF4-FFF2-40B4-BE49-F238E27FC236}">
                    <a16:creationId xmlns:a16="http://schemas.microsoft.com/office/drawing/2014/main" id="{9DCABBB7-8F68-0BBB-660B-8A392DA403B8}"/>
                  </a:ext>
                </a:extLst>
              </p:cNvPr>
              <p:cNvSpPr>
                <a:spLocks/>
              </p:cNvSpPr>
              <p:nvPr/>
            </p:nvSpPr>
            <p:spPr bwMode="auto">
              <a:xfrm rot="10800000">
                <a:off x="2728" y="1558"/>
                <a:ext cx="1810" cy="383"/>
              </a:xfrm>
              <a:custGeom>
                <a:avLst/>
                <a:gdLst>
                  <a:gd name="T0" fmla="*/ 0 w 27020"/>
                  <a:gd name="T1" fmla="*/ 0 h 24189"/>
                  <a:gd name="T2" fmla="*/ 0 w 27020"/>
                  <a:gd name="T3" fmla="*/ 0 h 24189"/>
                  <a:gd name="T4" fmla="*/ 0 w 27020"/>
                  <a:gd name="T5" fmla="*/ 0 h 24189"/>
                  <a:gd name="T6" fmla="*/ 0 60000 65536"/>
                  <a:gd name="T7" fmla="*/ 0 60000 65536"/>
                  <a:gd name="T8" fmla="*/ 0 60000 65536"/>
                </a:gdLst>
                <a:ahLst/>
                <a:cxnLst>
                  <a:cxn ang="T6">
                    <a:pos x="T0" y="T1"/>
                  </a:cxn>
                  <a:cxn ang="T7">
                    <a:pos x="T2" y="T3"/>
                  </a:cxn>
                  <a:cxn ang="T8">
                    <a:pos x="T4" y="T5"/>
                  </a:cxn>
                </a:cxnLst>
                <a:rect l="0" t="0" r="r" b="b"/>
                <a:pathLst>
                  <a:path w="27020" h="24189" fill="none" extrusionOk="0">
                    <a:moveTo>
                      <a:pt x="27019" y="23497"/>
                    </a:moveTo>
                    <a:cubicBezTo>
                      <a:pt x="25249" y="23956"/>
                      <a:pt x="23428" y="24188"/>
                      <a:pt x="21600" y="24189"/>
                    </a:cubicBezTo>
                    <a:cubicBezTo>
                      <a:pt x="9670" y="24189"/>
                      <a:pt x="0" y="14518"/>
                      <a:pt x="0" y="2589"/>
                    </a:cubicBezTo>
                    <a:cubicBezTo>
                      <a:pt x="-1" y="1723"/>
                      <a:pt x="52" y="859"/>
                      <a:pt x="155" y="-1"/>
                    </a:cubicBezTo>
                  </a:path>
                  <a:path w="27020" h="24189" stroke="0" extrusionOk="0">
                    <a:moveTo>
                      <a:pt x="27019" y="23497"/>
                    </a:moveTo>
                    <a:cubicBezTo>
                      <a:pt x="25249" y="23956"/>
                      <a:pt x="23428" y="24188"/>
                      <a:pt x="21600" y="24189"/>
                    </a:cubicBezTo>
                    <a:cubicBezTo>
                      <a:pt x="9670" y="24189"/>
                      <a:pt x="0" y="14518"/>
                      <a:pt x="0" y="2589"/>
                    </a:cubicBezTo>
                    <a:cubicBezTo>
                      <a:pt x="-1" y="1723"/>
                      <a:pt x="52" y="859"/>
                      <a:pt x="155" y="-1"/>
                    </a:cubicBezTo>
                    <a:lnTo>
                      <a:pt x="21600" y="2589"/>
                    </a:lnTo>
                    <a:lnTo>
                      <a:pt x="27019" y="23497"/>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7" name="Arc 11">
                <a:extLst>
                  <a:ext uri="{FF2B5EF4-FFF2-40B4-BE49-F238E27FC236}">
                    <a16:creationId xmlns:a16="http://schemas.microsoft.com/office/drawing/2014/main" id="{99EA6527-87D2-7202-302C-6D025EBFD3AF}"/>
                  </a:ext>
                </a:extLst>
              </p:cNvPr>
              <p:cNvSpPr>
                <a:spLocks/>
              </p:cNvSpPr>
              <p:nvPr/>
            </p:nvSpPr>
            <p:spPr bwMode="auto">
              <a:xfrm rot="10800000">
                <a:off x="2728" y="1446"/>
                <a:ext cx="1865" cy="383"/>
              </a:xfrm>
              <a:custGeom>
                <a:avLst/>
                <a:gdLst>
                  <a:gd name="T0" fmla="*/ 0 w 27021"/>
                  <a:gd name="T1" fmla="*/ 0 h 24187"/>
                  <a:gd name="T2" fmla="*/ 0 w 27021"/>
                  <a:gd name="T3" fmla="*/ 0 h 24187"/>
                  <a:gd name="T4" fmla="*/ 0 w 27021"/>
                  <a:gd name="T5" fmla="*/ 0 h 24187"/>
                  <a:gd name="T6" fmla="*/ 0 60000 65536"/>
                  <a:gd name="T7" fmla="*/ 0 60000 65536"/>
                  <a:gd name="T8" fmla="*/ 0 60000 65536"/>
                </a:gdLst>
                <a:ahLst/>
                <a:cxnLst>
                  <a:cxn ang="T6">
                    <a:pos x="T0" y="T1"/>
                  </a:cxn>
                  <a:cxn ang="T7">
                    <a:pos x="T2" y="T3"/>
                  </a:cxn>
                  <a:cxn ang="T8">
                    <a:pos x="T4" y="T5"/>
                  </a:cxn>
                </a:cxnLst>
                <a:rect l="0" t="0" r="r" b="b"/>
                <a:pathLst>
                  <a:path w="27021" h="24187" fill="none" extrusionOk="0">
                    <a:moveTo>
                      <a:pt x="27020" y="23495"/>
                    </a:moveTo>
                    <a:cubicBezTo>
                      <a:pt x="25250" y="23954"/>
                      <a:pt x="23428" y="24186"/>
                      <a:pt x="21600" y="24187"/>
                    </a:cubicBezTo>
                    <a:cubicBezTo>
                      <a:pt x="9670" y="24187"/>
                      <a:pt x="0" y="14516"/>
                      <a:pt x="0" y="2587"/>
                    </a:cubicBezTo>
                    <a:cubicBezTo>
                      <a:pt x="-1" y="1722"/>
                      <a:pt x="51" y="858"/>
                      <a:pt x="155" y="-1"/>
                    </a:cubicBezTo>
                  </a:path>
                  <a:path w="27021" h="24187" stroke="0" extrusionOk="0">
                    <a:moveTo>
                      <a:pt x="27020" y="23495"/>
                    </a:moveTo>
                    <a:cubicBezTo>
                      <a:pt x="25250" y="23954"/>
                      <a:pt x="23428" y="24186"/>
                      <a:pt x="21600" y="24187"/>
                    </a:cubicBezTo>
                    <a:cubicBezTo>
                      <a:pt x="9670" y="24187"/>
                      <a:pt x="0" y="14516"/>
                      <a:pt x="0" y="2587"/>
                    </a:cubicBezTo>
                    <a:cubicBezTo>
                      <a:pt x="-1" y="1722"/>
                      <a:pt x="51" y="858"/>
                      <a:pt x="155" y="-1"/>
                    </a:cubicBezTo>
                    <a:lnTo>
                      <a:pt x="21600" y="2587"/>
                    </a:lnTo>
                    <a:lnTo>
                      <a:pt x="27020" y="23495"/>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8" name="Rectangle 12">
                <a:extLst>
                  <a:ext uri="{FF2B5EF4-FFF2-40B4-BE49-F238E27FC236}">
                    <a16:creationId xmlns:a16="http://schemas.microsoft.com/office/drawing/2014/main" id="{D4C49018-D282-7C6C-B391-F3A8FFD1D6A9}"/>
                  </a:ext>
                </a:extLst>
              </p:cNvPr>
              <p:cNvSpPr>
                <a:spLocks noChangeArrowheads="1"/>
              </p:cNvSpPr>
              <p:nvPr/>
            </p:nvSpPr>
            <p:spPr bwMode="auto">
              <a:xfrm>
                <a:off x="2841" y="1429"/>
                <a:ext cx="2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000" b="1">
                    <a:solidFill>
                      <a:srgbClr val="FF5050"/>
                    </a:solidFill>
                  </a:rPr>
                  <a:t>2175</a:t>
                </a:r>
              </a:p>
            </p:txBody>
          </p:sp>
          <p:sp>
            <p:nvSpPr>
              <p:cNvPr id="29" name="Rectangle 13">
                <a:extLst>
                  <a:ext uri="{FF2B5EF4-FFF2-40B4-BE49-F238E27FC236}">
                    <a16:creationId xmlns:a16="http://schemas.microsoft.com/office/drawing/2014/main" id="{57CA7DD6-F269-70C6-72AC-349D7043F257}"/>
                  </a:ext>
                </a:extLst>
              </p:cNvPr>
              <p:cNvSpPr>
                <a:spLocks noChangeArrowheads="1"/>
              </p:cNvSpPr>
              <p:nvPr/>
            </p:nvSpPr>
            <p:spPr bwMode="auto">
              <a:xfrm>
                <a:off x="3212" y="131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000" b="1">
                    <a:solidFill>
                      <a:srgbClr val="FF5050"/>
                    </a:solidFill>
                  </a:rPr>
                  <a:t>1566.6667</a:t>
                </a:r>
              </a:p>
            </p:txBody>
          </p:sp>
        </p:grpSp>
      </p:grpSp>
      <p:sp>
        <p:nvSpPr>
          <p:cNvPr id="30" name="Rectangle 14">
            <a:extLst>
              <a:ext uri="{FF2B5EF4-FFF2-40B4-BE49-F238E27FC236}">
                <a16:creationId xmlns:a16="http://schemas.microsoft.com/office/drawing/2014/main" id="{E5D76B05-10CC-E499-8FCE-1361BE7386F9}"/>
              </a:ext>
            </a:extLst>
          </p:cNvPr>
          <p:cNvSpPr>
            <a:spLocks noChangeArrowheads="1"/>
          </p:cNvSpPr>
          <p:nvPr/>
        </p:nvSpPr>
        <p:spPr bwMode="blackWhite">
          <a:xfrm>
            <a:off x="939800" y="3129260"/>
            <a:ext cx="7480300" cy="17399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7839 KING       PRESIDENT</a:t>
            </a:r>
          </a:p>
          <a:p>
            <a:pPr>
              <a:spcBef>
                <a:spcPct val="0"/>
              </a:spcBef>
              <a:buFontTx/>
              <a:buNone/>
            </a:pPr>
            <a:r>
              <a:rPr lang="en-US" altLang="en-US" sz="1800" b="1">
                <a:solidFill>
                  <a:srgbClr val="000000"/>
                </a:solidFill>
                <a:latin typeface="Courier New" panose="02070309020205020404" pitchFamily="49" charset="0"/>
              </a:rPr>
              <a:t>     7566 JONES      MANAGER</a:t>
            </a:r>
          </a:p>
          <a:p>
            <a:pPr>
              <a:spcBef>
                <a:spcPct val="0"/>
              </a:spcBef>
              <a:buFontTx/>
              <a:buNone/>
            </a:pPr>
            <a:r>
              <a:rPr lang="en-US" altLang="en-US" sz="1800" b="1">
                <a:solidFill>
                  <a:srgbClr val="000000"/>
                </a:solidFill>
                <a:latin typeface="Courier New" panose="02070309020205020404" pitchFamily="49" charset="0"/>
              </a:rPr>
              <a:t>     7902 FORD       ANALYST</a:t>
            </a:r>
          </a:p>
          <a:p>
            <a:pPr>
              <a:spcBef>
                <a:spcPct val="0"/>
              </a:spcBef>
              <a:buFontTx/>
              <a:buNone/>
            </a:pPr>
            <a:r>
              <a:rPr lang="en-US" altLang="en-US" sz="1800" b="1">
                <a:solidFill>
                  <a:srgbClr val="000000"/>
                </a:solidFill>
                <a:latin typeface="Courier New" panose="02070309020205020404" pitchFamily="49" charset="0"/>
              </a:rPr>
              <a:t>     7788 SCOTT      ANALYST</a:t>
            </a:r>
          </a:p>
        </p:txBody>
      </p:sp>
      <p:sp>
        <p:nvSpPr>
          <p:cNvPr id="31" name="Rectangle 15">
            <a:extLst>
              <a:ext uri="{FF2B5EF4-FFF2-40B4-BE49-F238E27FC236}">
                <a16:creationId xmlns:a16="http://schemas.microsoft.com/office/drawing/2014/main" id="{AB2E5640-C303-B0A4-BDF7-DF7933ED9F57}"/>
              </a:ext>
            </a:extLst>
          </p:cNvPr>
          <p:cNvSpPr>
            <a:spLocks noChangeArrowheads="1"/>
          </p:cNvSpPr>
          <p:nvPr/>
        </p:nvSpPr>
        <p:spPr bwMode="blackWhite">
          <a:xfrm>
            <a:off x="927100" y="989310"/>
            <a:ext cx="7432675"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 job</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&gt; ALL </a:t>
            </a:r>
          </a:p>
          <a:p>
            <a:pPr>
              <a:spcBef>
                <a:spcPct val="0"/>
              </a:spcBef>
              <a:buFontTx/>
              <a:buNone/>
            </a:pPr>
            <a:r>
              <a:rPr lang="en-US" altLang="en-US" sz="1800" b="1">
                <a:solidFill>
                  <a:srgbClr val="000000"/>
                </a:solidFill>
                <a:latin typeface="Courier New" panose="02070309020205020404" pitchFamily="49" charset="0"/>
              </a:rPr>
              <a:t>  4		 (SELECT	avg(sal)</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GROUP BY	deptno);</a:t>
            </a:r>
          </a:p>
        </p:txBody>
      </p:sp>
    </p:spTree>
    <p:extLst>
      <p:ext uri="{BB962C8B-B14F-4D97-AF65-F5344CB8AC3E}">
        <p14:creationId xmlns:p14="http://schemas.microsoft.com/office/powerpoint/2010/main" val="41023537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542D2-6D9D-E11F-17D1-7326EC5388F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B637316-3657-ADA8-64E4-BC06416121DD}"/>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EXISTS operator in Subqueries</a:t>
            </a:r>
          </a:p>
        </p:txBody>
      </p:sp>
      <p:sp>
        <p:nvSpPr>
          <p:cNvPr id="38915" name="Rectangle 3">
            <a:extLst>
              <a:ext uri="{FF2B5EF4-FFF2-40B4-BE49-F238E27FC236}">
                <a16:creationId xmlns:a16="http://schemas.microsoft.com/office/drawing/2014/main" id="{E8109675-E20C-7E0E-628D-C928B17537FD}"/>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2DB7BFF5-5422-5762-1CD8-1A29D9C439FB}"/>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C30E427D-8663-0673-DE36-EC7040E2D2DF}"/>
              </a:ext>
            </a:extLst>
          </p:cNvPr>
          <p:cNvSpPr txBox="1">
            <a:spLocks noChangeArrowheads="1"/>
          </p:cNvSpPr>
          <p:nvPr/>
        </p:nvSpPr>
        <p:spPr bwMode="auto">
          <a:xfrm>
            <a:off x="394866" y="646451"/>
            <a:ext cx="8394700" cy="1198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EXISTS (subquery)</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return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TRUE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if the subquery returns at least one row.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EXISTS</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operator terminates the processing of the subquery once the subquery returns the first row.</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List all the departments that have at least one employee.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For each row in the DEPT table, the subquery checks whether the department appears on the EMP table.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Oracle ignores the select list in the subquery so you can use any column, literal value, expression, etc. The common convention is to use the number 1 in the SELECT clause.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F3EBF52C-4BBB-2703-D56B-A745F48B292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TextBox 4">
            <a:extLst>
              <a:ext uri="{FF2B5EF4-FFF2-40B4-BE49-F238E27FC236}">
                <a16:creationId xmlns:a16="http://schemas.microsoft.com/office/drawing/2014/main" id="{663CDF9D-AF5C-6927-B58C-5638221C57B9}"/>
              </a:ext>
            </a:extLst>
          </p:cNvPr>
          <p:cNvSpPr txBox="1"/>
          <p:nvPr/>
        </p:nvSpPr>
        <p:spPr>
          <a:xfrm>
            <a:off x="1115617" y="2743180"/>
            <a:ext cx="7056783" cy="1261884"/>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dirty="0">
                <a:latin typeface="Cambria" panose="02040503050406030204" pitchFamily="18" charset="0"/>
                <a:ea typeface="Cambria" panose="02040503050406030204" pitchFamily="18" charset="0"/>
              </a:rPr>
              <a:t>SELECT * FROM </a:t>
            </a:r>
            <a:r>
              <a:rPr lang="en-US" sz="2200" dirty="0">
                <a:solidFill>
                  <a:srgbClr val="FF0000"/>
                </a:solidFill>
                <a:latin typeface="Cambria" panose="02040503050406030204" pitchFamily="18" charset="0"/>
                <a:ea typeface="Cambria" panose="02040503050406030204" pitchFamily="18" charset="0"/>
              </a:rPr>
              <a:t>dept d</a:t>
            </a:r>
          </a:p>
          <a:p>
            <a:pPr>
              <a:spcBef>
                <a:spcPts val="600"/>
              </a:spcBef>
              <a:spcAft>
                <a:spcPts val="0"/>
              </a:spcAft>
            </a:pPr>
            <a:r>
              <a:rPr lang="en-US" sz="2200" dirty="0">
                <a:latin typeface="Cambria" panose="02040503050406030204" pitchFamily="18" charset="0"/>
                <a:ea typeface="Cambria" panose="02040503050406030204" pitchFamily="18" charset="0"/>
              </a:rPr>
              <a:t>WHERE </a:t>
            </a:r>
            <a:r>
              <a:rPr lang="en-US" sz="2200" dirty="0">
                <a:solidFill>
                  <a:srgbClr val="FF0000"/>
                </a:solidFill>
                <a:latin typeface="Cambria" panose="02040503050406030204" pitchFamily="18" charset="0"/>
                <a:ea typeface="Cambria" panose="02040503050406030204" pitchFamily="18" charset="0"/>
              </a:rPr>
              <a:t>EXISTS</a:t>
            </a:r>
            <a:r>
              <a:rPr lang="en-US" sz="2200" dirty="0">
                <a:latin typeface="Cambria" panose="02040503050406030204" pitchFamily="18" charset="0"/>
                <a:ea typeface="Cambria" panose="02040503050406030204" pitchFamily="18" charset="0"/>
              </a:rPr>
              <a:t> &lt; </a:t>
            </a:r>
            <a:r>
              <a:rPr lang="en-US" sz="2200" dirty="0">
                <a:solidFill>
                  <a:srgbClr val="0000CC"/>
                </a:solidFill>
                <a:latin typeface="Cambria" panose="02040503050406030204" pitchFamily="18" charset="0"/>
                <a:ea typeface="Cambria" panose="02040503050406030204" pitchFamily="18" charset="0"/>
              </a:rPr>
              <a:t>(SELECT </a:t>
            </a:r>
            <a:r>
              <a:rPr lang="en-US" sz="2200" dirty="0">
                <a:solidFill>
                  <a:srgbClr val="FF0000"/>
                </a:solidFill>
                <a:latin typeface="Cambria" panose="02040503050406030204" pitchFamily="18" charset="0"/>
                <a:ea typeface="Cambria" panose="02040503050406030204" pitchFamily="18" charset="0"/>
              </a:rPr>
              <a:t>1</a:t>
            </a:r>
            <a:r>
              <a:rPr lang="en-US" sz="2200" dirty="0">
                <a:solidFill>
                  <a:srgbClr val="0000CC"/>
                </a:solidFill>
                <a:latin typeface="Cambria" panose="02040503050406030204" pitchFamily="18" charset="0"/>
                <a:ea typeface="Cambria" panose="02040503050406030204" pitchFamily="18" charset="0"/>
              </a:rPr>
              <a:t> FROM emp e</a:t>
            </a:r>
            <a:r>
              <a:rPr lang="en-US" sz="2200" dirty="0">
                <a:latin typeface="Cambria" panose="02040503050406030204" pitchFamily="18" charset="0"/>
                <a:ea typeface="Cambria" panose="02040503050406030204" pitchFamily="18" charset="0"/>
              </a:rPr>
              <a:t>) </a:t>
            </a:r>
          </a:p>
          <a:p>
            <a:pPr>
              <a:spcBef>
                <a:spcPts val="600"/>
              </a:spcBef>
              <a:spcAft>
                <a:spcPts val="0"/>
              </a:spcAft>
            </a:pPr>
            <a:r>
              <a:rPr lang="en-US" sz="2200" dirty="0">
                <a:latin typeface="Cambria" panose="02040503050406030204" pitchFamily="18" charset="0"/>
                <a:ea typeface="Cambria" panose="02040503050406030204" pitchFamily="18" charset="0"/>
              </a:rPr>
              <a:t>			</a:t>
            </a:r>
            <a:r>
              <a:rPr lang="en-US" sz="2200" dirty="0">
                <a:highlight>
                  <a:srgbClr val="FFFF00"/>
                </a:highlight>
                <a:latin typeface="Cambria" panose="02040503050406030204" pitchFamily="18" charset="0"/>
                <a:ea typeface="Cambria" panose="02040503050406030204" pitchFamily="18" charset="0"/>
              </a:rPr>
              <a:t>WHERE </a:t>
            </a:r>
            <a:r>
              <a:rPr lang="en-US" sz="2200" dirty="0" err="1">
                <a:highlight>
                  <a:srgbClr val="FFFF00"/>
                </a:highlight>
                <a:latin typeface="Cambria" panose="02040503050406030204" pitchFamily="18" charset="0"/>
                <a:ea typeface="Cambria" panose="02040503050406030204" pitchFamily="18" charset="0"/>
              </a:rPr>
              <a:t>d.deptno</a:t>
            </a:r>
            <a:r>
              <a:rPr lang="en-US" sz="2200" dirty="0">
                <a:highlight>
                  <a:srgbClr val="FFFF00"/>
                </a:highlight>
                <a:latin typeface="Cambria" panose="02040503050406030204" pitchFamily="18" charset="0"/>
                <a:ea typeface="Cambria" panose="02040503050406030204" pitchFamily="18" charset="0"/>
              </a:rPr>
              <a:t>= </a:t>
            </a:r>
            <a:r>
              <a:rPr lang="en-US" sz="2200" dirty="0" err="1">
                <a:highlight>
                  <a:srgbClr val="FFFF00"/>
                </a:highlight>
                <a:latin typeface="Cambria" panose="02040503050406030204" pitchFamily="18" charset="0"/>
                <a:ea typeface="Cambria" panose="02040503050406030204" pitchFamily="18" charset="0"/>
              </a:rPr>
              <a:t>e.deptno</a:t>
            </a:r>
            <a:r>
              <a:rPr lang="en-US" sz="2200" dirty="0">
                <a:highlight>
                  <a:srgbClr val="FFFF00"/>
                </a:highlight>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4741969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7935E-1749-3592-758B-5A1D46F2A2D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999A2F0-0175-F7D7-281A-3B4E54B5617C}"/>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EXISTS vs. IN</a:t>
            </a:r>
          </a:p>
        </p:txBody>
      </p:sp>
      <p:sp>
        <p:nvSpPr>
          <p:cNvPr id="38915" name="Rectangle 3">
            <a:extLst>
              <a:ext uri="{FF2B5EF4-FFF2-40B4-BE49-F238E27FC236}">
                <a16:creationId xmlns:a16="http://schemas.microsoft.com/office/drawing/2014/main" id="{AD7DDB63-96CA-B0BC-9613-E0EB23771CD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3D646A3F-29F4-CE61-0A47-5B8362AAF35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7EA1C131-C982-DAB5-FE9B-41186C7A14FD}"/>
              </a:ext>
            </a:extLst>
          </p:cNvPr>
          <p:cNvSpPr txBox="1">
            <a:spLocks noChangeArrowheads="1"/>
          </p:cNvSpPr>
          <p:nvPr/>
        </p:nvSpPr>
        <p:spPr bwMode="auto">
          <a:xfrm>
            <a:off x="394866" y="646451"/>
            <a:ext cx="8394700" cy="59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r>
              <a:rPr kumimoji="0" lang="en-US" altLang="en-US" sz="22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EXISTS</a:t>
            </a:r>
            <a:r>
              <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operator stops scanning rows once the subquery returns the first row whereas </a:t>
            </a:r>
            <a:r>
              <a:rPr kumimoji="0" lang="en-US" altLang="en-US" sz="22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IN</a:t>
            </a:r>
            <a:r>
              <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operator must scan all rows returned by the subquery to conclude the result.</a:t>
            </a: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r>
              <a:rPr lang="en-US" alt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IN </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clause can’t compare anything with </a:t>
            </a: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NULL</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values, but the </a:t>
            </a:r>
            <a:r>
              <a:rPr lang="en-US" alt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EXISTS</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clause can compare everything with </a:t>
            </a: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NULL</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values.</a:t>
            </a: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The following statement doesn’t return any row.</a:t>
            </a: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spcBef>
                <a:spcPts val="0"/>
              </a:spcBef>
              <a:buClr>
                <a:srgbClr val="D34817"/>
              </a:buClr>
              <a:buSzPct val="50000"/>
              <a:buFont typeface="Wingdings" panose="05000000000000000000" pitchFamily="2" charset="2"/>
              <a:buChar char="l"/>
              <a:defRPr/>
            </a:pP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The following statement returns ALL the rows of EMP table.</a:t>
            </a: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r>
              <a:rPr lang="en-US" alt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EXISTS</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operator is faster than </a:t>
            </a:r>
            <a:r>
              <a:rPr lang="en-US" alt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IN</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operator when the result set of the subquery is large. By contrast, the </a:t>
            </a:r>
            <a:r>
              <a:rPr lang="en-US" alt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IN</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operator is faster than </a:t>
            </a:r>
            <a:r>
              <a:rPr lang="en-US" alt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EXISTS</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operator when the result set of the subquery is small.</a:t>
            </a: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spcBef>
                <a:spcPts val="0"/>
              </a:spcBef>
              <a:spcAft>
                <a:spcPct val="0"/>
              </a:spcAft>
              <a:buClr>
                <a:srgbClr val="D34817"/>
              </a:buClr>
              <a:buSzPct val="50000"/>
              <a:buFont typeface="Wingdings" panose="05000000000000000000" pitchFamily="2" charset="2"/>
              <a:buChar char="l"/>
              <a:tabLst/>
              <a:defRPr/>
            </a:pPr>
            <a:endParaRPr kumimoji="0" lang="en-US" alt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B1E01279-7DC0-FD60-7D02-B7773005B96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TextBox 2">
            <a:extLst>
              <a:ext uri="{FF2B5EF4-FFF2-40B4-BE49-F238E27FC236}">
                <a16:creationId xmlns:a16="http://schemas.microsoft.com/office/drawing/2014/main" id="{49EA42DF-58B0-70B2-098B-88EF2F896F86}"/>
              </a:ext>
            </a:extLst>
          </p:cNvPr>
          <p:cNvSpPr txBox="1"/>
          <p:nvPr/>
        </p:nvSpPr>
        <p:spPr>
          <a:xfrm>
            <a:off x="971600" y="2854097"/>
            <a:ext cx="7056783" cy="430887"/>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dirty="0">
                <a:latin typeface="Cambria" panose="02040503050406030204" pitchFamily="18" charset="0"/>
                <a:ea typeface="Cambria" panose="02040503050406030204" pitchFamily="18" charset="0"/>
              </a:rPr>
              <a:t>SELECT * FROM </a:t>
            </a:r>
            <a:r>
              <a:rPr lang="en-US" sz="2200" dirty="0">
                <a:solidFill>
                  <a:srgbClr val="FF0000"/>
                </a:solidFill>
                <a:latin typeface="Cambria" panose="02040503050406030204" pitchFamily="18" charset="0"/>
                <a:ea typeface="Cambria" panose="02040503050406030204" pitchFamily="18" charset="0"/>
              </a:rPr>
              <a:t>emp </a:t>
            </a:r>
            <a:r>
              <a:rPr lang="en-US" sz="2200" dirty="0">
                <a:latin typeface="Cambria" panose="02040503050406030204" pitchFamily="18" charset="0"/>
                <a:ea typeface="Cambria" panose="02040503050406030204" pitchFamily="18" charset="0"/>
              </a:rPr>
              <a:t>WHERE </a:t>
            </a:r>
            <a:r>
              <a:rPr lang="en-US" sz="2200" dirty="0" err="1">
                <a:solidFill>
                  <a:srgbClr val="FF0000"/>
                </a:solidFill>
                <a:latin typeface="Cambria" panose="02040503050406030204" pitchFamily="18" charset="0"/>
                <a:ea typeface="Cambria" panose="02040503050406030204" pitchFamily="18" charset="0"/>
              </a:rPr>
              <a:t>deptno</a:t>
            </a:r>
            <a:r>
              <a:rPr lang="en-US" sz="2200" dirty="0">
                <a:solidFill>
                  <a:srgbClr val="FF0000"/>
                </a:solidFill>
                <a:latin typeface="Cambria" panose="02040503050406030204" pitchFamily="18" charset="0"/>
                <a:ea typeface="Cambria" panose="02040503050406030204" pitchFamily="18" charset="0"/>
              </a:rPr>
              <a:t> IN</a:t>
            </a:r>
            <a:r>
              <a:rPr lang="en-US" sz="2200" dirty="0">
                <a:latin typeface="Cambria" panose="02040503050406030204" pitchFamily="18" charset="0"/>
                <a:ea typeface="Cambria" panose="02040503050406030204" pitchFamily="18" charset="0"/>
              </a:rPr>
              <a:t> </a:t>
            </a:r>
            <a:r>
              <a:rPr lang="en-US" sz="2200" dirty="0">
                <a:solidFill>
                  <a:srgbClr val="0000CC"/>
                </a:solidFill>
                <a:latin typeface="Cambria" panose="02040503050406030204" pitchFamily="18" charset="0"/>
                <a:ea typeface="Cambria" panose="02040503050406030204" pitchFamily="18" charset="0"/>
              </a:rPr>
              <a:t>(NULL</a:t>
            </a:r>
            <a:r>
              <a:rPr lang="en-US" sz="2200" dirty="0">
                <a:latin typeface="Cambria" panose="02040503050406030204" pitchFamily="18" charset="0"/>
                <a:ea typeface="Cambria" panose="02040503050406030204" pitchFamily="18" charset="0"/>
              </a:rPr>
              <a:t>);</a:t>
            </a:r>
            <a:endParaRPr lang="en-US" sz="2200" dirty="0">
              <a:highlight>
                <a:srgbClr val="FFFF00"/>
              </a:highlight>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B12DF33D-ED71-3AA2-6BC7-D67BFA5DC428}"/>
              </a:ext>
            </a:extLst>
          </p:cNvPr>
          <p:cNvSpPr txBox="1"/>
          <p:nvPr/>
        </p:nvSpPr>
        <p:spPr>
          <a:xfrm>
            <a:off x="971601" y="3789040"/>
            <a:ext cx="7056783" cy="846386"/>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sz="2200" dirty="0">
                <a:latin typeface="Cambria" panose="02040503050406030204" pitchFamily="18" charset="0"/>
                <a:ea typeface="Cambria" panose="02040503050406030204" pitchFamily="18" charset="0"/>
              </a:rPr>
              <a:t>SELECT * FROM </a:t>
            </a:r>
            <a:r>
              <a:rPr lang="en-US" sz="2200" dirty="0">
                <a:solidFill>
                  <a:srgbClr val="FF0000"/>
                </a:solidFill>
                <a:latin typeface="Cambria" panose="02040503050406030204" pitchFamily="18" charset="0"/>
                <a:ea typeface="Cambria" panose="02040503050406030204" pitchFamily="18" charset="0"/>
              </a:rPr>
              <a:t>emp</a:t>
            </a:r>
          </a:p>
          <a:p>
            <a:pPr>
              <a:spcBef>
                <a:spcPts val="600"/>
              </a:spcBef>
              <a:spcAft>
                <a:spcPts val="0"/>
              </a:spcAft>
            </a:pPr>
            <a:r>
              <a:rPr lang="en-US" sz="2200" dirty="0">
                <a:latin typeface="Cambria" panose="02040503050406030204" pitchFamily="18" charset="0"/>
                <a:ea typeface="Cambria" panose="02040503050406030204" pitchFamily="18" charset="0"/>
              </a:rPr>
              <a:t>WHERE </a:t>
            </a:r>
            <a:r>
              <a:rPr lang="en-US" sz="2200" dirty="0">
                <a:solidFill>
                  <a:srgbClr val="FF0000"/>
                </a:solidFill>
                <a:latin typeface="Cambria" panose="02040503050406030204" pitchFamily="18" charset="0"/>
                <a:ea typeface="Cambria" panose="02040503050406030204" pitchFamily="18" charset="0"/>
              </a:rPr>
              <a:t>EXIST</a:t>
            </a:r>
            <a:r>
              <a:rPr lang="en-US" sz="2200" dirty="0">
                <a:latin typeface="Cambria" panose="02040503050406030204" pitchFamily="18" charset="0"/>
                <a:ea typeface="Cambria" panose="02040503050406030204" pitchFamily="18" charset="0"/>
              </a:rPr>
              <a:t> </a:t>
            </a:r>
            <a:r>
              <a:rPr lang="en-US" sz="2200" dirty="0">
                <a:solidFill>
                  <a:srgbClr val="0000CC"/>
                </a:solidFill>
                <a:latin typeface="Cambria" panose="02040503050406030204" pitchFamily="18" charset="0"/>
                <a:ea typeface="Cambria" panose="02040503050406030204" pitchFamily="18" charset="0"/>
              </a:rPr>
              <a:t>(SELECT </a:t>
            </a:r>
            <a:r>
              <a:rPr lang="en-US" sz="2200" dirty="0">
                <a:solidFill>
                  <a:srgbClr val="FF0000"/>
                </a:solidFill>
                <a:latin typeface="Cambria" panose="02040503050406030204" pitchFamily="18" charset="0"/>
                <a:ea typeface="Cambria" panose="02040503050406030204" pitchFamily="18" charset="0"/>
              </a:rPr>
              <a:t>NULL</a:t>
            </a:r>
            <a:r>
              <a:rPr lang="en-US" sz="2200" dirty="0">
                <a:solidFill>
                  <a:srgbClr val="0000CC"/>
                </a:solidFill>
                <a:latin typeface="Cambria" panose="02040503050406030204" pitchFamily="18" charset="0"/>
                <a:ea typeface="Cambria" panose="02040503050406030204" pitchFamily="18" charset="0"/>
              </a:rPr>
              <a:t> FROM dual</a:t>
            </a:r>
            <a:r>
              <a:rPr lang="en-US" sz="2200" dirty="0">
                <a:latin typeface="Cambria" panose="02040503050406030204" pitchFamily="18" charset="0"/>
                <a:ea typeface="Cambria" panose="02040503050406030204" pitchFamily="18" charset="0"/>
              </a:rPr>
              <a:t>);</a:t>
            </a:r>
            <a:endParaRPr lang="en-US" sz="2200" dirty="0">
              <a:highlight>
                <a:srgbClr val="FFFF00"/>
              </a:highligh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9515491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4518F-E341-0788-EEAC-F9F484D019E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E42D93C-6593-913C-FE50-854129FE27B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NULL values in a Subquery</a:t>
            </a:r>
          </a:p>
        </p:txBody>
      </p:sp>
      <p:sp>
        <p:nvSpPr>
          <p:cNvPr id="38915" name="Rectangle 3">
            <a:extLst>
              <a:ext uri="{FF2B5EF4-FFF2-40B4-BE49-F238E27FC236}">
                <a16:creationId xmlns:a16="http://schemas.microsoft.com/office/drawing/2014/main" id="{F94FDABF-C7BD-CD91-B688-8A75C1545F2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66285307-D083-A178-19D9-6C145B60364C}"/>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4C39831B-9D0F-FEFE-E64A-F7713EFC7CCF}"/>
              </a:ext>
            </a:extLst>
          </p:cNvPr>
          <p:cNvSpPr txBox="1">
            <a:spLocks noChangeArrowheads="1"/>
          </p:cNvSpPr>
          <p:nvPr/>
        </p:nvSpPr>
        <p:spPr bwMode="auto">
          <a:xfrm>
            <a:off x="394866" y="2518659"/>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lvl="0" indent="-285750" algn="just">
              <a:buClr>
                <a:srgbClr val="D34817"/>
              </a:buClr>
              <a:buSzPct val="50000"/>
              <a:buFont typeface="Wingdings" panose="05000000000000000000" pitchFamily="2" charset="2"/>
              <a:buChar char="l"/>
              <a:defRPr/>
            </a:pP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List all employees who do not have any subordinates.</a:t>
            </a:r>
          </a:p>
          <a:p>
            <a:pPr marL="285750" lvl="0" indent="-285750" algn="just">
              <a:buClr>
                <a:srgbClr val="D34817"/>
              </a:buClr>
              <a:buSzPct val="50000"/>
              <a:buFont typeface="Wingdings" panose="05000000000000000000" pitchFamily="2" charset="2"/>
              <a:buChar char="l"/>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One of the values returned by the inner query is </a:t>
            </a: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NULL,</a:t>
            </a: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 and hence now rows are returned. </a:t>
            </a:r>
          </a:p>
          <a:p>
            <a:pPr marL="285750" lvl="0" indent="-285750" algn="just">
              <a:buClr>
                <a:srgbClr val="D34817"/>
              </a:buClr>
              <a:buSzPct val="50000"/>
              <a:buFont typeface="Wingdings" panose="05000000000000000000" pitchFamily="2" charset="2"/>
              <a:buChar char="l"/>
              <a:defRPr/>
            </a:pP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The comparison with a NULL results in NULL.</a:t>
            </a:r>
          </a:p>
          <a:p>
            <a:pPr marL="285750" lvl="0" indent="-285750" algn="just">
              <a:buClr>
                <a:srgbClr val="D34817"/>
              </a:buClr>
              <a:buSzPct val="50000"/>
              <a:buFont typeface="Wingdings" panose="05000000000000000000" pitchFamily="2" charset="2"/>
              <a:buChar char="l"/>
              <a:defRPr/>
            </a:pPr>
            <a:r>
              <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rPr>
              <a:t>NOT IN operator is equivalent to &lt;&gt;ALL, when the list of values include NULL.</a:t>
            </a:r>
          </a:p>
          <a:p>
            <a:pPr marL="285750" lvl="0" indent="-285750" algn="just">
              <a:buClr>
                <a:srgbClr val="D34817"/>
              </a:buClr>
              <a:buSzPct val="50000"/>
              <a:buFont typeface="Wingdings" panose="05000000000000000000" pitchFamily="2" charset="2"/>
              <a:buChar char="l"/>
              <a:defRPr/>
            </a:pPr>
            <a:endParaRPr lang="en-US" altLang="en-US" sz="2200" dirty="0">
              <a:solidFill>
                <a:prstClr val="black"/>
              </a:solidFill>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DB300607-5DF8-EA92-C767-3749E25B7B0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2">
            <a:extLst>
              <a:ext uri="{FF2B5EF4-FFF2-40B4-BE49-F238E27FC236}">
                <a16:creationId xmlns:a16="http://schemas.microsoft.com/office/drawing/2014/main" id="{63DF6862-FB6A-B543-CA7F-8420E0526EB3}"/>
              </a:ext>
            </a:extLst>
          </p:cNvPr>
          <p:cNvSpPr>
            <a:spLocks noChangeArrowheads="1"/>
          </p:cNvSpPr>
          <p:nvPr/>
        </p:nvSpPr>
        <p:spPr bwMode="blackWhite">
          <a:xfrm>
            <a:off x="840284" y="735435"/>
            <a:ext cx="7493000" cy="106741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7" name="Group 4">
            <a:extLst>
              <a:ext uri="{FF2B5EF4-FFF2-40B4-BE49-F238E27FC236}">
                <a16:creationId xmlns:a16="http://schemas.microsoft.com/office/drawing/2014/main" id="{BA78AA33-06A9-F69C-6851-461C98E83098}"/>
              </a:ext>
            </a:extLst>
          </p:cNvPr>
          <p:cNvGrpSpPr>
            <a:grpSpLocks/>
          </p:cNvGrpSpPr>
          <p:nvPr/>
        </p:nvGrpSpPr>
        <p:grpSpPr bwMode="auto">
          <a:xfrm>
            <a:off x="3420543" y="1065113"/>
            <a:ext cx="4607841" cy="593725"/>
            <a:chOff x="2164" y="1718"/>
            <a:chExt cx="2923" cy="374"/>
          </a:xfrm>
        </p:grpSpPr>
        <p:sp>
          <p:nvSpPr>
            <p:cNvPr id="8" name="Rectangle 5">
              <a:extLst>
                <a:ext uri="{FF2B5EF4-FFF2-40B4-BE49-F238E27FC236}">
                  <a16:creationId xmlns:a16="http://schemas.microsoft.com/office/drawing/2014/main" id="{AD8F92A6-0802-EE6D-15E9-ED13150EC6EB}"/>
                </a:ext>
              </a:extLst>
            </p:cNvPr>
            <p:cNvSpPr>
              <a:spLocks noChangeArrowheads="1"/>
            </p:cNvSpPr>
            <p:nvPr/>
          </p:nvSpPr>
          <p:spPr bwMode="ltGray">
            <a:xfrm>
              <a:off x="2164" y="1718"/>
              <a:ext cx="2923" cy="374"/>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9" name="Rectangle 6">
              <a:extLst>
                <a:ext uri="{FF2B5EF4-FFF2-40B4-BE49-F238E27FC236}">
                  <a16:creationId xmlns:a16="http://schemas.microsoft.com/office/drawing/2014/main" id="{A68A6352-2D34-5AAD-AA8D-B526229EBF4A}"/>
                </a:ext>
              </a:extLst>
            </p:cNvPr>
            <p:cNvSpPr>
              <a:spLocks noChangeArrowheads="1"/>
            </p:cNvSpPr>
            <p:nvPr/>
          </p:nvSpPr>
          <p:spPr bwMode="ltGray">
            <a:xfrm>
              <a:off x="2165" y="1865"/>
              <a:ext cx="2267" cy="216"/>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0" name="Rectangle 7">
            <a:extLst>
              <a:ext uri="{FF2B5EF4-FFF2-40B4-BE49-F238E27FC236}">
                <a16:creationId xmlns:a16="http://schemas.microsoft.com/office/drawing/2014/main" id="{29A1DCC1-0DAE-E29A-E750-C247DD6CB9EA}"/>
              </a:ext>
            </a:extLst>
          </p:cNvPr>
          <p:cNvSpPr>
            <a:spLocks noChangeArrowheads="1"/>
          </p:cNvSpPr>
          <p:nvPr/>
        </p:nvSpPr>
        <p:spPr bwMode="blackWhite">
          <a:xfrm>
            <a:off x="876300" y="1942480"/>
            <a:ext cx="7493000" cy="4064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3087688" algn="l"/>
              </a:tabLst>
              <a:defRPr sz="2800">
                <a:solidFill>
                  <a:schemeClr val="tx1"/>
                </a:solidFill>
                <a:latin typeface="Arial" panose="020B0604020202020204" pitchFamily="34" charset="0"/>
              </a:defRPr>
            </a:lvl1pPr>
            <a:lvl2pPr marL="742950" indent="-285750">
              <a:spcBef>
                <a:spcPct val="20000"/>
              </a:spcBef>
              <a:buChar char="–"/>
              <a:tabLst>
                <a:tab pos="1200150" algn="l"/>
                <a:tab pos="3087688" algn="l"/>
              </a:tabLst>
              <a:defRPr sz="2400">
                <a:solidFill>
                  <a:schemeClr val="tx1"/>
                </a:solidFill>
                <a:latin typeface="Arial" panose="020B0604020202020204" pitchFamily="34" charset="0"/>
              </a:defRPr>
            </a:lvl2pPr>
            <a:lvl3pPr marL="1143000" indent="-228600">
              <a:spcBef>
                <a:spcPct val="20000"/>
              </a:spcBef>
              <a:buChar char="•"/>
              <a:tabLst>
                <a:tab pos="1200150" algn="l"/>
                <a:tab pos="3087688" algn="l"/>
              </a:tabLst>
              <a:defRPr sz="2000">
                <a:solidFill>
                  <a:schemeClr val="tx1"/>
                </a:solidFill>
                <a:latin typeface="Arial" panose="020B0604020202020204" pitchFamily="34" charset="0"/>
              </a:defRPr>
            </a:lvl3pPr>
            <a:lvl4pPr marL="1600200" indent="-228600">
              <a:spcBef>
                <a:spcPct val="20000"/>
              </a:spcBef>
              <a:buChar char="–"/>
              <a:tabLst>
                <a:tab pos="1200150" algn="l"/>
                <a:tab pos="3087688" algn="l"/>
              </a:tabLst>
              <a:defRPr sz="2000">
                <a:solidFill>
                  <a:schemeClr val="tx1"/>
                </a:solidFill>
                <a:latin typeface="Arial" panose="020B0604020202020204" pitchFamily="34" charset="0"/>
              </a:defRPr>
            </a:lvl4pPr>
            <a:lvl5pPr marL="2057400" indent="-228600">
              <a:spcBef>
                <a:spcPct val="20000"/>
              </a:spcBef>
              <a:buChar char="»"/>
              <a:tabLst>
                <a:tab pos="1200150" algn="l"/>
                <a:tab pos="30876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no rows selected</a:t>
            </a:r>
          </a:p>
        </p:txBody>
      </p:sp>
      <p:sp>
        <p:nvSpPr>
          <p:cNvPr id="12" name="Rectangle 9">
            <a:extLst>
              <a:ext uri="{FF2B5EF4-FFF2-40B4-BE49-F238E27FC236}">
                <a16:creationId xmlns:a16="http://schemas.microsoft.com/office/drawing/2014/main" id="{33F67FB3-645D-E354-F808-F0C4706B4E9A}"/>
              </a:ext>
            </a:extLst>
          </p:cNvPr>
          <p:cNvSpPr>
            <a:spLocks noChangeArrowheads="1"/>
          </p:cNvSpPr>
          <p:nvPr/>
        </p:nvSpPr>
        <p:spPr bwMode="blackWhite">
          <a:xfrm>
            <a:off x="827584" y="631651"/>
            <a:ext cx="7315200" cy="1171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FROM   emp</a:t>
            </a:r>
          </a:p>
          <a:p>
            <a:pPr>
              <a:spcBef>
                <a:spcPct val="0"/>
              </a:spcBef>
              <a:buFontTx/>
              <a:buNone/>
            </a:pPr>
            <a:r>
              <a:rPr lang="en-US" altLang="en-US" sz="1800" b="1" dirty="0">
                <a:solidFill>
                  <a:srgbClr val="000000"/>
                </a:solidFill>
                <a:latin typeface="Courier New" panose="02070309020205020404" pitchFamily="49" charset="0"/>
              </a:rPr>
              <a:t>  2  WHERE  job = (SELECT	job FROM emp</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='SMYTHE');</a:t>
            </a:r>
          </a:p>
        </p:txBody>
      </p:sp>
      <p:sp>
        <p:nvSpPr>
          <p:cNvPr id="13" name="Rectangle 2">
            <a:extLst>
              <a:ext uri="{FF2B5EF4-FFF2-40B4-BE49-F238E27FC236}">
                <a16:creationId xmlns:a16="http://schemas.microsoft.com/office/drawing/2014/main" id="{04D949D3-08A8-AE34-7A51-2CB44BADF36D}"/>
              </a:ext>
            </a:extLst>
          </p:cNvPr>
          <p:cNvSpPr>
            <a:spLocks noChangeArrowheads="1"/>
          </p:cNvSpPr>
          <p:nvPr/>
        </p:nvSpPr>
        <p:spPr bwMode="blackWhite">
          <a:xfrm>
            <a:off x="827584" y="3068961"/>
            <a:ext cx="7489825" cy="135787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4" name="Rectangle 4">
            <a:extLst>
              <a:ext uri="{FF2B5EF4-FFF2-40B4-BE49-F238E27FC236}">
                <a16:creationId xmlns:a16="http://schemas.microsoft.com/office/drawing/2014/main" id="{6D69C177-10A5-9465-10E2-E02A93742628}"/>
              </a:ext>
            </a:extLst>
          </p:cNvPr>
          <p:cNvSpPr>
            <a:spLocks noChangeArrowheads="1"/>
          </p:cNvSpPr>
          <p:nvPr/>
        </p:nvSpPr>
        <p:spPr bwMode="auto">
          <a:xfrm>
            <a:off x="4368502" y="3459534"/>
            <a:ext cx="3371850" cy="617538"/>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5" name="Rectangle 5">
            <a:extLst>
              <a:ext uri="{FF2B5EF4-FFF2-40B4-BE49-F238E27FC236}">
                <a16:creationId xmlns:a16="http://schemas.microsoft.com/office/drawing/2014/main" id="{1DF070CF-AC64-3911-8E23-B228F3D1F02C}"/>
              </a:ext>
            </a:extLst>
          </p:cNvPr>
          <p:cNvSpPr>
            <a:spLocks noChangeArrowheads="1"/>
          </p:cNvSpPr>
          <p:nvPr/>
        </p:nvSpPr>
        <p:spPr bwMode="blackWhite">
          <a:xfrm>
            <a:off x="872034" y="3068960"/>
            <a:ext cx="7180263" cy="1332111"/>
          </a:xfrm>
          <a:prstGeom prst="rect">
            <a:avLst/>
          </a:prstGeom>
          <a:noFill/>
          <a:ln>
            <a:noFill/>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SELECT	</a:t>
            </a:r>
            <a:r>
              <a:rPr lang="en-US" sz="1800" b="1" dirty="0" err="1">
                <a:solidFill>
                  <a:srgbClr val="000000"/>
                </a:solidFill>
                <a:latin typeface="Courier New" pitchFamily="49" charset="0"/>
              </a:rPr>
              <a:t>e.ename</a:t>
            </a:r>
            <a:r>
              <a:rPr lang="en-US" sz="1800" b="1" dirty="0">
                <a:solidFill>
                  <a:srgbClr val="000000"/>
                </a:solidFill>
                <a:latin typeface="Courier New" pitchFamily="49" charset="0"/>
              </a:rPr>
              <a:t> FROM 	emp e</a:t>
            </a:r>
          </a:p>
          <a:p>
            <a:pPr>
              <a:tabLst>
                <a:tab pos="1200150" algn="l"/>
              </a:tabLst>
              <a:defRPr/>
            </a:pPr>
            <a:r>
              <a:rPr lang="en-US" sz="1800" b="1" dirty="0">
                <a:solidFill>
                  <a:srgbClr val="000000"/>
                </a:solidFill>
                <a:latin typeface="Courier New" pitchFamily="49" charset="0"/>
              </a:rPr>
              <a:t>  3  WHERE 	</a:t>
            </a:r>
            <a:r>
              <a:rPr lang="en-US" sz="1800" b="1" dirty="0" err="1">
                <a:solidFill>
                  <a:srgbClr val="000000"/>
                </a:solidFill>
                <a:latin typeface="Courier New" pitchFamily="49" charset="0"/>
              </a:rPr>
              <a:t>e.empno</a:t>
            </a:r>
            <a:r>
              <a:rPr lang="en-US" sz="1800" b="1" dirty="0">
                <a:solidFill>
                  <a:srgbClr val="000000"/>
                </a:solidFill>
                <a:latin typeface="Courier New" pitchFamily="49" charset="0"/>
              </a:rPr>
              <a:t> NOT IN (SELECT </a:t>
            </a:r>
            <a:r>
              <a:rPr lang="en-US" sz="1800" b="1" dirty="0" err="1">
                <a:solidFill>
                  <a:srgbClr val="000000"/>
                </a:solidFill>
                <a:latin typeface="Courier New" pitchFamily="49" charset="0"/>
              </a:rPr>
              <a:t>manager.mgr</a:t>
            </a:r>
            <a:endParaRPr lang="en-US" sz="1800" b="1" dirty="0">
              <a:solidFill>
                <a:srgbClr val="000000"/>
              </a:solidFill>
              <a:latin typeface="Courier New" pitchFamily="49" charset="0"/>
            </a:endParaRPr>
          </a:p>
          <a:p>
            <a:pPr>
              <a:tabLst>
                <a:tab pos="1200150" algn="l"/>
              </a:tabLst>
              <a:defRPr/>
            </a:pPr>
            <a:r>
              <a:rPr lang="en-US" sz="1800" b="1" dirty="0">
                <a:solidFill>
                  <a:srgbClr val="000000"/>
                </a:solidFill>
                <a:latin typeface="Courier New" pitchFamily="49" charset="0"/>
              </a:rPr>
              <a:t>  5				 FROM   emp manager);</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no rows selected. </a:t>
            </a:r>
          </a:p>
        </p:txBody>
      </p:sp>
    </p:spTree>
    <p:extLst>
      <p:ext uri="{BB962C8B-B14F-4D97-AF65-F5344CB8AC3E}">
        <p14:creationId xmlns:p14="http://schemas.microsoft.com/office/powerpoint/2010/main" val="13575009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D9069-C5F1-B6BF-C356-53235EE9C37D}"/>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6861B67-2271-8B7A-DE74-22618E7EFFC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NULL values in a Subquery</a:t>
            </a:r>
          </a:p>
        </p:txBody>
      </p:sp>
      <p:sp>
        <p:nvSpPr>
          <p:cNvPr id="38915" name="Rectangle 3">
            <a:extLst>
              <a:ext uri="{FF2B5EF4-FFF2-40B4-BE49-F238E27FC236}">
                <a16:creationId xmlns:a16="http://schemas.microsoft.com/office/drawing/2014/main" id="{6052A0EC-8CB7-E0BC-84DD-A273B638726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58C68D88-5AA4-BDE1-6872-5A07DA2556B0}"/>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BBF70D2E-7CE9-EFB1-85A1-B030BC5097E1}"/>
              </a:ext>
            </a:extLst>
          </p:cNvPr>
          <p:cNvSpPr txBox="1">
            <a:spLocks noChangeArrowheads="1"/>
          </p:cNvSpPr>
          <p:nvPr/>
        </p:nvSpPr>
        <p:spPr bwMode="auto">
          <a:xfrm>
            <a:off x="323850" y="620688"/>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lvl="0" indent="-285750" algn="just">
              <a:buClr>
                <a:srgbClr val="D34817"/>
              </a:buClr>
              <a:buSzPct val="50000"/>
              <a:buFont typeface="Wingdings" panose="05000000000000000000" pitchFamily="2" charset="2"/>
              <a:buChar char="l"/>
              <a:defRPr/>
            </a:pP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List all employees who do not have any subordinates.</a:t>
            </a: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lvl="0" indent="-285750" algn="just">
              <a:buClr>
                <a:srgbClr val="D34817"/>
              </a:buClr>
              <a:buSzPct val="50000"/>
              <a:buFont typeface="Wingdings" panose="05000000000000000000" pitchFamily="2" charset="2"/>
              <a:buChar char="l"/>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94C03B3C-8CE4-E4F8-5387-158FCDF210D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4182A686-ABA6-280B-65B6-A486E26811F6}"/>
              </a:ext>
            </a:extLst>
          </p:cNvPr>
          <p:cNvSpPr>
            <a:spLocks noChangeArrowheads="1"/>
          </p:cNvSpPr>
          <p:nvPr/>
        </p:nvSpPr>
        <p:spPr bwMode="blackWhite">
          <a:xfrm>
            <a:off x="638548" y="1124087"/>
            <a:ext cx="4868862"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 name="Rectangle 4">
            <a:extLst>
              <a:ext uri="{FF2B5EF4-FFF2-40B4-BE49-F238E27FC236}">
                <a16:creationId xmlns:a16="http://schemas.microsoft.com/office/drawing/2014/main" id="{64BCD850-B1F6-0ADE-3ED1-478CBDCC1EAD}"/>
              </a:ext>
            </a:extLst>
          </p:cNvPr>
          <p:cNvSpPr>
            <a:spLocks noChangeArrowheads="1"/>
          </p:cNvSpPr>
          <p:nvPr/>
        </p:nvSpPr>
        <p:spPr bwMode="auto">
          <a:xfrm>
            <a:off x="668710" y="1989274"/>
            <a:ext cx="3687763" cy="358775"/>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5">
            <a:extLst>
              <a:ext uri="{FF2B5EF4-FFF2-40B4-BE49-F238E27FC236}">
                <a16:creationId xmlns:a16="http://schemas.microsoft.com/office/drawing/2014/main" id="{EAB0272A-388B-06B3-4D7A-F3C725FABDCA}"/>
              </a:ext>
            </a:extLst>
          </p:cNvPr>
          <p:cNvSpPr>
            <a:spLocks noChangeArrowheads="1"/>
          </p:cNvSpPr>
          <p:nvPr/>
        </p:nvSpPr>
        <p:spPr bwMode="blackWhite">
          <a:xfrm>
            <a:off x="682998" y="1130437"/>
            <a:ext cx="4968875"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e.ename,e.job FROM emp e</a:t>
            </a:r>
          </a:p>
          <a:p>
            <a:pPr>
              <a:spcBef>
                <a:spcPct val="0"/>
              </a:spcBef>
              <a:buFontTx/>
              <a:buNone/>
            </a:pPr>
            <a:r>
              <a:rPr lang="en-US" altLang="en-US" sz="1800" b="1">
                <a:solidFill>
                  <a:srgbClr val="000000"/>
                </a:solidFill>
                <a:latin typeface="Courier New" panose="02070309020205020404" pitchFamily="49" charset="0"/>
              </a:rPr>
              <a:t>WHERE 	e.empno NOT IN</a:t>
            </a:r>
          </a:p>
          <a:p>
            <a:pPr>
              <a:spcBef>
                <a:spcPct val="0"/>
              </a:spcBef>
              <a:buFontTx/>
              <a:buNone/>
            </a:pPr>
            <a:r>
              <a:rPr lang="en-US" altLang="en-US" sz="1800" b="1">
                <a:solidFill>
                  <a:srgbClr val="000000"/>
                </a:solidFill>
                <a:latin typeface="Courier New" panose="02070309020205020404" pitchFamily="49" charset="0"/>
              </a:rPr>
              <a:t>(SELECT m.mgr FROM emp m</a:t>
            </a:r>
          </a:p>
          <a:p>
            <a:pPr>
              <a:spcBef>
                <a:spcPct val="0"/>
              </a:spcBef>
              <a:buFontTx/>
              <a:buNone/>
            </a:pPr>
            <a:r>
              <a:rPr lang="en-US" altLang="en-US" sz="1800" b="1">
                <a:solidFill>
                  <a:srgbClr val="000000"/>
                </a:solidFill>
                <a:latin typeface="Courier New" panose="02070309020205020404" pitchFamily="49" charset="0"/>
              </a:rPr>
              <a:t>WHERE m.mgr IS NOT NULL);</a:t>
            </a:r>
          </a:p>
        </p:txBody>
      </p:sp>
      <p:graphicFrame>
        <p:nvGraphicFramePr>
          <p:cNvPr id="16" name="Table 15">
            <a:extLst>
              <a:ext uri="{FF2B5EF4-FFF2-40B4-BE49-F238E27FC236}">
                <a16:creationId xmlns:a16="http://schemas.microsoft.com/office/drawing/2014/main" id="{7B45F1EF-CE41-9613-637A-EB6BBED44949}"/>
              </a:ext>
            </a:extLst>
          </p:cNvPr>
          <p:cNvGraphicFramePr>
            <a:graphicFrameLocks noGrp="1"/>
          </p:cNvGraphicFramePr>
          <p:nvPr>
            <p:extLst>
              <p:ext uri="{D42A27DB-BD31-4B8C-83A1-F6EECF244321}">
                <p14:modId xmlns:p14="http://schemas.microsoft.com/office/powerpoint/2010/main" val="2153448770"/>
              </p:ext>
            </p:extLst>
          </p:nvPr>
        </p:nvGraphicFramePr>
        <p:xfrm>
          <a:off x="5796335" y="1151074"/>
          <a:ext cx="3095626" cy="2925998"/>
        </p:xfrm>
        <a:graphic>
          <a:graphicData uri="http://schemas.openxmlformats.org/drawingml/2006/table">
            <a:tbl>
              <a:tblPr/>
              <a:tblGrid>
                <a:gridCol w="1547813">
                  <a:extLst>
                    <a:ext uri="{9D8B030D-6E8A-4147-A177-3AD203B41FA5}">
                      <a16:colId xmlns:a16="http://schemas.microsoft.com/office/drawing/2014/main" val="20000"/>
                    </a:ext>
                  </a:extLst>
                </a:gridCol>
                <a:gridCol w="1547813">
                  <a:extLst>
                    <a:ext uri="{9D8B030D-6E8A-4147-A177-3AD203B41FA5}">
                      <a16:colId xmlns:a16="http://schemas.microsoft.com/office/drawing/2014/main" val="20001"/>
                    </a:ext>
                  </a:extLst>
                </a:gridCol>
              </a:tblGrid>
              <a:tr h="365716">
                <a:tc>
                  <a:txBody>
                    <a:bodyPr/>
                    <a:lstStyle/>
                    <a:p>
                      <a:pPr fontAlgn="b"/>
                      <a:r>
                        <a:rPr lang="en-US" sz="1800" b="1" dirty="0">
                          <a:solidFill>
                            <a:srgbClr val="FFFFFF"/>
                          </a:solidFill>
                          <a:effectLst/>
                        </a:rPr>
                        <a:t>ENAME</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JOB</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006">
                <a:tc>
                  <a:txBody>
                    <a:bodyPr/>
                    <a:lstStyle/>
                    <a:p>
                      <a:r>
                        <a:rPr lang="en-US" sz="1800">
                          <a:effectLst/>
                        </a:rPr>
                        <a:t>SMITH</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006">
                <a:tc>
                  <a:txBody>
                    <a:bodyPr/>
                    <a:lstStyle/>
                    <a:p>
                      <a:r>
                        <a:rPr lang="en-US" sz="1800">
                          <a:effectLst/>
                        </a:rPr>
                        <a:t>ALLEN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006">
                <a:tc>
                  <a:txBody>
                    <a:bodyPr/>
                    <a:lstStyle/>
                    <a:p>
                      <a:r>
                        <a:rPr lang="en-US" sz="1800">
                          <a:effectLst/>
                        </a:rPr>
                        <a:t>WARD</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006">
                <a:tc>
                  <a:txBody>
                    <a:bodyPr/>
                    <a:lstStyle/>
                    <a:p>
                      <a:r>
                        <a:rPr lang="en-US" sz="1800">
                          <a:effectLst/>
                        </a:rPr>
                        <a:t>MARTIN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006">
                <a:tc>
                  <a:txBody>
                    <a:bodyPr/>
                    <a:lstStyle/>
                    <a:p>
                      <a:r>
                        <a:rPr lang="en-US" sz="1800">
                          <a:effectLst/>
                        </a:rPr>
                        <a:t>TURNER</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006">
                <a:tc>
                  <a:txBody>
                    <a:bodyPr/>
                    <a:lstStyle/>
                    <a:p>
                      <a:r>
                        <a:rPr lang="en-US" sz="1800">
                          <a:effectLst/>
                        </a:rPr>
                        <a:t>ADAMS</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006">
                <a:tc>
                  <a:txBody>
                    <a:bodyPr/>
                    <a:lstStyle/>
                    <a:p>
                      <a:r>
                        <a:rPr lang="en-US" sz="1800">
                          <a:effectLst/>
                        </a:rPr>
                        <a:t>JAMES</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320006">
                <a:tc>
                  <a:txBody>
                    <a:bodyPr/>
                    <a:lstStyle/>
                    <a:p>
                      <a:r>
                        <a:rPr lang="en-US" sz="1800">
                          <a:effectLst/>
                        </a:rPr>
                        <a:t>MILLER</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bl>
          </a:graphicData>
        </a:graphic>
      </p:graphicFrame>
      <p:sp>
        <p:nvSpPr>
          <p:cNvPr id="17" name="Rectangle 2">
            <a:extLst>
              <a:ext uri="{FF2B5EF4-FFF2-40B4-BE49-F238E27FC236}">
                <a16:creationId xmlns:a16="http://schemas.microsoft.com/office/drawing/2014/main" id="{9E2C85A3-BB68-41A5-16DA-0615AFE59E02}"/>
              </a:ext>
            </a:extLst>
          </p:cNvPr>
          <p:cNvSpPr>
            <a:spLocks noChangeArrowheads="1"/>
          </p:cNvSpPr>
          <p:nvPr/>
        </p:nvSpPr>
        <p:spPr bwMode="blackWhite">
          <a:xfrm>
            <a:off x="668710" y="2781437"/>
            <a:ext cx="4868863"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8" name="Rectangle 4">
            <a:extLst>
              <a:ext uri="{FF2B5EF4-FFF2-40B4-BE49-F238E27FC236}">
                <a16:creationId xmlns:a16="http://schemas.microsoft.com/office/drawing/2014/main" id="{8B066418-E9F7-FC52-AD36-2A62BD9949C3}"/>
              </a:ext>
            </a:extLst>
          </p:cNvPr>
          <p:cNvSpPr>
            <a:spLocks noChangeArrowheads="1"/>
          </p:cNvSpPr>
          <p:nvPr/>
        </p:nvSpPr>
        <p:spPr bwMode="auto">
          <a:xfrm>
            <a:off x="697285" y="3645037"/>
            <a:ext cx="3687763" cy="360362"/>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9" name="Rectangle 5">
            <a:extLst>
              <a:ext uri="{FF2B5EF4-FFF2-40B4-BE49-F238E27FC236}">
                <a16:creationId xmlns:a16="http://schemas.microsoft.com/office/drawing/2014/main" id="{230ED0A1-1C39-3A7D-EC4C-D7413D7D9055}"/>
              </a:ext>
            </a:extLst>
          </p:cNvPr>
          <p:cNvSpPr>
            <a:spLocks noChangeArrowheads="1"/>
          </p:cNvSpPr>
          <p:nvPr/>
        </p:nvSpPr>
        <p:spPr bwMode="blackWhite">
          <a:xfrm>
            <a:off x="611560" y="2787787"/>
            <a:ext cx="4968875"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e.ename,e.job FROM emp e</a:t>
            </a: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a:solidFill>
                  <a:srgbClr val="FF0000"/>
                </a:solidFill>
                <a:latin typeface="Courier New" panose="02070309020205020404" pitchFamily="49" charset="0"/>
              </a:rPr>
              <a:t>NOT EXISTS</a:t>
            </a:r>
          </a:p>
          <a:p>
            <a:pPr>
              <a:spcBef>
                <a:spcPct val="0"/>
              </a:spcBef>
              <a:buFontTx/>
              <a:buNone/>
            </a:pPr>
            <a:r>
              <a:rPr lang="en-US" altLang="en-US" sz="1800" b="1">
                <a:solidFill>
                  <a:srgbClr val="000000"/>
                </a:solidFill>
                <a:latin typeface="Courier New" panose="02070309020205020404" pitchFamily="49" charset="0"/>
              </a:rPr>
              <a:t>(SELECT empno FROM emp m</a:t>
            </a:r>
          </a:p>
          <a:p>
            <a:pPr>
              <a:spcBef>
                <a:spcPct val="0"/>
              </a:spcBef>
              <a:buFontTx/>
              <a:buNone/>
            </a:pPr>
            <a:r>
              <a:rPr lang="en-US" altLang="en-US" sz="1800" b="1">
                <a:solidFill>
                  <a:srgbClr val="000000"/>
                </a:solidFill>
                <a:latin typeface="Courier New" panose="02070309020205020404" pitchFamily="49" charset="0"/>
              </a:rPr>
              <a:t>WHERE m.mgr = e.empno);</a:t>
            </a:r>
          </a:p>
        </p:txBody>
      </p:sp>
    </p:spTree>
    <p:extLst>
      <p:ext uri="{BB962C8B-B14F-4D97-AF65-F5344CB8AC3E}">
        <p14:creationId xmlns:p14="http://schemas.microsoft.com/office/powerpoint/2010/main" val="426681463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F5E72-838D-151B-30FD-D0221A07AA9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F797735-ED52-6326-59F2-B3470B5FD626}"/>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Multiple-Column Subqueries</a:t>
            </a:r>
          </a:p>
        </p:txBody>
      </p:sp>
      <p:sp>
        <p:nvSpPr>
          <p:cNvPr id="38915" name="Rectangle 3">
            <a:extLst>
              <a:ext uri="{FF2B5EF4-FFF2-40B4-BE49-F238E27FC236}">
                <a16:creationId xmlns:a16="http://schemas.microsoft.com/office/drawing/2014/main" id="{E6557267-3221-521F-B8F4-F9C941774A7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B1388111-CD96-CADC-7CCD-51D1DFE3C4E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8AC25F96-A0FB-950B-BE36-6C49F9A66CE2}"/>
              </a:ext>
            </a:extLst>
          </p:cNvPr>
          <p:cNvSpPr txBox="1">
            <a:spLocks noChangeArrowheads="1"/>
          </p:cNvSpPr>
          <p:nvPr/>
        </p:nvSpPr>
        <p:spPr bwMode="auto">
          <a:xfrm>
            <a:off x="394866" y="741785"/>
            <a:ext cx="8394700" cy="41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Return multiple columns to the outer query.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E8FD7BEC-7D36-F033-C75E-99F765DFF81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2">
            <a:extLst>
              <a:ext uri="{FF2B5EF4-FFF2-40B4-BE49-F238E27FC236}">
                <a16:creationId xmlns:a16="http://schemas.microsoft.com/office/drawing/2014/main" id="{62E13786-2531-EADA-28F4-F4B47B92FC41}"/>
              </a:ext>
            </a:extLst>
          </p:cNvPr>
          <p:cNvSpPr>
            <a:spLocks noChangeArrowheads="1"/>
          </p:cNvSpPr>
          <p:nvPr/>
        </p:nvSpPr>
        <p:spPr bwMode="blackWhite">
          <a:xfrm>
            <a:off x="1417638" y="1403350"/>
            <a:ext cx="5957887" cy="26336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 name="Rectangle 3">
            <a:extLst>
              <a:ext uri="{FF2B5EF4-FFF2-40B4-BE49-F238E27FC236}">
                <a16:creationId xmlns:a16="http://schemas.microsoft.com/office/drawing/2014/main" id="{EFDEAED7-BCD4-FF91-042C-50E14EC346B1}"/>
              </a:ext>
            </a:extLst>
          </p:cNvPr>
          <p:cNvSpPr>
            <a:spLocks noChangeArrowheads="1"/>
          </p:cNvSpPr>
          <p:nvPr/>
        </p:nvSpPr>
        <p:spPr bwMode="auto">
          <a:xfrm>
            <a:off x="3505200" y="2487613"/>
            <a:ext cx="3810000" cy="1531937"/>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9" name="Rectangle 5">
            <a:extLst>
              <a:ext uri="{FF2B5EF4-FFF2-40B4-BE49-F238E27FC236}">
                <a16:creationId xmlns:a16="http://schemas.microsoft.com/office/drawing/2014/main" id="{A67F581C-2EF3-A0AB-7B60-E6FD6D577A86}"/>
              </a:ext>
            </a:extLst>
          </p:cNvPr>
          <p:cNvSpPr>
            <a:spLocks noChangeArrowheads="1"/>
          </p:cNvSpPr>
          <p:nvPr/>
        </p:nvSpPr>
        <p:spPr bwMode="auto">
          <a:xfrm>
            <a:off x="1472448" y="1409700"/>
            <a:ext cx="1796967" cy="495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400" b="1" dirty="0">
                <a:solidFill>
                  <a:srgbClr val="000000"/>
                </a:solidFill>
                <a:latin typeface="Cambria" panose="02040503050406030204" pitchFamily="18" charset="0"/>
                <a:ea typeface="Cambria" panose="02040503050406030204" pitchFamily="18" charset="0"/>
              </a:rPr>
              <a:t>Main query</a:t>
            </a:r>
          </a:p>
        </p:txBody>
      </p:sp>
      <p:sp>
        <p:nvSpPr>
          <p:cNvPr id="10" name="Rectangle 6">
            <a:extLst>
              <a:ext uri="{FF2B5EF4-FFF2-40B4-BE49-F238E27FC236}">
                <a16:creationId xmlns:a16="http://schemas.microsoft.com/office/drawing/2014/main" id="{F897C9A2-7259-420D-98BD-D95EC5141848}"/>
              </a:ext>
            </a:extLst>
          </p:cNvPr>
          <p:cNvSpPr>
            <a:spLocks noChangeArrowheads="1"/>
          </p:cNvSpPr>
          <p:nvPr/>
        </p:nvSpPr>
        <p:spPr bwMode="auto">
          <a:xfrm>
            <a:off x="1836562" y="1868488"/>
            <a:ext cx="1743427" cy="428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000" dirty="0">
                <a:solidFill>
                  <a:srgbClr val="0000CC"/>
                </a:solidFill>
                <a:latin typeface="Cambria" panose="02040503050406030204" pitchFamily="18" charset="0"/>
                <a:ea typeface="Cambria" panose="02040503050406030204" pitchFamily="18" charset="0"/>
              </a:rPr>
              <a:t>MANAGER 10</a:t>
            </a:r>
          </a:p>
        </p:txBody>
      </p:sp>
      <p:sp>
        <p:nvSpPr>
          <p:cNvPr id="11" name="Rectangle 7">
            <a:extLst>
              <a:ext uri="{FF2B5EF4-FFF2-40B4-BE49-F238E27FC236}">
                <a16:creationId xmlns:a16="http://schemas.microsoft.com/office/drawing/2014/main" id="{2730F81E-30D5-A7A8-DE2F-0F93BF8D4B92}"/>
              </a:ext>
            </a:extLst>
          </p:cNvPr>
          <p:cNvSpPr>
            <a:spLocks noChangeArrowheads="1"/>
          </p:cNvSpPr>
          <p:nvPr/>
        </p:nvSpPr>
        <p:spPr bwMode="auto">
          <a:xfrm>
            <a:off x="3606763" y="2452688"/>
            <a:ext cx="1320874" cy="428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000" b="1" dirty="0">
                <a:latin typeface="Cambria" panose="02040503050406030204" pitchFamily="18" charset="0"/>
                <a:ea typeface="Cambria" panose="02040503050406030204" pitchFamily="18" charset="0"/>
              </a:rPr>
              <a:t>Subquery</a:t>
            </a:r>
          </a:p>
        </p:txBody>
      </p:sp>
      <p:sp>
        <p:nvSpPr>
          <p:cNvPr id="12" name="Rectangle 8">
            <a:extLst>
              <a:ext uri="{FF2B5EF4-FFF2-40B4-BE49-F238E27FC236}">
                <a16:creationId xmlns:a16="http://schemas.microsoft.com/office/drawing/2014/main" id="{B156EB30-DB9A-CD9E-18C7-5903E50333B8}"/>
              </a:ext>
            </a:extLst>
          </p:cNvPr>
          <p:cNvSpPr>
            <a:spLocks noChangeArrowheads="1"/>
          </p:cNvSpPr>
          <p:nvPr/>
        </p:nvSpPr>
        <p:spPr bwMode="auto">
          <a:xfrm>
            <a:off x="3703638" y="2865438"/>
            <a:ext cx="2316162"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714500" algn="l"/>
              </a:tabLst>
              <a:defRPr sz="2800">
                <a:solidFill>
                  <a:schemeClr val="tx1"/>
                </a:solidFill>
                <a:latin typeface="Arial" panose="020B0604020202020204" pitchFamily="34" charset="0"/>
              </a:defRPr>
            </a:lvl1pPr>
            <a:lvl2pPr marL="742950" indent="-285750">
              <a:spcBef>
                <a:spcPct val="20000"/>
              </a:spcBef>
              <a:buChar char="–"/>
              <a:tabLst>
                <a:tab pos="1714500" algn="l"/>
              </a:tabLst>
              <a:defRPr sz="2400">
                <a:solidFill>
                  <a:schemeClr val="tx1"/>
                </a:solidFill>
                <a:latin typeface="Arial" panose="020B0604020202020204" pitchFamily="34" charset="0"/>
              </a:defRPr>
            </a:lvl2pPr>
            <a:lvl3pPr marL="1143000" indent="-228600">
              <a:spcBef>
                <a:spcPct val="20000"/>
              </a:spcBef>
              <a:buChar char="•"/>
              <a:tabLst>
                <a:tab pos="1714500" algn="l"/>
              </a:tabLst>
              <a:defRPr sz="2000">
                <a:solidFill>
                  <a:schemeClr val="tx1"/>
                </a:solidFill>
                <a:latin typeface="Arial" panose="020B0604020202020204" pitchFamily="34" charset="0"/>
              </a:defRPr>
            </a:lvl3pPr>
            <a:lvl4pPr marL="1600200" indent="-228600">
              <a:spcBef>
                <a:spcPct val="20000"/>
              </a:spcBef>
              <a:buChar char="–"/>
              <a:tabLst>
                <a:tab pos="1714500" algn="l"/>
              </a:tabLst>
              <a:defRPr sz="2000">
                <a:solidFill>
                  <a:schemeClr val="tx1"/>
                </a:solidFill>
                <a:latin typeface="Arial" panose="020B0604020202020204" pitchFamily="34" charset="0"/>
              </a:defRPr>
            </a:lvl4pPr>
            <a:lvl5pPr marL="2057400" indent="-228600">
              <a:spcBef>
                <a:spcPct val="20000"/>
              </a:spcBef>
              <a:buChar char="»"/>
              <a:tabLst>
                <a:tab pos="17145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dirty="0">
                <a:solidFill>
                  <a:schemeClr val="bg1"/>
                </a:solidFill>
                <a:latin typeface="Cambria" panose="02040503050406030204" pitchFamily="18" charset="0"/>
                <a:ea typeface="Cambria" panose="02040503050406030204" pitchFamily="18" charset="0"/>
              </a:rPr>
              <a:t>SALESMAN 	  30</a:t>
            </a:r>
            <a:br>
              <a:rPr lang="en-US" altLang="en-US" sz="1800" b="1" dirty="0">
                <a:solidFill>
                  <a:schemeClr val="bg1"/>
                </a:solidFill>
                <a:latin typeface="Cambria" panose="02040503050406030204" pitchFamily="18" charset="0"/>
                <a:ea typeface="Cambria" panose="02040503050406030204" pitchFamily="18" charset="0"/>
              </a:rPr>
            </a:br>
            <a:r>
              <a:rPr lang="en-US" altLang="en-US" sz="1800" b="1" dirty="0">
                <a:solidFill>
                  <a:schemeClr val="bg1"/>
                </a:solidFill>
                <a:latin typeface="Cambria" panose="02040503050406030204" pitchFamily="18" charset="0"/>
                <a:ea typeface="Cambria" panose="02040503050406030204" pitchFamily="18" charset="0"/>
              </a:rPr>
              <a:t>MANAGER 	  10</a:t>
            </a:r>
            <a:br>
              <a:rPr lang="en-US" altLang="en-US" sz="1800" b="1" dirty="0">
                <a:solidFill>
                  <a:schemeClr val="bg1"/>
                </a:solidFill>
                <a:latin typeface="Cambria" panose="02040503050406030204" pitchFamily="18" charset="0"/>
                <a:ea typeface="Cambria" panose="02040503050406030204" pitchFamily="18" charset="0"/>
              </a:rPr>
            </a:br>
            <a:r>
              <a:rPr lang="en-US" altLang="en-US" sz="1800" b="1" dirty="0">
                <a:solidFill>
                  <a:schemeClr val="bg1"/>
                </a:solidFill>
                <a:latin typeface="Cambria" panose="02040503050406030204" pitchFamily="18" charset="0"/>
                <a:ea typeface="Cambria" panose="02040503050406030204" pitchFamily="18" charset="0"/>
              </a:rPr>
              <a:t>CLERK        	  20</a:t>
            </a:r>
          </a:p>
          <a:p>
            <a:pPr>
              <a:lnSpc>
                <a:spcPct val="120000"/>
              </a:lnSpc>
              <a:spcBef>
                <a:spcPct val="60000"/>
              </a:spcBef>
              <a:buFontTx/>
              <a:buNone/>
            </a:pPr>
            <a:endParaRPr lang="en-US" altLang="en-US" sz="1800" b="1" dirty="0">
              <a:solidFill>
                <a:schemeClr val="bg1"/>
              </a:solidFill>
              <a:latin typeface="Cambria" panose="02040503050406030204" pitchFamily="18" charset="0"/>
              <a:ea typeface="Cambria" panose="02040503050406030204" pitchFamily="18" charset="0"/>
            </a:endParaRPr>
          </a:p>
        </p:txBody>
      </p:sp>
      <p:grpSp>
        <p:nvGrpSpPr>
          <p:cNvPr id="13" name="Group 9">
            <a:extLst>
              <a:ext uri="{FF2B5EF4-FFF2-40B4-BE49-F238E27FC236}">
                <a16:creationId xmlns:a16="http://schemas.microsoft.com/office/drawing/2014/main" id="{BEF7BDFF-E3A4-51BF-29BF-ED01EF59DB45}"/>
              </a:ext>
            </a:extLst>
          </p:cNvPr>
          <p:cNvGrpSpPr>
            <a:grpSpLocks/>
          </p:cNvGrpSpPr>
          <p:nvPr/>
        </p:nvGrpSpPr>
        <p:grpSpPr bwMode="auto">
          <a:xfrm>
            <a:off x="4676775" y="1754188"/>
            <a:ext cx="2389188" cy="2209800"/>
            <a:chOff x="2946" y="1105"/>
            <a:chExt cx="1505" cy="1392"/>
          </a:xfrm>
        </p:grpSpPr>
        <p:sp>
          <p:nvSpPr>
            <p:cNvPr id="14" name="Arc 10">
              <a:extLst>
                <a:ext uri="{FF2B5EF4-FFF2-40B4-BE49-F238E27FC236}">
                  <a16:creationId xmlns:a16="http://schemas.microsoft.com/office/drawing/2014/main" id="{709C8F6D-9093-EEE0-1BC9-CBB75FF0926D}"/>
                </a:ext>
              </a:extLst>
            </p:cNvPr>
            <p:cNvSpPr>
              <a:spLocks/>
            </p:cNvSpPr>
            <p:nvPr/>
          </p:nvSpPr>
          <p:spPr bwMode="auto">
            <a:xfrm rot="10800000">
              <a:off x="3494" y="1105"/>
              <a:ext cx="957" cy="1261"/>
            </a:xfrm>
            <a:custGeom>
              <a:avLst/>
              <a:gdLst>
                <a:gd name="T0" fmla="*/ 0 w 23846"/>
                <a:gd name="T1" fmla="*/ 0 h 42202"/>
                <a:gd name="T2" fmla="*/ 0 w 23846"/>
                <a:gd name="T3" fmla="*/ 0 h 42202"/>
                <a:gd name="T4" fmla="*/ 0 w 23846"/>
                <a:gd name="T5" fmla="*/ 0 h 42202"/>
                <a:gd name="T6" fmla="*/ 0 60000 65536"/>
                <a:gd name="T7" fmla="*/ 0 60000 65536"/>
                <a:gd name="T8" fmla="*/ 0 60000 65536"/>
              </a:gdLst>
              <a:ahLst/>
              <a:cxnLst>
                <a:cxn ang="T6">
                  <a:pos x="T0" y="T1"/>
                </a:cxn>
                <a:cxn ang="T7">
                  <a:pos x="T2" y="T3"/>
                </a:cxn>
                <a:cxn ang="T8">
                  <a:pos x="T4" y="T5"/>
                </a:cxn>
              </a:cxnLst>
              <a:rect l="0" t="0" r="r" b="b"/>
              <a:pathLst>
                <a:path w="23846" h="42202" fill="none" extrusionOk="0">
                  <a:moveTo>
                    <a:pt x="23845" y="42084"/>
                  </a:moveTo>
                  <a:cubicBezTo>
                    <a:pt x="23099" y="42162"/>
                    <a:pt x="22350" y="42201"/>
                    <a:pt x="21600" y="42202"/>
                  </a:cubicBezTo>
                  <a:cubicBezTo>
                    <a:pt x="9670" y="42202"/>
                    <a:pt x="0" y="32531"/>
                    <a:pt x="0" y="20602"/>
                  </a:cubicBezTo>
                  <a:cubicBezTo>
                    <a:pt x="-1" y="11172"/>
                    <a:pt x="6116" y="2832"/>
                    <a:pt x="15110" y="-1"/>
                  </a:cubicBezTo>
                </a:path>
                <a:path w="23846" h="42202" stroke="0" extrusionOk="0">
                  <a:moveTo>
                    <a:pt x="23845" y="42084"/>
                  </a:moveTo>
                  <a:cubicBezTo>
                    <a:pt x="23099" y="42162"/>
                    <a:pt x="22350" y="42201"/>
                    <a:pt x="21600" y="42202"/>
                  </a:cubicBezTo>
                  <a:cubicBezTo>
                    <a:pt x="9670" y="42202"/>
                    <a:pt x="0" y="32531"/>
                    <a:pt x="0" y="20602"/>
                  </a:cubicBezTo>
                  <a:cubicBezTo>
                    <a:pt x="-1" y="11172"/>
                    <a:pt x="6116" y="2832"/>
                    <a:pt x="15110" y="-1"/>
                  </a:cubicBezTo>
                  <a:lnTo>
                    <a:pt x="21600" y="20602"/>
                  </a:lnTo>
                  <a:lnTo>
                    <a:pt x="23845" y="42084"/>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5" name="Arc 11">
              <a:extLst>
                <a:ext uri="{FF2B5EF4-FFF2-40B4-BE49-F238E27FC236}">
                  <a16:creationId xmlns:a16="http://schemas.microsoft.com/office/drawing/2014/main" id="{2208081F-CD33-4EEA-4444-597F7FED6248}"/>
                </a:ext>
              </a:extLst>
            </p:cNvPr>
            <p:cNvSpPr>
              <a:spLocks/>
            </p:cNvSpPr>
            <p:nvPr/>
          </p:nvSpPr>
          <p:spPr bwMode="auto">
            <a:xfrm rot="10800000">
              <a:off x="3492" y="1239"/>
              <a:ext cx="755" cy="890"/>
            </a:xfrm>
            <a:custGeom>
              <a:avLst/>
              <a:gdLst>
                <a:gd name="T0" fmla="*/ 0 w 23845"/>
                <a:gd name="T1" fmla="*/ 0 h 41623"/>
                <a:gd name="T2" fmla="*/ 0 w 23845"/>
                <a:gd name="T3" fmla="*/ 0 h 41623"/>
                <a:gd name="T4" fmla="*/ 0 w 23845"/>
                <a:gd name="T5" fmla="*/ 0 h 41623"/>
                <a:gd name="T6" fmla="*/ 0 60000 65536"/>
                <a:gd name="T7" fmla="*/ 0 60000 65536"/>
                <a:gd name="T8" fmla="*/ 0 60000 65536"/>
              </a:gdLst>
              <a:ahLst/>
              <a:cxnLst>
                <a:cxn ang="T6">
                  <a:pos x="T0" y="T1"/>
                </a:cxn>
                <a:cxn ang="T7">
                  <a:pos x="T2" y="T3"/>
                </a:cxn>
                <a:cxn ang="T8">
                  <a:pos x="T4" y="T5"/>
                </a:cxn>
              </a:cxnLst>
              <a:rect l="0" t="0" r="r" b="b"/>
              <a:pathLst>
                <a:path w="23845" h="41623" fill="none" extrusionOk="0">
                  <a:moveTo>
                    <a:pt x="23845" y="41506"/>
                  </a:moveTo>
                  <a:cubicBezTo>
                    <a:pt x="23099" y="41583"/>
                    <a:pt x="22349" y="41622"/>
                    <a:pt x="21600" y="41623"/>
                  </a:cubicBezTo>
                  <a:cubicBezTo>
                    <a:pt x="9670" y="41623"/>
                    <a:pt x="0" y="31952"/>
                    <a:pt x="0" y="20023"/>
                  </a:cubicBezTo>
                  <a:cubicBezTo>
                    <a:pt x="-1" y="11222"/>
                    <a:pt x="5339" y="3301"/>
                    <a:pt x="13498" y="0"/>
                  </a:cubicBezTo>
                </a:path>
                <a:path w="23845" h="41623" stroke="0" extrusionOk="0">
                  <a:moveTo>
                    <a:pt x="23845" y="41506"/>
                  </a:moveTo>
                  <a:cubicBezTo>
                    <a:pt x="23099" y="41583"/>
                    <a:pt x="22349" y="41622"/>
                    <a:pt x="21600" y="41623"/>
                  </a:cubicBezTo>
                  <a:cubicBezTo>
                    <a:pt x="9670" y="41623"/>
                    <a:pt x="0" y="31952"/>
                    <a:pt x="0" y="20023"/>
                  </a:cubicBezTo>
                  <a:cubicBezTo>
                    <a:pt x="-1" y="11222"/>
                    <a:pt x="5339" y="3301"/>
                    <a:pt x="13498" y="0"/>
                  </a:cubicBezTo>
                  <a:lnTo>
                    <a:pt x="21600" y="20023"/>
                  </a:lnTo>
                  <a:lnTo>
                    <a:pt x="23845" y="41506"/>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6" name="Arc 12">
              <a:extLst>
                <a:ext uri="{FF2B5EF4-FFF2-40B4-BE49-F238E27FC236}">
                  <a16:creationId xmlns:a16="http://schemas.microsoft.com/office/drawing/2014/main" id="{6D5A3B8D-B136-0E87-4684-D1DB441BA830}"/>
                </a:ext>
              </a:extLst>
            </p:cNvPr>
            <p:cNvSpPr>
              <a:spLocks/>
            </p:cNvSpPr>
            <p:nvPr/>
          </p:nvSpPr>
          <p:spPr bwMode="auto">
            <a:xfrm rot="10800000">
              <a:off x="3491" y="1394"/>
              <a:ext cx="546" cy="504"/>
            </a:xfrm>
            <a:custGeom>
              <a:avLst/>
              <a:gdLst>
                <a:gd name="T0" fmla="*/ 0 w 23832"/>
                <a:gd name="T1" fmla="*/ 0 h 39607"/>
                <a:gd name="T2" fmla="*/ 0 w 23832"/>
                <a:gd name="T3" fmla="*/ 0 h 39607"/>
                <a:gd name="T4" fmla="*/ 0 w 23832"/>
                <a:gd name="T5" fmla="*/ 0 h 39607"/>
                <a:gd name="T6" fmla="*/ 0 60000 65536"/>
                <a:gd name="T7" fmla="*/ 0 60000 65536"/>
                <a:gd name="T8" fmla="*/ 0 60000 65536"/>
              </a:gdLst>
              <a:ahLst/>
              <a:cxnLst>
                <a:cxn ang="T6">
                  <a:pos x="T0" y="T1"/>
                </a:cxn>
                <a:cxn ang="T7">
                  <a:pos x="T2" y="T3"/>
                </a:cxn>
                <a:cxn ang="T8">
                  <a:pos x="T4" y="T5"/>
                </a:cxn>
              </a:cxnLst>
              <a:rect l="0" t="0" r="r" b="b"/>
              <a:pathLst>
                <a:path w="23832" h="39607" fill="none" extrusionOk="0">
                  <a:moveTo>
                    <a:pt x="23832" y="39491"/>
                  </a:moveTo>
                  <a:cubicBezTo>
                    <a:pt x="23090" y="39568"/>
                    <a:pt x="22345" y="39606"/>
                    <a:pt x="21600" y="39607"/>
                  </a:cubicBezTo>
                  <a:cubicBezTo>
                    <a:pt x="9670" y="39607"/>
                    <a:pt x="0" y="29936"/>
                    <a:pt x="0" y="18007"/>
                  </a:cubicBezTo>
                  <a:cubicBezTo>
                    <a:pt x="-1" y="10762"/>
                    <a:pt x="3631" y="4001"/>
                    <a:pt x="9670" y="0"/>
                  </a:cubicBezTo>
                </a:path>
                <a:path w="23832" h="39607" stroke="0" extrusionOk="0">
                  <a:moveTo>
                    <a:pt x="23832" y="39491"/>
                  </a:moveTo>
                  <a:cubicBezTo>
                    <a:pt x="23090" y="39568"/>
                    <a:pt x="22345" y="39606"/>
                    <a:pt x="21600" y="39607"/>
                  </a:cubicBezTo>
                  <a:cubicBezTo>
                    <a:pt x="9670" y="39607"/>
                    <a:pt x="0" y="29936"/>
                    <a:pt x="0" y="18007"/>
                  </a:cubicBezTo>
                  <a:cubicBezTo>
                    <a:pt x="-1" y="10762"/>
                    <a:pt x="3631" y="4001"/>
                    <a:pt x="9670" y="0"/>
                  </a:cubicBezTo>
                  <a:lnTo>
                    <a:pt x="21600" y="18007"/>
                  </a:lnTo>
                  <a:lnTo>
                    <a:pt x="23832" y="39491"/>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7" name="Arc 13">
              <a:extLst>
                <a:ext uri="{FF2B5EF4-FFF2-40B4-BE49-F238E27FC236}">
                  <a16:creationId xmlns:a16="http://schemas.microsoft.com/office/drawing/2014/main" id="{C0030027-16F9-487E-453F-D3FDCD54A533}"/>
                </a:ext>
              </a:extLst>
            </p:cNvPr>
            <p:cNvSpPr>
              <a:spLocks/>
            </p:cNvSpPr>
            <p:nvPr/>
          </p:nvSpPr>
          <p:spPr bwMode="auto">
            <a:xfrm>
              <a:off x="3164" y="2064"/>
              <a:ext cx="784" cy="193"/>
            </a:xfrm>
            <a:custGeom>
              <a:avLst/>
              <a:gdLst>
                <a:gd name="T0" fmla="*/ 0 w 32830"/>
                <a:gd name="T1" fmla="*/ 0 h 29122"/>
                <a:gd name="T2" fmla="*/ 0 w 32830"/>
                <a:gd name="T3" fmla="*/ 0 h 29122"/>
                <a:gd name="T4" fmla="*/ 0 w 32830"/>
                <a:gd name="T5" fmla="*/ 0 h 29122"/>
                <a:gd name="T6" fmla="*/ 0 60000 65536"/>
                <a:gd name="T7" fmla="*/ 0 60000 65536"/>
                <a:gd name="T8" fmla="*/ 0 60000 65536"/>
              </a:gdLst>
              <a:ahLst/>
              <a:cxnLst>
                <a:cxn ang="T6">
                  <a:pos x="T0" y="T1"/>
                </a:cxn>
                <a:cxn ang="T7">
                  <a:pos x="T2" y="T3"/>
                </a:cxn>
                <a:cxn ang="T8">
                  <a:pos x="T4" y="T5"/>
                </a:cxn>
              </a:cxnLst>
              <a:rect l="0" t="0" r="r" b="b"/>
              <a:pathLst>
                <a:path w="32830" h="29122" fill="none" extrusionOk="0">
                  <a:moveTo>
                    <a:pt x="31477" y="0"/>
                  </a:moveTo>
                  <a:cubicBezTo>
                    <a:pt x="32372" y="2407"/>
                    <a:pt x="32830" y="4954"/>
                    <a:pt x="32830" y="7522"/>
                  </a:cubicBezTo>
                  <a:cubicBezTo>
                    <a:pt x="32830" y="19451"/>
                    <a:pt x="23159" y="29122"/>
                    <a:pt x="11230" y="29122"/>
                  </a:cubicBezTo>
                  <a:cubicBezTo>
                    <a:pt x="7268" y="29122"/>
                    <a:pt x="3383" y="28032"/>
                    <a:pt x="-1" y="25973"/>
                  </a:cubicBezTo>
                </a:path>
                <a:path w="32830" h="29122" stroke="0" extrusionOk="0">
                  <a:moveTo>
                    <a:pt x="31477" y="0"/>
                  </a:moveTo>
                  <a:cubicBezTo>
                    <a:pt x="32372" y="2407"/>
                    <a:pt x="32830" y="4954"/>
                    <a:pt x="32830" y="7522"/>
                  </a:cubicBezTo>
                  <a:cubicBezTo>
                    <a:pt x="32830" y="19451"/>
                    <a:pt x="23159" y="29122"/>
                    <a:pt x="11230" y="29122"/>
                  </a:cubicBezTo>
                  <a:cubicBezTo>
                    <a:pt x="7268" y="29122"/>
                    <a:pt x="3383" y="28032"/>
                    <a:pt x="-1" y="25973"/>
                  </a:cubicBezTo>
                  <a:lnTo>
                    <a:pt x="11230" y="7522"/>
                  </a:lnTo>
                  <a:lnTo>
                    <a:pt x="31477" y="0"/>
                  </a:lnTo>
                  <a:close/>
                </a:path>
              </a:pathLst>
            </a:custGeom>
            <a:noFill/>
            <a:ln w="25400" cap="rnd">
              <a:solidFill>
                <a:srgbClr val="FF5050"/>
              </a:solidFill>
              <a:round/>
              <a:headEnd type="none" w="sm" len="sm"/>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8" name="Arc 14">
              <a:extLst>
                <a:ext uri="{FF2B5EF4-FFF2-40B4-BE49-F238E27FC236}">
                  <a16:creationId xmlns:a16="http://schemas.microsoft.com/office/drawing/2014/main" id="{FC7526CD-FE6D-469F-1B7F-B1BDC51B8916}"/>
                </a:ext>
              </a:extLst>
            </p:cNvPr>
            <p:cNvSpPr>
              <a:spLocks/>
            </p:cNvSpPr>
            <p:nvPr/>
          </p:nvSpPr>
          <p:spPr bwMode="auto">
            <a:xfrm>
              <a:off x="2946" y="2304"/>
              <a:ext cx="1002" cy="193"/>
            </a:xfrm>
            <a:custGeom>
              <a:avLst/>
              <a:gdLst>
                <a:gd name="T0" fmla="*/ 0 w 41950"/>
                <a:gd name="T1" fmla="*/ 0 h 29122"/>
                <a:gd name="T2" fmla="*/ 0 w 41950"/>
                <a:gd name="T3" fmla="*/ 0 h 29122"/>
                <a:gd name="T4" fmla="*/ 0 w 41950"/>
                <a:gd name="T5" fmla="*/ 0 h 29122"/>
                <a:gd name="T6" fmla="*/ 0 60000 65536"/>
                <a:gd name="T7" fmla="*/ 0 60000 65536"/>
                <a:gd name="T8" fmla="*/ 0 60000 65536"/>
              </a:gdLst>
              <a:ahLst/>
              <a:cxnLst>
                <a:cxn ang="T6">
                  <a:pos x="T0" y="T1"/>
                </a:cxn>
                <a:cxn ang="T7">
                  <a:pos x="T2" y="T3"/>
                </a:cxn>
                <a:cxn ang="T8">
                  <a:pos x="T4" y="T5"/>
                </a:cxn>
              </a:cxnLst>
              <a:rect l="0" t="0" r="r" b="b"/>
              <a:pathLst>
                <a:path w="41950" h="29122" fill="none" extrusionOk="0">
                  <a:moveTo>
                    <a:pt x="40597" y="0"/>
                  </a:moveTo>
                  <a:cubicBezTo>
                    <a:pt x="41492" y="2407"/>
                    <a:pt x="41950" y="4954"/>
                    <a:pt x="41950" y="7522"/>
                  </a:cubicBezTo>
                  <a:cubicBezTo>
                    <a:pt x="41950" y="19451"/>
                    <a:pt x="32279" y="29122"/>
                    <a:pt x="20350" y="29122"/>
                  </a:cubicBezTo>
                  <a:cubicBezTo>
                    <a:pt x="11212" y="29122"/>
                    <a:pt x="3063" y="23372"/>
                    <a:pt x="0" y="14763"/>
                  </a:cubicBezTo>
                </a:path>
                <a:path w="41950" h="29122" stroke="0" extrusionOk="0">
                  <a:moveTo>
                    <a:pt x="40597" y="0"/>
                  </a:moveTo>
                  <a:cubicBezTo>
                    <a:pt x="41492" y="2407"/>
                    <a:pt x="41950" y="4954"/>
                    <a:pt x="41950" y="7522"/>
                  </a:cubicBezTo>
                  <a:cubicBezTo>
                    <a:pt x="41950" y="19451"/>
                    <a:pt x="32279" y="29122"/>
                    <a:pt x="20350" y="29122"/>
                  </a:cubicBezTo>
                  <a:cubicBezTo>
                    <a:pt x="11212" y="29122"/>
                    <a:pt x="3063" y="23372"/>
                    <a:pt x="0" y="14763"/>
                  </a:cubicBezTo>
                  <a:lnTo>
                    <a:pt x="20350" y="7522"/>
                  </a:lnTo>
                  <a:lnTo>
                    <a:pt x="40597" y="0"/>
                  </a:lnTo>
                  <a:close/>
                </a:path>
              </a:pathLst>
            </a:custGeom>
            <a:noFill/>
            <a:ln w="25400" cap="rnd">
              <a:solidFill>
                <a:srgbClr val="FF5050"/>
              </a:solidFill>
              <a:round/>
              <a:headEnd type="none" w="sm" len="sm"/>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9" name="Arc 15">
              <a:extLst>
                <a:ext uri="{FF2B5EF4-FFF2-40B4-BE49-F238E27FC236}">
                  <a16:creationId xmlns:a16="http://schemas.microsoft.com/office/drawing/2014/main" id="{95749ADA-56A0-B547-ED01-A3CBAE0AD3FF}"/>
                </a:ext>
              </a:extLst>
            </p:cNvPr>
            <p:cNvSpPr>
              <a:spLocks/>
            </p:cNvSpPr>
            <p:nvPr/>
          </p:nvSpPr>
          <p:spPr bwMode="auto">
            <a:xfrm>
              <a:off x="3232" y="1840"/>
              <a:ext cx="717" cy="207"/>
            </a:xfrm>
            <a:custGeom>
              <a:avLst/>
              <a:gdLst>
                <a:gd name="T0" fmla="*/ 0 w 30006"/>
                <a:gd name="T1" fmla="*/ 0 h 31231"/>
                <a:gd name="T2" fmla="*/ 0 w 30006"/>
                <a:gd name="T3" fmla="*/ 0 h 31231"/>
                <a:gd name="T4" fmla="*/ 0 w 30006"/>
                <a:gd name="T5" fmla="*/ 0 h 31231"/>
                <a:gd name="T6" fmla="*/ 0 60000 65536"/>
                <a:gd name="T7" fmla="*/ 0 60000 65536"/>
                <a:gd name="T8" fmla="*/ 0 60000 65536"/>
              </a:gdLst>
              <a:ahLst/>
              <a:cxnLst>
                <a:cxn ang="T6">
                  <a:pos x="T0" y="T1"/>
                </a:cxn>
                <a:cxn ang="T7">
                  <a:pos x="T2" y="T3"/>
                </a:cxn>
                <a:cxn ang="T8">
                  <a:pos x="T4" y="T5"/>
                </a:cxn>
              </a:cxnLst>
              <a:rect l="0" t="0" r="r" b="b"/>
              <a:pathLst>
                <a:path w="30006" h="31231" fill="none" extrusionOk="0">
                  <a:moveTo>
                    <a:pt x="27740" y="-1"/>
                  </a:moveTo>
                  <a:cubicBezTo>
                    <a:pt x="29230" y="2991"/>
                    <a:pt x="30006" y="6288"/>
                    <a:pt x="30006" y="9631"/>
                  </a:cubicBezTo>
                  <a:cubicBezTo>
                    <a:pt x="30006" y="21560"/>
                    <a:pt x="20335" y="31231"/>
                    <a:pt x="8406" y="31231"/>
                  </a:cubicBezTo>
                  <a:cubicBezTo>
                    <a:pt x="5518" y="31231"/>
                    <a:pt x="2659" y="30651"/>
                    <a:pt x="-1" y="29528"/>
                  </a:cubicBezTo>
                </a:path>
                <a:path w="30006" h="31231" stroke="0" extrusionOk="0">
                  <a:moveTo>
                    <a:pt x="27740" y="-1"/>
                  </a:moveTo>
                  <a:cubicBezTo>
                    <a:pt x="29230" y="2991"/>
                    <a:pt x="30006" y="6288"/>
                    <a:pt x="30006" y="9631"/>
                  </a:cubicBezTo>
                  <a:cubicBezTo>
                    <a:pt x="30006" y="21560"/>
                    <a:pt x="20335" y="31231"/>
                    <a:pt x="8406" y="31231"/>
                  </a:cubicBezTo>
                  <a:cubicBezTo>
                    <a:pt x="5518" y="31231"/>
                    <a:pt x="2659" y="30651"/>
                    <a:pt x="-1" y="29528"/>
                  </a:cubicBezTo>
                  <a:lnTo>
                    <a:pt x="8406" y="9631"/>
                  </a:lnTo>
                  <a:lnTo>
                    <a:pt x="27740" y="-1"/>
                  </a:lnTo>
                  <a:close/>
                </a:path>
              </a:pathLst>
            </a:custGeom>
            <a:noFill/>
            <a:ln w="25400" cap="rnd">
              <a:solidFill>
                <a:srgbClr val="FF5050"/>
              </a:solidFill>
              <a:round/>
              <a:headEnd type="none" w="sm" len="sm"/>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grpSp>
      <p:grpSp>
        <p:nvGrpSpPr>
          <p:cNvPr id="21" name="Group 16">
            <a:extLst>
              <a:ext uri="{FF2B5EF4-FFF2-40B4-BE49-F238E27FC236}">
                <a16:creationId xmlns:a16="http://schemas.microsoft.com/office/drawing/2014/main" id="{7E836503-CDB6-BEFD-2D56-A4EA717E506F}"/>
              </a:ext>
            </a:extLst>
          </p:cNvPr>
          <p:cNvGrpSpPr>
            <a:grpSpLocks/>
          </p:cNvGrpSpPr>
          <p:nvPr/>
        </p:nvGrpSpPr>
        <p:grpSpPr bwMode="auto">
          <a:xfrm>
            <a:off x="533400" y="4089400"/>
            <a:ext cx="8115300" cy="2771775"/>
            <a:chOff x="336" y="2576"/>
            <a:chExt cx="5112" cy="1746"/>
          </a:xfrm>
        </p:grpSpPr>
        <p:sp>
          <p:nvSpPr>
            <p:cNvPr id="22" name="Rectangle 17">
              <a:extLst>
                <a:ext uri="{FF2B5EF4-FFF2-40B4-BE49-F238E27FC236}">
                  <a16:creationId xmlns:a16="http://schemas.microsoft.com/office/drawing/2014/main" id="{3ABC03C7-003A-E787-05B5-738332977FBB}"/>
                </a:ext>
              </a:extLst>
            </p:cNvPr>
            <p:cNvSpPr>
              <a:spLocks noChangeArrowheads="1"/>
            </p:cNvSpPr>
            <p:nvPr/>
          </p:nvSpPr>
          <p:spPr bwMode="auto">
            <a:xfrm>
              <a:off x="339" y="2576"/>
              <a:ext cx="1353" cy="524"/>
            </a:xfrm>
            <a:prstGeom prst="rect">
              <a:avLst/>
            </a:prstGeom>
            <a:noFill/>
            <a:ln>
              <a:noFill/>
            </a:ln>
            <a:effectLst/>
          </p:spPr>
          <p:txBody>
            <a:bodyPr lIns="92075" tIns="46038" rIns="92075" bIns="46038">
              <a:spAutoFit/>
            </a:bodyPr>
            <a:lstStyle/>
            <a:p>
              <a:pPr algn="ctr">
                <a:spcBef>
                  <a:spcPct val="30000"/>
                </a:spcBef>
                <a:defRPr/>
              </a:pPr>
              <a:r>
                <a:rPr lang="en-US" b="1" dirty="0">
                  <a:effectLst>
                    <a:outerShdw blurRad="38100" dist="38100" dir="2700000" algn="tl">
                      <a:srgbClr val="FFFFFF"/>
                    </a:outerShdw>
                  </a:effectLst>
                  <a:latin typeface="Cambria" panose="02040503050406030204" pitchFamily="18" charset="0"/>
                  <a:ea typeface="Cambria" panose="02040503050406030204" pitchFamily="18" charset="0"/>
                </a:rPr>
                <a:t>Main query</a:t>
              </a:r>
              <a:br>
                <a:rPr lang="en-US" b="1" dirty="0">
                  <a:effectLst>
                    <a:outerShdw blurRad="38100" dist="38100" dir="2700000" algn="tl">
                      <a:srgbClr val="FFFFFF"/>
                    </a:outerShdw>
                  </a:effectLst>
                  <a:latin typeface="Cambria" panose="02040503050406030204" pitchFamily="18" charset="0"/>
                  <a:ea typeface="Cambria" panose="02040503050406030204" pitchFamily="18" charset="0"/>
                </a:rPr>
              </a:br>
              <a:r>
                <a:rPr lang="en-US" b="1" dirty="0">
                  <a:effectLst>
                    <a:outerShdw blurRad="38100" dist="38100" dir="2700000" algn="tl">
                      <a:srgbClr val="FFFFFF"/>
                    </a:outerShdw>
                  </a:effectLst>
                  <a:latin typeface="Cambria" panose="02040503050406030204" pitchFamily="18" charset="0"/>
                  <a:ea typeface="Cambria" panose="02040503050406030204" pitchFamily="18" charset="0"/>
                </a:rPr>
                <a:t>compares</a:t>
              </a:r>
            </a:p>
          </p:txBody>
        </p:sp>
        <p:sp>
          <p:nvSpPr>
            <p:cNvPr id="23" name="Rectangle 18">
              <a:extLst>
                <a:ext uri="{FF2B5EF4-FFF2-40B4-BE49-F238E27FC236}">
                  <a16:creationId xmlns:a16="http://schemas.microsoft.com/office/drawing/2014/main" id="{A5122939-A2C0-EB06-63B7-4653096E69CA}"/>
                </a:ext>
              </a:extLst>
            </p:cNvPr>
            <p:cNvSpPr>
              <a:spLocks noChangeArrowheads="1"/>
            </p:cNvSpPr>
            <p:nvPr/>
          </p:nvSpPr>
          <p:spPr bwMode="auto">
            <a:xfrm>
              <a:off x="533" y="3251"/>
              <a:ext cx="1062" cy="270"/>
            </a:xfrm>
            <a:prstGeom prst="rect">
              <a:avLst/>
            </a:prstGeom>
            <a:noFill/>
            <a:ln>
              <a:noFill/>
            </a:ln>
            <a:effectLst/>
          </p:spPr>
          <p:txBody>
            <a:bodyPr wrap="none" lIns="92075" tIns="46038" rIns="92075" bIns="46038">
              <a:spAutoFit/>
            </a:bodyPr>
            <a:lstStyle/>
            <a:p>
              <a:pPr algn="ctr">
                <a:lnSpc>
                  <a:spcPct val="120000"/>
                </a:lnSpc>
                <a:spcBef>
                  <a:spcPct val="60000"/>
                </a:spcBef>
                <a:defRPr/>
              </a:pPr>
              <a:r>
                <a:rPr lang="en-US" sz="2000" dirty="0">
                  <a:solidFill>
                    <a:srgbClr val="0000CC"/>
                  </a:solidFill>
                  <a:latin typeface="Cambria" panose="02040503050406030204" pitchFamily="18" charset="0"/>
                  <a:ea typeface="Cambria" panose="02040503050406030204" pitchFamily="18" charset="0"/>
                </a:rPr>
                <a:t>MANAGER 10</a:t>
              </a:r>
            </a:p>
          </p:txBody>
        </p:sp>
        <p:sp>
          <p:nvSpPr>
            <p:cNvPr id="24" name="Rectangle 19">
              <a:extLst>
                <a:ext uri="{FF2B5EF4-FFF2-40B4-BE49-F238E27FC236}">
                  <a16:creationId xmlns:a16="http://schemas.microsoft.com/office/drawing/2014/main" id="{CB67E483-FF80-EEF0-AFBD-82E51DFBC342}"/>
                </a:ext>
              </a:extLst>
            </p:cNvPr>
            <p:cNvSpPr>
              <a:spLocks noChangeArrowheads="1"/>
            </p:cNvSpPr>
            <p:nvPr/>
          </p:nvSpPr>
          <p:spPr bwMode="auto">
            <a:xfrm>
              <a:off x="2533" y="2610"/>
              <a:ext cx="2915" cy="524"/>
            </a:xfrm>
            <a:prstGeom prst="rect">
              <a:avLst/>
            </a:prstGeom>
            <a:noFill/>
            <a:ln>
              <a:noFill/>
            </a:ln>
            <a:effectLst/>
          </p:spPr>
          <p:txBody>
            <a:bodyPr wrap="none" lIns="92075" tIns="46038" rIns="92075" bIns="46038">
              <a:spAutoFit/>
            </a:bodyPr>
            <a:lstStyle/>
            <a:p>
              <a:pPr algn="ctr">
                <a:spcBef>
                  <a:spcPct val="60000"/>
                </a:spcBef>
                <a:defRPr/>
              </a:pPr>
              <a:r>
                <a:rPr lang="en-US" b="1" dirty="0">
                  <a:effectLst>
                    <a:outerShdw blurRad="38100" dist="38100" dir="2700000" algn="tl">
                      <a:srgbClr val="FFFFFF"/>
                    </a:outerShdw>
                  </a:effectLst>
                  <a:latin typeface="Cambria" panose="02040503050406030204" pitchFamily="18" charset="0"/>
                  <a:ea typeface="Cambria" panose="02040503050406030204" pitchFamily="18" charset="0"/>
                </a:rPr>
                <a:t>Values from a multiple-row and</a:t>
              </a:r>
              <a:br>
                <a:rPr lang="en-US" b="1" dirty="0">
                  <a:effectLst>
                    <a:outerShdw blurRad="38100" dist="38100" dir="2700000" algn="tl">
                      <a:srgbClr val="FFFFFF"/>
                    </a:outerShdw>
                  </a:effectLst>
                  <a:latin typeface="Cambria" panose="02040503050406030204" pitchFamily="18" charset="0"/>
                  <a:ea typeface="Cambria" panose="02040503050406030204" pitchFamily="18" charset="0"/>
                </a:rPr>
              </a:br>
              <a:r>
                <a:rPr lang="en-US" b="1" dirty="0">
                  <a:effectLst>
                    <a:outerShdw blurRad="38100" dist="38100" dir="2700000" algn="tl">
                      <a:srgbClr val="FFFFFF"/>
                    </a:outerShdw>
                  </a:effectLst>
                  <a:latin typeface="Cambria" panose="02040503050406030204" pitchFamily="18" charset="0"/>
                  <a:ea typeface="Cambria" panose="02040503050406030204" pitchFamily="18" charset="0"/>
                </a:rPr>
                <a:t>multiple-column subquery</a:t>
              </a:r>
            </a:p>
          </p:txBody>
        </p:sp>
        <p:sp>
          <p:nvSpPr>
            <p:cNvPr id="25" name="Rectangle 20">
              <a:extLst>
                <a:ext uri="{FF2B5EF4-FFF2-40B4-BE49-F238E27FC236}">
                  <a16:creationId xmlns:a16="http://schemas.microsoft.com/office/drawing/2014/main" id="{FC7EBDDC-8912-A32A-AC7F-11AF688D66CD}"/>
                </a:ext>
              </a:extLst>
            </p:cNvPr>
            <p:cNvSpPr>
              <a:spLocks noChangeArrowheads="1"/>
            </p:cNvSpPr>
            <p:nvPr/>
          </p:nvSpPr>
          <p:spPr bwMode="auto">
            <a:xfrm>
              <a:off x="3542" y="3238"/>
              <a:ext cx="1169" cy="1084"/>
            </a:xfrm>
            <a:prstGeom prst="rect">
              <a:avLst/>
            </a:prstGeom>
            <a:noFill/>
            <a:ln>
              <a:noFill/>
            </a:ln>
            <a:effectLst/>
          </p:spPr>
          <p:txBody>
            <a:bodyPr wrap="none" lIns="92075" tIns="46038" rIns="92075" bIns="46038">
              <a:spAutoFit/>
            </a:bodyPr>
            <a:lstStyle/>
            <a:p>
              <a:pPr>
                <a:lnSpc>
                  <a:spcPct val="120000"/>
                </a:lnSpc>
                <a:spcBef>
                  <a:spcPct val="60000"/>
                </a:spcBef>
                <a:tabLst>
                  <a:tab pos="1371600" algn="l"/>
                </a:tabLst>
                <a:defRPr/>
              </a:pPr>
              <a:r>
                <a:rPr lang="en-US" sz="2000" dirty="0">
                  <a:solidFill>
                    <a:srgbClr val="FF0000"/>
                  </a:solidFill>
                  <a:latin typeface="Cambria" panose="02040503050406030204" pitchFamily="18" charset="0"/>
                  <a:ea typeface="Cambria" panose="02040503050406030204" pitchFamily="18" charset="0"/>
                </a:rPr>
                <a:t>SALESMAN 	30</a:t>
              </a:r>
              <a:br>
                <a:rPr lang="en-US" sz="2000" dirty="0">
                  <a:solidFill>
                    <a:srgbClr val="FF0000"/>
                  </a:solidFill>
                  <a:latin typeface="Cambria" panose="02040503050406030204" pitchFamily="18" charset="0"/>
                  <a:ea typeface="Cambria" panose="02040503050406030204" pitchFamily="18" charset="0"/>
                </a:rPr>
              </a:br>
              <a:r>
                <a:rPr lang="en-US" sz="2000" dirty="0">
                  <a:solidFill>
                    <a:srgbClr val="FF0000"/>
                  </a:solidFill>
                  <a:latin typeface="Cambria" panose="02040503050406030204" pitchFamily="18" charset="0"/>
                  <a:ea typeface="Cambria" panose="02040503050406030204" pitchFamily="18" charset="0"/>
                </a:rPr>
                <a:t>MANAGER 	10</a:t>
              </a:r>
              <a:br>
                <a:rPr lang="en-US" sz="2000" dirty="0">
                  <a:solidFill>
                    <a:srgbClr val="FF0000"/>
                  </a:solidFill>
                  <a:latin typeface="Cambria" panose="02040503050406030204" pitchFamily="18" charset="0"/>
                  <a:ea typeface="Cambria" panose="02040503050406030204" pitchFamily="18" charset="0"/>
                </a:rPr>
              </a:br>
              <a:r>
                <a:rPr lang="en-US" sz="2000" dirty="0">
                  <a:solidFill>
                    <a:srgbClr val="FF0000"/>
                  </a:solidFill>
                  <a:latin typeface="Cambria" panose="02040503050406030204" pitchFamily="18" charset="0"/>
                  <a:ea typeface="Cambria" panose="02040503050406030204" pitchFamily="18" charset="0"/>
                </a:rPr>
                <a:t>CLERK        	20</a:t>
              </a:r>
            </a:p>
            <a:p>
              <a:pPr>
                <a:lnSpc>
                  <a:spcPct val="120000"/>
                </a:lnSpc>
                <a:spcBef>
                  <a:spcPct val="60000"/>
                </a:spcBef>
                <a:tabLst>
                  <a:tab pos="1371600" algn="l"/>
                </a:tabLst>
                <a:defRPr/>
              </a:pPr>
              <a:endParaRPr lang="en-US" sz="2000" dirty="0">
                <a:solidFill>
                  <a:srgbClr val="FF0000"/>
                </a:solidFill>
                <a:latin typeface="Cambria" panose="02040503050406030204" pitchFamily="18" charset="0"/>
                <a:ea typeface="Cambria" panose="02040503050406030204" pitchFamily="18" charset="0"/>
              </a:endParaRPr>
            </a:p>
          </p:txBody>
        </p:sp>
        <p:sp>
          <p:nvSpPr>
            <p:cNvPr id="26" name="Rectangle 21">
              <a:extLst>
                <a:ext uri="{FF2B5EF4-FFF2-40B4-BE49-F238E27FC236}">
                  <a16:creationId xmlns:a16="http://schemas.microsoft.com/office/drawing/2014/main" id="{20CA1422-8E1A-1097-0F72-C1CC72D7287A}"/>
                </a:ext>
              </a:extLst>
            </p:cNvPr>
            <p:cNvSpPr>
              <a:spLocks noChangeArrowheads="1"/>
            </p:cNvSpPr>
            <p:nvPr/>
          </p:nvSpPr>
          <p:spPr bwMode="auto">
            <a:xfrm>
              <a:off x="1950" y="2696"/>
              <a:ext cx="295" cy="312"/>
            </a:xfrm>
            <a:prstGeom prst="rect">
              <a:avLst/>
            </a:prstGeom>
            <a:noFill/>
            <a:ln>
              <a:noFill/>
            </a:ln>
            <a:effectLst/>
          </p:spPr>
          <p:txBody>
            <a:bodyPr wrap="none" lIns="92075" tIns="46038" rIns="92075" bIns="46038">
              <a:spAutoFit/>
            </a:bodyPr>
            <a:lstStyle/>
            <a:p>
              <a:pPr algn="ctr">
                <a:lnSpc>
                  <a:spcPct val="120000"/>
                </a:lnSpc>
                <a:spcBef>
                  <a:spcPct val="60000"/>
                </a:spcBef>
                <a:defRPr/>
              </a:pPr>
              <a:r>
                <a:rPr lang="en-US" b="1">
                  <a:effectLst>
                    <a:outerShdw blurRad="38100" dist="38100" dir="2700000" algn="tl">
                      <a:srgbClr val="FFFFFF"/>
                    </a:outerShdw>
                  </a:effectLst>
                  <a:latin typeface="Cambria" panose="02040503050406030204" pitchFamily="18" charset="0"/>
                  <a:ea typeface="Cambria" panose="02040503050406030204" pitchFamily="18" charset="0"/>
                </a:rPr>
                <a:t>to</a:t>
              </a:r>
            </a:p>
          </p:txBody>
        </p:sp>
        <p:sp>
          <p:nvSpPr>
            <p:cNvPr id="27" name="Line 22">
              <a:extLst>
                <a:ext uri="{FF2B5EF4-FFF2-40B4-BE49-F238E27FC236}">
                  <a16:creationId xmlns:a16="http://schemas.microsoft.com/office/drawing/2014/main" id="{15B78B9C-3650-BEC1-4A4A-413E2694C05F}"/>
                </a:ext>
              </a:extLst>
            </p:cNvPr>
            <p:cNvSpPr>
              <a:spLocks noChangeShapeType="1"/>
            </p:cNvSpPr>
            <p:nvPr/>
          </p:nvSpPr>
          <p:spPr bwMode="auto">
            <a:xfrm>
              <a:off x="336" y="3204"/>
              <a:ext cx="5100" cy="0"/>
            </a:xfrm>
            <a:prstGeom prst="line">
              <a:avLst/>
            </a:prstGeom>
            <a:noFill/>
            <a:ln w="25400">
              <a:solidFill>
                <a:srgbClr val="DDDDDD"/>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42553775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1300C-05D3-7382-9994-EB23A563357C}"/>
            </a:ext>
          </a:extLst>
        </p:cNvPr>
        <p:cNvGrpSpPr/>
        <p:nvPr/>
      </p:nvGrpSpPr>
      <p:grpSpPr>
        <a:xfrm>
          <a:off x="0" y="0"/>
          <a:ext cx="0" cy="0"/>
          <a:chOff x="0" y="0"/>
          <a:chExt cx="0" cy="0"/>
        </a:xfrm>
      </p:grpSpPr>
      <p:sp>
        <p:nvSpPr>
          <p:cNvPr id="59394" name="Rectangle 2">
            <a:extLst>
              <a:ext uri="{FF2B5EF4-FFF2-40B4-BE49-F238E27FC236}">
                <a16:creationId xmlns:a16="http://schemas.microsoft.com/office/drawing/2014/main" id="{FEBCB230-1A84-6162-A1F1-89864FDEEF76}"/>
              </a:ext>
            </a:extLst>
          </p:cNvPr>
          <p:cNvSpPr>
            <a:spLocks noChangeArrowheads="1"/>
          </p:cNvSpPr>
          <p:nvPr/>
        </p:nvSpPr>
        <p:spPr bwMode="auto">
          <a:xfrm>
            <a:off x="4786313" y="1012180"/>
            <a:ext cx="3279775" cy="3136900"/>
          </a:xfrm>
          <a:prstGeom prst="rect">
            <a:avLst/>
          </a:prstGeom>
          <a:solidFill>
            <a:srgbClr val="FFFF99"/>
          </a:solidFill>
          <a:ln w="25400">
            <a:solidFill>
              <a:srgbClr val="000000"/>
            </a:solidFill>
            <a:miter lim="800000"/>
            <a:headEnd/>
            <a:tailEnd/>
          </a:ln>
          <a:effectLst>
            <a:outerShdw dist="71842"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59395" name="Rectangle 3">
            <a:extLst>
              <a:ext uri="{FF2B5EF4-FFF2-40B4-BE49-F238E27FC236}">
                <a16:creationId xmlns:a16="http://schemas.microsoft.com/office/drawing/2014/main" id="{A9A96149-6483-89CF-5764-CAA2627ECEF4}"/>
              </a:ext>
            </a:extLst>
          </p:cNvPr>
          <p:cNvSpPr>
            <a:spLocks noChangeArrowheads="1"/>
          </p:cNvSpPr>
          <p:nvPr/>
        </p:nvSpPr>
        <p:spPr bwMode="auto">
          <a:xfrm>
            <a:off x="1250950" y="1012180"/>
            <a:ext cx="3079750" cy="3136900"/>
          </a:xfrm>
          <a:prstGeom prst="rect">
            <a:avLst/>
          </a:prstGeom>
          <a:solidFill>
            <a:srgbClr val="FFFF99"/>
          </a:solidFill>
          <a:ln w="25400">
            <a:solidFill>
              <a:srgbClr val="000000"/>
            </a:solidFill>
            <a:miter lim="800000"/>
            <a:headEnd/>
            <a:tailEnd/>
          </a:ln>
          <a:effectLst>
            <a:outerShdw dist="71842"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59396" name="Rectangle 4">
            <a:extLst>
              <a:ext uri="{FF2B5EF4-FFF2-40B4-BE49-F238E27FC236}">
                <a16:creationId xmlns:a16="http://schemas.microsoft.com/office/drawing/2014/main" id="{8032D266-51DF-5F98-8B97-77144A8D6BF7}"/>
              </a:ext>
            </a:extLst>
          </p:cNvPr>
          <p:cNvSpPr>
            <a:spLocks noGrp="1" noChangeArrowheads="1"/>
          </p:cNvSpPr>
          <p:nvPr>
            <p:ph type="title"/>
          </p:nvPr>
        </p:nvSpPr>
        <p:spPr>
          <a:xfrm>
            <a:off x="454025" y="188640"/>
            <a:ext cx="3778250"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Column Comparisons</a:t>
            </a:r>
          </a:p>
        </p:txBody>
      </p:sp>
      <p:sp>
        <p:nvSpPr>
          <p:cNvPr id="59397" name="Rectangle 5">
            <a:extLst>
              <a:ext uri="{FF2B5EF4-FFF2-40B4-BE49-F238E27FC236}">
                <a16:creationId xmlns:a16="http://schemas.microsoft.com/office/drawing/2014/main" id="{1C0CDB77-4F25-6284-7184-3B572DDA060F}"/>
              </a:ext>
            </a:extLst>
          </p:cNvPr>
          <p:cNvSpPr>
            <a:spLocks noChangeArrowheads="1"/>
          </p:cNvSpPr>
          <p:nvPr/>
        </p:nvSpPr>
        <p:spPr bwMode="ltGray">
          <a:xfrm>
            <a:off x="1360488" y="1520180"/>
            <a:ext cx="2871787" cy="2455863"/>
          </a:xfrm>
          <a:prstGeom prst="rect">
            <a:avLst/>
          </a:prstGeom>
          <a:gradFill rotWithShape="0">
            <a:gsLst>
              <a:gs pos="0">
                <a:srgbClr val="5C5CE5"/>
              </a:gs>
              <a:gs pos="50000">
                <a:srgbClr val="6666FF"/>
              </a:gs>
              <a:gs pos="100000">
                <a:srgbClr val="5C5CE5"/>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59398" name="Rectangle 6">
            <a:extLst>
              <a:ext uri="{FF2B5EF4-FFF2-40B4-BE49-F238E27FC236}">
                <a16:creationId xmlns:a16="http://schemas.microsoft.com/office/drawing/2014/main" id="{2ECE2C43-8A71-EB38-756E-297800C44CB3}"/>
              </a:ext>
            </a:extLst>
          </p:cNvPr>
          <p:cNvSpPr>
            <a:spLocks noChangeArrowheads="1"/>
          </p:cNvSpPr>
          <p:nvPr/>
        </p:nvSpPr>
        <p:spPr bwMode="auto">
          <a:xfrm>
            <a:off x="2179270" y="1010593"/>
            <a:ext cx="1211998" cy="428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000" b="1">
                <a:solidFill>
                  <a:srgbClr val="000000"/>
                </a:solidFill>
                <a:latin typeface="Cambria" panose="02040503050406030204" pitchFamily="18" charset="0"/>
                <a:ea typeface="Cambria" panose="02040503050406030204" pitchFamily="18" charset="0"/>
              </a:rPr>
              <a:t>Pairwise</a:t>
            </a:r>
          </a:p>
        </p:txBody>
      </p:sp>
      <p:sp>
        <p:nvSpPr>
          <p:cNvPr id="59399" name="Rectangle 7">
            <a:extLst>
              <a:ext uri="{FF2B5EF4-FFF2-40B4-BE49-F238E27FC236}">
                <a16:creationId xmlns:a16="http://schemas.microsoft.com/office/drawing/2014/main" id="{7414DEF8-D343-D518-0250-9D6C0157C844}"/>
              </a:ext>
            </a:extLst>
          </p:cNvPr>
          <p:cNvSpPr>
            <a:spLocks noChangeArrowheads="1"/>
          </p:cNvSpPr>
          <p:nvPr/>
        </p:nvSpPr>
        <p:spPr bwMode="auto">
          <a:xfrm>
            <a:off x="1058863" y="1536055"/>
            <a:ext cx="4178300" cy="240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139825" algn="r"/>
                <a:tab pos="2857500" algn="r"/>
              </a:tabLst>
              <a:defRPr sz="2800">
                <a:solidFill>
                  <a:schemeClr val="tx1"/>
                </a:solidFill>
                <a:latin typeface="Arial" panose="020B0604020202020204" pitchFamily="34" charset="0"/>
              </a:defRPr>
            </a:lvl1pPr>
            <a:lvl2pPr marL="742950" indent="-285750">
              <a:spcBef>
                <a:spcPct val="20000"/>
              </a:spcBef>
              <a:buChar char="–"/>
              <a:tabLst>
                <a:tab pos="1139825" algn="r"/>
                <a:tab pos="2857500" algn="r"/>
              </a:tabLst>
              <a:defRPr sz="2400">
                <a:solidFill>
                  <a:schemeClr val="tx1"/>
                </a:solidFill>
                <a:latin typeface="Arial" panose="020B0604020202020204" pitchFamily="34" charset="0"/>
              </a:defRPr>
            </a:lvl2pPr>
            <a:lvl3pPr marL="1143000" indent="-228600">
              <a:spcBef>
                <a:spcPct val="20000"/>
              </a:spcBef>
              <a:buChar char="•"/>
              <a:tabLst>
                <a:tab pos="1139825" algn="r"/>
                <a:tab pos="2857500" algn="r"/>
              </a:tabLst>
              <a:defRPr sz="2000">
                <a:solidFill>
                  <a:schemeClr val="tx1"/>
                </a:solidFill>
                <a:latin typeface="Arial" panose="020B0604020202020204" pitchFamily="34" charset="0"/>
              </a:defRPr>
            </a:lvl3pPr>
            <a:lvl4pPr marL="1600200" indent="-228600">
              <a:spcBef>
                <a:spcPct val="20000"/>
              </a:spcBef>
              <a:buChar char="–"/>
              <a:tabLst>
                <a:tab pos="1139825" algn="r"/>
                <a:tab pos="2857500" algn="r"/>
              </a:tabLst>
              <a:defRPr sz="2000">
                <a:solidFill>
                  <a:schemeClr val="tx1"/>
                </a:solidFill>
                <a:latin typeface="Arial" panose="020B0604020202020204" pitchFamily="34" charset="0"/>
              </a:defRPr>
            </a:lvl4pPr>
            <a:lvl5pPr marL="2057400" indent="-228600">
              <a:spcBef>
                <a:spcPct val="20000"/>
              </a:spcBef>
              <a:buChar char="»"/>
              <a:tabLst>
                <a:tab pos="1139825" algn="r"/>
                <a:tab pos="2857500" algn="r"/>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dirty="0">
                <a:solidFill>
                  <a:srgbClr val="000000"/>
                </a:solidFill>
                <a:latin typeface="Cambria" panose="02040503050406030204" pitchFamily="18" charset="0"/>
                <a:ea typeface="Cambria" panose="02040503050406030204" pitchFamily="18" charset="0"/>
              </a:rPr>
              <a:t>	</a:t>
            </a:r>
            <a:r>
              <a:rPr lang="en-US" altLang="en-US" sz="1800" b="1" dirty="0">
                <a:solidFill>
                  <a:schemeClr val="bg1"/>
                </a:solidFill>
                <a:latin typeface="Cambria" panose="02040503050406030204" pitchFamily="18" charset="0"/>
                <a:ea typeface="Cambria" panose="02040503050406030204" pitchFamily="18" charset="0"/>
              </a:rPr>
              <a:t>PRODID</a:t>
            </a:r>
            <a:r>
              <a:rPr lang="en-US" altLang="en-US" sz="1800" b="1" dirty="0">
                <a:solidFill>
                  <a:srgbClr val="000000"/>
                </a:solidFill>
                <a:latin typeface="Cambria" panose="02040503050406030204" pitchFamily="18" charset="0"/>
                <a:ea typeface="Cambria" panose="02040503050406030204" pitchFamily="18" charset="0"/>
              </a:rPr>
              <a:t>	</a:t>
            </a:r>
            <a:r>
              <a:rPr lang="en-US" altLang="en-US" sz="1800" b="1" dirty="0">
                <a:solidFill>
                  <a:schemeClr val="bg1"/>
                </a:solidFill>
                <a:latin typeface="Cambria" panose="02040503050406030204" pitchFamily="18" charset="0"/>
                <a:ea typeface="Cambria" panose="02040503050406030204" pitchFamily="18" charset="0"/>
              </a:rPr>
              <a:t>QTY</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101863	10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a:t>
            </a:r>
            <a:r>
              <a:rPr lang="en-US" altLang="en-US" sz="1800" b="1" dirty="0">
                <a:solidFill>
                  <a:srgbClr val="FFFF00"/>
                </a:solidFill>
                <a:latin typeface="Cambria" panose="02040503050406030204" pitchFamily="18" charset="0"/>
                <a:ea typeface="Cambria" panose="02040503050406030204" pitchFamily="18" charset="0"/>
              </a:rPr>
              <a:t>100861	20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a:t>
            </a:r>
            <a:r>
              <a:rPr lang="en-US" altLang="en-US" sz="1800" b="1" dirty="0">
                <a:solidFill>
                  <a:srgbClr val="FFFF00"/>
                </a:solidFill>
                <a:latin typeface="Cambria" panose="02040503050406030204" pitchFamily="18" charset="0"/>
                <a:ea typeface="Cambria" panose="02040503050406030204" pitchFamily="18" charset="0"/>
              </a:rPr>
              <a:t>102130	30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100890	35</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a:t>
            </a:r>
            <a:r>
              <a:rPr lang="en-US" altLang="en-US" sz="1800" b="1" dirty="0">
                <a:solidFill>
                  <a:srgbClr val="FFFF00"/>
                </a:solidFill>
                <a:latin typeface="Cambria" panose="02040503050406030204" pitchFamily="18" charset="0"/>
                <a:ea typeface="Cambria" panose="02040503050406030204" pitchFamily="18" charset="0"/>
              </a:rPr>
              <a:t>100870	50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101860	60</a:t>
            </a:r>
          </a:p>
        </p:txBody>
      </p:sp>
      <p:sp>
        <p:nvSpPr>
          <p:cNvPr id="59400" name="Line 8">
            <a:extLst>
              <a:ext uri="{FF2B5EF4-FFF2-40B4-BE49-F238E27FC236}">
                <a16:creationId xmlns:a16="http://schemas.microsoft.com/office/drawing/2014/main" id="{E8038412-A773-815D-B069-37EAF246CE6C}"/>
              </a:ext>
            </a:extLst>
          </p:cNvPr>
          <p:cNvSpPr>
            <a:spLocks noChangeShapeType="1"/>
          </p:cNvSpPr>
          <p:nvPr/>
        </p:nvSpPr>
        <p:spPr bwMode="auto">
          <a:xfrm>
            <a:off x="2476500" y="2409180"/>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01" name="Line 9">
            <a:extLst>
              <a:ext uri="{FF2B5EF4-FFF2-40B4-BE49-F238E27FC236}">
                <a16:creationId xmlns:a16="http://schemas.microsoft.com/office/drawing/2014/main" id="{033EDFE6-6550-E684-E0FB-4027AE24803C}"/>
              </a:ext>
            </a:extLst>
          </p:cNvPr>
          <p:cNvSpPr>
            <a:spLocks noChangeShapeType="1"/>
          </p:cNvSpPr>
          <p:nvPr/>
        </p:nvSpPr>
        <p:spPr bwMode="auto">
          <a:xfrm>
            <a:off x="2476500" y="2740968"/>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02" name="Line 10">
            <a:extLst>
              <a:ext uri="{FF2B5EF4-FFF2-40B4-BE49-F238E27FC236}">
                <a16:creationId xmlns:a16="http://schemas.microsoft.com/office/drawing/2014/main" id="{25088939-B51E-62CC-5DD9-DCF63998D301}"/>
              </a:ext>
            </a:extLst>
          </p:cNvPr>
          <p:cNvSpPr>
            <a:spLocks noChangeShapeType="1"/>
          </p:cNvSpPr>
          <p:nvPr/>
        </p:nvSpPr>
        <p:spPr bwMode="auto">
          <a:xfrm>
            <a:off x="2476500" y="3387080"/>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03" name="Rectangle 11">
            <a:extLst>
              <a:ext uri="{FF2B5EF4-FFF2-40B4-BE49-F238E27FC236}">
                <a16:creationId xmlns:a16="http://schemas.microsoft.com/office/drawing/2014/main" id="{AB7CFF97-E5C8-C8CD-31B1-E04482ED1B87}"/>
              </a:ext>
            </a:extLst>
          </p:cNvPr>
          <p:cNvSpPr>
            <a:spLocks noChangeArrowheads="1"/>
          </p:cNvSpPr>
          <p:nvPr/>
        </p:nvSpPr>
        <p:spPr bwMode="ltGray">
          <a:xfrm>
            <a:off x="4910138" y="1520180"/>
            <a:ext cx="3059112" cy="2455863"/>
          </a:xfrm>
          <a:prstGeom prst="rect">
            <a:avLst/>
          </a:prstGeom>
          <a:gradFill rotWithShape="0">
            <a:gsLst>
              <a:gs pos="0">
                <a:srgbClr val="5C5CE5"/>
              </a:gs>
              <a:gs pos="50000">
                <a:srgbClr val="6666FF"/>
              </a:gs>
              <a:gs pos="100000">
                <a:srgbClr val="5C5CE5"/>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59404" name="Rectangle 12">
            <a:extLst>
              <a:ext uri="{FF2B5EF4-FFF2-40B4-BE49-F238E27FC236}">
                <a16:creationId xmlns:a16="http://schemas.microsoft.com/office/drawing/2014/main" id="{E69DD428-AFA8-9869-D3FC-44E629D2AD15}"/>
              </a:ext>
            </a:extLst>
          </p:cNvPr>
          <p:cNvSpPr>
            <a:spLocks noChangeArrowheads="1"/>
          </p:cNvSpPr>
          <p:nvPr/>
        </p:nvSpPr>
        <p:spPr bwMode="auto">
          <a:xfrm>
            <a:off x="5532197" y="1010593"/>
            <a:ext cx="1691169" cy="428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000" b="1">
                <a:solidFill>
                  <a:srgbClr val="000000"/>
                </a:solidFill>
                <a:latin typeface="Cambria" panose="02040503050406030204" pitchFamily="18" charset="0"/>
                <a:ea typeface="Cambria" panose="02040503050406030204" pitchFamily="18" charset="0"/>
              </a:rPr>
              <a:t>Nonpairwise</a:t>
            </a:r>
          </a:p>
        </p:txBody>
      </p:sp>
      <p:sp>
        <p:nvSpPr>
          <p:cNvPr id="59405" name="Rectangle 13">
            <a:extLst>
              <a:ext uri="{FF2B5EF4-FFF2-40B4-BE49-F238E27FC236}">
                <a16:creationId xmlns:a16="http://schemas.microsoft.com/office/drawing/2014/main" id="{6D60D3F1-5839-752C-AA50-B40C4A43569F}"/>
              </a:ext>
            </a:extLst>
          </p:cNvPr>
          <p:cNvSpPr>
            <a:spLocks noChangeArrowheads="1"/>
          </p:cNvSpPr>
          <p:nvPr/>
        </p:nvSpPr>
        <p:spPr bwMode="auto">
          <a:xfrm>
            <a:off x="4651375" y="1536055"/>
            <a:ext cx="3786188" cy="240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139825" algn="r"/>
                <a:tab pos="2857500" algn="r"/>
              </a:tabLst>
              <a:defRPr sz="2800">
                <a:solidFill>
                  <a:schemeClr val="tx1"/>
                </a:solidFill>
                <a:latin typeface="Arial" panose="020B0604020202020204" pitchFamily="34" charset="0"/>
              </a:defRPr>
            </a:lvl1pPr>
            <a:lvl2pPr marL="742950" indent="-285750">
              <a:spcBef>
                <a:spcPct val="20000"/>
              </a:spcBef>
              <a:buChar char="–"/>
              <a:tabLst>
                <a:tab pos="1139825" algn="r"/>
                <a:tab pos="2857500" algn="r"/>
              </a:tabLst>
              <a:defRPr sz="2400">
                <a:solidFill>
                  <a:schemeClr val="tx1"/>
                </a:solidFill>
                <a:latin typeface="Arial" panose="020B0604020202020204" pitchFamily="34" charset="0"/>
              </a:defRPr>
            </a:lvl2pPr>
            <a:lvl3pPr marL="1143000" indent="-228600">
              <a:spcBef>
                <a:spcPct val="20000"/>
              </a:spcBef>
              <a:buChar char="•"/>
              <a:tabLst>
                <a:tab pos="1139825" algn="r"/>
                <a:tab pos="2857500" algn="r"/>
              </a:tabLst>
              <a:defRPr sz="2000">
                <a:solidFill>
                  <a:schemeClr val="tx1"/>
                </a:solidFill>
                <a:latin typeface="Arial" panose="020B0604020202020204" pitchFamily="34" charset="0"/>
              </a:defRPr>
            </a:lvl3pPr>
            <a:lvl4pPr marL="1600200" indent="-228600">
              <a:spcBef>
                <a:spcPct val="20000"/>
              </a:spcBef>
              <a:buChar char="–"/>
              <a:tabLst>
                <a:tab pos="1139825" algn="r"/>
                <a:tab pos="2857500" algn="r"/>
              </a:tabLst>
              <a:defRPr sz="2000">
                <a:solidFill>
                  <a:schemeClr val="tx1"/>
                </a:solidFill>
                <a:latin typeface="Arial" panose="020B0604020202020204" pitchFamily="34" charset="0"/>
              </a:defRPr>
            </a:lvl4pPr>
            <a:lvl5pPr marL="2057400" indent="-228600">
              <a:spcBef>
                <a:spcPct val="20000"/>
              </a:spcBef>
              <a:buChar char="»"/>
              <a:tabLst>
                <a:tab pos="1139825" algn="r"/>
                <a:tab pos="2857500" algn="r"/>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dirty="0">
                <a:solidFill>
                  <a:srgbClr val="000000"/>
                </a:solidFill>
                <a:latin typeface="Cambria" panose="02040503050406030204" pitchFamily="18" charset="0"/>
                <a:ea typeface="Cambria" panose="02040503050406030204" pitchFamily="18" charset="0"/>
              </a:rPr>
              <a:t>	</a:t>
            </a:r>
            <a:r>
              <a:rPr lang="en-US" altLang="en-US" sz="1800" b="1" dirty="0">
                <a:solidFill>
                  <a:schemeClr val="bg1"/>
                </a:solidFill>
                <a:latin typeface="Cambria" panose="02040503050406030204" pitchFamily="18" charset="0"/>
                <a:ea typeface="Cambria" panose="02040503050406030204" pitchFamily="18" charset="0"/>
              </a:rPr>
              <a:t>PRODID</a:t>
            </a:r>
            <a:r>
              <a:rPr lang="en-US" altLang="en-US" sz="1800" b="1" dirty="0">
                <a:solidFill>
                  <a:srgbClr val="000000"/>
                </a:solidFill>
                <a:latin typeface="Cambria" panose="02040503050406030204" pitchFamily="18" charset="0"/>
                <a:ea typeface="Cambria" panose="02040503050406030204" pitchFamily="18" charset="0"/>
              </a:rPr>
              <a:t>	</a:t>
            </a:r>
            <a:r>
              <a:rPr lang="en-US" altLang="en-US" sz="1800" b="1" dirty="0">
                <a:solidFill>
                  <a:schemeClr val="bg1"/>
                </a:solidFill>
                <a:latin typeface="Cambria" panose="02040503050406030204" pitchFamily="18" charset="0"/>
                <a:ea typeface="Cambria" panose="02040503050406030204" pitchFamily="18" charset="0"/>
              </a:rPr>
              <a:t>QTY</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101863	10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100861	20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102130	30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100890	35</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100870	50</a:t>
            </a:r>
            <a:br>
              <a:rPr lang="en-US" altLang="en-US" sz="1800" b="1" dirty="0">
                <a:solidFill>
                  <a:srgbClr val="000000"/>
                </a:solidFill>
                <a:latin typeface="Cambria" panose="02040503050406030204" pitchFamily="18" charset="0"/>
                <a:ea typeface="Cambria" panose="02040503050406030204" pitchFamily="18" charset="0"/>
              </a:rPr>
            </a:br>
            <a:r>
              <a:rPr lang="en-US" altLang="en-US" sz="1800" b="1" dirty="0">
                <a:solidFill>
                  <a:srgbClr val="000000"/>
                </a:solidFill>
                <a:latin typeface="Cambria" panose="02040503050406030204" pitchFamily="18" charset="0"/>
                <a:ea typeface="Cambria" panose="02040503050406030204" pitchFamily="18" charset="0"/>
              </a:rPr>
              <a:t>	101860	60</a:t>
            </a:r>
          </a:p>
        </p:txBody>
      </p:sp>
      <p:sp>
        <p:nvSpPr>
          <p:cNvPr id="59406" name="Line 14">
            <a:extLst>
              <a:ext uri="{FF2B5EF4-FFF2-40B4-BE49-F238E27FC236}">
                <a16:creationId xmlns:a16="http://schemas.microsoft.com/office/drawing/2014/main" id="{758B04DD-B972-E77E-A5B2-120883F4EA69}"/>
              </a:ext>
            </a:extLst>
          </p:cNvPr>
          <p:cNvSpPr>
            <a:spLocks noChangeShapeType="1"/>
          </p:cNvSpPr>
          <p:nvPr/>
        </p:nvSpPr>
        <p:spPr bwMode="auto">
          <a:xfrm>
            <a:off x="6092825" y="2420293"/>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07" name="Line 15">
            <a:extLst>
              <a:ext uri="{FF2B5EF4-FFF2-40B4-BE49-F238E27FC236}">
                <a16:creationId xmlns:a16="http://schemas.microsoft.com/office/drawing/2014/main" id="{39645DCC-2527-3CD7-6665-379D4F3962B0}"/>
              </a:ext>
            </a:extLst>
          </p:cNvPr>
          <p:cNvSpPr>
            <a:spLocks noChangeShapeType="1"/>
          </p:cNvSpPr>
          <p:nvPr/>
        </p:nvSpPr>
        <p:spPr bwMode="auto">
          <a:xfrm>
            <a:off x="6070600" y="2028180"/>
            <a:ext cx="1011238" cy="338138"/>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08" name="Line 16">
            <a:extLst>
              <a:ext uri="{FF2B5EF4-FFF2-40B4-BE49-F238E27FC236}">
                <a16:creationId xmlns:a16="http://schemas.microsoft.com/office/drawing/2014/main" id="{8CFD2ABB-8DAF-06D8-78F2-218ED89381D6}"/>
              </a:ext>
            </a:extLst>
          </p:cNvPr>
          <p:cNvSpPr>
            <a:spLocks noChangeShapeType="1"/>
          </p:cNvSpPr>
          <p:nvPr/>
        </p:nvSpPr>
        <p:spPr bwMode="auto">
          <a:xfrm flipV="1">
            <a:off x="6099175" y="2404418"/>
            <a:ext cx="1011238" cy="27305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09" name="Line 17">
            <a:extLst>
              <a:ext uri="{FF2B5EF4-FFF2-40B4-BE49-F238E27FC236}">
                <a16:creationId xmlns:a16="http://schemas.microsoft.com/office/drawing/2014/main" id="{3165C5AF-49B9-72C1-3B65-C46BA7ABF2E0}"/>
              </a:ext>
            </a:extLst>
          </p:cNvPr>
          <p:cNvSpPr>
            <a:spLocks noChangeShapeType="1"/>
          </p:cNvSpPr>
          <p:nvPr/>
        </p:nvSpPr>
        <p:spPr bwMode="auto">
          <a:xfrm flipH="1">
            <a:off x="6092825" y="3395018"/>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10" name="Line 18">
            <a:extLst>
              <a:ext uri="{FF2B5EF4-FFF2-40B4-BE49-F238E27FC236}">
                <a16:creationId xmlns:a16="http://schemas.microsoft.com/office/drawing/2014/main" id="{B3035F91-DFE4-6CA1-889A-0CDCB05399C0}"/>
              </a:ext>
            </a:extLst>
          </p:cNvPr>
          <p:cNvSpPr>
            <a:spLocks noChangeShapeType="1"/>
          </p:cNvSpPr>
          <p:nvPr/>
        </p:nvSpPr>
        <p:spPr bwMode="auto">
          <a:xfrm flipH="1" flipV="1">
            <a:off x="6084888" y="3106093"/>
            <a:ext cx="985837" cy="219075"/>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11" name="Line 19">
            <a:extLst>
              <a:ext uri="{FF2B5EF4-FFF2-40B4-BE49-F238E27FC236}">
                <a16:creationId xmlns:a16="http://schemas.microsoft.com/office/drawing/2014/main" id="{966DEFB5-BFC6-61FF-C4F2-FC1241C9A232}"/>
              </a:ext>
            </a:extLst>
          </p:cNvPr>
          <p:cNvSpPr>
            <a:spLocks noChangeShapeType="1"/>
          </p:cNvSpPr>
          <p:nvPr/>
        </p:nvSpPr>
        <p:spPr bwMode="auto">
          <a:xfrm flipH="1" flipV="1">
            <a:off x="6084888" y="2753668"/>
            <a:ext cx="995362" cy="504825"/>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59412" name="Line 20">
            <a:extLst>
              <a:ext uri="{FF2B5EF4-FFF2-40B4-BE49-F238E27FC236}">
                <a16:creationId xmlns:a16="http://schemas.microsoft.com/office/drawing/2014/main" id="{068CE5B7-63E9-2181-94D2-335B94E3B017}"/>
              </a:ext>
            </a:extLst>
          </p:cNvPr>
          <p:cNvSpPr>
            <a:spLocks noChangeShapeType="1"/>
          </p:cNvSpPr>
          <p:nvPr/>
        </p:nvSpPr>
        <p:spPr bwMode="auto">
          <a:xfrm>
            <a:off x="1709738" y="1399530"/>
            <a:ext cx="21717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59413" name="Line 21">
            <a:extLst>
              <a:ext uri="{FF2B5EF4-FFF2-40B4-BE49-F238E27FC236}">
                <a16:creationId xmlns:a16="http://schemas.microsoft.com/office/drawing/2014/main" id="{29A5566F-9EA2-FA44-29FA-E96832392359}"/>
              </a:ext>
            </a:extLst>
          </p:cNvPr>
          <p:cNvSpPr>
            <a:spLocks noChangeShapeType="1"/>
          </p:cNvSpPr>
          <p:nvPr/>
        </p:nvSpPr>
        <p:spPr bwMode="auto">
          <a:xfrm>
            <a:off x="5276850" y="1399530"/>
            <a:ext cx="21717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59414" name="Line 22">
            <a:extLst>
              <a:ext uri="{FF2B5EF4-FFF2-40B4-BE49-F238E27FC236}">
                <a16:creationId xmlns:a16="http://schemas.microsoft.com/office/drawing/2014/main" id="{F7214406-930E-67CE-61B4-B28BA4D37C65}"/>
              </a:ext>
            </a:extLst>
          </p:cNvPr>
          <p:cNvSpPr>
            <a:spLocks noChangeShapeType="1"/>
          </p:cNvSpPr>
          <p:nvPr/>
        </p:nvSpPr>
        <p:spPr bwMode="auto">
          <a:xfrm flipH="1" flipV="1">
            <a:off x="6129338" y="2725093"/>
            <a:ext cx="1038225" cy="11112"/>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6" name="Slide Number Placeholder 23">
            <a:extLst>
              <a:ext uri="{FF2B5EF4-FFF2-40B4-BE49-F238E27FC236}">
                <a16:creationId xmlns:a16="http://schemas.microsoft.com/office/drawing/2014/main" id="{51993ED1-23C1-A702-83F3-75F994666964}"/>
              </a:ext>
            </a:extLst>
          </p:cNvPr>
          <p:cNvSpPr txBox="1">
            <a:spLocks/>
          </p:cNvSpPr>
          <p:nvPr/>
        </p:nvSpPr>
        <p:spPr>
          <a:xfrm>
            <a:off x="8532440" y="6309320"/>
            <a:ext cx="427833" cy="457200"/>
          </a:xfrm>
          <a:prstGeom prst="ellipse">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lgn="ctr" eaLnBrk="1" fontAlgn="auto" hangingPunct="1">
              <a:spcBef>
                <a:spcPts val="0"/>
              </a:spcBef>
              <a:spcAft>
                <a:spcPts val="0"/>
              </a:spcAft>
              <a:defRPr/>
            </a:pPr>
            <a:fld id="{110F9843-0372-4357-99AD-419BEB3ABF28}" type="slidenum">
              <a:rPr lang="en-US" sz="1400" smtClean="0">
                <a:solidFill>
                  <a:srgbClr val="FFFFFF"/>
                </a:solidFill>
                <a:latin typeface="Franklin Gothic Book"/>
                <a:ea typeface="+mj-ea"/>
                <a:cs typeface="+mj-cs"/>
              </a:rPr>
              <a:pPr algn="ctr" eaLnBrk="1" fontAlgn="auto" hangingPunct="1">
                <a:spcBef>
                  <a:spcPts val="0"/>
                </a:spcBef>
                <a:spcAft>
                  <a:spcPts val="0"/>
                </a:spcAft>
                <a:defRPr/>
              </a:pPr>
              <a:t>26</a:t>
            </a:fld>
            <a:endParaRPr lang="en-US" sz="1400">
              <a:solidFill>
                <a:srgbClr val="FFFFFF"/>
              </a:solidFill>
              <a:latin typeface="Franklin Gothic Book"/>
              <a:ea typeface="+mj-ea"/>
              <a:cs typeface="+mj-cs"/>
            </a:endParaRPr>
          </a:p>
        </p:txBody>
      </p:sp>
      <p:sp>
        <p:nvSpPr>
          <p:cNvPr id="7" name="Footer Placeholder 2">
            <a:extLst>
              <a:ext uri="{FF2B5EF4-FFF2-40B4-BE49-F238E27FC236}">
                <a16:creationId xmlns:a16="http://schemas.microsoft.com/office/drawing/2014/main" id="{27343024-AB5F-3FDC-F995-B1EA876532C7}"/>
              </a:ext>
            </a:extLst>
          </p:cNvPr>
          <p:cNvSpPr txBox="1">
            <a:spLocks/>
          </p:cNvSpPr>
          <p:nvPr/>
        </p:nvSpPr>
        <p:spPr>
          <a:xfrm>
            <a:off x="2555776" y="6500192"/>
            <a:ext cx="4876800" cy="457200"/>
          </a:xfrm>
          <a:prstGeom prst="rect">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eaLnBrk="1" fontAlgn="auto" hangingPunct="1">
              <a:spcBef>
                <a:spcPts val="0"/>
              </a:spcBef>
              <a:spcAft>
                <a:spcPts val="0"/>
              </a:spcAft>
              <a:defRPr/>
            </a:pPr>
            <a:r>
              <a:rPr lang="en-US" sz="1400" b="1" dirty="0">
                <a:solidFill>
                  <a:srgbClr val="0000FF"/>
                </a:solidFill>
                <a:latin typeface="Perpetua"/>
              </a:rPr>
              <a:t>Dr. Asif Sohail,</a:t>
            </a:r>
            <a:r>
              <a:rPr lang="en-US" sz="1400" dirty="0">
                <a:solidFill>
                  <a:srgbClr val="696464"/>
                </a:solidFill>
                <a:latin typeface="Perpetua"/>
              </a:rPr>
              <a:t> Department of IT, </a:t>
            </a:r>
            <a:r>
              <a:rPr lang="en-US" sz="1400" dirty="0">
                <a:solidFill>
                  <a:srgbClr val="FF0000"/>
                </a:solidFill>
                <a:latin typeface="Perpetua"/>
              </a:rPr>
              <a:t>University of the Punjab, Lahore</a:t>
            </a:r>
          </a:p>
        </p:txBody>
      </p:sp>
    </p:spTree>
    <p:extLst>
      <p:ext uri="{BB962C8B-B14F-4D97-AF65-F5344CB8AC3E}">
        <p14:creationId xmlns:p14="http://schemas.microsoft.com/office/powerpoint/2010/main" val="3552983641"/>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3F0E-5494-B2BD-D705-7C643770F0B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3AA0C56-4DAA-531A-D2F5-3C2664DA8DC1}"/>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Pair-wise Column Comparisons</a:t>
            </a:r>
          </a:p>
        </p:txBody>
      </p:sp>
      <p:sp>
        <p:nvSpPr>
          <p:cNvPr id="38915" name="Rectangle 3">
            <a:extLst>
              <a:ext uri="{FF2B5EF4-FFF2-40B4-BE49-F238E27FC236}">
                <a16:creationId xmlns:a16="http://schemas.microsoft.com/office/drawing/2014/main" id="{7287B5F4-0B6B-B9F4-4EB5-41CE014CEF9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FF1F361-23B1-28A0-B9CF-836DA419CB2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BFFA3B2-BF1A-D708-4F82-3809970486CB}"/>
              </a:ext>
            </a:extLst>
          </p:cNvPr>
          <p:cNvSpPr txBox="1">
            <a:spLocks noChangeArrowheads="1"/>
          </p:cNvSpPr>
          <p:nvPr/>
        </p:nvSpPr>
        <p:spPr bwMode="auto">
          <a:xfrm>
            <a:off x="323528" y="669777"/>
            <a:ext cx="8641630" cy="1250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Clr>
                <a:srgbClr val="D34817"/>
              </a:buClr>
              <a:buSzPct val="50000"/>
              <a:buFont typeface="Wingdings" panose="05000000000000000000" pitchFamily="2" charset="2"/>
              <a:buChar char="l"/>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Display the invoice details of the items in which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both</a:t>
            </a: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 the product number and quantity of the items must be  identical with the pair (prod#, qty) of the order#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101.</a:t>
            </a:r>
          </a:p>
          <a:p>
            <a:pPr marL="285750" lvl="0" indent="-285750" algn="just">
              <a:buClr>
                <a:srgbClr val="D34817"/>
              </a:buClr>
              <a:buSzPct val="50000"/>
              <a:buFont typeface="Wingdings" panose="05000000000000000000" pitchFamily="2" charset="2"/>
              <a:buChar char="l"/>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0" lvl="0" indent="0" algn="just">
              <a:buClr>
                <a:srgbClr val="D34817"/>
              </a:buClr>
              <a:buSzPct val="50000"/>
              <a:buNone/>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457200" marR="0" lvl="0" indent="-457200" algn="just" defTabSz="914400" rtl="0" eaLnBrk="0" fontAlgn="base" latinLnBrk="0" hangingPunct="0">
              <a:lnSpc>
                <a:spcPct val="100000"/>
              </a:lnSpc>
              <a:spcBef>
                <a:spcPts val="575"/>
              </a:spcBef>
              <a:spcAft>
                <a:spcPct val="0"/>
              </a:spcAft>
              <a:buClr>
                <a:srgbClr val="D34817"/>
              </a:buClr>
              <a:buSzPct val="50000"/>
              <a:buAutoNum type="alphaLcParenR"/>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Rectangle 2">
            <a:extLst>
              <a:ext uri="{FF2B5EF4-FFF2-40B4-BE49-F238E27FC236}">
                <a16:creationId xmlns:a16="http://schemas.microsoft.com/office/drawing/2014/main" id="{BD6AD064-E1BD-11E4-A220-41094FD257EF}"/>
              </a:ext>
            </a:extLst>
          </p:cNvPr>
          <p:cNvSpPr>
            <a:spLocks noChangeArrowheads="1"/>
          </p:cNvSpPr>
          <p:nvPr/>
        </p:nvSpPr>
        <p:spPr bwMode="blackWhite">
          <a:xfrm>
            <a:off x="346185" y="1988840"/>
            <a:ext cx="5334931" cy="280664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dirty="0">
              <a:solidFill>
                <a:srgbClr val="000000"/>
              </a:solidFill>
              <a:latin typeface="Courier New" panose="02070309020205020404" pitchFamily="49" charset="0"/>
            </a:endParaRPr>
          </a:p>
          <a:p>
            <a:pPr>
              <a:spcBef>
                <a:spcPct val="0"/>
              </a:spcBef>
              <a:buFontTx/>
              <a:buNone/>
            </a:pPr>
            <a:endParaRPr lang="en-US" altLang="en-US" sz="1800" b="1" dirty="0">
              <a:solidFill>
                <a:srgbClr val="000000"/>
              </a:solidFill>
              <a:latin typeface="Courier New" panose="02070309020205020404" pitchFamily="49" charset="0"/>
            </a:endParaRPr>
          </a:p>
        </p:txBody>
      </p:sp>
      <p:sp>
        <p:nvSpPr>
          <p:cNvPr id="5" name="Rectangle 3">
            <a:extLst>
              <a:ext uri="{FF2B5EF4-FFF2-40B4-BE49-F238E27FC236}">
                <a16:creationId xmlns:a16="http://schemas.microsoft.com/office/drawing/2014/main" id="{AFDA19CD-0A4D-70B2-3255-246389179A6A}"/>
              </a:ext>
            </a:extLst>
          </p:cNvPr>
          <p:cNvSpPr>
            <a:spLocks noChangeArrowheads="1"/>
          </p:cNvSpPr>
          <p:nvPr/>
        </p:nvSpPr>
        <p:spPr bwMode="auto">
          <a:xfrm>
            <a:off x="2119163" y="3156347"/>
            <a:ext cx="2812877" cy="1136749"/>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6">
            <a:extLst>
              <a:ext uri="{FF2B5EF4-FFF2-40B4-BE49-F238E27FC236}">
                <a16:creationId xmlns:a16="http://schemas.microsoft.com/office/drawing/2014/main" id="{67A07724-A4B6-E074-15D6-4707F18EAAB7}"/>
              </a:ext>
            </a:extLst>
          </p:cNvPr>
          <p:cNvSpPr>
            <a:spLocks noChangeArrowheads="1"/>
          </p:cNvSpPr>
          <p:nvPr/>
        </p:nvSpPr>
        <p:spPr bwMode="blackWhite">
          <a:xfrm>
            <a:off x="251520" y="2276872"/>
            <a:ext cx="5040560" cy="202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ts val="300"/>
              </a:spcBef>
              <a:buFontTx/>
              <a:buNone/>
            </a:pPr>
            <a:r>
              <a:rPr lang="en-US" altLang="en-US" sz="2200" dirty="0">
                <a:solidFill>
                  <a:srgbClr val="000000"/>
                </a:solidFill>
                <a:latin typeface="Cambria" panose="02040503050406030204" pitchFamily="18" charset="0"/>
                <a:ea typeface="Cambria" panose="02040503050406030204" pitchFamily="18" charset="0"/>
              </a:rPr>
              <a:t> SELECT	inv#, prod#, qty</a:t>
            </a:r>
          </a:p>
          <a:p>
            <a:pPr>
              <a:spcBef>
                <a:spcPts val="300"/>
              </a:spcBef>
              <a:buFontTx/>
              <a:buNone/>
            </a:pPr>
            <a:r>
              <a:rPr lang="en-US" altLang="en-US" sz="2200" dirty="0">
                <a:solidFill>
                  <a:srgbClr val="000000"/>
                </a:solidFill>
                <a:latin typeface="Cambria" panose="02040503050406030204" pitchFamily="18" charset="0"/>
                <a:ea typeface="Cambria" panose="02040503050406030204" pitchFamily="18" charset="0"/>
              </a:rPr>
              <a:t>  FROM	invoice</a:t>
            </a:r>
          </a:p>
          <a:p>
            <a:pPr>
              <a:spcBef>
                <a:spcPts val="300"/>
              </a:spcBef>
              <a:buFontTx/>
              <a:buNone/>
            </a:pPr>
            <a:r>
              <a:rPr lang="en-US" altLang="en-US" sz="2200" dirty="0">
                <a:solidFill>
                  <a:srgbClr val="000000"/>
                </a:solidFill>
                <a:latin typeface="Cambria" panose="02040503050406030204" pitchFamily="18" charset="0"/>
                <a:ea typeface="Cambria" panose="02040503050406030204" pitchFamily="18" charset="0"/>
              </a:rPr>
              <a:t>  WHERE   </a:t>
            </a:r>
            <a:r>
              <a:rPr lang="en-US" altLang="en-US" sz="2200" dirty="0">
                <a:solidFill>
                  <a:srgbClr val="0000CC"/>
                </a:solidFill>
                <a:latin typeface="Cambria" panose="02040503050406030204" pitchFamily="18" charset="0"/>
                <a:ea typeface="Cambria" panose="02040503050406030204" pitchFamily="18" charset="0"/>
              </a:rPr>
              <a:t>(prod#, qty)</a:t>
            </a:r>
            <a:r>
              <a:rPr lang="en-US" altLang="en-US" sz="2200" dirty="0">
                <a:solidFill>
                  <a:srgbClr val="000000"/>
                </a:solidFill>
                <a:latin typeface="Cambria" panose="02040503050406030204" pitchFamily="18" charset="0"/>
                <a:ea typeface="Cambria" panose="02040503050406030204" pitchFamily="18" charset="0"/>
              </a:rPr>
              <a:t> IN</a:t>
            </a:r>
          </a:p>
          <a:p>
            <a:pPr>
              <a:spcBef>
                <a:spcPts val="300"/>
              </a:spcBef>
              <a:buFontTx/>
              <a:buNone/>
            </a:pPr>
            <a:r>
              <a:rPr lang="en-US" altLang="en-US" sz="2200" dirty="0">
                <a:solidFill>
                  <a:srgbClr val="000000"/>
                </a:solidFill>
                <a:latin typeface="Cambria" panose="02040503050406030204" pitchFamily="18" charset="0"/>
                <a:ea typeface="Cambria" panose="02040503050406030204" pitchFamily="18" charset="0"/>
              </a:rPr>
              <a:t>   		(SELECT </a:t>
            </a:r>
            <a:r>
              <a:rPr lang="en-US" altLang="en-US" sz="2200" dirty="0">
                <a:solidFill>
                  <a:srgbClr val="0000CC"/>
                </a:solidFill>
                <a:latin typeface="Cambria" panose="02040503050406030204" pitchFamily="18" charset="0"/>
                <a:ea typeface="Cambria" panose="02040503050406030204" pitchFamily="18" charset="0"/>
              </a:rPr>
              <a:t>prod#, qty</a:t>
            </a:r>
          </a:p>
          <a:p>
            <a:pPr>
              <a:spcBef>
                <a:spcPts val="300"/>
              </a:spcBef>
              <a:buFontTx/>
              <a:buNone/>
            </a:pPr>
            <a:r>
              <a:rPr lang="en-US" altLang="en-US" sz="2200" dirty="0">
                <a:solidFill>
                  <a:srgbClr val="000000"/>
                </a:solidFill>
                <a:latin typeface="Cambria" panose="02040503050406030204" pitchFamily="18" charset="0"/>
                <a:ea typeface="Cambria" panose="02040503050406030204" pitchFamily="18" charset="0"/>
              </a:rPr>
              <a:t>   		 FROM   item</a:t>
            </a:r>
          </a:p>
          <a:p>
            <a:pPr>
              <a:spcBef>
                <a:spcPts val="300"/>
              </a:spcBef>
              <a:buFontTx/>
              <a:buNone/>
            </a:pPr>
            <a:r>
              <a:rPr lang="en-US" altLang="en-US" sz="2200" dirty="0">
                <a:solidFill>
                  <a:srgbClr val="000000"/>
                </a:solidFill>
                <a:latin typeface="Cambria" panose="02040503050406030204" pitchFamily="18" charset="0"/>
                <a:ea typeface="Cambria" panose="02040503050406030204" pitchFamily="18" charset="0"/>
              </a:rPr>
              <a:t>  	      	 WHERE  </a:t>
            </a:r>
            <a:r>
              <a:rPr lang="en-US" altLang="en-US" sz="2200" dirty="0" err="1">
                <a:solidFill>
                  <a:srgbClr val="0000CC"/>
                </a:solidFill>
                <a:latin typeface="Cambria" panose="02040503050406030204" pitchFamily="18" charset="0"/>
                <a:ea typeface="Cambria" panose="02040503050406030204" pitchFamily="18" charset="0"/>
              </a:rPr>
              <a:t>ord</a:t>
            </a:r>
            <a:r>
              <a:rPr lang="en-US" altLang="en-US" sz="2200" dirty="0">
                <a:solidFill>
                  <a:srgbClr val="0000CC"/>
                </a:solidFill>
                <a:latin typeface="Cambria" panose="02040503050406030204" pitchFamily="18" charset="0"/>
                <a:ea typeface="Cambria" panose="02040503050406030204" pitchFamily="18" charset="0"/>
              </a:rPr>
              <a:t># = 101</a:t>
            </a:r>
            <a:r>
              <a:rPr lang="en-US" altLang="en-US" sz="2200" dirty="0">
                <a:solidFill>
                  <a:srgbClr val="000000"/>
                </a:solidFill>
                <a:latin typeface="Cambria" panose="02040503050406030204" pitchFamily="18" charset="0"/>
                <a:ea typeface="Cambria" panose="02040503050406030204" pitchFamily="18" charset="0"/>
              </a:rPr>
              <a:t>)</a:t>
            </a:r>
          </a:p>
          <a:p>
            <a:pPr>
              <a:spcBef>
                <a:spcPts val="300"/>
              </a:spcBef>
              <a:buFontTx/>
              <a:buNone/>
            </a:pPr>
            <a:r>
              <a:rPr lang="en-US" altLang="en-US" sz="2200" dirty="0">
                <a:solidFill>
                  <a:srgbClr val="000000"/>
                </a:solidFill>
                <a:latin typeface="Cambria" panose="02040503050406030204" pitchFamily="18" charset="0"/>
                <a:ea typeface="Cambria" panose="02040503050406030204" pitchFamily="18" charset="0"/>
              </a:rPr>
              <a:t>  AND		</a:t>
            </a:r>
            <a:r>
              <a:rPr lang="en-US" altLang="en-US" sz="2200" dirty="0" err="1">
                <a:solidFill>
                  <a:srgbClr val="FF0000"/>
                </a:solidFill>
                <a:latin typeface="Cambria" panose="02040503050406030204" pitchFamily="18" charset="0"/>
                <a:ea typeface="Cambria" panose="02040503050406030204" pitchFamily="18" charset="0"/>
              </a:rPr>
              <a:t>ord</a:t>
            </a:r>
            <a:r>
              <a:rPr lang="en-US" altLang="en-US" sz="2200" dirty="0">
                <a:solidFill>
                  <a:srgbClr val="FF0000"/>
                </a:solidFill>
                <a:latin typeface="Cambria" panose="02040503050406030204" pitchFamily="18" charset="0"/>
                <a:ea typeface="Cambria" panose="02040503050406030204" pitchFamily="18" charset="0"/>
              </a:rPr>
              <a:t># &lt;&gt; 101;</a:t>
            </a:r>
          </a:p>
        </p:txBody>
      </p:sp>
      <p:graphicFrame>
        <p:nvGraphicFramePr>
          <p:cNvPr id="9" name="Table 8">
            <a:extLst>
              <a:ext uri="{FF2B5EF4-FFF2-40B4-BE49-F238E27FC236}">
                <a16:creationId xmlns:a16="http://schemas.microsoft.com/office/drawing/2014/main" id="{DA8DB948-DEBE-A360-01B0-1FC384669B51}"/>
              </a:ext>
            </a:extLst>
          </p:cNvPr>
          <p:cNvGraphicFramePr>
            <a:graphicFrameLocks noGrp="1"/>
          </p:cNvGraphicFramePr>
          <p:nvPr>
            <p:extLst>
              <p:ext uri="{D42A27DB-BD31-4B8C-83A1-F6EECF244321}">
                <p14:modId xmlns:p14="http://schemas.microsoft.com/office/powerpoint/2010/main" val="725353442"/>
              </p:ext>
            </p:extLst>
          </p:nvPr>
        </p:nvGraphicFramePr>
        <p:xfrm>
          <a:off x="6201638" y="1945680"/>
          <a:ext cx="2562300" cy="2849806"/>
        </p:xfrm>
        <a:graphic>
          <a:graphicData uri="http://schemas.openxmlformats.org/drawingml/2006/table">
            <a:tbl>
              <a:tblPr/>
              <a:tblGrid>
                <a:gridCol w="788693">
                  <a:extLst>
                    <a:ext uri="{9D8B030D-6E8A-4147-A177-3AD203B41FA5}">
                      <a16:colId xmlns:a16="http://schemas.microsoft.com/office/drawing/2014/main" val="20000"/>
                    </a:ext>
                  </a:extLst>
                </a:gridCol>
                <a:gridCol w="1053527">
                  <a:extLst>
                    <a:ext uri="{9D8B030D-6E8A-4147-A177-3AD203B41FA5}">
                      <a16:colId xmlns:a16="http://schemas.microsoft.com/office/drawing/2014/main" val="20001"/>
                    </a:ext>
                  </a:extLst>
                </a:gridCol>
                <a:gridCol w="720080">
                  <a:extLst>
                    <a:ext uri="{9D8B030D-6E8A-4147-A177-3AD203B41FA5}">
                      <a16:colId xmlns:a16="http://schemas.microsoft.com/office/drawing/2014/main" val="2385429410"/>
                    </a:ext>
                  </a:extLst>
                </a:gridCol>
              </a:tblGrid>
              <a:tr h="365716">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INV#</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PROD#</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QTY</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006">
                <a:tc>
                  <a:txBody>
                    <a:bodyPr/>
                    <a:lstStyle/>
                    <a:p>
                      <a:pPr algn="ctr"/>
                      <a:r>
                        <a:rPr lang="en-US" sz="2000" dirty="0">
                          <a:effectLst/>
                          <a:latin typeface="Cambria" panose="02040503050406030204" pitchFamily="18" charset="0"/>
                          <a:ea typeface="Cambria" panose="02040503050406030204" pitchFamily="18" charset="0"/>
                        </a:rPr>
                        <a:t>101</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20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2000" dirty="0">
                          <a:effectLst/>
                          <a:latin typeface="Cambria" panose="02040503050406030204" pitchFamily="18" charset="0"/>
                          <a:ea typeface="Cambria" panose="02040503050406030204" pitchFamily="18" charset="0"/>
                        </a:rPr>
                        <a:t>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20006">
                <a:tc>
                  <a:txBody>
                    <a:bodyPr/>
                    <a:lstStyle/>
                    <a:p>
                      <a:pPr algn="ctr"/>
                      <a:r>
                        <a:rPr lang="en-US" sz="2000" dirty="0">
                          <a:effectLst/>
                          <a:latin typeface="Cambria" panose="02040503050406030204" pitchFamily="18" charset="0"/>
                          <a:ea typeface="Cambria" panose="02040503050406030204" pitchFamily="18" charset="0"/>
                        </a:rPr>
                        <a:t>101</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latin typeface="Cambria" panose="02040503050406030204" pitchFamily="18" charset="0"/>
                          <a:ea typeface="Cambria" panose="02040503050406030204" pitchFamily="18" charset="0"/>
                        </a:rPr>
                        <a:t>B</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latin typeface="Cambria" panose="02040503050406030204" pitchFamily="18" charset="0"/>
                          <a:ea typeface="Cambria" panose="02040503050406030204" pitchFamily="18" charset="0"/>
                        </a:rPr>
                        <a:t>10</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006">
                <a:tc>
                  <a:txBody>
                    <a:bodyPr/>
                    <a:lstStyle/>
                    <a:p>
                      <a:pPr algn="ctr"/>
                      <a:r>
                        <a:rPr lang="en-US" sz="2000" dirty="0">
                          <a:effectLst/>
                          <a:latin typeface="Cambria" panose="02040503050406030204" pitchFamily="18" charset="0"/>
                          <a:ea typeface="Cambria" panose="02040503050406030204" pitchFamily="18" charset="0"/>
                        </a:rPr>
                        <a:t>101</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2000" dirty="0">
                          <a:effectLst/>
                          <a:latin typeface="Cambria" panose="02040503050406030204" pitchFamily="18" charset="0"/>
                          <a:ea typeface="Cambria" panose="02040503050406030204" pitchFamily="18" charset="0"/>
                        </a:rPr>
                        <a:t>C</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20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extLst>
                  <a:ext uri="{0D108BD9-81ED-4DB2-BD59-A6C34878D82A}">
                    <a16:rowId xmlns:a16="http://schemas.microsoft.com/office/drawing/2014/main" val="10003"/>
                  </a:ext>
                </a:extLst>
              </a:tr>
              <a:tr h="320006">
                <a:tc>
                  <a:txBody>
                    <a:bodyPr/>
                    <a:lstStyle/>
                    <a:p>
                      <a:pPr algn="ctr"/>
                      <a:r>
                        <a:rPr lang="en-US" sz="2000" dirty="0">
                          <a:effectLst/>
                          <a:latin typeface="Cambria" panose="02040503050406030204" pitchFamily="18" charset="0"/>
                          <a:ea typeface="Cambria" panose="02040503050406030204" pitchFamily="18" charset="0"/>
                        </a:rPr>
                        <a:t>102</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latin typeface="Cambria" panose="02040503050406030204" pitchFamily="18" charset="0"/>
                          <a:ea typeface="Cambria" panose="02040503050406030204" pitchFamily="18" charset="0"/>
                        </a:rPr>
                        <a:t>10</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006">
                <a:tc>
                  <a:txBody>
                    <a:bodyPr/>
                    <a:lstStyle/>
                    <a:p>
                      <a:pPr algn="ctr"/>
                      <a:r>
                        <a:rPr lang="en-US" sz="2000" dirty="0">
                          <a:effectLst/>
                          <a:latin typeface="Cambria" panose="02040503050406030204" pitchFamily="18" charset="0"/>
                          <a:ea typeface="Cambria" panose="02040503050406030204" pitchFamily="18" charset="0"/>
                        </a:rPr>
                        <a:t>102</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2000" dirty="0">
                          <a:effectLst/>
                          <a:latin typeface="Cambria" panose="02040503050406030204" pitchFamily="18" charset="0"/>
                          <a:ea typeface="Cambria" panose="02040503050406030204" pitchFamily="18" charset="0"/>
                        </a:rPr>
                        <a:t>C</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20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extLst>
                  <a:ext uri="{0D108BD9-81ED-4DB2-BD59-A6C34878D82A}">
                    <a16:rowId xmlns:a16="http://schemas.microsoft.com/office/drawing/2014/main" val="10005"/>
                  </a:ext>
                </a:extLst>
              </a:tr>
              <a:tr h="320006">
                <a:tc>
                  <a:txBody>
                    <a:bodyPr/>
                    <a:lstStyle/>
                    <a:p>
                      <a:pPr algn="ctr"/>
                      <a:r>
                        <a:rPr lang="en-US" sz="2000" dirty="0">
                          <a:effectLst/>
                          <a:latin typeface="Cambria" panose="02040503050406030204" pitchFamily="18" charset="0"/>
                          <a:ea typeface="Cambria" panose="02040503050406030204" pitchFamily="18" charset="0"/>
                        </a:rPr>
                        <a:t>103</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20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2000" dirty="0">
                          <a:effectLst/>
                          <a:latin typeface="Cambria" panose="02040503050406030204" pitchFamily="18" charset="0"/>
                          <a:ea typeface="Cambria" panose="02040503050406030204" pitchFamily="18" charset="0"/>
                        </a:rPr>
                        <a:t>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6"/>
                  </a:ext>
                </a:extLst>
              </a:tr>
              <a:tr h="320006">
                <a:tc>
                  <a:txBody>
                    <a:bodyPr/>
                    <a:lstStyle/>
                    <a:p>
                      <a:pPr algn="ctr"/>
                      <a:r>
                        <a:rPr lang="en-US" sz="2000" dirty="0">
                          <a:effectLst/>
                          <a:latin typeface="Cambria" panose="02040503050406030204" pitchFamily="18" charset="0"/>
                          <a:ea typeface="Cambria" panose="02040503050406030204" pitchFamily="18" charset="0"/>
                        </a:rPr>
                        <a:t>103</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latin typeface="Cambria" panose="02040503050406030204" pitchFamily="18" charset="0"/>
                          <a:ea typeface="Cambria" panose="02040503050406030204" pitchFamily="18" charset="0"/>
                        </a:rPr>
                        <a:t>B</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graphicFrame>
        <p:nvGraphicFramePr>
          <p:cNvPr id="10" name="Table 9">
            <a:extLst>
              <a:ext uri="{FF2B5EF4-FFF2-40B4-BE49-F238E27FC236}">
                <a16:creationId xmlns:a16="http://schemas.microsoft.com/office/drawing/2014/main" id="{EB125E49-CD10-192C-C61A-2387352FAA7C}"/>
              </a:ext>
            </a:extLst>
          </p:cNvPr>
          <p:cNvGraphicFramePr>
            <a:graphicFrameLocks noGrp="1"/>
          </p:cNvGraphicFramePr>
          <p:nvPr>
            <p:extLst>
              <p:ext uri="{D42A27DB-BD31-4B8C-83A1-F6EECF244321}">
                <p14:modId xmlns:p14="http://schemas.microsoft.com/office/powerpoint/2010/main" val="298668861"/>
              </p:ext>
            </p:extLst>
          </p:nvPr>
        </p:nvGraphicFramePr>
        <p:xfrm>
          <a:off x="3203848" y="5064759"/>
          <a:ext cx="2562300" cy="1005806"/>
        </p:xfrm>
        <a:graphic>
          <a:graphicData uri="http://schemas.openxmlformats.org/drawingml/2006/table">
            <a:tbl>
              <a:tblPr/>
              <a:tblGrid>
                <a:gridCol w="788693">
                  <a:extLst>
                    <a:ext uri="{9D8B030D-6E8A-4147-A177-3AD203B41FA5}">
                      <a16:colId xmlns:a16="http://schemas.microsoft.com/office/drawing/2014/main" val="20000"/>
                    </a:ext>
                  </a:extLst>
                </a:gridCol>
                <a:gridCol w="1053527">
                  <a:extLst>
                    <a:ext uri="{9D8B030D-6E8A-4147-A177-3AD203B41FA5}">
                      <a16:colId xmlns:a16="http://schemas.microsoft.com/office/drawing/2014/main" val="20001"/>
                    </a:ext>
                  </a:extLst>
                </a:gridCol>
                <a:gridCol w="720080">
                  <a:extLst>
                    <a:ext uri="{9D8B030D-6E8A-4147-A177-3AD203B41FA5}">
                      <a16:colId xmlns:a16="http://schemas.microsoft.com/office/drawing/2014/main" val="2385429410"/>
                    </a:ext>
                  </a:extLst>
                </a:gridCol>
              </a:tblGrid>
              <a:tr h="365716">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INV#</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PROD#</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QTY</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006">
                <a:tc>
                  <a:txBody>
                    <a:bodyPr/>
                    <a:lstStyle/>
                    <a:p>
                      <a:pPr algn="ctr"/>
                      <a:r>
                        <a:rPr lang="en-US" sz="1800" dirty="0">
                          <a:effectLst/>
                          <a:latin typeface="Cambria" panose="02040503050406030204" pitchFamily="18" charset="0"/>
                          <a:ea typeface="Cambria" panose="02040503050406030204" pitchFamily="18" charset="0"/>
                        </a:rPr>
                        <a:t>102</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C</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extLst>
                  <a:ext uri="{0D108BD9-81ED-4DB2-BD59-A6C34878D82A}">
                    <a16:rowId xmlns:a16="http://schemas.microsoft.com/office/drawing/2014/main" val="10001"/>
                  </a:ext>
                </a:extLst>
              </a:tr>
              <a:tr h="320006">
                <a:tc>
                  <a:txBody>
                    <a:bodyPr/>
                    <a:lstStyle/>
                    <a:p>
                      <a:pPr algn="ctr"/>
                      <a:r>
                        <a:rPr lang="en-US" sz="1800" dirty="0">
                          <a:effectLst/>
                          <a:latin typeface="Cambria" panose="02040503050406030204" pitchFamily="18" charset="0"/>
                          <a:ea typeface="Cambria" panose="02040503050406030204" pitchFamily="18" charset="0"/>
                        </a:rPr>
                        <a:t>103</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sp>
        <p:nvSpPr>
          <p:cNvPr id="11" name="Footer Placeholder 2">
            <a:extLst>
              <a:ext uri="{FF2B5EF4-FFF2-40B4-BE49-F238E27FC236}">
                <a16:creationId xmlns:a16="http://schemas.microsoft.com/office/drawing/2014/main" id="{59ABCCD6-500C-4F6E-1707-79C53093D30C}"/>
              </a:ext>
            </a:extLst>
          </p:cNvPr>
          <p:cNvSpPr txBox="1">
            <a:spLocks/>
          </p:cNvSpPr>
          <p:nvPr/>
        </p:nvSpPr>
        <p:spPr>
          <a:xfrm>
            <a:off x="2555776" y="6500192"/>
            <a:ext cx="4876800" cy="457200"/>
          </a:xfrm>
          <a:prstGeom prst="rect">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eaLnBrk="1" fontAlgn="auto" hangingPunct="1">
              <a:spcBef>
                <a:spcPts val="0"/>
              </a:spcBef>
              <a:spcAft>
                <a:spcPts val="0"/>
              </a:spcAft>
              <a:defRPr/>
            </a:pPr>
            <a:r>
              <a:rPr lang="en-US" sz="1400" b="1" dirty="0">
                <a:solidFill>
                  <a:srgbClr val="0000FF"/>
                </a:solidFill>
                <a:latin typeface="Perpetua"/>
              </a:rPr>
              <a:t>Dr. Asif Sohail,</a:t>
            </a:r>
            <a:r>
              <a:rPr lang="en-US" sz="1400" dirty="0">
                <a:solidFill>
                  <a:srgbClr val="696464"/>
                </a:solidFill>
                <a:latin typeface="Perpetua"/>
              </a:rPr>
              <a:t> Department of IT, </a:t>
            </a:r>
            <a:r>
              <a:rPr lang="en-US" sz="1400" dirty="0">
                <a:solidFill>
                  <a:srgbClr val="FF0000"/>
                </a:solidFill>
                <a:latin typeface="Perpetua"/>
              </a:rPr>
              <a:t>University of the Punjab, Lahore</a:t>
            </a:r>
          </a:p>
        </p:txBody>
      </p:sp>
    </p:spTree>
    <p:extLst>
      <p:ext uri="{BB962C8B-B14F-4D97-AF65-F5344CB8AC3E}">
        <p14:creationId xmlns:p14="http://schemas.microsoft.com/office/powerpoint/2010/main" val="134810633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1F2B-DDEB-7F31-26D6-7C09186CBF5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A9B77CD-C5BA-FBC3-41C4-AFFDB9F8482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Non-pairwise Column Comparisons</a:t>
            </a:r>
          </a:p>
        </p:txBody>
      </p:sp>
      <p:sp>
        <p:nvSpPr>
          <p:cNvPr id="38915" name="Rectangle 3">
            <a:extLst>
              <a:ext uri="{FF2B5EF4-FFF2-40B4-BE49-F238E27FC236}">
                <a16:creationId xmlns:a16="http://schemas.microsoft.com/office/drawing/2014/main" id="{AE35694A-1B2C-3C73-7220-C003FE1AC490}"/>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747C5738-F89B-8E0F-2EED-1D98E84EDE1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77063E1A-A00B-6425-4DAB-114A9D36E343}"/>
              </a:ext>
            </a:extLst>
          </p:cNvPr>
          <p:cNvSpPr txBox="1">
            <a:spLocks noChangeArrowheads="1"/>
          </p:cNvSpPr>
          <p:nvPr/>
        </p:nvSpPr>
        <p:spPr bwMode="auto">
          <a:xfrm>
            <a:off x="323528" y="669777"/>
            <a:ext cx="8641630" cy="994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lvl="0" indent="-285750" algn="just">
              <a:buClr>
                <a:srgbClr val="D34817"/>
              </a:buClr>
              <a:buSzPct val="50000"/>
              <a:buFont typeface="Wingdings" panose="05000000000000000000" pitchFamily="2" charset="2"/>
              <a:buChar char="l"/>
              <a:defRPr/>
            </a:pPr>
            <a:r>
              <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Display the invoice details of the items in which </a:t>
            </a:r>
            <a:r>
              <a:rPr kumimoji="0" lang="en-US" alt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e</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ither</a:t>
            </a:r>
            <a:r>
              <a:rPr lang="en-US" altLang="en-US" sz="2000" dirty="0">
                <a:solidFill>
                  <a:prstClr val="black"/>
                </a:solidFill>
                <a:latin typeface="Cambria" panose="02040503050406030204" pitchFamily="18" charset="0"/>
                <a:ea typeface="Cambria" panose="02040503050406030204" pitchFamily="18" charset="0"/>
                <a:cs typeface="Calibri" panose="020F0502020204030204" pitchFamily="34" charset="0"/>
              </a:rPr>
              <a:t> of the product number or quantity of the items matches with the product number or quantity of the order#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101</a:t>
            </a:r>
            <a:endParaRPr lang="en-US" altLang="en-US" sz="20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457200" lvl="0" indent="-457200" algn="just">
              <a:buClr>
                <a:srgbClr val="D34817"/>
              </a:buClr>
              <a:buSzPct val="50000"/>
              <a:buAutoNum type="alphaLcParenR"/>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457200" marR="0" lvl="0" indent="-457200" algn="just" defTabSz="914400" rtl="0" eaLnBrk="0" fontAlgn="base" latinLnBrk="0" hangingPunct="0">
              <a:lnSpc>
                <a:spcPct val="100000"/>
              </a:lnSpc>
              <a:spcBef>
                <a:spcPts val="575"/>
              </a:spcBef>
              <a:spcAft>
                <a:spcPct val="0"/>
              </a:spcAft>
              <a:buClr>
                <a:srgbClr val="D34817"/>
              </a:buClr>
              <a:buSzPct val="50000"/>
              <a:buAutoNum type="alphaLcParenR"/>
              <a:tabLst/>
              <a:defRPr/>
            </a:pPr>
            <a:endParaRPr kumimoji="0" lang="en-US" alt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8917" name="Rectangle 2">
            <a:extLst>
              <a:ext uri="{FF2B5EF4-FFF2-40B4-BE49-F238E27FC236}">
                <a16:creationId xmlns:a16="http://schemas.microsoft.com/office/drawing/2014/main" id="{D4970930-13D1-B20E-647C-039D5E684CFF}"/>
              </a:ext>
            </a:extLst>
          </p:cNvPr>
          <p:cNvSpPr>
            <a:spLocks noChangeArrowheads="1"/>
          </p:cNvSpPr>
          <p:nvPr/>
        </p:nvSpPr>
        <p:spPr bwMode="blackWhite">
          <a:xfrm>
            <a:off x="219918" y="1766614"/>
            <a:ext cx="6152813" cy="27606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918" name="Rectangle 3">
            <a:extLst>
              <a:ext uri="{FF2B5EF4-FFF2-40B4-BE49-F238E27FC236}">
                <a16:creationId xmlns:a16="http://schemas.microsoft.com/office/drawing/2014/main" id="{B1995FDF-4B4D-ADAB-0B7E-D2ECA293FD44}"/>
              </a:ext>
            </a:extLst>
          </p:cNvPr>
          <p:cNvSpPr>
            <a:spLocks noChangeArrowheads="1"/>
          </p:cNvSpPr>
          <p:nvPr/>
        </p:nvSpPr>
        <p:spPr bwMode="auto">
          <a:xfrm>
            <a:off x="3492410" y="2420888"/>
            <a:ext cx="2722225" cy="1656184"/>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0" name="Rectangle 6">
            <a:extLst>
              <a:ext uri="{FF2B5EF4-FFF2-40B4-BE49-F238E27FC236}">
                <a16:creationId xmlns:a16="http://schemas.microsoft.com/office/drawing/2014/main" id="{FBAAE65B-5B01-E2CB-381B-AFB0A613544E}"/>
              </a:ext>
            </a:extLst>
          </p:cNvPr>
          <p:cNvSpPr>
            <a:spLocks noChangeArrowheads="1"/>
          </p:cNvSpPr>
          <p:nvPr/>
        </p:nvSpPr>
        <p:spPr bwMode="blackWhite">
          <a:xfrm>
            <a:off x="207218" y="1867073"/>
            <a:ext cx="7677150" cy="278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1828800" algn="l"/>
                <a:tab pos="4229100" algn="l"/>
                <a:tab pos="5314950" algn="l"/>
              </a:tabLst>
              <a:defRPr sz="2800">
                <a:solidFill>
                  <a:schemeClr val="tx1"/>
                </a:solidFill>
                <a:latin typeface="Arial" panose="020B0604020202020204" pitchFamily="34" charset="0"/>
              </a:defRPr>
            </a:lvl1pPr>
            <a:lvl2pPr marL="742950" indent="-285750">
              <a:spcBef>
                <a:spcPct val="20000"/>
              </a:spcBef>
              <a:buChar char="–"/>
              <a:tabLst>
                <a:tab pos="1200150" algn="l"/>
                <a:tab pos="1828800" algn="l"/>
                <a:tab pos="4229100" algn="l"/>
                <a:tab pos="5314950" algn="l"/>
              </a:tabLst>
              <a:defRPr sz="2400">
                <a:solidFill>
                  <a:schemeClr val="tx1"/>
                </a:solidFill>
                <a:latin typeface="Arial" panose="020B0604020202020204" pitchFamily="34" charset="0"/>
              </a:defRPr>
            </a:lvl2pPr>
            <a:lvl3pPr marL="1143000" indent="-228600">
              <a:spcBef>
                <a:spcPct val="20000"/>
              </a:spcBef>
              <a:buChar char="•"/>
              <a:tabLst>
                <a:tab pos="1200150" algn="l"/>
                <a:tab pos="1828800" algn="l"/>
                <a:tab pos="4229100" algn="l"/>
                <a:tab pos="5314950" algn="l"/>
              </a:tabLst>
              <a:defRPr sz="2000">
                <a:solidFill>
                  <a:schemeClr val="tx1"/>
                </a:solidFill>
                <a:latin typeface="Arial" panose="020B0604020202020204" pitchFamily="34" charset="0"/>
              </a:defRPr>
            </a:lvl3pPr>
            <a:lvl4pPr marL="1600200" indent="-228600">
              <a:spcBef>
                <a:spcPct val="20000"/>
              </a:spcBef>
              <a:buChar char="–"/>
              <a:tabLst>
                <a:tab pos="1200150" algn="l"/>
                <a:tab pos="1828800" algn="l"/>
                <a:tab pos="4229100" algn="l"/>
                <a:tab pos="5314950" algn="l"/>
              </a:tabLst>
              <a:defRPr sz="2000">
                <a:solidFill>
                  <a:schemeClr val="tx1"/>
                </a:solidFill>
                <a:latin typeface="Arial" panose="020B0604020202020204" pitchFamily="34" charset="0"/>
              </a:defRPr>
            </a:lvl4pPr>
            <a:lvl5pPr marL="2057400" indent="-228600">
              <a:spcBef>
                <a:spcPct val="20000"/>
              </a:spcBef>
              <a:buChar char="»"/>
              <a:tabLst>
                <a:tab pos="1200150" algn="l"/>
                <a:tab pos="1828800" algn="l"/>
                <a:tab pos="4229100" algn="l"/>
                <a:tab pos="53149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inv#, prod3, qty</a:t>
            </a:r>
          </a:p>
          <a:p>
            <a:pPr>
              <a:spcBef>
                <a:spcPct val="0"/>
              </a:spcBef>
              <a:buFontTx/>
              <a:buNone/>
            </a:pPr>
            <a:r>
              <a:rPr lang="en-US" altLang="en-US" sz="1800" b="1" dirty="0">
                <a:solidFill>
                  <a:srgbClr val="000000"/>
                </a:solidFill>
                <a:latin typeface="Courier New" panose="02070309020205020404" pitchFamily="49" charset="0"/>
              </a:rPr>
              <a:t>  2  FROM 	invoice</a:t>
            </a:r>
          </a:p>
          <a:p>
            <a:pPr>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a:solidFill>
                  <a:srgbClr val="FF0000"/>
                </a:solidFill>
                <a:latin typeface="Courier New" panose="02070309020205020404" pitchFamily="49" charset="0"/>
              </a:rPr>
              <a:t>prod# IN</a:t>
            </a:r>
            <a:r>
              <a:rPr lang="en-US" altLang="en-US" sz="1800" b="1" dirty="0">
                <a:solidFill>
                  <a:srgbClr val="000000"/>
                </a:solidFill>
                <a:latin typeface="Courier New" panose="02070309020205020404" pitchFamily="49" charset="0"/>
              </a:rPr>
              <a:t>  (SELECT prod#</a:t>
            </a:r>
          </a:p>
          <a:p>
            <a:pPr>
              <a:spcBef>
                <a:spcPct val="0"/>
              </a:spcBef>
              <a:buFontTx/>
              <a:buNone/>
            </a:pPr>
            <a:r>
              <a:rPr lang="en-US" altLang="en-US" sz="1800" b="1" dirty="0">
                <a:solidFill>
                  <a:srgbClr val="000000"/>
                </a:solidFill>
                <a:latin typeface="Courier New" panose="02070309020205020404" pitchFamily="49" charset="0"/>
              </a:rPr>
              <a:t>  4                       FROM  invoice</a:t>
            </a:r>
          </a:p>
          <a:p>
            <a:pPr>
              <a:spcBef>
                <a:spcPct val="0"/>
              </a:spcBef>
              <a:buFontTx/>
              <a:buNone/>
            </a:pPr>
            <a:r>
              <a:rPr lang="en-US" altLang="en-US" sz="1800" b="1" dirty="0">
                <a:solidFill>
                  <a:srgbClr val="000000"/>
                </a:solidFill>
                <a:latin typeface="Courier New" panose="02070309020205020404" pitchFamily="49" charset="0"/>
              </a:rPr>
              <a:t>  5                       WHERE </a:t>
            </a:r>
            <a:r>
              <a:rPr lang="en-US" altLang="en-US" sz="1800" b="1" dirty="0" err="1">
                <a:solidFill>
                  <a:srgbClr val="000000"/>
                </a:solidFill>
                <a:latin typeface="Courier New" panose="02070309020205020404" pitchFamily="49" charset="0"/>
              </a:rPr>
              <a:t>ord</a:t>
            </a:r>
            <a:r>
              <a:rPr lang="en-US" altLang="en-US" sz="1800" b="1" dirty="0">
                <a:solidFill>
                  <a:srgbClr val="000000"/>
                </a:solidFill>
                <a:latin typeface="Courier New" panose="02070309020205020404" pitchFamily="49" charset="0"/>
              </a:rPr>
              <a:t># = 101)</a:t>
            </a:r>
          </a:p>
          <a:p>
            <a:pPr>
              <a:spcBef>
                <a:spcPct val="0"/>
              </a:spcBef>
              <a:buFontTx/>
              <a:buNone/>
            </a:pPr>
            <a:r>
              <a:rPr lang="en-US" altLang="en-US" sz="1800" b="1" dirty="0">
                <a:solidFill>
                  <a:srgbClr val="000000"/>
                </a:solidFill>
                <a:latin typeface="Courier New" panose="02070309020205020404" pitchFamily="49" charset="0"/>
              </a:rPr>
              <a:t>  6  AND		</a:t>
            </a:r>
            <a:r>
              <a:rPr lang="en-US" altLang="en-US" sz="1800" b="1" dirty="0">
                <a:solidFill>
                  <a:srgbClr val="FF0000"/>
                </a:solidFill>
                <a:latin typeface="Courier New" panose="02070309020205020404" pitchFamily="49" charset="0"/>
              </a:rPr>
              <a:t>qty    IN</a:t>
            </a:r>
            <a:r>
              <a:rPr lang="en-US" altLang="en-US" sz="1800" b="1" dirty="0">
                <a:solidFill>
                  <a:srgbClr val="000000"/>
                </a:solidFill>
                <a:latin typeface="Courier New" panose="02070309020205020404" pitchFamily="49" charset="0"/>
              </a:rPr>
              <a:t>  (SELECT qty</a:t>
            </a:r>
          </a:p>
          <a:p>
            <a:pPr>
              <a:spcBef>
                <a:spcPct val="0"/>
              </a:spcBef>
              <a:buFontTx/>
              <a:buNone/>
            </a:pPr>
            <a:r>
              <a:rPr lang="en-US" altLang="en-US" sz="1800" b="1" dirty="0">
                <a:solidFill>
                  <a:srgbClr val="000000"/>
                </a:solidFill>
                <a:latin typeface="Courier New" panose="02070309020205020404" pitchFamily="49" charset="0"/>
              </a:rPr>
              <a:t>  7         	            FROM   invoice</a:t>
            </a:r>
          </a:p>
          <a:p>
            <a:pPr>
              <a:spcBef>
                <a:spcPct val="0"/>
              </a:spcBef>
              <a:buFontTx/>
              <a:buNone/>
            </a:pPr>
            <a:r>
              <a:rPr lang="en-US" altLang="en-US" sz="1800" b="1" dirty="0">
                <a:solidFill>
                  <a:srgbClr val="000000"/>
                </a:solidFill>
                <a:latin typeface="Courier New" panose="02070309020205020404" pitchFamily="49" charset="0"/>
              </a:rPr>
              <a:t>  8                      WHERE  </a:t>
            </a:r>
            <a:r>
              <a:rPr lang="en-US" altLang="en-US" sz="1800" b="1" dirty="0" err="1">
                <a:solidFill>
                  <a:srgbClr val="000000"/>
                </a:solidFill>
                <a:latin typeface="Courier New" panose="02070309020205020404" pitchFamily="49" charset="0"/>
              </a:rPr>
              <a:t>ord</a:t>
            </a:r>
            <a:r>
              <a:rPr lang="en-US" altLang="en-US" sz="1800" b="1" dirty="0">
                <a:solidFill>
                  <a:srgbClr val="000000"/>
                </a:solidFill>
                <a:latin typeface="Courier New" panose="02070309020205020404" pitchFamily="49" charset="0"/>
              </a:rPr>
              <a:t># = 101)</a:t>
            </a:r>
          </a:p>
          <a:p>
            <a:pPr>
              <a:spcBef>
                <a:spcPct val="0"/>
              </a:spcBef>
              <a:buFontTx/>
              <a:buNone/>
            </a:pPr>
            <a:r>
              <a:rPr lang="en-US" altLang="en-US" sz="1800" b="1" dirty="0">
                <a:solidFill>
                  <a:srgbClr val="000000"/>
                </a:solidFill>
                <a:latin typeface="Courier New" panose="02070309020205020404" pitchFamily="49" charset="0"/>
              </a:rPr>
              <a:t>  9  AND		</a:t>
            </a:r>
            <a:r>
              <a:rPr lang="en-US" altLang="en-US" sz="1800" b="1" dirty="0">
                <a:solidFill>
                  <a:srgbClr val="FF0000"/>
                </a:solidFill>
                <a:latin typeface="Courier New" panose="02070309020205020404" pitchFamily="49" charset="0"/>
              </a:rPr>
              <a:t>inv# &lt;&gt; 101;</a:t>
            </a:r>
          </a:p>
          <a:p>
            <a:pPr>
              <a:spcBef>
                <a:spcPct val="0"/>
              </a:spcBef>
              <a:buFontTx/>
              <a:buNone/>
            </a:pPr>
            <a:endParaRPr lang="en-US" altLang="en-US" sz="1800" b="1" dirty="0">
              <a:solidFill>
                <a:srgbClr val="000000"/>
              </a:solidFill>
              <a:latin typeface="Courier New" panose="02070309020205020404" pitchFamily="49" charset="0"/>
            </a:endParaRPr>
          </a:p>
        </p:txBody>
      </p:sp>
      <p:sp>
        <p:nvSpPr>
          <p:cNvPr id="38921" name="Footer Placeholder 2">
            <a:extLst>
              <a:ext uri="{FF2B5EF4-FFF2-40B4-BE49-F238E27FC236}">
                <a16:creationId xmlns:a16="http://schemas.microsoft.com/office/drawing/2014/main" id="{E102D582-7E57-A785-AFED-223DEAA72828}"/>
              </a:ext>
            </a:extLst>
          </p:cNvPr>
          <p:cNvSpPr txBox="1">
            <a:spLocks/>
          </p:cNvSpPr>
          <p:nvPr/>
        </p:nvSpPr>
        <p:spPr>
          <a:xfrm>
            <a:off x="2555776" y="6500192"/>
            <a:ext cx="4876800" cy="457200"/>
          </a:xfrm>
          <a:prstGeom prst="rect">
            <a:avLst/>
          </a:prstGeom>
        </p:spPr>
        <p:txBody>
          <a:bodyPr/>
          <a:ls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eaLnBrk="1" fontAlgn="auto" hangingPunct="1">
              <a:spcBef>
                <a:spcPts val="0"/>
              </a:spcBef>
              <a:spcAft>
                <a:spcPts val="0"/>
              </a:spcAft>
              <a:defRPr/>
            </a:pPr>
            <a:r>
              <a:rPr lang="en-US" sz="1400" b="1">
                <a:solidFill>
                  <a:srgbClr val="0000FF"/>
                </a:solidFill>
                <a:latin typeface="Perpetua"/>
              </a:rPr>
              <a:t>Dr. Asif Sohail,</a:t>
            </a:r>
            <a:r>
              <a:rPr lang="en-US" sz="1400">
                <a:solidFill>
                  <a:srgbClr val="696464"/>
                </a:solidFill>
                <a:latin typeface="Perpetua"/>
              </a:rPr>
              <a:t> Department of IT, </a:t>
            </a:r>
            <a:r>
              <a:rPr lang="en-US" sz="1400">
                <a:solidFill>
                  <a:srgbClr val="FF0000"/>
                </a:solidFill>
                <a:latin typeface="Perpetua"/>
              </a:rPr>
              <a:t>University of the Punjab, Lahore</a:t>
            </a:r>
            <a:endParaRPr lang="en-US" sz="1400" dirty="0">
              <a:solidFill>
                <a:srgbClr val="FF0000"/>
              </a:solidFill>
              <a:latin typeface="Perpetua"/>
            </a:endParaRPr>
          </a:p>
        </p:txBody>
      </p:sp>
      <p:graphicFrame>
        <p:nvGraphicFramePr>
          <p:cNvPr id="38922" name="Table 38921">
            <a:extLst>
              <a:ext uri="{FF2B5EF4-FFF2-40B4-BE49-F238E27FC236}">
                <a16:creationId xmlns:a16="http://schemas.microsoft.com/office/drawing/2014/main" id="{5378E054-62A9-3B9A-B6D8-76E8D0E5E2A9}"/>
              </a:ext>
            </a:extLst>
          </p:cNvPr>
          <p:cNvGraphicFramePr>
            <a:graphicFrameLocks noGrp="1"/>
          </p:cNvGraphicFramePr>
          <p:nvPr>
            <p:extLst>
              <p:ext uri="{D42A27DB-BD31-4B8C-83A1-F6EECF244321}">
                <p14:modId xmlns:p14="http://schemas.microsoft.com/office/powerpoint/2010/main" val="1329278899"/>
              </p:ext>
            </p:extLst>
          </p:nvPr>
        </p:nvGraphicFramePr>
        <p:xfrm>
          <a:off x="6516216" y="1788303"/>
          <a:ext cx="2562300" cy="2605966"/>
        </p:xfrm>
        <a:graphic>
          <a:graphicData uri="http://schemas.openxmlformats.org/drawingml/2006/table">
            <a:tbl>
              <a:tblPr/>
              <a:tblGrid>
                <a:gridCol w="788693">
                  <a:extLst>
                    <a:ext uri="{9D8B030D-6E8A-4147-A177-3AD203B41FA5}">
                      <a16:colId xmlns:a16="http://schemas.microsoft.com/office/drawing/2014/main" val="20000"/>
                    </a:ext>
                  </a:extLst>
                </a:gridCol>
                <a:gridCol w="1053527">
                  <a:extLst>
                    <a:ext uri="{9D8B030D-6E8A-4147-A177-3AD203B41FA5}">
                      <a16:colId xmlns:a16="http://schemas.microsoft.com/office/drawing/2014/main" val="20001"/>
                    </a:ext>
                  </a:extLst>
                </a:gridCol>
                <a:gridCol w="720080">
                  <a:extLst>
                    <a:ext uri="{9D8B030D-6E8A-4147-A177-3AD203B41FA5}">
                      <a16:colId xmlns:a16="http://schemas.microsoft.com/office/drawing/2014/main" val="2385429410"/>
                    </a:ext>
                  </a:extLst>
                </a:gridCol>
              </a:tblGrid>
              <a:tr h="365716">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INV#</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PROD#</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QTY</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006">
                <a:tc>
                  <a:txBody>
                    <a:bodyPr/>
                    <a:lstStyle/>
                    <a:p>
                      <a:pPr algn="ctr"/>
                      <a:r>
                        <a:rPr lang="en-US" sz="1800" dirty="0">
                          <a:effectLst/>
                          <a:latin typeface="Cambria" panose="02040503050406030204" pitchFamily="18" charset="0"/>
                          <a:ea typeface="Cambria" panose="02040503050406030204" pitchFamily="18" charset="0"/>
                        </a:rPr>
                        <a:t>101</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20006">
                <a:tc>
                  <a:txBody>
                    <a:bodyPr/>
                    <a:lstStyle/>
                    <a:p>
                      <a:pPr algn="ctr"/>
                      <a:r>
                        <a:rPr lang="en-US" sz="1800" dirty="0">
                          <a:effectLst/>
                          <a:latin typeface="Cambria" panose="02040503050406030204" pitchFamily="18" charset="0"/>
                          <a:ea typeface="Cambria" panose="02040503050406030204" pitchFamily="18" charset="0"/>
                        </a:rPr>
                        <a:t>101</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B</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10</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006">
                <a:tc>
                  <a:txBody>
                    <a:bodyPr/>
                    <a:lstStyle/>
                    <a:p>
                      <a:pPr algn="ctr"/>
                      <a:r>
                        <a:rPr lang="en-US" sz="1800" dirty="0">
                          <a:effectLst/>
                          <a:latin typeface="Cambria" panose="02040503050406030204" pitchFamily="18" charset="0"/>
                          <a:ea typeface="Cambria" panose="02040503050406030204" pitchFamily="18" charset="0"/>
                        </a:rPr>
                        <a:t>101</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C</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extLst>
                  <a:ext uri="{0D108BD9-81ED-4DB2-BD59-A6C34878D82A}">
                    <a16:rowId xmlns:a16="http://schemas.microsoft.com/office/drawing/2014/main" val="10003"/>
                  </a:ext>
                </a:extLst>
              </a:tr>
              <a:tr h="320006">
                <a:tc>
                  <a:txBody>
                    <a:bodyPr/>
                    <a:lstStyle/>
                    <a:p>
                      <a:pPr algn="ctr"/>
                      <a:r>
                        <a:rPr lang="en-US" sz="1800" dirty="0">
                          <a:effectLst/>
                          <a:latin typeface="Cambria" panose="02040503050406030204" pitchFamily="18" charset="0"/>
                          <a:ea typeface="Cambria" panose="02040503050406030204" pitchFamily="18" charset="0"/>
                        </a:rPr>
                        <a:t>102</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10</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006">
                <a:tc>
                  <a:txBody>
                    <a:bodyPr/>
                    <a:lstStyle/>
                    <a:p>
                      <a:pPr algn="ctr"/>
                      <a:r>
                        <a:rPr lang="en-US" sz="1800" dirty="0">
                          <a:effectLst/>
                          <a:latin typeface="Cambria" panose="02040503050406030204" pitchFamily="18" charset="0"/>
                          <a:ea typeface="Cambria" panose="02040503050406030204" pitchFamily="18" charset="0"/>
                        </a:rPr>
                        <a:t>102</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C</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extLst>
                  <a:ext uri="{0D108BD9-81ED-4DB2-BD59-A6C34878D82A}">
                    <a16:rowId xmlns:a16="http://schemas.microsoft.com/office/drawing/2014/main" val="10005"/>
                  </a:ext>
                </a:extLst>
              </a:tr>
              <a:tr h="320006">
                <a:tc>
                  <a:txBody>
                    <a:bodyPr/>
                    <a:lstStyle/>
                    <a:p>
                      <a:pPr algn="ctr"/>
                      <a:r>
                        <a:rPr lang="en-US" sz="1800" dirty="0">
                          <a:effectLst/>
                          <a:latin typeface="Cambria" panose="02040503050406030204" pitchFamily="18" charset="0"/>
                          <a:ea typeface="Cambria" panose="02040503050406030204" pitchFamily="18" charset="0"/>
                        </a:rPr>
                        <a:t>103</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6"/>
                  </a:ext>
                </a:extLst>
              </a:tr>
              <a:tr h="320006">
                <a:tc>
                  <a:txBody>
                    <a:bodyPr/>
                    <a:lstStyle/>
                    <a:p>
                      <a:pPr algn="ctr"/>
                      <a:r>
                        <a:rPr lang="en-US" sz="1800" dirty="0">
                          <a:effectLst/>
                          <a:latin typeface="Cambria" panose="02040503050406030204" pitchFamily="18" charset="0"/>
                          <a:ea typeface="Cambria" panose="02040503050406030204" pitchFamily="18" charset="0"/>
                        </a:rPr>
                        <a:t>103</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B</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graphicFrame>
        <p:nvGraphicFramePr>
          <p:cNvPr id="38923" name="Table 38922">
            <a:extLst>
              <a:ext uri="{FF2B5EF4-FFF2-40B4-BE49-F238E27FC236}">
                <a16:creationId xmlns:a16="http://schemas.microsoft.com/office/drawing/2014/main" id="{0EFEDD66-1F96-F443-AB7C-9573C723BB65}"/>
              </a:ext>
            </a:extLst>
          </p:cNvPr>
          <p:cNvGraphicFramePr>
            <a:graphicFrameLocks noGrp="1"/>
          </p:cNvGraphicFramePr>
          <p:nvPr>
            <p:extLst>
              <p:ext uri="{D42A27DB-BD31-4B8C-83A1-F6EECF244321}">
                <p14:modId xmlns:p14="http://schemas.microsoft.com/office/powerpoint/2010/main" val="2308531288"/>
              </p:ext>
            </p:extLst>
          </p:nvPr>
        </p:nvGraphicFramePr>
        <p:xfrm>
          <a:off x="3363193" y="4665046"/>
          <a:ext cx="2562300" cy="1645870"/>
        </p:xfrm>
        <a:graphic>
          <a:graphicData uri="http://schemas.openxmlformats.org/drawingml/2006/table">
            <a:tbl>
              <a:tblPr/>
              <a:tblGrid>
                <a:gridCol w="788693">
                  <a:extLst>
                    <a:ext uri="{9D8B030D-6E8A-4147-A177-3AD203B41FA5}">
                      <a16:colId xmlns:a16="http://schemas.microsoft.com/office/drawing/2014/main" val="1124052862"/>
                    </a:ext>
                  </a:extLst>
                </a:gridCol>
                <a:gridCol w="1053527">
                  <a:extLst>
                    <a:ext uri="{9D8B030D-6E8A-4147-A177-3AD203B41FA5}">
                      <a16:colId xmlns:a16="http://schemas.microsoft.com/office/drawing/2014/main" val="564268698"/>
                    </a:ext>
                  </a:extLst>
                </a:gridCol>
                <a:gridCol w="720080">
                  <a:extLst>
                    <a:ext uri="{9D8B030D-6E8A-4147-A177-3AD203B41FA5}">
                      <a16:colId xmlns:a16="http://schemas.microsoft.com/office/drawing/2014/main" val="3282554728"/>
                    </a:ext>
                  </a:extLst>
                </a:gridCol>
              </a:tblGrid>
              <a:tr h="365716">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INV#</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PROD#</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latin typeface="Cambria" panose="02040503050406030204" pitchFamily="18" charset="0"/>
                          <a:ea typeface="Cambria" panose="02040503050406030204" pitchFamily="18" charset="0"/>
                        </a:rPr>
                        <a:t>QTY</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403420446"/>
                  </a:ext>
                </a:extLst>
              </a:tr>
              <a:tr h="320006">
                <a:tc>
                  <a:txBody>
                    <a:bodyPr/>
                    <a:lstStyle/>
                    <a:p>
                      <a:pPr algn="ctr"/>
                      <a:r>
                        <a:rPr lang="en-US" sz="1800" dirty="0">
                          <a:effectLst/>
                          <a:latin typeface="Cambria" panose="02040503050406030204" pitchFamily="18" charset="0"/>
                          <a:ea typeface="Cambria" panose="02040503050406030204" pitchFamily="18" charset="0"/>
                        </a:rPr>
                        <a:t>102</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10</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4145052818"/>
                  </a:ext>
                </a:extLst>
              </a:tr>
              <a:tr h="320006">
                <a:tc>
                  <a:txBody>
                    <a:bodyPr/>
                    <a:lstStyle/>
                    <a:p>
                      <a:pPr algn="ctr"/>
                      <a:r>
                        <a:rPr lang="en-US" sz="1800" dirty="0">
                          <a:effectLst/>
                          <a:latin typeface="Cambria" panose="02040503050406030204" pitchFamily="18" charset="0"/>
                          <a:ea typeface="Cambria" panose="02040503050406030204" pitchFamily="18" charset="0"/>
                        </a:rPr>
                        <a:t>102</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C</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tc>
                  <a:txBody>
                    <a:bodyPr/>
                    <a:lstStyle/>
                    <a:p>
                      <a:pPr algn="ctr"/>
                      <a:r>
                        <a:rPr lang="en-US" sz="18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00FF00"/>
                    </a:solidFill>
                  </a:tcPr>
                </a:tc>
                <a:extLst>
                  <a:ext uri="{0D108BD9-81ED-4DB2-BD59-A6C34878D82A}">
                    <a16:rowId xmlns:a16="http://schemas.microsoft.com/office/drawing/2014/main" val="2516207196"/>
                  </a:ext>
                </a:extLst>
              </a:tr>
              <a:tr h="320006">
                <a:tc>
                  <a:txBody>
                    <a:bodyPr/>
                    <a:lstStyle/>
                    <a:p>
                      <a:pPr algn="ctr"/>
                      <a:r>
                        <a:rPr lang="en-US" sz="1800" dirty="0">
                          <a:effectLst/>
                          <a:latin typeface="Cambria" panose="02040503050406030204" pitchFamily="18" charset="0"/>
                          <a:ea typeface="Cambria" panose="02040503050406030204" pitchFamily="18" charset="0"/>
                        </a:rPr>
                        <a:t>103</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A</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sz="1800" dirty="0">
                          <a:effectLst/>
                          <a:latin typeface="Cambria" panose="02040503050406030204" pitchFamily="18" charset="0"/>
                          <a:ea typeface="Cambria" panose="02040503050406030204" pitchFamily="18" charset="0"/>
                        </a:rPr>
                        <a:t>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204557081"/>
                  </a:ext>
                </a:extLst>
              </a:tr>
              <a:tr h="320006">
                <a:tc>
                  <a:txBody>
                    <a:bodyPr/>
                    <a:lstStyle/>
                    <a:p>
                      <a:pPr algn="ctr"/>
                      <a:r>
                        <a:rPr lang="en-US" sz="1800" dirty="0">
                          <a:effectLst/>
                          <a:latin typeface="Cambria" panose="02040503050406030204" pitchFamily="18" charset="0"/>
                          <a:ea typeface="Cambria" panose="02040503050406030204" pitchFamily="18" charset="0"/>
                        </a:rPr>
                        <a:t>103</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B</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1800" dirty="0">
                          <a:effectLst/>
                          <a:latin typeface="Cambria" panose="02040503050406030204" pitchFamily="18" charset="0"/>
                          <a:ea typeface="Cambria" panose="02040503050406030204" pitchFamily="18" charset="0"/>
                        </a:rPr>
                        <a:t>15</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392045594"/>
                  </a:ext>
                </a:extLst>
              </a:tr>
            </a:tbl>
          </a:graphicData>
        </a:graphic>
      </p:graphicFrame>
    </p:spTree>
    <p:extLst>
      <p:ext uri="{BB962C8B-B14F-4D97-AF65-F5344CB8AC3E}">
        <p14:creationId xmlns:p14="http://schemas.microsoft.com/office/powerpoint/2010/main" val="209236027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3FCA0-FA45-DDFE-F31C-875E84D831B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DB22B1A-2245-98A0-0058-D981614B45D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Correlated Subquery</a:t>
            </a:r>
          </a:p>
        </p:txBody>
      </p:sp>
      <p:sp>
        <p:nvSpPr>
          <p:cNvPr id="38915" name="Rectangle 3">
            <a:extLst>
              <a:ext uri="{FF2B5EF4-FFF2-40B4-BE49-F238E27FC236}">
                <a16:creationId xmlns:a16="http://schemas.microsoft.com/office/drawing/2014/main" id="{02D6295E-7F53-E494-6817-F68E333F04F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B5E11EB3-4080-5D6C-C99C-76C420FC435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9F2916AA-610A-E121-C26B-7E87F41D7FC9}"/>
              </a:ext>
            </a:extLst>
          </p:cNvPr>
          <p:cNvSpPr txBox="1">
            <a:spLocks noChangeArrowheads="1"/>
          </p:cNvSpPr>
          <p:nvPr/>
        </p:nvSpPr>
        <p:spPr bwMode="auto">
          <a:xfrm>
            <a:off x="323850" y="620689"/>
            <a:ext cx="4770808"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correlated subquery references one or more columns in the outer SQL statement.</a:t>
            </a:r>
          </a:p>
          <a:p>
            <a:pPr marL="285750" marR="0" lvl="0" indent="-285750"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7D3D445A-4100-EA71-7AEC-690EB04B098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18">
            <a:extLst>
              <a:ext uri="{FF2B5EF4-FFF2-40B4-BE49-F238E27FC236}">
                <a16:creationId xmlns:a16="http://schemas.microsoft.com/office/drawing/2014/main" id="{2B91D0BD-FFD8-3477-D2BE-DA6312E3DAD4}"/>
              </a:ext>
            </a:extLst>
          </p:cNvPr>
          <p:cNvSpPr>
            <a:spLocks noChangeArrowheads="1"/>
          </p:cNvSpPr>
          <p:nvPr/>
        </p:nvSpPr>
        <p:spPr bwMode="blackWhite">
          <a:xfrm>
            <a:off x="906801" y="4581029"/>
            <a:ext cx="7480300" cy="15842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 name="Rectangle 19">
            <a:extLst>
              <a:ext uri="{FF2B5EF4-FFF2-40B4-BE49-F238E27FC236}">
                <a16:creationId xmlns:a16="http://schemas.microsoft.com/office/drawing/2014/main" id="{10065763-432C-7900-469F-E1BF7D060A81}"/>
              </a:ext>
            </a:extLst>
          </p:cNvPr>
          <p:cNvSpPr>
            <a:spLocks noChangeArrowheads="1"/>
          </p:cNvSpPr>
          <p:nvPr/>
        </p:nvSpPr>
        <p:spPr bwMode="blackWhite">
          <a:xfrm>
            <a:off x="899592" y="4606288"/>
            <a:ext cx="7432675" cy="1463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ts val="600"/>
              </a:spcBef>
              <a:buFontTx/>
              <a:buNone/>
            </a:pPr>
            <a:endParaRPr lang="en-US" altLang="en-US" sz="2400" dirty="0">
              <a:solidFill>
                <a:srgbClr val="000000"/>
              </a:solidFill>
              <a:latin typeface="Cambria" panose="02040503050406030204" pitchFamily="18" charset="0"/>
              <a:ea typeface="Cambria" panose="02040503050406030204" pitchFamily="18" charset="0"/>
            </a:endParaRP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SELECT * FROM dept WHERE </a:t>
            </a:r>
            <a:r>
              <a:rPr lang="en-US" altLang="en-US" sz="2400" dirty="0">
                <a:solidFill>
                  <a:srgbClr val="FF0000"/>
                </a:solidFill>
                <a:latin typeface="Cambria" panose="02040503050406030204" pitchFamily="18" charset="0"/>
                <a:ea typeface="Cambria" panose="02040503050406030204" pitchFamily="18" charset="0"/>
              </a:rPr>
              <a:t>NOT EXISTS</a:t>
            </a:r>
            <a:r>
              <a:rPr lang="en-US" altLang="en-US" sz="2400" dirty="0">
                <a:solidFill>
                  <a:srgbClr val="000000"/>
                </a:solidFill>
                <a:latin typeface="Cambria" panose="02040503050406030204" pitchFamily="18" charset="0"/>
                <a:ea typeface="Cambria" panose="02040503050406030204" pitchFamily="18" charset="0"/>
              </a:rPr>
              <a:t> </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 (SELECT * FROM emp WHERE  </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 </a:t>
            </a:r>
            <a:r>
              <a:rPr lang="en-US" altLang="en-US" sz="2400" dirty="0" err="1">
                <a:solidFill>
                  <a:srgbClr val="000000"/>
                </a:solidFill>
                <a:latin typeface="Cambria" panose="02040503050406030204" pitchFamily="18" charset="0"/>
                <a:ea typeface="Cambria" panose="02040503050406030204" pitchFamily="18" charset="0"/>
              </a:rPr>
              <a:t>emp.deptno</a:t>
            </a:r>
            <a:r>
              <a:rPr lang="en-US" altLang="en-US" sz="2400" dirty="0">
                <a:solidFill>
                  <a:srgbClr val="000000"/>
                </a:solidFill>
                <a:latin typeface="Cambria" panose="02040503050406030204" pitchFamily="18" charset="0"/>
                <a:ea typeface="Cambria" panose="02040503050406030204" pitchFamily="18" charset="0"/>
              </a:rPr>
              <a:t> = </a:t>
            </a:r>
            <a:r>
              <a:rPr lang="en-US" altLang="en-US" sz="2400" dirty="0" err="1">
                <a:solidFill>
                  <a:srgbClr val="000000"/>
                </a:solidFill>
                <a:latin typeface="Cambria" panose="02040503050406030204" pitchFamily="18" charset="0"/>
                <a:ea typeface="Cambria" panose="02040503050406030204" pitchFamily="18" charset="0"/>
              </a:rPr>
              <a:t>dept.deptno</a:t>
            </a:r>
            <a:r>
              <a:rPr lang="en-US" altLang="en-US" sz="2400" dirty="0">
                <a:solidFill>
                  <a:srgbClr val="000000"/>
                </a:solidFill>
                <a:latin typeface="Cambria" panose="02040503050406030204" pitchFamily="18" charset="0"/>
                <a:ea typeface="Cambria" panose="02040503050406030204" pitchFamily="18" charset="0"/>
              </a:rPr>
              <a:t>)</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  </a:t>
            </a:r>
          </a:p>
        </p:txBody>
      </p:sp>
      <p:grpSp>
        <p:nvGrpSpPr>
          <p:cNvPr id="11" name="Group 1">
            <a:extLst>
              <a:ext uri="{FF2B5EF4-FFF2-40B4-BE49-F238E27FC236}">
                <a16:creationId xmlns:a16="http://schemas.microsoft.com/office/drawing/2014/main" id="{4A70B74D-4D32-0C12-6DE4-BC0739CC26FD}"/>
              </a:ext>
            </a:extLst>
          </p:cNvPr>
          <p:cNvGrpSpPr>
            <a:grpSpLocks/>
          </p:cNvGrpSpPr>
          <p:nvPr/>
        </p:nvGrpSpPr>
        <p:grpSpPr bwMode="auto">
          <a:xfrm>
            <a:off x="5220072" y="374551"/>
            <a:ext cx="3822700" cy="1038225"/>
            <a:chOff x="1454151" y="1960563"/>
            <a:chExt cx="3822711" cy="1038226"/>
          </a:xfrm>
        </p:grpSpPr>
        <p:sp>
          <p:nvSpPr>
            <p:cNvPr id="16" name="Rectangle 17">
              <a:extLst>
                <a:ext uri="{FF2B5EF4-FFF2-40B4-BE49-F238E27FC236}">
                  <a16:creationId xmlns:a16="http://schemas.microsoft.com/office/drawing/2014/main" id="{33C25A1A-506C-CD38-FFC0-3505875A1214}"/>
                </a:ext>
              </a:extLst>
            </p:cNvPr>
            <p:cNvSpPr>
              <a:spLocks noChangeArrowheads="1"/>
            </p:cNvSpPr>
            <p:nvPr/>
          </p:nvSpPr>
          <p:spPr bwMode="blackWhite">
            <a:xfrm>
              <a:off x="1477964" y="1962151"/>
              <a:ext cx="1954213" cy="10366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 name="Rectangle 18">
              <a:extLst>
                <a:ext uri="{FF2B5EF4-FFF2-40B4-BE49-F238E27FC236}">
                  <a16:creationId xmlns:a16="http://schemas.microsoft.com/office/drawing/2014/main" id="{22C1CAB9-25AC-A96E-81D0-E14FF820DB1E}"/>
                </a:ext>
              </a:extLst>
            </p:cNvPr>
            <p:cNvSpPr>
              <a:spLocks noChangeArrowheads="1"/>
            </p:cNvSpPr>
            <p:nvPr/>
          </p:nvSpPr>
          <p:spPr bwMode="auto">
            <a:xfrm>
              <a:off x="1454151" y="1960563"/>
              <a:ext cx="1390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rPr>
                <a:t>Main query</a:t>
              </a:r>
            </a:p>
          </p:txBody>
        </p:sp>
        <p:sp>
          <p:nvSpPr>
            <p:cNvPr id="18" name="Rectangle 19">
              <a:extLst>
                <a:ext uri="{FF2B5EF4-FFF2-40B4-BE49-F238E27FC236}">
                  <a16:creationId xmlns:a16="http://schemas.microsoft.com/office/drawing/2014/main" id="{8241786C-719D-04DA-9EA2-A7B3D164A078}"/>
                </a:ext>
              </a:extLst>
            </p:cNvPr>
            <p:cNvSpPr>
              <a:spLocks noChangeArrowheads="1"/>
            </p:cNvSpPr>
            <p:nvPr/>
          </p:nvSpPr>
          <p:spPr bwMode="ltGray">
            <a:xfrm>
              <a:off x="1887539" y="2433638"/>
              <a:ext cx="1535113" cy="550863"/>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9" name="Rectangle 20">
              <a:extLst>
                <a:ext uri="{FF2B5EF4-FFF2-40B4-BE49-F238E27FC236}">
                  <a16:creationId xmlns:a16="http://schemas.microsoft.com/office/drawing/2014/main" id="{1A38DD5C-C950-B514-3BFF-1EAF48979AEC}"/>
                </a:ext>
              </a:extLst>
            </p:cNvPr>
            <p:cNvSpPr>
              <a:spLocks noChangeArrowheads="1"/>
            </p:cNvSpPr>
            <p:nvPr/>
          </p:nvSpPr>
          <p:spPr bwMode="auto">
            <a:xfrm>
              <a:off x="2035176" y="2543176"/>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21" name="Line 22">
              <a:extLst>
                <a:ext uri="{FF2B5EF4-FFF2-40B4-BE49-F238E27FC236}">
                  <a16:creationId xmlns:a16="http://schemas.microsoft.com/office/drawing/2014/main" id="{C3519673-2052-CD74-1F49-AA8956BC5F93}"/>
                </a:ext>
              </a:extLst>
            </p:cNvPr>
            <p:cNvSpPr>
              <a:spLocks noChangeShapeType="1"/>
            </p:cNvSpPr>
            <p:nvPr/>
          </p:nvSpPr>
          <p:spPr bwMode="auto">
            <a:xfrm flipV="1">
              <a:off x="3432176" y="2730500"/>
              <a:ext cx="419100" cy="7938"/>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22" name="Rectangle 23">
              <a:extLst>
                <a:ext uri="{FF2B5EF4-FFF2-40B4-BE49-F238E27FC236}">
                  <a16:creationId xmlns:a16="http://schemas.microsoft.com/office/drawing/2014/main" id="{720FC7BB-43A9-F3D7-8C28-9957B29C09B5}"/>
                </a:ext>
              </a:extLst>
            </p:cNvPr>
            <p:cNvSpPr>
              <a:spLocks noChangeArrowheads="1"/>
            </p:cNvSpPr>
            <p:nvPr/>
          </p:nvSpPr>
          <p:spPr bwMode="auto">
            <a:xfrm>
              <a:off x="3924308" y="2327276"/>
              <a:ext cx="1352554" cy="369887"/>
            </a:xfrm>
            <a:prstGeom prst="rect">
              <a:avLst/>
            </a:prstGeom>
            <a:noFill/>
            <a:ln>
              <a:noFill/>
            </a:ln>
            <a:effectLst/>
          </p:spPr>
          <p:txBody>
            <a:bodyPr wrap="none" lIns="92075" tIns="46038" rIns="92075" bIns="46038">
              <a:spAutoFit/>
            </a:bodyPr>
            <a:lstStyle/>
            <a:p>
              <a:pPr defTabSz="822325">
                <a:spcBef>
                  <a:spcPct val="50000"/>
                </a:spcBef>
                <a:defRPr/>
              </a:pPr>
              <a:r>
                <a:rPr lang="en-US" sz="1800" b="1" dirty="0">
                  <a:effectLst>
                    <a:outerShdw blurRad="38100" dist="38100" dir="2700000" algn="tl">
                      <a:srgbClr val="FFFFFF"/>
                    </a:outerShdw>
                  </a:effectLst>
                </a:rPr>
                <a:t>references</a:t>
              </a:r>
            </a:p>
          </p:txBody>
        </p:sp>
        <p:sp>
          <p:nvSpPr>
            <p:cNvPr id="23" name="Line 22">
              <a:extLst>
                <a:ext uri="{FF2B5EF4-FFF2-40B4-BE49-F238E27FC236}">
                  <a16:creationId xmlns:a16="http://schemas.microsoft.com/office/drawing/2014/main" id="{6DF3ECE4-FD4E-7014-86AB-0737E98EFB3A}"/>
                </a:ext>
              </a:extLst>
            </p:cNvPr>
            <p:cNvSpPr>
              <a:spLocks noChangeShapeType="1"/>
            </p:cNvSpPr>
            <p:nvPr/>
          </p:nvSpPr>
          <p:spPr bwMode="auto">
            <a:xfrm flipH="1" flipV="1">
              <a:off x="3422650" y="2165347"/>
              <a:ext cx="428625" cy="7939"/>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24" name="Line 22">
              <a:extLst>
                <a:ext uri="{FF2B5EF4-FFF2-40B4-BE49-F238E27FC236}">
                  <a16:creationId xmlns:a16="http://schemas.microsoft.com/office/drawing/2014/main" id="{B0888689-61A1-5B7B-23B0-6B9D7B8F886F}"/>
                </a:ext>
              </a:extLst>
            </p:cNvPr>
            <p:cNvSpPr>
              <a:spLocks noChangeShapeType="1"/>
            </p:cNvSpPr>
            <p:nvPr/>
          </p:nvSpPr>
          <p:spPr bwMode="auto">
            <a:xfrm flipV="1">
              <a:off x="3841752" y="2165348"/>
              <a:ext cx="9524" cy="573090"/>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25" name="Rectangle 3">
            <a:extLst>
              <a:ext uri="{FF2B5EF4-FFF2-40B4-BE49-F238E27FC236}">
                <a16:creationId xmlns:a16="http://schemas.microsoft.com/office/drawing/2014/main" id="{6A744B01-AC07-309C-1936-3A44C88E97AA}"/>
              </a:ext>
            </a:extLst>
          </p:cNvPr>
          <p:cNvSpPr txBox="1">
            <a:spLocks noChangeArrowheads="1"/>
          </p:cNvSpPr>
          <p:nvPr/>
        </p:nvSpPr>
        <p:spPr bwMode="auto">
          <a:xfrm>
            <a:off x="324842" y="1798579"/>
            <a:ext cx="8567638" cy="2098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inner query uses a table alias of outer query.</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Unlike a simple subquery that is executed only once, a correlated subquery is execute for more than once. The inner query is evaluated against each row of the outer query.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Top-down</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or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outward-inward parsing</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Find the department(s) without an employee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82048751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33F5B-0920-F397-5B85-6ACDF85F9755}"/>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1DAF454-962A-2051-56A1-869A841D5DAF}"/>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Correlated Subquery</a:t>
            </a:r>
          </a:p>
        </p:txBody>
      </p:sp>
      <p:sp>
        <p:nvSpPr>
          <p:cNvPr id="38915" name="Rectangle 3">
            <a:extLst>
              <a:ext uri="{FF2B5EF4-FFF2-40B4-BE49-F238E27FC236}">
                <a16:creationId xmlns:a16="http://schemas.microsoft.com/office/drawing/2014/main" id="{B847041C-1853-E2A4-B165-6E53D79C859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427DE51A-1408-5849-7B78-2BF8BDF0360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44519DA7-C3AE-01B2-75D8-D90376069C97}"/>
              </a:ext>
            </a:extLst>
          </p:cNvPr>
          <p:cNvSpPr txBox="1">
            <a:spLocks noChangeArrowheads="1"/>
          </p:cNvSpPr>
          <p:nvPr/>
        </p:nvSpPr>
        <p:spPr bwMode="auto">
          <a:xfrm>
            <a:off x="323850" y="620689"/>
            <a:ext cx="4770808" cy="540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Subquery in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SELECT</a:t>
            </a: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 clause</a:t>
            </a:r>
            <a:endParaRPr kumimoji="0" lang="en-US" altLang="en-US" sz="28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6297A8E8-EEBF-6642-F254-D938BBE0BC6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2">
            <a:extLst>
              <a:ext uri="{FF2B5EF4-FFF2-40B4-BE49-F238E27FC236}">
                <a16:creationId xmlns:a16="http://schemas.microsoft.com/office/drawing/2014/main" id="{FBFB7560-C10C-8CDC-FED1-27642967645C}"/>
              </a:ext>
            </a:extLst>
          </p:cNvPr>
          <p:cNvSpPr>
            <a:spLocks noChangeArrowheads="1"/>
          </p:cNvSpPr>
          <p:nvPr/>
        </p:nvSpPr>
        <p:spPr bwMode="blackWhite">
          <a:xfrm>
            <a:off x="683568" y="1180753"/>
            <a:ext cx="7470775" cy="202964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7" name="Rectangle 10">
            <a:extLst>
              <a:ext uri="{FF2B5EF4-FFF2-40B4-BE49-F238E27FC236}">
                <a16:creationId xmlns:a16="http://schemas.microsoft.com/office/drawing/2014/main" id="{F43CB99F-D842-90DF-2D05-2B3F9E8BE3A1}"/>
              </a:ext>
            </a:extLst>
          </p:cNvPr>
          <p:cNvSpPr>
            <a:spLocks noChangeArrowheads="1"/>
          </p:cNvSpPr>
          <p:nvPr/>
        </p:nvSpPr>
        <p:spPr bwMode="blackWhite">
          <a:xfrm>
            <a:off x="778818" y="1340768"/>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SELECT </a:t>
            </a:r>
            <a:r>
              <a:rPr lang="en-US" altLang="en-US" sz="2400" dirty="0" err="1">
                <a:solidFill>
                  <a:srgbClr val="000000"/>
                </a:solidFill>
                <a:latin typeface="Cambria" panose="02040503050406030204" pitchFamily="18" charset="0"/>
                <a:ea typeface="Cambria" panose="02040503050406030204" pitchFamily="18" charset="0"/>
              </a:rPr>
              <a:t>ename</a:t>
            </a:r>
            <a:r>
              <a:rPr lang="en-US" altLang="en-US" sz="2400" dirty="0">
                <a:solidFill>
                  <a:srgbClr val="000000"/>
                </a:solidFill>
                <a:latin typeface="Cambria" panose="02040503050406030204" pitchFamily="18" charset="0"/>
                <a:ea typeface="Cambria" panose="02040503050406030204" pitchFamily="18" charset="0"/>
              </a:rPr>
              <a:t>, job, </a:t>
            </a:r>
            <a:r>
              <a:rPr lang="en-US" altLang="en-US" sz="2400" dirty="0" err="1">
                <a:solidFill>
                  <a:srgbClr val="000000"/>
                </a:solidFill>
                <a:latin typeface="Cambria" panose="02040503050406030204" pitchFamily="18" charset="0"/>
                <a:ea typeface="Cambria" panose="02040503050406030204" pitchFamily="18" charset="0"/>
              </a:rPr>
              <a:t>sal</a:t>
            </a:r>
            <a:r>
              <a:rPr lang="en-US" altLang="en-US" sz="2400" dirty="0">
                <a:solidFill>
                  <a:srgbClr val="000000"/>
                </a:solidFill>
                <a:latin typeface="Cambria" panose="02040503050406030204" pitchFamily="18" charset="0"/>
                <a:ea typeface="Cambria" panose="02040503050406030204" pitchFamily="18" charset="0"/>
              </a:rPr>
              <a:t>,</a:t>
            </a:r>
          </a:p>
          <a:p>
            <a:pPr>
              <a:spcBef>
                <a:spcPts val="600"/>
              </a:spcBef>
              <a:buFontTx/>
              <a:buNone/>
            </a:pPr>
            <a:r>
              <a:rPr lang="en-US" altLang="en-US" sz="2400" dirty="0">
                <a:solidFill>
                  <a:srgbClr val="0000CC"/>
                </a:solidFill>
                <a:latin typeface="Cambria" panose="02040503050406030204" pitchFamily="18" charset="0"/>
                <a:ea typeface="Cambria" panose="02040503050406030204" pitchFamily="18" charset="0"/>
              </a:rPr>
              <a:t>(SELECT ROUND(AVG(</a:t>
            </a:r>
            <a:r>
              <a:rPr lang="en-US" altLang="en-US" sz="2400" dirty="0" err="1">
                <a:solidFill>
                  <a:srgbClr val="0000CC"/>
                </a:solidFill>
                <a:latin typeface="Cambria" panose="02040503050406030204" pitchFamily="18" charset="0"/>
                <a:ea typeface="Cambria" panose="02040503050406030204" pitchFamily="18" charset="0"/>
              </a:rPr>
              <a:t>sal</a:t>
            </a:r>
            <a:r>
              <a:rPr lang="en-US" altLang="en-US" sz="2400" dirty="0">
                <a:solidFill>
                  <a:srgbClr val="0000CC"/>
                </a:solidFill>
                <a:latin typeface="Cambria" panose="02040503050406030204" pitchFamily="18" charset="0"/>
                <a:ea typeface="Cambria" panose="02040503050406030204" pitchFamily="18" charset="0"/>
              </a:rPr>
              <a:t>))from emp e2 </a:t>
            </a:r>
          </a:p>
          <a:p>
            <a:pPr>
              <a:spcBef>
                <a:spcPts val="600"/>
              </a:spcBef>
              <a:buFontTx/>
              <a:buNone/>
            </a:pPr>
            <a:r>
              <a:rPr lang="en-US" altLang="en-US" sz="2400" dirty="0">
                <a:solidFill>
                  <a:srgbClr val="0000CC"/>
                </a:solidFill>
                <a:latin typeface="Cambria" panose="02040503050406030204" pitchFamily="18" charset="0"/>
                <a:ea typeface="Cambria" panose="02040503050406030204" pitchFamily="18" charset="0"/>
              </a:rPr>
              <a:t>WHERE e1.job=e2.job)</a:t>
            </a:r>
            <a:r>
              <a:rPr lang="en-US" altLang="en-US" sz="2400" dirty="0">
                <a:solidFill>
                  <a:srgbClr val="000000"/>
                </a:solidFill>
                <a:latin typeface="Cambria" panose="02040503050406030204" pitchFamily="18" charset="0"/>
                <a:ea typeface="Cambria" panose="02040503050406030204" pitchFamily="18" charset="0"/>
              </a:rPr>
              <a:t>"avg-job-</a:t>
            </a:r>
            <a:r>
              <a:rPr lang="en-US" altLang="en-US" sz="2400" dirty="0" err="1">
                <a:solidFill>
                  <a:srgbClr val="000000"/>
                </a:solidFill>
                <a:latin typeface="Cambria" panose="02040503050406030204" pitchFamily="18" charset="0"/>
                <a:ea typeface="Cambria" panose="02040503050406030204" pitchFamily="18" charset="0"/>
              </a:rPr>
              <a:t>sal</a:t>
            </a:r>
            <a:r>
              <a:rPr lang="en-US" altLang="en-US" sz="2400" dirty="0">
                <a:solidFill>
                  <a:srgbClr val="000000"/>
                </a:solidFill>
                <a:latin typeface="Cambria" panose="02040503050406030204" pitchFamily="18" charset="0"/>
                <a:ea typeface="Cambria" panose="02040503050406030204" pitchFamily="18" charset="0"/>
              </a:rPr>
              <a:t>"</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FROM emp e1</a:t>
            </a:r>
          </a:p>
        </p:txBody>
      </p:sp>
      <p:graphicFrame>
        <p:nvGraphicFramePr>
          <p:cNvPr id="8" name="Table 7">
            <a:extLst>
              <a:ext uri="{FF2B5EF4-FFF2-40B4-BE49-F238E27FC236}">
                <a16:creationId xmlns:a16="http://schemas.microsoft.com/office/drawing/2014/main" id="{5E55990B-D5D2-A074-48C6-B035B60BEE80}"/>
              </a:ext>
            </a:extLst>
          </p:cNvPr>
          <p:cNvGraphicFramePr>
            <a:graphicFrameLocks noGrp="1"/>
          </p:cNvGraphicFramePr>
          <p:nvPr>
            <p:extLst>
              <p:ext uri="{D42A27DB-BD31-4B8C-83A1-F6EECF244321}">
                <p14:modId xmlns:p14="http://schemas.microsoft.com/office/powerpoint/2010/main" val="3943163592"/>
              </p:ext>
            </p:extLst>
          </p:nvPr>
        </p:nvGraphicFramePr>
        <p:xfrm>
          <a:off x="1469380" y="3429000"/>
          <a:ext cx="5927724" cy="2849986"/>
        </p:xfrm>
        <a:graphic>
          <a:graphicData uri="http://schemas.openxmlformats.org/drawingml/2006/table">
            <a:tbl>
              <a:tblPr/>
              <a:tblGrid>
                <a:gridCol w="1481931">
                  <a:extLst>
                    <a:ext uri="{9D8B030D-6E8A-4147-A177-3AD203B41FA5}">
                      <a16:colId xmlns:a16="http://schemas.microsoft.com/office/drawing/2014/main" val="20000"/>
                    </a:ext>
                  </a:extLst>
                </a:gridCol>
                <a:gridCol w="1481931">
                  <a:extLst>
                    <a:ext uri="{9D8B030D-6E8A-4147-A177-3AD203B41FA5}">
                      <a16:colId xmlns:a16="http://schemas.microsoft.com/office/drawing/2014/main" val="20001"/>
                    </a:ext>
                  </a:extLst>
                </a:gridCol>
                <a:gridCol w="1481931">
                  <a:extLst>
                    <a:ext uri="{9D8B030D-6E8A-4147-A177-3AD203B41FA5}">
                      <a16:colId xmlns:a16="http://schemas.microsoft.com/office/drawing/2014/main" val="20002"/>
                    </a:ext>
                  </a:extLst>
                </a:gridCol>
                <a:gridCol w="1481931">
                  <a:extLst>
                    <a:ext uri="{9D8B030D-6E8A-4147-A177-3AD203B41FA5}">
                      <a16:colId xmlns:a16="http://schemas.microsoft.com/office/drawing/2014/main" val="20003"/>
                    </a:ext>
                  </a:extLst>
                </a:gridCol>
              </a:tblGrid>
              <a:tr h="365849">
                <a:tc>
                  <a:txBody>
                    <a:bodyPr/>
                    <a:lstStyle/>
                    <a:p>
                      <a:pPr fontAlgn="b"/>
                      <a:r>
                        <a:rPr lang="en-US" sz="2000" b="1">
                          <a:solidFill>
                            <a:srgbClr val="FFFFFF"/>
                          </a:solidFill>
                          <a:effectLst/>
                          <a:latin typeface="Cambria" panose="02040503050406030204" pitchFamily="18" charset="0"/>
                          <a:ea typeface="Cambria" panose="02040503050406030204" pitchFamily="18" charset="0"/>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a:solidFill>
                            <a:srgbClr val="FFFFFF"/>
                          </a:solidFill>
                          <a:effectLst/>
                          <a:latin typeface="Cambria" panose="02040503050406030204" pitchFamily="18" charset="0"/>
                          <a:ea typeface="Cambria" panose="02040503050406030204" pitchFamily="18" charset="0"/>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a:solidFill>
                            <a:srgbClr val="FFFFFF"/>
                          </a:solidFill>
                          <a:effectLst/>
                          <a:latin typeface="Cambria" panose="02040503050406030204" pitchFamily="18" charset="0"/>
                          <a:ea typeface="Cambria" panose="02040503050406030204" pitchFamily="18" charset="0"/>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avg-job-</a:t>
                      </a:r>
                      <a:r>
                        <a:rPr lang="en-US" sz="2000" b="1" dirty="0" err="1">
                          <a:solidFill>
                            <a:srgbClr val="FFFFFF"/>
                          </a:solidFill>
                          <a:effectLst/>
                          <a:latin typeface="Cambria" panose="02040503050406030204" pitchFamily="18" charset="0"/>
                          <a:ea typeface="Cambria" panose="02040503050406030204" pitchFamily="18" charset="0"/>
                        </a:rPr>
                        <a:t>sal</a:t>
                      </a:r>
                      <a:endParaRPr lang="en-US" sz="2000" b="1" dirty="0">
                        <a:solidFill>
                          <a:srgbClr val="FFFFFF"/>
                        </a:solidFill>
                        <a:effectLst/>
                        <a:latin typeface="Cambria" panose="02040503050406030204" pitchFamily="18" charset="0"/>
                        <a:ea typeface="Cambria" panose="02040503050406030204" pitchFamily="18" charset="0"/>
                      </a:endParaRP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2000">
                          <a:effectLst/>
                          <a:latin typeface="Cambria" panose="02040503050406030204" pitchFamily="18" charset="0"/>
                          <a:ea typeface="Cambria" panose="02040503050406030204" pitchFamily="18" charset="0"/>
                        </a:rPr>
                        <a:t>KING</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PRESIDENT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118">
                <a:tc>
                  <a:txBody>
                    <a:bodyPr/>
                    <a:lstStyle/>
                    <a:p>
                      <a:r>
                        <a:rPr lang="en-US" sz="2000">
                          <a:effectLst/>
                          <a:latin typeface="Cambria" panose="02040503050406030204" pitchFamily="18" charset="0"/>
                          <a:ea typeface="Cambria" panose="02040503050406030204" pitchFamily="18" charset="0"/>
                        </a:rPr>
                        <a:t>BLAKE</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2850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118">
                <a:tc>
                  <a:txBody>
                    <a:bodyPr/>
                    <a:lstStyle/>
                    <a:p>
                      <a:r>
                        <a:rPr lang="en-US" sz="2000">
                          <a:effectLst/>
                          <a:latin typeface="Cambria" panose="02040503050406030204" pitchFamily="18" charset="0"/>
                          <a:ea typeface="Cambria" panose="02040503050406030204" pitchFamily="18" charset="0"/>
                        </a:rPr>
                        <a:t>CLARK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2450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2000">
                          <a:effectLst/>
                          <a:latin typeface="Cambria" panose="02040503050406030204" pitchFamily="18" charset="0"/>
                          <a:ea typeface="Cambria" panose="02040503050406030204" pitchFamily="18" charset="0"/>
                        </a:rPr>
                        <a:t>JONES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2975</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2000">
                          <a:effectLst/>
                          <a:latin typeface="Cambria" panose="02040503050406030204" pitchFamily="18" charset="0"/>
                          <a:ea typeface="Cambria" panose="02040503050406030204" pitchFamily="18" charset="0"/>
                        </a:rPr>
                        <a:t>SCOTT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2000">
                          <a:effectLst/>
                          <a:latin typeface="Cambria" panose="02040503050406030204" pitchFamily="18" charset="0"/>
                          <a:ea typeface="Cambria" panose="02040503050406030204" pitchFamily="18" charset="0"/>
                        </a:rPr>
                        <a:t>FORD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2000">
                          <a:effectLst/>
                          <a:latin typeface="Cambria" panose="02040503050406030204" pitchFamily="18" charset="0"/>
                          <a:ea typeface="Cambria" panose="02040503050406030204" pitchFamily="18" charset="0"/>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1038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1762368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07F9B-8B00-0FAB-23A3-74695B609CC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6F8388F-2EA1-3563-590A-272D24294919}"/>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CTE for Subquery in SELECT Clause </a:t>
            </a:r>
          </a:p>
        </p:txBody>
      </p:sp>
      <p:sp>
        <p:nvSpPr>
          <p:cNvPr id="38915" name="Rectangle 3">
            <a:extLst>
              <a:ext uri="{FF2B5EF4-FFF2-40B4-BE49-F238E27FC236}">
                <a16:creationId xmlns:a16="http://schemas.microsoft.com/office/drawing/2014/main" id="{4B6EE175-AA3D-19DE-556F-F69701C5199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2B0D6188-AFDD-1B59-4024-752DDFBDBCBE}"/>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4C5DA941-1DEA-ABFA-8788-CEAC234F678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7" name="Rectangle 2">
            <a:extLst>
              <a:ext uri="{FF2B5EF4-FFF2-40B4-BE49-F238E27FC236}">
                <a16:creationId xmlns:a16="http://schemas.microsoft.com/office/drawing/2014/main" id="{3FF5BF30-ED4E-53AC-2187-06B1AB24E6BA}"/>
              </a:ext>
            </a:extLst>
          </p:cNvPr>
          <p:cNvSpPr>
            <a:spLocks noChangeArrowheads="1"/>
          </p:cNvSpPr>
          <p:nvPr/>
        </p:nvSpPr>
        <p:spPr bwMode="blackWhite">
          <a:xfrm>
            <a:off x="1079612" y="901700"/>
            <a:ext cx="6984775" cy="2606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2400" b="1">
              <a:solidFill>
                <a:srgbClr val="000000"/>
              </a:solidFill>
              <a:latin typeface="Cambria" panose="02040503050406030204" pitchFamily="18" charset="0"/>
              <a:ea typeface="Cambria" panose="02040503050406030204" pitchFamily="18" charset="0"/>
            </a:endParaRPr>
          </a:p>
          <a:p>
            <a:pPr>
              <a:spcBef>
                <a:spcPct val="0"/>
              </a:spcBef>
              <a:buFontTx/>
              <a:buNone/>
            </a:pPr>
            <a:endParaRPr lang="en-US" altLang="en-US" sz="2400" b="1">
              <a:solidFill>
                <a:srgbClr val="000000"/>
              </a:solidFill>
              <a:latin typeface="Cambria" panose="02040503050406030204" pitchFamily="18" charset="0"/>
              <a:ea typeface="Cambria" panose="02040503050406030204" pitchFamily="18" charset="0"/>
            </a:endParaRPr>
          </a:p>
        </p:txBody>
      </p:sp>
      <p:sp>
        <p:nvSpPr>
          <p:cNvPr id="8" name="Rectangle 10">
            <a:extLst>
              <a:ext uri="{FF2B5EF4-FFF2-40B4-BE49-F238E27FC236}">
                <a16:creationId xmlns:a16="http://schemas.microsoft.com/office/drawing/2014/main" id="{8027591D-D3A6-4521-196B-2F71E6420F25}"/>
              </a:ext>
            </a:extLst>
          </p:cNvPr>
          <p:cNvSpPr>
            <a:spLocks noChangeArrowheads="1"/>
          </p:cNvSpPr>
          <p:nvPr/>
        </p:nvSpPr>
        <p:spPr bwMode="blackWhite">
          <a:xfrm>
            <a:off x="1049698" y="1557537"/>
            <a:ext cx="698477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ts val="300"/>
              </a:spcBef>
              <a:buFontTx/>
              <a:buNone/>
            </a:pPr>
            <a:endParaRPr lang="en-US" altLang="en-US" sz="2400" dirty="0">
              <a:latin typeface="Cambria" panose="02040503050406030204" pitchFamily="18" charset="0"/>
              <a:ea typeface="Cambria" panose="02040503050406030204" pitchFamily="18" charset="0"/>
            </a:endParaRPr>
          </a:p>
          <a:p>
            <a:pPr>
              <a:spcBef>
                <a:spcPts val="300"/>
              </a:spcBef>
              <a:buFontTx/>
              <a:buNone/>
            </a:pPr>
            <a:r>
              <a:rPr lang="en-US" altLang="en-US" sz="2400" b="1" dirty="0">
                <a:solidFill>
                  <a:srgbClr val="0000CC"/>
                </a:solidFill>
                <a:latin typeface="Cambria" panose="02040503050406030204" pitchFamily="18" charset="0"/>
                <a:ea typeface="Cambria" panose="02040503050406030204" pitchFamily="18" charset="0"/>
              </a:rPr>
              <a:t>WITH</a:t>
            </a:r>
            <a:r>
              <a:rPr lang="en-US" altLang="en-US" sz="2400" dirty="0">
                <a:latin typeface="Cambria" panose="02040503050406030204" pitchFamily="18" charset="0"/>
                <a:ea typeface="Cambria" panose="02040503050406030204" pitchFamily="18" charset="0"/>
              </a:rPr>
              <a:t> </a:t>
            </a:r>
            <a:r>
              <a:rPr lang="en-US" altLang="en-US" sz="2400" dirty="0" err="1">
                <a:solidFill>
                  <a:srgbClr val="FF0000"/>
                </a:solidFill>
                <a:latin typeface="Cambria" panose="02040503050406030204" pitchFamily="18" charset="0"/>
                <a:ea typeface="Cambria" panose="02040503050406030204" pitchFamily="18" charset="0"/>
              </a:rPr>
              <a:t>cte</a:t>
            </a:r>
            <a:r>
              <a:rPr lang="en-US" altLang="en-US" sz="2400" dirty="0">
                <a:latin typeface="Cambria" panose="02040503050406030204" pitchFamily="18" charset="0"/>
                <a:ea typeface="Cambria" panose="02040503050406030204" pitchFamily="18" charset="0"/>
              </a:rPr>
              <a:t> as (SELECT   job, round(avg(</a:t>
            </a:r>
            <a:r>
              <a:rPr lang="en-US" altLang="en-US" sz="2400" dirty="0" err="1">
                <a:latin typeface="Cambria" panose="02040503050406030204" pitchFamily="18" charset="0"/>
                <a:ea typeface="Cambria" panose="02040503050406030204" pitchFamily="18" charset="0"/>
              </a:rPr>
              <a:t>sal</a:t>
            </a:r>
            <a:r>
              <a:rPr lang="en-US" altLang="en-US" sz="2400" dirty="0">
                <a:latin typeface="Cambria" panose="02040503050406030204" pitchFamily="18" charset="0"/>
                <a:ea typeface="Cambria" panose="02040503050406030204" pitchFamily="18" charset="0"/>
              </a:rPr>
              <a:t>)) </a:t>
            </a:r>
            <a:r>
              <a:rPr lang="en-US" altLang="en-US" sz="2400" dirty="0">
                <a:solidFill>
                  <a:srgbClr val="FF0000"/>
                </a:solidFill>
                <a:latin typeface="Cambria" panose="02040503050406030204" pitchFamily="18" charset="0"/>
                <a:ea typeface="Cambria" panose="02040503050406030204" pitchFamily="18" charset="0"/>
              </a:rPr>
              <a:t>Avg-Sal</a:t>
            </a:r>
          </a:p>
          <a:p>
            <a:pPr>
              <a:spcBef>
                <a:spcPts val="300"/>
              </a:spcBef>
              <a:buFontTx/>
              <a:buNone/>
            </a:pPr>
            <a:r>
              <a:rPr lang="en-US" altLang="en-US" sz="2400" dirty="0">
                <a:latin typeface="Cambria" panose="02040503050406030204" pitchFamily="18" charset="0"/>
                <a:ea typeface="Cambria" panose="02040503050406030204" pitchFamily="18" charset="0"/>
              </a:rPr>
              <a:t>FROM emp GROUP BY job) </a:t>
            </a:r>
          </a:p>
          <a:p>
            <a:pPr>
              <a:spcBef>
                <a:spcPts val="300"/>
              </a:spcBef>
              <a:buFontTx/>
              <a:buNone/>
            </a:pPr>
            <a:endParaRPr lang="en-US" altLang="en-US" sz="2400" dirty="0">
              <a:latin typeface="Cambria" panose="02040503050406030204" pitchFamily="18" charset="0"/>
              <a:ea typeface="Cambria" panose="02040503050406030204" pitchFamily="18" charset="0"/>
            </a:endParaRPr>
          </a:p>
          <a:p>
            <a:pPr>
              <a:spcBef>
                <a:spcPts val="300"/>
              </a:spcBef>
              <a:buFontTx/>
              <a:buNone/>
            </a:pPr>
            <a:r>
              <a:rPr lang="en-US" altLang="en-US" sz="2400" dirty="0">
                <a:latin typeface="Cambria" panose="02040503050406030204" pitchFamily="18" charset="0"/>
                <a:ea typeface="Cambria" panose="02040503050406030204" pitchFamily="18" charset="0"/>
              </a:rPr>
              <a:t>SELECT  e1.ename, e1.job, e1.sal, </a:t>
            </a:r>
            <a:r>
              <a:rPr lang="en-US" altLang="en-US" sz="2400" dirty="0" err="1">
                <a:latin typeface="Cambria" panose="02040503050406030204" pitchFamily="18" charset="0"/>
                <a:ea typeface="Cambria" panose="02040503050406030204" pitchFamily="18" charset="0"/>
              </a:rPr>
              <a:t>cte.salavg</a:t>
            </a:r>
            <a:endParaRPr lang="en-US" altLang="en-US" sz="2400" dirty="0">
              <a:latin typeface="Cambria" panose="02040503050406030204" pitchFamily="18" charset="0"/>
              <a:ea typeface="Cambria" panose="02040503050406030204" pitchFamily="18" charset="0"/>
            </a:endParaRPr>
          </a:p>
          <a:p>
            <a:pPr>
              <a:spcBef>
                <a:spcPts val="300"/>
              </a:spcBef>
              <a:buFontTx/>
              <a:buNone/>
            </a:pPr>
            <a:r>
              <a:rPr lang="en-US" altLang="en-US" sz="2400" dirty="0">
                <a:latin typeface="Cambria" panose="02040503050406030204" pitchFamily="18" charset="0"/>
                <a:ea typeface="Cambria" panose="02040503050406030204" pitchFamily="18" charset="0"/>
              </a:rPr>
              <a:t>FROM    emp e1, </a:t>
            </a:r>
            <a:r>
              <a:rPr lang="en-US" altLang="en-US" sz="2400" dirty="0" err="1">
                <a:latin typeface="Cambria" panose="02040503050406030204" pitchFamily="18" charset="0"/>
                <a:ea typeface="Cambria" panose="02040503050406030204" pitchFamily="18" charset="0"/>
              </a:rPr>
              <a:t>cte</a:t>
            </a:r>
            <a:endParaRPr lang="en-US" altLang="en-US" sz="2400" dirty="0">
              <a:latin typeface="Cambria" panose="02040503050406030204" pitchFamily="18" charset="0"/>
              <a:ea typeface="Cambria" panose="02040503050406030204" pitchFamily="18" charset="0"/>
            </a:endParaRPr>
          </a:p>
          <a:p>
            <a:pPr>
              <a:spcBef>
                <a:spcPts val="300"/>
              </a:spcBef>
              <a:buFontTx/>
              <a:buNone/>
            </a:pPr>
            <a:r>
              <a:rPr lang="en-US" altLang="en-US" sz="2400" dirty="0">
                <a:latin typeface="Cambria" panose="02040503050406030204" pitchFamily="18" charset="0"/>
                <a:ea typeface="Cambria" panose="02040503050406030204" pitchFamily="18" charset="0"/>
              </a:rPr>
              <a:t>WHERE   e1.job = </a:t>
            </a:r>
            <a:r>
              <a:rPr lang="en-US" altLang="en-US" sz="2400" dirty="0" err="1">
                <a:latin typeface="Cambria" panose="02040503050406030204" pitchFamily="18" charset="0"/>
                <a:ea typeface="Cambria" panose="02040503050406030204" pitchFamily="18" charset="0"/>
              </a:rPr>
              <a:t>cte.job</a:t>
            </a:r>
            <a:endParaRPr lang="en-US" altLang="en-US" sz="2400" dirty="0">
              <a:latin typeface="Cambria" panose="02040503050406030204" pitchFamily="18" charset="0"/>
              <a:ea typeface="Cambria" panose="02040503050406030204" pitchFamily="18" charset="0"/>
            </a:endParaRPr>
          </a:p>
          <a:p>
            <a:pPr>
              <a:spcBef>
                <a:spcPts val="300"/>
              </a:spcBef>
              <a:buFontTx/>
              <a:buNone/>
            </a:pPr>
            <a:endParaRPr lang="en-US" altLang="en-US" sz="2400" dirty="0">
              <a:latin typeface="Cambria" panose="02040503050406030204" pitchFamily="18" charset="0"/>
              <a:ea typeface="Cambria" panose="02040503050406030204" pitchFamily="18" charset="0"/>
            </a:endParaRPr>
          </a:p>
          <a:p>
            <a:pPr>
              <a:spcBef>
                <a:spcPts val="300"/>
              </a:spcBef>
              <a:buFontTx/>
              <a:buNone/>
            </a:pPr>
            <a:endParaRPr lang="en-US" altLang="en-US" sz="2400" dirty="0">
              <a:latin typeface="Cambria" panose="02040503050406030204" pitchFamily="18" charset="0"/>
              <a:ea typeface="Cambria" panose="02040503050406030204" pitchFamily="18" charset="0"/>
            </a:endParaRPr>
          </a:p>
        </p:txBody>
      </p:sp>
      <p:graphicFrame>
        <p:nvGraphicFramePr>
          <p:cNvPr id="9" name="Table 8">
            <a:extLst>
              <a:ext uri="{FF2B5EF4-FFF2-40B4-BE49-F238E27FC236}">
                <a16:creationId xmlns:a16="http://schemas.microsoft.com/office/drawing/2014/main" id="{94E82463-B6CD-42A8-FA9C-013C2E8876E6}"/>
              </a:ext>
            </a:extLst>
          </p:cNvPr>
          <p:cNvGraphicFramePr>
            <a:graphicFrameLocks noGrp="1"/>
          </p:cNvGraphicFramePr>
          <p:nvPr/>
        </p:nvGraphicFramePr>
        <p:xfrm>
          <a:off x="1619672" y="3775075"/>
          <a:ext cx="5927724" cy="2606675"/>
        </p:xfrm>
        <a:graphic>
          <a:graphicData uri="http://schemas.openxmlformats.org/drawingml/2006/table">
            <a:tbl>
              <a:tblPr/>
              <a:tblGrid>
                <a:gridCol w="1481931">
                  <a:extLst>
                    <a:ext uri="{9D8B030D-6E8A-4147-A177-3AD203B41FA5}">
                      <a16:colId xmlns:a16="http://schemas.microsoft.com/office/drawing/2014/main" val="20000"/>
                    </a:ext>
                  </a:extLst>
                </a:gridCol>
                <a:gridCol w="1481931">
                  <a:extLst>
                    <a:ext uri="{9D8B030D-6E8A-4147-A177-3AD203B41FA5}">
                      <a16:colId xmlns:a16="http://schemas.microsoft.com/office/drawing/2014/main" val="20001"/>
                    </a:ext>
                  </a:extLst>
                </a:gridCol>
                <a:gridCol w="1481931">
                  <a:extLst>
                    <a:ext uri="{9D8B030D-6E8A-4147-A177-3AD203B41FA5}">
                      <a16:colId xmlns:a16="http://schemas.microsoft.com/office/drawing/2014/main" val="20002"/>
                    </a:ext>
                  </a:extLst>
                </a:gridCol>
                <a:gridCol w="1481931">
                  <a:extLst>
                    <a:ext uri="{9D8B030D-6E8A-4147-A177-3AD203B41FA5}">
                      <a16:colId xmlns:a16="http://schemas.microsoft.com/office/drawing/2014/main" val="20003"/>
                    </a:ext>
                  </a:extLst>
                </a:gridCol>
              </a:tblGrid>
              <a:tr h="365849">
                <a:tc>
                  <a:txBody>
                    <a:bodyPr/>
                    <a:lstStyle/>
                    <a:p>
                      <a:pPr fontAlgn="b"/>
                      <a:r>
                        <a:rPr lang="en-US" sz="1800" b="1" dirty="0">
                          <a:solidFill>
                            <a:srgbClr val="FFFFFF"/>
                          </a:solidFill>
                          <a:effectLst/>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rPr>
                        <a:t>Avg-Sal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1800" dirty="0">
                          <a:effectLst/>
                        </a:rPr>
                        <a:t>KING</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rPr>
                        <a:t>PRESIDENT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118">
                <a:tc>
                  <a:txBody>
                    <a:bodyPr/>
                    <a:lstStyle/>
                    <a:p>
                      <a:r>
                        <a:rPr lang="en-US" sz="1800" dirty="0">
                          <a:effectLst/>
                        </a:rPr>
                        <a:t>BLAKE</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2850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118">
                <a:tc>
                  <a:txBody>
                    <a:bodyPr/>
                    <a:lstStyle/>
                    <a:p>
                      <a:r>
                        <a:rPr lang="en-US" sz="1800" dirty="0">
                          <a:effectLst/>
                        </a:rPr>
                        <a:t>CLARK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2450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1800" dirty="0">
                          <a:effectLst/>
                        </a:rPr>
                        <a:t>JONES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2975</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1800" dirty="0">
                          <a:effectLst/>
                        </a:rPr>
                        <a:t>SCOTT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1800" dirty="0">
                          <a:effectLst/>
                        </a:rPr>
                        <a:t>FORD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1800">
                          <a:effectLst/>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rPr>
                        <a:t>1038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8728602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CF2EE-2848-DB86-7E74-FE91443EA45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F8A5541-2B85-A807-95F2-34F363FC35B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Correlated Subquery</a:t>
            </a:r>
          </a:p>
        </p:txBody>
      </p:sp>
      <p:sp>
        <p:nvSpPr>
          <p:cNvPr id="38915" name="Rectangle 3">
            <a:extLst>
              <a:ext uri="{FF2B5EF4-FFF2-40B4-BE49-F238E27FC236}">
                <a16:creationId xmlns:a16="http://schemas.microsoft.com/office/drawing/2014/main" id="{75CC593D-BFC8-DE39-8CBA-803334D9801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6163B8F-702E-15DE-2496-61AD8D93F21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999DC4B0-E678-F568-36D9-C2D01371DC8B}"/>
              </a:ext>
            </a:extLst>
          </p:cNvPr>
          <p:cNvSpPr txBox="1">
            <a:spLocks noChangeArrowheads="1"/>
          </p:cNvSpPr>
          <p:nvPr/>
        </p:nvSpPr>
        <p:spPr bwMode="auto">
          <a:xfrm>
            <a:off x="323849" y="620689"/>
            <a:ext cx="7830493" cy="540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Subquery in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FROM</a:t>
            </a: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 clause </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(inline view)</a:t>
            </a:r>
            <a:endParaRPr kumimoji="0" lang="en-US" altLang="en-US" sz="2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64B90D31-BE9C-F37B-4836-365E6955B5C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Rectangle 2">
            <a:extLst>
              <a:ext uri="{FF2B5EF4-FFF2-40B4-BE49-F238E27FC236}">
                <a16:creationId xmlns:a16="http://schemas.microsoft.com/office/drawing/2014/main" id="{45B817C6-0131-51B7-AC18-4CF91102DBF8}"/>
              </a:ext>
            </a:extLst>
          </p:cNvPr>
          <p:cNvSpPr>
            <a:spLocks noChangeArrowheads="1"/>
          </p:cNvSpPr>
          <p:nvPr/>
        </p:nvSpPr>
        <p:spPr bwMode="blackWhite">
          <a:xfrm>
            <a:off x="683568" y="1180752"/>
            <a:ext cx="7470775" cy="246427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7" name="Rectangle 10">
            <a:extLst>
              <a:ext uri="{FF2B5EF4-FFF2-40B4-BE49-F238E27FC236}">
                <a16:creationId xmlns:a16="http://schemas.microsoft.com/office/drawing/2014/main" id="{F220C5EA-79E8-3F76-1F5D-4A0B568A3801}"/>
              </a:ext>
            </a:extLst>
          </p:cNvPr>
          <p:cNvSpPr>
            <a:spLocks noChangeArrowheads="1"/>
          </p:cNvSpPr>
          <p:nvPr/>
        </p:nvSpPr>
        <p:spPr bwMode="blackWhite">
          <a:xfrm>
            <a:off x="778818" y="1524893"/>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SELECT  e1.ename, e1.job, e1.sal, e2.salavg</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FROM    emp e1, </a:t>
            </a:r>
          </a:p>
          <a:p>
            <a:pPr>
              <a:spcBef>
                <a:spcPts val="600"/>
              </a:spcBef>
              <a:buFontTx/>
              <a:buNone/>
            </a:pPr>
            <a:r>
              <a:rPr lang="en-US" altLang="en-US" sz="2400" dirty="0">
                <a:solidFill>
                  <a:srgbClr val="0000CC"/>
                </a:solidFill>
                <a:latin typeface="Cambria" panose="02040503050406030204" pitchFamily="18" charset="0"/>
                <a:ea typeface="Cambria" panose="02040503050406030204" pitchFamily="18" charset="0"/>
              </a:rPr>
              <a:t>(SELECT   job, round(avg(</a:t>
            </a:r>
            <a:r>
              <a:rPr lang="en-US" altLang="en-US" sz="2400" dirty="0" err="1">
                <a:solidFill>
                  <a:srgbClr val="0000CC"/>
                </a:solidFill>
                <a:latin typeface="Cambria" panose="02040503050406030204" pitchFamily="18" charset="0"/>
                <a:ea typeface="Cambria" panose="02040503050406030204" pitchFamily="18" charset="0"/>
              </a:rPr>
              <a:t>sal</a:t>
            </a:r>
            <a:r>
              <a:rPr lang="en-US" altLang="en-US" sz="2400" dirty="0">
                <a:solidFill>
                  <a:srgbClr val="0000CC"/>
                </a:solidFill>
                <a:latin typeface="Cambria" panose="02040503050406030204" pitchFamily="18" charset="0"/>
                <a:ea typeface="Cambria" panose="02040503050406030204" pitchFamily="18" charset="0"/>
              </a:rPr>
              <a:t>)) </a:t>
            </a:r>
            <a:r>
              <a:rPr lang="en-US" altLang="en-US" sz="2400" dirty="0" err="1">
                <a:solidFill>
                  <a:srgbClr val="0000CC"/>
                </a:solidFill>
                <a:latin typeface="Cambria" panose="02040503050406030204" pitchFamily="18" charset="0"/>
                <a:ea typeface="Cambria" panose="02040503050406030204" pitchFamily="18" charset="0"/>
              </a:rPr>
              <a:t>salavg</a:t>
            </a:r>
            <a:endParaRPr lang="en-US" altLang="en-US" sz="2400" dirty="0">
              <a:solidFill>
                <a:srgbClr val="0000CC"/>
              </a:solidFill>
              <a:latin typeface="Cambria" panose="02040503050406030204" pitchFamily="18" charset="0"/>
              <a:ea typeface="Cambria" panose="02040503050406030204" pitchFamily="18" charset="0"/>
            </a:endParaRPr>
          </a:p>
          <a:p>
            <a:pPr>
              <a:spcBef>
                <a:spcPts val="600"/>
              </a:spcBef>
              <a:buFontTx/>
              <a:buNone/>
            </a:pPr>
            <a:r>
              <a:rPr lang="en-US" altLang="en-US" sz="2400" dirty="0">
                <a:solidFill>
                  <a:srgbClr val="0000CC"/>
                </a:solidFill>
                <a:latin typeface="Cambria" panose="02040503050406030204" pitchFamily="18" charset="0"/>
                <a:ea typeface="Cambria" panose="02040503050406030204" pitchFamily="18" charset="0"/>
              </a:rPr>
              <a:t>FROM     emp GROUP BY job) e2</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WHERE   e1.job = e2.job</a:t>
            </a:r>
          </a:p>
        </p:txBody>
      </p:sp>
      <p:graphicFrame>
        <p:nvGraphicFramePr>
          <p:cNvPr id="8" name="Table 7">
            <a:extLst>
              <a:ext uri="{FF2B5EF4-FFF2-40B4-BE49-F238E27FC236}">
                <a16:creationId xmlns:a16="http://schemas.microsoft.com/office/drawing/2014/main" id="{CBAAF351-BA01-9683-62FC-6B19E2088ECF}"/>
              </a:ext>
            </a:extLst>
          </p:cNvPr>
          <p:cNvGraphicFramePr>
            <a:graphicFrameLocks noGrp="1"/>
          </p:cNvGraphicFramePr>
          <p:nvPr>
            <p:extLst>
              <p:ext uri="{D42A27DB-BD31-4B8C-83A1-F6EECF244321}">
                <p14:modId xmlns:p14="http://schemas.microsoft.com/office/powerpoint/2010/main" val="2288151131"/>
              </p:ext>
            </p:extLst>
          </p:nvPr>
        </p:nvGraphicFramePr>
        <p:xfrm>
          <a:off x="1469380" y="3861048"/>
          <a:ext cx="5927724" cy="2606675"/>
        </p:xfrm>
        <a:graphic>
          <a:graphicData uri="http://schemas.openxmlformats.org/drawingml/2006/table">
            <a:tbl>
              <a:tblPr/>
              <a:tblGrid>
                <a:gridCol w="1481931">
                  <a:extLst>
                    <a:ext uri="{9D8B030D-6E8A-4147-A177-3AD203B41FA5}">
                      <a16:colId xmlns:a16="http://schemas.microsoft.com/office/drawing/2014/main" val="20000"/>
                    </a:ext>
                  </a:extLst>
                </a:gridCol>
                <a:gridCol w="1481931">
                  <a:extLst>
                    <a:ext uri="{9D8B030D-6E8A-4147-A177-3AD203B41FA5}">
                      <a16:colId xmlns:a16="http://schemas.microsoft.com/office/drawing/2014/main" val="20001"/>
                    </a:ext>
                  </a:extLst>
                </a:gridCol>
                <a:gridCol w="1481931">
                  <a:extLst>
                    <a:ext uri="{9D8B030D-6E8A-4147-A177-3AD203B41FA5}">
                      <a16:colId xmlns:a16="http://schemas.microsoft.com/office/drawing/2014/main" val="20002"/>
                    </a:ext>
                  </a:extLst>
                </a:gridCol>
                <a:gridCol w="1481931">
                  <a:extLst>
                    <a:ext uri="{9D8B030D-6E8A-4147-A177-3AD203B41FA5}">
                      <a16:colId xmlns:a16="http://schemas.microsoft.com/office/drawing/2014/main" val="20003"/>
                    </a:ext>
                  </a:extLst>
                </a:gridCol>
              </a:tblGrid>
              <a:tr h="365849">
                <a:tc>
                  <a:txBody>
                    <a:bodyPr/>
                    <a:lstStyle/>
                    <a:p>
                      <a:pPr fontAlgn="b"/>
                      <a:r>
                        <a:rPr lang="en-US" sz="1800" b="1">
                          <a:solidFill>
                            <a:srgbClr val="FFFFFF"/>
                          </a:solidFill>
                          <a:effectLst/>
                          <a:latin typeface="Cambria" panose="02040503050406030204" pitchFamily="18" charset="0"/>
                          <a:ea typeface="Cambria" panose="02040503050406030204" pitchFamily="18" charset="0"/>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latin typeface="Cambria" panose="02040503050406030204" pitchFamily="18" charset="0"/>
                          <a:ea typeface="Cambria" panose="02040503050406030204" pitchFamily="18" charset="0"/>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latin typeface="Cambria" panose="02040503050406030204" pitchFamily="18" charset="0"/>
                          <a:ea typeface="Cambria" panose="02040503050406030204" pitchFamily="18" charset="0"/>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latin typeface="Cambria" panose="02040503050406030204" pitchFamily="18" charset="0"/>
                          <a:ea typeface="Cambria" panose="02040503050406030204" pitchFamily="18" charset="0"/>
                        </a:rPr>
                        <a:t>avg-job-sal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1800">
                          <a:effectLst/>
                          <a:latin typeface="Cambria" panose="02040503050406030204" pitchFamily="18" charset="0"/>
                          <a:ea typeface="Cambria" panose="02040503050406030204" pitchFamily="18" charset="0"/>
                        </a:rPr>
                        <a:t>KING</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PRESIDENT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118">
                <a:tc>
                  <a:txBody>
                    <a:bodyPr/>
                    <a:lstStyle/>
                    <a:p>
                      <a:r>
                        <a:rPr lang="en-US" sz="1800">
                          <a:effectLst/>
                          <a:latin typeface="Cambria" panose="02040503050406030204" pitchFamily="18" charset="0"/>
                          <a:ea typeface="Cambria" panose="02040503050406030204" pitchFamily="18" charset="0"/>
                        </a:rPr>
                        <a:t>BLAKE</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2850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118">
                <a:tc>
                  <a:txBody>
                    <a:bodyPr/>
                    <a:lstStyle/>
                    <a:p>
                      <a:r>
                        <a:rPr lang="en-US" sz="1800">
                          <a:effectLst/>
                          <a:latin typeface="Cambria" panose="02040503050406030204" pitchFamily="18" charset="0"/>
                          <a:ea typeface="Cambria" panose="02040503050406030204" pitchFamily="18" charset="0"/>
                        </a:rPr>
                        <a:t>CLARK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2450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1800">
                          <a:effectLst/>
                          <a:latin typeface="Cambria" panose="02040503050406030204" pitchFamily="18" charset="0"/>
                          <a:ea typeface="Cambria" panose="02040503050406030204" pitchFamily="18" charset="0"/>
                        </a:rPr>
                        <a:t>JONES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2975</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1800">
                          <a:effectLst/>
                          <a:latin typeface="Cambria" panose="02040503050406030204" pitchFamily="18" charset="0"/>
                          <a:ea typeface="Cambria" panose="02040503050406030204" pitchFamily="18" charset="0"/>
                        </a:rPr>
                        <a:t>SCOTT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1800">
                          <a:effectLst/>
                          <a:latin typeface="Cambria" panose="02040503050406030204" pitchFamily="18" charset="0"/>
                          <a:ea typeface="Cambria" panose="02040503050406030204" pitchFamily="18" charset="0"/>
                        </a:rPr>
                        <a:t>FORD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1800">
                          <a:effectLst/>
                          <a:latin typeface="Cambria" panose="02040503050406030204" pitchFamily="18" charset="0"/>
                          <a:ea typeface="Cambria" panose="02040503050406030204" pitchFamily="18" charset="0"/>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latin typeface="Cambria" panose="02040503050406030204" pitchFamily="18" charset="0"/>
                          <a:ea typeface="Cambria" panose="02040503050406030204" pitchFamily="18" charset="0"/>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latin typeface="Cambria" panose="02040503050406030204" pitchFamily="18" charset="0"/>
                          <a:ea typeface="Cambria" panose="02040503050406030204" pitchFamily="18" charset="0"/>
                        </a:rPr>
                        <a:t>1038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6238020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6A61B-89A9-D298-86F1-67469A246A0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58001BA-173C-290D-D3E6-3E74B96B9B3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Correlated Subquery</a:t>
            </a:r>
          </a:p>
        </p:txBody>
      </p:sp>
      <p:sp>
        <p:nvSpPr>
          <p:cNvPr id="2" name="Slide Number Placeholder 23">
            <a:extLst>
              <a:ext uri="{FF2B5EF4-FFF2-40B4-BE49-F238E27FC236}">
                <a16:creationId xmlns:a16="http://schemas.microsoft.com/office/drawing/2014/main" id="{23FA431A-DA86-7126-3789-23373076ED2D}"/>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49FFCE1-BA6B-8B52-DC4A-855F78FCD740}"/>
              </a:ext>
            </a:extLst>
          </p:cNvPr>
          <p:cNvSpPr txBox="1">
            <a:spLocks noChangeArrowheads="1"/>
          </p:cNvSpPr>
          <p:nvPr/>
        </p:nvSpPr>
        <p:spPr bwMode="auto">
          <a:xfrm>
            <a:off x="323849" y="728566"/>
            <a:ext cx="7830493" cy="540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Subquery in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FROM</a:t>
            </a: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 clause </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(inline view)</a:t>
            </a:r>
            <a:endParaRPr kumimoji="0" lang="en-US" altLang="en-US" sz="2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6ECB1730-4251-C03A-3787-1B7E37C0080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2">
            <a:extLst>
              <a:ext uri="{FF2B5EF4-FFF2-40B4-BE49-F238E27FC236}">
                <a16:creationId xmlns:a16="http://schemas.microsoft.com/office/drawing/2014/main" id="{A5B9511E-88B1-F9EA-EB66-BB3882643DF4}"/>
              </a:ext>
            </a:extLst>
          </p:cNvPr>
          <p:cNvSpPr>
            <a:spLocks noChangeArrowheads="1"/>
          </p:cNvSpPr>
          <p:nvPr/>
        </p:nvSpPr>
        <p:spPr bwMode="blackWhite">
          <a:xfrm>
            <a:off x="935038" y="1347440"/>
            <a:ext cx="7491412" cy="19748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9" name="Rectangle 3">
            <a:extLst>
              <a:ext uri="{FF2B5EF4-FFF2-40B4-BE49-F238E27FC236}">
                <a16:creationId xmlns:a16="http://schemas.microsoft.com/office/drawing/2014/main" id="{47132862-D95D-D306-BEEE-3866C31A1411}"/>
              </a:ext>
            </a:extLst>
          </p:cNvPr>
          <p:cNvSpPr>
            <a:spLocks noChangeArrowheads="1"/>
          </p:cNvSpPr>
          <p:nvPr/>
        </p:nvSpPr>
        <p:spPr bwMode="auto">
          <a:xfrm>
            <a:off x="3752850" y="1707803"/>
            <a:ext cx="4591050" cy="884237"/>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0" name="Rectangle 5">
            <a:extLst>
              <a:ext uri="{FF2B5EF4-FFF2-40B4-BE49-F238E27FC236}">
                <a16:creationId xmlns:a16="http://schemas.microsoft.com/office/drawing/2014/main" id="{95115416-64AB-AA90-302A-CBE9685BAE67}"/>
              </a:ext>
            </a:extLst>
          </p:cNvPr>
          <p:cNvSpPr>
            <a:spLocks noChangeArrowheads="1"/>
          </p:cNvSpPr>
          <p:nvPr/>
        </p:nvSpPr>
        <p:spPr bwMode="blackWhite">
          <a:xfrm>
            <a:off x="935038" y="3533428"/>
            <a:ext cx="7491412" cy="205581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SAL    DEPTNO     SALAVG</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KING            5000        10  2916.6667</a:t>
            </a:r>
          </a:p>
          <a:p>
            <a:pPr>
              <a:spcBef>
                <a:spcPct val="0"/>
              </a:spcBef>
              <a:buFontTx/>
              <a:buNone/>
            </a:pPr>
            <a:r>
              <a:rPr lang="en-US" altLang="en-US" sz="1800" b="1">
                <a:solidFill>
                  <a:srgbClr val="000000"/>
                </a:solidFill>
                <a:latin typeface="Courier New" panose="02070309020205020404" pitchFamily="49" charset="0"/>
              </a:rPr>
              <a:t>JONES           2975        20       2175</a:t>
            </a:r>
          </a:p>
          <a:p>
            <a:pPr>
              <a:spcBef>
                <a:spcPct val="0"/>
              </a:spcBef>
              <a:buFontTx/>
              <a:buNone/>
            </a:pPr>
            <a:r>
              <a:rPr lang="en-US" altLang="en-US" sz="1800" b="1">
                <a:solidFill>
                  <a:srgbClr val="000000"/>
                </a:solidFill>
                <a:latin typeface="Courier New" panose="02070309020205020404" pitchFamily="49" charset="0"/>
              </a:rPr>
              <a:t>SCOTT           3000        20       2175</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6 rows selected.</a:t>
            </a:r>
          </a:p>
        </p:txBody>
      </p:sp>
      <p:sp>
        <p:nvSpPr>
          <p:cNvPr id="11" name="Rectangle 6">
            <a:extLst>
              <a:ext uri="{FF2B5EF4-FFF2-40B4-BE49-F238E27FC236}">
                <a16:creationId xmlns:a16="http://schemas.microsoft.com/office/drawing/2014/main" id="{817386C5-C614-B6DD-24D0-D969523F640B}"/>
              </a:ext>
            </a:extLst>
          </p:cNvPr>
          <p:cNvSpPr>
            <a:spLocks noChangeArrowheads="1"/>
          </p:cNvSpPr>
          <p:nvPr/>
        </p:nvSpPr>
        <p:spPr bwMode="blackWhite">
          <a:xfrm>
            <a:off x="922338" y="1509365"/>
            <a:ext cx="7180262"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a.ename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a.sal</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a.deptno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b.salavg</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2  FROM    emp a, (SELECT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avg(</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salavg</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3                  FROM     emp</a:t>
            </a:r>
          </a:p>
          <a:p>
            <a:pPr>
              <a:spcBef>
                <a:spcPct val="0"/>
              </a:spcBef>
              <a:buFontTx/>
              <a:buNone/>
            </a:pPr>
            <a:r>
              <a:rPr lang="en-US" altLang="en-US" sz="1800" b="1" dirty="0">
                <a:solidFill>
                  <a:srgbClr val="000000"/>
                </a:solidFill>
                <a:latin typeface="Courier New" panose="02070309020205020404" pitchFamily="49" charset="0"/>
              </a:rPr>
              <a:t>  4                  GROUP BY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b</a:t>
            </a:r>
          </a:p>
          <a:p>
            <a:pPr>
              <a:spcBef>
                <a:spcPct val="0"/>
              </a:spcBef>
              <a:buFontTx/>
              <a:buNone/>
            </a:pPr>
            <a:r>
              <a:rPr lang="en-US" altLang="en-US" sz="1800" b="1" dirty="0">
                <a:solidFill>
                  <a:srgbClr val="000000"/>
                </a:solidFill>
                <a:latin typeface="Courier New" panose="02070309020205020404" pitchFamily="49" charset="0"/>
              </a:rPr>
              <a:t>  5  WHERE   </a:t>
            </a:r>
            <a:r>
              <a:rPr lang="en-US" altLang="en-US" sz="1800" b="1" dirty="0" err="1">
                <a:solidFill>
                  <a:srgbClr val="000000"/>
                </a:solidFill>
                <a:latin typeface="Courier New" panose="02070309020205020404" pitchFamily="49" charset="0"/>
              </a:rPr>
              <a:t>a.deptno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b.deptno</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6  AND     </a:t>
            </a:r>
            <a:r>
              <a:rPr lang="en-US" altLang="en-US" sz="1800" b="1" dirty="0" err="1">
                <a:solidFill>
                  <a:srgbClr val="000000"/>
                </a:solidFill>
                <a:latin typeface="Courier New" panose="02070309020205020404" pitchFamily="49" charset="0"/>
              </a:rPr>
              <a:t>a.sal</a:t>
            </a:r>
            <a:r>
              <a:rPr lang="en-US" altLang="en-US" sz="1800" b="1" dirty="0">
                <a:solidFill>
                  <a:srgbClr val="000000"/>
                </a:solidFill>
                <a:latin typeface="Courier New" panose="02070309020205020404" pitchFamily="49" charset="0"/>
              </a:rPr>
              <a:t> &gt; </a:t>
            </a:r>
            <a:r>
              <a:rPr lang="en-US" altLang="en-US" sz="1800" b="1" dirty="0" err="1">
                <a:solidFill>
                  <a:srgbClr val="000000"/>
                </a:solidFill>
                <a:latin typeface="Courier New" panose="02070309020205020404" pitchFamily="49" charset="0"/>
              </a:rPr>
              <a:t>b.salavg</a:t>
            </a:r>
            <a:r>
              <a:rPr lang="en-US" altLang="en-US" sz="18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262936310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8E543-2112-97BD-55FE-217499DDAFC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AF2E841-9FEA-CFD2-FC06-408ED6CB8792}"/>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Correlated Subquery</a:t>
            </a:r>
          </a:p>
        </p:txBody>
      </p:sp>
      <p:sp>
        <p:nvSpPr>
          <p:cNvPr id="38915" name="Rectangle 3">
            <a:extLst>
              <a:ext uri="{FF2B5EF4-FFF2-40B4-BE49-F238E27FC236}">
                <a16:creationId xmlns:a16="http://schemas.microsoft.com/office/drawing/2014/main" id="{4B415E8A-92BE-8203-FD4E-73650A46043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9582BB6-B081-BBAC-2D83-A746007477CD}"/>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2E9DA822-2C3E-C548-2045-3AB8BC2EF8EB}"/>
              </a:ext>
            </a:extLst>
          </p:cNvPr>
          <p:cNvSpPr txBox="1">
            <a:spLocks noChangeArrowheads="1"/>
          </p:cNvSpPr>
          <p:nvPr/>
        </p:nvSpPr>
        <p:spPr bwMode="auto">
          <a:xfrm>
            <a:off x="394866" y="646451"/>
            <a:ext cx="8394700" cy="1198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employees with salary greater than the average salary of the employees doing the same job.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2AA68516-05A9-9411-EF51-FA39410020B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TextBox 4">
            <a:extLst>
              <a:ext uri="{FF2B5EF4-FFF2-40B4-BE49-F238E27FC236}">
                <a16:creationId xmlns:a16="http://schemas.microsoft.com/office/drawing/2014/main" id="{93BDE658-1AA2-D172-6A75-17027FF42F66}"/>
              </a:ext>
            </a:extLst>
          </p:cNvPr>
          <p:cNvSpPr txBox="1"/>
          <p:nvPr/>
        </p:nvSpPr>
        <p:spPr>
          <a:xfrm>
            <a:off x="899592" y="1582832"/>
            <a:ext cx="7488832" cy="2554545"/>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600"/>
              </a:spcAft>
            </a:pPr>
            <a:r>
              <a:rPr lang="en-US" dirty="0">
                <a:latin typeface="Cambria" panose="02040503050406030204" pitchFamily="18" charset="0"/>
                <a:ea typeface="Cambria" panose="02040503050406030204" pitchFamily="18" charset="0"/>
              </a:rPr>
              <a:t>SELECT e1.ename, e1.job, e1.sal, </a:t>
            </a:r>
          </a:p>
          <a:p>
            <a:pPr>
              <a:spcBef>
                <a:spcPts val="600"/>
              </a:spcBef>
              <a:spcAft>
                <a:spcPts val="600"/>
              </a:spcAft>
            </a:pPr>
            <a:r>
              <a:rPr lang="en-US" dirty="0">
                <a:solidFill>
                  <a:srgbClr val="0000CC"/>
                </a:solidFill>
                <a:latin typeface="Cambria" panose="02040503050406030204" pitchFamily="18" charset="0"/>
                <a:ea typeface="Cambria" panose="02040503050406030204" pitchFamily="18" charset="0"/>
              </a:rPr>
              <a:t>	</a:t>
            </a:r>
            <a:r>
              <a:rPr lang="en-US" dirty="0">
                <a:solidFill>
                  <a:srgbClr val="0000CC"/>
                </a:solidFill>
                <a:highlight>
                  <a:srgbClr val="FFFF00"/>
                </a:highlight>
                <a:latin typeface="Cambria" panose="02040503050406030204" pitchFamily="18" charset="0"/>
                <a:ea typeface="Cambria" panose="02040503050406030204" pitchFamily="18" charset="0"/>
              </a:rPr>
              <a:t>(SELECT round(avg(</a:t>
            </a:r>
            <a:r>
              <a:rPr lang="en-US" dirty="0" err="1">
                <a:solidFill>
                  <a:srgbClr val="0000CC"/>
                </a:solidFill>
                <a:highlight>
                  <a:srgbClr val="FFFF00"/>
                </a:highlight>
                <a:latin typeface="Cambria" panose="02040503050406030204" pitchFamily="18" charset="0"/>
                <a:ea typeface="Cambria" panose="02040503050406030204" pitchFamily="18" charset="0"/>
              </a:rPr>
              <a:t>sal</a:t>
            </a:r>
            <a:r>
              <a:rPr lang="en-US" dirty="0">
                <a:solidFill>
                  <a:srgbClr val="0000CC"/>
                </a:solidFill>
                <a:highlight>
                  <a:srgbClr val="FFFF00"/>
                </a:highlight>
                <a:latin typeface="Cambria" panose="02040503050406030204" pitchFamily="18" charset="0"/>
                <a:ea typeface="Cambria" panose="02040503050406030204" pitchFamily="18" charset="0"/>
              </a:rPr>
              <a:t>)) FROM emp e2</a:t>
            </a:r>
            <a:r>
              <a:rPr lang="en-US" dirty="0">
                <a:highlight>
                  <a:srgbClr val="FFFF00"/>
                </a:highlight>
                <a:latin typeface="Cambria" panose="02040503050406030204" pitchFamily="18" charset="0"/>
                <a:ea typeface="Cambria" panose="02040503050406030204" pitchFamily="18" charset="0"/>
              </a:rPr>
              <a:t> </a:t>
            </a:r>
          </a:p>
          <a:p>
            <a:pPr>
              <a:spcBef>
                <a:spcPts val="600"/>
              </a:spcBef>
              <a:spcAft>
                <a:spcPts val="600"/>
              </a:spcAft>
            </a:pPr>
            <a:r>
              <a:rPr lang="en-US" dirty="0">
                <a:latin typeface="Cambria" panose="02040503050406030204" pitchFamily="18" charset="0"/>
                <a:ea typeface="Cambria" panose="02040503050406030204" pitchFamily="18" charset="0"/>
              </a:rPr>
              <a:t>	</a:t>
            </a:r>
            <a:r>
              <a:rPr lang="en-US" dirty="0">
                <a:highlight>
                  <a:srgbClr val="FFFF00"/>
                </a:highlight>
                <a:latin typeface="Cambria" panose="02040503050406030204" pitchFamily="18" charset="0"/>
                <a:ea typeface="Cambria" panose="02040503050406030204" pitchFamily="18" charset="0"/>
              </a:rPr>
              <a:t>WHERE </a:t>
            </a:r>
            <a:r>
              <a:rPr lang="en-US" dirty="0">
                <a:solidFill>
                  <a:srgbClr val="FF0000"/>
                </a:solidFill>
                <a:highlight>
                  <a:srgbClr val="FFFF00"/>
                </a:highlight>
                <a:latin typeface="Cambria" panose="02040503050406030204" pitchFamily="18" charset="0"/>
                <a:ea typeface="Cambria" panose="02040503050406030204" pitchFamily="18" charset="0"/>
              </a:rPr>
              <a:t>e1.job=e2.job)</a:t>
            </a:r>
            <a:r>
              <a:rPr lang="en-US" dirty="0">
                <a:latin typeface="Cambria" panose="02040503050406030204" pitchFamily="18" charset="0"/>
                <a:ea typeface="Cambria" panose="02040503050406030204" pitchFamily="18" charset="0"/>
              </a:rPr>
              <a:t> “AVG" FROM emp e1</a:t>
            </a:r>
          </a:p>
          <a:p>
            <a:pPr>
              <a:spcBef>
                <a:spcPts val="600"/>
              </a:spcBef>
              <a:spcAft>
                <a:spcPts val="600"/>
              </a:spcAft>
            </a:pPr>
            <a:r>
              <a:rPr lang="en-US" dirty="0">
                <a:latin typeface="Cambria" panose="02040503050406030204" pitchFamily="18" charset="0"/>
                <a:ea typeface="Cambria" panose="02040503050406030204" pitchFamily="18" charset="0"/>
              </a:rPr>
              <a:t>WHERE </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&lt;	</a:t>
            </a:r>
            <a:r>
              <a:rPr lang="en-US" dirty="0">
                <a:highlight>
                  <a:srgbClr val="FFFF00"/>
                </a:highlight>
                <a:latin typeface="Cambria" panose="02040503050406030204" pitchFamily="18" charset="0"/>
                <a:ea typeface="Cambria" panose="02040503050406030204" pitchFamily="18" charset="0"/>
              </a:rPr>
              <a:t>(</a:t>
            </a:r>
            <a:r>
              <a:rPr lang="en-US" dirty="0">
                <a:solidFill>
                  <a:srgbClr val="0000CC"/>
                </a:solidFill>
                <a:highlight>
                  <a:srgbClr val="FFFF00"/>
                </a:highlight>
                <a:latin typeface="Cambria" panose="02040503050406030204" pitchFamily="18" charset="0"/>
                <a:ea typeface="Cambria" panose="02040503050406030204" pitchFamily="18" charset="0"/>
              </a:rPr>
              <a:t>SELECT round(avg(</a:t>
            </a:r>
            <a:r>
              <a:rPr lang="en-US" dirty="0" err="1">
                <a:solidFill>
                  <a:srgbClr val="0000CC"/>
                </a:solidFill>
                <a:highlight>
                  <a:srgbClr val="FFFF00"/>
                </a:highlight>
                <a:latin typeface="Cambria" panose="02040503050406030204" pitchFamily="18" charset="0"/>
                <a:ea typeface="Cambria" panose="02040503050406030204" pitchFamily="18" charset="0"/>
              </a:rPr>
              <a:t>sal</a:t>
            </a:r>
            <a:r>
              <a:rPr lang="en-US" dirty="0">
                <a:solidFill>
                  <a:srgbClr val="0000CC"/>
                </a:solidFill>
                <a:highlight>
                  <a:srgbClr val="FFFF00"/>
                </a:highlight>
                <a:latin typeface="Cambria" panose="02040503050406030204" pitchFamily="18" charset="0"/>
                <a:ea typeface="Cambria" panose="02040503050406030204" pitchFamily="18" charset="0"/>
              </a:rPr>
              <a:t>)) from emp</a:t>
            </a:r>
          </a:p>
          <a:p>
            <a:pPr>
              <a:spcBef>
                <a:spcPts val="600"/>
              </a:spcBef>
              <a:spcAft>
                <a:spcPts val="600"/>
              </a:spcAft>
            </a:pPr>
            <a:r>
              <a:rPr lang="en-US" dirty="0">
                <a:latin typeface="Cambria" panose="02040503050406030204" pitchFamily="18" charset="0"/>
                <a:ea typeface="Cambria" panose="02040503050406030204" pitchFamily="18" charset="0"/>
              </a:rPr>
              <a:t>		</a:t>
            </a:r>
            <a:r>
              <a:rPr lang="en-US" dirty="0">
                <a:highlight>
                  <a:srgbClr val="FFFF00"/>
                </a:highlight>
                <a:latin typeface="Cambria" panose="02040503050406030204" pitchFamily="18" charset="0"/>
                <a:ea typeface="Cambria" panose="02040503050406030204" pitchFamily="18" charset="0"/>
              </a:rPr>
              <a:t>WHERE </a:t>
            </a:r>
            <a:r>
              <a:rPr lang="en-US" dirty="0">
                <a:solidFill>
                  <a:srgbClr val="FF0000"/>
                </a:solidFill>
                <a:highlight>
                  <a:srgbClr val="FFFF00"/>
                </a:highlight>
                <a:latin typeface="Cambria" panose="02040503050406030204" pitchFamily="18" charset="0"/>
                <a:ea typeface="Cambria" panose="02040503050406030204" pitchFamily="18" charset="0"/>
              </a:rPr>
              <a:t>e1.job=</a:t>
            </a:r>
            <a:r>
              <a:rPr lang="en-US" dirty="0" err="1">
                <a:solidFill>
                  <a:srgbClr val="FF0000"/>
                </a:solidFill>
                <a:highlight>
                  <a:srgbClr val="FFFF00"/>
                </a:highlight>
                <a:latin typeface="Cambria" panose="02040503050406030204" pitchFamily="18" charset="0"/>
                <a:ea typeface="Cambria" panose="02040503050406030204" pitchFamily="18" charset="0"/>
              </a:rPr>
              <a:t>emp.job</a:t>
            </a:r>
            <a:r>
              <a:rPr lang="en-US" dirty="0">
                <a:solidFill>
                  <a:srgbClr val="FF0000"/>
                </a:solidFill>
                <a:highlight>
                  <a:srgbClr val="FFFF00"/>
                </a:highlight>
                <a:latin typeface="Cambria" panose="02040503050406030204" pitchFamily="18" charset="0"/>
                <a:ea typeface="Cambria" panose="02040503050406030204" pitchFamily="18" charset="0"/>
              </a:rPr>
              <a:t>)</a:t>
            </a:r>
            <a:r>
              <a:rPr lang="en-US" dirty="0">
                <a:solidFill>
                  <a:srgbClr val="FF0000"/>
                </a:solidFill>
                <a:latin typeface="Cambria" panose="02040503050406030204" pitchFamily="18" charset="0"/>
                <a:ea typeface="Cambria" panose="02040503050406030204" pitchFamily="18" charset="0"/>
              </a:rPr>
              <a:t> </a:t>
            </a:r>
          </a:p>
        </p:txBody>
      </p:sp>
      <p:graphicFrame>
        <p:nvGraphicFramePr>
          <p:cNvPr id="6" name="Table 5">
            <a:extLst>
              <a:ext uri="{FF2B5EF4-FFF2-40B4-BE49-F238E27FC236}">
                <a16:creationId xmlns:a16="http://schemas.microsoft.com/office/drawing/2014/main" id="{3EC657AE-947C-D5A1-EFD3-339ED408A63C}"/>
              </a:ext>
            </a:extLst>
          </p:cNvPr>
          <p:cNvGraphicFramePr>
            <a:graphicFrameLocks noGrp="1"/>
          </p:cNvGraphicFramePr>
          <p:nvPr>
            <p:extLst>
              <p:ext uri="{D42A27DB-BD31-4B8C-83A1-F6EECF244321}">
                <p14:modId xmlns:p14="http://schemas.microsoft.com/office/powerpoint/2010/main" val="3551005720"/>
              </p:ext>
            </p:extLst>
          </p:nvPr>
        </p:nvGraphicFramePr>
        <p:xfrm>
          <a:off x="1691680" y="4304414"/>
          <a:ext cx="5832648" cy="2148922"/>
        </p:xfrm>
        <a:graphic>
          <a:graphicData uri="http://schemas.openxmlformats.org/drawingml/2006/table">
            <a:tbl>
              <a:tblPr/>
              <a:tblGrid>
                <a:gridCol w="1458162">
                  <a:extLst>
                    <a:ext uri="{9D8B030D-6E8A-4147-A177-3AD203B41FA5}">
                      <a16:colId xmlns:a16="http://schemas.microsoft.com/office/drawing/2014/main" val="20000"/>
                    </a:ext>
                  </a:extLst>
                </a:gridCol>
                <a:gridCol w="1458162">
                  <a:extLst>
                    <a:ext uri="{9D8B030D-6E8A-4147-A177-3AD203B41FA5}">
                      <a16:colId xmlns:a16="http://schemas.microsoft.com/office/drawing/2014/main" val="20001"/>
                    </a:ext>
                  </a:extLst>
                </a:gridCol>
                <a:gridCol w="1458162">
                  <a:extLst>
                    <a:ext uri="{9D8B030D-6E8A-4147-A177-3AD203B41FA5}">
                      <a16:colId xmlns:a16="http://schemas.microsoft.com/office/drawing/2014/main" val="20002"/>
                    </a:ext>
                  </a:extLst>
                </a:gridCol>
                <a:gridCol w="1458162">
                  <a:extLst>
                    <a:ext uri="{9D8B030D-6E8A-4147-A177-3AD203B41FA5}">
                      <a16:colId xmlns:a16="http://schemas.microsoft.com/office/drawing/2014/main" val="742945049"/>
                    </a:ext>
                  </a:extLst>
                </a:gridCol>
              </a:tblGrid>
              <a:tr h="365849">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a:solidFill>
                            <a:srgbClr val="FFFFFF"/>
                          </a:solidFill>
                          <a:effectLst/>
                          <a:latin typeface="Cambria" panose="02040503050406030204" pitchFamily="18" charset="0"/>
                          <a:ea typeface="Cambria" panose="02040503050406030204" pitchFamily="18" charset="0"/>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AVG</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2000" dirty="0">
                          <a:effectLst/>
                          <a:latin typeface="Cambria" panose="02040503050406030204" pitchFamily="18" charset="0"/>
                          <a:ea typeface="Cambria" panose="02040503050406030204" pitchFamily="18" charset="0"/>
                        </a:rPr>
                        <a:t>CLARK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2450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2000" dirty="0">
                          <a:effectLst/>
                          <a:latin typeface="Cambria" panose="02040503050406030204" pitchFamily="18" charset="0"/>
                          <a:ea typeface="Cambria" panose="02040503050406030204" pitchFamily="18" charset="0"/>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1038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2000" dirty="0">
                          <a:effectLst/>
                          <a:latin typeface="Cambria" panose="02040503050406030204" pitchFamily="18" charset="0"/>
                          <a:ea typeface="Cambria" panose="02040503050406030204" pitchFamily="18" charset="0"/>
                        </a:rPr>
                        <a:t>WARD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1250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1400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2000" dirty="0">
                          <a:effectLst/>
                          <a:latin typeface="Cambria" panose="02040503050406030204" pitchFamily="18" charset="0"/>
                          <a:ea typeface="Cambria" panose="02040503050406030204" pitchFamily="18" charset="0"/>
                        </a:rPr>
                        <a:t>MARTIN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SALESMAN</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1250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1400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2000" dirty="0">
                          <a:effectLst/>
                          <a:latin typeface="Cambria" panose="02040503050406030204" pitchFamily="18" charset="0"/>
                          <a:ea typeface="Cambria" panose="02040503050406030204" pitchFamily="18" charset="0"/>
                        </a:rPr>
                        <a:t>JAMES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950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1038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6187586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2FCA4-6768-0BF2-3284-AC9E2B89FD5D}"/>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5101F8D-09C0-380A-E76C-AE7E692790DF}"/>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Correlated Subquery</a:t>
            </a:r>
          </a:p>
        </p:txBody>
      </p:sp>
      <p:sp>
        <p:nvSpPr>
          <p:cNvPr id="38915" name="Rectangle 3">
            <a:extLst>
              <a:ext uri="{FF2B5EF4-FFF2-40B4-BE49-F238E27FC236}">
                <a16:creationId xmlns:a16="http://schemas.microsoft.com/office/drawing/2014/main" id="{C82DE585-869B-C85B-7825-AB06EF0260C0}"/>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68A82611-64D7-E8D9-49A3-A9E95183A42B}"/>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85E3D101-5AA4-2C1E-6B79-F175BE4B8EBE}"/>
              </a:ext>
            </a:extLst>
          </p:cNvPr>
          <p:cNvSpPr txBox="1">
            <a:spLocks noChangeArrowheads="1"/>
          </p:cNvSpPr>
          <p:nvPr/>
        </p:nvSpPr>
        <p:spPr bwMode="auto">
          <a:xfrm>
            <a:off x="394866" y="646451"/>
            <a:ext cx="8394700"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List all the jobs with average salary above the average salary of all the employees.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E82E8855-C2CD-D2E5-F597-F070243EB1C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7" name="Table 6">
            <a:extLst>
              <a:ext uri="{FF2B5EF4-FFF2-40B4-BE49-F238E27FC236}">
                <a16:creationId xmlns:a16="http://schemas.microsoft.com/office/drawing/2014/main" id="{F712F21F-3AD3-85B6-DAC0-DC6B1983EBB1}"/>
              </a:ext>
            </a:extLst>
          </p:cNvPr>
          <p:cNvGraphicFramePr>
            <a:graphicFrameLocks noGrp="1"/>
          </p:cNvGraphicFramePr>
          <p:nvPr>
            <p:extLst>
              <p:ext uri="{D42A27DB-BD31-4B8C-83A1-F6EECF244321}">
                <p14:modId xmlns:p14="http://schemas.microsoft.com/office/powerpoint/2010/main" val="2728216608"/>
              </p:ext>
            </p:extLst>
          </p:nvPr>
        </p:nvGraphicFramePr>
        <p:xfrm>
          <a:off x="6157305" y="1822730"/>
          <a:ext cx="2550542" cy="1447858"/>
        </p:xfrm>
        <a:graphic>
          <a:graphicData uri="http://schemas.openxmlformats.org/drawingml/2006/table">
            <a:tbl>
              <a:tblPr/>
              <a:tblGrid>
                <a:gridCol w="1440160">
                  <a:extLst>
                    <a:ext uri="{9D8B030D-6E8A-4147-A177-3AD203B41FA5}">
                      <a16:colId xmlns:a16="http://schemas.microsoft.com/office/drawing/2014/main" val="20001"/>
                    </a:ext>
                  </a:extLst>
                </a:gridCol>
                <a:gridCol w="1110382">
                  <a:extLst>
                    <a:ext uri="{9D8B030D-6E8A-4147-A177-3AD203B41FA5}">
                      <a16:colId xmlns:a16="http://schemas.microsoft.com/office/drawing/2014/main" val="20002"/>
                    </a:ext>
                  </a:extLst>
                </a:gridCol>
              </a:tblGrid>
              <a:tr h="365849">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rgbClr val="FFFFFF"/>
                          </a:solidFill>
                          <a:effectLst/>
                          <a:latin typeface="Cambria" panose="02040503050406030204" pitchFamily="18" charset="0"/>
                          <a:ea typeface="Cambria" panose="02040503050406030204" pitchFamily="18" charset="0"/>
                        </a:rPr>
                        <a:t>Avg-Sal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2000" dirty="0">
                          <a:effectLst/>
                          <a:latin typeface="Cambria" panose="02040503050406030204" pitchFamily="18" charset="0"/>
                          <a:ea typeface="Cambria" panose="02040503050406030204" pitchFamily="18" charset="0"/>
                        </a:rPr>
                        <a:t>PRESIDENT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2000" dirty="0">
                          <a:effectLst/>
                          <a:latin typeface="Cambria" panose="02040503050406030204" pitchFamily="18" charset="0"/>
                          <a:ea typeface="Cambria" panose="02040503050406030204" pitchFamily="18" charset="0"/>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2000" dirty="0">
                          <a:effectLst/>
                          <a:latin typeface="Cambria" panose="02040503050406030204" pitchFamily="18" charset="0"/>
                          <a:ea typeface="Cambria" panose="02040503050406030204" pitchFamily="18" charset="0"/>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3408827665"/>
                  </a:ext>
                </a:extLst>
              </a:tr>
            </a:tbl>
          </a:graphicData>
        </a:graphic>
      </p:graphicFrame>
      <p:sp>
        <p:nvSpPr>
          <p:cNvPr id="5" name="TextBox 4">
            <a:extLst>
              <a:ext uri="{FF2B5EF4-FFF2-40B4-BE49-F238E27FC236}">
                <a16:creationId xmlns:a16="http://schemas.microsoft.com/office/drawing/2014/main" id="{11BA20F7-8EFB-4677-5CE4-A31B4609CEB3}"/>
              </a:ext>
            </a:extLst>
          </p:cNvPr>
          <p:cNvSpPr txBox="1"/>
          <p:nvPr/>
        </p:nvSpPr>
        <p:spPr>
          <a:xfrm>
            <a:off x="251520" y="1818298"/>
            <a:ext cx="5400600" cy="1800493"/>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dirty="0">
                <a:latin typeface="Cambria" panose="02040503050406030204" pitchFamily="18" charset="0"/>
                <a:ea typeface="Cambria" panose="02040503050406030204" pitchFamily="18" charset="0"/>
              </a:rPr>
              <a:t>SELECT job, AVG(</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 AS </a:t>
            </a:r>
            <a:r>
              <a:rPr lang="en-US" dirty="0">
                <a:solidFill>
                  <a:srgbClr val="FF0000"/>
                </a:solidFill>
                <a:latin typeface="Cambria" panose="02040503050406030204" pitchFamily="18" charset="0"/>
                <a:ea typeface="Cambria" panose="02040503050406030204" pitchFamily="18" charset="0"/>
              </a:rPr>
              <a:t>Avg-Sal</a:t>
            </a:r>
            <a:r>
              <a:rPr lang="en-US" dirty="0">
                <a:latin typeface="Cambria" panose="02040503050406030204" pitchFamily="18" charset="0"/>
                <a:ea typeface="Cambria" panose="02040503050406030204" pitchFamily="18" charset="0"/>
              </a:rPr>
              <a:t> </a:t>
            </a:r>
          </a:p>
          <a:p>
            <a:pPr>
              <a:spcBef>
                <a:spcPts val="600"/>
              </a:spcBef>
              <a:spcAft>
                <a:spcPts val="0"/>
              </a:spcAft>
            </a:pPr>
            <a:r>
              <a:rPr lang="en-US" dirty="0">
                <a:latin typeface="Cambria" panose="02040503050406030204" pitchFamily="18" charset="0"/>
                <a:ea typeface="Cambria" panose="02040503050406030204" pitchFamily="18" charset="0"/>
              </a:rPr>
              <a:t>FROM emp GROUP BY job</a:t>
            </a:r>
            <a:endParaRPr lang="en-US" dirty="0">
              <a:solidFill>
                <a:srgbClr val="FF0000"/>
              </a:solidFill>
              <a:latin typeface="Cambria" panose="02040503050406030204" pitchFamily="18" charset="0"/>
              <a:ea typeface="Cambria" panose="02040503050406030204" pitchFamily="18" charset="0"/>
            </a:endParaRPr>
          </a:p>
          <a:p>
            <a:pPr>
              <a:spcBef>
                <a:spcPts val="600"/>
              </a:spcBef>
              <a:spcAft>
                <a:spcPts val="0"/>
              </a:spcAft>
            </a:pPr>
            <a:r>
              <a:rPr lang="en-US" dirty="0">
                <a:latin typeface="Cambria" panose="02040503050406030204" pitchFamily="18" charset="0"/>
                <a:ea typeface="Cambria" panose="02040503050406030204" pitchFamily="18" charset="0"/>
              </a:rPr>
              <a:t>HAVING AVG(</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 &gt; </a:t>
            </a:r>
          </a:p>
          <a:p>
            <a:pPr>
              <a:spcBef>
                <a:spcPts val="600"/>
              </a:spcBef>
              <a:spcAft>
                <a:spcPts val="0"/>
              </a:spcAft>
            </a:pPr>
            <a:r>
              <a:rPr lang="en-US" dirty="0">
                <a:latin typeface="Cambria" panose="02040503050406030204" pitchFamily="18" charset="0"/>
                <a:ea typeface="Cambria" panose="02040503050406030204" pitchFamily="18" charset="0"/>
              </a:rPr>
              <a:t>(SELECT AVG(</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 FROM emp); </a:t>
            </a:r>
          </a:p>
        </p:txBody>
      </p:sp>
      <p:sp>
        <p:nvSpPr>
          <p:cNvPr id="6" name="TextBox 5">
            <a:extLst>
              <a:ext uri="{FF2B5EF4-FFF2-40B4-BE49-F238E27FC236}">
                <a16:creationId xmlns:a16="http://schemas.microsoft.com/office/drawing/2014/main" id="{2DAB9C14-852C-1342-8F95-5F9316445249}"/>
              </a:ext>
            </a:extLst>
          </p:cNvPr>
          <p:cNvSpPr txBox="1"/>
          <p:nvPr/>
        </p:nvSpPr>
        <p:spPr>
          <a:xfrm>
            <a:off x="251520" y="4256312"/>
            <a:ext cx="7344816" cy="2169825"/>
          </a:xfrm>
          <a:prstGeom prst="rect">
            <a:avLst/>
          </a:prstGeom>
          <a:solidFill>
            <a:schemeClr val="accent1">
              <a:lumMod val="20000"/>
              <a:lumOff val="80000"/>
            </a:schemeClr>
          </a:solidFill>
          <a:ln>
            <a:solidFill>
              <a:srgbClr val="0000CC"/>
            </a:solidFill>
          </a:ln>
        </p:spPr>
        <p:txBody>
          <a:bodyPr wrap="square" rtlCol="0">
            <a:spAutoFit/>
          </a:bodyPr>
          <a:lstStyle/>
          <a:p>
            <a:pPr>
              <a:spcBef>
                <a:spcPts val="600"/>
              </a:spcBef>
              <a:spcAft>
                <a:spcPts val="0"/>
              </a:spcAft>
            </a:pPr>
            <a:r>
              <a:rPr lang="en-US" b="1" dirty="0">
                <a:solidFill>
                  <a:srgbClr val="0000CC"/>
                </a:solidFill>
                <a:highlight>
                  <a:srgbClr val="FFFF00"/>
                </a:highlight>
                <a:latin typeface="Cambria" panose="02040503050406030204" pitchFamily="18" charset="0"/>
                <a:ea typeface="Cambria" panose="02040503050406030204" pitchFamily="18" charset="0"/>
              </a:rPr>
              <a:t>WITH</a:t>
            </a:r>
            <a:r>
              <a:rPr lang="en-US" dirty="0">
                <a:highlight>
                  <a:srgbClr val="FFFF00"/>
                </a:highlight>
                <a:latin typeface="Cambria" panose="02040503050406030204" pitchFamily="18" charset="0"/>
                <a:ea typeface="Cambria" panose="02040503050406030204" pitchFamily="18" charset="0"/>
              </a:rPr>
              <a:t> </a:t>
            </a:r>
            <a:r>
              <a:rPr lang="en-US" dirty="0">
                <a:solidFill>
                  <a:srgbClr val="FF0000"/>
                </a:solidFill>
                <a:highlight>
                  <a:srgbClr val="FFFF00"/>
                </a:highlight>
                <a:latin typeface="Cambria" panose="02040503050406030204" pitchFamily="18" charset="0"/>
                <a:ea typeface="Cambria" panose="02040503050406030204" pitchFamily="18" charset="0"/>
              </a:rPr>
              <a:t>sq1</a:t>
            </a:r>
            <a:r>
              <a:rPr lang="en-US" dirty="0">
                <a:highlight>
                  <a:srgbClr val="FFFF00"/>
                </a:highlight>
                <a:latin typeface="Cambria" panose="02040503050406030204" pitchFamily="18" charset="0"/>
                <a:ea typeface="Cambria" panose="02040503050406030204" pitchFamily="18" charset="0"/>
              </a:rPr>
              <a:t> AS (SELECT job, AVG(</a:t>
            </a:r>
            <a:r>
              <a:rPr lang="en-US" dirty="0" err="1">
                <a:highlight>
                  <a:srgbClr val="FFFF00"/>
                </a:highlight>
                <a:latin typeface="Cambria" panose="02040503050406030204" pitchFamily="18" charset="0"/>
                <a:ea typeface="Cambria" panose="02040503050406030204" pitchFamily="18" charset="0"/>
              </a:rPr>
              <a:t>sal</a:t>
            </a:r>
            <a:r>
              <a:rPr lang="en-US" dirty="0">
                <a:highlight>
                  <a:srgbClr val="FFFF00"/>
                </a:highlight>
                <a:latin typeface="Cambria" panose="02040503050406030204" pitchFamily="18" charset="0"/>
                <a:ea typeface="Cambria" panose="02040503050406030204" pitchFamily="18" charset="0"/>
              </a:rPr>
              <a:t>) as</a:t>
            </a:r>
            <a:r>
              <a:rPr lang="en-US" dirty="0">
                <a:solidFill>
                  <a:srgbClr val="FF0000"/>
                </a:solidFill>
                <a:highlight>
                  <a:srgbClr val="FFFF00"/>
                </a:highlight>
                <a:latin typeface="Cambria" panose="02040503050406030204" pitchFamily="18" charset="0"/>
                <a:ea typeface="Cambria" panose="02040503050406030204" pitchFamily="18" charset="0"/>
              </a:rPr>
              <a:t> Avg-Sal</a:t>
            </a:r>
            <a:r>
              <a:rPr lang="en-US" dirty="0">
                <a:highlight>
                  <a:srgbClr val="FFFF00"/>
                </a:highlight>
                <a:latin typeface="Cambria" panose="02040503050406030204" pitchFamily="18" charset="0"/>
                <a:ea typeface="Cambria" panose="02040503050406030204" pitchFamily="18" charset="0"/>
              </a:rPr>
              <a:t> 			FROM emp  GROUP BY job),</a:t>
            </a:r>
            <a:endParaRPr lang="en-US" dirty="0">
              <a:solidFill>
                <a:srgbClr val="FF0000"/>
              </a:solidFill>
              <a:highlight>
                <a:srgbClr val="FFFF00"/>
              </a:highlight>
              <a:latin typeface="Cambria" panose="02040503050406030204" pitchFamily="18" charset="0"/>
              <a:ea typeface="Cambria" panose="02040503050406030204" pitchFamily="18" charset="0"/>
            </a:endParaRPr>
          </a:p>
          <a:p>
            <a:pPr>
              <a:spcBef>
                <a:spcPts val="600"/>
              </a:spcBef>
              <a:spcAft>
                <a:spcPts val="0"/>
              </a:spcAft>
            </a:pPr>
            <a:r>
              <a:rPr lang="en-US" dirty="0">
                <a:solidFill>
                  <a:srgbClr val="FF0000"/>
                </a:solidFill>
                <a:highlight>
                  <a:srgbClr val="00FF00"/>
                </a:highlight>
                <a:latin typeface="Cambria" panose="02040503050406030204" pitchFamily="18" charset="0"/>
                <a:ea typeface="Cambria" panose="02040503050406030204" pitchFamily="18" charset="0"/>
              </a:rPr>
              <a:t>sq2</a:t>
            </a:r>
            <a:r>
              <a:rPr lang="en-US" dirty="0">
                <a:highlight>
                  <a:srgbClr val="00FF00"/>
                </a:highlight>
                <a:latin typeface="Cambria" panose="02040503050406030204" pitchFamily="18" charset="0"/>
                <a:ea typeface="Cambria" panose="02040503050406030204" pitchFamily="18" charset="0"/>
              </a:rPr>
              <a:t> AS (SELECT AVG(</a:t>
            </a:r>
            <a:r>
              <a:rPr lang="en-US" dirty="0" err="1">
                <a:highlight>
                  <a:srgbClr val="00FF00"/>
                </a:highlight>
                <a:latin typeface="Cambria" panose="02040503050406030204" pitchFamily="18" charset="0"/>
                <a:ea typeface="Cambria" panose="02040503050406030204" pitchFamily="18" charset="0"/>
              </a:rPr>
              <a:t>sal</a:t>
            </a:r>
            <a:r>
              <a:rPr lang="en-US" dirty="0">
                <a:highlight>
                  <a:srgbClr val="00FF00"/>
                </a:highlight>
                <a:latin typeface="Cambria" panose="02040503050406030204" pitchFamily="18" charset="0"/>
                <a:ea typeface="Cambria" panose="02040503050406030204" pitchFamily="18" charset="0"/>
              </a:rPr>
              <a:t>) x FROM emp)</a:t>
            </a:r>
          </a:p>
          <a:p>
            <a:pPr>
              <a:spcBef>
                <a:spcPts val="600"/>
              </a:spcBef>
              <a:spcAft>
                <a:spcPts val="0"/>
              </a:spcAft>
            </a:pPr>
            <a:r>
              <a:rPr lang="en-US" dirty="0">
                <a:latin typeface="Cambria" panose="02040503050406030204" pitchFamily="18" charset="0"/>
                <a:ea typeface="Cambria" panose="02040503050406030204" pitchFamily="18" charset="0"/>
              </a:rPr>
              <a:t>SELECT job,a1 FROM sq1, sq2</a:t>
            </a:r>
          </a:p>
          <a:p>
            <a:pPr>
              <a:spcBef>
                <a:spcPts val="600"/>
              </a:spcBef>
              <a:spcAft>
                <a:spcPts val="0"/>
              </a:spcAft>
            </a:pPr>
            <a:r>
              <a:rPr lang="en-US" dirty="0">
                <a:latin typeface="Cambria" panose="02040503050406030204" pitchFamily="18" charset="0"/>
                <a:ea typeface="Cambria" panose="02040503050406030204" pitchFamily="18" charset="0"/>
              </a:rPr>
              <a:t>WHERE </a:t>
            </a:r>
            <a:r>
              <a:rPr lang="en-US" dirty="0">
                <a:solidFill>
                  <a:srgbClr val="FF0000"/>
                </a:solidFill>
                <a:latin typeface="Cambria" panose="02040503050406030204" pitchFamily="18" charset="0"/>
                <a:ea typeface="Cambria" panose="02040503050406030204" pitchFamily="18" charset="0"/>
              </a:rPr>
              <a:t>Avg-Sal</a:t>
            </a:r>
            <a:r>
              <a:rPr lang="en-US" dirty="0">
                <a:latin typeface="Cambria" panose="02040503050406030204" pitchFamily="18" charset="0"/>
                <a:ea typeface="Cambria" panose="02040503050406030204" pitchFamily="18" charset="0"/>
              </a:rPr>
              <a:t> &gt; x;</a:t>
            </a:r>
          </a:p>
        </p:txBody>
      </p:sp>
      <p:sp>
        <p:nvSpPr>
          <p:cNvPr id="8" name="Rectangle 3">
            <a:extLst>
              <a:ext uri="{FF2B5EF4-FFF2-40B4-BE49-F238E27FC236}">
                <a16:creationId xmlns:a16="http://schemas.microsoft.com/office/drawing/2014/main" id="{0A650372-0F00-390D-FC78-F9DE164DBEC0}"/>
              </a:ext>
            </a:extLst>
          </p:cNvPr>
          <p:cNvSpPr txBox="1">
            <a:spLocks noChangeArrowheads="1"/>
          </p:cNvSpPr>
          <p:nvPr/>
        </p:nvSpPr>
        <p:spPr bwMode="auto">
          <a:xfrm>
            <a:off x="192590" y="1387241"/>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Subquery</a:t>
            </a:r>
          </a:p>
        </p:txBody>
      </p:sp>
      <p:sp>
        <p:nvSpPr>
          <p:cNvPr id="9" name="Rectangle 3">
            <a:extLst>
              <a:ext uri="{FF2B5EF4-FFF2-40B4-BE49-F238E27FC236}">
                <a16:creationId xmlns:a16="http://schemas.microsoft.com/office/drawing/2014/main" id="{96856EA3-1FA1-B973-754A-0CCCCB71BA8B}"/>
              </a:ext>
            </a:extLst>
          </p:cNvPr>
          <p:cNvSpPr txBox="1">
            <a:spLocks noChangeArrowheads="1"/>
          </p:cNvSpPr>
          <p:nvPr/>
        </p:nvSpPr>
        <p:spPr bwMode="auto">
          <a:xfrm>
            <a:off x="192590" y="3833710"/>
            <a:ext cx="1643467" cy="40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575"/>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CTE</a:t>
            </a:r>
          </a:p>
        </p:txBody>
      </p:sp>
    </p:spTree>
    <p:extLst>
      <p:ext uri="{BB962C8B-B14F-4D97-AF65-F5344CB8AC3E}">
        <p14:creationId xmlns:p14="http://schemas.microsoft.com/office/powerpoint/2010/main" val="99625400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2EB75-4890-62AE-227E-C3194655B32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1BA20CD-E597-3519-95A6-0F7C6D041D80}"/>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Correlated Subquery</a:t>
            </a:r>
          </a:p>
        </p:txBody>
      </p:sp>
      <p:sp>
        <p:nvSpPr>
          <p:cNvPr id="2" name="Slide Number Placeholder 23">
            <a:extLst>
              <a:ext uri="{FF2B5EF4-FFF2-40B4-BE49-F238E27FC236}">
                <a16:creationId xmlns:a16="http://schemas.microsoft.com/office/drawing/2014/main" id="{1F40C0AA-6258-340A-8A8C-43741FD35F9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CFB0797A-D24C-5D70-9690-E214A0D38E10}"/>
              </a:ext>
            </a:extLst>
          </p:cNvPr>
          <p:cNvSpPr txBox="1">
            <a:spLocks noChangeArrowheads="1"/>
          </p:cNvSpPr>
          <p:nvPr/>
        </p:nvSpPr>
        <p:spPr bwMode="auto">
          <a:xfrm>
            <a:off x="323849" y="728566"/>
            <a:ext cx="7830493" cy="540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Finding an employee with Nth highest salary</a:t>
            </a:r>
          </a:p>
        </p:txBody>
      </p:sp>
      <p:sp>
        <p:nvSpPr>
          <p:cNvPr id="20" name="Footer Placeholder 2">
            <a:extLst>
              <a:ext uri="{FF2B5EF4-FFF2-40B4-BE49-F238E27FC236}">
                <a16:creationId xmlns:a16="http://schemas.microsoft.com/office/drawing/2014/main" id="{BC5FC800-51E9-F22F-ADD1-EF121AE935D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2BF465BE-DC41-28C1-63C8-2652A246E59A}"/>
              </a:ext>
            </a:extLst>
          </p:cNvPr>
          <p:cNvSpPr>
            <a:spLocks noChangeArrowheads="1"/>
          </p:cNvSpPr>
          <p:nvPr/>
        </p:nvSpPr>
        <p:spPr bwMode="blackWhite">
          <a:xfrm>
            <a:off x="845641" y="1226877"/>
            <a:ext cx="7470775" cy="249015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ts val="600"/>
              </a:spcBef>
              <a:buFontTx/>
              <a:buNone/>
            </a:pPr>
            <a:endParaRPr lang="en-US" altLang="en-US" sz="2400">
              <a:solidFill>
                <a:srgbClr val="000000"/>
              </a:solidFill>
              <a:latin typeface="Cambria" panose="02040503050406030204" pitchFamily="18" charset="0"/>
              <a:ea typeface="Cambria" panose="02040503050406030204" pitchFamily="18" charset="0"/>
            </a:endParaRPr>
          </a:p>
          <a:p>
            <a:pPr>
              <a:spcBef>
                <a:spcPts val="600"/>
              </a:spcBef>
              <a:buFontTx/>
              <a:buNone/>
            </a:pPr>
            <a:endParaRPr lang="en-US" altLang="en-US" sz="2400">
              <a:solidFill>
                <a:srgbClr val="000000"/>
              </a:solidFill>
              <a:latin typeface="Cambria" panose="02040503050406030204" pitchFamily="18" charset="0"/>
              <a:ea typeface="Cambria" panose="02040503050406030204" pitchFamily="18" charset="0"/>
            </a:endParaRPr>
          </a:p>
        </p:txBody>
      </p:sp>
      <p:sp>
        <p:nvSpPr>
          <p:cNvPr id="6" name="Rectangle 10">
            <a:extLst>
              <a:ext uri="{FF2B5EF4-FFF2-40B4-BE49-F238E27FC236}">
                <a16:creationId xmlns:a16="http://schemas.microsoft.com/office/drawing/2014/main" id="{D08EC75C-B4D9-31AA-4BB8-D369BE14E4B1}"/>
              </a:ext>
            </a:extLst>
          </p:cNvPr>
          <p:cNvSpPr>
            <a:spLocks noChangeArrowheads="1"/>
          </p:cNvSpPr>
          <p:nvPr/>
        </p:nvSpPr>
        <p:spPr bwMode="blackWhite">
          <a:xfrm>
            <a:off x="940891" y="1064270"/>
            <a:ext cx="7308850" cy="2724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SELECT * FROM Emp Emp1 </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WHERE </a:t>
            </a:r>
            <a:r>
              <a:rPr lang="en-US" altLang="en-US" sz="2400" dirty="0">
                <a:solidFill>
                  <a:srgbClr val="0000CC"/>
                </a:solidFill>
                <a:latin typeface="Cambria" panose="02040503050406030204" pitchFamily="18" charset="0"/>
                <a:ea typeface="Cambria" panose="02040503050406030204" pitchFamily="18" charset="0"/>
              </a:rPr>
              <a:t>(N-1)</a:t>
            </a:r>
            <a:r>
              <a:rPr lang="en-US" altLang="en-US" sz="2400" dirty="0">
                <a:solidFill>
                  <a:srgbClr val="000000"/>
                </a:solidFill>
                <a:latin typeface="Cambria" panose="02040503050406030204" pitchFamily="18" charset="0"/>
                <a:ea typeface="Cambria" panose="02040503050406030204" pitchFamily="18" charset="0"/>
              </a:rPr>
              <a:t> = (</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SELECT </a:t>
            </a:r>
            <a:r>
              <a:rPr lang="en-US" altLang="en-US" sz="2400" dirty="0">
                <a:solidFill>
                  <a:srgbClr val="0000CC"/>
                </a:solidFill>
                <a:latin typeface="Cambria" panose="02040503050406030204" pitchFamily="18" charset="0"/>
                <a:ea typeface="Cambria" panose="02040503050406030204" pitchFamily="18" charset="0"/>
              </a:rPr>
              <a:t>COUNT(DISTINCT Emp2.Sal)</a:t>
            </a:r>
            <a:r>
              <a:rPr lang="en-US" altLang="en-US" sz="2400" dirty="0">
                <a:solidFill>
                  <a:srgbClr val="000000"/>
                </a:solidFill>
                <a:latin typeface="Cambria" panose="02040503050406030204" pitchFamily="18" charset="0"/>
                <a:ea typeface="Cambria" panose="02040503050406030204" pitchFamily="18" charset="0"/>
              </a:rPr>
              <a:t> </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FROM Emp Emp2 </a:t>
            </a:r>
          </a:p>
          <a:p>
            <a:pPr>
              <a:spcBef>
                <a:spcPts val="600"/>
              </a:spcBef>
              <a:buFontTx/>
              <a:buNone/>
            </a:pPr>
            <a:r>
              <a:rPr lang="en-US" altLang="en-US" sz="2400" dirty="0">
                <a:solidFill>
                  <a:srgbClr val="000000"/>
                </a:solidFill>
                <a:latin typeface="Cambria" panose="02040503050406030204" pitchFamily="18" charset="0"/>
                <a:ea typeface="Cambria" panose="02040503050406030204" pitchFamily="18" charset="0"/>
              </a:rPr>
              <a:t>WHERE Emp2.Sal &gt; Emp1.Sal); </a:t>
            </a:r>
          </a:p>
        </p:txBody>
      </p:sp>
    </p:spTree>
    <p:extLst>
      <p:ext uri="{BB962C8B-B14F-4D97-AF65-F5344CB8AC3E}">
        <p14:creationId xmlns:p14="http://schemas.microsoft.com/office/powerpoint/2010/main" val="3046220303"/>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65886</TotalTime>
  <Words>5277</Words>
  <Application>Microsoft Office PowerPoint</Application>
  <PresentationFormat>On-screen Show (4:3)</PresentationFormat>
  <Paragraphs>1187</Paragraphs>
  <Slides>36</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Cambria</vt:lpstr>
      <vt:lpstr>Courier New</vt:lpstr>
      <vt:lpstr>Franklin Gothic Book</vt:lpstr>
      <vt:lpstr>Perpetua</vt:lpstr>
      <vt:lpstr>Times</vt:lpstr>
      <vt:lpstr>Times New Roman</vt:lpstr>
      <vt:lpstr>Wingdings</vt:lpstr>
      <vt:lpstr>Wingdings 2</vt:lpstr>
      <vt:lpstr>1_Equity</vt:lpstr>
      <vt:lpstr>CC-215-L Database Systems Lab</vt:lpstr>
      <vt:lpstr>  Objectives</vt:lpstr>
      <vt:lpstr>Introduction</vt:lpstr>
      <vt:lpstr>Subqueries</vt:lpstr>
      <vt:lpstr>  Exercise</vt:lpstr>
      <vt:lpstr>Types of Subqueries</vt:lpstr>
      <vt:lpstr>Types of Subqueries</vt:lpstr>
      <vt:lpstr>Guidelines for writing Subqueries</vt:lpstr>
      <vt:lpstr>Executing Single-Row Subqueries</vt:lpstr>
      <vt:lpstr>Using Group Functions in a Subquery</vt:lpstr>
      <vt:lpstr>Subquery in a HAVING Clause</vt:lpstr>
      <vt:lpstr>  CTE Subquery</vt:lpstr>
      <vt:lpstr>  CTE Subquery</vt:lpstr>
      <vt:lpstr>  CTE Subquery</vt:lpstr>
      <vt:lpstr>  CTE Subquery</vt:lpstr>
      <vt:lpstr>Single-row operator with  Multiple-row subquery</vt:lpstr>
      <vt:lpstr>  Multiple-Row Subqueries</vt:lpstr>
      <vt:lpstr>  IN operator in Multiple-Row Subqueries</vt:lpstr>
      <vt:lpstr>  ANY operator in Multiple-Row Subqueries</vt:lpstr>
      <vt:lpstr>  ALL operator in Multiple-Row Subqueries</vt:lpstr>
      <vt:lpstr>  EXISTS operator in Subqueries</vt:lpstr>
      <vt:lpstr>  EXISTS vs. IN</vt:lpstr>
      <vt:lpstr>  NULL values in a Subquery</vt:lpstr>
      <vt:lpstr>  NULL values in a Subquery</vt:lpstr>
      <vt:lpstr>  Multiple-Column Subqueries</vt:lpstr>
      <vt:lpstr>Column Comparisons</vt:lpstr>
      <vt:lpstr>  Pair-wise Column Comparisons</vt:lpstr>
      <vt:lpstr>  Non-pairwise Column Comparisons</vt:lpstr>
      <vt:lpstr>  Correlated Subquery</vt:lpstr>
      <vt:lpstr>  Correlated Subquery</vt:lpstr>
      <vt:lpstr>  CTE for Subquery in SELECT Clause </vt:lpstr>
      <vt:lpstr>  Correlated Subquery</vt:lpstr>
      <vt:lpstr>  Correlated Subquery</vt:lpstr>
      <vt:lpstr>  Correlated Subquery</vt:lpstr>
      <vt:lpstr>  Correlated Subquery</vt:lpstr>
      <vt:lpstr>  Correlated Subquery</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918</cp:revision>
  <dcterms:created xsi:type="dcterms:W3CDTF">2006-05-17T12:38:56Z</dcterms:created>
  <dcterms:modified xsi:type="dcterms:W3CDTF">2025-10-13T14:42:49Z</dcterms:modified>
</cp:coreProperties>
</file>