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9"/>
  </p:notesMasterIdLst>
  <p:handoutMasterIdLst>
    <p:handoutMasterId r:id="rId40"/>
  </p:handoutMasterIdLst>
  <p:sldIdLst>
    <p:sldId id="549" r:id="rId2"/>
    <p:sldId id="550" r:id="rId3"/>
    <p:sldId id="552" r:id="rId4"/>
    <p:sldId id="553" r:id="rId5"/>
    <p:sldId id="556" r:id="rId6"/>
    <p:sldId id="558" r:id="rId7"/>
    <p:sldId id="559" r:id="rId8"/>
    <p:sldId id="560" r:id="rId9"/>
    <p:sldId id="561" r:id="rId10"/>
    <p:sldId id="562" r:id="rId11"/>
    <p:sldId id="563" r:id="rId12"/>
    <p:sldId id="564" r:id="rId13"/>
    <p:sldId id="565" r:id="rId14"/>
    <p:sldId id="566" r:id="rId15"/>
    <p:sldId id="567" r:id="rId16"/>
    <p:sldId id="568" r:id="rId17"/>
    <p:sldId id="569" r:id="rId18"/>
    <p:sldId id="570" r:id="rId19"/>
    <p:sldId id="571" r:id="rId20"/>
    <p:sldId id="572" r:id="rId21"/>
    <p:sldId id="573" r:id="rId22"/>
    <p:sldId id="574" r:id="rId23"/>
    <p:sldId id="575" r:id="rId24"/>
    <p:sldId id="576" r:id="rId25"/>
    <p:sldId id="577" r:id="rId26"/>
    <p:sldId id="578" r:id="rId27"/>
    <p:sldId id="579" r:id="rId28"/>
    <p:sldId id="580" r:id="rId29"/>
    <p:sldId id="581" r:id="rId30"/>
    <p:sldId id="582" r:id="rId31"/>
    <p:sldId id="583" r:id="rId32"/>
    <p:sldId id="584" r:id="rId33"/>
    <p:sldId id="585" r:id="rId34"/>
    <p:sldId id="587" r:id="rId35"/>
    <p:sldId id="588" r:id="rId36"/>
    <p:sldId id="589" r:id="rId37"/>
    <p:sldId id="590" r:id="rId38"/>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FF0000"/>
    <a:srgbClr val="006600"/>
    <a:srgbClr val="FFFF66"/>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96" autoAdjust="0"/>
    <p:restoredTop sz="85572" autoAdjust="0"/>
  </p:normalViewPr>
  <p:slideViewPr>
    <p:cSldViewPr>
      <p:cViewPr varScale="1">
        <p:scale>
          <a:sx n="83" d="100"/>
          <a:sy n="83" d="100"/>
        </p:scale>
        <p:origin x="132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859263DC-833E-475E-7383-3CD90C01019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54457972-3BA0-819C-D94B-C1E182CD6F7B}"/>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AFC72990-0253-7093-FE1F-395F6445318B}"/>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267E9BD-69CD-F74C-C7CD-5AAB41D2F3BE}"/>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E982EAC6-F103-4AAC-A018-7B3E009F9304}"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7076A63-6625-0795-A1A0-3CB13B89A17F}"/>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A9499F09-0331-1449-83A7-98050F1F7006}"/>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861FCFA2-9CAD-BB4C-A825-2FAD868544DD}"/>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868C254-B70E-26C3-D53C-85CDA45889F6}"/>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EAD288B6-6973-E6AA-B10A-77D92C9EEE5F}"/>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F7E423B-BFCE-1440-679C-C7C103F717DE}"/>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5A1137D4-AADE-4577-9C46-F5471C8760D9}"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929D-0B5B-1686-2060-AEA7B76E952E}"/>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2DB3904A-7CAB-6FD0-822A-B81611FB85F9}"/>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
        <p:nvSpPr>
          <p:cNvPr id="21507" name="Rectangle 3">
            <a:extLst>
              <a:ext uri="{FF2B5EF4-FFF2-40B4-BE49-F238E27FC236}">
                <a16:creationId xmlns:a16="http://schemas.microsoft.com/office/drawing/2014/main" id="{0132B752-8ABC-B19B-03F3-801743D1219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tabLst>
                <a:tab pos="446088" algn="l"/>
                <a:tab pos="1177925" algn="l"/>
              </a:tabLst>
            </a:pPr>
            <a:r>
              <a:rPr lang="en-US" altLang="en-US">
                <a:latin typeface="Arial" panose="020B0604020202020204" pitchFamily="34" charset="0"/>
              </a:rPr>
              <a:t>Querying the Data Dictionary</a:t>
            </a:r>
          </a:p>
          <a:p>
            <a:pPr marL="114300" lvl="1" defTabSz="382588">
              <a:tabLst>
                <a:tab pos="446088" algn="l"/>
                <a:tab pos="1177925" algn="l"/>
              </a:tabLst>
            </a:pPr>
            <a:r>
              <a:rPr lang="en-US" altLang="en-US">
                <a:latin typeface="Arial" panose="020B0604020202020204" pitchFamily="34" charset="0"/>
              </a:rPr>
              <a:t>You can query the data dictionary tables to view various database objects owned by you. The data dictionary tables frequently used are these:</a:t>
            </a:r>
          </a:p>
          <a:p>
            <a:pPr marL="439738" lvl="2" indent="-211138" defTabSz="382588">
              <a:tabLst>
                <a:tab pos="446088" algn="l"/>
                <a:tab pos="1177925" algn="l"/>
              </a:tabLst>
            </a:pPr>
            <a:r>
              <a:rPr lang="en-US" altLang="en-US">
                <a:latin typeface="Arial" panose="020B0604020202020204" pitchFamily="34" charset="0"/>
              </a:rPr>
              <a:t>USER_TABLES</a:t>
            </a:r>
          </a:p>
          <a:p>
            <a:pPr marL="439738" lvl="2" indent="-211138" defTabSz="382588">
              <a:tabLst>
                <a:tab pos="446088" algn="l"/>
                <a:tab pos="1177925" algn="l"/>
              </a:tabLst>
            </a:pPr>
            <a:r>
              <a:rPr lang="en-US" altLang="en-US">
                <a:latin typeface="Arial" panose="020B0604020202020204" pitchFamily="34" charset="0"/>
              </a:rPr>
              <a:t>USER_OBJECTS</a:t>
            </a:r>
          </a:p>
          <a:p>
            <a:pPr marL="439738" lvl="2" indent="-211138" defTabSz="382588">
              <a:tabLst>
                <a:tab pos="446088" algn="l"/>
                <a:tab pos="1177925" algn="l"/>
              </a:tabLst>
            </a:pPr>
            <a:r>
              <a:rPr lang="en-US" altLang="en-US">
                <a:latin typeface="Arial" panose="020B0604020202020204" pitchFamily="34" charset="0"/>
              </a:rPr>
              <a:t>USER_CATALOG</a:t>
            </a:r>
          </a:p>
          <a:p>
            <a:pPr marL="114300" lvl="1" defTabSz="382588">
              <a:tabLst>
                <a:tab pos="446088" algn="l"/>
                <a:tab pos="1177925" algn="l"/>
              </a:tabLst>
            </a:pPr>
            <a:r>
              <a:rPr lang="en-US" altLang="en-US" b="1">
                <a:latin typeface="Arial" panose="020B0604020202020204" pitchFamily="34" charset="0"/>
              </a:rPr>
              <a:t>Note:</a:t>
            </a:r>
            <a:r>
              <a:rPr lang="en-US" altLang="en-US">
                <a:latin typeface="Arial" panose="020B0604020202020204" pitchFamily="34" charset="0"/>
              </a:rPr>
              <a:t> USER_CATALOG has a synonym called CAT. You can use this synonym instead of USER_CATALOG in SQL statements.</a:t>
            </a:r>
          </a:p>
          <a:p>
            <a:pPr marL="439738" lvl="2" indent="-211138" defTabSz="382588">
              <a:spcBef>
                <a:spcPct val="65000"/>
              </a:spcBef>
              <a:tabLst>
                <a:tab pos="446088" algn="l"/>
                <a:tab pos="1177925" algn="l"/>
              </a:tabLst>
            </a:pPr>
            <a:r>
              <a:rPr lang="en-US" altLang="en-US" b="1">
                <a:latin typeface="Courier New" panose="02070309020205020404" pitchFamily="49" charset="0"/>
              </a:rPr>
              <a:t>SQL&gt; SELECT	*</a:t>
            </a:r>
          </a:p>
          <a:p>
            <a:pPr defTabSz="382588">
              <a:tabLst>
                <a:tab pos="446088" algn="l"/>
                <a:tab pos="1177925" algn="l"/>
              </a:tabLst>
            </a:pPr>
            <a:r>
              <a:rPr lang="en-US" altLang="en-US">
                <a:latin typeface="Courier New" panose="02070309020205020404" pitchFamily="49" charset="0"/>
              </a:rPr>
              <a:t>     2  FROM  	CAT;</a:t>
            </a: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r>
              <a:rPr lang="en-US" altLang="en-US">
                <a:solidFill>
                  <a:schemeClr val="accent2"/>
                </a:solidFill>
                <a:latin typeface="Arial" panose="020B0604020202020204" pitchFamily="34" charset="0"/>
              </a:rPr>
              <a:t>Class Management Note (For slide 10-11)</a:t>
            </a:r>
          </a:p>
          <a:p>
            <a:pPr marL="114300" lvl="1" defTabSz="382588">
              <a:tabLst>
                <a:tab pos="446088" algn="l"/>
                <a:tab pos="1177925" algn="l"/>
              </a:tabLst>
            </a:pPr>
            <a:r>
              <a:rPr lang="en-US" altLang="en-US">
                <a:solidFill>
                  <a:schemeClr val="accent2"/>
                </a:solidFill>
                <a:latin typeface="Arial" panose="020B0604020202020204" pitchFamily="34" charset="0"/>
              </a:rPr>
              <a:t>Oracle8 introduces large object (LOB) datatypes that can store large and unstructured data such as text, image, video, and spatial data, up to 4 gigabytes in size.</a:t>
            </a:r>
          </a:p>
        </p:txBody>
      </p:sp>
      <p:sp>
        <p:nvSpPr>
          <p:cNvPr id="21508" name="Rectangle 4">
            <a:extLst>
              <a:ext uri="{FF2B5EF4-FFF2-40B4-BE49-F238E27FC236}">
                <a16:creationId xmlns:a16="http://schemas.microsoft.com/office/drawing/2014/main" id="{FEEA2257-9C4A-562C-B041-8128DF4B1618}"/>
              </a:ext>
            </a:extLst>
          </p:cNvPr>
          <p:cNvSpPr>
            <a:spLocks noChangeArrowheads="1"/>
          </p:cNvSpPr>
          <p:nvPr/>
        </p:nvSpPr>
        <p:spPr bwMode="auto">
          <a:xfrm>
            <a:off x="623888" y="6592888"/>
            <a:ext cx="5510212" cy="4841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extLst>
      <p:ext uri="{BB962C8B-B14F-4D97-AF65-F5344CB8AC3E}">
        <p14:creationId xmlns:p14="http://schemas.microsoft.com/office/powerpoint/2010/main" val="2674463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F7F6-8308-0B42-DF16-02DC4850ABF1}"/>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F9F0E6C0-AA34-6084-1C48-7755DE6F8E1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NOT NULL Constraint</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NOT NULL constraint </a:t>
            </a:r>
            <a:r>
              <a:rPr lang="en-US" altLang="en-US">
                <a:latin typeface="Arial" panose="020B0604020202020204" pitchFamily="34" charset="0"/>
              </a:rPr>
              <a:t>ensures that null values are not allowed in the column. Columns without the NOT NULL constraint can contain null values by default. </a:t>
            </a:r>
          </a:p>
        </p:txBody>
      </p:sp>
      <p:sp>
        <p:nvSpPr>
          <p:cNvPr id="31747" name="Rectangle 3">
            <a:extLst>
              <a:ext uri="{FF2B5EF4-FFF2-40B4-BE49-F238E27FC236}">
                <a16:creationId xmlns:a16="http://schemas.microsoft.com/office/drawing/2014/main" id="{0A038AE5-2826-C9D4-C530-37A289CBD3D8}"/>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Tree>
    <p:extLst>
      <p:ext uri="{BB962C8B-B14F-4D97-AF65-F5344CB8AC3E}">
        <p14:creationId xmlns:p14="http://schemas.microsoft.com/office/powerpoint/2010/main" val="189760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ED96-DFE7-5A9A-C740-23B17FCB7CB1}"/>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FDE4D317-F3E1-04DB-28F5-DB2730A3132F}"/>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35843" name="Rectangle 3">
            <a:extLst>
              <a:ext uri="{FF2B5EF4-FFF2-40B4-BE49-F238E27FC236}">
                <a16:creationId xmlns:a16="http://schemas.microsoft.com/office/drawing/2014/main" id="{CD08EA9F-5685-4177-3940-3AE7EDE523A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UNIQUE Key Constraint</a:t>
            </a:r>
          </a:p>
          <a:p>
            <a:pPr lvl="1"/>
            <a:r>
              <a:rPr lang="en-US" altLang="en-US">
                <a:latin typeface="Arial" panose="020B0604020202020204" pitchFamily="34" charset="0"/>
              </a:rPr>
              <a:t>A UNIQUE key integrity constraint requires that every value in a column or set of columns (key) be unique—that is, no two rows of a table have duplicate values in a specified column or set of columns. The column (or set of columns) included in the definition of the </a:t>
            </a:r>
            <a:r>
              <a:rPr lang="en-US" altLang="en-US">
                <a:solidFill>
                  <a:srgbClr val="FC0128"/>
                </a:solidFill>
                <a:latin typeface="Arial" panose="020B0604020202020204" pitchFamily="34" charset="0"/>
              </a:rPr>
              <a:t>UNIQUE key constraint </a:t>
            </a:r>
            <a:r>
              <a:rPr lang="en-US" altLang="en-US">
                <a:latin typeface="Arial" panose="020B0604020202020204" pitchFamily="34" charset="0"/>
              </a:rPr>
              <a:t>is called the </a:t>
            </a:r>
            <a:r>
              <a:rPr lang="en-US" altLang="en-US" i="1">
                <a:latin typeface="Arial" panose="020B0604020202020204" pitchFamily="34" charset="0"/>
              </a:rPr>
              <a:t>unique key</a:t>
            </a:r>
            <a:r>
              <a:rPr lang="en-US" altLang="en-US">
                <a:latin typeface="Arial" panose="020B0604020202020204" pitchFamily="34" charset="0"/>
              </a:rPr>
              <a:t>. If the UNIQUE key comprises more than one column, that group of columns is said to be a </a:t>
            </a:r>
            <a:r>
              <a:rPr lang="en-US" altLang="en-US" i="1">
                <a:latin typeface="Arial" panose="020B0604020202020204" pitchFamily="34" charset="0"/>
              </a:rPr>
              <a:t>composite unique key</a:t>
            </a:r>
            <a:r>
              <a:rPr lang="en-US" altLang="en-US">
                <a:latin typeface="Arial" panose="020B0604020202020204" pitchFamily="34" charset="0"/>
              </a:rPr>
              <a:t>. </a:t>
            </a:r>
          </a:p>
          <a:p>
            <a:pPr lvl="1"/>
            <a:r>
              <a:rPr lang="en-US" altLang="en-US">
                <a:latin typeface="Arial" panose="020B0604020202020204" pitchFamily="34" charset="0"/>
              </a:rPr>
              <a:t>UNIQUE key constraints allow the input of nulls unless you also define NOT NULL constraints for the same columns. In fact, any number of rows can include nulls for columns without NOT NULL constraints because nulls are not considered equal to anything. A null in a column (or in all columns of a composite UNIQUE key) always satisfies a UNIQUE key constraint. </a:t>
            </a:r>
          </a:p>
          <a:p>
            <a:pPr lvl="1"/>
            <a:r>
              <a:rPr lang="en-US" altLang="en-US" b="1">
                <a:latin typeface="Arial" panose="020B0604020202020204" pitchFamily="34" charset="0"/>
              </a:rPr>
              <a:t>Note:</a:t>
            </a:r>
            <a:r>
              <a:rPr lang="en-US" altLang="en-US">
                <a:latin typeface="Arial" panose="020B0604020202020204" pitchFamily="34" charset="0"/>
              </a:rPr>
              <a:t> Because of the search mechanism for UNIQUE constraints on more than one column, you cannot have identical values in the non-null columns of a partially null composite UNIQUE key constraint.</a:t>
            </a:r>
          </a:p>
          <a:p>
            <a:endParaRPr lang="en-US" altLang="en-US">
              <a:solidFill>
                <a:schemeClr val="accent2"/>
              </a:solidFill>
              <a:latin typeface="Arial" panose="020B0604020202020204" pitchFamily="34" charset="0"/>
            </a:endParaRPr>
          </a:p>
          <a:p>
            <a:endParaRPr lang="en-US" altLang="en-US">
              <a:solidFill>
                <a:schemeClr val="accent2"/>
              </a:solidFill>
              <a:latin typeface="Arial" panose="020B0604020202020204" pitchFamily="34" charset="0"/>
            </a:endParaRPr>
          </a:p>
          <a:p>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Explain to students that since SALES department already exists, the first entry is not allowed. In the second entry, the department name is null; this entry is allowed.</a:t>
            </a:r>
          </a:p>
          <a:p>
            <a:endParaRPr lang="en-US" altLang="en-US" b="1">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3044202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734D-15AD-EE30-92C9-50A96028AB02}"/>
            </a:ext>
          </a:extLst>
        </p:cNvPr>
        <p:cNvGrpSpPr/>
        <p:nvPr/>
      </p:nvGrpSpPr>
      <p:grpSpPr>
        <a:xfrm>
          <a:off x="0" y="0"/>
          <a:ext cx="0" cy="0"/>
          <a:chOff x="0" y="0"/>
          <a:chExt cx="0" cy="0"/>
        </a:xfrm>
      </p:grpSpPr>
      <p:sp>
        <p:nvSpPr>
          <p:cNvPr id="37890" name="Rectangle 2">
            <a:extLst>
              <a:ext uri="{FF2B5EF4-FFF2-40B4-BE49-F238E27FC236}">
                <a16:creationId xmlns:a16="http://schemas.microsoft.com/office/drawing/2014/main" id="{CEE29EB5-0063-EFE3-D10C-EFA547D5913B}"/>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37891" name="Rectangle 3">
            <a:extLst>
              <a:ext uri="{FF2B5EF4-FFF2-40B4-BE49-F238E27FC236}">
                <a16:creationId xmlns:a16="http://schemas.microsoft.com/office/drawing/2014/main" id="{07F17404-6AA8-B833-1A0B-971E0C70ED5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UNIQUE Key Constraint (continued)</a:t>
            </a:r>
          </a:p>
          <a:p>
            <a:pPr lvl="1"/>
            <a:r>
              <a:rPr lang="en-US" altLang="en-US">
                <a:latin typeface="Arial" panose="020B0604020202020204" pitchFamily="34" charset="0"/>
              </a:rPr>
              <a:t>UNIQUE key constraints can be defined at the column or table level. A composite unique key is created by using the table level definition.</a:t>
            </a:r>
          </a:p>
          <a:p>
            <a:pPr lvl="1"/>
            <a:r>
              <a:rPr lang="en-US" altLang="en-US">
                <a:latin typeface="Arial" panose="020B0604020202020204" pitchFamily="34" charset="0"/>
              </a:rPr>
              <a:t>The example on the slide applies UNIQUE key constraint to the DNAME column of the DEPT table. The name of the constraint is DEPT_DNAME_UK.</a:t>
            </a:r>
          </a:p>
          <a:p>
            <a:pPr lvl="1"/>
            <a:r>
              <a:rPr lang="en-US" altLang="en-US" b="1">
                <a:latin typeface="Arial" panose="020B0604020202020204" pitchFamily="34" charset="0"/>
              </a:rPr>
              <a:t>Note: </a:t>
            </a:r>
            <a:r>
              <a:rPr lang="en-US" altLang="en-US">
                <a:latin typeface="Arial" panose="020B0604020202020204" pitchFamily="34" charset="0"/>
              </a:rPr>
              <a:t>The Oracle Server enforces the UNIQUE key constraint by implicitly creating a unique index on the unique key.</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extLst>
      <p:ext uri="{BB962C8B-B14F-4D97-AF65-F5344CB8AC3E}">
        <p14:creationId xmlns:p14="http://schemas.microsoft.com/office/powerpoint/2010/main" val="3635867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979B1-0474-74E0-F478-603F0A7BFD06}"/>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188B1D28-1BA6-9EA2-3720-200B8A1B83CC}"/>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39939" name="Rectangle 3">
            <a:extLst>
              <a:ext uri="{FF2B5EF4-FFF2-40B4-BE49-F238E27FC236}">
                <a16:creationId xmlns:a16="http://schemas.microsoft.com/office/drawing/2014/main" id="{B45FEC0E-7D97-666D-3CD7-B72F83B5D00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PRIMARY KEY Constraint</a:t>
            </a:r>
          </a:p>
          <a:p>
            <a:pPr lvl="1"/>
            <a:r>
              <a:rPr lang="en-US" altLang="en-US">
                <a:latin typeface="Arial" panose="020B0604020202020204" pitchFamily="34" charset="0"/>
              </a:rPr>
              <a:t>A PRIMARY KEY constraint creates a primary key for the table. Only one primary key can be created for a each table. The </a:t>
            </a:r>
            <a:r>
              <a:rPr lang="en-US" altLang="en-US">
                <a:solidFill>
                  <a:srgbClr val="FC0128"/>
                </a:solidFill>
                <a:latin typeface="Arial" panose="020B0604020202020204" pitchFamily="34" charset="0"/>
              </a:rPr>
              <a:t>PRIMARY KEY </a:t>
            </a:r>
            <a:r>
              <a:rPr lang="en-US" altLang="en-US">
                <a:latin typeface="Arial" panose="020B0604020202020204" pitchFamily="34" charset="0"/>
              </a:rPr>
              <a:t>constraint is a column or set of columns that uniquely identifies each row in a table. This constraint enforces uniqueness of the column or column combination and ensures that no column that is part of the primary key can contain a null value. </a:t>
            </a:r>
          </a:p>
        </p:txBody>
      </p:sp>
    </p:spTree>
    <p:extLst>
      <p:ext uri="{BB962C8B-B14F-4D97-AF65-F5344CB8AC3E}">
        <p14:creationId xmlns:p14="http://schemas.microsoft.com/office/powerpoint/2010/main" val="4233418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73FEB-EC76-A413-46FD-44B2E93A48F9}"/>
            </a:ext>
          </a:extLst>
        </p:cNvPr>
        <p:cNvGrpSpPr/>
        <p:nvPr/>
      </p:nvGrpSpPr>
      <p:grpSpPr>
        <a:xfrm>
          <a:off x="0" y="0"/>
          <a:ext cx="0" cy="0"/>
          <a:chOff x="0" y="0"/>
          <a:chExt cx="0" cy="0"/>
        </a:xfrm>
      </p:grpSpPr>
      <p:sp>
        <p:nvSpPr>
          <p:cNvPr id="41986" name="Rectangle 2">
            <a:extLst>
              <a:ext uri="{FF2B5EF4-FFF2-40B4-BE49-F238E27FC236}">
                <a16:creationId xmlns:a16="http://schemas.microsoft.com/office/drawing/2014/main" id="{21F0D737-B56E-844B-637C-0CCF37D92464}"/>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41987" name="Rectangle 3">
            <a:extLst>
              <a:ext uri="{FF2B5EF4-FFF2-40B4-BE49-F238E27FC236}">
                <a16:creationId xmlns:a16="http://schemas.microsoft.com/office/drawing/2014/main" id="{B715F41B-1BCE-3715-5D54-881DEF3C2E7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PRIMARY KEY Constraint (continued)</a:t>
            </a:r>
          </a:p>
          <a:p>
            <a:pPr lvl="1"/>
            <a:r>
              <a:rPr lang="en-US" altLang="en-US">
                <a:latin typeface="Arial" panose="020B0604020202020204" pitchFamily="34" charset="0"/>
              </a:rPr>
              <a:t>PRIMARY KEY constraints can be defined at the column level or table level. A composite PRIMARY KEY is created by using the table level definition.</a:t>
            </a:r>
          </a:p>
          <a:p>
            <a:pPr lvl="1"/>
            <a:r>
              <a:rPr lang="en-US" altLang="en-US">
                <a:latin typeface="Arial" panose="020B0604020202020204" pitchFamily="34" charset="0"/>
              </a:rPr>
              <a:t>The example on the slide defines a PRIMARY KEY constraint on the DEPTNO column of the DEPT table. The name of the constraint is DEPT_DEPTNO_PK.</a:t>
            </a:r>
          </a:p>
          <a:p>
            <a:pPr lvl="1"/>
            <a:r>
              <a:rPr lang="en-US" altLang="en-US" b="1">
                <a:latin typeface="Arial" panose="020B0604020202020204" pitchFamily="34" charset="0"/>
              </a:rPr>
              <a:t>Note:</a:t>
            </a:r>
            <a:r>
              <a:rPr lang="en-US" altLang="en-US">
                <a:latin typeface="Arial" panose="020B0604020202020204" pitchFamily="34" charset="0"/>
              </a:rPr>
              <a:t> A UNIQUE index is automatically created for a PRIMARY KEY column.</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extLst>
      <p:ext uri="{BB962C8B-B14F-4D97-AF65-F5344CB8AC3E}">
        <p14:creationId xmlns:p14="http://schemas.microsoft.com/office/powerpoint/2010/main" val="533871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3BC76-80D4-C96E-D9EE-9B09A727FE18}"/>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B7D54DC4-2C04-1420-CB72-13771EC8FF3A}"/>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44035" name="Rectangle 3">
            <a:extLst>
              <a:ext uri="{FF2B5EF4-FFF2-40B4-BE49-F238E27FC236}">
                <a16:creationId xmlns:a16="http://schemas.microsoft.com/office/drawing/2014/main" id="{E5765DD3-FDD5-3BA0-88FF-B247B6855E5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FOREIGN KEY Constraint</a:t>
            </a:r>
          </a:p>
          <a:p>
            <a:pPr lvl="1"/>
            <a:r>
              <a:rPr lang="en-US" altLang="en-US">
                <a:latin typeface="Arial" panose="020B0604020202020204" pitchFamily="34" charset="0"/>
              </a:rPr>
              <a:t>The </a:t>
            </a:r>
            <a:r>
              <a:rPr lang="en-US" altLang="en-US">
                <a:solidFill>
                  <a:srgbClr val="FC0128"/>
                </a:solidFill>
                <a:latin typeface="Arial" panose="020B0604020202020204" pitchFamily="34" charset="0"/>
              </a:rPr>
              <a:t>FOREIGN KEY,</a:t>
            </a:r>
            <a:r>
              <a:rPr lang="en-US" altLang="en-US">
                <a:latin typeface="Arial" panose="020B0604020202020204" pitchFamily="34" charset="0"/>
              </a:rPr>
              <a:t> or </a:t>
            </a:r>
            <a:r>
              <a:rPr lang="en-US" altLang="en-US">
                <a:solidFill>
                  <a:srgbClr val="FC0128"/>
                </a:solidFill>
                <a:latin typeface="Arial" panose="020B0604020202020204" pitchFamily="34" charset="0"/>
              </a:rPr>
              <a:t>referential integrity</a:t>
            </a:r>
            <a:r>
              <a:rPr lang="en-US" altLang="en-US">
                <a:latin typeface="Arial" panose="020B0604020202020204" pitchFamily="34" charset="0"/>
              </a:rPr>
              <a:t> constraint, designates a column or combination of columns as a foreign key and establishes a relationship between a primary key or a unique key in the same table or a different table. In the example on the slide, DEPTNO has been defined as the foreign key in the EMP table (dependent or child table); it references the DEPTNO column of the DEPT table (referenced or parent table).</a:t>
            </a:r>
          </a:p>
          <a:p>
            <a:pPr lvl="1"/>
            <a:r>
              <a:rPr lang="en-US" altLang="en-US">
                <a:latin typeface="Arial" panose="020B0604020202020204" pitchFamily="34" charset="0"/>
              </a:rPr>
              <a:t>A foreign key value must match an existing value in the parent table or be NULL.</a:t>
            </a:r>
          </a:p>
          <a:p>
            <a:pPr lvl="1"/>
            <a:r>
              <a:rPr lang="en-US" altLang="en-US">
                <a:latin typeface="Arial" panose="020B0604020202020204" pitchFamily="34" charset="0"/>
              </a:rPr>
              <a:t>Foreign keys are based on data values and are purely logical, not physical, pointers.</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grpSp>
        <p:nvGrpSpPr>
          <p:cNvPr id="44036" name="Group 4">
            <a:extLst>
              <a:ext uri="{FF2B5EF4-FFF2-40B4-BE49-F238E27FC236}">
                <a16:creationId xmlns:a16="http://schemas.microsoft.com/office/drawing/2014/main" id="{AD23ED9B-8735-BDE4-E4FD-8E80CAEB8C96}"/>
              </a:ext>
            </a:extLst>
          </p:cNvPr>
          <p:cNvGrpSpPr>
            <a:grpSpLocks/>
          </p:cNvGrpSpPr>
          <p:nvPr/>
        </p:nvGrpSpPr>
        <p:grpSpPr bwMode="auto">
          <a:xfrm>
            <a:off x="215900" y="6259513"/>
            <a:ext cx="287338" cy="311150"/>
            <a:chOff x="135" y="3872"/>
            <a:chExt cx="180" cy="192"/>
          </a:xfrm>
        </p:grpSpPr>
        <p:sp>
          <p:nvSpPr>
            <p:cNvPr id="44037" name="Freeform 5">
              <a:extLst>
                <a:ext uri="{FF2B5EF4-FFF2-40B4-BE49-F238E27FC236}">
                  <a16:creationId xmlns:a16="http://schemas.microsoft.com/office/drawing/2014/main" id="{318BF700-B874-2F0D-2148-8CD8A9CB4C44}"/>
                </a:ext>
              </a:extLst>
            </p:cNvPr>
            <p:cNvSpPr>
              <a:spLocks/>
            </p:cNvSpPr>
            <p:nvPr/>
          </p:nvSpPr>
          <p:spPr bwMode="auto">
            <a:xfrm>
              <a:off x="135" y="3872"/>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8" name="Freeform 6">
              <a:extLst>
                <a:ext uri="{FF2B5EF4-FFF2-40B4-BE49-F238E27FC236}">
                  <a16:creationId xmlns:a16="http://schemas.microsoft.com/office/drawing/2014/main" id="{FE57A777-B749-C5AC-E0B1-FA6AAEC966EF}"/>
                </a:ext>
              </a:extLst>
            </p:cNvPr>
            <p:cNvSpPr>
              <a:spLocks/>
            </p:cNvSpPr>
            <p:nvPr/>
          </p:nvSpPr>
          <p:spPr bwMode="auto">
            <a:xfrm>
              <a:off x="216" y="4046"/>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 name="T15" fmla="*/ 0 w 26"/>
                <a:gd name="T16" fmla="*/ 0 h 18"/>
                <a:gd name="T17" fmla="*/ 26 w 26"/>
                <a:gd name="T18" fmla="*/ 18 h 18"/>
              </a:gdLst>
              <a:ahLst/>
              <a:cxnLst>
                <a:cxn ang="T10">
                  <a:pos x="T0" y="T1"/>
                </a:cxn>
                <a:cxn ang="T11">
                  <a:pos x="T2" y="T3"/>
                </a:cxn>
                <a:cxn ang="T12">
                  <a:pos x="T4" y="T5"/>
                </a:cxn>
                <a:cxn ang="T13">
                  <a:pos x="T6" y="T7"/>
                </a:cxn>
                <a:cxn ang="T14">
                  <a:pos x="T8" y="T9"/>
                </a:cxn>
              </a:cxnLst>
              <a:rect l="T15" t="T16" r="T17" b="T18"/>
              <a:pathLst>
                <a:path w="26" h="18">
                  <a:moveTo>
                    <a:pt x="25" y="17"/>
                  </a:moveTo>
                  <a:lnTo>
                    <a:pt x="25" y="0"/>
                  </a:lnTo>
                  <a:lnTo>
                    <a:pt x="0" y="0"/>
                  </a:lnTo>
                  <a:lnTo>
                    <a:pt x="0" y="17"/>
                  </a:lnTo>
                  <a:lnTo>
                    <a:pt x="25"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9" name="Freeform 7">
              <a:extLst>
                <a:ext uri="{FF2B5EF4-FFF2-40B4-BE49-F238E27FC236}">
                  <a16:creationId xmlns:a16="http://schemas.microsoft.com/office/drawing/2014/main" id="{19219431-4B18-5BFD-E163-46EB0335FECC}"/>
                </a:ext>
              </a:extLst>
            </p:cNvPr>
            <p:cNvSpPr>
              <a:spLocks/>
            </p:cNvSpPr>
            <p:nvPr/>
          </p:nvSpPr>
          <p:spPr bwMode="auto">
            <a:xfrm>
              <a:off x="157" y="3925"/>
              <a:ext cx="33" cy="20"/>
            </a:xfrm>
            <a:custGeom>
              <a:avLst/>
              <a:gdLst>
                <a:gd name="T0" fmla="*/ 0 w 33"/>
                <a:gd name="T1" fmla="*/ 0 h 20"/>
                <a:gd name="T2" fmla="*/ 26 w 33"/>
                <a:gd name="T3" fmla="*/ 19 h 20"/>
                <a:gd name="T4" fmla="*/ 32 w 33"/>
                <a:gd name="T5" fmla="*/ 8 h 20"/>
                <a:gd name="T6" fmla="*/ 0 w 33"/>
                <a:gd name="T7" fmla="*/ 0 h 20"/>
                <a:gd name="T8" fmla="*/ 0 60000 65536"/>
                <a:gd name="T9" fmla="*/ 0 60000 65536"/>
                <a:gd name="T10" fmla="*/ 0 60000 65536"/>
                <a:gd name="T11" fmla="*/ 0 60000 65536"/>
                <a:gd name="T12" fmla="*/ 0 w 33"/>
                <a:gd name="T13" fmla="*/ 0 h 20"/>
                <a:gd name="T14" fmla="*/ 33 w 33"/>
                <a:gd name="T15" fmla="*/ 20 h 20"/>
              </a:gdLst>
              <a:ahLst/>
              <a:cxnLst>
                <a:cxn ang="T8">
                  <a:pos x="T0" y="T1"/>
                </a:cxn>
                <a:cxn ang="T9">
                  <a:pos x="T2" y="T3"/>
                </a:cxn>
                <a:cxn ang="T10">
                  <a:pos x="T4" y="T5"/>
                </a:cxn>
                <a:cxn ang="T11">
                  <a:pos x="T6" y="T7"/>
                </a:cxn>
              </a:cxnLst>
              <a:rect l="T12" t="T13" r="T14" b="T15"/>
              <a:pathLst>
                <a:path w="33" h="20">
                  <a:moveTo>
                    <a:pt x="0" y="0"/>
                  </a:moveTo>
                  <a:lnTo>
                    <a:pt x="26" y="19"/>
                  </a:lnTo>
                  <a:lnTo>
                    <a:pt x="32"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0" name="Freeform 8">
              <a:extLst>
                <a:ext uri="{FF2B5EF4-FFF2-40B4-BE49-F238E27FC236}">
                  <a16:creationId xmlns:a16="http://schemas.microsoft.com/office/drawing/2014/main" id="{8D4184ED-6F52-4444-3DF2-D35B3E9E0F0C}"/>
                </a:ext>
              </a:extLst>
            </p:cNvPr>
            <p:cNvSpPr>
              <a:spLocks/>
            </p:cNvSpPr>
            <p:nvPr/>
          </p:nvSpPr>
          <p:spPr bwMode="auto">
            <a:xfrm>
              <a:off x="268" y="3925"/>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1" name="Freeform 9">
              <a:extLst>
                <a:ext uri="{FF2B5EF4-FFF2-40B4-BE49-F238E27FC236}">
                  <a16:creationId xmlns:a16="http://schemas.microsoft.com/office/drawing/2014/main" id="{51B71160-A854-C321-5D12-7FA1042B438C}"/>
                </a:ext>
              </a:extLst>
            </p:cNvPr>
            <p:cNvSpPr>
              <a:spLocks/>
            </p:cNvSpPr>
            <p:nvPr/>
          </p:nvSpPr>
          <p:spPr bwMode="auto">
            <a:xfrm>
              <a:off x="155" y="3964"/>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2" name="Freeform 10">
              <a:extLst>
                <a:ext uri="{FF2B5EF4-FFF2-40B4-BE49-F238E27FC236}">
                  <a16:creationId xmlns:a16="http://schemas.microsoft.com/office/drawing/2014/main" id="{5E210026-B0F5-D38F-BB0F-573332753156}"/>
                </a:ext>
              </a:extLst>
            </p:cNvPr>
            <p:cNvSpPr>
              <a:spLocks/>
            </p:cNvSpPr>
            <p:nvPr/>
          </p:nvSpPr>
          <p:spPr bwMode="auto">
            <a:xfrm>
              <a:off x="271" y="3965"/>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3" name="Freeform 11">
              <a:extLst>
                <a:ext uri="{FF2B5EF4-FFF2-40B4-BE49-F238E27FC236}">
                  <a16:creationId xmlns:a16="http://schemas.microsoft.com/office/drawing/2014/main" id="{7D42EBCA-B787-006B-B7AB-1744F0B6A1DC}"/>
                </a:ext>
              </a:extLst>
            </p:cNvPr>
            <p:cNvSpPr>
              <a:spLocks/>
            </p:cNvSpPr>
            <p:nvPr/>
          </p:nvSpPr>
          <p:spPr bwMode="auto">
            <a:xfrm>
              <a:off x="180" y="3887"/>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 name="T12" fmla="*/ 0 w 26"/>
                <a:gd name="T13" fmla="*/ 0 h 30"/>
                <a:gd name="T14" fmla="*/ 26 w 26"/>
                <a:gd name="T15" fmla="*/ 30 h 30"/>
              </a:gdLst>
              <a:ahLst/>
              <a:cxnLst>
                <a:cxn ang="T8">
                  <a:pos x="T0" y="T1"/>
                </a:cxn>
                <a:cxn ang="T9">
                  <a:pos x="T2" y="T3"/>
                </a:cxn>
                <a:cxn ang="T10">
                  <a:pos x="T4" y="T5"/>
                </a:cxn>
                <a:cxn ang="T11">
                  <a:pos x="T6" y="T7"/>
                </a:cxn>
              </a:cxnLst>
              <a:rect l="T12" t="T13" r="T14" b="T15"/>
              <a:pathLst>
                <a:path w="26" h="30">
                  <a:moveTo>
                    <a:pt x="0" y="0"/>
                  </a:moveTo>
                  <a:lnTo>
                    <a:pt x="15" y="29"/>
                  </a:lnTo>
                  <a:lnTo>
                    <a:pt x="25"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4" name="Freeform 12">
              <a:extLst>
                <a:ext uri="{FF2B5EF4-FFF2-40B4-BE49-F238E27FC236}">
                  <a16:creationId xmlns:a16="http://schemas.microsoft.com/office/drawing/2014/main" id="{7B79C4AC-4979-9447-21EF-90F978B61567}"/>
                </a:ext>
              </a:extLst>
            </p:cNvPr>
            <p:cNvSpPr>
              <a:spLocks/>
            </p:cNvSpPr>
            <p:nvPr/>
          </p:nvSpPr>
          <p:spPr bwMode="auto">
            <a:xfrm>
              <a:off x="245" y="3889"/>
              <a:ext cx="29" cy="32"/>
            </a:xfrm>
            <a:custGeom>
              <a:avLst/>
              <a:gdLst>
                <a:gd name="T0" fmla="*/ 28 w 29"/>
                <a:gd name="T1" fmla="*/ 0 h 32"/>
                <a:gd name="T2" fmla="*/ 11 w 29"/>
                <a:gd name="T3" fmla="*/ 31 h 32"/>
                <a:gd name="T4" fmla="*/ 0 w 29"/>
                <a:gd name="T5" fmla="*/ 23 h 32"/>
                <a:gd name="T6" fmla="*/ 28 w 29"/>
                <a:gd name="T7" fmla="*/ 0 h 32"/>
                <a:gd name="T8" fmla="*/ 0 60000 65536"/>
                <a:gd name="T9" fmla="*/ 0 60000 65536"/>
                <a:gd name="T10" fmla="*/ 0 60000 65536"/>
                <a:gd name="T11" fmla="*/ 0 60000 65536"/>
                <a:gd name="T12" fmla="*/ 0 w 29"/>
                <a:gd name="T13" fmla="*/ 0 h 32"/>
                <a:gd name="T14" fmla="*/ 29 w 29"/>
                <a:gd name="T15" fmla="*/ 32 h 32"/>
              </a:gdLst>
              <a:ahLst/>
              <a:cxnLst>
                <a:cxn ang="T8">
                  <a:pos x="T0" y="T1"/>
                </a:cxn>
                <a:cxn ang="T9">
                  <a:pos x="T2" y="T3"/>
                </a:cxn>
                <a:cxn ang="T10">
                  <a:pos x="T4" y="T5"/>
                </a:cxn>
                <a:cxn ang="T11">
                  <a:pos x="T6" y="T7"/>
                </a:cxn>
              </a:cxnLst>
              <a:rect l="T12" t="T13" r="T14" b="T15"/>
              <a:pathLst>
                <a:path w="29" h="32">
                  <a:moveTo>
                    <a:pt x="28" y="0"/>
                  </a:moveTo>
                  <a:lnTo>
                    <a:pt x="11" y="31"/>
                  </a:lnTo>
                  <a:lnTo>
                    <a:pt x="0" y="23"/>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5" name="Freeform 13">
              <a:extLst>
                <a:ext uri="{FF2B5EF4-FFF2-40B4-BE49-F238E27FC236}">
                  <a16:creationId xmlns:a16="http://schemas.microsoft.com/office/drawing/2014/main" id="{EF382890-1B50-CE11-CDDD-DF8C3D5ED4C4}"/>
                </a:ext>
              </a:extLst>
            </p:cNvPr>
            <p:cNvSpPr>
              <a:spLocks/>
            </p:cNvSpPr>
            <p:nvPr/>
          </p:nvSpPr>
          <p:spPr bwMode="auto">
            <a:xfrm>
              <a:off x="220" y="3878"/>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6" name="Freeform 14">
              <a:extLst>
                <a:ext uri="{FF2B5EF4-FFF2-40B4-BE49-F238E27FC236}">
                  <a16:creationId xmlns:a16="http://schemas.microsoft.com/office/drawing/2014/main" id="{486F7DCB-6362-0124-0300-82AF2791A6CB}"/>
                </a:ext>
              </a:extLst>
            </p:cNvPr>
            <p:cNvSpPr>
              <a:spLocks/>
            </p:cNvSpPr>
            <p:nvPr/>
          </p:nvSpPr>
          <p:spPr bwMode="auto">
            <a:xfrm>
              <a:off x="195" y="3924"/>
              <a:ext cx="67" cy="116"/>
            </a:xfrm>
            <a:custGeom>
              <a:avLst/>
              <a:gdLst>
                <a:gd name="T0" fmla="*/ 21 w 67"/>
                <a:gd name="T1" fmla="*/ 115 h 116"/>
                <a:gd name="T2" fmla="*/ 22 w 67"/>
                <a:gd name="T3" fmla="*/ 94 h 116"/>
                <a:gd name="T4" fmla="*/ 20 w 67"/>
                <a:gd name="T5" fmla="*/ 91 h 116"/>
                <a:gd name="T6" fmla="*/ 14 w 67"/>
                <a:gd name="T7" fmla="*/ 83 h 116"/>
                <a:gd name="T8" fmla="*/ 8 w 67"/>
                <a:gd name="T9" fmla="*/ 72 h 116"/>
                <a:gd name="T10" fmla="*/ 3 w 67"/>
                <a:gd name="T11" fmla="*/ 58 h 116"/>
                <a:gd name="T12" fmla="*/ 0 w 67"/>
                <a:gd name="T13" fmla="*/ 42 h 116"/>
                <a:gd name="T14" fmla="*/ 0 w 67"/>
                <a:gd name="T15" fmla="*/ 27 h 116"/>
                <a:gd name="T16" fmla="*/ 7 w 67"/>
                <a:gd name="T17" fmla="*/ 12 h 116"/>
                <a:gd name="T18" fmla="*/ 22 w 67"/>
                <a:gd name="T19" fmla="*/ 0 h 116"/>
                <a:gd name="T20" fmla="*/ 42 w 67"/>
                <a:gd name="T21" fmla="*/ 0 h 116"/>
                <a:gd name="T22" fmla="*/ 45 w 67"/>
                <a:gd name="T23" fmla="*/ 1 h 116"/>
                <a:gd name="T24" fmla="*/ 50 w 67"/>
                <a:gd name="T25" fmla="*/ 5 h 116"/>
                <a:gd name="T26" fmla="*/ 56 w 67"/>
                <a:gd name="T27" fmla="*/ 11 h 116"/>
                <a:gd name="T28" fmla="*/ 62 w 67"/>
                <a:gd name="T29" fmla="*/ 20 h 116"/>
                <a:gd name="T30" fmla="*/ 66 w 67"/>
                <a:gd name="T31" fmla="*/ 32 h 116"/>
                <a:gd name="T32" fmla="*/ 65 w 67"/>
                <a:gd name="T33" fmla="*/ 48 h 116"/>
                <a:gd name="T34" fmla="*/ 58 w 67"/>
                <a:gd name="T35" fmla="*/ 68 h 116"/>
                <a:gd name="T36" fmla="*/ 42 w 67"/>
                <a:gd name="T37" fmla="*/ 91 h 116"/>
                <a:gd name="T38" fmla="*/ 42 w 67"/>
                <a:gd name="T39" fmla="*/ 115 h 116"/>
                <a:gd name="T40" fmla="*/ 21 w 67"/>
                <a:gd name="T41" fmla="*/ 115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6"/>
                <a:gd name="T65" fmla="*/ 67 w 67"/>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6">
                  <a:moveTo>
                    <a:pt x="21" y="115"/>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5"/>
                  </a:lnTo>
                  <a:lnTo>
                    <a:pt x="21"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7" name="Freeform 15">
              <a:extLst>
                <a:ext uri="{FF2B5EF4-FFF2-40B4-BE49-F238E27FC236}">
                  <a16:creationId xmlns:a16="http://schemas.microsoft.com/office/drawing/2014/main" id="{8D2CB35D-FBA8-A1D8-0281-B7A33C723A47}"/>
                </a:ext>
              </a:extLst>
            </p:cNvPr>
            <p:cNvSpPr>
              <a:spLocks/>
            </p:cNvSpPr>
            <p:nvPr/>
          </p:nvSpPr>
          <p:spPr bwMode="auto">
            <a:xfrm>
              <a:off x="222" y="3945"/>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14420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B994-8D70-B88F-51FF-351A56A8EF79}"/>
            </a:ext>
          </a:extLst>
        </p:cNvPr>
        <p:cNvGrpSpPr/>
        <p:nvPr/>
      </p:nvGrpSpPr>
      <p:grpSpPr>
        <a:xfrm>
          <a:off x="0" y="0"/>
          <a:ext cx="0" cy="0"/>
          <a:chOff x="0" y="0"/>
          <a:chExt cx="0" cy="0"/>
        </a:xfrm>
      </p:grpSpPr>
      <p:sp>
        <p:nvSpPr>
          <p:cNvPr id="46082" name="Rectangle 2">
            <a:extLst>
              <a:ext uri="{FF2B5EF4-FFF2-40B4-BE49-F238E27FC236}">
                <a16:creationId xmlns:a16="http://schemas.microsoft.com/office/drawing/2014/main" id="{E30B3422-B540-29BE-E5A4-02ECB6D4E035}"/>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46083" name="Rectangle 3">
            <a:extLst>
              <a:ext uri="{FF2B5EF4-FFF2-40B4-BE49-F238E27FC236}">
                <a16:creationId xmlns:a16="http://schemas.microsoft.com/office/drawing/2014/main" id="{F2A57E2C-64E9-AF23-00EE-F1EE0C3DB22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FOREIGN KEY Constraint (continued)</a:t>
            </a:r>
          </a:p>
          <a:p>
            <a:pPr lvl="1"/>
            <a:r>
              <a:rPr lang="en-US" altLang="en-US">
                <a:latin typeface="Arial" panose="020B0604020202020204" pitchFamily="34" charset="0"/>
              </a:rPr>
              <a:t>FOREIGN KEY constraints can be defined at the column or table constraint level. A composite foreign key must be created by using the table-level definition.</a:t>
            </a:r>
          </a:p>
          <a:p>
            <a:pPr lvl="1"/>
            <a:r>
              <a:rPr lang="en-US" altLang="en-US">
                <a:latin typeface="Arial" panose="020B0604020202020204" pitchFamily="34" charset="0"/>
              </a:rPr>
              <a:t>The example on the slide defines a FOREIGN KEY constraint on the DEPTNO column of the EMP table, using table level syntax. The name of the constraint is EMP_DEPTNO_FK.</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extLst>
      <p:ext uri="{BB962C8B-B14F-4D97-AF65-F5344CB8AC3E}">
        <p14:creationId xmlns:p14="http://schemas.microsoft.com/office/powerpoint/2010/main" val="1947627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10BF-D444-C310-D052-CE9150014492}"/>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697E6CDA-0A1C-21F9-081A-8CE7ED2FA9D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FOREIGN KEY Constraint (continued)</a:t>
            </a:r>
          </a:p>
          <a:p>
            <a:pPr marL="114300" lvl="1" defTabSz="401638"/>
            <a:r>
              <a:rPr lang="en-US" altLang="en-US">
                <a:latin typeface="Arial" panose="020B0604020202020204" pitchFamily="34" charset="0"/>
              </a:rPr>
              <a:t>The foreign key is defined in the child table, and the table containing the referenced column is the parent table. The foreign key is defined using a combination of the following keywords: </a:t>
            </a:r>
          </a:p>
          <a:p>
            <a:pPr marL="450850" lvl="2" indent="-217488" defTabSz="401638"/>
            <a:r>
              <a:rPr lang="en-US" altLang="en-US">
                <a:latin typeface="Arial" panose="020B0604020202020204" pitchFamily="34" charset="0"/>
              </a:rPr>
              <a:t>FOREIGN KEY is used to define the column in the child table at the table constraint level.</a:t>
            </a:r>
          </a:p>
          <a:p>
            <a:pPr marL="450850" lvl="2" indent="-217488" defTabSz="401638"/>
            <a:r>
              <a:rPr lang="en-US" altLang="en-US">
                <a:solidFill>
                  <a:srgbClr val="FC0128"/>
                </a:solidFill>
                <a:latin typeface="Arial" panose="020B0604020202020204" pitchFamily="34" charset="0"/>
              </a:rPr>
              <a:t>REFERENCES </a:t>
            </a:r>
            <a:r>
              <a:rPr lang="en-US" altLang="en-US">
                <a:latin typeface="Arial" panose="020B0604020202020204" pitchFamily="34" charset="0"/>
              </a:rPr>
              <a:t>identifies the table and column in the parent table.</a:t>
            </a:r>
          </a:p>
          <a:p>
            <a:pPr marL="450850" lvl="2" indent="-217488" defTabSz="401638"/>
            <a:r>
              <a:rPr lang="en-US" altLang="en-US">
                <a:solidFill>
                  <a:srgbClr val="FC0128"/>
                </a:solidFill>
                <a:latin typeface="Arial" panose="020B0604020202020204" pitchFamily="34" charset="0"/>
              </a:rPr>
              <a:t>ON DELETE CASCADE </a:t>
            </a:r>
            <a:r>
              <a:rPr lang="en-US" altLang="en-US">
                <a:latin typeface="Arial" panose="020B0604020202020204" pitchFamily="34" charset="0"/>
              </a:rPr>
              <a:t>indicates that when the row in the parent table is deleted, the dependent rows in the child table will also be deleted.</a:t>
            </a:r>
          </a:p>
          <a:p>
            <a:pPr marL="114300" lvl="1" defTabSz="401638"/>
            <a:r>
              <a:rPr lang="en-US" altLang="en-US">
                <a:latin typeface="Arial" panose="020B0604020202020204" pitchFamily="34" charset="0"/>
              </a:rPr>
              <a:t>Without the ON DELETE CASCADE option, the row in the parent table cannot be deleted if it is referenced in the child table.</a:t>
            </a:r>
          </a:p>
          <a:p>
            <a:pPr defTabSz="401638"/>
            <a:endParaRPr lang="en-US" altLang="en-US" b="1">
              <a:latin typeface="Times New Roman" panose="02020603050405020304" pitchFamily="18" charset="0"/>
            </a:endParaRPr>
          </a:p>
        </p:txBody>
      </p:sp>
      <p:sp>
        <p:nvSpPr>
          <p:cNvPr id="48131" name="Rectangle 3">
            <a:extLst>
              <a:ext uri="{FF2B5EF4-FFF2-40B4-BE49-F238E27FC236}">
                <a16:creationId xmlns:a16="http://schemas.microsoft.com/office/drawing/2014/main" id="{87C5EC03-9549-69F1-E418-FCCB6F4CA211}"/>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Tree>
    <p:extLst>
      <p:ext uri="{BB962C8B-B14F-4D97-AF65-F5344CB8AC3E}">
        <p14:creationId xmlns:p14="http://schemas.microsoft.com/office/powerpoint/2010/main" val="93243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1FC3-39FB-C26A-F2D4-0806C62B2F26}"/>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10ED3330-A168-5023-23EE-7FD01371361C}"/>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79" name="Rectangle 3">
            <a:extLst>
              <a:ext uri="{FF2B5EF4-FFF2-40B4-BE49-F238E27FC236}">
                <a16:creationId xmlns:a16="http://schemas.microsoft.com/office/drawing/2014/main" id="{BDAEA3C4-160E-0AF4-A55F-B5453A621338}"/>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80" name="Rectangle 4">
            <a:extLst>
              <a:ext uri="{FF2B5EF4-FFF2-40B4-BE49-F238E27FC236}">
                <a16:creationId xmlns:a16="http://schemas.microsoft.com/office/drawing/2014/main" id="{9A8478C8-EC7F-4FF6-FF90-96CED815C3E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CHECK Constraint</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CHECK constraint </a:t>
            </a:r>
            <a:r>
              <a:rPr lang="en-US" altLang="en-US">
                <a:latin typeface="Arial" panose="020B0604020202020204" pitchFamily="34" charset="0"/>
              </a:rPr>
              <a:t>defines a condition that each row must satisfy. The condition can use the same constructs as query conditions, with the following exceptions:</a:t>
            </a:r>
          </a:p>
          <a:p>
            <a:pPr marL="450850" lvl="2" indent="-217488" defTabSz="401638"/>
            <a:r>
              <a:rPr lang="en-US" altLang="en-US">
                <a:latin typeface="Arial" panose="020B0604020202020204" pitchFamily="34" charset="0"/>
              </a:rPr>
              <a:t>References to the CURRVAL, NEXTVAL, LEVEL, and ROWNUM pseudocolumns</a:t>
            </a:r>
          </a:p>
          <a:p>
            <a:pPr marL="450850" lvl="2" indent="-217488" defTabSz="401638"/>
            <a:r>
              <a:rPr lang="en-US" altLang="en-US">
                <a:latin typeface="Arial" panose="020B0604020202020204" pitchFamily="34" charset="0"/>
              </a:rPr>
              <a:t>Calls to SYSDATE, UID, USER, and USERENV functions</a:t>
            </a:r>
          </a:p>
          <a:p>
            <a:pPr marL="450850" lvl="2" indent="-217488" defTabSz="401638"/>
            <a:r>
              <a:rPr lang="en-US" altLang="en-US">
                <a:latin typeface="Arial" panose="020B0604020202020204" pitchFamily="34" charset="0"/>
              </a:rPr>
              <a:t>Queries that refer to other values in other rows</a:t>
            </a:r>
          </a:p>
          <a:p>
            <a:pPr marL="114300" lvl="1" defTabSz="401638"/>
            <a:r>
              <a:rPr lang="en-US" altLang="en-US">
                <a:latin typeface="Arial" panose="020B0604020202020204" pitchFamily="34" charset="0"/>
              </a:rPr>
              <a:t>A single column can have multiple CHECK constraints that reference the column in its definition. There is no limit to the number of CHECK constraints that you can define on a column.</a:t>
            </a:r>
          </a:p>
          <a:p>
            <a:pPr marL="114300" lvl="1" defTabSz="401638"/>
            <a:r>
              <a:rPr lang="en-US" altLang="en-US">
                <a:latin typeface="Arial" panose="020B0604020202020204" pitchFamily="34" charset="0"/>
              </a:rPr>
              <a:t>CHECK constraints can be defined at the column level or table level. </a:t>
            </a:r>
          </a:p>
          <a:p>
            <a:pPr defTabSz="401638"/>
            <a:endParaRPr lang="en-US" altLang="en-US">
              <a:solidFill>
                <a:schemeClr val="accent2"/>
              </a:solidFill>
              <a:latin typeface="Arial" panose="020B0604020202020204" pitchFamily="34" charset="0"/>
            </a:endParaRPr>
          </a:p>
          <a:p>
            <a:pPr defTabSz="401638"/>
            <a:endParaRPr lang="en-US" altLang="en-US">
              <a:solidFill>
                <a:schemeClr val="accent2"/>
              </a:solidFill>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You can defer checking constraints for validity until the end of the transaction. </a:t>
            </a:r>
          </a:p>
          <a:p>
            <a:pPr marL="450850" lvl="2" indent="-217488" defTabSz="401638"/>
            <a:r>
              <a:rPr lang="en-US" altLang="en-US">
                <a:solidFill>
                  <a:schemeClr val="accent2"/>
                </a:solidFill>
                <a:latin typeface="Arial" panose="020B0604020202020204" pitchFamily="34" charset="0"/>
              </a:rPr>
              <a:t>A constraint is </a:t>
            </a:r>
            <a:r>
              <a:rPr lang="en-US" altLang="en-US" i="1">
                <a:solidFill>
                  <a:schemeClr val="accent2"/>
                </a:solidFill>
                <a:latin typeface="Arial" panose="020B0604020202020204" pitchFamily="34" charset="0"/>
              </a:rPr>
              <a:t>deferred</a:t>
            </a:r>
            <a:r>
              <a:rPr lang="en-US" altLang="en-US">
                <a:solidFill>
                  <a:schemeClr val="accent2"/>
                </a:solidFill>
                <a:latin typeface="Arial" panose="020B0604020202020204" pitchFamily="34" charset="0"/>
              </a:rPr>
              <a:t> if the system checks that it is satisfied only on commit. If a deferred constraint is violated, then commit causes the transaction to roll back.</a:t>
            </a:r>
          </a:p>
          <a:p>
            <a:pPr marL="450850" lvl="2" indent="-217488" defTabSz="401638"/>
            <a:r>
              <a:rPr lang="en-US" altLang="en-US">
                <a:solidFill>
                  <a:schemeClr val="accent2"/>
                </a:solidFill>
                <a:latin typeface="Arial" panose="020B0604020202020204" pitchFamily="34" charset="0"/>
              </a:rPr>
              <a:t>A constraint is </a:t>
            </a:r>
            <a:r>
              <a:rPr lang="en-US" altLang="en-US" i="1">
                <a:solidFill>
                  <a:schemeClr val="accent2"/>
                </a:solidFill>
                <a:latin typeface="Arial" panose="020B0604020202020204" pitchFamily="34" charset="0"/>
              </a:rPr>
              <a:t>immediate </a:t>
            </a:r>
            <a:r>
              <a:rPr lang="en-US" altLang="en-US">
                <a:solidFill>
                  <a:schemeClr val="accent2"/>
                </a:solidFill>
                <a:latin typeface="Arial" panose="020B0604020202020204" pitchFamily="34" charset="0"/>
              </a:rPr>
              <a:t>if it is checked at the end of each statement. If it is violated, the statement is rolled back immediately. </a:t>
            </a:r>
          </a:p>
          <a:p>
            <a:pPr defTabSz="401638"/>
            <a:endParaRPr lang="en-US" altLang="en-US" b="1">
              <a:solidFill>
                <a:schemeClr val="accent2"/>
              </a:solidFill>
              <a:latin typeface="Times New Roman" panose="02020603050405020304" pitchFamily="18" charset="0"/>
            </a:endParaRPr>
          </a:p>
        </p:txBody>
      </p:sp>
      <p:sp>
        <p:nvSpPr>
          <p:cNvPr id="50181" name="Rectangle 5">
            <a:extLst>
              <a:ext uri="{FF2B5EF4-FFF2-40B4-BE49-F238E27FC236}">
                <a16:creationId xmlns:a16="http://schemas.microsoft.com/office/drawing/2014/main" id="{D00A70CA-18CC-0FBA-1C5A-E51578D8F2A1}"/>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Tree>
    <p:extLst>
      <p:ext uri="{BB962C8B-B14F-4D97-AF65-F5344CB8AC3E}">
        <p14:creationId xmlns:p14="http://schemas.microsoft.com/office/powerpoint/2010/main" val="912345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8D7A9-85D3-AB39-E767-8AF9C45762D1}"/>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4AD6EC0A-0EBC-8AC0-E919-E8DCCBAEB245}"/>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
        <p:nvSpPr>
          <p:cNvPr id="52227" name="Rectangle 3">
            <a:extLst>
              <a:ext uri="{FF2B5EF4-FFF2-40B4-BE49-F238E27FC236}">
                <a16:creationId xmlns:a16="http://schemas.microsoft.com/office/drawing/2014/main" id="{BAEECD40-14D8-345A-AADB-22CDE999587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Tables</a:t>
            </a:r>
          </a:p>
          <a:p>
            <a:pPr lvl="1"/>
            <a:r>
              <a:rPr lang="en-US" altLang="en-US">
                <a:latin typeface="Arial" panose="020B0604020202020204" pitchFamily="34" charset="0"/>
              </a:rPr>
              <a:t>The example on the slide creates the DEPT table, with three columns—namely, DEPTNO, DNAME, and LOC. It further confirms the creation of the table by issuing the DESCRIBE command. </a:t>
            </a:r>
          </a:p>
          <a:p>
            <a:pPr lvl="1"/>
            <a:r>
              <a:rPr lang="en-US" altLang="en-US">
                <a:latin typeface="Arial" panose="020B0604020202020204" pitchFamily="34" charset="0"/>
              </a:rPr>
              <a:t>Since creating a table is a DDL statement, an automatic commit takes place when this statement is executed. </a:t>
            </a:r>
          </a:p>
        </p:txBody>
      </p:sp>
    </p:spTree>
    <p:extLst>
      <p:ext uri="{BB962C8B-B14F-4D97-AF65-F5344CB8AC3E}">
        <p14:creationId xmlns:p14="http://schemas.microsoft.com/office/powerpoint/2010/main" val="4226930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8668-416E-3A17-9E12-0FF5D2990CC7}"/>
            </a:ext>
          </a:extLst>
        </p:cNvPr>
        <p:cNvGrpSpPr/>
        <p:nvPr/>
      </p:nvGrpSpPr>
      <p:grpSpPr>
        <a:xfrm>
          <a:off x="0" y="0"/>
          <a:ext cx="0" cy="0"/>
          <a:chOff x="0" y="0"/>
          <a:chExt cx="0" cy="0"/>
        </a:xfrm>
      </p:grpSpPr>
      <p:sp>
        <p:nvSpPr>
          <p:cNvPr id="54274" name="Rectangle 2">
            <a:extLst>
              <a:ext uri="{FF2B5EF4-FFF2-40B4-BE49-F238E27FC236}">
                <a16:creationId xmlns:a16="http://schemas.microsoft.com/office/drawing/2014/main" id="{E4AEAE1E-4B81-C2CD-74CB-618B8D1ED49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Viewing Constraints</a:t>
            </a:r>
          </a:p>
          <a:p>
            <a:pPr marL="114300" lvl="1" defTabSz="401638"/>
            <a:r>
              <a:rPr lang="en-US" altLang="en-US">
                <a:latin typeface="Arial" panose="020B0604020202020204" pitchFamily="34" charset="0"/>
              </a:rPr>
              <a:t>After creating a table, you can confirm its existence by issuing a DESCRIBE command. The only constraint that you can verify is the NOT NULL constraint. To view all constraints on your table, query the USER_CONSTRAINTS table. </a:t>
            </a:r>
          </a:p>
          <a:p>
            <a:pPr marL="114300" lvl="1" defTabSz="401638"/>
            <a:r>
              <a:rPr lang="en-US" altLang="en-US">
                <a:latin typeface="Arial" panose="020B0604020202020204" pitchFamily="34" charset="0"/>
              </a:rPr>
              <a:t>The example on the slide displays all the constraints on the EMP table.</a:t>
            </a:r>
          </a:p>
          <a:p>
            <a:pPr marL="114300" lvl="1" defTabSz="401638"/>
            <a:r>
              <a:rPr lang="en-US" altLang="en-US" b="1">
                <a:latin typeface="Arial" panose="020B0604020202020204" pitchFamily="34" charset="0"/>
              </a:rPr>
              <a:t>Note:</a:t>
            </a:r>
            <a:r>
              <a:rPr lang="en-US" altLang="en-US">
                <a:latin typeface="Arial" panose="020B0604020202020204" pitchFamily="34" charset="0"/>
              </a:rPr>
              <a:t> Constraints that are not named by the table owner receive the system-assigned constraint name. In constraint type, C stands for CHECK, P for PRIMARY KEY, R for referential integrity, and U for UNIQUE key. Notice that the NOT NULL constraint is really a CHECK constraint.</a:t>
            </a: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p:txBody>
      </p:sp>
      <p:sp>
        <p:nvSpPr>
          <p:cNvPr id="54275" name="Rectangle 3">
            <a:extLst>
              <a:ext uri="{FF2B5EF4-FFF2-40B4-BE49-F238E27FC236}">
                <a16:creationId xmlns:a16="http://schemas.microsoft.com/office/drawing/2014/main" id="{AD0196B8-D821-6320-6BBF-96CABDD99A4D}"/>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Tree>
    <p:extLst>
      <p:ext uri="{BB962C8B-B14F-4D97-AF65-F5344CB8AC3E}">
        <p14:creationId xmlns:p14="http://schemas.microsoft.com/office/powerpoint/2010/main" val="3676964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6779-3B64-840A-FE28-2E57940C6DEA}"/>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B4444DC4-F473-F9DF-1C41-1E2D71159BBF}"/>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6323" name="Rectangle 3">
            <a:extLst>
              <a:ext uri="{FF2B5EF4-FFF2-40B4-BE49-F238E27FC236}">
                <a16:creationId xmlns:a16="http://schemas.microsoft.com/office/drawing/2014/main" id="{2185DBBA-5FD8-2AB2-8FA4-73923B694C45}"/>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6324" name="Rectangle 4">
            <a:extLst>
              <a:ext uri="{FF2B5EF4-FFF2-40B4-BE49-F238E27FC236}">
                <a16:creationId xmlns:a16="http://schemas.microsoft.com/office/drawing/2014/main" id="{AD04ECDD-DEEA-76D4-6CF6-93460E0F5D6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Viewing Constraints (continued)</a:t>
            </a:r>
          </a:p>
          <a:p>
            <a:pPr marL="114300" lvl="1" defTabSz="401638"/>
            <a:r>
              <a:rPr lang="en-US" altLang="en-US">
                <a:latin typeface="Arial" panose="020B0604020202020204" pitchFamily="34" charset="0"/>
              </a:rPr>
              <a:t>You can view the names of the columns involved in constraints by querying the </a:t>
            </a:r>
            <a:r>
              <a:rPr lang="en-US" altLang="en-US">
                <a:solidFill>
                  <a:srgbClr val="FC0128"/>
                </a:solidFill>
                <a:latin typeface="Arial" panose="020B0604020202020204" pitchFamily="34" charset="0"/>
              </a:rPr>
              <a:t>USER_CONS_COLUMNS </a:t>
            </a:r>
            <a:r>
              <a:rPr lang="en-US" altLang="en-US">
                <a:latin typeface="Arial" panose="020B0604020202020204" pitchFamily="34" charset="0"/>
              </a:rPr>
              <a:t>data dictionary view. This view is especially useful for constraints that use the system-assigned name. </a:t>
            </a:r>
          </a:p>
        </p:txBody>
      </p:sp>
      <p:sp>
        <p:nvSpPr>
          <p:cNvPr id="56325" name="Rectangle 5">
            <a:extLst>
              <a:ext uri="{FF2B5EF4-FFF2-40B4-BE49-F238E27FC236}">
                <a16:creationId xmlns:a16="http://schemas.microsoft.com/office/drawing/2014/main" id="{0AC7DA30-5A7B-8CA2-EC45-0D17D63F01B2}"/>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Tree>
    <p:extLst>
      <p:ext uri="{BB962C8B-B14F-4D97-AF65-F5344CB8AC3E}">
        <p14:creationId xmlns:p14="http://schemas.microsoft.com/office/powerpoint/2010/main" val="2273193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3757D-B3F1-B944-4B5B-93CE080118DD}"/>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F8F6466E-7991-E935-5EB8-6F45D2A4571F}"/>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58371" name="Rectangle 3">
            <a:extLst>
              <a:ext uri="{FF2B5EF4-FFF2-40B4-BE49-F238E27FC236}">
                <a16:creationId xmlns:a16="http://schemas.microsoft.com/office/drawing/2014/main" id="{05357B25-25EC-B739-9C53-32F28CF6EA6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Defining Constraints</a:t>
            </a:r>
          </a:p>
          <a:p>
            <a:pPr lvl="1"/>
            <a:r>
              <a:rPr lang="en-US" altLang="en-US">
                <a:latin typeface="Arial" panose="020B0604020202020204" pitchFamily="34" charset="0"/>
              </a:rPr>
              <a:t>The slide gives the syntax for defining constraints while creating a table.</a:t>
            </a:r>
          </a:p>
          <a:p>
            <a:pPr lvl="1"/>
            <a:r>
              <a:rPr lang="en-US" altLang="en-US">
                <a:latin typeface="Arial" panose="020B0604020202020204" pitchFamily="34" charset="0"/>
              </a:rPr>
              <a:t>In the syntax:</a:t>
            </a:r>
          </a:p>
          <a:p>
            <a:pPr lvl="1"/>
            <a:r>
              <a:rPr lang="en-US" altLang="en-US" i="1">
                <a:latin typeface="Arial" panose="020B0604020202020204" pitchFamily="34" charset="0"/>
              </a:rPr>
              <a:t>	schema</a:t>
            </a:r>
            <a:r>
              <a:rPr lang="en-US" altLang="en-US">
                <a:latin typeface="Arial" panose="020B0604020202020204" pitchFamily="34" charset="0"/>
              </a:rPr>
              <a:t>		is the same as the owner’s name</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a default value if a value is omitted in the INSERT statement</a:t>
            </a:r>
          </a:p>
          <a:p>
            <a:pPr lvl="1"/>
            <a:r>
              <a:rPr lang="en-US" altLang="en-US" i="1">
                <a:latin typeface="Arial" panose="020B0604020202020204" pitchFamily="34" charset="0"/>
              </a:rPr>
              <a:t>	column</a:t>
            </a:r>
            <a:r>
              <a:rPr lang="en-US" altLang="en-US">
                <a:latin typeface="Arial" panose="020B0604020202020204" pitchFamily="34" charset="0"/>
              </a:rPr>
              <a:t>		is the name of the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column’s datatype and length</a:t>
            </a:r>
          </a:p>
          <a:p>
            <a:pPr lvl="1"/>
            <a:r>
              <a:rPr lang="en-US" altLang="en-US">
                <a:latin typeface="Arial" panose="020B0604020202020204" pitchFamily="34" charset="0"/>
              </a:rPr>
              <a:t>	</a:t>
            </a:r>
            <a:r>
              <a:rPr lang="en-US" altLang="en-US" i="1">
                <a:latin typeface="Arial" panose="020B0604020202020204" pitchFamily="34" charset="0"/>
              </a:rPr>
              <a:t>column_constraint</a:t>
            </a:r>
            <a:r>
              <a:rPr lang="en-US" altLang="en-US">
                <a:latin typeface="Arial" panose="020B0604020202020204" pitchFamily="34" charset="0"/>
              </a:rPr>
              <a:t>	is an integrity constraint as part of the column definition</a:t>
            </a:r>
          </a:p>
          <a:p>
            <a:pPr lvl="1"/>
            <a:r>
              <a:rPr lang="en-US" altLang="en-US" i="1">
                <a:latin typeface="Arial" panose="020B0604020202020204" pitchFamily="34" charset="0"/>
              </a:rPr>
              <a:t>	table_constraint</a:t>
            </a:r>
            <a:r>
              <a:rPr lang="en-US" altLang="en-US">
                <a:latin typeface="Arial" panose="020B0604020202020204" pitchFamily="34" charset="0"/>
              </a:rPr>
              <a:t>	is an integrity constraint as part of the table definition</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TABLE.”</a:t>
            </a:r>
          </a:p>
          <a:p>
            <a:endParaRPr lang="en-US" altLang="en-US" b="1">
              <a:latin typeface="Times New Roman" panose="02020603050405020304" pitchFamily="18" charset="0"/>
            </a:endParaRPr>
          </a:p>
        </p:txBody>
      </p:sp>
      <p:grpSp>
        <p:nvGrpSpPr>
          <p:cNvPr id="58372" name="Group 4">
            <a:extLst>
              <a:ext uri="{FF2B5EF4-FFF2-40B4-BE49-F238E27FC236}">
                <a16:creationId xmlns:a16="http://schemas.microsoft.com/office/drawing/2014/main" id="{161E926E-00EB-D022-2698-DC330A936256}"/>
              </a:ext>
            </a:extLst>
          </p:cNvPr>
          <p:cNvGrpSpPr>
            <a:grpSpLocks/>
          </p:cNvGrpSpPr>
          <p:nvPr/>
        </p:nvGrpSpPr>
        <p:grpSpPr bwMode="auto">
          <a:xfrm>
            <a:off x="228600" y="7151688"/>
            <a:ext cx="296863" cy="295275"/>
            <a:chOff x="143" y="4423"/>
            <a:chExt cx="186" cy="183"/>
          </a:xfrm>
        </p:grpSpPr>
        <p:sp>
          <p:nvSpPr>
            <p:cNvPr id="58373" name="Freeform 5">
              <a:extLst>
                <a:ext uri="{FF2B5EF4-FFF2-40B4-BE49-F238E27FC236}">
                  <a16:creationId xmlns:a16="http://schemas.microsoft.com/office/drawing/2014/main" id="{4DCF11D3-53FE-B53E-6DDE-865ABFB81CD2}"/>
                </a:ext>
              </a:extLst>
            </p:cNvPr>
            <p:cNvSpPr>
              <a:spLocks/>
            </p:cNvSpPr>
            <p:nvPr/>
          </p:nvSpPr>
          <p:spPr bwMode="auto">
            <a:xfrm>
              <a:off x="143" y="4423"/>
              <a:ext cx="177" cy="176"/>
            </a:xfrm>
            <a:custGeom>
              <a:avLst/>
              <a:gdLst>
                <a:gd name="T0" fmla="*/ 176 w 177"/>
                <a:gd name="T1" fmla="*/ 175 h 176"/>
                <a:gd name="T2" fmla="*/ 176 w 177"/>
                <a:gd name="T3" fmla="*/ 0 h 176"/>
                <a:gd name="T4" fmla="*/ 0 w 177"/>
                <a:gd name="T5" fmla="*/ 0 h 176"/>
                <a:gd name="T6" fmla="*/ 0 w 177"/>
                <a:gd name="T7" fmla="*/ 175 h 176"/>
                <a:gd name="T8" fmla="*/ 176 w 177"/>
                <a:gd name="T9" fmla="*/ 175 h 176"/>
                <a:gd name="T10" fmla="*/ 0 60000 65536"/>
                <a:gd name="T11" fmla="*/ 0 60000 65536"/>
                <a:gd name="T12" fmla="*/ 0 60000 65536"/>
                <a:gd name="T13" fmla="*/ 0 60000 65536"/>
                <a:gd name="T14" fmla="*/ 0 60000 65536"/>
                <a:gd name="T15" fmla="*/ 0 w 177"/>
                <a:gd name="T16" fmla="*/ 0 h 176"/>
                <a:gd name="T17" fmla="*/ 177 w 177"/>
                <a:gd name="T18" fmla="*/ 176 h 176"/>
              </a:gdLst>
              <a:ahLst/>
              <a:cxnLst>
                <a:cxn ang="T10">
                  <a:pos x="T0" y="T1"/>
                </a:cxn>
                <a:cxn ang="T11">
                  <a:pos x="T2" y="T3"/>
                </a:cxn>
                <a:cxn ang="T12">
                  <a:pos x="T4" y="T5"/>
                </a:cxn>
                <a:cxn ang="T13">
                  <a:pos x="T6" y="T7"/>
                </a:cxn>
                <a:cxn ang="T14">
                  <a:pos x="T8" y="T9"/>
                </a:cxn>
              </a:cxnLst>
              <a:rect l="T15" t="T16" r="T17" b="T18"/>
              <a:pathLst>
                <a:path w="177" h="176">
                  <a:moveTo>
                    <a:pt x="176" y="175"/>
                  </a:moveTo>
                  <a:lnTo>
                    <a:pt x="176" y="0"/>
                  </a:lnTo>
                  <a:lnTo>
                    <a:pt x="0" y="0"/>
                  </a:lnTo>
                  <a:lnTo>
                    <a:pt x="0" y="175"/>
                  </a:lnTo>
                  <a:lnTo>
                    <a:pt x="176"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4" name="Freeform 6">
              <a:extLst>
                <a:ext uri="{FF2B5EF4-FFF2-40B4-BE49-F238E27FC236}">
                  <a16:creationId xmlns:a16="http://schemas.microsoft.com/office/drawing/2014/main" id="{1E975359-E82F-1AEB-07E4-73521D4FE405}"/>
                </a:ext>
              </a:extLst>
            </p:cNvPr>
            <p:cNvSpPr>
              <a:spLocks/>
            </p:cNvSpPr>
            <p:nvPr/>
          </p:nvSpPr>
          <p:spPr bwMode="auto">
            <a:xfrm>
              <a:off x="204" y="4489"/>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5" name="Freeform 7">
              <a:extLst>
                <a:ext uri="{FF2B5EF4-FFF2-40B4-BE49-F238E27FC236}">
                  <a16:creationId xmlns:a16="http://schemas.microsoft.com/office/drawing/2014/main" id="{A9243A34-F3F9-8C5D-7FB7-747FDEE88514}"/>
                </a:ext>
              </a:extLst>
            </p:cNvPr>
            <p:cNvSpPr>
              <a:spLocks/>
            </p:cNvSpPr>
            <p:nvPr/>
          </p:nvSpPr>
          <p:spPr bwMode="auto">
            <a:xfrm>
              <a:off x="213" y="4505"/>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6" name="Freeform 8">
              <a:extLst>
                <a:ext uri="{FF2B5EF4-FFF2-40B4-BE49-F238E27FC236}">
                  <a16:creationId xmlns:a16="http://schemas.microsoft.com/office/drawing/2014/main" id="{87358C06-AEFD-4E71-D765-11B2974BFE76}"/>
                </a:ext>
              </a:extLst>
            </p:cNvPr>
            <p:cNvSpPr>
              <a:spLocks/>
            </p:cNvSpPr>
            <p:nvPr/>
          </p:nvSpPr>
          <p:spPr bwMode="auto">
            <a:xfrm>
              <a:off x="219" y="4521"/>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7" name="Freeform 9">
              <a:extLst>
                <a:ext uri="{FF2B5EF4-FFF2-40B4-BE49-F238E27FC236}">
                  <a16:creationId xmlns:a16="http://schemas.microsoft.com/office/drawing/2014/main" id="{CD2AA4EB-D773-2E18-BBCA-DC3BACBDD834}"/>
                </a:ext>
              </a:extLst>
            </p:cNvPr>
            <p:cNvSpPr>
              <a:spLocks/>
            </p:cNvSpPr>
            <p:nvPr/>
          </p:nvSpPr>
          <p:spPr bwMode="auto">
            <a:xfrm>
              <a:off x="227" y="4537"/>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8" name="Freeform 10">
              <a:extLst>
                <a:ext uri="{FF2B5EF4-FFF2-40B4-BE49-F238E27FC236}">
                  <a16:creationId xmlns:a16="http://schemas.microsoft.com/office/drawing/2014/main" id="{FF6E3E26-B9DF-DD0E-60E9-6FBCB421F48F}"/>
                </a:ext>
              </a:extLst>
            </p:cNvPr>
            <p:cNvSpPr>
              <a:spLocks/>
            </p:cNvSpPr>
            <p:nvPr/>
          </p:nvSpPr>
          <p:spPr bwMode="auto">
            <a:xfrm>
              <a:off x="235" y="4553"/>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9" name="Freeform 11">
              <a:extLst>
                <a:ext uri="{FF2B5EF4-FFF2-40B4-BE49-F238E27FC236}">
                  <a16:creationId xmlns:a16="http://schemas.microsoft.com/office/drawing/2014/main" id="{43D10A36-70CC-DFD5-0F44-8035227BAE74}"/>
                </a:ext>
              </a:extLst>
            </p:cNvPr>
            <p:cNvSpPr>
              <a:spLocks/>
            </p:cNvSpPr>
            <p:nvPr/>
          </p:nvSpPr>
          <p:spPr bwMode="auto">
            <a:xfrm>
              <a:off x="164" y="4452"/>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0" name="Freeform 12">
              <a:extLst>
                <a:ext uri="{FF2B5EF4-FFF2-40B4-BE49-F238E27FC236}">
                  <a16:creationId xmlns:a16="http://schemas.microsoft.com/office/drawing/2014/main" id="{02470828-2E63-2DED-2E14-C431B24F9634}"/>
                </a:ext>
              </a:extLst>
            </p:cNvPr>
            <p:cNvSpPr>
              <a:spLocks/>
            </p:cNvSpPr>
            <p:nvPr/>
          </p:nvSpPr>
          <p:spPr bwMode="auto">
            <a:xfrm>
              <a:off x="147" y="4440"/>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1" name="Freeform 13">
              <a:extLst>
                <a:ext uri="{FF2B5EF4-FFF2-40B4-BE49-F238E27FC236}">
                  <a16:creationId xmlns:a16="http://schemas.microsoft.com/office/drawing/2014/main" id="{E805828C-9FDC-A2D3-C20B-1484AB9A7FCA}"/>
                </a:ext>
              </a:extLst>
            </p:cNvPr>
            <p:cNvSpPr>
              <a:spLocks/>
            </p:cNvSpPr>
            <p:nvPr/>
          </p:nvSpPr>
          <p:spPr bwMode="auto">
            <a:xfrm>
              <a:off x="274" y="4454"/>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2" name="Freeform 14">
              <a:extLst>
                <a:ext uri="{FF2B5EF4-FFF2-40B4-BE49-F238E27FC236}">
                  <a16:creationId xmlns:a16="http://schemas.microsoft.com/office/drawing/2014/main" id="{64A81285-6E68-6929-EEE6-7998C296C4EB}"/>
                </a:ext>
              </a:extLst>
            </p:cNvPr>
            <p:cNvSpPr>
              <a:spLocks/>
            </p:cNvSpPr>
            <p:nvPr/>
          </p:nvSpPr>
          <p:spPr bwMode="auto">
            <a:xfrm>
              <a:off x="164" y="4499"/>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3" name="Freeform 15">
              <a:extLst>
                <a:ext uri="{FF2B5EF4-FFF2-40B4-BE49-F238E27FC236}">
                  <a16:creationId xmlns:a16="http://schemas.microsoft.com/office/drawing/2014/main" id="{664F04FC-0604-171D-7209-5F9CF24A350D}"/>
                </a:ext>
              </a:extLst>
            </p:cNvPr>
            <p:cNvSpPr>
              <a:spLocks/>
            </p:cNvSpPr>
            <p:nvPr/>
          </p:nvSpPr>
          <p:spPr bwMode="auto">
            <a:xfrm>
              <a:off x="143" y="4491"/>
              <a:ext cx="58" cy="115"/>
            </a:xfrm>
            <a:custGeom>
              <a:avLst/>
              <a:gdLst>
                <a:gd name="T0" fmla="*/ 50 w 58"/>
                <a:gd name="T1" fmla="*/ 114 h 115"/>
                <a:gd name="T2" fmla="*/ 57 w 58"/>
                <a:gd name="T3" fmla="*/ 111 h 115"/>
                <a:gd name="T4" fmla="*/ 5 w 58"/>
                <a:gd name="T5" fmla="*/ 0 h 115"/>
                <a:gd name="T6" fmla="*/ 0 w 58"/>
                <a:gd name="T7" fmla="*/ 2 h 115"/>
                <a:gd name="T8" fmla="*/ 50 w 58"/>
                <a:gd name="T9" fmla="*/ 114 h 115"/>
                <a:gd name="T10" fmla="*/ 0 60000 65536"/>
                <a:gd name="T11" fmla="*/ 0 60000 65536"/>
                <a:gd name="T12" fmla="*/ 0 60000 65536"/>
                <a:gd name="T13" fmla="*/ 0 60000 65536"/>
                <a:gd name="T14" fmla="*/ 0 60000 65536"/>
                <a:gd name="T15" fmla="*/ 0 w 58"/>
                <a:gd name="T16" fmla="*/ 0 h 115"/>
                <a:gd name="T17" fmla="*/ 58 w 58"/>
                <a:gd name="T18" fmla="*/ 115 h 115"/>
              </a:gdLst>
              <a:ahLst/>
              <a:cxnLst>
                <a:cxn ang="T10">
                  <a:pos x="T0" y="T1"/>
                </a:cxn>
                <a:cxn ang="T11">
                  <a:pos x="T2" y="T3"/>
                </a:cxn>
                <a:cxn ang="T12">
                  <a:pos x="T4" y="T5"/>
                </a:cxn>
                <a:cxn ang="T13">
                  <a:pos x="T6" y="T7"/>
                </a:cxn>
                <a:cxn ang="T14">
                  <a:pos x="T8" y="T9"/>
                </a:cxn>
              </a:cxnLst>
              <a:rect l="T15" t="T16" r="T17" b="T18"/>
              <a:pathLst>
                <a:path w="58" h="115">
                  <a:moveTo>
                    <a:pt x="50" y="114"/>
                  </a:moveTo>
                  <a:lnTo>
                    <a:pt x="57" y="111"/>
                  </a:lnTo>
                  <a:lnTo>
                    <a:pt x="5" y="0"/>
                  </a:lnTo>
                  <a:lnTo>
                    <a:pt x="0" y="2"/>
                  </a:lnTo>
                  <a:lnTo>
                    <a:pt x="50"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4" name="Freeform 16">
              <a:extLst>
                <a:ext uri="{FF2B5EF4-FFF2-40B4-BE49-F238E27FC236}">
                  <a16:creationId xmlns:a16="http://schemas.microsoft.com/office/drawing/2014/main" id="{5513877E-6DF0-CFDF-54D2-8ED0A913FE10}"/>
                </a:ext>
              </a:extLst>
            </p:cNvPr>
            <p:cNvSpPr>
              <a:spLocks/>
            </p:cNvSpPr>
            <p:nvPr/>
          </p:nvSpPr>
          <p:spPr bwMode="auto">
            <a:xfrm>
              <a:off x="146" y="4491"/>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5" name="Freeform 17">
              <a:extLst>
                <a:ext uri="{FF2B5EF4-FFF2-40B4-BE49-F238E27FC236}">
                  <a16:creationId xmlns:a16="http://schemas.microsoft.com/office/drawing/2014/main" id="{3A08362C-1D9C-BC84-07FA-D7169214C510}"/>
                </a:ext>
              </a:extLst>
            </p:cNvPr>
            <p:cNvSpPr>
              <a:spLocks/>
            </p:cNvSpPr>
            <p:nvPr/>
          </p:nvSpPr>
          <p:spPr bwMode="auto">
            <a:xfrm>
              <a:off x="253" y="4447"/>
              <a:ext cx="28" cy="17"/>
            </a:xfrm>
            <a:custGeom>
              <a:avLst/>
              <a:gdLst>
                <a:gd name="T0" fmla="*/ 23 w 28"/>
                <a:gd name="T1" fmla="*/ 16 h 17"/>
                <a:gd name="T2" fmla="*/ 27 w 28"/>
                <a:gd name="T3" fmla="*/ 9 h 17"/>
                <a:gd name="T4" fmla="*/ 4 w 28"/>
                <a:gd name="T5" fmla="*/ 0 h 17"/>
                <a:gd name="T6" fmla="*/ 0 w 28"/>
                <a:gd name="T7" fmla="*/ 5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5"/>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179403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32EE0-3C80-9F00-A7DF-A2D51391A31A}"/>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EA15D7C9-B868-45D4-B805-3E14664088DF}"/>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
        <p:nvSpPr>
          <p:cNvPr id="52227" name="Rectangle 3">
            <a:extLst>
              <a:ext uri="{FF2B5EF4-FFF2-40B4-BE49-F238E27FC236}">
                <a16:creationId xmlns:a16="http://schemas.microsoft.com/office/drawing/2014/main" id="{BDC44F82-9AE1-475C-9888-8DA65A6C43C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Tables</a:t>
            </a:r>
          </a:p>
          <a:p>
            <a:pPr lvl="1"/>
            <a:r>
              <a:rPr lang="en-US" altLang="en-US">
                <a:latin typeface="Arial" panose="020B0604020202020204" pitchFamily="34" charset="0"/>
              </a:rPr>
              <a:t>The example on the slide creates the DEPT table, with three columns—namely, DEPTNO, DNAME, and LOC. It further confirms the creation of the table by issuing the DESCRIBE command. </a:t>
            </a:r>
          </a:p>
          <a:p>
            <a:pPr lvl="1"/>
            <a:r>
              <a:rPr lang="en-US" altLang="en-US">
                <a:latin typeface="Arial" panose="020B0604020202020204" pitchFamily="34" charset="0"/>
              </a:rPr>
              <a:t>Since creating a table is a DDL statement, an automatic commit takes place when this statement is executed. </a:t>
            </a:r>
          </a:p>
        </p:txBody>
      </p:sp>
    </p:spTree>
    <p:extLst>
      <p:ext uri="{BB962C8B-B14F-4D97-AF65-F5344CB8AC3E}">
        <p14:creationId xmlns:p14="http://schemas.microsoft.com/office/powerpoint/2010/main" val="4249207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0816C-4CF8-B662-3A4C-C2473C0CF1B4}"/>
            </a:ext>
          </a:extLst>
        </p:cNvPr>
        <p:cNvGrpSpPr/>
        <p:nvPr/>
      </p:nvGrpSpPr>
      <p:grpSpPr>
        <a:xfrm>
          <a:off x="0" y="0"/>
          <a:ext cx="0" cy="0"/>
          <a:chOff x="0" y="0"/>
          <a:chExt cx="0" cy="0"/>
        </a:xfrm>
      </p:grpSpPr>
      <p:sp>
        <p:nvSpPr>
          <p:cNvPr id="64514" name="Rectangle 2">
            <a:extLst>
              <a:ext uri="{FF2B5EF4-FFF2-40B4-BE49-F238E27FC236}">
                <a16:creationId xmlns:a16="http://schemas.microsoft.com/office/drawing/2014/main" id="{20CFF12E-7A41-82A5-DD4C-CCA111145B66}"/>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
        <p:nvSpPr>
          <p:cNvPr id="64515" name="Rectangle 3">
            <a:extLst>
              <a:ext uri="{FF2B5EF4-FFF2-40B4-BE49-F238E27FC236}">
                <a16:creationId xmlns:a16="http://schemas.microsoft.com/office/drawing/2014/main" id="{7398F908-85A2-BBD5-873F-69122D023BF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a Table from Rows in Another Table</a:t>
            </a:r>
          </a:p>
          <a:p>
            <a:pPr lvl="1"/>
            <a:r>
              <a:rPr lang="en-US" altLang="en-US">
                <a:latin typeface="Arial" panose="020B0604020202020204" pitchFamily="34" charset="0"/>
              </a:rPr>
              <a:t>A second method to create a table is to apply the AS </a:t>
            </a:r>
            <a:r>
              <a:rPr lang="en-US" altLang="en-US" i="1">
                <a:latin typeface="Arial" panose="020B0604020202020204" pitchFamily="34" charset="0"/>
              </a:rPr>
              <a:t>subquery</a:t>
            </a:r>
            <a:r>
              <a:rPr lang="en-US" altLang="en-US">
                <a:latin typeface="Arial" panose="020B0604020202020204" pitchFamily="34" charset="0"/>
              </a:rPr>
              <a:t> clause to both create the table and insert rows returned from the subquery.</a:t>
            </a:r>
          </a:p>
          <a:p>
            <a:pPr lvl="1"/>
            <a:r>
              <a:rPr lang="en-US" altLang="en-US">
                <a:latin typeface="Arial" panose="020B0604020202020204" pitchFamily="34" charset="0"/>
              </a:rPr>
              <a:t>In the syntax:</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column, default value, and integrity constraint.</a:t>
            </a:r>
          </a:p>
          <a:p>
            <a:pPr lvl="1"/>
            <a:r>
              <a:rPr lang="en-US" altLang="en-US" i="1">
                <a:latin typeface="Arial" panose="020B0604020202020204" pitchFamily="34" charset="0"/>
              </a:rPr>
              <a:t>	subquery</a:t>
            </a:r>
            <a:r>
              <a:rPr lang="en-US" altLang="en-US">
                <a:latin typeface="Arial" panose="020B0604020202020204" pitchFamily="34" charset="0"/>
              </a:rPr>
              <a:t>		is the SELECT statement that defines the set of rows to be inserted into the 				new table.</a:t>
            </a:r>
          </a:p>
          <a:p>
            <a:r>
              <a:rPr lang="en-US" altLang="en-US">
                <a:latin typeface="Arial" panose="020B0604020202020204" pitchFamily="34" charset="0"/>
              </a:rPr>
              <a:t>Guidelines</a:t>
            </a:r>
          </a:p>
          <a:p>
            <a:pPr lvl="2"/>
            <a:r>
              <a:rPr lang="en-US" altLang="en-US">
                <a:latin typeface="Arial" panose="020B0604020202020204" pitchFamily="34" charset="0"/>
              </a:rPr>
              <a:t>The table will be created with the specified column names, and the rows retrieved by the SELECT statement will be inserted into the table.</a:t>
            </a:r>
          </a:p>
          <a:p>
            <a:pPr lvl="2"/>
            <a:r>
              <a:rPr lang="en-US" altLang="en-US">
                <a:latin typeface="Arial" panose="020B0604020202020204" pitchFamily="34" charset="0"/>
              </a:rPr>
              <a:t>The column definition can contain only the column name and default value.</a:t>
            </a:r>
          </a:p>
          <a:p>
            <a:pPr lvl="2"/>
            <a:r>
              <a:rPr lang="en-US" altLang="en-US">
                <a:latin typeface="Arial" panose="020B0604020202020204" pitchFamily="34" charset="0"/>
              </a:rPr>
              <a:t>If column specifications are given, the number of columns must equal the number of columns in the subquery SELECT list.</a:t>
            </a:r>
          </a:p>
          <a:p>
            <a:pPr lvl="2"/>
            <a:r>
              <a:rPr lang="en-US" altLang="en-US">
                <a:latin typeface="Arial" panose="020B0604020202020204" pitchFamily="34" charset="0"/>
              </a:rPr>
              <a:t>If no column specifications are given, the column names of the table are the same as the column names in the subquery.</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extLst>
      <p:ext uri="{BB962C8B-B14F-4D97-AF65-F5344CB8AC3E}">
        <p14:creationId xmlns:p14="http://schemas.microsoft.com/office/powerpoint/2010/main" val="2033514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D9FAF-70FF-B3AD-26A9-1C9A6B65AA3E}"/>
            </a:ext>
          </a:extLst>
        </p:cNvPr>
        <p:cNvGrpSpPr/>
        <p:nvPr/>
      </p:nvGrpSpPr>
      <p:grpSpPr>
        <a:xfrm>
          <a:off x="0" y="0"/>
          <a:ext cx="0" cy="0"/>
          <a:chOff x="0" y="0"/>
          <a:chExt cx="0" cy="0"/>
        </a:xfrm>
      </p:grpSpPr>
      <p:sp>
        <p:nvSpPr>
          <p:cNvPr id="66562" name="Rectangle 2">
            <a:extLst>
              <a:ext uri="{FF2B5EF4-FFF2-40B4-BE49-F238E27FC236}">
                <a16:creationId xmlns:a16="http://schemas.microsoft.com/office/drawing/2014/main" id="{45D5F4CB-C2D9-2B64-A830-43FA13075872}"/>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6563" name="Rectangle 3">
            <a:extLst>
              <a:ext uri="{FF2B5EF4-FFF2-40B4-BE49-F238E27FC236}">
                <a16:creationId xmlns:a16="http://schemas.microsoft.com/office/drawing/2014/main" id="{A4AD5BB1-FDA1-D596-218F-81233D5A64B6}"/>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6564" name="Rectangle 4">
            <a:extLst>
              <a:ext uri="{FF2B5EF4-FFF2-40B4-BE49-F238E27FC236}">
                <a16:creationId xmlns:a16="http://schemas.microsoft.com/office/drawing/2014/main" id="{8854F512-A3EE-1571-547D-70AEF232F26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ALTER TABLE Statement</a:t>
            </a:r>
          </a:p>
          <a:p>
            <a:pPr lvl="1"/>
            <a:r>
              <a:rPr lang="en-US" altLang="en-US">
                <a:latin typeface="Arial" panose="020B0604020202020204" pitchFamily="34" charset="0"/>
              </a:rPr>
              <a:t>After you create your tables, you may need to change the table structures because you omitted a column or your column definition needs to be changed. You can do this by using the ALTER TABLE statement. </a:t>
            </a:r>
          </a:p>
          <a:p>
            <a:pPr lvl="1"/>
            <a:r>
              <a:rPr lang="en-US" altLang="en-US">
                <a:latin typeface="Arial" panose="020B0604020202020204" pitchFamily="34" charset="0"/>
              </a:rPr>
              <a:t>You can add columns to a table by using the </a:t>
            </a:r>
            <a:r>
              <a:rPr lang="en-US" altLang="en-US">
                <a:solidFill>
                  <a:srgbClr val="FC0128"/>
                </a:solidFill>
                <a:latin typeface="Arial" panose="020B0604020202020204" pitchFamily="34" charset="0"/>
              </a:rPr>
              <a:t>ALTER TABLE </a:t>
            </a:r>
            <a:r>
              <a:rPr lang="en-US" altLang="en-US">
                <a:latin typeface="Arial" panose="020B0604020202020204" pitchFamily="34" charset="0"/>
              </a:rPr>
              <a:t>statement with the ADD clause.</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lvl="1"/>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new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datatype and length of the new column</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the default value for a new column</a:t>
            </a:r>
          </a:p>
          <a:p>
            <a:pPr lvl="1"/>
            <a:r>
              <a:rPr lang="en-US" altLang="en-US">
                <a:latin typeface="Arial" panose="020B0604020202020204" pitchFamily="34" charset="0"/>
              </a:rPr>
              <a:t>You can modify existing columns in a table by using the ALTER TABLE statement with the MODIFY clause.</a:t>
            </a:r>
          </a:p>
          <a:p>
            <a:pPr lvl="1"/>
            <a:r>
              <a:rPr lang="en-US" altLang="en-US" b="1">
                <a:latin typeface="Arial" panose="020B0604020202020204" pitchFamily="34" charset="0"/>
              </a:rPr>
              <a:t>Note:</a:t>
            </a:r>
            <a:r>
              <a:rPr lang="en-US" altLang="en-US">
                <a:latin typeface="Arial" panose="020B0604020202020204" pitchFamily="34" charset="0"/>
              </a:rPr>
              <a:t> The slide gives the abridged syntax for ALTER TABLE. More about ALTER TABLE is covered in a subsequent lesson.</a:t>
            </a:r>
          </a:p>
        </p:txBody>
      </p:sp>
      <p:sp>
        <p:nvSpPr>
          <p:cNvPr id="66565" name="Rectangle 5">
            <a:extLst>
              <a:ext uri="{FF2B5EF4-FFF2-40B4-BE49-F238E27FC236}">
                <a16:creationId xmlns:a16="http://schemas.microsoft.com/office/drawing/2014/main" id="{36062549-A58A-DDEB-D5F3-72EF09807D07}"/>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Tree>
    <p:extLst>
      <p:ext uri="{BB962C8B-B14F-4D97-AF65-F5344CB8AC3E}">
        <p14:creationId xmlns:p14="http://schemas.microsoft.com/office/powerpoint/2010/main" val="1610878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64BC-F541-7728-F783-7C2AD4864D1F}"/>
            </a:ext>
          </a:extLst>
        </p:cNvPr>
        <p:cNvGrpSpPr/>
        <p:nvPr/>
      </p:nvGrpSpPr>
      <p:grpSpPr>
        <a:xfrm>
          <a:off x="0" y="0"/>
          <a:ext cx="0" cy="0"/>
          <a:chOff x="0" y="0"/>
          <a:chExt cx="0" cy="0"/>
        </a:xfrm>
      </p:grpSpPr>
      <p:sp>
        <p:nvSpPr>
          <p:cNvPr id="68610" name="Rectangle 2">
            <a:extLst>
              <a:ext uri="{FF2B5EF4-FFF2-40B4-BE49-F238E27FC236}">
                <a16:creationId xmlns:a16="http://schemas.microsoft.com/office/drawing/2014/main" id="{D52DAD2F-56D3-6D9E-EEC3-B1F44C50CDBA}"/>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
        <p:nvSpPr>
          <p:cNvPr id="68611" name="Rectangle 3">
            <a:extLst>
              <a:ext uri="{FF2B5EF4-FFF2-40B4-BE49-F238E27FC236}">
                <a16:creationId xmlns:a16="http://schemas.microsoft.com/office/drawing/2014/main" id="{F121AF79-AA44-A6D1-FAD0-A9334754CAF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Column</a:t>
            </a:r>
          </a:p>
          <a:p>
            <a:pPr lvl="1"/>
            <a:r>
              <a:rPr lang="en-US" altLang="en-US">
                <a:latin typeface="Arial" panose="020B0604020202020204" pitchFamily="34" charset="0"/>
              </a:rPr>
              <a:t>The graphic adds the JOB column to DEPT30 table. Notice that the new column becomes the last column in the table.</a:t>
            </a:r>
          </a:p>
        </p:txBody>
      </p:sp>
    </p:spTree>
    <p:extLst>
      <p:ext uri="{BB962C8B-B14F-4D97-AF65-F5344CB8AC3E}">
        <p14:creationId xmlns:p14="http://schemas.microsoft.com/office/powerpoint/2010/main" val="2314671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C7E1E-2C99-B9D9-A29C-A6B3EF1BE4BA}"/>
            </a:ext>
          </a:extLst>
        </p:cNvPr>
        <p:cNvGrpSpPr/>
        <p:nvPr/>
      </p:nvGrpSpPr>
      <p:grpSpPr>
        <a:xfrm>
          <a:off x="0" y="0"/>
          <a:ext cx="0" cy="0"/>
          <a:chOff x="0" y="0"/>
          <a:chExt cx="0" cy="0"/>
        </a:xfrm>
      </p:grpSpPr>
      <p:sp>
        <p:nvSpPr>
          <p:cNvPr id="70658" name="Rectangle 2">
            <a:extLst>
              <a:ext uri="{FF2B5EF4-FFF2-40B4-BE49-F238E27FC236}">
                <a16:creationId xmlns:a16="http://schemas.microsoft.com/office/drawing/2014/main" id="{16C02B02-834F-1008-ABBB-2610E800A33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Guidelines for Adding a Column</a:t>
            </a:r>
          </a:p>
          <a:p>
            <a:pPr lvl="2"/>
            <a:r>
              <a:rPr lang="en-US" altLang="en-US">
                <a:latin typeface="Arial" panose="020B0604020202020204" pitchFamily="34" charset="0"/>
              </a:rPr>
              <a:t>You can add or modify columns, but you cannot drop them from a table.</a:t>
            </a:r>
          </a:p>
          <a:p>
            <a:pPr lvl="2"/>
            <a:r>
              <a:rPr lang="en-US" altLang="en-US">
                <a:latin typeface="Arial" panose="020B0604020202020204" pitchFamily="34" charset="0"/>
              </a:rPr>
              <a:t>You cannot specify where the column is to appear. The new column becomes the last column.</a:t>
            </a:r>
          </a:p>
          <a:p>
            <a:pPr lvl="1"/>
            <a:r>
              <a:rPr lang="en-US" altLang="en-US">
                <a:latin typeface="Arial" panose="020B0604020202020204" pitchFamily="34" charset="0"/>
              </a:rPr>
              <a:t>The example on the slide adds a column named JOB to the DEPT30 table. The JOB column becomes the last column in the table. </a:t>
            </a:r>
            <a:endParaRPr lang="en-US" altLang="en-US" b="1">
              <a:latin typeface="Arial" panose="020B0604020202020204" pitchFamily="34" charset="0"/>
            </a:endParaRPr>
          </a:p>
          <a:p>
            <a:pPr lvl="1"/>
            <a:r>
              <a:rPr lang="en-US" altLang="en-US" b="1">
                <a:latin typeface="Arial" panose="020B0604020202020204" pitchFamily="34" charset="0"/>
              </a:rPr>
              <a:t>Note:</a:t>
            </a:r>
            <a:r>
              <a:rPr lang="en-US" altLang="en-US">
                <a:latin typeface="Arial" panose="020B0604020202020204" pitchFamily="34" charset="0"/>
              </a:rPr>
              <a:t> </a:t>
            </a:r>
            <a:r>
              <a:rPr lang="en-US" altLang="en-US">
                <a:latin typeface="Times" panose="02020603050405020304" pitchFamily="18" charset="0"/>
              </a:rPr>
              <a:t>If a table already contains rows when a column is added, then the new column is initially null for all the rows.</a:t>
            </a: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Oracle8i provides new options for the ALTER TABLE command, including the ability to drop a column from a table.</a:t>
            </a:r>
          </a:p>
        </p:txBody>
      </p:sp>
      <p:sp>
        <p:nvSpPr>
          <p:cNvPr id="70659" name="Rectangle 3">
            <a:extLst>
              <a:ext uri="{FF2B5EF4-FFF2-40B4-BE49-F238E27FC236}">
                <a16:creationId xmlns:a16="http://schemas.microsoft.com/office/drawing/2014/main" id="{56D5B7AF-DB57-4B35-B504-D19D13E22060}"/>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Tree>
    <p:extLst>
      <p:ext uri="{BB962C8B-B14F-4D97-AF65-F5344CB8AC3E}">
        <p14:creationId xmlns:p14="http://schemas.microsoft.com/office/powerpoint/2010/main" val="15739698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A754E-DF76-6F38-754C-4183FE0132A8}"/>
            </a:ext>
          </a:extLst>
        </p:cNvPr>
        <p:cNvGrpSpPr/>
        <p:nvPr/>
      </p:nvGrpSpPr>
      <p:grpSpPr>
        <a:xfrm>
          <a:off x="0" y="0"/>
          <a:ext cx="0" cy="0"/>
          <a:chOff x="0" y="0"/>
          <a:chExt cx="0" cy="0"/>
        </a:xfrm>
      </p:grpSpPr>
      <p:sp>
        <p:nvSpPr>
          <p:cNvPr id="70658" name="Rectangle 2">
            <a:extLst>
              <a:ext uri="{FF2B5EF4-FFF2-40B4-BE49-F238E27FC236}">
                <a16:creationId xmlns:a16="http://schemas.microsoft.com/office/drawing/2014/main" id="{F08CE5C8-C220-E2B4-10E8-39C9F25E25F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Guidelines for Adding a Column</a:t>
            </a:r>
          </a:p>
          <a:p>
            <a:pPr lvl="2"/>
            <a:r>
              <a:rPr lang="en-US" altLang="en-US">
                <a:latin typeface="Arial" panose="020B0604020202020204" pitchFamily="34" charset="0"/>
              </a:rPr>
              <a:t>You can add or modify columns, but you cannot drop them from a table.</a:t>
            </a:r>
          </a:p>
          <a:p>
            <a:pPr lvl="2"/>
            <a:r>
              <a:rPr lang="en-US" altLang="en-US">
                <a:latin typeface="Arial" panose="020B0604020202020204" pitchFamily="34" charset="0"/>
              </a:rPr>
              <a:t>You cannot specify where the column is to appear. The new column becomes the last column.</a:t>
            </a:r>
          </a:p>
          <a:p>
            <a:pPr lvl="1"/>
            <a:r>
              <a:rPr lang="en-US" altLang="en-US">
                <a:latin typeface="Arial" panose="020B0604020202020204" pitchFamily="34" charset="0"/>
              </a:rPr>
              <a:t>The example on the slide adds a column named JOB to the DEPT30 table. The JOB column becomes the last column in the table. </a:t>
            </a:r>
            <a:endParaRPr lang="en-US" altLang="en-US" b="1">
              <a:latin typeface="Arial" panose="020B0604020202020204" pitchFamily="34" charset="0"/>
            </a:endParaRPr>
          </a:p>
          <a:p>
            <a:pPr lvl="1"/>
            <a:r>
              <a:rPr lang="en-US" altLang="en-US" b="1">
                <a:latin typeface="Arial" panose="020B0604020202020204" pitchFamily="34" charset="0"/>
              </a:rPr>
              <a:t>Note:</a:t>
            </a:r>
            <a:r>
              <a:rPr lang="en-US" altLang="en-US">
                <a:latin typeface="Arial" panose="020B0604020202020204" pitchFamily="34" charset="0"/>
              </a:rPr>
              <a:t> </a:t>
            </a:r>
            <a:r>
              <a:rPr lang="en-US" altLang="en-US">
                <a:latin typeface="Times" panose="02020603050405020304" pitchFamily="18" charset="0"/>
              </a:rPr>
              <a:t>If a table already contains rows when a column is added, then the new column is initially null for all the rows.</a:t>
            </a: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Oracle8i provides new options for the ALTER TABLE command, including the ability to drop a column from a table.</a:t>
            </a:r>
          </a:p>
        </p:txBody>
      </p:sp>
      <p:sp>
        <p:nvSpPr>
          <p:cNvPr id="70659" name="Rectangle 3">
            <a:extLst>
              <a:ext uri="{FF2B5EF4-FFF2-40B4-BE49-F238E27FC236}">
                <a16:creationId xmlns:a16="http://schemas.microsoft.com/office/drawing/2014/main" id="{E76F0201-21E5-14CD-96A3-514FD0E0BA48}"/>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Tree>
    <p:extLst>
      <p:ext uri="{BB962C8B-B14F-4D97-AF65-F5344CB8AC3E}">
        <p14:creationId xmlns:p14="http://schemas.microsoft.com/office/powerpoint/2010/main" val="614933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4F8D1-876D-54AC-3586-5563852DC314}"/>
            </a:ext>
          </a:extLst>
        </p:cNvPr>
        <p:cNvGrpSpPr/>
        <p:nvPr/>
      </p:nvGrpSpPr>
      <p:grpSpPr>
        <a:xfrm>
          <a:off x="0" y="0"/>
          <a:ext cx="0" cy="0"/>
          <a:chOff x="0" y="0"/>
          <a:chExt cx="0" cy="0"/>
        </a:xfrm>
      </p:grpSpPr>
      <p:sp>
        <p:nvSpPr>
          <p:cNvPr id="76802" name="Rectangle 2">
            <a:extLst>
              <a:ext uri="{FF2B5EF4-FFF2-40B4-BE49-F238E27FC236}">
                <a16:creationId xmlns:a16="http://schemas.microsoft.com/office/drawing/2014/main" id="{86A505A8-9C5C-D20F-D21C-46655454AD10}"/>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6803" name="Rectangle 3">
            <a:extLst>
              <a:ext uri="{FF2B5EF4-FFF2-40B4-BE49-F238E27FC236}">
                <a16:creationId xmlns:a16="http://schemas.microsoft.com/office/drawing/2014/main" id="{85B9EAC6-DA45-3ABE-5809-5D5CF4A1569A}"/>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6804" name="Rectangle 4">
            <a:extLst>
              <a:ext uri="{FF2B5EF4-FFF2-40B4-BE49-F238E27FC236}">
                <a16:creationId xmlns:a16="http://schemas.microsoft.com/office/drawing/2014/main" id="{A26341B4-43E7-8294-C013-8A95480D7D7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Modifying a Column</a:t>
            </a:r>
          </a:p>
          <a:p>
            <a:pPr lvl="1"/>
            <a:r>
              <a:rPr lang="en-US" altLang="en-US">
                <a:latin typeface="Arial" panose="020B0604020202020204" pitchFamily="34" charset="0"/>
              </a:rPr>
              <a:t>You can modify a column definition by using the ALTER TABLE statement with the </a:t>
            </a:r>
            <a:r>
              <a:rPr lang="en-US" altLang="en-US">
                <a:solidFill>
                  <a:srgbClr val="FC0128"/>
                </a:solidFill>
                <a:latin typeface="Arial" panose="020B0604020202020204" pitchFamily="34" charset="0"/>
              </a:rPr>
              <a:t>MODIFY </a:t>
            </a:r>
            <a:r>
              <a:rPr lang="en-US" altLang="en-US">
                <a:latin typeface="Arial" panose="020B0604020202020204" pitchFamily="34" charset="0"/>
              </a:rPr>
              <a:t>clause. Column modification can include changes to a column’s datatype, size, and default value.</a:t>
            </a:r>
          </a:p>
          <a:p>
            <a:r>
              <a:rPr lang="en-US" altLang="en-US">
                <a:latin typeface="Arial" panose="020B0604020202020204" pitchFamily="34" charset="0"/>
              </a:rPr>
              <a:t>Guidelines</a:t>
            </a:r>
          </a:p>
          <a:p>
            <a:pPr lvl="2"/>
            <a:r>
              <a:rPr lang="en-US" altLang="en-US">
                <a:latin typeface="Arial" panose="020B0604020202020204" pitchFamily="34" charset="0"/>
              </a:rPr>
              <a:t>Increase the width or precision of a numeric column.</a:t>
            </a:r>
          </a:p>
          <a:p>
            <a:pPr lvl="2"/>
            <a:r>
              <a:rPr lang="en-US" altLang="en-US">
                <a:latin typeface="Arial" panose="020B0604020202020204" pitchFamily="34" charset="0"/>
              </a:rPr>
              <a:t>Decrease the width of a column if the column contains only null values or if the table has no rows.</a:t>
            </a:r>
          </a:p>
          <a:p>
            <a:pPr lvl="2"/>
            <a:r>
              <a:rPr lang="en-US" altLang="en-US">
                <a:latin typeface="Arial" panose="020B0604020202020204" pitchFamily="34" charset="0"/>
              </a:rPr>
              <a:t>Change the datatype if the column contains null values.</a:t>
            </a:r>
          </a:p>
          <a:p>
            <a:pPr lvl="2"/>
            <a:r>
              <a:rPr lang="en-US" altLang="en-US">
                <a:latin typeface="Arial" panose="020B0604020202020204" pitchFamily="34" charset="0"/>
              </a:rPr>
              <a:t>Convert a CHAR column to the VARCHAR2 datatype or convert a VARCHAR2 column to the CHAR datatype if the column contains null values or if you do not change the size.</a:t>
            </a:r>
          </a:p>
          <a:p>
            <a:pPr lvl="2"/>
            <a:r>
              <a:rPr lang="en-US" altLang="en-US">
                <a:latin typeface="Arial" panose="020B0604020202020204" pitchFamily="34" charset="0"/>
              </a:rPr>
              <a:t>A change to the default value of a column affects only subsequent insertions to the table.</a:t>
            </a:r>
          </a:p>
          <a:p>
            <a:pPr lvl="1"/>
            <a:endParaRPr lang="en-US" altLang="en-US">
              <a:latin typeface="Arial" panose="020B0604020202020204" pitchFamily="34" charset="0"/>
            </a:endParaRPr>
          </a:p>
          <a:p>
            <a:pPr lvl="1"/>
            <a:r>
              <a:rPr lang="en-US" altLang="en-US">
                <a:latin typeface="Arial" panose="020B0604020202020204" pitchFamily="34" charset="0"/>
              </a:rPr>
              <a:t> </a:t>
            </a:r>
          </a:p>
          <a:p>
            <a:endParaRPr lang="en-US" altLang="en-US" b="1">
              <a:latin typeface="Times New Roman" panose="02020603050405020304" pitchFamily="18" charset="0"/>
            </a:endParaRPr>
          </a:p>
        </p:txBody>
      </p:sp>
      <p:sp>
        <p:nvSpPr>
          <p:cNvPr id="76805" name="Rectangle 5">
            <a:extLst>
              <a:ext uri="{FF2B5EF4-FFF2-40B4-BE49-F238E27FC236}">
                <a16:creationId xmlns:a16="http://schemas.microsoft.com/office/drawing/2014/main" id="{3FDFC524-49CF-4590-C2A4-1A6A2908D3A6}"/>
              </a:ext>
            </a:extLst>
          </p:cNvPr>
          <p:cNvSpPr>
            <a:spLocks noGrp="1" noRot="1" noChangeAspect="1" noChangeArrowheads="1" noTextEdit="1"/>
          </p:cNvSpPr>
          <p:nvPr>
            <p:ph type="sldImg"/>
          </p:nvPr>
        </p:nvSpPr>
        <p:spPr>
          <a:xfrm>
            <a:off x="439738" y="163513"/>
            <a:ext cx="5973762" cy="4479925"/>
          </a:xfrm>
          <a:ln w="12700" cap="flat">
            <a:solidFill>
              <a:schemeClr val="tx1"/>
            </a:solidFill>
          </a:ln>
        </p:spPr>
      </p:sp>
    </p:spTree>
    <p:extLst>
      <p:ext uri="{BB962C8B-B14F-4D97-AF65-F5344CB8AC3E}">
        <p14:creationId xmlns:p14="http://schemas.microsoft.com/office/powerpoint/2010/main" val="2772926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6009-A209-7475-30A8-40C72FA13FA9}"/>
            </a:ext>
          </a:extLst>
        </p:cNvPr>
        <p:cNvGrpSpPr/>
        <p:nvPr/>
      </p:nvGrpSpPr>
      <p:grpSpPr>
        <a:xfrm>
          <a:off x="0" y="0"/>
          <a:ext cx="0" cy="0"/>
          <a:chOff x="0" y="0"/>
          <a:chExt cx="0" cy="0"/>
        </a:xfrm>
      </p:grpSpPr>
      <p:sp>
        <p:nvSpPr>
          <p:cNvPr id="78850" name="Rectangle 2">
            <a:extLst>
              <a:ext uri="{FF2B5EF4-FFF2-40B4-BE49-F238E27FC236}">
                <a16:creationId xmlns:a16="http://schemas.microsoft.com/office/drawing/2014/main" id="{9060A1B4-93DA-474A-7A94-6851964021C0}"/>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8851" name="Rectangle 3">
            <a:extLst>
              <a:ext uri="{FF2B5EF4-FFF2-40B4-BE49-F238E27FC236}">
                <a16:creationId xmlns:a16="http://schemas.microsoft.com/office/drawing/2014/main" id="{5B3AF1B6-9A2A-8158-63F7-C91D29A80F8A}"/>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8852" name="Rectangle 4">
            <a:extLst>
              <a:ext uri="{FF2B5EF4-FFF2-40B4-BE49-F238E27FC236}">
                <a16:creationId xmlns:a16="http://schemas.microsoft.com/office/drawing/2014/main" id="{9657B631-5915-0AF0-B7F4-D12738F37F0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Adding a Constraint</a:t>
            </a:r>
          </a:p>
          <a:p>
            <a:pPr marL="114300" lvl="1" defTabSz="401638"/>
            <a:r>
              <a:rPr lang="en-US" altLang="en-US">
                <a:latin typeface="Arial" panose="020B0604020202020204" pitchFamily="34" charset="0"/>
              </a:rPr>
              <a:t>You can add a constraint for existing tables by using the ALTER TABLE statement with the </a:t>
            </a:r>
            <a:r>
              <a:rPr lang="en-US" altLang="en-US">
                <a:solidFill>
                  <a:srgbClr val="FC0128"/>
                </a:solidFill>
                <a:latin typeface="Arial" panose="020B0604020202020204" pitchFamily="34" charset="0"/>
              </a:rPr>
              <a:t>ADD  clause.</a:t>
            </a:r>
          </a:p>
          <a:p>
            <a:pPr marL="114300" lvl="1" defTabSz="401638"/>
            <a:r>
              <a:rPr lang="en-US" altLang="en-US">
                <a:latin typeface="Arial" panose="020B0604020202020204" pitchFamily="34" charset="0"/>
              </a:rPr>
              <a:t>In the syntax:</a:t>
            </a:r>
          </a:p>
          <a:p>
            <a:pPr marL="114300" lvl="1" defTabSz="401638"/>
            <a:r>
              <a:rPr lang="en-US" altLang="en-US" i="1">
                <a:latin typeface="Arial" panose="020B0604020202020204" pitchFamily="34" charset="0"/>
              </a:rPr>
              <a:t>	table</a:t>
            </a:r>
            <a:r>
              <a:rPr lang="en-US" altLang="en-US">
                <a:latin typeface="Arial" panose="020B0604020202020204" pitchFamily="34" charset="0"/>
              </a:rPr>
              <a:t>			is the name of the table</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	</a:t>
            </a:r>
            <a:r>
              <a:rPr lang="en-US" altLang="en-US" i="1">
                <a:latin typeface="Arial" panose="020B0604020202020204" pitchFamily="34" charset="0"/>
              </a:rPr>
              <a:t>type</a:t>
            </a:r>
            <a:r>
              <a:rPr lang="en-US" altLang="en-US">
                <a:latin typeface="Arial" panose="020B0604020202020204" pitchFamily="34" charset="0"/>
              </a:rPr>
              <a:t>			is the constraint type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a:latin typeface="Arial" panose="020B0604020202020204" pitchFamily="34" charset="0"/>
              </a:rPr>
              <a:t>The constraint name syntax is optional, although recommended. If you do not name your constraints, the system will generate constraint names.</a:t>
            </a:r>
          </a:p>
          <a:p>
            <a:pPr marL="114300" lvl="1"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add, drop, enable, or disable a constraint, but you cannot modify its structure.</a:t>
            </a:r>
          </a:p>
          <a:p>
            <a:pPr marL="450850" lvl="2" indent="-217488" defTabSz="401638"/>
            <a:r>
              <a:rPr lang="en-US" altLang="en-US">
                <a:latin typeface="Arial" panose="020B0604020202020204" pitchFamily="34" charset="0"/>
              </a:rPr>
              <a:t>You can add a NOT NULL constraint to an existing column by using the MODIFY clause of the ALTER TABLE statement.</a:t>
            </a:r>
          </a:p>
          <a:p>
            <a:pPr marL="114300" lvl="1" defTabSz="401638"/>
            <a:r>
              <a:rPr lang="en-US" altLang="en-US" b="1">
                <a:latin typeface="Times" panose="02020603050405020304" pitchFamily="18" charset="0"/>
              </a:rPr>
              <a:t>Note:</a:t>
            </a:r>
            <a:r>
              <a:rPr lang="en-US" altLang="en-US">
                <a:latin typeface="Times" panose="02020603050405020304" pitchFamily="18" charset="0"/>
              </a:rPr>
              <a:t> You can define a NOT NULL column only if the table contains no rows, because data cannot be specified for existing rows at the same time that the column is added.</a:t>
            </a:r>
          </a:p>
        </p:txBody>
      </p:sp>
      <p:sp>
        <p:nvSpPr>
          <p:cNvPr id="78853" name="Rectangle 5">
            <a:extLst>
              <a:ext uri="{FF2B5EF4-FFF2-40B4-BE49-F238E27FC236}">
                <a16:creationId xmlns:a16="http://schemas.microsoft.com/office/drawing/2014/main" id="{B981FD02-DC44-E3D4-EB48-B8F000FEE598}"/>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grpSp>
        <p:nvGrpSpPr>
          <p:cNvPr id="78854" name="Group 6">
            <a:extLst>
              <a:ext uri="{FF2B5EF4-FFF2-40B4-BE49-F238E27FC236}">
                <a16:creationId xmlns:a16="http://schemas.microsoft.com/office/drawing/2014/main" id="{013C5DA2-2B81-9F5E-1D72-47781CAC4C5B}"/>
              </a:ext>
            </a:extLst>
          </p:cNvPr>
          <p:cNvGrpSpPr>
            <a:grpSpLocks/>
          </p:cNvGrpSpPr>
          <p:nvPr/>
        </p:nvGrpSpPr>
        <p:grpSpPr bwMode="auto">
          <a:xfrm>
            <a:off x="190500" y="6659563"/>
            <a:ext cx="287338" cy="309562"/>
            <a:chOff x="119" y="4119"/>
            <a:chExt cx="180" cy="192"/>
          </a:xfrm>
        </p:grpSpPr>
        <p:sp>
          <p:nvSpPr>
            <p:cNvPr id="78855" name="Freeform 7">
              <a:extLst>
                <a:ext uri="{FF2B5EF4-FFF2-40B4-BE49-F238E27FC236}">
                  <a16:creationId xmlns:a16="http://schemas.microsoft.com/office/drawing/2014/main" id="{716E4837-D15C-D9AD-FA9B-795B560C0551}"/>
                </a:ext>
              </a:extLst>
            </p:cNvPr>
            <p:cNvSpPr>
              <a:spLocks/>
            </p:cNvSpPr>
            <p:nvPr/>
          </p:nvSpPr>
          <p:spPr bwMode="auto">
            <a:xfrm>
              <a:off x="119" y="4119"/>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6" name="Freeform 8">
              <a:extLst>
                <a:ext uri="{FF2B5EF4-FFF2-40B4-BE49-F238E27FC236}">
                  <a16:creationId xmlns:a16="http://schemas.microsoft.com/office/drawing/2014/main" id="{9337B4AC-59B9-612B-2DA9-FCAF0F7AD3BD}"/>
                </a:ext>
              </a:extLst>
            </p:cNvPr>
            <p:cNvSpPr>
              <a:spLocks/>
            </p:cNvSpPr>
            <p:nvPr/>
          </p:nvSpPr>
          <p:spPr bwMode="auto">
            <a:xfrm>
              <a:off x="200" y="4293"/>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7" name="Freeform 9">
              <a:extLst>
                <a:ext uri="{FF2B5EF4-FFF2-40B4-BE49-F238E27FC236}">
                  <a16:creationId xmlns:a16="http://schemas.microsoft.com/office/drawing/2014/main" id="{5387C8AC-CCFD-0445-A098-38ECF38C82C3}"/>
                </a:ext>
              </a:extLst>
            </p:cNvPr>
            <p:cNvSpPr>
              <a:spLocks/>
            </p:cNvSpPr>
            <p:nvPr/>
          </p:nvSpPr>
          <p:spPr bwMode="auto">
            <a:xfrm>
              <a:off x="142" y="4172"/>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8" name="Freeform 10">
              <a:extLst>
                <a:ext uri="{FF2B5EF4-FFF2-40B4-BE49-F238E27FC236}">
                  <a16:creationId xmlns:a16="http://schemas.microsoft.com/office/drawing/2014/main" id="{E8857E36-9910-4315-18E6-C87E6F1DF326}"/>
                </a:ext>
              </a:extLst>
            </p:cNvPr>
            <p:cNvSpPr>
              <a:spLocks/>
            </p:cNvSpPr>
            <p:nvPr/>
          </p:nvSpPr>
          <p:spPr bwMode="auto">
            <a:xfrm>
              <a:off x="252" y="4172"/>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9" name="Freeform 11">
              <a:extLst>
                <a:ext uri="{FF2B5EF4-FFF2-40B4-BE49-F238E27FC236}">
                  <a16:creationId xmlns:a16="http://schemas.microsoft.com/office/drawing/2014/main" id="{6B657826-2A6B-A1AA-88D2-B3B86D447B54}"/>
                </a:ext>
              </a:extLst>
            </p:cNvPr>
            <p:cNvSpPr>
              <a:spLocks/>
            </p:cNvSpPr>
            <p:nvPr/>
          </p:nvSpPr>
          <p:spPr bwMode="auto">
            <a:xfrm>
              <a:off x="139" y="4211"/>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0" name="Freeform 12">
              <a:extLst>
                <a:ext uri="{FF2B5EF4-FFF2-40B4-BE49-F238E27FC236}">
                  <a16:creationId xmlns:a16="http://schemas.microsoft.com/office/drawing/2014/main" id="{4B499F3E-2EFF-ECFD-1C24-32D53393C102}"/>
                </a:ext>
              </a:extLst>
            </p:cNvPr>
            <p:cNvSpPr>
              <a:spLocks/>
            </p:cNvSpPr>
            <p:nvPr/>
          </p:nvSpPr>
          <p:spPr bwMode="auto">
            <a:xfrm>
              <a:off x="255" y="4212"/>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1" name="Freeform 13">
              <a:extLst>
                <a:ext uri="{FF2B5EF4-FFF2-40B4-BE49-F238E27FC236}">
                  <a16:creationId xmlns:a16="http://schemas.microsoft.com/office/drawing/2014/main" id="{8FAE8E5C-831B-D2C1-3C38-76D67258291B}"/>
                </a:ext>
              </a:extLst>
            </p:cNvPr>
            <p:cNvSpPr>
              <a:spLocks/>
            </p:cNvSpPr>
            <p:nvPr/>
          </p:nvSpPr>
          <p:spPr bwMode="auto">
            <a:xfrm>
              <a:off x="164" y="4134"/>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2" name="Freeform 14">
              <a:extLst>
                <a:ext uri="{FF2B5EF4-FFF2-40B4-BE49-F238E27FC236}">
                  <a16:creationId xmlns:a16="http://schemas.microsoft.com/office/drawing/2014/main" id="{CE9927E8-26A6-EF69-66C2-280B3C9683E6}"/>
                </a:ext>
              </a:extLst>
            </p:cNvPr>
            <p:cNvSpPr>
              <a:spLocks/>
            </p:cNvSpPr>
            <p:nvPr/>
          </p:nvSpPr>
          <p:spPr bwMode="auto">
            <a:xfrm>
              <a:off x="230" y="4136"/>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3" name="Freeform 15">
              <a:extLst>
                <a:ext uri="{FF2B5EF4-FFF2-40B4-BE49-F238E27FC236}">
                  <a16:creationId xmlns:a16="http://schemas.microsoft.com/office/drawing/2014/main" id="{4BF50F5B-DCFC-DCCB-0752-4D10E19569E6}"/>
                </a:ext>
              </a:extLst>
            </p:cNvPr>
            <p:cNvSpPr>
              <a:spLocks/>
            </p:cNvSpPr>
            <p:nvPr/>
          </p:nvSpPr>
          <p:spPr bwMode="auto">
            <a:xfrm>
              <a:off x="204" y="4125"/>
              <a:ext cx="18" cy="31"/>
            </a:xfrm>
            <a:custGeom>
              <a:avLst/>
              <a:gdLst>
                <a:gd name="T0" fmla="*/ 7 w 18"/>
                <a:gd name="T1" fmla="*/ 0 h 31"/>
                <a:gd name="T2" fmla="*/ 0 w 18"/>
                <a:gd name="T3" fmla="*/ 30 h 31"/>
                <a:gd name="T4" fmla="*/ 17 w 18"/>
                <a:gd name="T5" fmla="*/ 29 h 31"/>
                <a:gd name="T6" fmla="*/ 7 w 18"/>
                <a:gd name="T7" fmla="*/ 0 h 31"/>
                <a:gd name="T8" fmla="*/ 0 60000 65536"/>
                <a:gd name="T9" fmla="*/ 0 60000 65536"/>
                <a:gd name="T10" fmla="*/ 0 60000 65536"/>
                <a:gd name="T11" fmla="*/ 0 60000 65536"/>
                <a:gd name="T12" fmla="*/ 0 w 18"/>
                <a:gd name="T13" fmla="*/ 0 h 31"/>
                <a:gd name="T14" fmla="*/ 18 w 18"/>
                <a:gd name="T15" fmla="*/ 31 h 31"/>
              </a:gdLst>
              <a:ahLst/>
              <a:cxnLst>
                <a:cxn ang="T8">
                  <a:pos x="T0" y="T1"/>
                </a:cxn>
                <a:cxn ang="T9">
                  <a:pos x="T2" y="T3"/>
                </a:cxn>
                <a:cxn ang="T10">
                  <a:pos x="T4" y="T5"/>
                </a:cxn>
                <a:cxn ang="T11">
                  <a:pos x="T6" y="T7"/>
                </a:cxn>
              </a:cxnLst>
              <a:rect l="T12" t="T13" r="T14" b="T15"/>
              <a:pathLst>
                <a:path w="18" h="31">
                  <a:moveTo>
                    <a:pt x="7" y="0"/>
                  </a:moveTo>
                  <a:lnTo>
                    <a:pt x="0" y="30"/>
                  </a:lnTo>
                  <a:lnTo>
                    <a:pt x="17"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4" name="Freeform 16">
              <a:extLst>
                <a:ext uri="{FF2B5EF4-FFF2-40B4-BE49-F238E27FC236}">
                  <a16:creationId xmlns:a16="http://schemas.microsoft.com/office/drawing/2014/main" id="{52C76455-D43C-11E7-7AFF-5EB0A5B085A2}"/>
                </a:ext>
              </a:extLst>
            </p:cNvPr>
            <p:cNvSpPr>
              <a:spLocks/>
            </p:cNvSpPr>
            <p:nvPr/>
          </p:nvSpPr>
          <p:spPr bwMode="auto">
            <a:xfrm>
              <a:off x="179" y="4171"/>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5" name="Freeform 17">
              <a:extLst>
                <a:ext uri="{FF2B5EF4-FFF2-40B4-BE49-F238E27FC236}">
                  <a16:creationId xmlns:a16="http://schemas.microsoft.com/office/drawing/2014/main" id="{0FF9FAB5-6791-DD05-D831-215235518B82}"/>
                </a:ext>
              </a:extLst>
            </p:cNvPr>
            <p:cNvSpPr>
              <a:spLocks/>
            </p:cNvSpPr>
            <p:nvPr/>
          </p:nvSpPr>
          <p:spPr bwMode="auto">
            <a:xfrm>
              <a:off x="206" y="4192"/>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362718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2343-AF59-2537-E184-7974D3046B8F}"/>
            </a:ext>
          </a:extLst>
        </p:cNvPr>
        <p:cNvGrpSpPr/>
        <p:nvPr/>
      </p:nvGrpSpPr>
      <p:grpSpPr>
        <a:xfrm>
          <a:off x="0" y="0"/>
          <a:ext cx="0" cy="0"/>
          <a:chOff x="0" y="0"/>
          <a:chExt cx="0" cy="0"/>
        </a:xfrm>
      </p:grpSpPr>
      <p:sp>
        <p:nvSpPr>
          <p:cNvPr id="80898" name="Rectangle 2">
            <a:extLst>
              <a:ext uri="{FF2B5EF4-FFF2-40B4-BE49-F238E27FC236}">
                <a16:creationId xmlns:a16="http://schemas.microsoft.com/office/drawing/2014/main" id="{61043537-4BF2-622C-7EAE-3904B72DE5D0}"/>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0899" name="Rectangle 3">
            <a:extLst>
              <a:ext uri="{FF2B5EF4-FFF2-40B4-BE49-F238E27FC236}">
                <a16:creationId xmlns:a16="http://schemas.microsoft.com/office/drawing/2014/main" id="{F35E9D99-0D20-9EFD-EF41-881BC06176FC}"/>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0900" name="Rectangle 4">
            <a:extLst>
              <a:ext uri="{FF2B5EF4-FFF2-40B4-BE49-F238E27FC236}">
                <a16:creationId xmlns:a16="http://schemas.microsoft.com/office/drawing/2014/main" id="{16B28303-5677-554A-7F29-B901063EA34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Adding a Constraint</a:t>
            </a:r>
          </a:p>
          <a:p>
            <a:pPr marL="114300" lvl="1" defTabSz="401638"/>
            <a:r>
              <a:rPr lang="en-US" altLang="en-US">
                <a:latin typeface="Arial" panose="020B0604020202020204" pitchFamily="34" charset="0"/>
              </a:rPr>
              <a:t>You can add a constraint for existing tables by using the ALTER TABLE statement with the </a:t>
            </a:r>
            <a:r>
              <a:rPr lang="en-US" altLang="en-US">
                <a:solidFill>
                  <a:srgbClr val="FC0128"/>
                </a:solidFill>
                <a:latin typeface="Arial" panose="020B0604020202020204" pitchFamily="34" charset="0"/>
              </a:rPr>
              <a:t>ADD  clause.</a:t>
            </a:r>
          </a:p>
          <a:p>
            <a:pPr marL="114300" lvl="1" defTabSz="401638"/>
            <a:r>
              <a:rPr lang="en-US" altLang="en-US">
                <a:latin typeface="Arial" panose="020B0604020202020204" pitchFamily="34" charset="0"/>
              </a:rPr>
              <a:t>In the syntax:</a:t>
            </a:r>
          </a:p>
          <a:p>
            <a:pPr marL="114300" lvl="1" defTabSz="401638"/>
            <a:r>
              <a:rPr lang="en-US" altLang="en-US" i="1">
                <a:latin typeface="Arial" panose="020B0604020202020204" pitchFamily="34" charset="0"/>
              </a:rPr>
              <a:t>	table</a:t>
            </a:r>
            <a:r>
              <a:rPr lang="en-US" altLang="en-US">
                <a:latin typeface="Arial" panose="020B0604020202020204" pitchFamily="34" charset="0"/>
              </a:rPr>
              <a:t>			is the name of the table</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	</a:t>
            </a:r>
            <a:r>
              <a:rPr lang="en-US" altLang="en-US" i="1">
                <a:latin typeface="Arial" panose="020B0604020202020204" pitchFamily="34" charset="0"/>
              </a:rPr>
              <a:t>type</a:t>
            </a:r>
            <a:r>
              <a:rPr lang="en-US" altLang="en-US">
                <a:latin typeface="Arial" panose="020B0604020202020204" pitchFamily="34" charset="0"/>
              </a:rPr>
              <a:t>			is the constraint type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a:latin typeface="Arial" panose="020B0604020202020204" pitchFamily="34" charset="0"/>
              </a:rPr>
              <a:t>The constraint name syntax is optional, although recommended. If you do not name your constraints, the system will generate constraint names.</a:t>
            </a:r>
          </a:p>
          <a:p>
            <a:pPr marL="114300" lvl="1"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add, drop, enable, or disable a constraint, but you cannot modify its structure.</a:t>
            </a:r>
          </a:p>
          <a:p>
            <a:pPr marL="450850" lvl="2" indent="-217488" defTabSz="401638"/>
            <a:r>
              <a:rPr lang="en-US" altLang="en-US">
                <a:latin typeface="Arial" panose="020B0604020202020204" pitchFamily="34" charset="0"/>
              </a:rPr>
              <a:t>You can add a NOT NULL constraint to an existing column by using the MODIFY clause of the ALTER TABLE statement.</a:t>
            </a:r>
          </a:p>
          <a:p>
            <a:pPr marL="114300" lvl="1" defTabSz="401638"/>
            <a:r>
              <a:rPr lang="en-US" altLang="en-US" b="1">
                <a:latin typeface="Times" panose="02020603050405020304" pitchFamily="18" charset="0"/>
              </a:rPr>
              <a:t>Note:</a:t>
            </a:r>
            <a:r>
              <a:rPr lang="en-US" altLang="en-US">
                <a:latin typeface="Times" panose="02020603050405020304" pitchFamily="18" charset="0"/>
              </a:rPr>
              <a:t> You can define a NOT NULL column only if the table contains no rows, because data cannot be specified for existing rows at the same time that the column is added.</a:t>
            </a:r>
          </a:p>
        </p:txBody>
      </p:sp>
      <p:sp>
        <p:nvSpPr>
          <p:cNvPr id="80901" name="Rectangle 5">
            <a:extLst>
              <a:ext uri="{FF2B5EF4-FFF2-40B4-BE49-F238E27FC236}">
                <a16:creationId xmlns:a16="http://schemas.microsoft.com/office/drawing/2014/main" id="{60271935-F762-8A44-3526-208207B732B5}"/>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grpSp>
        <p:nvGrpSpPr>
          <p:cNvPr id="80902" name="Group 6">
            <a:extLst>
              <a:ext uri="{FF2B5EF4-FFF2-40B4-BE49-F238E27FC236}">
                <a16:creationId xmlns:a16="http://schemas.microsoft.com/office/drawing/2014/main" id="{487BDEC5-D1B3-5B61-7D91-AA94F9D529DF}"/>
              </a:ext>
            </a:extLst>
          </p:cNvPr>
          <p:cNvGrpSpPr>
            <a:grpSpLocks/>
          </p:cNvGrpSpPr>
          <p:nvPr/>
        </p:nvGrpSpPr>
        <p:grpSpPr bwMode="auto">
          <a:xfrm>
            <a:off x="190500" y="6659563"/>
            <a:ext cx="287338" cy="309562"/>
            <a:chOff x="119" y="4119"/>
            <a:chExt cx="180" cy="192"/>
          </a:xfrm>
        </p:grpSpPr>
        <p:sp>
          <p:nvSpPr>
            <p:cNvPr id="80903" name="Freeform 7">
              <a:extLst>
                <a:ext uri="{FF2B5EF4-FFF2-40B4-BE49-F238E27FC236}">
                  <a16:creationId xmlns:a16="http://schemas.microsoft.com/office/drawing/2014/main" id="{D62546E3-D88A-278D-875E-09A38EC6C859}"/>
                </a:ext>
              </a:extLst>
            </p:cNvPr>
            <p:cNvSpPr>
              <a:spLocks/>
            </p:cNvSpPr>
            <p:nvPr/>
          </p:nvSpPr>
          <p:spPr bwMode="auto">
            <a:xfrm>
              <a:off x="119" y="4119"/>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4" name="Freeform 8">
              <a:extLst>
                <a:ext uri="{FF2B5EF4-FFF2-40B4-BE49-F238E27FC236}">
                  <a16:creationId xmlns:a16="http://schemas.microsoft.com/office/drawing/2014/main" id="{00B84C9C-BFBA-1723-4A92-8114E59320C6}"/>
                </a:ext>
              </a:extLst>
            </p:cNvPr>
            <p:cNvSpPr>
              <a:spLocks/>
            </p:cNvSpPr>
            <p:nvPr/>
          </p:nvSpPr>
          <p:spPr bwMode="auto">
            <a:xfrm>
              <a:off x="200" y="4293"/>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5" name="Freeform 9">
              <a:extLst>
                <a:ext uri="{FF2B5EF4-FFF2-40B4-BE49-F238E27FC236}">
                  <a16:creationId xmlns:a16="http://schemas.microsoft.com/office/drawing/2014/main" id="{D3FD4920-6F55-1DFB-DBCA-9814E2F3DA93}"/>
                </a:ext>
              </a:extLst>
            </p:cNvPr>
            <p:cNvSpPr>
              <a:spLocks/>
            </p:cNvSpPr>
            <p:nvPr/>
          </p:nvSpPr>
          <p:spPr bwMode="auto">
            <a:xfrm>
              <a:off x="142" y="4172"/>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6" name="Freeform 10">
              <a:extLst>
                <a:ext uri="{FF2B5EF4-FFF2-40B4-BE49-F238E27FC236}">
                  <a16:creationId xmlns:a16="http://schemas.microsoft.com/office/drawing/2014/main" id="{8F3A7B0C-73CE-3779-C1F5-F76D6CDF0EA2}"/>
                </a:ext>
              </a:extLst>
            </p:cNvPr>
            <p:cNvSpPr>
              <a:spLocks/>
            </p:cNvSpPr>
            <p:nvPr/>
          </p:nvSpPr>
          <p:spPr bwMode="auto">
            <a:xfrm>
              <a:off x="252" y="4172"/>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7" name="Freeform 11">
              <a:extLst>
                <a:ext uri="{FF2B5EF4-FFF2-40B4-BE49-F238E27FC236}">
                  <a16:creationId xmlns:a16="http://schemas.microsoft.com/office/drawing/2014/main" id="{82DE3586-1BC2-0B58-D35C-23B9BEBFAFFC}"/>
                </a:ext>
              </a:extLst>
            </p:cNvPr>
            <p:cNvSpPr>
              <a:spLocks/>
            </p:cNvSpPr>
            <p:nvPr/>
          </p:nvSpPr>
          <p:spPr bwMode="auto">
            <a:xfrm>
              <a:off x="139" y="4211"/>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8" name="Freeform 12">
              <a:extLst>
                <a:ext uri="{FF2B5EF4-FFF2-40B4-BE49-F238E27FC236}">
                  <a16:creationId xmlns:a16="http://schemas.microsoft.com/office/drawing/2014/main" id="{464B7B45-E228-7F30-9DE8-159C49E795CC}"/>
                </a:ext>
              </a:extLst>
            </p:cNvPr>
            <p:cNvSpPr>
              <a:spLocks/>
            </p:cNvSpPr>
            <p:nvPr/>
          </p:nvSpPr>
          <p:spPr bwMode="auto">
            <a:xfrm>
              <a:off x="255" y="4212"/>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9" name="Freeform 13">
              <a:extLst>
                <a:ext uri="{FF2B5EF4-FFF2-40B4-BE49-F238E27FC236}">
                  <a16:creationId xmlns:a16="http://schemas.microsoft.com/office/drawing/2014/main" id="{53A57886-1193-5783-E938-FF788109AD45}"/>
                </a:ext>
              </a:extLst>
            </p:cNvPr>
            <p:cNvSpPr>
              <a:spLocks/>
            </p:cNvSpPr>
            <p:nvPr/>
          </p:nvSpPr>
          <p:spPr bwMode="auto">
            <a:xfrm>
              <a:off x="164" y="4134"/>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0" name="Freeform 14">
              <a:extLst>
                <a:ext uri="{FF2B5EF4-FFF2-40B4-BE49-F238E27FC236}">
                  <a16:creationId xmlns:a16="http://schemas.microsoft.com/office/drawing/2014/main" id="{BA4E1C7B-4223-A0F6-AEF9-5D7E1EC5C005}"/>
                </a:ext>
              </a:extLst>
            </p:cNvPr>
            <p:cNvSpPr>
              <a:spLocks/>
            </p:cNvSpPr>
            <p:nvPr/>
          </p:nvSpPr>
          <p:spPr bwMode="auto">
            <a:xfrm>
              <a:off x="230" y="4136"/>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1" name="Freeform 15">
              <a:extLst>
                <a:ext uri="{FF2B5EF4-FFF2-40B4-BE49-F238E27FC236}">
                  <a16:creationId xmlns:a16="http://schemas.microsoft.com/office/drawing/2014/main" id="{C2EC45BB-3937-3036-A6C5-D425C6D50014}"/>
                </a:ext>
              </a:extLst>
            </p:cNvPr>
            <p:cNvSpPr>
              <a:spLocks/>
            </p:cNvSpPr>
            <p:nvPr/>
          </p:nvSpPr>
          <p:spPr bwMode="auto">
            <a:xfrm>
              <a:off x="204" y="4125"/>
              <a:ext cx="18" cy="31"/>
            </a:xfrm>
            <a:custGeom>
              <a:avLst/>
              <a:gdLst>
                <a:gd name="T0" fmla="*/ 7 w 18"/>
                <a:gd name="T1" fmla="*/ 0 h 31"/>
                <a:gd name="T2" fmla="*/ 0 w 18"/>
                <a:gd name="T3" fmla="*/ 30 h 31"/>
                <a:gd name="T4" fmla="*/ 17 w 18"/>
                <a:gd name="T5" fmla="*/ 29 h 31"/>
                <a:gd name="T6" fmla="*/ 7 w 18"/>
                <a:gd name="T7" fmla="*/ 0 h 31"/>
                <a:gd name="T8" fmla="*/ 0 60000 65536"/>
                <a:gd name="T9" fmla="*/ 0 60000 65536"/>
                <a:gd name="T10" fmla="*/ 0 60000 65536"/>
                <a:gd name="T11" fmla="*/ 0 60000 65536"/>
                <a:gd name="T12" fmla="*/ 0 w 18"/>
                <a:gd name="T13" fmla="*/ 0 h 31"/>
                <a:gd name="T14" fmla="*/ 18 w 18"/>
                <a:gd name="T15" fmla="*/ 31 h 31"/>
              </a:gdLst>
              <a:ahLst/>
              <a:cxnLst>
                <a:cxn ang="T8">
                  <a:pos x="T0" y="T1"/>
                </a:cxn>
                <a:cxn ang="T9">
                  <a:pos x="T2" y="T3"/>
                </a:cxn>
                <a:cxn ang="T10">
                  <a:pos x="T4" y="T5"/>
                </a:cxn>
                <a:cxn ang="T11">
                  <a:pos x="T6" y="T7"/>
                </a:cxn>
              </a:cxnLst>
              <a:rect l="T12" t="T13" r="T14" b="T15"/>
              <a:pathLst>
                <a:path w="18" h="31">
                  <a:moveTo>
                    <a:pt x="7" y="0"/>
                  </a:moveTo>
                  <a:lnTo>
                    <a:pt x="0" y="30"/>
                  </a:lnTo>
                  <a:lnTo>
                    <a:pt x="17"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2" name="Freeform 16">
              <a:extLst>
                <a:ext uri="{FF2B5EF4-FFF2-40B4-BE49-F238E27FC236}">
                  <a16:creationId xmlns:a16="http://schemas.microsoft.com/office/drawing/2014/main" id="{D2C14A62-8065-2432-6FA1-18446EF1292D}"/>
                </a:ext>
              </a:extLst>
            </p:cNvPr>
            <p:cNvSpPr>
              <a:spLocks/>
            </p:cNvSpPr>
            <p:nvPr/>
          </p:nvSpPr>
          <p:spPr bwMode="auto">
            <a:xfrm>
              <a:off x="179" y="4171"/>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3" name="Freeform 17">
              <a:extLst>
                <a:ext uri="{FF2B5EF4-FFF2-40B4-BE49-F238E27FC236}">
                  <a16:creationId xmlns:a16="http://schemas.microsoft.com/office/drawing/2014/main" id="{BE072C33-BEF9-957C-E2F1-05BD181B6154}"/>
                </a:ext>
              </a:extLst>
            </p:cNvPr>
            <p:cNvSpPr>
              <a:spLocks/>
            </p:cNvSpPr>
            <p:nvPr/>
          </p:nvSpPr>
          <p:spPr bwMode="auto">
            <a:xfrm>
              <a:off x="206" y="4192"/>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564098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FA2CE-1DB9-2FA2-0F6F-63B0C4065021}"/>
            </a:ext>
          </a:extLst>
        </p:cNvPr>
        <p:cNvGrpSpPr/>
        <p:nvPr/>
      </p:nvGrpSpPr>
      <p:grpSpPr>
        <a:xfrm>
          <a:off x="0" y="0"/>
          <a:ext cx="0" cy="0"/>
          <a:chOff x="0" y="0"/>
          <a:chExt cx="0" cy="0"/>
        </a:xfrm>
      </p:grpSpPr>
      <p:sp>
        <p:nvSpPr>
          <p:cNvPr id="82946" name="Rectangle 2">
            <a:extLst>
              <a:ext uri="{FF2B5EF4-FFF2-40B4-BE49-F238E27FC236}">
                <a16:creationId xmlns:a16="http://schemas.microsoft.com/office/drawing/2014/main" id="{1659CFB6-9394-FF47-59EC-42C3EFFA911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Dropping a Constraint</a:t>
            </a:r>
          </a:p>
          <a:p>
            <a:pPr marL="114300" lvl="1" defTabSz="401638"/>
            <a:r>
              <a:rPr lang="en-US" altLang="en-US">
                <a:latin typeface="Arial" panose="020B0604020202020204" pitchFamily="34" charset="0"/>
              </a:rPr>
              <a:t>To drop a constraint, you can identify the constraint name from the USER_CONSTRAINTS and USER_CONS_COLUMNS data dictionary views. Then use the ALTER TABLE statement with the </a:t>
            </a:r>
            <a:r>
              <a:rPr lang="en-US" altLang="en-US">
                <a:solidFill>
                  <a:srgbClr val="FC0128"/>
                </a:solidFill>
                <a:latin typeface="Arial" panose="020B0604020202020204" pitchFamily="34" charset="0"/>
              </a:rPr>
              <a:t>DROP clause.</a:t>
            </a:r>
            <a:r>
              <a:rPr lang="en-US" altLang="en-US">
                <a:latin typeface="Arial" panose="020B0604020202020204" pitchFamily="34" charset="0"/>
              </a:rPr>
              <a:t> The CASCADE option of the DROP clause causes any dependent constraints also to be dropped.</a:t>
            </a: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marL="114300" lvl="1" defTabSz="401638">
              <a:spcBef>
                <a:spcPct val="65000"/>
              </a:spcBef>
            </a:pPr>
            <a:r>
              <a:rPr lang="en-US" altLang="en-US">
                <a:latin typeface="Arial" panose="020B0604020202020204" pitchFamily="34" charset="0"/>
              </a:rPr>
              <a:t>  </a:t>
            </a:r>
            <a:r>
              <a:rPr lang="en-US" altLang="en-US">
                <a:latin typeface="Courier New" panose="02070309020205020404" pitchFamily="49" charset="0"/>
              </a:rPr>
              <a:t>ALTER TABLE	</a:t>
            </a:r>
            <a:r>
              <a:rPr lang="en-US" altLang="en-US" i="1">
                <a:latin typeface="Courier New" panose="02070309020205020404" pitchFamily="49" charset="0"/>
              </a:rPr>
              <a:t>table</a:t>
            </a: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DROP  PRIMARY KEY | UNIQUE (</a:t>
            </a:r>
            <a:r>
              <a:rPr lang="en-US" altLang="en-US" i="1">
                <a:latin typeface="Courier New" panose="02070309020205020404" pitchFamily="49" charset="0"/>
              </a:rPr>
              <a:t>column</a:t>
            </a:r>
            <a:r>
              <a:rPr lang="en-US" altLang="en-US">
                <a:latin typeface="Courier New" panose="02070309020205020404" pitchFamily="49" charset="0"/>
              </a:rPr>
              <a:t>) |</a:t>
            </a:r>
          </a:p>
          <a:p>
            <a:pPr marL="114300" lvl="1" defTabSz="401638">
              <a:spcBef>
                <a:spcPct val="0"/>
              </a:spcBef>
            </a:pPr>
            <a:r>
              <a:rPr lang="en-US" altLang="en-US">
                <a:latin typeface="Courier New" panose="02070309020205020404" pitchFamily="49" charset="0"/>
              </a:rPr>
              <a:t>       CONSTRAINT   </a:t>
            </a:r>
            <a:r>
              <a:rPr lang="en-US" altLang="en-US" i="1">
                <a:latin typeface="Courier New" panose="02070309020205020404" pitchFamily="49" charset="0"/>
              </a:rPr>
              <a:t>constraint</a:t>
            </a:r>
            <a:r>
              <a:rPr lang="en-US" altLang="en-US">
                <a:latin typeface="Courier New" panose="02070309020205020404" pitchFamily="49" charset="0"/>
              </a:rPr>
              <a:t>  [CASCADE];</a:t>
            </a:r>
            <a:endParaRPr lang="en-US" altLang="en-US">
              <a:latin typeface="Arial" panose="020B0604020202020204" pitchFamily="34" charset="0"/>
            </a:endParaRPr>
          </a:p>
          <a:p>
            <a:pPr marL="114300" lvl="1" defTabSz="401638"/>
            <a:endParaRPr lang="en-US" altLang="en-US" sz="400">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When you drop an integrity constraint, that constraint is no longer enforced by the Oracle Server and is no longer available in the data dictionary.</a:t>
            </a:r>
          </a:p>
          <a:p>
            <a:pPr marL="114300" lvl="1" defTabSz="401638"/>
            <a:endParaRPr lang="en-US" altLang="en-US">
              <a:latin typeface="Times" panose="02020603050405020304" pitchFamily="18" charset="0"/>
            </a:endParaRPr>
          </a:p>
          <a:p>
            <a:pPr defTabSz="401638"/>
            <a:endParaRPr lang="en-US" altLang="en-US" b="1">
              <a:latin typeface="Times" panose="02020603050405020304" pitchFamily="18" charset="0"/>
            </a:endParaRPr>
          </a:p>
        </p:txBody>
      </p:sp>
      <p:sp>
        <p:nvSpPr>
          <p:cNvPr id="82947" name="Rectangle 3">
            <a:extLst>
              <a:ext uri="{FF2B5EF4-FFF2-40B4-BE49-F238E27FC236}">
                <a16:creationId xmlns:a16="http://schemas.microsoft.com/office/drawing/2014/main" id="{4692D5AD-DDCB-8A20-1E5B-A7B03FC20C99}"/>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82948" name="Rectangle 4">
            <a:extLst>
              <a:ext uri="{FF2B5EF4-FFF2-40B4-BE49-F238E27FC236}">
                <a16:creationId xmlns:a16="http://schemas.microsoft.com/office/drawing/2014/main" id="{6993D1F1-1AC2-9969-34D1-778F446087D4}"/>
              </a:ext>
            </a:extLst>
          </p:cNvPr>
          <p:cNvSpPr>
            <a:spLocks noChangeArrowheads="1"/>
          </p:cNvSpPr>
          <p:nvPr/>
        </p:nvSpPr>
        <p:spPr bwMode="auto">
          <a:xfrm>
            <a:off x="609600" y="6072188"/>
            <a:ext cx="5492750" cy="6000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82949" name="Group 5">
            <a:extLst>
              <a:ext uri="{FF2B5EF4-FFF2-40B4-BE49-F238E27FC236}">
                <a16:creationId xmlns:a16="http://schemas.microsoft.com/office/drawing/2014/main" id="{7B0F9A46-2D07-260B-C68C-420B5C43BA24}"/>
              </a:ext>
            </a:extLst>
          </p:cNvPr>
          <p:cNvGrpSpPr>
            <a:grpSpLocks/>
          </p:cNvGrpSpPr>
          <p:nvPr/>
        </p:nvGrpSpPr>
        <p:grpSpPr bwMode="auto">
          <a:xfrm>
            <a:off x="228600" y="7483475"/>
            <a:ext cx="285750" cy="309563"/>
            <a:chOff x="143" y="4629"/>
            <a:chExt cx="179" cy="191"/>
          </a:xfrm>
        </p:grpSpPr>
        <p:sp>
          <p:nvSpPr>
            <p:cNvPr id="82950" name="Freeform 6">
              <a:extLst>
                <a:ext uri="{FF2B5EF4-FFF2-40B4-BE49-F238E27FC236}">
                  <a16:creationId xmlns:a16="http://schemas.microsoft.com/office/drawing/2014/main" id="{50B79F81-DF98-9855-E3E9-9CABBBDBB925}"/>
                </a:ext>
              </a:extLst>
            </p:cNvPr>
            <p:cNvSpPr>
              <a:spLocks/>
            </p:cNvSpPr>
            <p:nvPr/>
          </p:nvSpPr>
          <p:spPr bwMode="auto">
            <a:xfrm>
              <a:off x="143" y="4629"/>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 name="T15" fmla="*/ 0 w 179"/>
                <a:gd name="T16" fmla="*/ 0 h 183"/>
                <a:gd name="T17" fmla="*/ 179 w 179"/>
                <a:gd name="T18" fmla="*/ 183 h 183"/>
              </a:gdLst>
              <a:ahLst/>
              <a:cxnLst>
                <a:cxn ang="T10">
                  <a:pos x="T0" y="T1"/>
                </a:cxn>
                <a:cxn ang="T11">
                  <a:pos x="T2" y="T3"/>
                </a:cxn>
                <a:cxn ang="T12">
                  <a:pos x="T4" y="T5"/>
                </a:cxn>
                <a:cxn ang="T13">
                  <a:pos x="T6" y="T7"/>
                </a:cxn>
                <a:cxn ang="T14">
                  <a:pos x="T8" y="T9"/>
                </a:cxn>
              </a:cxnLst>
              <a:rect l="T15" t="T16" r="T17" b="T18"/>
              <a:pathLst>
                <a:path w="179" h="183">
                  <a:moveTo>
                    <a:pt x="178" y="182"/>
                  </a:moveTo>
                  <a:lnTo>
                    <a:pt x="178" y="0"/>
                  </a:lnTo>
                  <a:lnTo>
                    <a:pt x="0" y="0"/>
                  </a:lnTo>
                  <a:lnTo>
                    <a:pt x="0" y="182"/>
                  </a:lnTo>
                  <a:lnTo>
                    <a:pt x="178"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1" name="Freeform 7">
              <a:extLst>
                <a:ext uri="{FF2B5EF4-FFF2-40B4-BE49-F238E27FC236}">
                  <a16:creationId xmlns:a16="http://schemas.microsoft.com/office/drawing/2014/main" id="{03652484-262A-7EFA-78A7-EF6C628F7912}"/>
                </a:ext>
              </a:extLst>
            </p:cNvPr>
            <p:cNvSpPr>
              <a:spLocks/>
            </p:cNvSpPr>
            <p:nvPr/>
          </p:nvSpPr>
          <p:spPr bwMode="auto">
            <a:xfrm>
              <a:off x="224" y="4803"/>
              <a:ext cx="26" cy="17"/>
            </a:xfrm>
            <a:custGeom>
              <a:avLst/>
              <a:gdLst>
                <a:gd name="T0" fmla="*/ 25 w 26"/>
                <a:gd name="T1" fmla="*/ 16 h 17"/>
                <a:gd name="T2" fmla="*/ 25 w 26"/>
                <a:gd name="T3" fmla="*/ 0 h 17"/>
                <a:gd name="T4" fmla="*/ 0 w 26"/>
                <a:gd name="T5" fmla="*/ 0 h 17"/>
                <a:gd name="T6" fmla="*/ 0 w 26"/>
                <a:gd name="T7" fmla="*/ 16 h 17"/>
                <a:gd name="T8" fmla="*/ 25 w 26"/>
                <a:gd name="T9" fmla="*/ 16 h 17"/>
                <a:gd name="T10" fmla="*/ 0 60000 65536"/>
                <a:gd name="T11" fmla="*/ 0 60000 65536"/>
                <a:gd name="T12" fmla="*/ 0 60000 65536"/>
                <a:gd name="T13" fmla="*/ 0 60000 65536"/>
                <a:gd name="T14" fmla="*/ 0 60000 65536"/>
                <a:gd name="T15" fmla="*/ 0 w 26"/>
                <a:gd name="T16" fmla="*/ 0 h 17"/>
                <a:gd name="T17" fmla="*/ 26 w 26"/>
                <a:gd name="T18" fmla="*/ 17 h 17"/>
              </a:gdLst>
              <a:ahLst/>
              <a:cxnLst>
                <a:cxn ang="T10">
                  <a:pos x="T0" y="T1"/>
                </a:cxn>
                <a:cxn ang="T11">
                  <a:pos x="T2" y="T3"/>
                </a:cxn>
                <a:cxn ang="T12">
                  <a:pos x="T4" y="T5"/>
                </a:cxn>
                <a:cxn ang="T13">
                  <a:pos x="T6" y="T7"/>
                </a:cxn>
                <a:cxn ang="T14">
                  <a:pos x="T8" y="T9"/>
                </a:cxn>
              </a:cxnLst>
              <a:rect l="T15" t="T16" r="T17" b="T18"/>
              <a:pathLst>
                <a:path w="26" h="17">
                  <a:moveTo>
                    <a:pt x="25" y="16"/>
                  </a:moveTo>
                  <a:lnTo>
                    <a:pt x="25" y="0"/>
                  </a:lnTo>
                  <a:lnTo>
                    <a:pt x="0" y="0"/>
                  </a:lnTo>
                  <a:lnTo>
                    <a:pt x="0" y="16"/>
                  </a:lnTo>
                  <a:lnTo>
                    <a:pt x="25"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2" name="Freeform 8">
              <a:extLst>
                <a:ext uri="{FF2B5EF4-FFF2-40B4-BE49-F238E27FC236}">
                  <a16:creationId xmlns:a16="http://schemas.microsoft.com/office/drawing/2014/main" id="{A4D8D78C-CE4D-948B-C97A-D99CA2B27253}"/>
                </a:ext>
              </a:extLst>
            </p:cNvPr>
            <p:cNvSpPr>
              <a:spLocks/>
            </p:cNvSpPr>
            <p:nvPr/>
          </p:nvSpPr>
          <p:spPr bwMode="auto">
            <a:xfrm>
              <a:off x="165" y="4682"/>
              <a:ext cx="33" cy="19"/>
            </a:xfrm>
            <a:custGeom>
              <a:avLst/>
              <a:gdLst>
                <a:gd name="T0" fmla="*/ 0 w 33"/>
                <a:gd name="T1" fmla="*/ 0 h 19"/>
                <a:gd name="T2" fmla="*/ 26 w 33"/>
                <a:gd name="T3" fmla="*/ 18 h 19"/>
                <a:gd name="T4" fmla="*/ 32 w 33"/>
                <a:gd name="T5" fmla="*/ 8 h 19"/>
                <a:gd name="T6" fmla="*/ 0 w 33"/>
                <a:gd name="T7" fmla="*/ 0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0"/>
                  </a:moveTo>
                  <a:lnTo>
                    <a:pt x="26" y="18"/>
                  </a:lnTo>
                  <a:lnTo>
                    <a:pt x="32"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3" name="Freeform 9">
              <a:extLst>
                <a:ext uri="{FF2B5EF4-FFF2-40B4-BE49-F238E27FC236}">
                  <a16:creationId xmlns:a16="http://schemas.microsoft.com/office/drawing/2014/main" id="{F091FC53-BF5B-6DF4-EF1C-643E5AA52FB6}"/>
                </a:ext>
              </a:extLst>
            </p:cNvPr>
            <p:cNvSpPr>
              <a:spLocks/>
            </p:cNvSpPr>
            <p:nvPr/>
          </p:nvSpPr>
          <p:spPr bwMode="auto">
            <a:xfrm>
              <a:off x="275" y="4682"/>
              <a:ext cx="35" cy="19"/>
            </a:xfrm>
            <a:custGeom>
              <a:avLst/>
              <a:gdLst>
                <a:gd name="T0" fmla="*/ 34 w 35"/>
                <a:gd name="T1" fmla="*/ 0 h 19"/>
                <a:gd name="T2" fmla="*/ 6 w 35"/>
                <a:gd name="T3" fmla="*/ 18 h 19"/>
                <a:gd name="T4" fmla="*/ 0 w 35"/>
                <a:gd name="T5" fmla="*/ 8 h 19"/>
                <a:gd name="T6" fmla="*/ 34 w 35"/>
                <a:gd name="T7" fmla="*/ 0 h 19"/>
                <a:gd name="T8" fmla="*/ 0 60000 65536"/>
                <a:gd name="T9" fmla="*/ 0 60000 65536"/>
                <a:gd name="T10" fmla="*/ 0 60000 65536"/>
                <a:gd name="T11" fmla="*/ 0 60000 65536"/>
                <a:gd name="T12" fmla="*/ 0 w 35"/>
                <a:gd name="T13" fmla="*/ 0 h 19"/>
                <a:gd name="T14" fmla="*/ 35 w 35"/>
                <a:gd name="T15" fmla="*/ 19 h 19"/>
              </a:gdLst>
              <a:ahLst/>
              <a:cxnLst>
                <a:cxn ang="T8">
                  <a:pos x="T0" y="T1"/>
                </a:cxn>
                <a:cxn ang="T9">
                  <a:pos x="T2" y="T3"/>
                </a:cxn>
                <a:cxn ang="T10">
                  <a:pos x="T4" y="T5"/>
                </a:cxn>
                <a:cxn ang="T11">
                  <a:pos x="T6" y="T7"/>
                </a:cxn>
              </a:cxnLst>
              <a:rect l="T12" t="T13" r="T14" b="T15"/>
              <a:pathLst>
                <a:path w="35" h="19">
                  <a:moveTo>
                    <a:pt x="34" y="0"/>
                  </a:moveTo>
                  <a:lnTo>
                    <a:pt x="6" y="18"/>
                  </a:lnTo>
                  <a:lnTo>
                    <a:pt x="0" y="8"/>
                  </a:lnTo>
                  <a:lnTo>
                    <a:pt x="34"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4" name="Freeform 10">
              <a:extLst>
                <a:ext uri="{FF2B5EF4-FFF2-40B4-BE49-F238E27FC236}">
                  <a16:creationId xmlns:a16="http://schemas.microsoft.com/office/drawing/2014/main" id="{ECC7D7CF-40D2-1053-D8FF-683B53AAAC88}"/>
                </a:ext>
              </a:extLst>
            </p:cNvPr>
            <p:cNvSpPr>
              <a:spLocks/>
            </p:cNvSpPr>
            <p:nvPr/>
          </p:nvSpPr>
          <p:spPr bwMode="auto">
            <a:xfrm>
              <a:off x="162" y="4720"/>
              <a:ext cx="34" cy="19"/>
            </a:xfrm>
            <a:custGeom>
              <a:avLst/>
              <a:gdLst>
                <a:gd name="T0" fmla="*/ 0 w 34"/>
                <a:gd name="T1" fmla="*/ 18 h 19"/>
                <a:gd name="T2" fmla="*/ 33 w 34"/>
                <a:gd name="T3" fmla="*/ 14 h 19"/>
                <a:gd name="T4" fmla="*/ 31 w 34"/>
                <a:gd name="T5" fmla="*/ 0 h 19"/>
                <a:gd name="T6" fmla="*/ 0 w 34"/>
                <a:gd name="T7" fmla="*/ 18 h 19"/>
                <a:gd name="T8" fmla="*/ 0 60000 65536"/>
                <a:gd name="T9" fmla="*/ 0 60000 65536"/>
                <a:gd name="T10" fmla="*/ 0 60000 65536"/>
                <a:gd name="T11" fmla="*/ 0 60000 65536"/>
                <a:gd name="T12" fmla="*/ 0 w 34"/>
                <a:gd name="T13" fmla="*/ 0 h 19"/>
                <a:gd name="T14" fmla="*/ 34 w 34"/>
                <a:gd name="T15" fmla="*/ 19 h 19"/>
              </a:gdLst>
              <a:ahLst/>
              <a:cxnLst>
                <a:cxn ang="T8">
                  <a:pos x="T0" y="T1"/>
                </a:cxn>
                <a:cxn ang="T9">
                  <a:pos x="T2" y="T3"/>
                </a:cxn>
                <a:cxn ang="T10">
                  <a:pos x="T4" y="T5"/>
                </a:cxn>
                <a:cxn ang="T11">
                  <a:pos x="T6" y="T7"/>
                </a:cxn>
              </a:cxnLst>
              <a:rect l="T12" t="T13" r="T14" b="T15"/>
              <a:pathLst>
                <a:path w="34" h="19">
                  <a:moveTo>
                    <a:pt x="0" y="18"/>
                  </a:moveTo>
                  <a:lnTo>
                    <a:pt x="33" y="14"/>
                  </a:lnTo>
                  <a:lnTo>
                    <a:pt x="31" y="0"/>
                  </a:lnTo>
                  <a:lnTo>
                    <a:pt x="0"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5" name="Freeform 11">
              <a:extLst>
                <a:ext uri="{FF2B5EF4-FFF2-40B4-BE49-F238E27FC236}">
                  <a16:creationId xmlns:a16="http://schemas.microsoft.com/office/drawing/2014/main" id="{BB599872-0311-650F-E222-3C3E42821A64}"/>
                </a:ext>
              </a:extLst>
            </p:cNvPr>
            <p:cNvSpPr>
              <a:spLocks/>
            </p:cNvSpPr>
            <p:nvPr/>
          </p:nvSpPr>
          <p:spPr bwMode="auto">
            <a:xfrm>
              <a:off x="278" y="4721"/>
              <a:ext cx="35" cy="19"/>
            </a:xfrm>
            <a:custGeom>
              <a:avLst/>
              <a:gdLst>
                <a:gd name="T0" fmla="*/ 34 w 35"/>
                <a:gd name="T1" fmla="*/ 18 h 19"/>
                <a:gd name="T2" fmla="*/ 0 w 35"/>
                <a:gd name="T3" fmla="*/ 15 h 19"/>
                <a:gd name="T4" fmla="*/ 2 w 35"/>
                <a:gd name="T5" fmla="*/ 0 h 19"/>
                <a:gd name="T6" fmla="*/ 34 w 35"/>
                <a:gd name="T7" fmla="*/ 18 h 19"/>
                <a:gd name="T8" fmla="*/ 0 60000 65536"/>
                <a:gd name="T9" fmla="*/ 0 60000 65536"/>
                <a:gd name="T10" fmla="*/ 0 60000 65536"/>
                <a:gd name="T11" fmla="*/ 0 60000 65536"/>
                <a:gd name="T12" fmla="*/ 0 w 35"/>
                <a:gd name="T13" fmla="*/ 0 h 19"/>
                <a:gd name="T14" fmla="*/ 35 w 35"/>
                <a:gd name="T15" fmla="*/ 19 h 19"/>
              </a:gdLst>
              <a:ahLst/>
              <a:cxnLst>
                <a:cxn ang="T8">
                  <a:pos x="T0" y="T1"/>
                </a:cxn>
                <a:cxn ang="T9">
                  <a:pos x="T2" y="T3"/>
                </a:cxn>
                <a:cxn ang="T10">
                  <a:pos x="T4" y="T5"/>
                </a:cxn>
                <a:cxn ang="T11">
                  <a:pos x="T6" y="T7"/>
                </a:cxn>
              </a:cxnLst>
              <a:rect l="T12" t="T13" r="T14" b="T15"/>
              <a:pathLst>
                <a:path w="35" h="19">
                  <a:moveTo>
                    <a:pt x="34" y="18"/>
                  </a:moveTo>
                  <a:lnTo>
                    <a:pt x="0" y="15"/>
                  </a:lnTo>
                  <a:lnTo>
                    <a:pt x="2" y="0"/>
                  </a:lnTo>
                  <a:lnTo>
                    <a:pt x="34"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6" name="Freeform 12">
              <a:extLst>
                <a:ext uri="{FF2B5EF4-FFF2-40B4-BE49-F238E27FC236}">
                  <a16:creationId xmlns:a16="http://schemas.microsoft.com/office/drawing/2014/main" id="{30E66399-8F5D-79AB-7BC0-7399C23D4593}"/>
                </a:ext>
              </a:extLst>
            </p:cNvPr>
            <p:cNvSpPr>
              <a:spLocks/>
            </p:cNvSpPr>
            <p:nvPr/>
          </p:nvSpPr>
          <p:spPr bwMode="auto">
            <a:xfrm>
              <a:off x="188" y="4643"/>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 name="T12" fmla="*/ 0 w 26"/>
                <a:gd name="T13" fmla="*/ 0 h 30"/>
                <a:gd name="T14" fmla="*/ 26 w 26"/>
                <a:gd name="T15" fmla="*/ 30 h 30"/>
              </a:gdLst>
              <a:ahLst/>
              <a:cxnLst>
                <a:cxn ang="T8">
                  <a:pos x="T0" y="T1"/>
                </a:cxn>
                <a:cxn ang="T9">
                  <a:pos x="T2" y="T3"/>
                </a:cxn>
                <a:cxn ang="T10">
                  <a:pos x="T4" y="T5"/>
                </a:cxn>
                <a:cxn ang="T11">
                  <a:pos x="T6" y="T7"/>
                </a:cxn>
              </a:cxnLst>
              <a:rect l="T12" t="T13" r="T14" b="T15"/>
              <a:pathLst>
                <a:path w="26" h="30">
                  <a:moveTo>
                    <a:pt x="0" y="0"/>
                  </a:moveTo>
                  <a:lnTo>
                    <a:pt x="15" y="29"/>
                  </a:lnTo>
                  <a:lnTo>
                    <a:pt x="25"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7" name="Freeform 13">
              <a:extLst>
                <a:ext uri="{FF2B5EF4-FFF2-40B4-BE49-F238E27FC236}">
                  <a16:creationId xmlns:a16="http://schemas.microsoft.com/office/drawing/2014/main" id="{3A42A079-B63E-521A-77A9-5C68F8D21EF1}"/>
                </a:ext>
              </a:extLst>
            </p:cNvPr>
            <p:cNvSpPr>
              <a:spLocks/>
            </p:cNvSpPr>
            <p:nvPr/>
          </p:nvSpPr>
          <p:spPr bwMode="auto">
            <a:xfrm>
              <a:off x="253" y="4645"/>
              <a:ext cx="28" cy="32"/>
            </a:xfrm>
            <a:custGeom>
              <a:avLst/>
              <a:gdLst>
                <a:gd name="T0" fmla="*/ 27 w 28"/>
                <a:gd name="T1" fmla="*/ 0 h 32"/>
                <a:gd name="T2" fmla="*/ 11 w 28"/>
                <a:gd name="T3" fmla="*/ 31 h 32"/>
                <a:gd name="T4" fmla="*/ 0 w 28"/>
                <a:gd name="T5" fmla="*/ 23 h 32"/>
                <a:gd name="T6" fmla="*/ 27 w 28"/>
                <a:gd name="T7" fmla="*/ 0 h 32"/>
                <a:gd name="T8" fmla="*/ 0 60000 65536"/>
                <a:gd name="T9" fmla="*/ 0 60000 65536"/>
                <a:gd name="T10" fmla="*/ 0 60000 65536"/>
                <a:gd name="T11" fmla="*/ 0 60000 65536"/>
                <a:gd name="T12" fmla="*/ 0 w 28"/>
                <a:gd name="T13" fmla="*/ 0 h 32"/>
                <a:gd name="T14" fmla="*/ 28 w 28"/>
                <a:gd name="T15" fmla="*/ 32 h 32"/>
              </a:gdLst>
              <a:ahLst/>
              <a:cxnLst>
                <a:cxn ang="T8">
                  <a:pos x="T0" y="T1"/>
                </a:cxn>
                <a:cxn ang="T9">
                  <a:pos x="T2" y="T3"/>
                </a:cxn>
                <a:cxn ang="T10">
                  <a:pos x="T4" y="T5"/>
                </a:cxn>
                <a:cxn ang="T11">
                  <a:pos x="T6" y="T7"/>
                </a:cxn>
              </a:cxnLst>
              <a:rect l="T12" t="T13" r="T14" b="T15"/>
              <a:pathLst>
                <a:path w="28" h="32">
                  <a:moveTo>
                    <a:pt x="27" y="0"/>
                  </a:moveTo>
                  <a:lnTo>
                    <a:pt x="11" y="31"/>
                  </a:lnTo>
                  <a:lnTo>
                    <a:pt x="0" y="23"/>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8" name="Freeform 14">
              <a:extLst>
                <a:ext uri="{FF2B5EF4-FFF2-40B4-BE49-F238E27FC236}">
                  <a16:creationId xmlns:a16="http://schemas.microsoft.com/office/drawing/2014/main" id="{265DD410-E22D-F1B1-8F92-2B310828DA89}"/>
                </a:ext>
              </a:extLst>
            </p:cNvPr>
            <p:cNvSpPr>
              <a:spLocks/>
            </p:cNvSpPr>
            <p:nvPr/>
          </p:nvSpPr>
          <p:spPr bwMode="auto">
            <a:xfrm>
              <a:off x="228" y="4634"/>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9" name="Freeform 15">
              <a:extLst>
                <a:ext uri="{FF2B5EF4-FFF2-40B4-BE49-F238E27FC236}">
                  <a16:creationId xmlns:a16="http://schemas.microsoft.com/office/drawing/2014/main" id="{ABAA3E8A-6E6B-B5D5-261F-2FB1F778DAAA}"/>
                </a:ext>
              </a:extLst>
            </p:cNvPr>
            <p:cNvSpPr>
              <a:spLocks/>
            </p:cNvSpPr>
            <p:nvPr/>
          </p:nvSpPr>
          <p:spPr bwMode="auto">
            <a:xfrm>
              <a:off x="202" y="4681"/>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115"/>
                <a:gd name="T65" fmla="*/ 68 w 68"/>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60" name="Freeform 16">
              <a:extLst>
                <a:ext uri="{FF2B5EF4-FFF2-40B4-BE49-F238E27FC236}">
                  <a16:creationId xmlns:a16="http://schemas.microsoft.com/office/drawing/2014/main" id="{8B59F60A-A90D-8C04-4925-FA497AFB236D}"/>
                </a:ext>
              </a:extLst>
            </p:cNvPr>
            <p:cNvSpPr>
              <a:spLocks/>
            </p:cNvSpPr>
            <p:nvPr/>
          </p:nvSpPr>
          <p:spPr bwMode="auto">
            <a:xfrm>
              <a:off x="230" y="4701"/>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120723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7F62B-51DA-9E01-A290-696DD7B0B7E1}"/>
            </a:ext>
          </a:extLst>
        </p:cNvPr>
        <p:cNvGrpSpPr/>
        <p:nvPr/>
      </p:nvGrpSpPr>
      <p:grpSpPr>
        <a:xfrm>
          <a:off x="0" y="0"/>
          <a:ext cx="0" cy="0"/>
          <a:chOff x="0" y="0"/>
          <a:chExt cx="0" cy="0"/>
        </a:xfrm>
      </p:grpSpPr>
      <p:sp>
        <p:nvSpPr>
          <p:cNvPr id="84994" name="Rectangle 2">
            <a:extLst>
              <a:ext uri="{FF2B5EF4-FFF2-40B4-BE49-F238E27FC236}">
                <a16:creationId xmlns:a16="http://schemas.microsoft.com/office/drawing/2014/main" id="{7BFA51B3-655E-6CE4-7D41-5DAFCEF967F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Disabling a Constraint</a:t>
            </a:r>
          </a:p>
          <a:p>
            <a:pPr marL="114300" lvl="1" defTabSz="401638"/>
            <a:r>
              <a:rPr lang="en-US" altLang="en-US">
                <a:latin typeface="Arial" panose="020B0604020202020204" pitchFamily="34" charset="0"/>
              </a:rPr>
              <a:t>You can disable a constraint without dropping it or recreating it by using the ALTER TABLE statement with the </a:t>
            </a:r>
            <a:r>
              <a:rPr lang="en-US" altLang="en-US">
                <a:solidFill>
                  <a:srgbClr val="FC0128"/>
                </a:solidFill>
                <a:latin typeface="Arial" panose="020B0604020202020204" pitchFamily="34" charset="0"/>
              </a:rPr>
              <a:t>DISABLE clause.</a:t>
            </a:r>
            <a:endParaRPr lang="en-US" altLang="en-US">
              <a:latin typeface="Arial" panose="020B0604020202020204" pitchFamily="34" charset="0"/>
            </a:endParaRP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defTabSz="401638">
              <a:spcBef>
                <a:spcPct val="65000"/>
              </a:spcBef>
            </a:pPr>
            <a:r>
              <a:rPr lang="en-US" altLang="en-US">
                <a:latin typeface="Arial" panose="020B0604020202020204" pitchFamily="34" charset="0"/>
              </a:rPr>
              <a:t>      </a:t>
            </a:r>
            <a:r>
              <a:rPr lang="en-US" altLang="en-US" b="1">
                <a:latin typeface="Courier New" panose="02070309020205020404" pitchFamily="49" charset="0"/>
              </a:rPr>
              <a:t>ALTER TABLE   </a:t>
            </a:r>
            <a:r>
              <a:rPr lang="en-US" altLang="en-US" b="1" i="1">
                <a:latin typeface="Courier New" panose="02070309020205020404" pitchFamily="49" charset="0"/>
              </a:rPr>
              <a:t>table</a:t>
            </a:r>
            <a:endParaRPr lang="en-US" altLang="en-US">
              <a:latin typeface="Arial" panose="020B0604020202020204" pitchFamily="34" charset="0"/>
            </a:endParaRPr>
          </a:p>
          <a:p>
            <a:pPr defTabSz="401638">
              <a:spcBef>
                <a:spcPct val="0"/>
              </a:spcBef>
            </a:pPr>
            <a:r>
              <a:rPr lang="en-US" altLang="en-US" b="1">
                <a:latin typeface="Courier New" panose="02070309020205020404" pitchFamily="49" charset="0"/>
              </a:rPr>
              <a:t>   DISABLE  CONSTRAINT </a:t>
            </a:r>
            <a:r>
              <a:rPr lang="en-US" altLang="en-US" b="1" i="1">
                <a:latin typeface="Courier New" panose="02070309020205020404" pitchFamily="49" charset="0"/>
              </a:rPr>
              <a:t>constraint</a:t>
            </a:r>
            <a:r>
              <a:rPr lang="en-US" altLang="en-US" b="1">
                <a:latin typeface="Courier New" panose="02070309020205020404" pitchFamily="49" charset="0"/>
              </a:rPr>
              <a:t> [CASCADE];</a:t>
            </a: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a:t>
            </a:r>
            <a:r>
              <a:rPr lang="en-US" altLang="en-US">
                <a:latin typeface="Arial" panose="020B0604020202020204" pitchFamily="34" charset="0"/>
              </a:rPr>
              <a:t>		is the name of the constraint</a:t>
            </a:r>
          </a:p>
          <a:p>
            <a:pPr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use the DISABLE clause in both the CREATE TABLE statement and the ALTER TABLE statement.</a:t>
            </a:r>
          </a:p>
          <a:p>
            <a:pPr marL="450850" lvl="2" indent="-217488" defTabSz="401638"/>
            <a:r>
              <a:rPr lang="en-US" altLang="en-US">
                <a:latin typeface="Arial" panose="020B0604020202020204" pitchFamily="34" charset="0"/>
              </a:rPr>
              <a:t>The CASCADE clause disables dependent integrity constraints.</a:t>
            </a: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The DISABLE option in the definition of an integrity constraint means that the Oracle Server does not enforce the constraint and simply documents it. Enable the constraint by using the ENABLE clause.</a:t>
            </a:r>
          </a:p>
          <a:p>
            <a:pPr marL="114300" lvl="1" defTabSz="401638"/>
            <a:r>
              <a:rPr lang="en-US" altLang="en-US">
                <a:solidFill>
                  <a:schemeClr val="accent2"/>
                </a:solidFill>
                <a:latin typeface="Arial" panose="020B0604020202020204" pitchFamily="34" charset="0"/>
              </a:rPr>
              <a:t>Oracle8i provides new options for the ENABLE and DISABLE clauses: VALIDATE and NONVALIDATE.</a:t>
            </a:r>
          </a:p>
        </p:txBody>
      </p:sp>
      <p:sp>
        <p:nvSpPr>
          <p:cNvPr id="84995" name="Rectangle 3">
            <a:extLst>
              <a:ext uri="{FF2B5EF4-FFF2-40B4-BE49-F238E27FC236}">
                <a16:creationId xmlns:a16="http://schemas.microsoft.com/office/drawing/2014/main" id="{EAC54B18-6FE6-F6E6-E539-E346BCF99D7C}"/>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84996" name="Rectangle 4">
            <a:extLst>
              <a:ext uri="{FF2B5EF4-FFF2-40B4-BE49-F238E27FC236}">
                <a16:creationId xmlns:a16="http://schemas.microsoft.com/office/drawing/2014/main" id="{57743770-3088-11A2-89CD-CA9056C7443E}"/>
              </a:ext>
            </a:extLst>
          </p:cNvPr>
          <p:cNvSpPr>
            <a:spLocks noChangeArrowheads="1"/>
          </p:cNvSpPr>
          <p:nvPr/>
        </p:nvSpPr>
        <p:spPr bwMode="auto">
          <a:xfrm>
            <a:off x="609600" y="5738813"/>
            <a:ext cx="5492750" cy="471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extLst>
      <p:ext uri="{BB962C8B-B14F-4D97-AF65-F5344CB8AC3E}">
        <p14:creationId xmlns:p14="http://schemas.microsoft.com/office/powerpoint/2010/main" val="2633458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D130C-4D92-9258-F511-10000389CA32}"/>
            </a:ext>
          </a:extLst>
        </p:cNvPr>
        <p:cNvGrpSpPr/>
        <p:nvPr/>
      </p:nvGrpSpPr>
      <p:grpSpPr>
        <a:xfrm>
          <a:off x="0" y="0"/>
          <a:ext cx="0" cy="0"/>
          <a:chOff x="0" y="0"/>
          <a:chExt cx="0" cy="0"/>
        </a:xfrm>
      </p:grpSpPr>
      <p:sp>
        <p:nvSpPr>
          <p:cNvPr id="87042" name="Rectangle 2">
            <a:extLst>
              <a:ext uri="{FF2B5EF4-FFF2-40B4-BE49-F238E27FC236}">
                <a16:creationId xmlns:a16="http://schemas.microsoft.com/office/drawing/2014/main" id="{65FFE981-BF8C-25FC-C6EA-05395368F99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Enabling a Constraint</a:t>
            </a:r>
          </a:p>
          <a:p>
            <a:pPr marL="114300" lvl="1" defTabSz="401638"/>
            <a:r>
              <a:rPr lang="en-US" altLang="en-US">
                <a:latin typeface="Arial" panose="020B0604020202020204" pitchFamily="34" charset="0"/>
              </a:rPr>
              <a:t>You can enable a constraint without dropping it or re-creating it by using the ALTER TABLE statement with the </a:t>
            </a:r>
            <a:r>
              <a:rPr lang="en-US" altLang="en-US">
                <a:solidFill>
                  <a:srgbClr val="FC0128"/>
                </a:solidFill>
                <a:latin typeface="Arial" panose="020B0604020202020204" pitchFamily="34" charset="0"/>
              </a:rPr>
              <a:t>ENABLE clause.</a:t>
            </a:r>
            <a:endParaRPr lang="en-US" altLang="en-US">
              <a:latin typeface="Arial" panose="020B0604020202020204" pitchFamily="34" charset="0"/>
            </a:endParaRP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defTabSz="401638">
              <a:spcBef>
                <a:spcPct val="65000"/>
              </a:spcBef>
            </a:pPr>
            <a:r>
              <a:rPr lang="en-US" altLang="en-US">
                <a:latin typeface="Arial" panose="020B0604020202020204" pitchFamily="34" charset="0"/>
              </a:rPr>
              <a:t>      </a:t>
            </a:r>
            <a:r>
              <a:rPr lang="en-US" altLang="en-US" b="1">
                <a:latin typeface="Courier New" panose="02070309020205020404" pitchFamily="49" charset="0"/>
              </a:rPr>
              <a:t>ALTER TABLE   </a:t>
            </a:r>
            <a:r>
              <a:rPr lang="en-US" altLang="en-US" b="1" i="1">
                <a:latin typeface="Courier New" panose="02070309020205020404" pitchFamily="49" charset="0"/>
              </a:rPr>
              <a:t>table</a:t>
            </a:r>
            <a:endParaRPr lang="en-US" altLang="en-US">
              <a:latin typeface="Courier New" panose="02070309020205020404" pitchFamily="49" charset="0"/>
            </a:endParaRPr>
          </a:p>
          <a:p>
            <a:pPr defTabSz="401638">
              <a:spcBef>
                <a:spcPct val="0"/>
              </a:spcBef>
            </a:pPr>
            <a:r>
              <a:rPr lang="en-US" altLang="en-US" b="1">
                <a:latin typeface="Courier New" panose="02070309020205020404" pitchFamily="49" charset="0"/>
              </a:rPr>
              <a:t>   ENABLE  CONSTRAINT </a:t>
            </a:r>
            <a:r>
              <a:rPr lang="en-US" altLang="en-US" b="1" i="1">
                <a:latin typeface="Courier New" panose="02070309020205020404" pitchFamily="49" charset="0"/>
              </a:rPr>
              <a:t>constraint</a:t>
            </a:r>
            <a:r>
              <a:rPr lang="en-US" altLang="en-US" b="1">
                <a:latin typeface="Courier New" panose="02070309020205020404" pitchFamily="49" charset="0"/>
              </a:rPr>
              <a:t>;</a:t>
            </a: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a:t>
            </a:r>
            <a:r>
              <a:rPr lang="en-US" altLang="en-US">
                <a:latin typeface="Arial" panose="020B0604020202020204" pitchFamily="34" charset="0"/>
              </a:rPr>
              <a:t>		is the name of the constraint</a:t>
            </a:r>
          </a:p>
          <a:p>
            <a:pPr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If you enable a constraint, that constraint applies to all the data in the table. All the data in the table must fit the constraint.</a:t>
            </a:r>
          </a:p>
          <a:p>
            <a:pPr marL="450850" lvl="2" indent="-217488" defTabSz="401638"/>
            <a:r>
              <a:rPr lang="en-US" altLang="en-US">
                <a:latin typeface="Arial" panose="020B0604020202020204" pitchFamily="34" charset="0"/>
              </a:rPr>
              <a:t>If you enable a UNIQUE key or PRIMARY KEY constraint, a UNIQUE or PRIMARY KEY index is automatically created.</a:t>
            </a:r>
          </a:p>
          <a:p>
            <a:pPr marL="450850" lvl="2" indent="-217488" defTabSz="401638"/>
            <a:r>
              <a:rPr lang="en-US" altLang="en-US">
                <a:latin typeface="Arial" panose="020B0604020202020204" pitchFamily="34" charset="0"/>
              </a:rPr>
              <a:t>You can use the ENABLE clause in both the CREATE TABLE statement and the ALTER TABLE statement.</a:t>
            </a:r>
          </a:p>
        </p:txBody>
      </p:sp>
      <p:sp>
        <p:nvSpPr>
          <p:cNvPr id="87043" name="Rectangle 3">
            <a:extLst>
              <a:ext uri="{FF2B5EF4-FFF2-40B4-BE49-F238E27FC236}">
                <a16:creationId xmlns:a16="http://schemas.microsoft.com/office/drawing/2014/main" id="{47CF8979-FE39-C3D4-F1C6-9CCD2FB0A275}"/>
              </a:ext>
            </a:extLst>
          </p:cNvPr>
          <p:cNvSpPr>
            <a:spLocks noGrp="1" noRot="1" noChangeAspect="1" noChangeArrowheads="1" noTextEdit="1"/>
          </p:cNvSpPr>
          <p:nvPr>
            <p:ph type="sldImg"/>
          </p:nvPr>
        </p:nvSpPr>
        <p:spPr>
          <a:xfrm>
            <a:off x="438150" y="160338"/>
            <a:ext cx="5976938" cy="4483100"/>
          </a:xfrm>
          <a:ln w="12700" cap="flat">
            <a:solidFill>
              <a:schemeClr val="tx1"/>
            </a:solidFill>
          </a:ln>
        </p:spPr>
      </p:sp>
      <p:sp>
        <p:nvSpPr>
          <p:cNvPr id="87044" name="Rectangle 4">
            <a:extLst>
              <a:ext uri="{FF2B5EF4-FFF2-40B4-BE49-F238E27FC236}">
                <a16:creationId xmlns:a16="http://schemas.microsoft.com/office/drawing/2014/main" id="{816D6558-33D8-9120-08A5-49964D898032}"/>
              </a:ext>
            </a:extLst>
          </p:cNvPr>
          <p:cNvSpPr>
            <a:spLocks noChangeArrowheads="1"/>
          </p:cNvSpPr>
          <p:nvPr/>
        </p:nvSpPr>
        <p:spPr bwMode="auto">
          <a:xfrm>
            <a:off x="609600" y="5738813"/>
            <a:ext cx="5492750" cy="471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extLst>
      <p:ext uri="{BB962C8B-B14F-4D97-AF65-F5344CB8AC3E}">
        <p14:creationId xmlns:p14="http://schemas.microsoft.com/office/powerpoint/2010/main" val="12421070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CB01D-6E18-0ED5-831D-859CA113E6C0}"/>
            </a:ext>
          </a:extLst>
        </p:cNvPr>
        <p:cNvGrpSpPr/>
        <p:nvPr/>
      </p:nvGrpSpPr>
      <p:grpSpPr>
        <a:xfrm>
          <a:off x="0" y="0"/>
          <a:ext cx="0" cy="0"/>
          <a:chOff x="0" y="0"/>
          <a:chExt cx="0" cy="0"/>
        </a:xfrm>
      </p:grpSpPr>
      <p:sp>
        <p:nvSpPr>
          <p:cNvPr id="89090" name="Rectangle 2">
            <a:extLst>
              <a:ext uri="{FF2B5EF4-FFF2-40B4-BE49-F238E27FC236}">
                <a16:creationId xmlns:a16="http://schemas.microsoft.com/office/drawing/2014/main" id="{531F6C0F-5940-3A39-067C-146B39899A2D}"/>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89091" name="Rectangle 3">
            <a:extLst>
              <a:ext uri="{FF2B5EF4-FFF2-40B4-BE49-F238E27FC236}">
                <a16:creationId xmlns:a16="http://schemas.microsoft.com/office/drawing/2014/main" id="{9558B506-B45D-D376-63D5-C01E684D60B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Renaming a Table</a:t>
            </a:r>
          </a:p>
          <a:p>
            <a:pPr marL="114300" lvl="1" defTabSz="382588"/>
            <a:r>
              <a:rPr lang="en-US" altLang="en-US">
                <a:latin typeface="Arial" panose="020B0604020202020204" pitchFamily="34" charset="0"/>
              </a:rPr>
              <a:t>Additional DDL statements include the </a:t>
            </a:r>
            <a:r>
              <a:rPr lang="en-US" altLang="en-US">
                <a:solidFill>
                  <a:srgbClr val="FC0128"/>
                </a:solidFill>
                <a:latin typeface="Arial" panose="020B0604020202020204" pitchFamily="34" charset="0"/>
              </a:rPr>
              <a:t>RENAME </a:t>
            </a:r>
            <a:r>
              <a:rPr lang="en-US" altLang="en-US">
                <a:latin typeface="Arial" panose="020B0604020202020204" pitchFamily="34" charset="0"/>
              </a:rPr>
              <a:t>statement, which is used to rename a table, view, sequence, or a synonym. </a:t>
            </a:r>
          </a:p>
          <a:p>
            <a:pPr marL="114300" lvl="1" defTabSz="382588"/>
            <a:r>
              <a:rPr lang="en-US" altLang="en-US" b="1">
                <a:latin typeface="Arial" panose="020B0604020202020204" pitchFamily="34" charset="0"/>
              </a:rPr>
              <a:t>Syntax</a:t>
            </a:r>
          </a:p>
          <a:p>
            <a:pPr marL="114300" lvl="1" defTabSz="382588"/>
            <a:r>
              <a:rPr lang="en-US" altLang="en-US">
                <a:latin typeface="Courier New" panose="02070309020205020404" pitchFamily="49" charset="0"/>
              </a:rPr>
              <a:t> RENAME    </a:t>
            </a:r>
            <a:r>
              <a:rPr lang="en-US" altLang="en-US" i="1">
                <a:latin typeface="Courier New" panose="02070309020205020404" pitchFamily="49" charset="0"/>
              </a:rPr>
              <a:t>old_name</a:t>
            </a:r>
            <a:r>
              <a:rPr lang="en-US" altLang="en-US">
                <a:latin typeface="Courier New" panose="02070309020205020404" pitchFamily="49" charset="0"/>
              </a:rPr>
              <a:t>  TO  </a:t>
            </a:r>
            <a:r>
              <a:rPr lang="en-US" altLang="en-US" i="1">
                <a:latin typeface="Courier New" panose="02070309020205020404" pitchFamily="49" charset="0"/>
              </a:rPr>
              <a:t>new_name;</a:t>
            </a:r>
            <a:endParaRPr lang="en-US" altLang="en-US">
              <a:latin typeface="Arial" panose="020B0604020202020204" pitchFamily="34" charset="0"/>
            </a:endParaRPr>
          </a:p>
          <a:p>
            <a:pPr marL="114300" lvl="1" defTabSz="38258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old_name	</a:t>
            </a:r>
            <a:r>
              <a:rPr lang="en-US" altLang="en-US">
                <a:latin typeface="Arial" panose="020B0604020202020204" pitchFamily="34" charset="0"/>
              </a:rPr>
              <a:t>		is the old name of the table, view, sequence, or synonym</a:t>
            </a:r>
          </a:p>
          <a:p>
            <a:pPr marL="114300" lvl="1" defTabSz="382588"/>
            <a:r>
              <a:rPr lang="en-US" altLang="en-US">
                <a:latin typeface="Arial" panose="020B0604020202020204" pitchFamily="34" charset="0"/>
              </a:rPr>
              <a:t>		</a:t>
            </a:r>
            <a:r>
              <a:rPr lang="en-US" altLang="en-US" i="1">
                <a:latin typeface="Arial" panose="020B0604020202020204" pitchFamily="34" charset="0"/>
              </a:rPr>
              <a:t>new_name	</a:t>
            </a:r>
            <a:r>
              <a:rPr lang="en-US" altLang="en-US">
                <a:latin typeface="Arial" panose="020B0604020202020204" pitchFamily="34" charset="0"/>
              </a:rPr>
              <a:t>		is the new name of the table, view, sequence, or synonym</a:t>
            </a:r>
          </a:p>
          <a:p>
            <a:pPr marL="114300" lvl="1" defTabSz="382588"/>
            <a:r>
              <a:rPr lang="en-US" altLang="en-US">
                <a:latin typeface="Arial" panose="020B0604020202020204" pitchFamily="34" charset="0"/>
              </a:rPr>
              <a:t>You must be the owner of the object that you rename.</a:t>
            </a:r>
          </a:p>
          <a:p>
            <a:pPr defTabSz="382588"/>
            <a:endParaRPr lang="en-US" altLang="en-US" b="1">
              <a:latin typeface="Times New Roman" panose="02020603050405020304" pitchFamily="18" charset="0"/>
            </a:endParaRPr>
          </a:p>
        </p:txBody>
      </p:sp>
      <p:sp>
        <p:nvSpPr>
          <p:cNvPr id="89092" name="Rectangle 4">
            <a:extLst>
              <a:ext uri="{FF2B5EF4-FFF2-40B4-BE49-F238E27FC236}">
                <a16:creationId xmlns:a16="http://schemas.microsoft.com/office/drawing/2014/main" id="{5C882D6E-F127-834B-CC4A-D8DAE295F47C}"/>
              </a:ext>
            </a:extLst>
          </p:cNvPr>
          <p:cNvSpPr>
            <a:spLocks noChangeArrowheads="1"/>
          </p:cNvSpPr>
          <p:nvPr/>
        </p:nvSpPr>
        <p:spPr bwMode="auto">
          <a:xfrm>
            <a:off x="619125" y="5715000"/>
            <a:ext cx="5494338" cy="2206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89093" name="Group 5">
            <a:extLst>
              <a:ext uri="{FF2B5EF4-FFF2-40B4-BE49-F238E27FC236}">
                <a16:creationId xmlns:a16="http://schemas.microsoft.com/office/drawing/2014/main" id="{1EBB4661-F6AC-4B29-C120-75BB1AA9B9A6}"/>
              </a:ext>
            </a:extLst>
          </p:cNvPr>
          <p:cNvGrpSpPr>
            <a:grpSpLocks/>
          </p:cNvGrpSpPr>
          <p:nvPr/>
        </p:nvGrpSpPr>
        <p:grpSpPr bwMode="auto">
          <a:xfrm>
            <a:off x="190500" y="6421438"/>
            <a:ext cx="285750" cy="296862"/>
            <a:chOff x="119" y="3972"/>
            <a:chExt cx="179" cy="183"/>
          </a:xfrm>
        </p:grpSpPr>
        <p:sp>
          <p:nvSpPr>
            <p:cNvPr id="89094" name="Freeform 6">
              <a:extLst>
                <a:ext uri="{FF2B5EF4-FFF2-40B4-BE49-F238E27FC236}">
                  <a16:creationId xmlns:a16="http://schemas.microsoft.com/office/drawing/2014/main" id="{417CC477-D97D-E7C3-3DC6-0EC6818CA485}"/>
                </a:ext>
              </a:extLst>
            </p:cNvPr>
            <p:cNvSpPr>
              <a:spLocks/>
            </p:cNvSpPr>
            <p:nvPr/>
          </p:nvSpPr>
          <p:spPr bwMode="auto">
            <a:xfrm>
              <a:off x="119" y="3972"/>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 name="T15" fmla="*/ 0 w 179"/>
                <a:gd name="T16" fmla="*/ 0 h 183"/>
                <a:gd name="T17" fmla="*/ 179 w 179"/>
                <a:gd name="T18" fmla="*/ 183 h 183"/>
              </a:gdLst>
              <a:ahLst/>
              <a:cxnLst>
                <a:cxn ang="T10">
                  <a:pos x="T0" y="T1"/>
                </a:cxn>
                <a:cxn ang="T11">
                  <a:pos x="T2" y="T3"/>
                </a:cxn>
                <a:cxn ang="T12">
                  <a:pos x="T4" y="T5"/>
                </a:cxn>
                <a:cxn ang="T13">
                  <a:pos x="T6" y="T7"/>
                </a:cxn>
                <a:cxn ang="T14">
                  <a:pos x="T8" y="T9"/>
                </a:cxn>
              </a:cxnLst>
              <a:rect l="T15" t="T16" r="T17" b="T18"/>
              <a:pathLst>
                <a:path w="179" h="183">
                  <a:moveTo>
                    <a:pt x="178" y="182"/>
                  </a:moveTo>
                  <a:lnTo>
                    <a:pt x="178" y="0"/>
                  </a:lnTo>
                  <a:lnTo>
                    <a:pt x="0" y="0"/>
                  </a:lnTo>
                  <a:lnTo>
                    <a:pt x="0" y="182"/>
                  </a:lnTo>
                  <a:lnTo>
                    <a:pt x="178"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5" name="Freeform 7">
              <a:extLst>
                <a:ext uri="{FF2B5EF4-FFF2-40B4-BE49-F238E27FC236}">
                  <a16:creationId xmlns:a16="http://schemas.microsoft.com/office/drawing/2014/main" id="{0EE35471-7CCA-3445-5BE5-364BCB4CD62F}"/>
                </a:ext>
              </a:extLst>
            </p:cNvPr>
            <p:cNvSpPr>
              <a:spLocks/>
            </p:cNvSpPr>
            <p:nvPr/>
          </p:nvSpPr>
          <p:spPr bwMode="auto">
            <a:xfrm>
              <a:off x="129" y="3978"/>
              <a:ext cx="163" cy="165"/>
            </a:xfrm>
            <a:custGeom>
              <a:avLst/>
              <a:gdLst>
                <a:gd name="T0" fmla="*/ 83 w 163"/>
                <a:gd name="T1" fmla="*/ 0 h 165"/>
                <a:gd name="T2" fmla="*/ 0 w 163"/>
                <a:gd name="T3" fmla="*/ 164 h 165"/>
                <a:gd name="T4" fmla="*/ 162 w 163"/>
                <a:gd name="T5" fmla="*/ 164 h 165"/>
                <a:gd name="T6" fmla="*/ 83 w 163"/>
                <a:gd name="T7" fmla="*/ 0 h 165"/>
                <a:gd name="T8" fmla="*/ 0 60000 65536"/>
                <a:gd name="T9" fmla="*/ 0 60000 65536"/>
                <a:gd name="T10" fmla="*/ 0 60000 65536"/>
                <a:gd name="T11" fmla="*/ 0 60000 65536"/>
                <a:gd name="T12" fmla="*/ 0 w 163"/>
                <a:gd name="T13" fmla="*/ 0 h 165"/>
                <a:gd name="T14" fmla="*/ 163 w 163"/>
                <a:gd name="T15" fmla="*/ 165 h 165"/>
              </a:gdLst>
              <a:ahLst/>
              <a:cxnLst>
                <a:cxn ang="T8">
                  <a:pos x="T0" y="T1"/>
                </a:cxn>
                <a:cxn ang="T9">
                  <a:pos x="T2" y="T3"/>
                </a:cxn>
                <a:cxn ang="T10">
                  <a:pos x="T4" y="T5"/>
                </a:cxn>
                <a:cxn ang="T11">
                  <a:pos x="T6" y="T7"/>
                </a:cxn>
              </a:cxnLst>
              <a:rect l="T12" t="T13" r="T14" b="T15"/>
              <a:pathLst>
                <a:path w="163" h="165">
                  <a:moveTo>
                    <a:pt x="83" y="0"/>
                  </a:moveTo>
                  <a:lnTo>
                    <a:pt x="0" y="164"/>
                  </a:lnTo>
                  <a:lnTo>
                    <a:pt x="162" y="164"/>
                  </a:lnTo>
                  <a:lnTo>
                    <a:pt x="8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6" name="Freeform 8">
              <a:extLst>
                <a:ext uri="{FF2B5EF4-FFF2-40B4-BE49-F238E27FC236}">
                  <a16:creationId xmlns:a16="http://schemas.microsoft.com/office/drawing/2014/main" id="{380A6C85-6DD1-BBB1-0D8C-D8A2814F1F4D}"/>
                </a:ext>
              </a:extLst>
            </p:cNvPr>
            <p:cNvSpPr>
              <a:spLocks/>
            </p:cNvSpPr>
            <p:nvPr/>
          </p:nvSpPr>
          <p:spPr bwMode="auto">
            <a:xfrm>
              <a:off x="148" y="399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7" name="Freeform 9">
              <a:extLst>
                <a:ext uri="{FF2B5EF4-FFF2-40B4-BE49-F238E27FC236}">
                  <a16:creationId xmlns:a16="http://schemas.microsoft.com/office/drawing/2014/main" id="{F554ADF5-FAFE-3DC5-BAEA-1C0748CF3E8A}"/>
                </a:ext>
              </a:extLst>
            </p:cNvPr>
            <p:cNvSpPr>
              <a:spLocks/>
            </p:cNvSpPr>
            <p:nvPr/>
          </p:nvSpPr>
          <p:spPr bwMode="auto">
            <a:xfrm>
              <a:off x="203" y="4109"/>
              <a:ext cx="20" cy="18"/>
            </a:xfrm>
            <a:custGeom>
              <a:avLst/>
              <a:gdLst>
                <a:gd name="T0" fmla="*/ 9 w 20"/>
                <a:gd name="T1" fmla="*/ 17 h 18"/>
                <a:gd name="T2" fmla="*/ 10 w 20"/>
                <a:gd name="T3" fmla="*/ 16 h 18"/>
                <a:gd name="T4" fmla="*/ 12 w 20"/>
                <a:gd name="T5" fmla="*/ 16 h 18"/>
                <a:gd name="T6" fmla="*/ 14 w 20"/>
                <a:gd name="T7" fmla="*/ 15 h 18"/>
                <a:gd name="T8" fmla="*/ 15 w 20"/>
                <a:gd name="T9" fmla="*/ 14 h 18"/>
                <a:gd name="T10" fmla="*/ 16 w 20"/>
                <a:gd name="T11" fmla="*/ 13 h 18"/>
                <a:gd name="T12" fmla="*/ 17 w 20"/>
                <a:gd name="T13" fmla="*/ 11 h 18"/>
                <a:gd name="T14" fmla="*/ 17 w 20"/>
                <a:gd name="T15" fmla="*/ 10 h 18"/>
                <a:gd name="T16" fmla="*/ 19 w 20"/>
                <a:gd name="T17" fmla="*/ 8 h 18"/>
                <a:gd name="T18" fmla="*/ 17 w 20"/>
                <a:gd name="T19" fmla="*/ 6 h 18"/>
                <a:gd name="T20" fmla="*/ 17 w 20"/>
                <a:gd name="T21" fmla="*/ 5 h 18"/>
                <a:gd name="T22" fmla="*/ 16 w 20"/>
                <a:gd name="T23" fmla="*/ 3 h 18"/>
                <a:gd name="T24" fmla="*/ 15 w 20"/>
                <a:gd name="T25" fmla="*/ 2 h 18"/>
                <a:gd name="T26" fmla="*/ 14 w 20"/>
                <a:gd name="T27" fmla="*/ 1 h 18"/>
                <a:gd name="T28" fmla="*/ 12 w 20"/>
                <a:gd name="T29" fmla="*/ 0 h 18"/>
                <a:gd name="T30" fmla="*/ 10 w 20"/>
                <a:gd name="T31" fmla="*/ 0 h 18"/>
                <a:gd name="T32" fmla="*/ 9 w 20"/>
                <a:gd name="T33" fmla="*/ 0 h 18"/>
                <a:gd name="T34" fmla="*/ 7 w 20"/>
                <a:gd name="T35" fmla="*/ 0 h 18"/>
                <a:gd name="T36" fmla="*/ 5 w 20"/>
                <a:gd name="T37" fmla="*/ 0 h 18"/>
                <a:gd name="T38" fmla="*/ 4 w 20"/>
                <a:gd name="T39" fmla="*/ 1 h 18"/>
                <a:gd name="T40" fmla="*/ 2 w 20"/>
                <a:gd name="T41" fmla="*/ 2 h 18"/>
                <a:gd name="T42" fmla="*/ 1 w 20"/>
                <a:gd name="T43" fmla="*/ 3 h 18"/>
                <a:gd name="T44" fmla="*/ 1 w 20"/>
                <a:gd name="T45" fmla="*/ 5 h 18"/>
                <a:gd name="T46" fmla="*/ 0 w 20"/>
                <a:gd name="T47" fmla="*/ 6 h 18"/>
                <a:gd name="T48" fmla="*/ 0 w 20"/>
                <a:gd name="T49" fmla="*/ 8 h 18"/>
                <a:gd name="T50" fmla="*/ 0 w 20"/>
                <a:gd name="T51" fmla="*/ 10 h 18"/>
                <a:gd name="T52" fmla="*/ 1 w 20"/>
                <a:gd name="T53" fmla="*/ 11 h 18"/>
                <a:gd name="T54" fmla="*/ 1 w 20"/>
                <a:gd name="T55" fmla="*/ 13 h 18"/>
                <a:gd name="T56" fmla="*/ 2 w 20"/>
                <a:gd name="T57" fmla="*/ 14 h 18"/>
                <a:gd name="T58" fmla="*/ 4 w 20"/>
                <a:gd name="T59" fmla="*/ 15 h 18"/>
                <a:gd name="T60" fmla="*/ 5 w 20"/>
                <a:gd name="T61" fmla="*/ 16 h 18"/>
                <a:gd name="T62" fmla="*/ 7 w 20"/>
                <a:gd name="T63" fmla="*/ 16 h 18"/>
                <a:gd name="T64" fmla="*/ 9 w 20"/>
                <a:gd name="T65" fmla="*/ 17 h 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8"/>
                <a:gd name="T101" fmla="*/ 20 w 20"/>
                <a:gd name="T102" fmla="*/ 18 h 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8">
                  <a:moveTo>
                    <a:pt x="9" y="17"/>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8" name="Freeform 10">
              <a:extLst>
                <a:ext uri="{FF2B5EF4-FFF2-40B4-BE49-F238E27FC236}">
                  <a16:creationId xmlns:a16="http://schemas.microsoft.com/office/drawing/2014/main" id="{DDFF63A8-D491-C812-1490-D45543AB1BC6}"/>
                </a:ext>
              </a:extLst>
            </p:cNvPr>
            <p:cNvSpPr>
              <a:spLocks/>
            </p:cNvSpPr>
            <p:nvPr/>
          </p:nvSpPr>
          <p:spPr bwMode="auto">
            <a:xfrm>
              <a:off x="203" y="4027"/>
              <a:ext cx="19" cy="79"/>
            </a:xfrm>
            <a:custGeom>
              <a:avLst/>
              <a:gdLst>
                <a:gd name="T0" fmla="*/ 10 w 19"/>
                <a:gd name="T1" fmla="*/ 0 h 79"/>
                <a:gd name="T2" fmla="*/ 11 w 19"/>
                <a:gd name="T3" fmla="*/ 0 h 79"/>
                <a:gd name="T4" fmla="*/ 13 w 19"/>
                <a:gd name="T5" fmla="*/ 0 h 79"/>
                <a:gd name="T6" fmla="*/ 15 w 19"/>
                <a:gd name="T7" fmla="*/ 1 h 79"/>
                <a:gd name="T8" fmla="*/ 17 w 19"/>
                <a:gd name="T9" fmla="*/ 6 h 79"/>
                <a:gd name="T10" fmla="*/ 18 w 19"/>
                <a:gd name="T11" fmla="*/ 14 h 79"/>
                <a:gd name="T12" fmla="*/ 18 w 19"/>
                <a:gd name="T13" fmla="*/ 28 h 79"/>
                <a:gd name="T14" fmla="*/ 15 w 19"/>
                <a:gd name="T15" fmla="*/ 49 h 79"/>
                <a:gd name="T16" fmla="*/ 10 w 19"/>
                <a:gd name="T17" fmla="*/ 78 h 79"/>
                <a:gd name="T18" fmla="*/ 5 w 19"/>
                <a:gd name="T19" fmla="*/ 62 h 79"/>
                <a:gd name="T20" fmla="*/ 2 w 19"/>
                <a:gd name="T21" fmla="*/ 47 h 79"/>
                <a:gd name="T22" fmla="*/ 0 w 19"/>
                <a:gd name="T23" fmla="*/ 33 h 79"/>
                <a:gd name="T24" fmla="*/ 0 w 19"/>
                <a:gd name="T25" fmla="*/ 21 h 79"/>
                <a:gd name="T26" fmla="*/ 1 w 19"/>
                <a:gd name="T27" fmla="*/ 10 h 79"/>
                <a:gd name="T28" fmla="*/ 4 w 19"/>
                <a:gd name="T29" fmla="*/ 3 h 79"/>
                <a:gd name="T30" fmla="*/ 7 w 19"/>
                <a:gd name="T31" fmla="*/ 0 h 79"/>
                <a:gd name="T32" fmla="*/ 10 w 19"/>
                <a:gd name="T33" fmla="*/ 0 h 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79"/>
                <a:gd name="T53" fmla="*/ 19 w 19"/>
                <a:gd name="T54" fmla="*/ 79 h 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79">
                  <a:moveTo>
                    <a:pt x="10" y="0"/>
                  </a:moveTo>
                  <a:lnTo>
                    <a:pt x="11" y="0"/>
                  </a:lnTo>
                  <a:lnTo>
                    <a:pt x="13" y="0"/>
                  </a:lnTo>
                  <a:lnTo>
                    <a:pt x="15" y="1"/>
                  </a:lnTo>
                  <a:lnTo>
                    <a:pt x="17" y="6"/>
                  </a:lnTo>
                  <a:lnTo>
                    <a:pt x="18" y="14"/>
                  </a:lnTo>
                  <a:lnTo>
                    <a:pt x="18" y="28"/>
                  </a:lnTo>
                  <a:lnTo>
                    <a:pt x="15" y="49"/>
                  </a:lnTo>
                  <a:lnTo>
                    <a:pt x="10" y="78"/>
                  </a:lnTo>
                  <a:lnTo>
                    <a:pt x="5" y="62"/>
                  </a:lnTo>
                  <a:lnTo>
                    <a:pt x="2" y="47"/>
                  </a:lnTo>
                  <a:lnTo>
                    <a:pt x="0" y="33"/>
                  </a:lnTo>
                  <a:lnTo>
                    <a:pt x="0" y="21"/>
                  </a:lnTo>
                  <a:lnTo>
                    <a:pt x="1" y="10"/>
                  </a:lnTo>
                  <a:lnTo>
                    <a:pt x="4" y="3"/>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1070252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FE41-BF3F-39A5-5031-51201FC53B42}"/>
            </a:ext>
          </a:extLst>
        </p:cNvPr>
        <p:cNvGrpSpPr/>
        <p:nvPr/>
      </p:nvGrpSpPr>
      <p:grpSpPr>
        <a:xfrm>
          <a:off x="0" y="0"/>
          <a:ext cx="0" cy="0"/>
          <a:chOff x="0" y="0"/>
          <a:chExt cx="0" cy="0"/>
        </a:xfrm>
      </p:grpSpPr>
      <p:sp>
        <p:nvSpPr>
          <p:cNvPr id="91138" name="Rectangle 2">
            <a:extLst>
              <a:ext uri="{FF2B5EF4-FFF2-40B4-BE49-F238E27FC236}">
                <a16:creationId xmlns:a16="http://schemas.microsoft.com/office/drawing/2014/main" id="{90CD8A3E-11FE-E6B1-ED75-768CB5A1A8F4}"/>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91139" name="Rectangle 3">
            <a:extLst>
              <a:ext uri="{FF2B5EF4-FFF2-40B4-BE49-F238E27FC236}">
                <a16:creationId xmlns:a16="http://schemas.microsoft.com/office/drawing/2014/main" id="{42AD7DDB-6D41-90E8-E97C-1584062D90A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Dropping a Table</a:t>
            </a:r>
          </a:p>
          <a:p>
            <a:pPr marL="114300" lvl="1" defTabSz="382588"/>
            <a:r>
              <a:rPr lang="en-US" altLang="en-US">
                <a:latin typeface="Arial" panose="020B0604020202020204" pitchFamily="34" charset="0"/>
              </a:rPr>
              <a:t>The </a:t>
            </a:r>
            <a:r>
              <a:rPr lang="en-US" altLang="en-US">
                <a:solidFill>
                  <a:srgbClr val="FC0128"/>
                </a:solidFill>
                <a:latin typeface="Arial" panose="020B0604020202020204" pitchFamily="34" charset="0"/>
              </a:rPr>
              <a:t>DROP TABLE </a:t>
            </a:r>
            <a:r>
              <a:rPr lang="en-US" altLang="en-US">
                <a:latin typeface="Arial" panose="020B0604020202020204" pitchFamily="34" charset="0"/>
              </a:rPr>
              <a:t>statement removes the definition of an Oracle8 table. When you drop a table, the database loses all the data in the table and all the indexes associated with it. </a:t>
            </a:r>
          </a:p>
          <a:p>
            <a:pPr marL="114300" lvl="1" defTabSz="382588"/>
            <a:r>
              <a:rPr lang="en-US" altLang="en-US" b="1">
                <a:latin typeface="Arial" panose="020B0604020202020204" pitchFamily="34" charset="0"/>
              </a:rPr>
              <a:t>Syntax</a:t>
            </a:r>
          </a:p>
          <a:p>
            <a:pPr defTabSz="382588"/>
            <a:endParaRPr lang="en-US" altLang="en-US">
              <a:latin typeface="Arial" panose="020B0604020202020204" pitchFamily="34" charset="0"/>
            </a:endParaRPr>
          </a:p>
          <a:p>
            <a:pPr marL="114300" lvl="1" defTabSz="382588"/>
            <a:r>
              <a:rPr lang="en-US" altLang="en-US" b="1">
                <a:latin typeface="Arial" panose="020B0604020202020204" pitchFamily="34" charset="0"/>
              </a:rPr>
              <a:t>where:</a:t>
            </a:r>
            <a:r>
              <a:rPr lang="en-US" altLang="en-US" i="1">
                <a:latin typeface="Arial" panose="020B0604020202020204" pitchFamily="34" charset="0"/>
              </a:rPr>
              <a:t>	table</a:t>
            </a:r>
            <a:r>
              <a:rPr lang="en-US" altLang="en-US">
                <a:latin typeface="Arial" panose="020B0604020202020204" pitchFamily="34" charset="0"/>
              </a:rPr>
              <a:t>			is the name of the table</a:t>
            </a:r>
          </a:p>
          <a:p>
            <a:pPr defTabSz="382588"/>
            <a:r>
              <a:rPr lang="en-US" altLang="en-US">
                <a:latin typeface="Arial" panose="020B0604020202020204" pitchFamily="34" charset="0"/>
              </a:rPr>
              <a:t>Guidelines</a:t>
            </a:r>
          </a:p>
          <a:p>
            <a:pPr marL="439738" lvl="2" indent="-211138" defTabSz="382588"/>
            <a:r>
              <a:rPr lang="en-US" altLang="en-US">
                <a:latin typeface="Arial" panose="020B0604020202020204" pitchFamily="34" charset="0"/>
              </a:rPr>
              <a:t>All data is deleted from the table.</a:t>
            </a:r>
          </a:p>
          <a:p>
            <a:pPr marL="439738" lvl="2" indent="-211138" defTabSz="382588"/>
            <a:r>
              <a:rPr lang="en-US" altLang="en-US">
                <a:latin typeface="Arial" panose="020B0604020202020204" pitchFamily="34" charset="0"/>
              </a:rPr>
              <a:t>Any views and synonyms will remain but are invalid.</a:t>
            </a:r>
          </a:p>
          <a:p>
            <a:pPr marL="439738" lvl="2" indent="-211138" defTabSz="382588"/>
            <a:r>
              <a:rPr lang="en-US" altLang="en-US">
                <a:latin typeface="Arial" panose="020B0604020202020204" pitchFamily="34" charset="0"/>
              </a:rPr>
              <a:t>Any pending transactions are committed.</a:t>
            </a:r>
          </a:p>
          <a:p>
            <a:pPr marL="439738" lvl="2" indent="-211138" defTabSz="382588"/>
            <a:r>
              <a:rPr lang="en-US" altLang="en-US">
                <a:latin typeface="Arial" panose="020B0604020202020204" pitchFamily="34" charset="0"/>
              </a:rPr>
              <a:t>Only the creator of the table or a user with the DROP ANY TABLE privilege can remove a table.</a:t>
            </a:r>
          </a:p>
          <a:p>
            <a:pPr marL="114300" lvl="1" defTabSz="382588"/>
            <a:r>
              <a:rPr lang="en-US" altLang="en-US">
                <a:latin typeface="Arial" panose="020B0604020202020204" pitchFamily="34" charset="0"/>
              </a:rPr>
              <a:t>The DROP TABLE statement, once executed, is irreversible. The Oracle Server does not question the action when you issue the DROP TABLE statement. If you own that table or have a high-level privilege, then the table is immediately removed. All DDL statements issue a commit, therefore making the transaction permanent.</a:t>
            </a:r>
          </a:p>
        </p:txBody>
      </p:sp>
      <p:sp>
        <p:nvSpPr>
          <p:cNvPr id="91140" name="Rectangle 4">
            <a:extLst>
              <a:ext uri="{FF2B5EF4-FFF2-40B4-BE49-F238E27FC236}">
                <a16:creationId xmlns:a16="http://schemas.microsoft.com/office/drawing/2014/main" id="{61511BB0-47C8-712E-E0BD-6386ECA04C6F}"/>
              </a:ext>
            </a:extLst>
          </p:cNvPr>
          <p:cNvSpPr>
            <a:spLocks noChangeArrowheads="1"/>
          </p:cNvSpPr>
          <p:nvPr/>
        </p:nvSpPr>
        <p:spPr bwMode="auto">
          <a:xfrm>
            <a:off x="623888" y="5715000"/>
            <a:ext cx="5567362" cy="19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1141" name="Rectangle 5">
            <a:extLst>
              <a:ext uri="{FF2B5EF4-FFF2-40B4-BE49-F238E27FC236}">
                <a16:creationId xmlns:a16="http://schemas.microsoft.com/office/drawing/2014/main" id="{50AE4C01-2965-EDE9-B43C-F7CCD2F7A2BC}"/>
              </a:ext>
            </a:extLst>
          </p:cNvPr>
          <p:cNvSpPr>
            <a:spLocks noChangeArrowheads="1"/>
          </p:cNvSpPr>
          <p:nvPr/>
        </p:nvSpPr>
        <p:spPr bwMode="auto">
          <a:xfrm>
            <a:off x="657225" y="5673725"/>
            <a:ext cx="16129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lnSpc>
                <a:spcPct val="120000"/>
              </a:lnSpc>
              <a:spcBef>
                <a:spcPct val="60000"/>
              </a:spcBef>
            </a:pPr>
            <a:r>
              <a:rPr lang="en-US" altLang="en-US" sz="1100">
                <a:latin typeface="Courier New" panose="02070309020205020404" pitchFamily="49" charset="0"/>
              </a:rPr>
              <a:t>DROP TABLE </a:t>
            </a:r>
            <a:r>
              <a:rPr lang="en-US" altLang="en-US" sz="1100" i="1">
                <a:latin typeface="Courier New" panose="02070309020205020404" pitchFamily="49" charset="0"/>
              </a:rPr>
              <a:t>table;</a:t>
            </a:r>
          </a:p>
        </p:txBody>
      </p:sp>
      <p:grpSp>
        <p:nvGrpSpPr>
          <p:cNvPr id="91142" name="Group 6">
            <a:extLst>
              <a:ext uri="{FF2B5EF4-FFF2-40B4-BE49-F238E27FC236}">
                <a16:creationId xmlns:a16="http://schemas.microsoft.com/office/drawing/2014/main" id="{AE50F8E2-9848-A26D-5F4F-815B4E5EEF4E}"/>
              </a:ext>
            </a:extLst>
          </p:cNvPr>
          <p:cNvGrpSpPr>
            <a:grpSpLocks/>
          </p:cNvGrpSpPr>
          <p:nvPr/>
        </p:nvGrpSpPr>
        <p:grpSpPr bwMode="auto">
          <a:xfrm>
            <a:off x="215900" y="7493000"/>
            <a:ext cx="287338" cy="298450"/>
            <a:chOff x="135" y="4635"/>
            <a:chExt cx="180" cy="184"/>
          </a:xfrm>
        </p:grpSpPr>
        <p:sp>
          <p:nvSpPr>
            <p:cNvPr id="91143" name="Freeform 7">
              <a:extLst>
                <a:ext uri="{FF2B5EF4-FFF2-40B4-BE49-F238E27FC236}">
                  <a16:creationId xmlns:a16="http://schemas.microsoft.com/office/drawing/2014/main" id="{4FDF076D-7D48-9670-00F1-6A26764E3933}"/>
                </a:ext>
              </a:extLst>
            </p:cNvPr>
            <p:cNvSpPr>
              <a:spLocks/>
            </p:cNvSpPr>
            <p:nvPr/>
          </p:nvSpPr>
          <p:spPr bwMode="auto">
            <a:xfrm>
              <a:off x="135" y="4635"/>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4" name="Freeform 8">
              <a:extLst>
                <a:ext uri="{FF2B5EF4-FFF2-40B4-BE49-F238E27FC236}">
                  <a16:creationId xmlns:a16="http://schemas.microsoft.com/office/drawing/2014/main" id="{15897E5D-9D09-E3E1-F32E-F8B77A677324}"/>
                </a:ext>
              </a:extLst>
            </p:cNvPr>
            <p:cNvSpPr>
              <a:spLocks/>
            </p:cNvSpPr>
            <p:nvPr/>
          </p:nvSpPr>
          <p:spPr bwMode="auto">
            <a:xfrm>
              <a:off x="145" y="4644"/>
              <a:ext cx="163" cy="162"/>
            </a:xfrm>
            <a:custGeom>
              <a:avLst/>
              <a:gdLst>
                <a:gd name="T0" fmla="*/ 83 w 163"/>
                <a:gd name="T1" fmla="*/ 0 h 162"/>
                <a:gd name="T2" fmla="*/ 0 w 163"/>
                <a:gd name="T3" fmla="*/ 161 h 162"/>
                <a:gd name="T4" fmla="*/ 162 w 163"/>
                <a:gd name="T5" fmla="*/ 161 h 162"/>
                <a:gd name="T6" fmla="*/ 83 w 163"/>
                <a:gd name="T7" fmla="*/ 0 h 162"/>
                <a:gd name="T8" fmla="*/ 0 60000 65536"/>
                <a:gd name="T9" fmla="*/ 0 60000 65536"/>
                <a:gd name="T10" fmla="*/ 0 60000 65536"/>
                <a:gd name="T11" fmla="*/ 0 60000 65536"/>
                <a:gd name="T12" fmla="*/ 0 w 163"/>
                <a:gd name="T13" fmla="*/ 0 h 162"/>
                <a:gd name="T14" fmla="*/ 163 w 163"/>
                <a:gd name="T15" fmla="*/ 162 h 162"/>
              </a:gdLst>
              <a:ahLst/>
              <a:cxnLst>
                <a:cxn ang="T8">
                  <a:pos x="T0" y="T1"/>
                </a:cxn>
                <a:cxn ang="T9">
                  <a:pos x="T2" y="T3"/>
                </a:cxn>
                <a:cxn ang="T10">
                  <a:pos x="T4" y="T5"/>
                </a:cxn>
                <a:cxn ang="T11">
                  <a:pos x="T6" y="T7"/>
                </a:cxn>
              </a:cxnLst>
              <a:rect l="T12" t="T13" r="T14" b="T15"/>
              <a:pathLst>
                <a:path w="163" h="162">
                  <a:moveTo>
                    <a:pt x="83" y="0"/>
                  </a:moveTo>
                  <a:lnTo>
                    <a:pt x="0" y="161"/>
                  </a:lnTo>
                  <a:lnTo>
                    <a:pt x="162" y="161"/>
                  </a:lnTo>
                  <a:lnTo>
                    <a:pt x="8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5" name="Freeform 9">
              <a:extLst>
                <a:ext uri="{FF2B5EF4-FFF2-40B4-BE49-F238E27FC236}">
                  <a16:creationId xmlns:a16="http://schemas.microsoft.com/office/drawing/2014/main" id="{135734D1-DDD1-60D9-E344-E7ED939F7DBC}"/>
                </a:ext>
              </a:extLst>
            </p:cNvPr>
            <p:cNvSpPr>
              <a:spLocks/>
            </p:cNvSpPr>
            <p:nvPr/>
          </p:nvSpPr>
          <p:spPr bwMode="auto">
            <a:xfrm>
              <a:off x="163" y="4661"/>
              <a:ext cx="133" cy="134"/>
            </a:xfrm>
            <a:custGeom>
              <a:avLst/>
              <a:gdLst>
                <a:gd name="T0" fmla="*/ 65 w 133"/>
                <a:gd name="T1" fmla="*/ 0 h 134"/>
                <a:gd name="T2" fmla="*/ 0 w 133"/>
                <a:gd name="T3" fmla="*/ 133 h 134"/>
                <a:gd name="T4" fmla="*/ 132 w 133"/>
                <a:gd name="T5" fmla="*/ 133 h 134"/>
                <a:gd name="T6" fmla="*/ 65 w 133"/>
                <a:gd name="T7" fmla="*/ 0 h 134"/>
                <a:gd name="T8" fmla="*/ 0 60000 65536"/>
                <a:gd name="T9" fmla="*/ 0 60000 65536"/>
                <a:gd name="T10" fmla="*/ 0 60000 65536"/>
                <a:gd name="T11" fmla="*/ 0 60000 65536"/>
                <a:gd name="T12" fmla="*/ 0 w 133"/>
                <a:gd name="T13" fmla="*/ 0 h 134"/>
                <a:gd name="T14" fmla="*/ 133 w 133"/>
                <a:gd name="T15" fmla="*/ 134 h 134"/>
              </a:gdLst>
              <a:ahLst/>
              <a:cxnLst>
                <a:cxn ang="T8">
                  <a:pos x="T0" y="T1"/>
                </a:cxn>
                <a:cxn ang="T9">
                  <a:pos x="T2" y="T3"/>
                </a:cxn>
                <a:cxn ang="T10">
                  <a:pos x="T4" y="T5"/>
                </a:cxn>
                <a:cxn ang="T11">
                  <a:pos x="T6" y="T7"/>
                </a:cxn>
              </a:cxnLst>
              <a:rect l="T12" t="T13" r="T14" b="T15"/>
              <a:pathLst>
                <a:path w="133" h="134">
                  <a:moveTo>
                    <a:pt x="65" y="0"/>
                  </a:moveTo>
                  <a:lnTo>
                    <a:pt x="0" y="133"/>
                  </a:lnTo>
                  <a:lnTo>
                    <a:pt x="132" y="133"/>
                  </a:lnTo>
                  <a:lnTo>
                    <a:pt x="65"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6" name="Freeform 10">
              <a:extLst>
                <a:ext uri="{FF2B5EF4-FFF2-40B4-BE49-F238E27FC236}">
                  <a16:creationId xmlns:a16="http://schemas.microsoft.com/office/drawing/2014/main" id="{8F5AB8A8-36F5-2FA0-E120-BD287F88E1AF}"/>
                </a:ext>
              </a:extLst>
            </p:cNvPr>
            <p:cNvSpPr>
              <a:spLocks/>
            </p:cNvSpPr>
            <p:nvPr/>
          </p:nvSpPr>
          <p:spPr bwMode="auto">
            <a:xfrm>
              <a:off x="219" y="4773"/>
              <a:ext cx="19" cy="18"/>
            </a:xfrm>
            <a:custGeom>
              <a:avLst/>
              <a:gdLst>
                <a:gd name="T0" fmla="*/ 9 w 19"/>
                <a:gd name="T1" fmla="*/ 17 h 18"/>
                <a:gd name="T2" fmla="*/ 10 w 19"/>
                <a:gd name="T3" fmla="*/ 16 h 18"/>
                <a:gd name="T4" fmla="*/ 12 w 19"/>
                <a:gd name="T5" fmla="*/ 16 h 18"/>
                <a:gd name="T6" fmla="*/ 14 w 19"/>
                <a:gd name="T7" fmla="*/ 15 h 18"/>
                <a:gd name="T8" fmla="*/ 15 w 19"/>
                <a:gd name="T9" fmla="*/ 14 h 18"/>
                <a:gd name="T10" fmla="*/ 16 w 19"/>
                <a:gd name="T11" fmla="*/ 13 h 18"/>
                <a:gd name="T12" fmla="*/ 17 w 19"/>
                <a:gd name="T13" fmla="*/ 11 h 18"/>
                <a:gd name="T14" fmla="*/ 17 w 19"/>
                <a:gd name="T15" fmla="*/ 10 h 18"/>
                <a:gd name="T16" fmla="*/ 18 w 19"/>
                <a:gd name="T17" fmla="*/ 8 h 18"/>
                <a:gd name="T18" fmla="*/ 17 w 19"/>
                <a:gd name="T19" fmla="*/ 6 h 18"/>
                <a:gd name="T20" fmla="*/ 17 w 19"/>
                <a:gd name="T21" fmla="*/ 5 h 18"/>
                <a:gd name="T22" fmla="*/ 16 w 19"/>
                <a:gd name="T23" fmla="*/ 3 h 18"/>
                <a:gd name="T24" fmla="*/ 15 w 19"/>
                <a:gd name="T25" fmla="*/ 2 h 18"/>
                <a:gd name="T26" fmla="*/ 14 w 19"/>
                <a:gd name="T27" fmla="*/ 1 h 18"/>
                <a:gd name="T28" fmla="*/ 12 w 19"/>
                <a:gd name="T29" fmla="*/ 0 h 18"/>
                <a:gd name="T30" fmla="*/ 10 w 19"/>
                <a:gd name="T31" fmla="*/ 0 h 18"/>
                <a:gd name="T32" fmla="*/ 9 w 19"/>
                <a:gd name="T33" fmla="*/ 0 h 18"/>
                <a:gd name="T34" fmla="*/ 7 w 19"/>
                <a:gd name="T35" fmla="*/ 0 h 18"/>
                <a:gd name="T36" fmla="*/ 5 w 19"/>
                <a:gd name="T37" fmla="*/ 0 h 18"/>
                <a:gd name="T38" fmla="*/ 4 w 19"/>
                <a:gd name="T39" fmla="*/ 1 h 18"/>
                <a:gd name="T40" fmla="*/ 2 w 19"/>
                <a:gd name="T41" fmla="*/ 2 h 18"/>
                <a:gd name="T42" fmla="*/ 1 w 19"/>
                <a:gd name="T43" fmla="*/ 3 h 18"/>
                <a:gd name="T44" fmla="*/ 1 w 19"/>
                <a:gd name="T45" fmla="*/ 5 h 18"/>
                <a:gd name="T46" fmla="*/ 0 w 19"/>
                <a:gd name="T47" fmla="*/ 6 h 18"/>
                <a:gd name="T48" fmla="*/ 0 w 19"/>
                <a:gd name="T49" fmla="*/ 8 h 18"/>
                <a:gd name="T50" fmla="*/ 0 w 19"/>
                <a:gd name="T51" fmla="*/ 10 h 18"/>
                <a:gd name="T52" fmla="*/ 1 w 19"/>
                <a:gd name="T53" fmla="*/ 11 h 18"/>
                <a:gd name="T54" fmla="*/ 1 w 19"/>
                <a:gd name="T55" fmla="*/ 13 h 18"/>
                <a:gd name="T56" fmla="*/ 2 w 19"/>
                <a:gd name="T57" fmla="*/ 14 h 18"/>
                <a:gd name="T58" fmla="*/ 4 w 19"/>
                <a:gd name="T59" fmla="*/ 15 h 18"/>
                <a:gd name="T60" fmla="*/ 5 w 19"/>
                <a:gd name="T61" fmla="*/ 16 h 18"/>
                <a:gd name="T62" fmla="*/ 7 w 19"/>
                <a:gd name="T63" fmla="*/ 16 h 18"/>
                <a:gd name="T64" fmla="*/ 9 w 19"/>
                <a:gd name="T65" fmla="*/ 17 h 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
                <a:gd name="T100" fmla="*/ 0 h 18"/>
                <a:gd name="T101" fmla="*/ 19 w 19"/>
                <a:gd name="T102" fmla="*/ 18 h 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 h="18">
                  <a:moveTo>
                    <a:pt x="9" y="17"/>
                  </a:moveTo>
                  <a:lnTo>
                    <a:pt x="10" y="16"/>
                  </a:lnTo>
                  <a:lnTo>
                    <a:pt x="12" y="16"/>
                  </a:lnTo>
                  <a:lnTo>
                    <a:pt x="14" y="15"/>
                  </a:lnTo>
                  <a:lnTo>
                    <a:pt x="15" y="14"/>
                  </a:lnTo>
                  <a:lnTo>
                    <a:pt x="16" y="13"/>
                  </a:lnTo>
                  <a:lnTo>
                    <a:pt x="17" y="11"/>
                  </a:lnTo>
                  <a:lnTo>
                    <a:pt x="17" y="10"/>
                  </a:lnTo>
                  <a:lnTo>
                    <a:pt x="18"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7" name="Freeform 11">
              <a:extLst>
                <a:ext uri="{FF2B5EF4-FFF2-40B4-BE49-F238E27FC236}">
                  <a16:creationId xmlns:a16="http://schemas.microsoft.com/office/drawing/2014/main" id="{E4A24DCA-ADD3-5B8E-532A-CD29D59BFD9C}"/>
                </a:ext>
              </a:extLst>
            </p:cNvPr>
            <p:cNvSpPr>
              <a:spLocks/>
            </p:cNvSpPr>
            <p:nvPr/>
          </p:nvSpPr>
          <p:spPr bwMode="auto">
            <a:xfrm>
              <a:off x="219" y="4690"/>
              <a:ext cx="18" cy="80"/>
            </a:xfrm>
            <a:custGeom>
              <a:avLst/>
              <a:gdLst>
                <a:gd name="T0" fmla="*/ 9 w 18"/>
                <a:gd name="T1" fmla="*/ 0 h 80"/>
                <a:gd name="T2" fmla="*/ 10 w 18"/>
                <a:gd name="T3" fmla="*/ 0 h 80"/>
                <a:gd name="T4" fmla="*/ 12 w 18"/>
                <a:gd name="T5" fmla="*/ 0 h 80"/>
                <a:gd name="T6" fmla="*/ 14 w 18"/>
                <a:gd name="T7" fmla="*/ 2 h 80"/>
                <a:gd name="T8" fmla="*/ 16 w 18"/>
                <a:gd name="T9" fmla="*/ 7 h 80"/>
                <a:gd name="T10" fmla="*/ 17 w 18"/>
                <a:gd name="T11" fmla="*/ 15 h 80"/>
                <a:gd name="T12" fmla="*/ 17 w 18"/>
                <a:gd name="T13" fmla="*/ 29 h 80"/>
                <a:gd name="T14" fmla="*/ 14 w 18"/>
                <a:gd name="T15" fmla="*/ 50 h 80"/>
                <a:gd name="T16" fmla="*/ 9 w 18"/>
                <a:gd name="T17" fmla="*/ 79 h 80"/>
                <a:gd name="T18" fmla="*/ 4 w 18"/>
                <a:gd name="T19" fmla="*/ 63 h 80"/>
                <a:gd name="T20" fmla="*/ 1 w 18"/>
                <a:gd name="T21" fmla="*/ 48 h 80"/>
                <a:gd name="T22" fmla="*/ 0 w 18"/>
                <a:gd name="T23" fmla="*/ 34 h 80"/>
                <a:gd name="T24" fmla="*/ 0 w 18"/>
                <a:gd name="T25" fmla="*/ 22 h 80"/>
                <a:gd name="T26" fmla="*/ 0 w 18"/>
                <a:gd name="T27" fmla="*/ 11 h 80"/>
                <a:gd name="T28" fmla="*/ 3 w 18"/>
                <a:gd name="T29" fmla="*/ 4 h 80"/>
                <a:gd name="T30" fmla="*/ 6 w 18"/>
                <a:gd name="T31" fmla="*/ 0 h 80"/>
                <a:gd name="T32" fmla="*/ 9 w 18"/>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80"/>
                <a:gd name="T53" fmla="*/ 18 w 18"/>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80">
                  <a:moveTo>
                    <a:pt x="9" y="0"/>
                  </a:moveTo>
                  <a:lnTo>
                    <a:pt x="10" y="0"/>
                  </a:lnTo>
                  <a:lnTo>
                    <a:pt x="12" y="0"/>
                  </a:lnTo>
                  <a:lnTo>
                    <a:pt x="14" y="2"/>
                  </a:lnTo>
                  <a:lnTo>
                    <a:pt x="16" y="7"/>
                  </a:lnTo>
                  <a:lnTo>
                    <a:pt x="17" y="15"/>
                  </a:lnTo>
                  <a:lnTo>
                    <a:pt x="17" y="29"/>
                  </a:lnTo>
                  <a:lnTo>
                    <a:pt x="14" y="50"/>
                  </a:lnTo>
                  <a:lnTo>
                    <a:pt x="9" y="79"/>
                  </a:lnTo>
                  <a:lnTo>
                    <a:pt x="4" y="63"/>
                  </a:lnTo>
                  <a:lnTo>
                    <a:pt x="1" y="48"/>
                  </a:lnTo>
                  <a:lnTo>
                    <a:pt x="0" y="34"/>
                  </a:lnTo>
                  <a:lnTo>
                    <a:pt x="0" y="22"/>
                  </a:lnTo>
                  <a:lnTo>
                    <a:pt x="0" y="11"/>
                  </a:lnTo>
                  <a:lnTo>
                    <a:pt x="3" y="4"/>
                  </a:lnTo>
                  <a:lnTo>
                    <a:pt x="6" y="0"/>
                  </a:lnTo>
                  <a:lnTo>
                    <a:pt x="9"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77078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138339837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3370350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2243245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2898094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186399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685063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4242482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15186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377960204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7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Creating and Managing Tables</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CDE5-8CEB-6306-5128-BD54D671D81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534064B-3E40-563C-2696-66817025F61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B1C558E5-3E01-40E8-39CA-C4F3AD91421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DE869F4-E99A-619C-7F5F-47E781AF04F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7DF64AE-8206-58A3-C136-D6EB491B1012}"/>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After completing this lesson, you should be able to do the following:</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Create tables</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Describe the data types that can be used when specifying column definition</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Alter table definitions</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Drop, rename, and truncate tables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7DB45F60-1BDF-53C9-36BB-34F42C0828E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199785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48D7-7799-E7F4-0EAA-56F321BD0F1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741D15E-F3EA-5DA0-82B5-8F0FF0B6EA7C}"/>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CREATE TABLE Statement</a:t>
            </a:r>
          </a:p>
        </p:txBody>
      </p:sp>
      <p:sp>
        <p:nvSpPr>
          <p:cNvPr id="38915" name="Rectangle 3">
            <a:extLst>
              <a:ext uri="{FF2B5EF4-FFF2-40B4-BE49-F238E27FC236}">
                <a16:creationId xmlns:a16="http://schemas.microsoft.com/office/drawing/2014/main" id="{2D7D9359-F3B3-780C-EAA1-6E599413EC6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7C3E686-FCCF-4F9C-C2DC-6741C504859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B76DB890-6270-0FE1-53BE-40F3FAE6DB30}"/>
              </a:ext>
            </a:extLst>
          </p:cNvPr>
          <p:cNvSpPr txBox="1">
            <a:spLocks noChangeArrowheads="1"/>
          </p:cNvSpPr>
          <p:nvPr/>
        </p:nvSpPr>
        <p:spPr bwMode="auto">
          <a:xfrm>
            <a:off x="425450" y="256490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user should have </a:t>
            </a:r>
            <a:r>
              <a:rPr lang="en-US" altLang="en-US" sz="2800" dirty="0">
                <a:solidFill>
                  <a:prstClr val="black"/>
                </a:solidFill>
                <a:latin typeface="Cambria" panose="02040503050406030204" pitchFamily="18" charset="0"/>
                <a:ea typeface="Cambria" panose="02040503050406030204" pitchFamily="18" charset="0"/>
                <a:cs typeface="Calibri" panose="020F0502020204030204" pitchFamily="34" charset="0"/>
              </a:rPr>
              <a:t>CREAT TABLE privilege.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You need to specify:</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Table name</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Column name, column data type, and column size</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Size specifies the max. length of a column.</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An oracle table can have up to </a:t>
            </a:r>
            <a:r>
              <a:rPr kumimoji="0" lang="en-US" altLang="en-US" sz="26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256</a:t>
            </a: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columns.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04A3B92E-C512-B68F-2ADB-8A2E9FE9B36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AF5C63B9-54DB-8D49-551C-698AF480977D}"/>
              </a:ext>
            </a:extLst>
          </p:cNvPr>
          <p:cNvSpPr>
            <a:spLocks noChangeArrowheads="1"/>
          </p:cNvSpPr>
          <p:nvPr/>
        </p:nvSpPr>
        <p:spPr bwMode="blackWhite">
          <a:xfrm>
            <a:off x="395288" y="755569"/>
            <a:ext cx="8424862" cy="17287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5">
            <a:extLst>
              <a:ext uri="{FF2B5EF4-FFF2-40B4-BE49-F238E27FC236}">
                <a16:creationId xmlns:a16="http://schemas.microsoft.com/office/drawing/2014/main" id="{8982E96D-843B-1827-6672-EDF5002CD75F}"/>
              </a:ext>
            </a:extLst>
          </p:cNvPr>
          <p:cNvSpPr>
            <a:spLocks noChangeArrowheads="1"/>
          </p:cNvSpPr>
          <p:nvPr/>
        </p:nvSpPr>
        <p:spPr bwMode="blackWhite">
          <a:xfrm>
            <a:off x="573088" y="795256"/>
            <a:ext cx="8174037"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i="1" dirty="0">
                <a:solidFill>
                  <a:srgbClr val="000000"/>
                </a:solidFill>
                <a:latin typeface="Courier New" panose="02070309020205020404" pitchFamily="49" charset="0"/>
              </a:rPr>
              <a:t>CREATE TABLE </a:t>
            </a:r>
            <a:r>
              <a:rPr lang="en-US" altLang="en-US" sz="1800" b="1" i="1" dirty="0" err="1">
                <a:solidFill>
                  <a:srgbClr val="0033CC"/>
                </a:solidFill>
                <a:latin typeface="Courier New" panose="02070309020205020404" pitchFamily="49" charset="0"/>
              </a:rPr>
              <a:t>table_name</a:t>
            </a:r>
            <a:endParaRPr lang="en-US" altLang="en-US" sz="1800" b="1" i="1" dirty="0">
              <a:solidFill>
                <a:srgbClr val="0033CC"/>
              </a:solidFill>
              <a:latin typeface="Courier New" panose="02070309020205020404" pitchFamily="49" charset="0"/>
            </a:endParaRPr>
          </a:p>
          <a:p>
            <a:pPr>
              <a:spcBef>
                <a:spcPct val="0"/>
              </a:spcBef>
              <a:buFontTx/>
              <a:buNone/>
            </a:pPr>
            <a:r>
              <a:rPr lang="en-US" altLang="en-US" sz="1800" b="1" i="1" dirty="0">
                <a:solidFill>
                  <a:srgbClr val="000000"/>
                </a:solidFill>
                <a:latin typeface="Courier New" panose="02070309020205020404" pitchFamily="49" charset="0"/>
              </a:rPr>
              <a:t>(</a:t>
            </a:r>
            <a:r>
              <a:rPr lang="en-US" altLang="en-US" sz="1800" b="1" i="1" dirty="0">
                <a:solidFill>
                  <a:srgbClr val="0033CC"/>
                </a:solidFill>
                <a:latin typeface="Courier New" panose="02070309020205020404" pitchFamily="49" charset="0"/>
              </a:rPr>
              <a:t>col_name1 datatype(size)</a:t>
            </a:r>
            <a:r>
              <a:rPr lang="en-US" altLang="en-US" sz="1800" b="1" i="1" dirty="0">
                <a:solidFill>
                  <a:srgbClr val="000000"/>
                </a:solidFill>
                <a:latin typeface="Courier New" panose="02070309020205020404" pitchFamily="49" charset="0"/>
              </a:rPr>
              <a:t> </a:t>
            </a:r>
            <a:r>
              <a:rPr lang="en-US" altLang="en-US" sz="1800" b="1" i="1" dirty="0">
                <a:solidFill>
                  <a:srgbClr val="FF0000"/>
                </a:solidFill>
                <a:latin typeface="Courier New" panose="02070309020205020404" pitchFamily="49" charset="0"/>
              </a:rPr>
              <a:t>[Default expr]</a:t>
            </a:r>
            <a:r>
              <a:rPr lang="en-US" altLang="en-US" sz="1800" b="1" i="1" dirty="0">
                <a:solidFill>
                  <a:srgbClr val="000000"/>
                </a:solidFill>
                <a:latin typeface="Courier New" panose="02070309020205020404" pitchFamily="49" charset="0"/>
              </a:rPr>
              <a:t>[Col Constraints],</a:t>
            </a:r>
          </a:p>
          <a:p>
            <a:pPr>
              <a:spcBef>
                <a:spcPct val="0"/>
              </a:spcBef>
              <a:buFontTx/>
              <a:buNone/>
            </a:pPr>
            <a:r>
              <a:rPr lang="en-US" altLang="en-US" sz="1800" b="1" i="1" dirty="0">
                <a:solidFill>
                  <a:srgbClr val="000000"/>
                </a:solidFill>
                <a:latin typeface="Courier New" panose="02070309020205020404" pitchFamily="49" charset="0"/>
              </a:rPr>
              <a:t> </a:t>
            </a:r>
            <a:r>
              <a:rPr lang="en-US" altLang="en-US" sz="1800" b="1" i="1" dirty="0">
                <a:solidFill>
                  <a:srgbClr val="0033CC"/>
                </a:solidFill>
                <a:latin typeface="Courier New" panose="02070309020205020404" pitchFamily="49" charset="0"/>
              </a:rPr>
              <a:t>col_name2 datatype(size)</a:t>
            </a:r>
            <a:r>
              <a:rPr lang="en-US" altLang="en-US" sz="1800" b="1" i="1" dirty="0">
                <a:solidFill>
                  <a:srgbClr val="000000"/>
                </a:solidFill>
                <a:latin typeface="Courier New" panose="02070309020205020404" pitchFamily="49" charset="0"/>
              </a:rPr>
              <a:t> </a:t>
            </a:r>
            <a:r>
              <a:rPr lang="en-US" altLang="en-US" sz="1800" b="1" i="1" dirty="0">
                <a:solidFill>
                  <a:srgbClr val="FF0000"/>
                </a:solidFill>
                <a:latin typeface="Courier New" panose="02070309020205020404" pitchFamily="49" charset="0"/>
              </a:rPr>
              <a:t>[Default expr]</a:t>
            </a:r>
            <a:r>
              <a:rPr lang="en-US" altLang="en-US" sz="1800" b="1" i="1" dirty="0">
                <a:solidFill>
                  <a:srgbClr val="000000"/>
                </a:solidFill>
                <a:latin typeface="Courier New" panose="02070309020205020404" pitchFamily="49" charset="0"/>
              </a:rPr>
              <a:t>[Col Constraints],</a:t>
            </a:r>
          </a:p>
          <a:p>
            <a:pPr>
              <a:spcBef>
                <a:spcPct val="0"/>
              </a:spcBef>
              <a:buFontTx/>
              <a:buNone/>
            </a:pPr>
            <a:r>
              <a:rPr lang="en-US" altLang="en-US" sz="1800" b="1" i="1" dirty="0">
                <a:solidFill>
                  <a:srgbClr val="000000"/>
                </a:solidFill>
                <a:latin typeface="Courier New" panose="02070309020205020404" pitchFamily="49" charset="0"/>
              </a:rPr>
              <a:t>      </a:t>
            </a:r>
            <a:r>
              <a:rPr lang="en-US" altLang="en-US" sz="1800" b="1" i="1" dirty="0">
                <a:solidFill>
                  <a:srgbClr val="000000"/>
                </a:solidFill>
              </a:rPr>
              <a:t>…………</a:t>
            </a:r>
            <a:r>
              <a:rPr lang="en-US" altLang="en-US" sz="1800" b="1" i="1" dirty="0">
                <a:solidFill>
                  <a:srgbClr val="000000"/>
                </a:solidFill>
                <a:latin typeface="Courier New" panose="02070309020205020404" pitchFamily="49" charset="0"/>
              </a:rPr>
              <a:t>      </a:t>
            </a:r>
          </a:p>
          <a:p>
            <a:pPr>
              <a:spcBef>
                <a:spcPct val="0"/>
              </a:spcBef>
              <a:buFontTx/>
              <a:buNone/>
            </a:pPr>
            <a:r>
              <a:rPr lang="en-US" altLang="en-US" sz="1800" b="1" i="1" dirty="0">
                <a:solidFill>
                  <a:srgbClr val="FF0000"/>
                </a:solidFill>
                <a:latin typeface="Courier New" panose="02070309020205020404" pitchFamily="49" charset="0"/>
              </a:rPr>
              <a:t>[Table Constraints]</a:t>
            </a:r>
            <a:r>
              <a:rPr lang="en-US" altLang="en-US" sz="1800" b="1" i="1" dirty="0">
                <a:solidFill>
                  <a:srgbClr val="000000"/>
                </a:solidFill>
                <a:latin typeface="Courier New" panose="02070309020205020404" pitchFamily="49" charset="0"/>
              </a:rPr>
              <a:t>); </a:t>
            </a:r>
          </a:p>
        </p:txBody>
      </p:sp>
    </p:spTree>
    <p:extLst>
      <p:ext uri="{BB962C8B-B14F-4D97-AF65-F5344CB8AC3E}">
        <p14:creationId xmlns:p14="http://schemas.microsoft.com/office/powerpoint/2010/main" val="268081665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E624-DED4-F83F-0A0C-46AF8ABE5A8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75197B2-EDD8-FBBA-5A6D-64247C0B64BF}"/>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Naming Conventions</a:t>
            </a:r>
          </a:p>
        </p:txBody>
      </p:sp>
      <p:sp>
        <p:nvSpPr>
          <p:cNvPr id="38915" name="Rectangle 3">
            <a:extLst>
              <a:ext uri="{FF2B5EF4-FFF2-40B4-BE49-F238E27FC236}">
                <a16:creationId xmlns:a16="http://schemas.microsoft.com/office/drawing/2014/main" id="{1BD827B7-5F78-0DA5-FB70-E2C2EC8E73B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49497D9-CFE1-8BE3-9663-43D39185A9C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D23ADB32-24DD-F93C-DCC5-FBFD5185C9F3}"/>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Must begin with a letter</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Can be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1–30</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characters long</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Can contain only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A–Z, a–z, 0–9, _, $,</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and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Names are not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case sensitive</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(enclose names in double quotes to make them case sensitive)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Must not duplicate the name of another object owned by the same user</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Must not be an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Oracle Server reserved word</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2CF38BEB-8CE4-45E1-20E1-26096FC632A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14103521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3EF1A-5098-B81B-EE7C-440A2E603775}"/>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7220339-9066-5D86-F3FA-DF6CC7A0AA2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 Types</a:t>
            </a:r>
          </a:p>
        </p:txBody>
      </p:sp>
      <p:sp>
        <p:nvSpPr>
          <p:cNvPr id="38915" name="Rectangle 3">
            <a:extLst>
              <a:ext uri="{FF2B5EF4-FFF2-40B4-BE49-F238E27FC236}">
                <a16:creationId xmlns:a16="http://schemas.microsoft.com/office/drawing/2014/main" id="{BA984819-A485-9290-E0B4-EA8125FCBA9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1E66F5E-0C89-7C6D-9715-B311B91FA63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76A2DED-A1E1-8C6E-CA6B-CD6686C02997}"/>
              </a:ext>
            </a:extLst>
          </p:cNvPr>
          <p:cNvSpPr txBox="1">
            <a:spLocks noChangeArrowheads="1"/>
          </p:cNvSpPr>
          <p:nvPr/>
        </p:nvSpPr>
        <p:spPr bwMode="auto">
          <a:xfrm>
            <a:off x="425450" y="452200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Must not be an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Oracle Server reserved word</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0C4F18EB-45FE-FB12-BED4-5030B8C9655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7C8C8160-01C7-964C-A384-E4AB22C2DA70}"/>
              </a:ext>
            </a:extLst>
          </p:cNvPr>
          <p:cNvGraphicFramePr>
            <a:graphicFrameLocks noGrp="1"/>
          </p:cNvGraphicFramePr>
          <p:nvPr>
            <p:extLst>
              <p:ext uri="{D42A27DB-BD31-4B8C-83A1-F6EECF244321}">
                <p14:modId xmlns:p14="http://schemas.microsoft.com/office/powerpoint/2010/main" val="1569438708"/>
              </p:ext>
            </p:extLst>
          </p:nvPr>
        </p:nvGraphicFramePr>
        <p:xfrm>
          <a:off x="251521" y="664840"/>
          <a:ext cx="8708754" cy="6004520"/>
        </p:xfrm>
        <a:graphic>
          <a:graphicData uri="http://schemas.openxmlformats.org/drawingml/2006/table">
            <a:tbl>
              <a:tblPr firstRow="1" bandRow="1">
                <a:tableStyleId>{5C22544A-7EE6-4342-B048-85BDC9FD1C3A}</a:tableStyleId>
              </a:tblPr>
              <a:tblGrid>
                <a:gridCol w="2376263">
                  <a:extLst>
                    <a:ext uri="{9D8B030D-6E8A-4147-A177-3AD203B41FA5}">
                      <a16:colId xmlns:a16="http://schemas.microsoft.com/office/drawing/2014/main" val="2759632180"/>
                    </a:ext>
                  </a:extLst>
                </a:gridCol>
                <a:gridCol w="4248472">
                  <a:extLst>
                    <a:ext uri="{9D8B030D-6E8A-4147-A177-3AD203B41FA5}">
                      <a16:colId xmlns:a16="http://schemas.microsoft.com/office/drawing/2014/main" val="3200554078"/>
                    </a:ext>
                  </a:extLst>
                </a:gridCol>
                <a:gridCol w="2084019">
                  <a:extLst>
                    <a:ext uri="{9D8B030D-6E8A-4147-A177-3AD203B41FA5}">
                      <a16:colId xmlns:a16="http://schemas.microsoft.com/office/drawing/2014/main" val="4108099287"/>
                    </a:ext>
                  </a:extLst>
                </a:gridCol>
              </a:tblGrid>
              <a:tr h="370840">
                <a:tc>
                  <a:txBody>
                    <a:bodyPr/>
                    <a:lstStyle/>
                    <a:p>
                      <a:r>
                        <a:rPr lang="en-US" sz="2400" b="1" dirty="0">
                          <a:solidFill>
                            <a:srgbClr val="FFFF00"/>
                          </a:solidFill>
                          <a:latin typeface="Cambria" panose="02040503050406030204" pitchFamily="18" charset="0"/>
                          <a:ea typeface="Cambria" panose="02040503050406030204" pitchFamily="18" charset="0"/>
                        </a:rPr>
                        <a:t>Data Type</a:t>
                      </a:r>
                    </a:p>
                  </a:txBody>
                  <a:tcPr/>
                </a:tc>
                <a:tc>
                  <a:txBody>
                    <a:bodyPr/>
                    <a:lstStyle/>
                    <a:p>
                      <a:r>
                        <a:rPr lang="en-US" sz="2400" b="1" dirty="0">
                          <a:solidFill>
                            <a:srgbClr val="FFFF00"/>
                          </a:solidFill>
                          <a:latin typeface="Cambria" panose="02040503050406030204" pitchFamily="18" charset="0"/>
                          <a:ea typeface="Cambria" panose="02040503050406030204" pitchFamily="18" charset="0"/>
                        </a:rPr>
                        <a:t>Description</a:t>
                      </a:r>
                    </a:p>
                  </a:txBody>
                  <a:tcPr/>
                </a:tc>
                <a:tc>
                  <a:txBody>
                    <a:bodyPr/>
                    <a:lstStyle/>
                    <a:p>
                      <a:r>
                        <a:rPr lang="en-US" sz="2400" b="1" dirty="0">
                          <a:solidFill>
                            <a:srgbClr val="FFFF00"/>
                          </a:solidFill>
                          <a:latin typeface="Cambria" panose="02040503050406030204" pitchFamily="18" charset="0"/>
                          <a:ea typeface="Cambria" panose="02040503050406030204" pitchFamily="18" charset="0"/>
                        </a:rPr>
                        <a:t>Example</a:t>
                      </a:r>
                    </a:p>
                  </a:txBody>
                  <a:tcPr/>
                </a:tc>
                <a:extLst>
                  <a:ext uri="{0D108BD9-81ED-4DB2-BD59-A6C34878D82A}">
                    <a16:rowId xmlns:a16="http://schemas.microsoft.com/office/drawing/2014/main" val="602588737"/>
                  </a:ext>
                </a:extLst>
              </a:tr>
              <a:tr h="0">
                <a:tc>
                  <a:txBody>
                    <a:bodyPr/>
                    <a:lstStyle/>
                    <a:p>
                      <a:pPr algn="l"/>
                      <a:r>
                        <a:rPr lang="en-US" sz="2000" dirty="0">
                          <a:solidFill>
                            <a:schemeClr val="tx1"/>
                          </a:solidFill>
                          <a:latin typeface="Cambria" panose="02040503050406030204" pitchFamily="18" charset="0"/>
                          <a:ea typeface="Cambria" panose="02040503050406030204" pitchFamily="18" charset="0"/>
                        </a:rPr>
                        <a:t>CHAR [(&lt;size&gt;)]</a:t>
                      </a:r>
                    </a:p>
                  </a:txBody>
                  <a:tcPr marL="91434" marR="91434" marT="45715" marB="45715" anchor="ctr"/>
                </a:tc>
                <a:tc>
                  <a:txBody>
                    <a:bodyPr/>
                    <a:lstStyle/>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Fixed Length</a:t>
                      </a:r>
                    </a:p>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Blank-padded</a:t>
                      </a:r>
                    </a:p>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Max Length = 2000 characters</a:t>
                      </a:r>
                    </a:p>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Default size = 1 Byte</a:t>
                      </a:r>
                    </a:p>
                  </a:txBody>
                  <a:tcPr marL="91434" marR="91434" marT="45715" marB="45715" anchor="ctr"/>
                </a:tc>
                <a:tc>
                  <a:txBody>
                    <a:bodyPr/>
                    <a:lstStyle/>
                    <a:p>
                      <a:r>
                        <a:rPr lang="en-US" sz="1800" dirty="0">
                          <a:solidFill>
                            <a:schemeClr val="tx1"/>
                          </a:solidFill>
                          <a:latin typeface="Cambria" panose="02040503050406030204" pitchFamily="18" charset="0"/>
                          <a:ea typeface="Cambria" panose="02040503050406030204" pitchFamily="18" charset="0"/>
                        </a:rPr>
                        <a:t>id CHAR(5)</a:t>
                      </a:r>
                    </a:p>
                    <a:p>
                      <a:r>
                        <a:rPr lang="en-US" sz="1800" dirty="0">
                          <a:solidFill>
                            <a:schemeClr val="tx1"/>
                          </a:solidFill>
                          <a:latin typeface="Cambria" panose="02040503050406030204" pitchFamily="18" charset="0"/>
                          <a:ea typeface="Cambria" panose="02040503050406030204" pitchFamily="18" charset="0"/>
                        </a:rPr>
                        <a:t>status CHAR</a:t>
                      </a:r>
                      <a:endParaRPr lang="en-US" dirty="0">
                        <a:latin typeface="Cambria" panose="02040503050406030204" pitchFamily="18" charset="0"/>
                        <a:ea typeface="Cambria" panose="02040503050406030204" pitchFamily="18" charset="0"/>
                      </a:endParaRPr>
                    </a:p>
                  </a:txBody>
                  <a:tcPr marL="91434" marR="91434" marT="45715" marB="45715" anchor="ctr"/>
                </a:tc>
                <a:extLst>
                  <a:ext uri="{0D108BD9-81ED-4DB2-BD59-A6C34878D82A}">
                    <a16:rowId xmlns:a16="http://schemas.microsoft.com/office/drawing/2014/main" val="1734045723"/>
                  </a:ext>
                </a:extLst>
              </a:tr>
              <a:tr h="370840">
                <a:tc>
                  <a:txBody>
                    <a:bodyPr/>
                    <a:lstStyle/>
                    <a:p>
                      <a:pPr algn="l"/>
                      <a:r>
                        <a:rPr lang="en-US" sz="2000" dirty="0">
                          <a:solidFill>
                            <a:schemeClr val="tx1"/>
                          </a:solidFill>
                          <a:latin typeface="Cambria" panose="02040503050406030204" pitchFamily="18" charset="0"/>
                          <a:ea typeface="Cambria" panose="02040503050406030204" pitchFamily="18" charset="0"/>
                        </a:rPr>
                        <a:t>VARCHAR (</a:t>
                      </a:r>
                      <a:r>
                        <a:rPr lang="en-US" sz="2000" dirty="0">
                          <a:solidFill>
                            <a:srgbClr val="FF0000"/>
                          </a:solidFill>
                          <a:latin typeface="Cambria" panose="02040503050406030204" pitchFamily="18" charset="0"/>
                          <a:ea typeface="Cambria" panose="02040503050406030204" pitchFamily="18" charset="0"/>
                        </a:rPr>
                        <a:t>&lt;size&gt;</a:t>
                      </a:r>
                      <a:r>
                        <a:rPr lang="en-US" sz="2000" dirty="0">
                          <a:solidFill>
                            <a:schemeClr val="tx1"/>
                          </a:solidFill>
                          <a:latin typeface="Cambria" panose="02040503050406030204" pitchFamily="18" charset="0"/>
                          <a:ea typeface="Cambria" panose="020405030504060302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VARCHAR2 (</a:t>
                      </a:r>
                      <a:r>
                        <a:rPr lang="en-US" sz="2000" dirty="0">
                          <a:solidFill>
                            <a:srgbClr val="FF0000"/>
                          </a:solidFill>
                          <a:latin typeface="Cambria" panose="02040503050406030204" pitchFamily="18" charset="0"/>
                          <a:ea typeface="Cambria" panose="02040503050406030204" pitchFamily="18" charset="0"/>
                        </a:rPr>
                        <a:t>&lt;size&gt;</a:t>
                      </a:r>
                      <a:r>
                        <a:rPr lang="en-US" sz="2000" dirty="0">
                          <a:solidFill>
                            <a:schemeClr val="tx1"/>
                          </a:solidFill>
                          <a:latin typeface="Cambria" panose="02040503050406030204" pitchFamily="18" charset="0"/>
                          <a:ea typeface="Cambria" panose="02040503050406030204" pitchFamily="18" charset="0"/>
                        </a:rPr>
                        <a:t>)</a:t>
                      </a:r>
                    </a:p>
                  </a:txBody>
                  <a:tcPr marL="91434" marR="91434" marT="45715" marB="45715" anchor="ctr"/>
                </a:tc>
                <a:tc>
                  <a:txBody>
                    <a:bodyPr/>
                    <a:lstStyle/>
                    <a:p>
                      <a:pPr marL="230188" indent="-230188" algn="l" defTabSz="914400" rtl="0" eaLnBrk="1" latinLnBrk="0" hangingPunct="1">
                        <a:buFont typeface="Arial" panose="020B0604020202020204" pitchFamily="34" charset="0"/>
                        <a:buChar char="•"/>
                      </a:pPr>
                      <a:r>
                        <a:rPr lang="en-US" sz="2000" kern="1200" dirty="0">
                          <a:solidFill>
                            <a:schemeClr val="tx1"/>
                          </a:solidFill>
                          <a:latin typeface="Cambria" panose="02040503050406030204" pitchFamily="18" charset="0"/>
                          <a:ea typeface="Cambria" panose="02040503050406030204" pitchFamily="18" charset="0"/>
                          <a:cs typeface="+mn-cs"/>
                        </a:rPr>
                        <a:t>Variable Length Character</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Cambria" panose="02040503050406030204" pitchFamily="18" charset="0"/>
                          <a:ea typeface="Cambria" panose="02040503050406030204" pitchFamily="18" charset="0"/>
                          <a:cs typeface="+mn-cs"/>
                        </a:rPr>
                        <a:t>Not blank-padded</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Cambria" panose="02040503050406030204" pitchFamily="18" charset="0"/>
                          <a:ea typeface="Cambria" panose="02040503050406030204" pitchFamily="18" charset="0"/>
                          <a:cs typeface="+mn-cs"/>
                        </a:rPr>
                        <a:t>Max Length = 4000 characters</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Cambria" panose="02040503050406030204" pitchFamily="18" charset="0"/>
                          <a:ea typeface="Cambria" panose="02040503050406030204" pitchFamily="18" charset="0"/>
                          <a:cs typeface="+mn-cs"/>
                        </a:rPr>
                        <a:t>Size must be specified</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Cambria" panose="02040503050406030204" pitchFamily="18" charset="0"/>
                          <a:ea typeface="Cambria" panose="02040503050406030204" pitchFamily="18" charset="0"/>
                          <a:cs typeface="+mn-cs"/>
                        </a:rPr>
                        <a:t>VARCHAR2 is recommended for upward compatibility</a:t>
                      </a:r>
                    </a:p>
                  </a:txBody>
                  <a:tcPr marL="91434" marR="91434" marT="45715" marB="45715" anchor="ctr"/>
                </a:tc>
                <a:tc>
                  <a:txBody>
                    <a:bodyPr/>
                    <a:lstStyle/>
                    <a:p>
                      <a:r>
                        <a:rPr lang="en-US" sz="2000" dirty="0">
                          <a:solidFill>
                            <a:schemeClr val="tx1"/>
                          </a:solidFill>
                          <a:latin typeface="Cambria" panose="02040503050406030204" pitchFamily="18" charset="0"/>
                          <a:ea typeface="Cambria" panose="02040503050406030204" pitchFamily="18" charset="0"/>
                        </a:rPr>
                        <a:t>name VARCHAR2(15)</a:t>
                      </a:r>
                    </a:p>
                  </a:txBody>
                  <a:tcPr marL="91434" marR="91434" marT="45715" marB="45715" anchor="ctr"/>
                </a:tc>
                <a:extLst>
                  <a:ext uri="{0D108BD9-81ED-4DB2-BD59-A6C34878D82A}">
                    <a16:rowId xmlns:a16="http://schemas.microsoft.com/office/drawing/2014/main" val="37053042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NUMBER [(</a:t>
                      </a:r>
                      <a:r>
                        <a:rPr lang="en-US" sz="2000" dirty="0">
                          <a:solidFill>
                            <a:srgbClr val="FF0000"/>
                          </a:solidFill>
                          <a:latin typeface="Cambria" panose="02040503050406030204" pitchFamily="18" charset="0"/>
                          <a:ea typeface="Cambria" panose="02040503050406030204" pitchFamily="18" charset="0"/>
                        </a:rPr>
                        <a:t>&lt;</a:t>
                      </a:r>
                      <a:r>
                        <a:rPr lang="en-US" sz="2000" dirty="0" err="1">
                          <a:solidFill>
                            <a:srgbClr val="FF0000"/>
                          </a:solidFill>
                          <a:latin typeface="Cambria" panose="02040503050406030204" pitchFamily="18" charset="0"/>
                          <a:ea typeface="Cambria" panose="02040503050406030204" pitchFamily="18" charset="0"/>
                        </a:rPr>
                        <a:t>p,s</a:t>
                      </a:r>
                      <a:r>
                        <a:rPr lang="en-US" sz="2000" dirty="0">
                          <a:solidFill>
                            <a:srgbClr val="FF0000"/>
                          </a:solidFill>
                          <a:latin typeface="Cambria" panose="02040503050406030204" pitchFamily="18" charset="0"/>
                          <a:ea typeface="Cambria" panose="02040503050406030204" pitchFamily="18" charset="0"/>
                        </a:rPr>
                        <a:t>&gt;</a:t>
                      </a:r>
                      <a:r>
                        <a:rPr lang="en-US" sz="2000" dirty="0">
                          <a:solidFill>
                            <a:schemeClr val="tx1"/>
                          </a:solidFill>
                          <a:latin typeface="Cambria" panose="02040503050406030204" pitchFamily="18" charset="0"/>
                          <a:ea typeface="Cambria" panose="02040503050406030204" pitchFamily="18" charset="0"/>
                        </a:rPr>
                        <a:t>)]</a:t>
                      </a:r>
                    </a:p>
                  </a:txBody>
                  <a:tcPr marL="91434" marR="91434" marT="45715" marB="45715" anchor="ctr"/>
                </a:tc>
                <a:tc>
                  <a:txBody>
                    <a:bodyPr/>
                    <a:lstStyle/>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Number with precision </a:t>
                      </a:r>
                      <a:r>
                        <a:rPr lang="en-US" sz="2000" i="1" dirty="0">
                          <a:solidFill>
                            <a:srgbClr val="FF0000"/>
                          </a:solidFill>
                          <a:latin typeface="Cambria" panose="02040503050406030204" pitchFamily="18" charset="0"/>
                          <a:ea typeface="Cambria" panose="02040503050406030204" pitchFamily="18" charset="0"/>
                        </a:rPr>
                        <a:t>p</a:t>
                      </a:r>
                      <a:r>
                        <a:rPr lang="en-US" sz="2000" dirty="0">
                          <a:solidFill>
                            <a:schemeClr val="tx1"/>
                          </a:solidFill>
                          <a:latin typeface="Cambria" panose="02040503050406030204" pitchFamily="18" charset="0"/>
                          <a:ea typeface="Cambria" panose="02040503050406030204" pitchFamily="18" charset="0"/>
                        </a:rPr>
                        <a:t> and scale </a:t>
                      </a:r>
                      <a:r>
                        <a:rPr lang="en-US" sz="2000" i="1" dirty="0">
                          <a:solidFill>
                            <a:srgbClr val="FF0000"/>
                          </a:solidFill>
                          <a:latin typeface="Cambria" panose="02040503050406030204" pitchFamily="18" charset="0"/>
                          <a:ea typeface="Cambria" panose="02040503050406030204" pitchFamily="18" charset="0"/>
                        </a:rPr>
                        <a:t>s</a:t>
                      </a:r>
                    </a:p>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Precision is the total number of digits</a:t>
                      </a:r>
                    </a:p>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Scale is the number of digits to the right side of the decimal point</a:t>
                      </a:r>
                    </a:p>
                  </a:txBody>
                  <a:tcPr marL="91434" marR="91434" marT="45715" marB="45715"/>
                </a:tc>
                <a:tc>
                  <a:txBody>
                    <a:bodyPr/>
                    <a:lstStyle/>
                    <a:p>
                      <a:r>
                        <a:rPr lang="en-US" sz="2000" dirty="0">
                          <a:solidFill>
                            <a:schemeClr val="tx1"/>
                          </a:solidFill>
                          <a:latin typeface="Cambria" panose="02040503050406030204" pitchFamily="18" charset="0"/>
                          <a:ea typeface="Cambria" panose="02040503050406030204" pitchFamily="18" charset="0"/>
                        </a:rPr>
                        <a:t>price NUMBER(5)</a:t>
                      </a:r>
                    </a:p>
                    <a:p>
                      <a:r>
                        <a:rPr lang="en-US" sz="2000" dirty="0" err="1">
                          <a:solidFill>
                            <a:schemeClr val="tx1"/>
                          </a:solidFill>
                          <a:latin typeface="Cambria" panose="02040503050406030204" pitchFamily="18" charset="0"/>
                          <a:ea typeface="Cambria" panose="02040503050406030204" pitchFamily="18" charset="0"/>
                        </a:rPr>
                        <a:t>sal</a:t>
                      </a:r>
                      <a:r>
                        <a:rPr lang="en-US" sz="2000" dirty="0">
                          <a:solidFill>
                            <a:schemeClr val="tx1"/>
                          </a:solidFill>
                          <a:latin typeface="Cambria" panose="02040503050406030204" pitchFamily="18" charset="0"/>
                          <a:ea typeface="Cambria" panose="02040503050406030204" pitchFamily="18" charset="0"/>
                        </a:rPr>
                        <a:t> NUMBER(7,2)</a:t>
                      </a:r>
                    </a:p>
                  </a:txBody>
                  <a:tcPr marL="91434" marR="91434" marT="45715" marB="45715" anchor="ctr"/>
                </a:tc>
                <a:extLst>
                  <a:ext uri="{0D108BD9-81ED-4DB2-BD59-A6C34878D82A}">
                    <a16:rowId xmlns:a16="http://schemas.microsoft.com/office/drawing/2014/main" val="40265534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DATE</a:t>
                      </a:r>
                    </a:p>
                  </a:txBody>
                  <a:tcPr marL="91434" marR="91434" marT="45715" marB="45715" anchor="ctr"/>
                </a:tc>
                <a:tc>
                  <a:txBody>
                    <a:bodyPr/>
                    <a:lstStyle/>
                    <a:p>
                      <a:pPr marL="230188" indent="-230188">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Data and Time values</a:t>
                      </a:r>
                    </a:p>
                  </a:txBody>
                  <a:tcPr marL="91434" marR="91434" marT="45715" marB="45715"/>
                </a:tc>
                <a:tc>
                  <a:txBody>
                    <a:bodyPr/>
                    <a:lstStyle/>
                    <a:p>
                      <a:r>
                        <a:rPr lang="en-US" sz="2000" dirty="0" err="1">
                          <a:solidFill>
                            <a:schemeClr val="tx1"/>
                          </a:solidFill>
                          <a:latin typeface="Cambria" panose="02040503050406030204" pitchFamily="18" charset="0"/>
                          <a:ea typeface="Cambria" panose="02040503050406030204" pitchFamily="18" charset="0"/>
                        </a:rPr>
                        <a:t>hiredate</a:t>
                      </a:r>
                      <a:r>
                        <a:rPr lang="en-US" sz="2000" dirty="0">
                          <a:solidFill>
                            <a:schemeClr val="tx1"/>
                          </a:solidFill>
                          <a:latin typeface="Cambria" panose="02040503050406030204" pitchFamily="18" charset="0"/>
                          <a:ea typeface="Cambria" panose="02040503050406030204" pitchFamily="18" charset="0"/>
                        </a:rPr>
                        <a:t> DATE</a:t>
                      </a:r>
                    </a:p>
                  </a:txBody>
                  <a:tcPr marL="91434" marR="91434" marT="45715" marB="45715" anchor="ctr"/>
                </a:tc>
                <a:extLst>
                  <a:ext uri="{0D108BD9-81ED-4DB2-BD59-A6C34878D82A}">
                    <a16:rowId xmlns:a16="http://schemas.microsoft.com/office/drawing/2014/main" val="1936322209"/>
                  </a:ext>
                </a:extLst>
              </a:tr>
            </a:tbl>
          </a:graphicData>
        </a:graphic>
      </p:graphicFrame>
    </p:spTree>
    <p:extLst>
      <p:ext uri="{BB962C8B-B14F-4D97-AF65-F5344CB8AC3E}">
        <p14:creationId xmlns:p14="http://schemas.microsoft.com/office/powerpoint/2010/main" val="881232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1C624-9301-9C99-A4F5-DCD5FACCDFE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D3E486E-073E-271E-DCB3-3D79851B45B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CREATE TABLE Statement</a:t>
            </a:r>
          </a:p>
        </p:txBody>
      </p:sp>
      <p:sp>
        <p:nvSpPr>
          <p:cNvPr id="38915" name="Rectangle 3">
            <a:extLst>
              <a:ext uri="{FF2B5EF4-FFF2-40B4-BE49-F238E27FC236}">
                <a16:creationId xmlns:a16="http://schemas.microsoft.com/office/drawing/2014/main" id="{62D140A4-CFB4-3899-C61F-9C482ADEDE0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E959D9A-85AA-9B6C-CA67-F73180DA1BA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E01A322-19FE-6494-16A3-3FF8E1328DB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3B34F606-2F6E-08A7-4615-EF2A3C3F71F0}"/>
              </a:ext>
            </a:extLst>
          </p:cNvPr>
          <p:cNvSpPr>
            <a:spLocks noChangeArrowheads="1"/>
          </p:cNvSpPr>
          <p:nvPr/>
        </p:nvSpPr>
        <p:spPr bwMode="blackWhite">
          <a:xfrm>
            <a:off x="395288" y="755569"/>
            <a:ext cx="8424862" cy="17287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 name="Rectangle 7">
            <a:extLst>
              <a:ext uri="{FF2B5EF4-FFF2-40B4-BE49-F238E27FC236}">
                <a16:creationId xmlns:a16="http://schemas.microsoft.com/office/drawing/2014/main" id="{EE6ED867-F179-D0A3-46C0-EB9DA48F9D4F}"/>
              </a:ext>
            </a:extLst>
          </p:cNvPr>
          <p:cNvSpPr>
            <a:spLocks noChangeArrowheads="1"/>
          </p:cNvSpPr>
          <p:nvPr/>
        </p:nvSpPr>
        <p:spPr bwMode="blackWhite">
          <a:xfrm>
            <a:off x="683568" y="971947"/>
            <a:ext cx="7315200" cy="1304925"/>
          </a:xfrm>
          <a:prstGeom prst="rect">
            <a:avLst/>
          </a:prstGeom>
          <a:noFill/>
          <a:ln w="9525">
            <a:noFill/>
            <a:miter lim="800000"/>
            <a:headEnd/>
            <a:tailEnd/>
          </a:ln>
          <a:effectLst/>
        </p:spPr>
        <p:txBody>
          <a:bodyPr wrap="none" lIns="92075" tIns="46038" rIns="92075" bIns="46038" anchor="ctr"/>
          <a:lstStyle/>
          <a:p>
            <a:pPr>
              <a:tabLst>
                <a:tab pos="1601788" algn="l"/>
                <a:tab pos="1717675" algn="l"/>
              </a:tabLst>
              <a:defRPr/>
            </a:pP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SQL&gt; CREATE TABLE dept</a:t>
            </a:r>
            <a:b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b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  2	(</a:t>
            </a:r>
            <a:r>
              <a:rPr lang="en-US" sz="2000" b="1" dirty="0" err="1">
                <a:solidFill>
                  <a:srgbClr val="000000"/>
                </a:solidFill>
                <a:latin typeface="Courier New" panose="02070309020205020404" pitchFamily="49" charset="0"/>
                <a:ea typeface="Cambria" panose="02040503050406030204" pitchFamily="18" charset="0"/>
                <a:cs typeface="Courier New" panose="02070309020205020404" pitchFamily="49" charset="0"/>
              </a:rPr>
              <a:t>deptno</a:t>
            </a: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 NUMBER(2),</a:t>
            </a:r>
          </a:p>
          <a:p>
            <a:pPr>
              <a:tabLst>
                <a:tab pos="1601788" algn="l"/>
                <a:tab pos="1717675" algn="l"/>
              </a:tabLst>
              <a:defRPr/>
            </a:pP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  3  		</a:t>
            </a:r>
            <a:r>
              <a:rPr lang="en-US" sz="2000" b="1" dirty="0" err="1">
                <a:solidFill>
                  <a:srgbClr val="000000"/>
                </a:solidFill>
                <a:latin typeface="Courier New" panose="02070309020205020404" pitchFamily="49" charset="0"/>
                <a:ea typeface="Cambria" panose="02040503050406030204" pitchFamily="18" charset="0"/>
                <a:cs typeface="Courier New" panose="02070309020205020404" pitchFamily="49" charset="0"/>
              </a:rPr>
              <a:t>dname</a:t>
            </a: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 	VARCHAR2(14),</a:t>
            </a:r>
          </a:p>
          <a:p>
            <a:pPr>
              <a:tabLst>
                <a:tab pos="1601788" algn="l"/>
                <a:tab pos="1717675" algn="l"/>
              </a:tabLst>
              <a:defRPr/>
            </a:pPr>
            <a:r>
              <a:rPr lang="en-US" sz="2000" b="1" dirty="0">
                <a:solidFill>
                  <a:srgbClr val="000000"/>
                </a:solidFill>
                <a:latin typeface="Courier New" panose="02070309020205020404" pitchFamily="49" charset="0"/>
                <a:ea typeface="Cambria" panose="02040503050406030204" pitchFamily="18" charset="0"/>
                <a:cs typeface="Courier New" panose="02070309020205020404" pitchFamily="49" charset="0"/>
              </a:rPr>
              <a:t>  4  		loc 	VARCHAR2(13));</a:t>
            </a:r>
          </a:p>
          <a:p>
            <a:pPr>
              <a:tabLst>
                <a:tab pos="1601788" algn="l"/>
                <a:tab pos="1717675" algn="l"/>
              </a:tabLst>
              <a:defRPr/>
            </a:pPr>
            <a:r>
              <a:rPr lang="en-US" sz="2000" b="1" dirty="0">
                <a:solidFill>
                  <a:srgbClr val="FF3300"/>
                </a:solidFill>
                <a:effectLst>
                  <a:outerShdw blurRad="38100" dist="38100" dir="2700000" algn="tl">
                    <a:srgbClr val="000000"/>
                  </a:outerShdw>
                </a:effectLst>
                <a:latin typeface="Courier New" panose="02070309020205020404" pitchFamily="49" charset="0"/>
                <a:ea typeface="Cambria" panose="02040503050406030204" pitchFamily="18" charset="0"/>
                <a:cs typeface="Courier New" panose="02070309020205020404" pitchFamily="49" charset="0"/>
              </a:rPr>
              <a:t>Table created.</a:t>
            </a:r>
          </a:p>
        </p:txBody>
      </p:sp>
      <p:sp>
        <p:nvSpPr>
          <p:cNvPr id="8" name="Rectangle 3">
            <a:extLst>
              <a:ext uri="{FF2B5EF4-FFF2-40B4-BE49-F238E27FC236}">
                <a16:creationId xmlns:a16="http://schemas.microsoft.com/office/drawing/2014/main" id="{EE0B62F6-1F12-F77D-9973-7337606A95D7}"/>
              </a:ext>
            </a:extLst>
          </p:cNvPr>
          <p:cNvSpPr>
            <a:spLocks noChangeArrowheads="1"/>
          </p:cNvSpPr>
          <p:nvPr/>
        </p:nvSpPr>
        <p:spPr bwMode="blackWhite">
          <a:xfrm>
            <a:off x="688330" y="3844683"/>
            <a:ext cx="7491413" cy="14906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9" name="Rectangle 5">
            <a:extLst>
              <a:ext uri="{FF2B5EF4-FFF2-40B4-BE49-F238E27FC236}">
                <a16:creationId xmlns:a16="http://schemas.microsoft.com/office/drawing/2014/main" id="{CA24500A-477D-E6D2-05D1-C2D941035F9D}"/>
              </a:ext>
            </a:extLst>
          </p:cNvPr>
          <p:cNvSpPr>
            <a:spLocks noChangeArrowheads="1"/>
          </p:cNvSpPr>
          <p:nvPr/>
        </p:nvSpPr>
        <p:spPr bwMode="auto">
          <a:xfrm>
            <a:off x="718493" y="2704858"/>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10">
            <a:extLst>
              <a:ext uri="{FF2B5EF4-FFF2-40B4-BE49-F238E27FC236}">
                <a16:creationId xmlns:a16="http://schemas.microsoft.com/office/drawing/2014/main" id="{F35D7864-574E-58BA-1E4D-946C7E2CE7C3}"/>
              </a:ext>
            </a:extLst>
          </p:cNvPr>
          <p:cNvSpPr>
            <a:spLocks noChangeArrowheads="1"/>
          </p:cNvSpPr>
          <p:nvPr/>
        </p:nvSpPr>
        <p:spPr bwMode="blackWhite">
          <a:xfrm>
            <a:off x="675630" y="3249371"/>
            <a:ext cx="7516813" cy="425450"/>
          </a:xfrm>
          <a:prstGeom prst="rect">
            <a:avLst/>
          </a:prstGeom>
          <a:solidFill>
            <a:srgbClr val="FFFFCC"/>
          </a:solidFill>
          <a:ln>
            <a:noFill/>
          </a:ln>
          <a:effectLst>
            <a:outerShdw dist="89803"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2" name="Rectangle 11">
            <a:extLst>
              <a:ext uri="{FF2B5EF4-FFF2-40B4-BE49-F238E27FC236}">
                <a16:creationId xmlns:a16="http://schemas.microsoft.com/office/drawing/2014/main" id="{FE4A98D9-9B2F-6440-16A0-74AA1484B3DD}"/>
              </a:ext>
            </a:extLst>
          </p:cNvPr>
          <p:cNvSpPr>
            <a:spLocks noChangeArrowheads="1"/>
          </p:cNvSpPr>
          <p:nvPr/>
        </p:nvSpPr>
        <p:spPr bwMode="blackWhite">
          <a:xfrm>
            <a:off x="808980" y="3196983"/>
            <a:ext cx="7315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601788" algn="l"/>
                <a:tab pos="1717675" algn="l"/>
              </a:tabLst>
              <a:defRPr sz="2800">
                <a:solidFill>
                  <a:schemeClr val="tx1"/>
                </a:solidFill>
                <a:latin typeface="Arial" panose="020B0604020202020204" pitchFamily="34" charset="0"/>
              </a:defRPr>
            </a:lvl1pPr>
            <a:lvl2pPr marL="742950" indent="-285750">
              <a:spcBef>
                <a:spcPct val="20000"/>
              </a:spcBef>
              <a:buChar char="–"/>
              <a:tabLst>
                <a:tab pos="1601788" algn="l"/>
                <a:tab pos="1717675" algn="l"/>
              </a:tabLst>
              <a:defRPr sz="2400">
                <a:solidFill>
                  <a:schemeClr val="tx1"/>
                </a:solidFill>
                <a:latin typeface="Arial" panose="020B0604020202020204" pitchFamily="34" charset="0"/>
              </a:defRPr>
            </a:lvl2pPr>
            <a:lvl3pPr marL="1143000" indent="-228600">
              <a:spcBef>
                <a:spcPct val="20000"/>
              </a:spcBef>
              <a:buChar char="•"/>
              <a:tabLst>
                <a:tab pos="1601788" algn="l"/>
                <a:tab pos="1717675" algn="l"/>
              </a:tabLst>
              <a:defRPr sz="2000">
                <a:solidFill>
                  <a:schemeClr val="tx1"/>
                </a:solidFill>
                <a:latin typeface="Arial" panose="020B0604020202020204" pitchFamily="34" charset="0"/>
              </a:defRPr>
            </a:lvl3pPr>
            <a:lvl4pPr marL="1600200" indent="-228600">
              <a:spcBef>
                <a:spcPct val="20000"/>
              </a:spcBef>
              <a:buChar char="–"/>
              <a:tabLst>
                <a:tab pos="1601788" algn="l"/>
                <a:tab pos="1717675" algn="l"/>
              </a:tabLst>
              <a:defRPr sz="2000">
                <a:solidFill>
                  <a:schemeClr val="tx1"/>
                </a:solidFill>
                <a:latin typeface="Arial" panose="020B0604020202020204" pitchFamily="34" charset="0"/>
              </a:defRPr>
            </a:lvl4pPr>
            <a:lvl5pPr marL="2057400" indent="-228600">
              <a:spcBef>
                <a:spcPct val="20000"/>
              </a:spcBef>
              <a:buChar char="»"/>
              <a:tabLst>
                <a:tab pos="1601788" algn="l"/>
                <a:tab pos="1717675"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DESCRIBE dept</a:t>
            </a:r>
          </a:p>
        </p:txBody>
      </p:sp>
      <p:sp>
        <p:nvSpPr>
          <p:cNvPr id="13" name="Rectangle 12">
            <a:extLst>
              <a:ext uri="{FF2B5EF4-FFF2-40B4-BE49-F238E27FC236}">
                <a16:creationId xmlns:a16="http://schemas.microsoft.com/office/drawing/2014/main" id="{6C9278F5-5BE8-B9E9-4A6A-248DEC739035}"/>
              </a:ext>
            </a:extLst>
          </p:cNvPr>
          <p:cNvSpPr>
            <a:spLocks noChangeArrowheads="1"/>
          </p:cNvSpPr>
          <p:nvPr/>
        </p:nvSpPr>
        <p:spPr bwMode="blackWhite">
          <a:xfrm>
            <a:off x="643880" y="3863733"/>
            <a:ext cx="7129463"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Name                        Null?    Type</a:t>
            </a:r>
          </a:p>
          <a:p>
            <a:pPr>
              <a:spcBef>
                <a:spcPct val="0"/>
              </a:spcBef>
              <a:buFontTx/>
              <a:buNone/>
            </a:pPr>
            <a:r>
              <a:rPr lang="en-US" altLang="en-US" sz="1800" b="1" dirty="0">
                <a:solidFill>
                  <a:srgbClr val="000000"/>
                </a:solidFill>
                <a:latin typeface="Courier New" panose="02070309020205020404" pitchFamily="49" charset="0"/>
              </a:rPr>
              <a:t> --------------------------- -------- ---------</a:t>
            </a:r>
          </a:p>
          <a:p>
            <a:pPr>
              <a:spcBef>
                <a:spcPct val="0"/>
              </a:spcBef>
              <a:buFontTx/>
              <a:buNone/>
            </a:pPr>
            <a:r>
              <a:rPr lang="en-US" altLang="en-US" sz="1800" b="1" dirty="0">
                <a:solidFill>
                  <a:srgbClr val="000000"/>
                </a:solidFill>
                <a:latin typeface="Courier New" panose="02070309020205020404" pitchFamily="49" charset="0"/>
              </a:rPr>
              <a:t> DEPTNO                               NUMBER(2)</a:t>
            </a:r>
          </a:p>
          <a:p>
            <a:pPr>
              <a:spcBef>
                <a:spcPct val="0"/>
              </a:spcBef>
              <a:buFontTx/>
              <a:buNone/>
            </a:pPr>
            <a:r>
              <a:rPr lang="en-US" altLang="en-US" sz="1800" b="1" dirty="0">
                <a:solidFill>
                  <a:srgbClr val="000000"/>
                </a:solidFill>
                <a:latin typeface="Courier New" panose="02070309020205020404" pitchFamily="49" charset="0"/>
              </a:rPr>
              <a:t> DNAME                                VARCHAR2(14)</a:t>
            </a:r>
          </a:p>
          <a:p>
            <a:pPr>
              <a:spcBef>
                <a:spcPct val="0"/>
              </a:spcBef>
              <a:buFontTx/>
              <a:buNone/>
            </a:pPr>
            <a:r>
              <a:rPr lang="en-US" altLang="en-US" sz="1800" b="1" dirty="0">
                <a:solidFill>
                  <a:srgbClr val="000000"/>
                </a:solidFill>
                <a:latin typeface="Courier New" panose="02070309020205020404" pitchFamily="49" charset="0"/>
              </a:rPr>
              <a:t> LOC                                  VARCHAR2(13)</a:t>
            </a:r>
          </a:p>
        </p:txBody>
      </p:sp>
      <p:sp>
        <p:nvSpPr>
          <p:cNvPr id="14" name="Rectangle 3">
            <a:extLst>
              <a:ext uri="{FF2B5EF4-FFF2-40B4-BE49-F238E27FC236}">
                <a16:creationId xmlns:a16="http://schemas.microsoft.com/office/drawing/2014/main" id="{FD333CB1-2F4F-F05D-5149-4F183DED3B66}"/>
              </a:ext>
            </a:extLst>
          </p:cNvPr>
          <p:cNvSpPr txBox="1">
            <a:spLocks noChangeArrowheads="1"/>
          </p:cNvSpPr>
          <p:nvPr/>
        </p:nvSpPr>
        <p:spPr bwMode="auto">
          <a:xfrm>
            <a:off x="410369" y="2592760"/>
            <a:ext cx="8394700" cy="708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Confirm table creation.</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102549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544D-6835-FD50-CEE2-AC536460D53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CDFA1A0-068E-0F15-A44F-2AC9841DB0E0}"/>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B165DFA3-9854-1B81-1CCD-DD704C1C870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2F5D2BF-76E0-02FB-DE79-7277810019C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B0F9AE12-3C2C-C34A-FA47-176AC2568CD8}"/>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User tables</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Collection of tables created and maintained by the user</a:t>
            </a:r>
          </a:p>
          <a:p>
            <a:pPr marL="560388" marR="0" lvl="1"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6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Contain user information</a:t>
            </a:r>
          </a:p>
          <a:p>
            <a:pPr marL="285750" lvl="0" indent="-285750" algn="just">
              <a:buClr>
                <a:srgbClr val="D34817"/>
              </a:buClr>
              <a:buSzPct val="50000"/>
              <a:buFont typeface="Wingdings" panose="05000000000000000000" pitchFamily="2" charset="2"/>
              <a:buChar char="l"/>
              <a:defRPr/>
            </a:pPr>
            <a:r>
              <a:rPr lang="en-US" alt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System tables (Data Dictionary)</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latin typeface="Cambria" panose="02040503050406030204" pitchFamily="18" charset="0"/>
                <a:ea typeface="Cambria" panose="02040503050406030204" pitchFamily="18" charset="0"/>
                <a:cs typeface="Calibri" panose="020F0502020204030204" pitchFamily="34" charset="0"/>
              </a:rPr>
              <a:t>Collection of tables created and maintained by the Oracle server</a:t>
            </a:r>
          </a:p>
          <a:p>
            <a:pPr marL="560388" lvl="1" indent="-285750" algn="just">
              <a:spcBef>
                <a:spcPts val="575"/>
              </a:spcBef>
              <a:buClr>
                <a:srgbClr val="D34817"/>
              </a:buClr>
              <a:buSzPct val="50000"/>
              <a:buFont typeface="Wingdings" panose="05000000000000000000" pitchFamily="2" charset="2"/>
              <a:buChar char="l"/>
              <a:defRPr/>
            </a:pPr>
            <a:r>
              <a:rPr lang="en-US" altLang="en-US" sz="2600" dirty="0">
                <a:latin typeface="Cambria" panose="02040503050406030204" pitchFamily="18" charset="0"/>
                <a:ea typeface="Cambria" panose="02040503050406030204" pitchFamily="18" charset="0"/>
                <a:cs typeface="Calibri" panose="020F0502020204030204" pitchFamily="34" charset="0"/>
              </a:rPr>
              <a:t>Contain database information</a:t>
            </a:r>
            <a:endParaRPr lang="en-US" altLang="en-US" sz="2600"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8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00B6E55A-1C46-6F7F-175A-131BD131D82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14449011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419F169-1B83-EB6A-D758-A7C79901664B}"/>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01952111-6B51-1396-CF49-0E2F4DA78911}"/>
              </a:ext>
            </a:extLst>
          </p:cNvPr>
          <p:cNvSpPr>
            <a:spLocks noGrp="1" noChangeArrowheads="1"/>
          </p:cNvSpPr>
          <p:nvPr>
            <p:ph type="title"/>
          </p:nvPr>
        </p:nvSpPr>
        <p:spPr>
          <a:xfrm>
            <a:off x="539552" y="246856"/>
            <a:ext cx="5832326"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Querying the Data Dictionary</a:t>
            </a:r>
          </a:p>
        </p:txBody>
      </p:sp>
      <p:sp>
        <p:nvSpPr>
          <p:cNvPr id="20483" name="Rectangle 3">
            <a:extLst>
              <a:ext uri="{FF2B5EF4-FFF2-40B4-BE49-F238E27FC236}">
                <a16:creationId xmlns:a16="http://schemas.microsoft.com/office/drawing/2014/main" id="{F2D48341-5097-36C3-4762-4800996FA4A3}"/>
              </a:ext>
            </a:extLst>
          </p:cNvPr>
          <p:cNvSpPr>
            <a:spLocks noGrp="1" noChangeArrowheads="1"/>
          </p:cNvSpPr>
          <p:nvPr>
            <p:ph type="body" idx="1"/>
          </p:nvPr>
        </p:nvSpPr>
        <p:spPr bwMode="blackWhite">
          <a:xfrm>
            <a:off x="611560" y="704429"/>
            <a:ext cx="7385050" cy="5466754"/>
          </a:xfrm>
        </p:spPr>
        <p:txBody>
          <a:bodyPr lIns="92075" tIns="46038" rIns="92075" bIns="46038">
            <a:spAutoFit/>
          </a:bodyPr>
          <a:lstStyle/>
          <a:p>
            <a:r>
              <a:rPr lang="en-US" altLang="en-US" sz="2400" dirty="0">
                <a:latin typeface="Cambria" panose="02040503050406030204" pitchFamily="18" charset="0"/>
                <a:ea typeface="Cambria" panose="02040503050406030204" pitchFamily="18" charset="0"/>
              </a:rPr>
              <a:t>List all the tables owned by the user.</a:t>
            </a:r>
          </a:p>
          <a:p>
            <a:endParaRPr lang="en-US" altLang="en-US" sz="2400" dirty="0">
              <a:latin typeface="Cambria" panose="02040503050406030204" pitchFamily="18" charset="0"/>
              <a:ea typeface="Cambria" panose="02040503050406030204" pitchFamily="18" charset="0"/>
            </a:endParaRPr>
          </a:p>
          <a:p>
            <a:endParaRPr lang="en-US" altLang="en-US" sz="12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View distinct object types owned by the user.</a:t>
            </a:r>
          </a:p>
          <a:p>
            <a:endParaRPr lang="en-US" altLang="en-US" sz="2400" dirty="0">
              <a:latin typeface="Cambria" panose="02040503050406030204" pitchFamily="18" charset="0"/>
              <a:ea typeface="Cambria" panose="02040503050406030204" pitchFamily="18" charset="0"/>
            </a:endParaRPr>
          </a:p>
          <a:p>
            <a:endParaRPr lang="en-US" altLang="en-US" sz="11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View all database objects owned by a user.</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Information on all columns in a table</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p:txBody>
      </p:sp>
      <p:sp>
        <p:nvSpPr>
          <p:cNvPr id="20484" name="Rectangle 4">
            <a:extLst>
              <a:ext uri="{FF2B5EF4-FFF2-40B4-BE49-F238E27FC236}">
                <a16:creationId xmlns:a16="http://schemas.microsoft.com/office/drawing/2014/main" id="{82A079FA-A04C-69BA-B15F-5FBC177008C7}"/>
              </a:ext>
            </a:extLst>
          </p:cNvPr>
          <p:cNvSpPr>
            <a:spLocks noChangeArrowheads="1"/>
          </p:cNvSpPr>
          <p:nvPr/>
        </p:nvSpPr>
        <p:spPr bwMode="blackWhite">
          <a:xfrm>
            <a:off x="659185" y="2360811"/>
            <a:ext cx="7494587" cy="4635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485" name="Rectangle 5">
            <a:extLst>
              <a:ext uri="{FF2B5EF4-FFF2-40B4-BE49-F238E27FC236}">
                <a16:creationId xmlns:a16="http://schemas.microsoft.com/office/drawing/2014/main" id="{9C4A8211-1116-14D4-98DC-4855F702EBB4}"/>
              </a:ext>
            </a:extLst>
          </p:cNvPr>
          <p:cNvSpPr>
            <a:spLocks noChangeArrowheads="1"/>
          </p:cNvSpPr>
          <p:nvPr/>
        </p:nvSpPr>
        <p:spPr bwMode="blackWhite">
          <a:xfrm>
            <a:off x="683568" y="3476427"/>
            <a:ext cx="7494587" cy="5111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486" name="Rectangle 6">
            <a:extLst>
              <a:ext uri="{FF2B5EF4-FFF2-40B4-BE49-F238E27FC236}">
                <a16:creationId xmlns:a16="http://schemas.microsoft.com/office/drawing/2014/main" id="{A0948C47-6FAE-0650-754D-9DD7AC65B071}"/>
              </a:ext>
            </a:extLst>
          </p:cNvPr>
          <p:cNvSpPr>
            <a:spLocks noChangeArrowheads="1"/>
          </p:cNvSpPr>
          <p:nvPr/>
        </p:nvSpPr>
        <p:spPr bwMode="auto">
          <a:xfrm>
            <a:off x="709613" y="2362200"/>
            <a:ext cx="774700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87" name="Rectangle 7">
            <a:extLst>
              <a:ext uri="{FF2B5EF4-FFF2-40B4-BE49-F238E27FC236}">
                <a16:creationId xmlns:a16="http://schemas.microsoft.com/office/drawing/2014/main" id="{76056351-F9AD-33B0-2D38-165B94852F89}"/>
              </a:ext>
            </a:extLst>
          </p:cNvPr>
          <p:cNvSpPr>
            <a:spLocks noChangeArrowheads="1"/>
          </p:cNvSpPr>
          <p:nvPr/>
        </p:nvSpPr>
        <p:spPr bwMode="auto">
          <a:xfrm>
            <a:off x="887413" y="4090988"/>
            <a:ext cx="774700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88" name="Rectangle 8">
            <a:extLst>
              <a:ext uri="{FF2B5EF4-FFF2-40B4-BE49-F238E27FC236}">
                <a16:creationId xmlns:a16="http://schemas.microsoft.com/office/drawing/2014/main" id="{29CB3C7E-F655-8F55-C3F7-8573D42D4124}"/>
              </a:ext>
            </a:extLst>
          </p:cNvPr>
          <p:cNvSpPr>
            <a:spLocks noChangeArrowheads="1"/>
          </p:cNvSpPr>
          <p:nvPr/>
        </p:nvSpPr>
        <p:spPr bwMode="blackWhite">
          <a:xfrm>
            <a:off x="659185" y="1183854"/>
            <a:ext cx="7494587" cy="4333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0491" name="Rectangle 12">
            <a:extLst>
              <a:ext uri="{FF2B5EF4-FFF2-40B4-BE49-F238E27FC236}">
                <a16:creationId xmlns:a16="http://schemas.microsoft.com/office/drawing/2014/main" id="{3FB73CE2-72D7-75A0-DABE-B4E93FC95672}"/>
              </a:ext>
            </a:extLst>
          </p:cNvPr>
          <p:cNvSpPr>
            <a:spLocks noChangeArrowheads="1"/>
          </p:cNvSpPr>
          <p:nvPr/>
        </p:nvSpPr>
        <p:spPr bwMode="ltGray">
          <a:xfrm>
            <a:off x="3532560" y="1298154"/>
            <a:ext cx="1733550"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92" name="Rectangle 13">
            <a:extLst>
              <a:ext uri="{FF2B5EF4-FFF2-40B4-BE49-F238E27FC236}">
                <a16:creationId xmlns:a16="http://schemas.microsoft.com/office/drawing/2014/main" id="{6F9FBFA3-D61E-A6DA-5202-C91EEEFCE3FD}"/>
              </a:ext>
            </a:extLst>
          </p:cNvPr>
          <p:cNvSpPr>
            <a:spLocks noChangeArrowheads="1"/>
          </p:cNvSpPr>
          <p:nvPr/>
        </p:nvSpPr>
        <p:spPr bwMode="ltGray">
          <a:xfrm>
            <a:off x="6247185" y="2459236"/>
            <a:ext cx="1885950" cy="2286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chemeClr val="accent2"/>
              </a:solidFill>
            </a:endParaRPr>
          </a:p>
        </p:txBody>
      </p:sp>
      <p:sp>
        <p:nvSpPr>
          <p:cNvPr id="20493" name="Rectangle 14">
            <a:extLst>
              <a:ext uri="{FF2B5EF4-FFF2-40B4-BE49-F238E27FC236}">
                <a16:creationId xmlns:a16="http://schemas.microsoft.com/office/drawing/2014/main" id="{C370E75F-8BD0-18F9-A57B-6193AE313EE1}"/>
              </a:ext>
            </a:extLst>
          </p:cNvPr>
          <p:cNvSpPr>
            <a:spLocks noChangeArrowheads="1"/>
          </p:cNvSpPr>
          <p:nvPr/>
        </p:nvSpPr>
        <p:spPr bwMode="ltGray">
          <a:xfrm>
            <a:off x="3556943" y="3541514"/>
            <a:ext cx="1936750"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chemeClr val="accent2"/>
              </a:solidFill>
            </a:endParaRPr>
          </a:p>
        </p:txBody>
      </p:sp>
      <p:sp>
        <p:nvSpPr>
          <p:cNvPr id="20494" name="Rectangle 15">
            <a:extLst>
              <a:ext uri="{FF2B5EF4-FFF2-40B4-BE49-F238E27FC236}">
                <a16:creationId xmlns:a16="http://schemas.microsoft.com/office/drawing/2014/main" id="{A7C2916C-21EB-011E-0078-AC447490B0AB}"/>
              </a:ext>
            </a:extLst>
          </p:cNvPr>
          <p:cNvSpPr>
            <a:spLocks noChangeArrowheads="1"/>
          </p:cNvSpPr>
          <p:nvPr/>
        </p:nvSpPr>
        <p:spPr bwMode="blackWhite">
          <a:xfrm>
            <a:off x="762372" y="1085429"/>
            <a:ext cx="742791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 FROM	</a:t>
            </a:r>
            <a:r>
              <a:rPr lang="en-US" altLang="en-US" sz="1800" b="1" dirty="0" err="1">
                <a:solidFill>
                  <a:schemeClr val="accent2"/>
                </a:solidFill>
                <a:latin typeface="Courier New" panose="02070309020205020404" pitchFamily="49" charset="0"/>
              </a:rPr>
              <a:t>user_tables</a:t>
            </a:r>
            <a:r>
              <a:rPr lang="en-US" altLang="en-US" sz="1800" b="1" dirty="0">
                <a:solidFill>
                  <a:srgbClr val="000000"/>
                </a:solidFill>
                <a:latin typeface="Courier New" panose="02070309020205020404" pitchFamily="49" charset="0"/>
              </a:rPr>
              <a:t>;</a:t>
            </a:r>
          </a:p>
        </p:txBody>
      </p:sp>
      <p:sp>
        <p:nvSpPr>
          <p:cNvPr id="20495" name="Rectangle 16">
            <a:extLst>
              <a:ext uri="{FF2B5EF4-FFF2-40B4-BE49-F238E27FC236}">
                <a16:creationId xmlns:a16="http://schemas.microsoft.com/office/drawing/2014/main" id="{59B8D0BA-C01E-58B8-30F1-71E511F4D714}"/>
              </a:ext>
            </a:extLst>
          </p:cNvPr>
          <p:cNvSpPr>
            <a:spLocks noChangeArrowheads="1"/>
          </p:cNvSpPr>
          <p:nvPr/>
        </p:nvSpPr>
        <p:spPr bwMode="blackWhite">
          <a:xfrm>
            <a:off x="725860" y="2370336"/>
            <a:ext cx="74279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DISTINCT object_type FROM 	</a:t>
            </a:r>
            <a:r>
              <a:rPr lang="en-US" altLang="en-US" sz="1800" b="1">
                <a:solidFill>
                  <a:schemeClr val="accent2"/>
                </a:solidFill>
                <a:latin typeface="Courier New" panose="02070309020205020404" pitchFamily="49" charset="0"/>
              </a:rPr>
              <a:t>user_objects;</a:t>
            </a:r>
          </a:p>
        </p:txBody>
      </p:sp>
      <p:sp>
        <p:nvSpPr>
          <p:cNvPr id="20496" name="Rectangle 17">
            <a:extLst>
              <a:ext uri="{FF2B5EF4-FFF2-40B4-BE49-F238E27FC236}">
                <a16:creationId xmlns:a16="http://schemas.microsoft.com/office/drawing/2014/main" id="{1F671797-1C46-9ED0-0DF2-C0122270C825}"/>
              </a:ext>
            </a:extLst>
          </p:cNvPr>
          <p:cNvSpPr>
            <a:spLocks noChangeArrowheads="1"/>
          </p:cNvSpPr>
          <p:nvPr/>
        </p:nvSpPr>
        <p:spPr bwMode="blackWhite">
          <a:xfrm>
            <a:off x="801043" y="3395464"/>
            <a:ext cx="747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 FROM	</a:t>
            </a:r>
            <a:r>
              <a:rPr lang="en-US" altLang="en-US" sz="1800" b="1">
                <a:solidFill>
                  <a:schemeClr val="accent2"/>
                </a:solidFill>
                <a:latin typeface="Courier New" panose="02070309020205020404" pitchFamily="49" charset="0"/>
              </a:rPr>
              <a:t>user_catalog;</a:t>
            </a:r>
          </a:p>
        </p:txBody>
      </p:sp>
      <p:sp>
        <p:nvSpPr>
          <p:cNvPr id="20498" name="Rectangle 8">
            <a:extLst>
              <a:ext uri="{FF2B5EF4-FFF2-40B4-BE49-F238E27FC236}">
                <a16:creationId xmlns:a16="http://schemas.microsoft.com/office/drawing/2014/main" id="{0AB56FF4-69D6-74EB-7FF7-97EECBA207F8}"/>
              </a:ext>
            </a:extLst>
          </p:cNvPr>
          <p:cNvSpPr>
            <a:spLocks noChangeArrowheads="1"/>
          </p:cNvSpPr>
          <p:nvPr/>
        </p:nvSpPr>
        <p:spPr bwMode="blackWhite">
          <a:xfrm>
            <a:off x="713308" y="4841875"/>
            <a:ext cx="7494587" cy="4460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0499" name="Rectangle 12">
            <a:extLst>
              <a:ext uri="{FF2B5EF4-FFF2-40B4-BE49-F238E27FC236}">
                <a16:creationId xmlns:a16="http://schemas.microsoft.com/office/drawing/2014/main" id="{0A28DD56-EA39-AACB-0710-5E1A34B478DD}"/>
              </a:ext>
            </a:extLst>
          </p:cNvPr>
          <p:cNvSpPr>
            <a:spLocks noChangeArrowheads="1"/>
          </p:cNvSpPr>
          <p:nvPr/>
        </p:nvSpPr>
        <p:spPr bwMode="ltGray">
          <a:xfrm>
            <a:off x="3586683" y="4868863"/>
            <a:ext cx="2062162" cy="3492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00" name="Rectangle 15">
            <a:extLst>
              <a:ext uri="{FF2B5EF4-FFF2-40B4-BE49-F238E27FC236}">
                <a16:creationId xmlns:a16="http://schemas.microsoft.com/office/drawing/2014/main" id="{D5E97C24-50CC-1233-962A-B375230E6E41}"/>
              </a:ext>
            </a:extLst>
          </p:cNvPr>
          <p:cNvSpPr>
            <a:spLocks noChangeArrowheads="1"/>
          </p:cNvSpPr>
          <p:nvPr/>
        </p:nvSpPr>
        <p:spPr bwMode="blackWhite">
          <a:xfrm>
            <a:off x="816495" y="4829175"/>
            <a:ext cx="74279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 FROM	</a:t>
            </a:r>
            <a:r>
              <a:rPr lang="en-US" altLang="en-US" sz="1800" b="1">
                <a:solidFill>
                  <a:schemeClr val="accent2"/>
                </a:solidFill>
                <a:latin typeface="Courier New" panose="02070309020205020404" pitchFamily="49" charset="0"/>
              </a:rPr>
              <a:t>user_tab_cols</a:t>
            </a:r>
            <a:r>
              <a:rPr lang="en-US" altLang="en-US" sz="1800" b="1">
                <a:solidFill>
                  <a:srgbClr val="000000"/>
                </a:solidFill>
                <a:latin typeface="Courier New" panose="02070309020205020404" pitchFamily="49" charset="0"/>
              </a:rPr>
              <a:t>;</a:t>
            </a:r>
          </a:p>
        </p:txBody>
      </p:sp>
    </p:spTree>
    <p:extLst>
      <p:ext uri="{BB962C8B-B14F-4D97-AF65-F5344CB8AC3E}">
        <p14:creationId xmlns:p14="http://schemas.microsoft.com/office/powerpoint/2010/main" val="2754215941"/>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7AA57-0BB7-FDC1-4F2D-BDADABE5E93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E356C38-847F-06F6-651C-7E012DCA116D}"/>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Constraints Specification</a:t>
            </a:r>
          </a:p>
        </p:txBody>
      </p:sp>
      <p:sp>
        <p:nvSpPr>
          <p:cNvPr id="38915" name="Rectangle 3">
            <a:extLst>
              <a:ext uri="{FF2B5EF4-FFF2-40B4-BE49-F238E27FC236}">
                <a16:creationId xmlns:a16="http://schemas.microsoft.com/office/drawing/2014/main" id="{04B25165-D77E-2672-349C-F762DDAE27D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2CEA0554-8AB4-14B2-4155-AF96A2013A6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10A5204-F643-78B5-09F6-DF4BAACB3241}"/>
              </a:ext>
            </a:extLst>
          </p:cNvPr>
          <p:cNvSpPr txBox="1">
            <a:spLocks noChangeArrowheads="1"/>
          </p:cNvSpPr>
          <p:nvPr/>
        </p:nvSpPr>
        <p:spPr bwMode="auto">
          <a:xfrm>
            <a:off x="179512" y="646451"/>
            <a:ext cx="8749134"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Constraints enforce data integrity rules.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Constraint can be specified either at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table level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column level.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constraint should be given a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meaningful 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(its optional though), otherwise oracle server give every constraint a unique name in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sys-</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cn</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format.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constraint can be defined either at the time of table creation or after it.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constraints are stored in a data dictionary view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USER_CONSTTAINTS.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following constraint types are valid in Oracle:</a:t>
            </a:r>
          </a:p>
          <a:p>
            <a:pPr marL="560388" marR="0" lvl="1"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NOT NULL		</a:t>
            </a:r>
            <a:r>
              <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Column Level</a:t>
            </a:r>
          </a:p>
          <a:p>
            <a:pPr marL="560388" lvl="1" indent="-285750" algn="just">
              <a:spcBef>
                <a:spcPts val="300"/>
              </a:spcBef>
              <a:buClr>
                <a:srgbClr val="D34817"/>
              </a:buClr>
              <a:buSzPct val="50000"/>
              <a:buFont typeface="Wingdings" panose="05000000000000000000" pitchFamily="2" charset="2"/>
              <a:buChar char="l"/>
              <a:defRPr/>
            </a:pP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UNIQUE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Column/Table Level</a:t>
            </a:r>
            <a:endPar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560388" lvl="1" indent="-285750" algn="just">
              <a:spcBef>
                <a:spcPts val="300"/>
              </a:spcBef>
              <a:buClr>
                <a:srgbClr val="D34817"/>
              </a:buClr>
              <a:buSzPct val="50000"/>
              <a:buFont typeface="Wingdings" panose="05000000000000000000" pitchFamily="2" charset="2"/>
              <a:buChar char="l"/>
              <a:defRPr/>
            </a:pP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PRIMARY KEY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Column/Table Level</a:t>
            </a:r>
            <a:endPar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560388" lvl="1" indent="-285750" algn="just">
              <a:spcBef>
                <a:spcPts val="300"/>
              </a:spcBef>
              <a:buClr>
                <a:srgbClr val="D34817"/>
              </a:buClr>
              <a:buSzPct val="50000"/>
              <a:buFont typeface="Wingdings" panose="05000000000000000000" pitchFamily="2" charset="2"/>
              <a:buChar char="l"/>
              <a:defRPr/>
            </a:pP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FOREIGN KEY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Column/Table Level</a:t>
            </a:r>
            <a:endPar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560388" lvl="1" indent="-285750" algn="just">
              <a:spcBef>
                <a:spcPts val="300"/>
              </a:spcBef>
              <a:buClr>
                <a:srgbClr val="D34817"/>
              </a:buClr>
              <a:buSzPct val="50000"/>
              <a:buFont typeface="Wingdings" panose="05000000000000000000" pitchFamily="2" charset="2"/>
              <a:buChar char="l"/>
              <a:defRPr/>
            </a:pP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CHECK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Column/Table Level </a:t>
            </a:r>
          </a:p>
          <a:p>
            <a:pPr marL="560388" lvl="1" indent="-285750" algn="just">
              <a:spcBef>
                <a:spcPts val="300"/>
              </a:spcBef>
              <a:buClr>
                <a:srgbClr val="D34817"/>
              </a:buClr>
              <a:buSzPct val="50000"/>
              <a:buFont typeface="Wingdings" panose="05000000000000000000" pitchFamily="2" charset="2"/>
              <a:buChar char="l"/>
              <a:defRPr/>
            </a:pPr>
            <a:r>
              <a:rPr lang="en-US" altLang="en-US" sz="2000" dirty="0">
                <a:solidFill>
                  <a:srgbClr val="0000CC"/>
                </a:solidFill>
                <a:latin typeface="Cambria" panose="02040503050406030204" pitchFamily="18" charset="0"/>
                <a:ea typeface="Cambria" panose="02040503050406030204" pitchFamily="18" charset="0"/>
                <a:cs typeface="Calibri" panose="020F0502020204030204" pitchFamily="34" charset="0"/>
              </a:rPr>
              <a:t>DEFAULT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Column Level </a:t>
            </a:r>
            <a:r>
              <a:rPr kumimoji="0" lang="en-US" altLang="en-US" sz="20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a:t>
            </a: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403194355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FAAA0-4B1D-22DE-560D-3E4A4EFE5CE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5D97DE5-FD69-4863-3B0A-4815F5E660C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Constraints Specification</a:t>
            </a:r>
          </a:p>
        </p:txBody>
      </p:sp>
      <p:sp>
        <p:nvSpPr>
          <p:cNvPr id="38915" name="Rectangle 3">
            <a:extLst>
              <a:ext uri="{FF2B5EF4-FFF2-40B4-BE49-F238E27FC236}">
                <a16:creationId xmlns:a16="http://schemas.microsoft.com/office/drawing/2014/main" id="{3D8A577F-B123-4451-8B7A-C40D047E7C9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8EF8BDE-4124-9D2D-1054-ED04D56ACD7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7D731747-A2E5-B806-877D-12B152315A6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F2E870BC-7261-1E49-1FE9-CFA5AA2FC742}"/>
              </a:ext>
            </a:extLst>
          </p:cNvPr>
          <p:cNvSpPr>
            <a:spLocks noChangeArrowheads="1"/>
          </p:cNvSpPr>
          <p:nvPr/>
        </p:nvSpPr>
        <p:spPr bwMode="blackWhite">
          <a:xfrm>
            <a:off x="467544" y="755570"/>
            <a:ext cx="7546975" cy="5334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5">
            <a:extLst>
              <a:ext uri="{FF2B5EF4-FFF2-40B4-BE49-F238E27FC236}">
                <a16:creationId xmlns:a16="http://schemas.microsoft.com/office/drawing/2014/main" id="{779E0151-9D3E-E56B-09A2-A0B037326433}"/>
              </a:ext>
            </a:extLst>
          </p:cNvPr>
          <p:cNvSpPr>
            <a:spLocks noChangeArrowheads="1"/>
          </p:cNvSpPr>
          <p:nvPr/>
        </p:nvSpPr>
        <p:spPr bwMode="blackWhite">
          <a:xfrm>
            <a:off x="467792" y="795257"/>
            <a:ext cx="8174037" cy="47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fr-FR" altLang="en-US" sz="2000" b="1" i="1" dirty="0">
                <a:solidFill>
                  <a:srgbClr val="000000"/>
                </a:solidFill>
                <a:latin typeface="Courier New" panose="02070309020205020404" pitchFamily="49" charset="0"/>
              </a:rPr>
              <a:t>[CONSTRAINT </a:t>
            </a:r>
            <a:r>
              <a:rPr lang="fr-FR" altLang="en-US" sz="2000" b="1" i="1" dirty="0" err="1">
                <a:solidFill>
                  <a:srgbClr val="000000"/>
                </a:solidFill>
                <a:latin typeface="Courier New" panose="02070309020205020404" pitchFamily="49" charset="0"/>
              </a:rPr>
              <a:t>constraint_name</a:t>
            </a:r>
            <a:r>
              <a:rPr lang="fr-FR" altLang="en-US" sz="2000" b="1" i="1" dirty="0">
                <a:solidFill>
                  <a:srgbClr val="000000"/>
                </a:solidFill>
                <a:latin typeface="Courier New" panose="02070309020205020404" pitchFamily="49" charset="0"/>
              </a:rPr>
              <a:t>] </a:t>
            </a:r>
            <a:r>
              <a:rPr lang="fr-FR" altLang="en-US" sz="2000" b="1" i="1" dirty="0" err="1">
                <a:solidFill>
                  <a:srgbClr val="FF0000"/>
                </a:solidFill>
                <a:latin typeface="Courier New" panose="02070309020205020404" pitchFamily="49" charset="0"/>
              </a:rPr>
              <a:t>constraint_type</a:t>
            </a:r>
            <a:endParaRPr lang="en-US" altLang="en-US" sz="2000" b="1" i="1" dirty="0">
              <a:solidFill>
                <a:srgbClr val="FF0000"/>
              </a:solidFill>
              <a:latin typeface="Courier New" panose="02070309020205020404" pitchFamily="49" charset="0"/>
            </a:endParaRPr>
          </a:p>
        </p:txBody>
      </p:sp>
      <p:grpSp>
        <p:nvGrpSpPr>
          <p:cNvPr id="6" name="Group 6">
            <a:extLst>
              <a:ext uri="{FF2B5EF4-FFF2-40B4-BE49-F238E27FC236}">
                <a16:creationId xmlns:a16="http://schemas.microsoft.com/office/drawing/2014/main" id="{AA96EDF9-12BD-3853-BBFD-56D8516D7E6A}"/>
              </a:ext>
            </a:extLst>
          </p:cNvPr>
          <p:cNvGrpSpPr>
            <a:grpSpLocks/>
          </p:cNvGrpSpPr>
          <p:nvPr/>
        </p:nvGrpSpPr>
        <p:grpSpPr bwMode="auto">
          <a:xfrm>
            <a:off x="520123" y="1437779"/>
            <a:ext cx="7737475" cy="2254250"/>
            <a:chOff x="622" y="2192"/>
            <a:chExt cx="4874" cy="1420"/>
          </a:xfrm>
        </p:grpSpPr>
        <p:sp>
          <p:nvSpPr>
            <p:cNvPr id="7" name="Rectangle 7">
              <a:extLst>
                <a:ext uri="{FF2B5EF4-FFF2-40B4-BE49-F238E27FC236}">
                  <a16:creationId xmlns:a16="http://schemas.microsoft.com/office/drawing/2014/main" id="{0B3C64B1-242E-1316-258C-9383EC4DCFDE}"/>
                </a:ext>
              </a:extLst>
            </p:cNvPr>
            <p:cNvSpPr>
              <a:spLocks noChangeArrowheads="1"/>
            </p:cNvSpPr>
            <p:nvPr/>
          </p:nvSpPr>
          <p:spPr bwMode="blackWhite">
            <a:xfrm>
              <a:off x="622" y="2192"/>
              <a:ext cx="4754" cy="14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8">
              <a:extLst>
                <a:ext uri="{FF2B5EF4-FFF2-40B4-BE49-F238E27FC236}">
                  <a16:creationId xmlns:a16="http://schemas.microsoft.com/office/drawing/2014/main" id="{F7D118CC-9958-FA56-5918-DAE4E0E4BAF7}"/>
                </a:ext>
              </a:extLst>
            </p:cNvPr>
            <p:cNvSpPr>
              <a:spLocks noChangeArrowheads="1"/>
            </p:cNvSpPr>
            <p:nvPr/>
          </p:nvSpPr>
          <p:spPr bwMode="blackWhite">
            <a:xfrm>
              <a:off x="698" y="2193"/>
              <a:ext cx="4798" cy="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CREATE TABLE emp(</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empno</a:t>
              </a:r>
              <a:r>
                <a:rPr lang="en-US" altLang="en-US" sz="2000" b="1" dirty="0">
                  <a:solidFill>
                    <a:srgbClr val="000000"/>
                  </a:solidFill>
                  <a:latin typeface="Courier New" panose="02070309020205020404" pitchFamily="49" charset="0"/>
                </a:rPr>
                <a:t>  NUMBER(4),</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ename</a:t>
              </a:r>
              <a:r>
                <a:rPr lang="en-US" altLang="en-US" sz="2000" b="1" dirty="0">
                  <a:solidFill>
                    <a:srgbClr val="000000"/>
                  </a:solidFill>
                  <a:latin typeface="Courier New" panose="02070309020205020404" pitchFamily="49" charset="0"/>
                </a:rPr>
                <a:t>  VARCHAR2(10),</a:t>
              </a:r>
            </a:p>
            <a:p>
              <a:pPr>
                <a:spcBef>
                  <a:spcPct val="0"/>
                </a:spcBef>
                <a:buFontTx/>
                <a:buNone/>
              </a:pPr>
              <a:r>
                <a:rPr lang="en-US" altLang="en-US" sz="2000" b="1" dirty="0">
                  <a:solidFill>
                    <a:srgbClr val="000000"/>
                  </a:solidFill>
                  <a:latin typeface="Courier New" panose="02070309020205020404" pitchFamily="49" charset="0"/>
                </a:rPr>
                <a:t>  	     ...</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deptno</a:t>
              </a:r>
              <a:r>
                <a:rPr lang="en-US" altLang="en-US" sz="2000" b="1" dirty="0">
                  <a:solidFill>
                    <a:srgbClr val="000000"/>
                  </a:solidFill>
                  <a:latin typeface="Courier New" panose="02070309020205020404" pitchFamily="49" charset="0"/>
                </a:rPr>
                <a:t>  NUMBER(7,2) </a:t>
              </a:r>
              <a:r>
                <a:rPr lang="en-US" altLang="en-US" sz="2000" b="1" dirty="0">
                  <a:solidFill>
                    <a:srgbClr val="0033CC"/>
                  </a:solidFill>
                  <a:latin typeface="Courier New" panose="02070309020205020404" pitchFamily="49" charset="0"/>
                </a:rPr>
                <a:t>NOT NULL,</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a:solidFill>
                    <a:srgbClr val="FF0000"/>
                  </a:solidFill>
                  <a:latin typeface="Courier New" panose="02070309020205020404" pitchFamily="49" charset="0"/>
                </a:rPr>
                <a:t>CONSTRAINT </a:t>
              </a:r>
              <a:r>
                <a:rPr lang="en-US" altLang="en-US" sz="2000" b="1" dirty="0" err="1">
                  <a:solidFill>
                    <a:srgbClr val="FF0000"/>
                  </a:solidFill>
                  <a:latin typeface="Courier New" panose="02070309020205020404" pitchFamily="49" charset="0"/>
                </a:rPr>
                <a:t>emp_empno_pk</a:t>
              </a:r>
              <a:r>
                <a:rPr lang="en-US" altLang="en-US" sz="2000" b="1" dirty="0">
                  <a:solidFill>
                    <a:srgbClr val="000000"/>
                  </a:solidFill>
                  <a:latin typeface="Courier New" panose="02070309020205020404" pitchFamily="49" charset="0"/>
                </a:rPr>
                <a:t> </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a:solidFill>
                    <a:srgbClr val="0033CC"/>
                  </a:solidFill>
                  <a:latin typeface="Courier New" panose="02070309020205020404" pitchFamily="49" charset="0"/>
                </a:rPr>
                <a:t>PRIMARY KEY (EMPNO)</a:t>
              </a:r>
              <a:r>
                <a:rPr lang="en-US" altLang="en-US" sz="2000" b="1" dirty="0">
                  <a:solidFill>
                    <a:srgbClr val="000000"/>
                  </a:solidFill>
                  <a:latin typeface="Courier New" panose="02070309020205020404" pitchFamily="49" charset="0"/>
                </a:rPr>
                <a:t>);	</a:t>
              </a:r>
            </a:p>
          </p:txBody>
        </p:sp>
      </p:grpSp>
    </p:spTree>
    <p:extLst>
      <p:ext uri="{BB962C8B-B14F-4D97-AF65-F5344CB8AC3E}">
        <p14:creationId xmlns:p14="http://schemas.microsoft.com/office/powerpoint/2010/main" val="152958035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0F9EB-D4C0-B5A2-67B2-43C43431D15A}"/>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D8F7495B-6CAB-E246-7F03-2342F78BC2C0}"/>
              </a:ext>
            </a:extLst>
          </p:cNvPr>
          <p:cNvSpPr>
            <a:spLocks noGrp="1" noChangeArrowheads="1"/>
          </p:cNvSpPr>
          <p:nvPr>
            <p:ph type="title"/>
          </p:nvPr>
        </p:nvSpPr>
        <p:spPr>
          <a:xfrm>
            <a:off x="467544" y="264945"/>
            <a:ext cx="4643438"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NOT NULL Constraint</a:t>
            </a:r>
          </a:p>
        </p:txBody>
      </p:sp>
      <p:sp>
        <p:nvSpPr>
          <p:cNvPr id="30723" name="Rectangle 3">
            <a:extLst>
              <a:ext uri="{FF2B5EF4-FFF2-40B4-BE49-F238E27FC236}">
                <a16:creationId xmlns:a16="http://schemas.microsoft.com/office/drawing/2014/main" id="{B2E685C4-59F4-5610-8051-51DABCDC433F}"/>
              </a:ext>
            </a:extLst>
          </p:cNvPr>
          <p:cNvSpPr>
            <a:spLocks noGrp="1" noChangeArrowheads="1"/>
          </p:cNvSpPr>
          <p:nvPr>
            <p:ph type="body" idx="1"/>
          </p:nvPr>
        </p:nvSpPr>
        <p:spPr>
          <a:xfrm>
            <a:off x="571499" y="764704"/>
            <a:ext cx="8248971" cy="462307"/>
          </a:xfrm>
          <a:noFill/>
        </p:spPr>
        <p:txBody>
          <a:bodyPr wrap="square" lIns="92075" tIns="46038" rIns="92075" bIns="46038">
            <a:spAutoFit/>
          </a:bodyPr>
          <a:lstStyle/>
          <a:p>
            <a:r>
              <a:rPr lang="en-US" altLang="en-US" sz="2400" dirty="0">
                <a:latin typeface="Cambria" panose="02040503050406030204" pitchFamily="18" charset="0"/>
                <a:ea typeface="Cambria" panose="02040503050406030204" pitchFamily="18" charset="0"/>
              </a:rPr>
              <a:t>Ensures that null values are not permitted for the column</a:t>
            </a:r>
          </a:p>
        </p:txBody>
      </p:sp>
      <p:sp>
        <p:nvSpPr>
          <p:cNvPr id="30724" name="Rectangle 4">
            <a:extLst>
              <a:ext uri="{FF2B5EF4-FFF2-40B4-BE49-F238E27FC236}">
                <a16:creationId xmlns:a16="http://schemas.microsoft.com/office/drawing/2014/main" id="{CD2E5F4E-777C-8F63-E525-38F998230E02}"/>
              </a:ext>
            </a:extLst>
          </p:cNvPr>
          <p:cNvSpPr>
            <a:spLocks noChangeArrowheads="1"/>
          </p:cNvSpPr>
          <p:nvPr/>
        </p:nvSpPr>
        <p:spPr bwMode="blackWhite">
          <a:xfrm>
            <a:off x="1442546" y="1683870"/>
            <a:ext cx="5913437"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76837" name="Rectangle 5">
            <a:extLst>
              <a:ext uri="{FF2B5EF4-FFF2-40B4-BE49-F238E27FC236}">
                <a16:creationId xmlns:a16="http://schemas.microsoft.com/office/drawing/2014/main" id="{5B50319F-FB9C-0579-A6F2-99C04EE1A961}"/>
              </a:ext>
            </a:extLst>
          </p:cNvPr>
          <p:cNvSpPr>
            <a:spLocks noChangeArrowheads="1"/>
          </p:cNvSpPr>
          <p:nvPr/>
        </p:nvSpPr>
        <p:spPr bwMode="auto">
          <a:xfrm>
            <a:off x="1355233" y="1310807"/>
            <a:ext cx="706925"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latin typeface="Cambria" panose="02040503050406030204" pitchFamily="18" charset="0"/>
                <a:ea typeface="Cambria" panose="02040503050406030204" pitchFamily="18" charset="0"/>
              </a:rPr>
              <a:t>EMP</a:t>
            </a:r>
          </a:p>
        </p:txBody>
      </p:sp>
      <p:sp>
        <p:nvSpPr>
          <p:cNvPr id="30726" name="Line 6">
            <a:extLst>
              <a:ext uri="{FF2B5EF4-FFF2-40B4-BE49-F238E27FC236}">
                <a16:creationId xmlns:a16="http://schemas.microsoft.com/office/drawing/2014/main" id="{375D289E-2451-C043-D600-8A4793BA6EDE}"/>
              </a:ext>
            </a:extLst>
          </p:cNvPr>
          <p:cNvSpPr>
            <a:spLocks noChangeShapeType="1"/>
          </p:cNvSpPr>
          <p:nvPr/>
        </p:nvSpPr>
        <p:spPr bwMode="auto">
          <a:xfrm>
            <a:off x="2441083" y="1674345"/>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7" name="Line 7">
            <a:extLst>
              <a:ext uri="{FF2B5EF4-FFF2-40B4-BE49-F238E27FC236}">
                <a16:creationId xmlns:a16="http://schemas.microsoft.com/office/drawing/2014/main" id="{5F826EF3-9A69-DE48-84FD-5C310E5AACB1}"/>
              </a:ext>
            </a:extLst>
          </p:cNvPr>
          <p:cNvSpPr>
            <a:spLocks noChangeShapeType="1"/>
          </p:cNvSpPr>
          <p:nvPr/>
        </p:nvSpPr>
        <p:spPr bwMode="auto">
          <a:xfrm>
            <a:off x="3291983" y="1674345"/>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8" name="Line 8">
            <a:extLst>
              <a:ext uri="{FF2B5EF4-FFF2-40B4-BE49-F238E27FC236}">
                <a16:creationId xmlns:a16="http://schemas.microsoft.com/office/drawing/2014/main" id="{D755D87E-2145-7B7D-3AB6-BC82B6C6173A}"/>
              </a:ext>
            </a:extLst>
          </p:cNvPr>
          <p:cNvSpPr>
            <a:spLocks noChangeShapeType="1"/>
          </p:cNvSpPr>
          <p:nvPr/>
        </p:nvSpPr>
        <p:spPr bwMode="auto">
          <a:xfrm>
            <a:off x="4787408" y="1674345"/>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9" name="Line 9">
            <a:extLst>
              <a:ext uri="{FF2B5EF4-FFF2-40B4-BE49-F238E27FC236}">
                <a16:creationId xmlns:a16="http://schemas.microsoft.com/office/drawing/2014/main" id="{EEAD9931-5938-734D-DAC9-15B6636F9D13}"/>
              </a:ext>
            </a:extLst>
          </p:cNvPr>
          <p:cNvSpPr>
            <a:spLocks noChangeShapeType="1"/>
          </p:cNvSpPr>
          <p:nvPr/>
        </p:nvSpPr>
        <p:spPr bwMode="auto">
          <a:xfrm>
            <a:off x="5406533" y="1674345"/>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30" name="Rectangle 10">
            <a:extLst>
              <a:ext uri="{FF2B5EF4-FFF2-40B4-BE49-F238E27FC236}">
                <a16:creationId xmlns:a16="http://schemas.microsoft.com/office/drawing/2014/main" id="{47E4A9E9-9F0E-0461-357D-CE51AB047D90}"/>
              </a:ext>
            </a:extLst>
          </p:cNvPr>
          <p:cNvSpPr>
            <a:spLocks noChangeArrowheads="1"/>
          </p:cNvSpPr>
          <p:nvPr/>
        </p:nvSpPr>
        <p:spPr bwMode="blackWhite">
          <a:xfrm>
            <a:off x="1474296" y="1725145"/>
            <a:ext cx="7361237"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COMM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grpSp>
        <p:nvGrpSpPr>
          <p:cNvPr id="30731" name="Group 11">
            <a:extLst>
              <a:ext uri="{FF2B5EF4-FFF2-40B4-BE49-F238E27FC236}">
                <a16:creationId xmlns:a16="http://schemas.microsoft.com/office/drawing/2014/main" id="{B2E2213A-E21B-8B13-8C92-C9620B00A9CA}"/>
              </a:ext>
            </a:extLst>
          </p:cNvPr>
          <p:cNvGrpSpPr>
            <a:grpSpLocks/>
          </p:cNvGrpSpPr>
          <p:nvPr/>
        </p:nvGrpSpPr>
        <p:grpSpPr bwMode="auto">
          <a:xfrm>
            <a:off x="1437783" y="2137895"/>
            <a:ext cx="5930900" cy="1200150"/>
            <a:chOff x="1076" y="2089"/>
            <a:chExt cx="3736" cy="756"/>
          </a:xfrm>
        </p:grpSpPr>
        <p:sp>
          <p:nvSpPr>
            <p:cNvPr id="30741" name="Line 12">
              <a:extLst>
                <a:ext uri="{FF2B5EF4-FFF2-40B4-BE49-F238E27FC236}">
                  <a16:creationId xmlns:a16="http://schemas.microsoft.com/office/drawing/2014/main" id="{EB8CCD12-E140-C4D7-3D55-E9F3F8D95574}"/>
                </a:ext>
              </a:extLst>
            </p:cNvPr>
            <p:cNvSpPr>
              <a:spLocks noChangeShapeType="1"/>
            </p:cNvSpPr>
            <p:nvPr/>
          </p:nvSpPr>
          <p:spPr bwMode="auto">
            <a:xfrm>
              <a:off x="1080" y="2089"/>
              <a:ext cx="3719"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2" name="Line 13">
              <a:extLst>
                <a:ext uri="{FF2B5EF4-FFF2-40B4-BE49-F238E27FC236}">
                  <a16:creationId xmlns:a16="http://schemas.microsoft.com/office/drawing/2014/main" id="{24F9349D-C672-11B7-1AD6-F545981446BE}"/>
                </a:ext>
              </a:extLst>
            </p:cNvPr>
            <p:cNvSpPr>
              <a:spLocks noChangeShapeType="1"/>
            </p:cNvSpPr>
            <p:nvPr/>
          </p:nvSpPr>
          <p:spPr bwMode="auto">
            <a:xfrm>
              <a:off x="1076" y="2337"/>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3" name="Line 14">
              <a:extLst>
                <a:ext uri="{FF2B5EF4-FFF2-40B4-BE49-F238E27FC236}">
                  <a16:creationId xmlns:a16="http://schemas.microsoft.com/office/drawing/2014/main" id="{F08C4F3C-BB03-809D-3934-D9A9826DE7F3}"/>
                </a:ext>
              </a:extLst>
            </p:cNvPr>
            <p:cNvSpPr>
              <a:spLocks noChangeShapeType="1"/>
            </p:cNvSpPr>
            <p:nvPr/>
          </p:nvSpPr>
          <p:spPr bwMode="auto">
            <a:xfrm>
              <a:off x="1076" y="2845"/>
              <a:ext cx="3729"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4" name="Line 15">
              <a:extLst>
                <a:ext uri="{FF2B5EF4-FFF2-40B4-BE49-F238E27FC236}">
                  <a16:creationId xmlns:a16="http://schemas.microsoft.com/office/drawing/2014/main" id="{4C1EC5FE-7E56-10FD-8FFF-246301FB3D48}"/>
                </a:ext>
              </a:extLst>
            </p:cNvPr>
            <p:cNvSpPr>
              <a:spLocks noChangeShapeType="1"/>
            </p:cNvSpPr>
            <p:nvPr/>
          </p:nvSpPr>
          <p:spPr bwMode="auto">
            <a:xfrm>
              <a:off x="1076" y="2493"/>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5" name="Line 16">
              <a:extLst>
                <a:ext uri="{FF2B5EF4-FFF2-40B4-BE49-F238E27FC236}">
                  <a16:creationId xmlns:a16="http://schemas.microsoft.com/office/drawing/2014/main" id="{0642F8ED-B2A2-1C78-8848-AD5B204F4F01}"/>
                </a:ext>
              </a:extLst>
            </p:cNvPr>
            <p:cNvSpPr>
              <a:spLocks noChangeShapeType="1"/>
            </p:cNvSpPr>
            <p:nvPr/>
          </p:nvSpPr>
          <p:spPr bwMode="auto">
            <a:xfrm>
              <a:off x="1076" y="2661"/>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0732" name="Line 17">
            <a:extLst>
              <a:ext uri="{FF2B5EF4-FFF2-40B4-BE49-F238E27FC236}">
                <a16:creationId xmlns:a16="http://schemas.microsoft.com/office/drawing/2014/main" id="{99C4215D-2A93-FD42-AF49-2515FA68E5CC}"/>
              </a:ext>
            </a:extLst>
          </p:cNvPr>
          <p:cNvSpPr>
            <a:spLocks noChangeShapeType="1"/>
          </p:cNvSpPr>
          <p:nvPr/>
        </p:nvSpPr>
        <p:spPr bwMode="auto">
          <a:xfrm>
            <a:off x="6263783" y="1674345"/>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18">
            <a:extLst>
              <a:ext uri="{FF2B5EF4-FFF2-40B4-BE49-F238E27FC236}">
                <a16:creationId xmlns:a16="http://schemas.microsoft.com/office/drawing/2014/main" id="{66A90FF4-44C6-AAEA-8C16-119A953EBF15}"/>
              </a:ext>
            </a:extLst>
          </p:cNvPr>
          <p:cNvGrpSpPr>
            <a:grpSpLocks/>
          </p:cNvGrpSpPr>
          <p:nvPr/>
        </p:nvGrpSpPr>
        <p:grpSpPr bwMode="auto">
          <a:xfrm>
            <a:off x="1231408" y="3509494"/>
            <a:ext cx="7470775" cy="1476374"/>
            <a:chOff x="946" y="2953"/>
            <a:chExt cx="4706" cy="930"/>
          </a:xfrm>
        </p:grpSpPr>
        <p:grpSp>
          <p:nvGrpSpPr>
            <p:cNvPr id="30734" name="Group 19">
              <a:extLst>
                <a:ext uri="{FF2B5EF4-FFF2-40B4-BE49-F238E27FC236}">
                  <a16:creationId xmlns:a16="http://schemas.microsoft.com/office/drawing/2014/main" id="{AA6B61F8-B005-A117-CEC4-3B7FAB04F4E9}"/>
                </a:ext>
              </a:extLst>
            </p:cNvPr>
            <p:cNvGrpSpPr>
              <a:grpSpLocks/>
            </p:cNvGrpSpPr>
            <p:nvPr/>
          </p:nvGrpSpPr>
          <p:grpSpPr bwMode="auto">
            <a:xfrm>
              <a:off x="946" y="2953"/>
              <a:ext cx="2030" cy="930"/>
              <a:chOff x="946" y="2953"/>
              <a:chExt cx="2030" cy="930"/>
            </a:xfrm>
          </p:grpSpPr>
          <p:sp>
            <p:nvSpPr>
              <p:cNvPr id="376852" name="Rectangle 20">
                <a:extLst>
                  <a:ext uri="{FF2B5EF4-FFF2-40B4-BE49-F238E27FC236}">
                    <a16:creationId xmlns:a16="http://schemas.microsoft.com/office/drawing/2014/main" id="{4D5D80F0-B7A4-DDCA-4B14-31BAC095421A}"/>
                  </a:ext>
                </a:extLst>
              </p:cNvPr>
              <p:cNvSpPr>
                <a:spLocks noChangeArrowheads="1"/>
              </p:cNvSpPr>
              <p:nvPr/>
            </p:nvSpPr>
            <p:spPr bwMode="auto">
              <a:xfrm>
                <a:off x="946" y="3196"/>
                <a:ext cx="2030" cy="687"/>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0000FF"/>
                    </a:solidFill>
                    <a:latin typeface="Cambria" panose="02040503050406030204" pitchFamily="18" charset="0"/>
                    <a:ea typeface="Cambria" panose="02040503050406030204" pitchFamily="18" charset="0"/>
                  </a:rPr>
                  <a:t>NOT NULL constraint</a:t>
                </a:r>
              </a:p>
              <a:p>
                <a:pPr>
                  <a:lnSpc>
                    <a:spcPct val="90000"/>
                  </a:lnSpc>
                  <a:defRPr/>
                </a:pPr>
                <a:r>
                  <a:rPr lang="en-US" sz="1800" b="1">
                    <a:solidFill>
                      <a:srgbClr val="0000FF"/>
                    </a:solidFill>
                    <a:latin typeface="Cambria" panose="02040503050406030204" pitchFamily="18" charset="0"/>
                    <a:ea typeface="Cambria" panose="02040503050406030204" pitchFamily="18" charset="0"/>
                  </a:rPr>
                  <a:t>(no row can contain</a:t>
                </a:r>
                <a:br>
                  <a:rPr lang="en-US" sz="1800" b="1">
                    <a:solidFill>
                      <a:srgbClr val="0000FF"/>
                    </a:solidFill>
                    <a:latin typeface="Cambria" panose="02040503050406030204" pitchFamily="18" charset="0"/>
                    <a:ea typeface="Cambria" panose="02040503050406030204" pitchFamily="18" charset="0"/>
                  </a:rPr>
                </a:br>
                <a:r>
                  <a:rPr lang="en-US" sz="1800" b="1">
                    <a:solidFill>
                      <a:srgbClr val="0000FF"/>
                    </a:solidFill>
                    <a:latin typeface="Cambria" panose="02040503050406030204" pitchFamily="18" charset="0"/>
                    <a:ea typeface="Cambria" panose="02040503050406030204" pitchFamily="18" charset="0"/>
                  </a:rPr>
                  <a:t>a null value for</a:t>
                </a:r>
                <a:br>
                  <a:rPr lang="en-US" sz="1800" b="1">
                    <a:solidFill>
                      <a:srgbClr val="0000FF"/>
                    </a:solidFill>
                    <a:latin typeface="Cambria" panose="02040503050406030204" pitchFamily="18" charset="0"/>
                    <a:ea typeface="Cambria" panose="02040503050406030204" pitchFamily="18" charset="0"/>
                  </a:rPr>
                </a:br>
                <a:r>
                  <a:rPr lang="en-US" sz="1800" b="1">
                    <a:solidFill>
                      <a:srgbClr val="0000FF"/>
                    </a:solidFill>
                    <a:latin typeface="Cambria" panose="02040503050406030204" pitchFamily="18" charset="0"/>
                    <a:ea typeface="Cambria" panose="02040503050406030204" pitchFamily="18" charset="0"/>
                  </a:rPr>
                  <a:t>this column)</a:t>
                </a:r>
              </a:p>
            </p:txBody>
          </p:sp>
          <p:sp>
            <p:nvSpPr>
              <p:cNvPr id="30740" name="Line 21">
                <a:extLst>
                  <a:ext uri="{FF2B5EF4-FFF2-40B4-BE49-F238E27FC236}">
                    <a16:creationId xmlns:a16="http://schemas.microsoft.com/office/drawing/2014/main" id="{68F7E241-BF7C-DBAF-F5EB-F4324019A2F0}"/>
                  </a:ext>
                </a:extLst>
              </p:cNvPr>
              <p:cNvSpPr>
                <a:spLocks noChangeShapeType="1"/>
              </p:cNvSpPr>
              <p:nvPr/>
            </p:nvSpPr>
            <p:spPr bwMode="auto">
              <a:xfrm>
                <a:off x="1943"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sz="1800">
                  <a:solidFill>
                    <a:srgbClr val="0000FF"/>
                  </a:solidFill>
                  <a:latin typeface="Cambria" panose="02040503050406030204" pitchFamily="18" charset="0"/>
                  <a:ea typeface="Cambria" panose="02040503050406030204" pitchFamily="18" charset="0"/>
                </a:endParaRPr>
              </a:p>
            </p:txBody>
          </p:sp>
        </p:grpSp>
        <p:sp>
          <p:nvSpPr>
            <p:cNvPr id="376854" name="Rectangle 22">
              <a:extLst>
                <a:ext uri="{FF2B5EF4-FFF2-40B4-BE49-F238E27FC236}">
                  <a16:creationId xmlns:a16="http://schemas.microsoft.com/office/drawing/2014/main" id="{B60C15FE-A9A8-C874-4F87-AFCE48549020}"/>
                </a:ext>
              </a:extLst>
            </p:cNvPr>
            <p:cNvSpPr>
              <a:spLocks noChangeArrowheads="1"/>
            </p:cNvSpPr>
            <p:nvPr/>
          </p:nvSpPr>
          <p:spPr bwMode="auto">
            <a:xfrm>
              <a:off x="2686" y="3196"/>
              <a:ext cx="1514" cy="687"/>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0000FF"/>
                  </a:solidFill>
                  <a:latin typeface="Cambria" panose="02040503050406030204" pitchFamily="18" charset="0"/>
                  <a:ea typeface="Cambria" panose="02040503050406030204" pitchFamily="18" charset="0"/>
                </a:rPr>
                <a:t>Absence of NOT NULL constraint</a:t>
              </a:r>
            </a:p>
            <a:p>
              <a:pPr>
                <a:lnSpc>
                  <a:spcPct val="90000"/>
                </a:lnSpc>
                <a:defRPr/>
              </a:pPr>
              <a:r>
                <a:rPr lang="en-US" sz="1800" b="1">
                  <a:solidFill>
                    <a:srgbClr val="0000FF"/>
                  </a:solidFill>
                  <a:latin typeface="Cambria" panose="02040503050406030204" pitchFamily="18" charset="0"/>
                  <a:ea typeface="Cambria" panose="02040503050406030204" pitchFamily="18" charset="0"/>
                </a:rPr>
                <a:t>(any row can contain</a:t>
              </a:r>
              <a:br>
                <a:rPr lang="en-US" sz="1800" b="1">
                  <a:solidFill>
                    <a:srgbClr val="0000FF"/>
                  </a:solidFill>
                  <a:latin typeface="Cambria" panose="02040503050406030204" pitchFamily="18" charset="0"/>
                  <a:ea typeface="Cambria" panose="02040503050406030204" pitchFamily="18" charset="0"/>
                </a:rPr>
              </a:br>
              <a:r>
                <a:rPr lang="en-US" sz="1800" b="1">
                  <a:solidFill>
                    <a:srgbClr val="0000FF"/>
                  </a:solidFill>
                  <a:latin typeface="Cambria" panose="02040503050406030204" pitchFamily="18" charset="0"/>
                  <a:ea typeface="Cambria" panose="02040503050406030204" pitchFamily="18" charset="0"/>
                </a:rPr>
                <a:t>null for this column)</a:t>
              </a:r>
            </a:p>
          </p:txBody>
        </p:sp>
        <p:sp>
          <p:nvSpPr>
            <p:cNvPr id="30736" name="Line 23">
              <a:extLst>
                <a:ext uri="{FF2B5EF4-FFF2-40B4-BE49-F238E27FC236}">
                  <a16:creationId xmlns:a16="http://schemas.microsoft.com/office/drawing/2014/main" id="{A7A26FCF-7CF7-6B44-7486-677F0EE9583F}"/>
                </a:ext>
              </a:extLst>
            </p:cNvPr>
            <p:cNvSpPr>
              <a:spLocks noChangeShapeType="1"/>
            </p:cNvSpPr>
            <p:nvPr/>
          </p:nvSpPr>
          <p:spPr bwMode="auto">
            <a:xfrm>
              <a:off x="3827"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sz="1800">
                <a:solidFill>
                  <a:srgbClr val="0000FF"/>
                </a:solidFill>
                <a:latin typeface="Cambria" panose="02040503050406030204" pitchFamily="18" charset="0"/>
                <a:ea typeface="Cambria" panose="02040503050406030204" pitchFamily="18" charset="0"/>
              </a:endParaRPr>
            </a:p>
          </p:txBody>
        </p:sp>
        <p:sp>
          <p:nvSpPr>
            <p:cNvPr id="376856" name="Rectangle 24">
              <a:extLst>
                <a:ext uri="{FF2B5EF4-FFF2-40B4-BE49-F238E27FC236}">
                  <a16:creationId xmlns:a16="http://schemas.microsoft.com/office/drawing/2014/main" id="{D26BEECC-2BAF-7F74-186E-869C4128E58A}"/>
                </a:ext>
              </a:extLst>
            </p:cNvPr>
            <p:cNvSpPr>
              <a:spLocks noChangeArrowheads="1"/>
            </p:cNvSpPr>
            <p:nvPr/>
          </p:nvSpPr>
          <p:spPr bwMode="auto">
            <a:xfrm>
              <a:off x="4197" y="3196"/>
              <a:ext cx="1455" cy="373"/>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0000FF"/>
                  </a:solidFill>
                  <a:latin typeface="Cambria" panose="02040503050406030204" pitchFamily="18" charset="0"/>
                  <a:ea typeface="Cambria" panose="02040503050406030204" pitchFamily="18" charset="0"/>
                </a:rPr>
                <a:t>NOT NULL constraint</a:t>
              </a:r>
            </a:p>
          </p:txBody>
        </p:sp>
        <p:sp>
          <p:nvSpPr>
            <p:cNvPr id="30738" name="Line 25">
              <a:extLst>
                <a:ext uri="{FF2B5EF4-FFF2-40B4-BE49-F238E27FC236}">
                  <a16:creationId xmlns:a16="http://schemas.microsoft.com/office/drawing/2014/main" id="{4054926A-EEDA-C8D1-061A-44B504BA2E96}"/>
                </a:ext>
              </a:extLst>
            </p:cNvPr>
            <p:cNvSpPr>
              <a:spLocks noChangeShapeType="1"/>
            </p:cNvSpPr>
            <p:nvPr/>
          </p:nvSpPr>
          <p:spPr bwMode="auto">
            <a:xfrm>
              <a:off x="4619"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sz="1800">
                <a:solidFill>
                  <a:srgbClr val="0000FF"/>
                </a:solidFill>
                <a:latin typeface="Cambria" panose="02040503050406030204" pitchFamily="18" charset="0"/>
                <a:ea typeface="Cambria" panose="02040503050406030204" pitchFamily="18" charset="0"/>
              </a:endParaRPr>
            </a:p>
          </p:txBody>
        </p:sp>
      </p:grpSp>
      <p:sp>
        <p:nvSpPr>
          <p:cNvPr id="2" name="Slide Number Placeholder 23">
            <a:extLst>
              <a:ext uri="{FF2B5EF4-FFF2-40B4-BE49-F238E27FC236}">
                <a16:creationId xmlns:a16="http://schemas.microsoft.com/office/drawing/2014/main" id="{4DE0BAB9-91E7-7EE5-9CA3-2AE81D01238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62F7C489-BD51-67D1-BCD1-2DD406B0C78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51222500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A755C-03B5-0E27-AD1D-CF5444A3190B}"/>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9D460F5F-AF15-6C50-940F-B731FBE311FA}"/>
              </a:ext>
            </a:extLst>
          </p:cNvPr>
          <p:cNvSpPr>
            <a:spLocks noGrp="1" noChangeArrowheads="1"/>
          </p:cNvSpPr>
          <p:nvPr>
            <p:ph type="title"/>
          </p:nvPr>
        </p:nvSpPr>
        <p:spPr>
          <a:xfrm>
            <a:off x="539552" y="244475"/>
            <a:ext cx="4786313"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UNIQUE Key Constraint</a:t>
            </a:r>
          </a:p>
        </p:txBody>
      </p:sp>
      <p:sp>
        <p:nvSpPr>
          <p:cNvPr id="34819" name="Rectangle 3">
            <a:extLst>
              <a:ext uri="{FF2B5EF4-FFF2-40B4-BE49-F238E27FC236}">
                <a16:creationId xmlns:a16="http://schemas.microsoft.com/office/drawing/2014/main" id="{C193D82B-9687-785E-55F2-CF2C47C69ADF}"/>
              </a:ext>
            </a:extLst>
          </p:cNvPr>
          <p:cNvSpPr>
            <a:spLocks noChangeArrowheads="1"/>
          </p:cNvSpPr>
          <p:nvPr/>
        </p:nvSpPr>
        <p:spPr bwMode="blackWhite">
          <a:xfrm>
            <a:off x="986905" y="158874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0932" name="Rectangle 4">
            <a:extLst>
              <a:ext uri="{FF2B5EF4-FFF2-40B4-BE49-F238E27FC236}">
                <a16:creationId xmlns:a16="http://schemas.microsoft.com/office/drawing/2014/main" id="{A4B79E47-FA45-135A-71D6-CE9748735200}"/>
              </a:ext>
            </a:extLst>
          </p:cNvPr>
          <p:cNvSpPr>
            <a:spLocks noChangeArrowheads="1"/>
          </p:cNvSpPr>
          <p:nvPr/>
        </p:nvSpPr>
        <p:spPr bwMode="auto">
          <a:xfrm>
            <a:off x="899592" y="122520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34821" name="Rectangle 5">
            <a:extLst>
              <a:ext uri="{FF2B5EF4-FFF2-40B4-BE49-F238E27FC236}">
                <a16:creationId xmlns:a16="http://schemas.microsoft.com/office/drawing/2014/main" id="{FB6F4743-17D7-B18B-172A-5982A52B981F}"/>
              </a:ext>
            </a:extLst>
          </p:cNvPr>
          <p:cNvSpPr>
            <a:spLocks noChangeArrowheads="1"/>
          </p:cNvSpPr>
          <p:nvPr/>
        </p:nvSpPr>
        <p:spPr bwMode="blackWhite">
          <a:xfrm>
            <a:off x="999605" y="162049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34822" name="Line 6">
            <a:extLst>
              <a:ext uri="{FF2B5EF4-FFF2-40B4-BE49-F238E27FC236}">
                <a16:creationId xmlns:a16="http://schemas.microsoft.com/office/drawing/2014/main" id="{8A5C9111-981B-EC6E-3B57-C6D3E19DA82A}"/>
              </a:ext>
            </a:extLst>
          </p:cNvPr>
          <p:cNvSpPr>
            <a:spLocks noChangeShapeType="1"/>
          </p:cNvSpPr>
          <p:nvPr/>
        </p:nvSpPr>
        <p:spPr bwMode="auto">
          <a:xfrm>
            <a:off x="988492" y="205229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3" name="Line 7">
            <a:extLst>
              <a:ext uri="{FF2B5EF4-FFF2-40B4-BE49-F238E27FC236}">
                <a16:creationId xmlns:a16="http://schemas.microsoft.com/office/drawing/2014/main" id="{6AE13DA6-DC42-13A2-3E7D-3A0742E83B46}"/>
              </a:ext>
            </a:extLst>
          </p:cNvPr>
          <p:cNvSpPr>
            <a:spLocks noChangeShapeType="1"/>
          </p:cNvSpPr>
          <p:nvPr/>
        </p:nvSpPr>
        <p:spPr bwMode="auto">
          <a:xfrm>
            <a:off x="982142" y="244599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4" name="Line 8">
            <a:extLst>
              <a:ext uri="{FF2B5EF4-FFF2-40B4-BE49-F238E27FC236}">
                <a16:creationId xmlns:a16="http://schemas.microsoft.com/office/drawing/2014/main" id="{DC4F7B2A-0FC8-A475-36BF-AD103E34098C}"/>
              </a:ext>
            </a:extLst>
          </p:cNvPr>
          <p:cNvSpPr>
            <a:spLocks noChangeShapeType="1"/>
          </p:cNvSpPr>
          <p:nvPr/>
        </p:nvSpPr>
        <p:spPr bwMode="auto">
          <a:xfrm>
            <a:off x="982142" y="270634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5" name="Line 9">
            <a:extLst>
              <a:ext uri="{FF2B5EF4-FFF2-40B4-BE49-F238E27FC236}">
                <a16:creationId xmlns:a16="http://schemas.microsoft.com/office/drawing/2014/main" id="{2237F86F-7FC3-9622-C4B4-C231A2E99B69}"/>
              </a:ext>
            </a:extLst>
          </p:cNvPr>
          <p:cNvSpPr>
            <a:spLocks noChangeShapeType="1"/>
          </p:cNvSpPr>
          <p:nvPr/>
        </p:nvSpPr>
        <p:spPr bwMode="auto">
          <a:xfrm>
            <a:off x="982142" y="296669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6" name="Line 10">
            <a:extLst>
              <a:ext uri="{FF2B5EF4-FFF2-40B4-BE49-F238E27FC236}">
                <a16:creationId xmlns:a16="http://schemas.microsoft.com/office/drawing/2014/main" id="{F71CAA16-ECB5-1412-1B8F-A4E19E171792}"/>
              </a:ext>
            </a:extLst>
          </p:cNvPr>
          <p:cNvSpPr>
            <a:spLocks noChangeShapeType="1"/>
          </p:cNvSpPr>
          <p:nvPr/>
        </p:nvSpPr>
        <p:spPr bwMode="auto">
          <a:xfrm>
            <a:off x="1985442" y="158874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7" name="Line 11">
            <a:extLst>
              <a:ext uri="{FF2B5EF4-FFF2-40B4-BE49-F238E27FC236}">
                <a16:creationId xmlns:a16="http://schemas.microsoft.com/office/drawing/2014/main" id="{5683EC54-CDCE-B224-68D7-3BE29DE5AC16}"/>
              </a:ext>
            </a:extLst>
          </p:cNvPr>
          <p:cNvSpPr>
            <a:spLocks noChangeShapeType="1"/>
          </p:cNvSpPr>
          <p:nvPr/>
        </p:nvSpPr>
        <p:spPr bwMode="auto">
          <a:xfrm>
            <a:off x="3484042" y="158874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0940" name="Rectangle 12">
            <a:extLst>
              <a:ext uri="{FF2B5EF4-FFF2-40B4-BE49-F238E27FC236}">
                <a16:creationId xmlns:a16="http://schemas.microsoft.com/office/drawing/2014/main" id="{908472E2-3371-4171-0238-4F08AE9582C2}"/>
              </a:ext>
            </a:extLst>
          </p:cNvPr>
          <p:cNvSpPr>
            <a:spLocks noChangeArrowheads="1"/>
          </p:cNvSpPr>
          <p:nvPr/>
        </p:nvSpPr>
        <p:spPr bwMode="auto">
          <a:xfrm>
            <a:off x="2602980" y="980728"/>
            <a:ext cx="2938462" cy="339725"/>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dirty="0">
                <a:solidFill>
                  <a:srgbClr val="0000FF"/>
                </a:solidFill>
              </a:rPr>
              <a:t>UNIQUE key constraint</a:t>
            </a:r>
          </a:p>
        </p:txBody>
      </p:sp>
      <p:sp>
        <p:nvSpPr>
          <p:cNvPr id="34829" name="Freeform 13">
            <a:extLst>
              <a:ext uri="{FF2B5EF4-FFF2-40B4-BE49-F238E27FC236}">
                <a16:creationId xmlns:a16="http://schemas.microsoft.com/office/drawing/2014/main" id="{DF1E8924-4FEC-EED2-F225-656DCD12AD16}"/>
              </a:ext>
            </a:extLst>
          </p:cNvPr>
          <p:cNvSpPr>
            <a:spLocks/>
          </p:cNvSpPr>
          <p:nvPr/>
        </p:nvSpPr>
        <p:spPr bwMode="auto">
          <a:xfrm>
            <a:off x="2264842" y="1122015"/>
            <a:ext cx="325438" cy="477838"/>
          </a:xfrm>
          <a:custGeom>
            <a:avLst/>
            <a:gdLst>
              <a:gd name="T0" fmla="*/ 2147483646 w 205"/>
              <a:gd name="T1" fmla="*/ 0 h 301"/>
              <a:gd name="T2" fmla="*/ 0 w 205"/>
              <a:gd name="T3" fmla="*/ 0 h 301"/>
              <a:gd name="T4" fmla="*/ 0 w 205"/>
              <a:gd name="T5" fmla="*/ 2147483646 h 301"/>
              <a:gd name="T6" fmla="*/ 0 60000 65536"/>
              <a:gd name="T7" fmla="*/ 0 60000 65536"/>
              <a:gd name="T8" fmla="*/ 0 60000 65536"/>
            </a:gdLst>
            <a:ahLst/>
            <a:cxnLst>
              <a:cxn ang="T6">
                <a:pos x="T0" y="T1"/>
              </a:cxn>
              <a:cxn ang="T7">
                <a:pos x="T2" y="T3"/>
              </a:cxn>
              <a:cxn ang="T8">
                <a:pos x="T4" y="T5"/>
              </a:cxn>
            </a:cxnLst>
            <a:rect l="0" t="0" r="r" b="b"/>
            <a:pathLst>
              <a:path w="205" h="301">
                <a:moveTo>
                  <a:pt x="204" y="0"/>
                </a:moveTo>
                <a:lnTo>
                  <a:pt x="0" y="0"/>
                </a:lnTo>
                <a:lnTo>
                  <a:pt x="0" y="30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14">
            <a:extLst>
              <a:ext uri="{FF2B5EF4-FFF2-40B4-BE49-F238E27FC236}">
                <a16:creationId xmlns:a16="http://schemas.microsoft.com/office/drawing/2014/main" id="{C2AF663C-4A6A-F965-D3F6-06C61F873B1D}"/>
              </a:ext>
            </a:extLst>
          </p:cNvPr>
          <p:cNvGrpSpPr>
            <a:grpSpLocks/>
          </p:cNvGrpSpPr>
          <p:nvPr/>
        </p:nvGrpSpPr>
        <p:grpSpPr bwMode="auto">
          <a:xfrm>
            <a:off x="982142" y="3408015"/>
            <a:ext cx="4767263" cy="1619250"/>
            <a:chOff x="740" y="2436"/>
            <a:chExt cx="3003" cy="1020"/>
          </a:xfrm>
        </p:grpSpPr>
        <p:sp>
          <p:nvSpPr>
            <p:cNvPr id="34836" name="AutoShape 15">
              <a:extLst>
                <a:ext uri="{FF2B5EF4-FFF2-40B4-BE49-F238E27FC236}">
                  <a16:creationId xmlns:a16="http://schemas.microsoft.com/office/drawing/2014/main" id="{DA2DC724-4019-5779-D565-9E271E59CA0C}"/>
                </a:ext>
              </a:extLst>
            </p:cNvPr>
            <p:cNvSpPr>
              <a:spLocks noChangeArrowheads="1"/>
            </p:cNvSpPr>
            <p:nvPr/>
          </p:nvSpPr>
          <p:spPr bwMode="auto">
            <a:xfrm>
              <a:off x="1764" y="2436"/>
              <a:ext cx="396" cy="444"/>
            </a:xfrm>
            <a:prstGeom prst="upArrow">
              <a:avLst>
                <a:gd name="adj1" fmla="val 50000"/>
                <a:gd name="adj2" fmla="val 56055"/>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837" name="Rectangle 16">
              <a:extLst>
                <a:ext uri="{FF2B5EF4-FFF2-40B4-BE49-F238E27FC236}">
                  <a16:creationId xmlns:a16="http://schemas.microsoft.com/office/drawing/2014/main" id="{3CD3F96F-B7FB-46C0-2B06-BB62612BF758}"/>
                </a:ext>
              </a:extLst>
            </p:cNvPr>
            <p:cNvSpPr>
              <a:spLocks noChangeArrowheads="1"/>
            </p:cNvSpPr>
            <p:nvPr/>
          </p:nvSpPr>
          <p:spPr bwMode="blackWhite">
            <a:xfrm>
              <a:off x="743" y="2874"/>
              <a:ext cx="2433" cy="56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4838" name="Rectangle 17">
              <a:extLst>
                <a:ext uri="{FF2B5EF4-FFF2-40B4-BE49-F238E27FC236}">
                  <a16:creationId xmlns:a16="http://schemas.microsoft.com/office/drawing/2014/main" id="{45F7B0FE-9341-03BC-51C6-D1FD140C7EBA}"/>
                </a:ext>
              </a:extLst>
            </p:cNvPr>
            <p:cNvSpPr>
              <a:spLocks noChangeArrowheads="1"/>
            </p:cNvSpPr>
            <p:nvPr/>
          </p:nvSpPr>
          <p:spPr bwMode="blackWhite">
            <a:xfrm>
              <a:off x="751" y="2894"/>
              <a:ext cx="2417"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50	SALES		DETROIT</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60			BOSTON</a:t>
              </a:r>
            </a:p>
          </p:txBody>
        </p:sp>
        <p:grpSp>
          <p:nvGrpSpPr>
            <p:cNvPr id="34839" name="Group 18">
              <a:extLst>
                <a:ext uri="{FF2B5EF4-FFF2-40B4-BE49-F238E27FC236}">
                  <a16:creationId xmlns:a16="http://schemas.microsoft.com/office/drawing/2014/main" id="{44FB2D1E-30F2-4023-2366-1BA171EF96B3}"/>
                </a:ext>
              </a:extLst>
            </p:cNvPr>
            <p:cNvGrpSpPr>
              <a:grpSpLocks/>
            </p:cNvGrpSpPr>
            <p:nvPr/>
          </p:nvGrpSpPr>
          <p:grpSpPr bwMode="auto">
            <a:xfrm>
              <a:off x="1372" y="2874"/>
              <a:ext cx="944" cy="582"/>
              <a:chOff x="1372" y="2874"/>
              <a:chExt cx="944" cy="582"/>
            </a:xfrm>
          </p:grpSpPr>
          <p:sp>
            <p:nvSpPr>
              <p:cNvPr id="34842" name="Line 19">
                <a:extLst>
                  <a:ext uri="{FF2B5EF4-FFF2-40B4-BE49-F238E27FC236}">
                    <a16:creationId xmlns:a16="http://schemas.microsoft.com/office/drawing/2014/main" id="{1F2FE0F7-B54A-C98E-79A4-C7296E8D6F6B}"/>
                  </a:ext>
                </a:extLst>
              </p:cNvPr>
              <p:cNvSpPr>
                <a:spLocks noChangeShapeType="1"/>
              </p:cNvSpPr>
              <p:nvPr/>
            </p:nvSpPr>
            <p:spPr bwMode="auto">
              <a:xfrm>
                <a:off x="1372"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43" name="Line 20">
                <a:extLst>
                  <a:ext uri="{FF2B5EF4-FFF2-40B4-BE49-F238E27FC236}">
                    <a16:creationId xmlns:a16="http://schemas.microsoft.com/office/drawing/2014/main" id="{A473BD75-CF94-1D9D-9B5E-64AAB06DF06A}"/>
                  </a:ext>
                </a:extLst>
              </p:cNvPr>
              <p:cNvSpPr>
                <a:spLocks noChangeShapeType="1"/>
              </p:cNvSpPr>
              <p:nvPr/>
            </p:nvSpPr>
            <p:spPr bwMode="auto">
              <a:xfrm>
                <a:off x="2316"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0949" name="Rectangle 21">
              <a:extLst>
                <a:ext uri="{FF2B5EF4-FFF2-40B4-BE49-F238E27FC236}">
                  <a16:creationId xmlns:a16="http://schemas.microsoft.com/office/drawing/2014/main" id="{2E0E94DD-E96D-50DC-8C73-F68055F48257}"/>
                </a:ext>
              </a:extLst>
            </p:cNvPr>
            <p:cNvSpPr>
              <a:spLocks noChangeArrowheads="1"/>
            </p:cNvSpPr>
            <p:nvPr/>
          </p:nvSpPr>
          <p:spPr bwMode="auto">
            <a:xfrm>
              <a:off x="2109" y="2656"/>
              <a:ext cx="1634"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dirty="0">
                  <a:solidFill>
                    <a:srgbClr val="FF0000"/>
                  </a:solidFill>
                </a:rPr>
                <a:t>Insert into</a:t>
              </a:r>
            </a:p>
          </p:txBody>
        </p:sp>
        <p:sp>
          <p:nvSpPr>
            <p:cNvPr id="34841" name="Line 22">
              <a:extLst>
                <a:ext uri="{FF2B5EF4-FFF2-40B4-BE49-F238E27FC236}">
                  <a16:creationId xmlns:a16="http://schemas.microsoft.com/office/drawing/2014/main" id="{301E7325-9F8E-5CC0-C267-D93C7E4B1C03}"/>
                </a:ext>
              </a:extLst>
            </p:cNvPr>
            <p:cNvSpPr>
              <a:spLocks noChangeShapeType="1"/>
            </p:cNvSpPr>
            <p:nvPr/>
          </p:nvSpPr>
          <p:spPr bwMode="auto">
            <a:xfrm>
              <a:off x="740" y="315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4" name="Group 23">
            <a:extLst>
              <a:ext uri="{FF2B5EF4-FFF2-40B4-BE49-F238E27FC236}">
                <a16:creationId xmlns:a16="http://schemas.microsoft.com/office/drawing/2014/main" id="{56CB79A6-AC0C-8754-75D2-F31CD25A9BDA}"/>
              </a:ext>
            </a:extLst>
          </p:cNvPr>
          <p:cNvGrpSpPr>
            <a:grpSpLocks/>
          </p:cNvGrpSpPr>
          <p:nvPr/>
        </p:nvGrpSpPr>
        <p:grpSpPr bwMode="auto">
          <a:xfrm>
            <a:off x="4873105" y="3814415"/>
            <a:ext cx="3530600" cy="1196975"/>
            <a:chOff x="3191" y="2692"/>
            <a:chExt cx="2224" cy="754"/>
          </a:xfrm>
        </p:grpSpPr>
        <p:sp>
          <p:nvSpPr>
            <p:cNvPr id="380952" name="Rectangle 24">
              <a:extLst>
                <a:ext uri="{FF2B5EF4-FFF2-40B4-BE49-F238E27FC236}">
                  <a16:creationId xmlns:a16="http://schemas.microsoft.com/office/drawing/2014/main" id="{260DD5CA-1576-BDCB-79E4-1BB2BD5408BB}"/>
                </a:ext>
              </a:extLst>
            </p:cNvPr>
            <p:cNvSpPr>
              <a:spLocks noChangeArrowheads="1"/>
            </p:cNvSpPr>
            <p:nvPr/>
          </p:nvSpPr>
          <p:spPr bwMode="auto">
            <a:xfrm>
              <a:off x="3694" y="2692"/>
              <a:ext cx="1721" cy="526"/>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dirty="0">
                  <a:solidFill>
                    <a:srgbClr val="0000FF"/>
                  </a:solidFill>
                  <a:latin typeface="Cambria" panose="02040503050406030204" pitchFamily="18" charset="0"/>
                  <a:ea typeface="Cambria" panose="02040503050406030204" pitchFamily="18" charset="0"/>
                </a:rPr>
                <a:t>Not allowed </a:t>
              </a:r>
              <a:br>
                <a:rPr lang="en-US" sz="1800" b="1" dirty="0">
                  <a:solidFill>
                    <a:srgbClr val="0000FF"/>
                  </a:solidFill>
                  <a:latin typeface="Cambria" panose="02040503050406030204" pitchFamily="18" charset="0"/>
                  <a:ea typeface="Cambria" panose="02040503050406030204" pitchFamily="18" charset="0"/>
                </a:rPr>
              </a:br>
              <a:r>
                <a:rPr lang="en-US" sz="1800" b="1" dirty="0">
                  <a:solidFill>
                    <a:srgbClr val="0000FF"/>
                  </a:solidFill>
                  <a:latin typeface="Cambria" panose="02040503050406030204" pitchFamily="18" charset="0"/>
                  <a:ea typeface="Cambria" panose="02040503050406030204" pitchFamily="18" charset="0"/>
                </a:rPr>
                <a:t>(DNAME</a:t>
              </a:r>
              <a:r>
                <a:rPr lang="en-US" sz="1800" dirty="0">
                  <a:solidFill>
                    <a:srgbClr val="0000FF"/>
                  </a:solidFill>
                  <a:latin typeface="Cambria" panose="02040503050406030204" pitchFamily="18" charset="0"/>
                  <a:ea typeface="Cambria" panose="02040503050406030204" pitchFamily="18" charset="0"/>
                </a:rPr>
                <a:t>-</a:t>
              </a:r>
              <a:r>
                <a:rPr lang="en-US" sz="1800" b="1" dirty="0">
                  <a:solidFill>
                    <a:srgbClr val="0000FF"/>
                  </a:solidFill>
                  <a:latin typeface="Cambria" panose="02040503050406030204" pitchFamily="18" charset="0"/>
                  <a:ea typeface="Cambria" panose="02040503050406030204" pitchFamily="18" charset="0"/>
                </a:rPr>
                <a:t>SALES already exists)</a:t>
              </a:r>
            </a:p>
          </p:txBody>
        </p:sp>
        <p:sp>
          <p:nvSpPr>
            <p:cNvPr id="34833" name="Line 25">
              <a:extLst>
                <a:ext uri="{FF2B5EF4-FFF2-40B4-BE49-F238E27FC236}">
                  <a16:creationId xmlns:a16="http://schemas.microsoft.com/office/drawing/2014/main" id="{FBA39763-EEA1-BB25-1067-4B335728E980}"/>
                </a:ext>
              </a:extLst>
            </p:cNvPr>
            <p:cNvSpPr>
              <a:spLocks noChangeShapeType="1"/>
            </p:cNvSpPr>
            <p:nvPr/>
          </p:nvSpPr>
          <p:spPr bwMode="auto">
            <a:xfrm flipV="1">
              <a:off x="3191" y="2988"/>
              <a:ext cx="431"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380954" name="Rectangle 26">
              <a:extLst>
                <a:ext uri="{FF2B5EF4-FFF2-40B4-BE49-F238E27FC236}">
                  <a16:creationId xmlns:a16="http://schemas.microsoft.com/office/drawing/2014/main" id="{2CD6435D-3540-FDB5-5C79-67559C138460}"/>
                </a:ext>
              </a:extLst>
            </p:cNvPr>
            <p:cNvSpPr>
              <a:spLocks noChangeArrowheads="1"/>
            </p:cNvSpPr>
            <p:nvPr/>
          </p:nvSpPr>
          <p:spPr bwMode="auto">
            <a:xfrm>
              <a:off x="3694" y="3232"/>
              <a:ext cx="1721"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0000FF"/>
                  </a:solidFill>
                  <a:latin typeface="Cambria" panose="02040503050406030204" pitchFamily="18" charset="0"/>
                  <a:ea typeface="Cambria" panose="02040503050406030204" pitchFamily="18" charset="0"/>
                </a:rPr>
                <a:t>Allowed</a:t>
              </a:r>
            </a:p>
          </p:txBody>
        </p:sp>
        <p:sp>
          <p:nvSpPr>
            <p:cNvPr id="34835" name="Line 27">
              <a:extLst>
                <a:ext uri="{FF2B5EF4-FFF2-40B4-BE49-F238E27FC236}">
                  <a16:creationId xmlns:a16="http://schemas.microsoft.com/office/drawing/2014/main" id="{701D29AB-D724-CFFA-78F1-BB9A46975D26}"/>
                </a:ext>
              </a:extLst>
            </p:cNvPr>
            <p:cNvSpPr>
              <a:spLocks noChangeShapeType="1"/>
            </p:cNvSpPr>
            <p:nvPr/>
          </p:nvSpPr>
          <p:spPr bwMode="auto">
            <a:xfrm flipV="1">
              <a:off x="3191" y="3324"/>
              <a:ext cx="431"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sp>
        <p:nvSpPr>
          <p:cNvPr id="5" name="Footer Placeholder 2">
            <a:extLst>
              <a:ext uri="{FF2B5EF4-FFF2-40B4-BE49-F238E27FC236}">
                <a16:creationId xmlns:a16="http://schemas.microsoft.com/office/drawing/2014/main" id="{FD6E0881-C083-C063-3D92-70C003E1431E}"/>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a:solidFill>
                  <a:srgbClr val="0000FF"/>
                </a:solidFill>
                <a:latin typeface="Perpetua"/>
              </a:rPr>
              <a:t>Dr. Asif Sohail,</a:t>
            </a:r>
            <a:r>
              <a:rPr lang="en-US" sz="1400">
                <a:solidFill>
                  <a:srgbClr val="696464"/>
                </a:solidFill>
                <a:latin typeface="Perpetua"/>
              </a:rPr>
              <a:t> Department of IT, </a:t>
            </a:r>
            <a:r>
              <a:rPr lang="en-US" sz="1400">
                <a:solidFill>
                  <a:srgbClr val="FF0000"/>
                </a:solidFill>
                <a:latin typeface="Perpetua"/>
              </a:rPr>
              <a:t>University of the Punjab, Lahore</a:t>
            </a:r>
            <a:endParaRPr lang="en-US" sz="1400" dirty="0">
              <a:solidFill>
                <a:srgbClr val="FF0000"/>
              </a:solidFill>
              <a:latin typeface="Perpetua"/>
            </a:endParaRPr>
          </a:p>
        </p:txBody>
      </p:sp>
    </p:spTree>
    <p:extLst>
      <p:ext uri="{BB962C8B-B14F-4D97-AF65-F5344CB8AC3E}">
        <p14:creationId xmlns:p14="http://schemas.microsoft.com/office/powerpoint/2010/main" val="381980555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FA05-A125-7B67-40A4-3D570098605B}"/>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00881965-EEF6-FAB0-A657-D91BDEF9C1D5}"/>
              </a:ext>
            </a:extLst>
          </p:cNvPr>
          <p:cNvSpPr>
            <a:spLocks noGrp="1" noChangeArrowheads="1"/>
          </p:cNvSpPr>
          <p:nvPr>
            <p:ph type="title"/>
          </p:nvPr>
        </p:nvSpPr>
        <p:spPr>
          <a:xfrm>
            <a:off x="467544" y="250031"/>
            <a:ext cx="4930775"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UNIQUE Key Constraint</a:t>
            </a:r>
            <a:endParaRPr lang="en-US" altLang="en-US" sz="2800" dirty="0">
              <a:solidFill>
                <a:srgbClr val="800000"/>
              </a:solidFill>
            </a:endParaRPr>
          </a:p>
        </p:txBody>
      </p:sp>
      <p:sp>
        <p:nvSpPr>
          <p:cNvPr id="36867" name="Rectangle 3">
            <a:extLst>
              <a:ext uri="{FF2B5EF4-FFF2-40B4-BE49-F238E27FC236}">
                <a16:creationId xmlns:a16="http://schemas.microsoft.com/office/drawing/2014/main" id="{89CAB774-0455-88CD-14B6-E93E4C68FCA4}"/>
              </a:ext>
            </a:extLst>
          </p:cNvPr>
          <p:cNvSpPr>
            <a:spLocks noGrp="1" noChangeArrowheads="1"/>
          </p:cNvSpPr>
          <p:nvPr>
            <p:ph type="body" idx="1"/>
          </p:nvPr>
        </p:nvSpPr>
        <p:spPr>
          <a:xfrm>
            <a:off x="568325" y="722313"/>
            <a:ext cx="8007350" cy="2594366"/>
          </a:xfrm>
          <a:noFill/>
        </p:spPr>
        <p:txBody>
          <a:bodyPr lIns="92075" tIns="46038" rIns="92075" bIns="46038">
            <a:spAutoFit/>
          </a:bodyPr>
          <a:lstStyle/>
          <a:p>
            <a:r>
              <a:rPr lang="en-US" altLang="en-US" sz="2400" dirty="0">
                <a:latin typeface="Cambria" panose="02040503050406030204" pitchFamily="18" charset="0"/>
                <a:ea typeface="Cambria" panose="02040503050406030204" pitchFamily="18" charset="0"/>
              </a:rPr>
              <a:t>Table Level</a:t>
            </a:r>
          </a:p>
          <a:p>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pPr>
              <a:lnSpc>
                <a:spcPct val="200000"/>
              </a:lnSpc>
            </a:pPr>
            <a:r>
              <a:rPr lang="en-US" altLang="en-US" sz="2400" dirty="0">
                <a:latin typeface="Cambria" panose="02040503050406030204" pitchFamily="18" charset="0"/>
                <a:ea typeface="Cambria" panose="02040503050406030204" pitchFamily="18" charset="0"/>
              </a:rPr>
              <a:t>Column Level</a:t>
            </a:r>
          </a:p>
        </p:txBody>
      </p:sp>
      <p:sp>
        <p:nvSpPr>
          <p:cNvPr id="36868" name="Rectangle 4">
            <a:extLst>
              <a:ext uri="{FF2B5EF4-FFF2-40B4-BE49-F238E27FC236}">
                <a16:creationId xmlns:a16="http://schemas.microsoft.com/office/drawing/2014/main" id="{E5A7A656-FDB9-B67B-1383-FEC1B9F324C0}"/>
              </a:ext>
            </a:extLst>
          </p:cNvPr>
          <p:cNvSpPr>
            <a:spLocks noChangeArrowheads="1"/>
          </p:cNvSpPr>
          <p:nvPr/>
        </p:nvSpPr>
        <p:spPr bwMode="blackWhite">
          <a:xfrm>
            <a:off x="827088" y="1197620"/>
            <a:ext cx="6794500" cy="15113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2981" name="Rectangle 5">
            <a:extLst>
              <a:ext uri="{FF2B5EF4-FFF2-40B4-BE49-F238E27FC236}">
                <a16:creationId xmlns:a16="http://schemas.microsoft.com/office/drawing/2014/main" id="{6A08396E-E0D0-43F6-58AE-28DBDA8887E2}"/>
              </a:ext>
            </a:extLst>
          </p:cNvPr>
          <p:cNvSpPr>
            <a:spLocks noChangeArrowheads="1"/>
          </p:cNvSpPr>
          <p:nvPr/>
        </p:nvSpPr>
        <p:spPr bwMode="ltGray">
          <a:xfrm>
            <a:off x="2081213" y="2346970"/>
            <a:ext cx="5419725"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0" name="Rectangle 6">
            <a:extLst>
              <a:ext uri="{FF2B5EF4-FFF2-40B4-BE49-F238E27FC236}">
                <a16:creationId xmlns:a16="http://schemas.microsoft.com/office/drawing/2014/main" id="{332324A1-C3F0-7BE3-D2E2-9DAF3A7908BA}"/>
              </a:ext>
            </a:extLst>
          </p:cNvPr>
          <p:cNvSpPr>
            <a:spLocks noChangeArrowheads="1"/>
          </p:cNvSpPr>
          <p:nvPr/>
        </p:nvSpPr>
        <p:spPr bwMode="blackWhite">
          <a:xfrm>
            <a:off x="852488" y="1505595"/>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a:t>
            </a:r>
            <a:r>
              <a:rPr lang="en-US" altLang="en-US" sz="1800" b="1">
                <a:solidFill>
                  <a:schemeClr val="accent2"/>
                </a:solidFill>
                <a:latin typeface="Courier New" panose="02070309020205020404" pitchFamily="49" charset="0"/>
              </a:rPr>
              <a:t>CONSTRAINT dept_dname_uk</a:t>
            </a:r>
            <a:r>
              <a:rPr lang="en-US" altLang="en-US" sz="1800" b="1">
                <a:solidFill>
                  <a:srgbClr val="000000"/>
                </a:solidFill>
                <a:latin typeface="Courier New" panose="02070309020205020404" pitchFamily="49" charset="0"/>
              </a:rPr>
              <a:t> UNIQUE(dname));</a:t>
            </a:r>
          </a:p>
        </p:txBody>
      </p:sp>
      <p:sp>
        <p:nvSpPr>
          <p:cNvPr id="36871" name="Rectangle 4">
            <a:extLst>
              <a:ext uri="{FF2B5EF4-FFF2-40B4-BE49-F238E27FC236}">
                <a16:creationId xmlns:a16="http://schemas.microsoft.com/office/drawing/2014/main" id="{8E2FFAFE-E152-CEC1-630A-FC55B2AD9A2A}"/>
              </a:ext>
            </a:extLst>
          </p:cNvPr>
          <p:cNvSpPr>
            <a:spLocks noChangeArrowheads="1"/>
          </p:cNvSpPr>
          <p:nvPr/>
        </p:nvSpPr>
        <p:spPr bwMode="blackWhite">
          <a:xfrm>
            <a:off x="890588" y="3356992"/>
            <a:ext cx="6794500" cy="18716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5">
            <a:extLst>
              <a:ext uri="{FF2B5EF4-FFF2-40B4-BE49-F238E27FC236}">
                <a16:creationId xmlns:a16="http://schemas.microsoft.com/office/drawing/2014/main" id="{05B94314-18FC-3966-81BF-3BF0CA84E1A9}"/>
              </a:ext>
            </a:extLst>
          </p:cNvPr>
          <p:cNvSpPr>
            <a:spLocks noChangeArrowheads="1"/>
          </p:cNvSpPr>
          <p:nvPr/>
        </p:nvSpPr>
        <p:spPr bwMode="ltGray">
          <a:xfrm>
            <a:off x="2144713" y="4185667"/>
            <a:ext cx="4659312"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3" name="Rectangle 6">
            <a:extLst>
              <a:ext uri="{FF2B5EF4-FFF2-40B4-BE49-F238E27FC236}">
                <a16:creationId xmlns:a16="http://schemas.microsoft.com/office/drawing/2014/main" id="{55B0324F-022A-F675-57F3-58FA8F8E715C}"/>
              </a:ext>
            </a:extLst>
          </p:cNvPr>
          <p:cNvSpPr>
            <a:spLocks noChangeArrowheads="1"/>
          </p:cNvSpPr>
          <p:nvPr/>
        </p:nvSpPr>
        <p:spPr bwMode="blackWhite">
          <a:xfrm>
            <a:off x="915988" y="3798317"/>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chemeClr val="accent2"/>
                </a:solidFill>
                <a:latin typeface="Courier New" panose="02070309020205020404" pitchFamily="49" charset="0"/>
              </a:rPr>
              <a:t>	CONSTRAINT dept_dname_uk</a:t>
            </a:r>
            <a:r>
              <a:rPr lang="en-US" altLang="en-US" sz="1800" b="1">
                <a:solidFill>
                  <a:srgbClr val="000000"/>
                </a:solidFill>
                <a:latin typeface="Courier New" panose="02070309020205020404" pitchFamily="49" charset="0"/>
              </a:rPr>
              <a:t> UNIQUE,</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a:t>
            </a:r>
          </a:p>
        </p:txBody>
      </p:sp>
      <p:sp>
        <p:nvSpPr>
          <p:cNvPr id="2" name="Slide Number Placeholder 23">
            <a:extLst>
              <a:ext uri="{FF2B5EF4-FFF2-40B4-BE49-F238E27FC236}">
                <a16:creationId xmlns:a16="http://schemas.microsoft.com/office/drawing/2014/main" id="{5E1573A0-FA04-1638-49C2-D78B4652DB5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A8E79307-22F8-5A16-C017-27BC1D80350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6881492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2981"/>
                                        </p:tgtEl>
                                        <p:attrNameLst>
                                          <p:attrName>style.visibility</p:attrName>
                                        </p:attrNameLst>
                                      </p:cBhvr>
                                      <p:to>
                                        <p:strVal val="visible"/>
                                      </p:to>
                                    </p:set>
                                    <p:animEffect transition="in" filter="wipe(up)">
                                      <p:cBhvr>
                                        <p:cTn id="7" dur="500"/>
                                        <p:tgtEl>
                                          <p:spTgt spid="382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60EE-8E1D-4D38-0CC8-084071708F1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A19EBF3-A2B5-ED86-6AF9-50F20E0E4EDC}"/>
              </a:ext>
            </a:extLst>
          </p:cNvPr>
          <p:cNvSpPr>
            <a:spLocks noGrp="1" noChangeArrowheads="1"/>
          </p:cNvSpPr>
          <p:nvPr>
            <p:ph type="title"/>
          </p:nvPr>
        </p:nvSpPr>
        <p:spPr>
          <a:xfrm>
            <a:off x="573087" y="319088"/>
            <a:ext cx="507523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PRIMARY KEY Constraint</a:t>
            </a:r>
          </a:p>
        </p:txBody>
      </p:sp>
      <p:sp>
        <p:nvSpPr>
          <p:cNvPr id="38915" name="Rectangle 3">
            <a:extLst>
              <a:ext uri="{FF2B5EF4-FFF2-40B4-BE49-F238E27FC236}">
                <a16:creationId xmlns:a16="http://schemas.microsoft.com/office/drawing/2014/main" id="{EF5580D3-1A51-00F9-6744-C971A33BAAC3}"/>
              </a:ext>
            </a:extLst>
          </p:cNvPr>
          <p:cNvSpPr>
            <a:spLocks noChangeArrowheads="1"/>
          </p:cNvSpPr>
          <p:nvPr/>
        </p:nvSpPr>
        <p:spPr bwMode="blackWhite">
          <a:xfrm>
            <a:off x="1179513" y="1630908"/>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5028" name="Rectangle 4">
            <a:extLst>
              <a:ext uri="{FF2B5EF4-FFF2-40B4-BE49-F238E27FC236}">
                <a16:creationId xmlns:a16="http://schemas.microsoft.com/office/drawing/2014/main" id="{722B4198-CB3F-A4F5-601F-0A49E9B732F6}"/>
              </a:ext>
            </a:extLst>
          </p:cNvPr>
          <p:cNvSpPr>
            <a:spLocks noChangeArrowheads="1"/>
          </p:cNvSpPr>
          <p:nvPr/>
        </p:nvSpPr>
        <p:spPr bwMode="auto">
          <a:xfrm>
            <a:off x="1092200" y="1267371"/>
            <a:ext cx="891270"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latin typeface="Cambria" panose="02040503050406030204" pitchFamily="18" charset="0"/>
                <a:ea typeface="Cambria" panose="02040503050406030204" pitchFamily="18" charset="0"/>
              </a:rPr>
              <a:t>DEPT </a:t>
            </a:r>
          </a:p>
        </p:txBody>
      </p:sp>
      <p:sp>
        <p:nvSpPr>
          <p:cNvPr id="38917" name="Rectangle 5">
            <a:extLst>
              <a:ext uri="{FF2B5EF4-FFF2-40B4-BE49-F238E27FC236}">
                <a16:creationId xmlns:a16="http://schemas.microsoft.com/office/drawing/2014/main" id="{E10E9DC1-E2A9-5367-D77E-B920747A9717}"/>
              </a:ext>
            </a:extLst>
          </p:cNvPr>
          <p:cNvSpPr>
            <a:spLocks noChangeArrowheads="1"/>
          </p:cNvSpPr>
          <p:nvPr/>
        </p:nvSpPr>
        <p:spPr bwMode="blackWhite">
          <a:xfrm>
            <a:off x="1192213" y="1662658"/>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38918" name="Line 6">
            <a:extLst>
              <a:ext uri="{FF2B5EF4-FFF2-40B4-BE49-F238E27FC236}">
                <a16:creationId xmlns:a16="http://schemas.microsoft.com/office/drawing/2014/main" id="{80667070-F3E4-8D4C-405C-972D081EE305}"/>
              </a:ext>
            </a:extLst>
          </p:cNvPr>
          <p:cNvSpPr>
            <a:spLocks noChangeShapeType="1"/>
          </p:cNvSpPr>
          <p:nvPr/>
        </p:nvSpPr>
        <p:spPr bwMode="auto">
          <a:xfrm>
            <a:off x="1181100" y="2094458"/>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19" name="Line 7">
            <a:extLst>
              <a:ext uri="{FF2B5EF4-FFF2-40B4-BE49-F238E27FC236}">
                <a16:creationId xmlns:a16="http://schemas.microsoft.com/office/drawing/2014/main" id="{E16B84B7-5DDE-0928-3289-DB29F5831E40}"/>
              </a:ext>
            </a:extLst>
          </p:cNvPr>
          <p:cNvSpPr>
            <a:spLocks noChangeShapeType="1"/>
          </p:cNvSpPr>
          <p:nvPr/>
        </p:nvSpPr>
        <p:spPr bwMode="auto">
          <a:xfrm>
            <a:off x="1174750" y="2488158"/>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0" name="Line 8">
            <a:extLst>
              <a:ext uri="{FF2B5EF4-FFF2-40B4-BE49-F238E27FC236}">
                <a16:creationId xmlns:a16="http://schemas.microsoft.com/office/drawing/2014/main" id="{CA32EDA4-AAC1-48F8-5351-CD3A470A3B7C}"/>
              </a:ext>
            </a:extLst>
          </p:cNvPr>
          <p:cNvSpPr>
            <a:spLocks noChangeShapeType="1"/>
          </p:cNvSpPr>
          <p:nvPr/>
        </p:nvSpPr>
        <p:spPr bwMode="auto">
          <a:xfrm>
            <a:off x="1174750" y="2748508"/>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1" name="Line 9">
            <a:extLst>
              <a:ext uri="{FF2B5EF4-FFF2-40B4-BE49-F238E27FC236}">
                <a16:creationId xmlns:a16="http://schemas.microsoft.com/office/drawing/2014/main" id="{C41F3BED-5C24-C364-198C-1BC8F0045F53}"/>
              </a:ext>
            </a:extLst>
          </p:cNvPr>
          <p:cNvSpPr>
            <a:spLocks noChangeShapeType="1"/>
          </p:cNvSpPr>
          <p:nvPr/>
        </p:nvSpPr>
        <p:spPr bwMode="auto">
          <a:xfrm>
            <a:off x="1174750" y="3008858"/>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2" name="Line 10">
            <a:extLst>
              <a:ext uri="{FF2B5EF4-FFF2-40B4-BE49-F238E27FC236}">
                <a16:creationId xmlns:a16="http://schemas.microsoft.com/office/drawing/2014/main" id="{E502A68C-08DA-5F21-9425-55D603C3145C}"/>
              </a:ext>
            </a:extLst>
          </p:cNvPr>
          <p:cNvSpPr>
            <a:spLocks noChangeShapeType="1"/>
          </p:cNvSpPr>
          <p:nvPr/>
        </p:nvSpPr>
        <p:spPr bwMode="auto">
          <a:xfrm>
            <a:off x="2178050" y="1630908"/>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3" name="Line 11">
            <a:extLst>
              <a:ext uri="{FF2B5EF4-FFF2-40B4-BE49-F238E27FC236}">
                <a16:creationId xmlns:a16="http://schemas.microsoft.com/office/drawing/2014/main" id="{0C059491-832E-1FDF-21DB-609B087F938A}"/>
              </a:ext>
            </a:extLst>
          </p:cNvPr>
          <p:cNvSpPr>
            <a:spLocks noChangeShapeType="1"/>
          </p:cNvSpPr>
          <p:nvPr/>
        </p:nvSpPr>
        <p:spPr bwMode="auto">
          <a:xfrm>
            <a:off x="3676650" y="1630908"/>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5036" name="Rectangle 12">
            <a:extLst>
              <a:ext uri="{FF2B5EF4-FFF2-40B4-BE49-F238E27FC236}">
                <a16:creationId xmlns:a16="http://schemas.microsoft.com/office/drawing/2014/main" id="{0F1B8CAD-A7A5-340A-5625-76DDAFB9015E}"/>
              </a:ext>
            </a:extLst>
          </p:cNvPr>
          <p:cNvSpPr>
            <a:spLocks noChangeArrowheads="1"/>
          </p:cNvSpPr>
          <p:nvPr/>
        </p:nvSpPr>
        <p:spPr bwMode="auto">
          <a:xfrm>
            <a:off x="2357438" y="1022896"/>
            <a:ext cx="2938462" cy="36997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2000" b="1" dirty="0">
                <a:solidFill>
                  <a:srgbClr val="0033CC"/>
                </a:solidFill>
                <a:latin typeface="Cambria" panose="02040503050406030204" pitchFamily="18" charset="0"/>
                <a:ea typeface="Cambria" panose="02040503050406030204" pitchFamily="18" charset="0"/>
              </a:rPr>
              <a:t>PRIMARY KEY</a:t>
            </a:r>
          </a:p>
        </p:txBody>
      </p:sp>
      <p:sp>
        <p:nvSpPr>
          <p:cNvPr id="38925" name="Freeform 13">
            <a:extLst>
              <a:ext uri="{FF2B5EF4-FFF2-40B4-BE49-F238E27FC236}">
                <a16:creationId xmlns:a16="http://schemas.microsoft.com/office/drawing/2014/main" id="{8F0D4BA2-265A-C7B8-4CD9-72699EB3D66C}"/>
              </a:ext>
            </a:extLst>
          </p:cNvPr>
          <p:cNvSpPr>
            <a:spLocks/>
          </p:cNvSpPr>
          <p:nvPr/>
        </p:nvSpPr>
        <p:spPr bwMode="auto">
          <a:xfrm>
            <a:off x="2019300" y="1164183"/>
            <a:ext cx="325438" cy="477838"/>
          </a:xfrm>
          <a:custGeom>
            <a:avLst/>
            <a:gdLst>
              <a:gd name="T0" fmla="*/ 2147483646 w 205"/>
              <a:gd name="T1" fmla="*/ 0 h 301"/>
              <a:gd name="T2" fmla="*/ 0 w 205"/>
              <a:gd name="T3" fmla="*/ 0 h 301"/>
              <a:gd name="T4" fmla="*/ 0 w 205"/>
              <a:gd name="T5" fmla="*/ 2147483646 h 301"/>
              <a:gd name="T6" fmla="*/ 0 60000 65536"/>
              <a:gd name="T7" fmla="*/ 0 60000 65536"/>
              <a:gd name="T8" fmla="*/ 0 60000 65536"/>
            </a:gdLst>
            <a:ahLst/>
            <a:cxnLst>
              <a:cxn ang="T6">
                <a:pos x="T0" y="T1"/>
              </a:cxn>
              <a:cxn ang="T7">
                <a:pos x="T2" y="T3"/>
              </a:cxn>
              <a:cxn ang="T8">
                <a:pos x="T4" y="T5"/>
              </a:cxn>
            </a:cxnLst>
            <a:rect l="0" t="0" r="r" b="b"/>
            <a:pathLst>
              <a:path w="205" h="301">
                <a:moveTo>
                  <a:pt x="204" y="0"/>
                </a:moveTo>
                <a:lnTo>
                  <a:pt x="0" y="0"/>
                </a:lnTo>
                <a:lnTo>
                  <a:pt x="0" y="30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14">
            <a:extLst>
              <a:ext uri="{FF2B5EF4-FFF2-40B4-BE49-F238E27FC236}">
                <a16:creationId xmlns:a16="http://schemas.microsoft.com/office/drawing/2014/main" id="{A24F1FA7-7354-FED0-1361-EA58F12984C1}"/>
              </a:ext>
            </a:extLst>
          </p:cNvPr>
          <p:cNvGrpSpPr>
            <a:grpSpLocks/>
          </p:cNvGrpSpPr>
          <p:nvPr/>
        </p:nvGrpSpPr>
        <p:grpSpPr bwMode="auto">
          <a:xfrm>
            <a:off x="1174750" y="3431133"/>
            <a:ext cx="4843463" cy="1638300"/>
            <a:chOff x="740" y="2424"/>
            <a:chExt cx="3051" cy="1032"/>
          </a:xfrm>
        </p:grpSpPr>
        <p:sp>
          <p:nvSpPr>
            <p:cNvPr id="385039" name="Rectangle 15">
              <a:extLst>
                <a:ext uri="{FF2B5EF4-FFF2-40B4-BE49-F238E27FC236}">
                  <a16:creationId xmlns:a16="http://schemas.microsoft.com/office/drawing/2014/main" id="{E93E7FE2-C404-E5D8-6003-18AED869F00D}"/>
                </a:ext>
              </a:extLst>
            </p:cNvPr>
            <p:cNvSpPr>
              <a:spLocks noChangeArrowheads="1"/>
            </p:cNvSpPr>
            <p:nvPr/>
          </p:nvSpPr>
          <p:spPr bwMode="auto">
            <a:xfrm>
              <a:off x="2157" y="2668"/>
              <a:ext cx="1634" cy="233"/>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2000" b="1" dirty="0">
                  <a:solidFill>
                    <a:srgbClr val="FF0000"/>
                  </a:solidFill>
                  <a:latin typeface="Cambria" panose="02040503050406030204" pitchFamily="18" charset="0"/>
                  <a:ea typeface="Cambria" panose="02040503050406030204" pitchFamily="18" charset="0"/>
                </a:rPr>
                <a:t>Insert into</a:t>
              </a:r>
            </a:p>
          </p:txBody>
        </p:sp>
        <p:grpSp>
          <p:nvGrpSpPr>
            <p:cNvPr id="38933" name="Group 16">
              <a:extLst>
                <a:ext uri="{FF2B5EF4-FFF2-40B4-BE49-F238E27FC236}">
                  <a16:creationId xmlns:a16="http://schemas.microsoft.com/office/drawing/2014/main" id="{D10233AC-68E0-AD64-D099-528D0BD39E67}"/>
                </a:ext>
              </a:extLst>
            </p:cNvPr>
            <p:cNvGrpSpPr>
              <a:grpSpLocks/>
            </p:cNvGrpSpPr>
            <p:nvPr/>
          </p:nvGrpSpPr>
          <p:grpSpPr bwMode="auto">
            <a:xfrm>
              <a:off x="740" y="2424"/>
              <a:ext cx="2448" cy="1032"/>
              <a:chOff x="740" y="2424"/>
              <a:chExt cx="2448" cy="1032"/>
            </a:xfrm>
          </p:grpSpPr>
          <p:sp>
            <p:nvSpPr>
              <p:cNvPr id="38934" name="AutoShape 17">
                <a:extLst>
                  <a:ext uri="{FF2B5EF4-FFF2-40B4-BE49-F238E27FC236}">
                    <a16:creationId xmlns:a16="http://schemas.microsoft.com/office/drawing/2014/main" id="{746441A4-0918-E39C-2D80-E6F4C4938F16}"/>
                  </a:ext>
                </a:extLst>
              </p:cNvPr>
              <p:cNvSpPr>
                <a:spLocks noChangeArrowheads="1"/>
              </p:cNvSpPr>
              <p:nvPr/>
            </p:nvSpPr>
            <p:spPr bwMode="auto">
              <a:xfrm>
                <a:off x="1752" y="2424"/>
                <a:ext cx="420" cy="456"/>
              </a:xfrm>
              <a:prstGeom prst="upArrow">
                <a:avLst>
                  <a:gd name="adj1" fmla="val 50000"/>
                  <a:gd name="adj2" fmla="val 54281"/>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35" name="Rectangle 18">
                <a:extLst>
                  <a:ext uri="{FF2B5EF4-FFF2-40B4-BE49-F238E27FC236}">
                    <a16:creationId xmlns:a16="http://schemas.microsoft.com/office/drawing/2014/main" id="{7FA688CA-4FA4-DE82-8275-5C4863EE2914}"/>
                  </a:ext>
                </a:extLst>
              </p:cNvPr>
              <p:cNvSpPr>
                <a:spLocks noChangeArrowheads="1"/>
              </p:cNvSpPr>
              <p:nvPr/>
            </p:nvSpPr>
            <p:spPr bwMode="blackWhite">
              <a:xfrm>
                <a:off x="743" y="2874"/>
                <a:ext cx="2433" cy="56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36" name="Rectangle 19">
                <a:extLst>
                  <a:ext uri="{FF2B5EF4-FFF2-40B4-BE49-F238E27FC236}">
                    <a16:creationId xmlns:a16="http://schemas.microsoft.com/office/drawing/2014/main" id="{54ECCAEA-F4EC-F163-EA0B-951800F83F51}"/>
                  </a:ext>
                </a:extLst>
              </p:cNvPr>
              <p:cNvSpPr>
                <a:spLocks noChangeArrowheads="1"/>
              </p:cNvSpPr>
              <p:nvPr/>
            </p:nvSpPr>
            <p:spPr bwMode="blackWhite">
              <a:xfrm>
                <a:off x="751" y="2894"/>
                <a:ext cx="2417"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20	MARKETING	DALLAS</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FINANCE	NEW YORK</a:t>
                </a:r>
              </a:p>
            </p:txBody>
          </p:sp>
          <p:grpSp>
            <p:nvGrpSpPr>
              <p:cNvPr id="38937" name="Group 20">
                <a:extLst>
                  <a:ext uri="{FF2B5EF4-FFF2-40B4-BE49-F238E27FC236}">
                    <a16:creationId xmlns:a16="http://schemas.microsoft.com/office/drawing/2014/main" id="{0ADEECB0-78E0-1873-2615-2FD9E2532BD0}"/>
                  </a:ext>
                </a:extLst>
              </p:cNvPr>
              <p:cNvGrpSpPr>
                <a:grpSpLocks/>
              </p:cNvGrpSpPr>
              <p:nvPr/>
            </p:nvGrpSpPr>
            <p:grpSpPr bwMode="auto">
              <a:xfrm>
                <a:off x="1372" y="2874"/>
                <a:ext cx="944" cy="582"/>
                <a:chOff x="1372" y="2874"/>
                <a:chExt cx="944" cy="582"/>
              </a:xfrm>
            </p:grpSpPr>
            <p:sp>
              <p:nvSpPr>
                <p:cNvPr id="38939" name="Line 21">
                  <a:extLst>
                    <a:ext uri="{FF2B5EF4-FFF2-40B4-BE49-F238E27FC236}">
                      <a16:creationId xmlns:a16="http://schemas.microsoft.com/office/drawing/2014/main" id="{CEDE4771-3F2D-5860-CA70-20F9BFB979D8}"/>
                    </a:ext>
                  </a:extLst>
                </p:cNvPr>
                <p:cNvSpPr>
                  <a:spLocks noChangeShapeType="1"/>
                </p:cNvSpPr>
                <p:nvPr/>
              </p:nvSpPr>
              <p:spPr bwMode="auto">
                <a:xfrm>
                  <a:off x="1372"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40" name="Line 22">
                  <a:extLst>
                    <a:ext uri="{FF2B5EF4-FFF2-40B4-BE49-F238E27FC236}">
                      <a16:creationId xmlns:a16="http://schemas.microsoft.com/office/drawing/2014/main" id="{0A812C01-CEE7-E4AE-23D8-7B13CB88FB04}"/>
                    </a:ext>
                  </a:extLst>
                </p:cNvPr>
                <p:cNvSpPr>
                  <a:spLocks noChangeShapeType="1"/>
                </p:cNvSpPr>
                <p:nvPr/>
              </p:nvSpPr>
              <p:spPr bwMode="auto">
                <a:xfrm>
                  <a:off x="2316"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938" name="Line 23">
                <a:extLst>
                  <a:ext uri="{FF2B5EF4-FFF2-40B4-BE49-F238E27FC236}">
                    <a16:creationId xmlns:a16="http://schemas.microsoft.com/office/drawing/2014/main" id="{E4EE0D11-9D9A-A3AC-E479-9D14242BD9F1}"/>
                  </a:ext>
                </a:extLst>
              </p:cNvPr>
              <p:cNvSpPr>
                <a:spLocks noChangeShapeType="1"/>
              </p:cNvSpPr>
              <p:nvPr/>
            </p:nvSpPr>
            <p:spPr bwMode="auto">
              <a:xfrm>
                <a:off x="740" y="315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grpSp>
        <p:nvGrpSpPr>
          <p:cNvPr id="5" name="Group 24">
            <a:extLst>
              <a:ext uri="{FF2B5EF4-FFF2-40B4-BE49-F238E27FC236}">
                <a16:creationId xmlns:a16="http://schemas.microsoft.com/office/drawing/2014/main" id="{C46AA92E-74B2-7D82-8354-CF3D59BB088E}"/>
              </a:ext>
            </a:extLst>
          </p:cNvPr>
          <p:cNvGrpSpPr>
            <a:grpSpLocks/>
          </p:cNvGrpSpPr>
          <p:nvPr/>
        </p:nvGrpSpPr>
        <p:grpSpPr bwMode="auto">
          <a:xfrm>
            <a:off x="5065713" y="3913733"/>
            <a:ext cx="3352800" cy="1447800"/>
            <a:chOff x="3191" y="2728"/>
            <a:chExt cx="2112" cy="912"/>
          </a:xfrm>
        </p:grpSpPr>
        <p:sp>
          <p:nvSpPr>
            <p:cNvPr id="385049" name="Rectangle 25">
              <a:extLst>
                <a:ext uri="{FF2B5EF4-FFF2-40B4-BE49-F238E27FC236}">
                  <a16:creationId xmlns:a16="http://schemas.microsoft.com/office/drawing/2014/main" id="{5C338DEA-ACFA-EB23-E8F3-ABD656050E40}"/>
                </a:ext>
              </a:extLst>
            </p:cNvPr>
            <p:cNvSpPr>
              <a:spLocks noChangeArrowheads="1"/>
            </p:cNvSpPr>
            <p:nvPr/>
          </p:nvSpPr>
          <p:spPr bwMode="auto">
            <a:xfrm>
              <a:off x="3669" y="2728"/>
              <a:ext cx="1634" cy="582"/>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2000" b="1" dirty="0">
                  <a:solidFill>
                    <a:srgbClr val="FF0000"/>
                  </a:solidFill>
                  <a:latin typeface="Cambria" panose="02040503050406030204" pitchFamily="18" charset="0"/>
                  <a:ea typeface="Cambria" panose="02040503050406030204" pitchFamily="18" charset="0"/>
                </a:rPr>
                <a:t>Not allowed</a:t>
              </a:r>
              <a:r>
                <a:rPr lang="en-US" sz="2000" b="1" dirty="0">
                  <a:solidFill>
                    <a:srgbClr val="0033CC"/>
                  </a:solidFill>
                  <a:latin typeface="Cambria" panose="02040503050406030204" pitchFamily="18" charset="0"/>
                  <a:ea typeface="Cambria" panose="02040503050406030204" pitchFamily="18" charset="0"/>
                </a:rPr>
                <a:t> (DEPTNO</a:t>
              </a:r>
              <a:r>
                <a:rPr lang="en-US" sz="2000" dirty="0">
                  <a:solidFill>
                    <a:srgbClr val="0033CC"/>
                  </a:solidFill>
                  <a:latin typeface="Cambria" panose="02040503050406030204" pitchFamily="18" charset="0"/>
                  <a:ea typeface="Cambria" panose="02040503050406030204" pitchFamily="18" charset="0"/>
                </a:rPr>
                <a:t>-</a:t>
              </a:r>
              <a:r>
                <a:rPr lang="en-US" sz="2000" b="1" dirty="0">
                  <a:solidFill>
                    <a:srgbClr val="0033CC"/>
                  </a:solidFill>
                  <a:latin typeface="Cambria" panose="02040503050406030204" pitchFamily="18" charset="0"/>
                  <a:ea typeface="Cambria" panose="02040503050406030204" pitchFamily="18" charset="0"/>
                </a:rPr>
                <a:t>20 already exists)</a:t>
              </a:r>
            </a:p>
          </p:txBody>
        </p:sp>
        <p:sp>
          <p:nvSpPr>
            <p:cNvPr id="38929" name="Line 26">
              <a:extLst>
                <a:ext uri="{FF2B5EF4-FFF2-40B4-BE49-F238E27FC236}">
                  <a16:creationId xmlns:a16="http://schemas.microsoft.com/office/drawing/2014/main" id="{5C70B21C-C7D3-ACBA-FA57-9C59F132E437}"/>
                </a:ext>
              </a:extLst>
            </p:cNvPr>
            <p:cNvSpPr>
              <a:spLocks noChangeShapeType="1"/>
            </p:cNvSpPr>
            <p:nvPr/>
          </p:nvSpPr>
          <p:spPr bwMode="auto">
            <a:xfrm flipV="1">
              <a:off x="3191" y="2988"/>
              <a:ext cx="409"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sz="2000">
                <a:solidFill>
                  <a:srgbClr val="0033CC"/>
                </a:solidFill>
                <a:latin typeface="Cambria" panose="02040503050406030204" pitchFamily="18" charset="0"/>
                <a:ea typeface="Cambria" panose="02040503050406030204" pitchFamily="18" charset="0"/>
              </a:endParaRPr>
            </a:p>
          </p:txBody>
        </p:sp>
        <p:sp>
          <p:nvSpPr>
            <p:cNvPr id="385051" name="Rectangle 27">
              <a:extLst>
                <a:ext uri="{FF2B5EF4-FFF2-40B4-BE49-F238E27FC236}">
                  <a16:creationId xmlns:a16="http://schemas.microsoft.com/office/drawing/2014/main" id="{3C3CF776-85C0-3145-DEB8-52C438C22656}"/>
                </a:ext>
              </a:extLst>
            </p:cNvPr>
            <p:cNvSpPr>
              <a:spLocks noChangeArrowheads="1"/>
            </p:cNvSpPr>
            <p:nvPr/>
          </p:nvSpPr>
          <p:spPr bwMode="auto">
            <a:xfrm>
              <a:off x="3669" y="3232"/>
              <a:ext cx="1634" cy="408"/>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2000" b="1" dirty="0">
                  <a:solidFill>
                    <a:srgbClr val="FF0000"/>
                  </a:solidFill>
                  <a:latin typeface="Cambria" panose="02040503050406030204" pitchFamily="18" charset="0"/>
                  <a:ea typeface="Cambria" panose="02040503050406030204" pitchFamily="18" charset="0"/>
                </a:rPr>
                <a:t>Not allowed</a:t>
              </a:r>
              <a:br>
                <a:rPr lang="en-US" sz="2000" b="1" dirty="0">
                  <a:solidFill>
                    <a:srgbClr val="0033CC"/>
                  </a:solidFill>
                  <a:latin typeface="Cambria" panose="02040503050406030204" pitchFamily="18" charset="0"/>
                  <a:ea typeface="Cambria" panose="02040503050406030204" pitchFamily="18" charset="0"/>
                </a:rPr>
              </a:br>
              <a:r>
                <a:rPr lang="en-US" sz="2000" b="1" dirty="0">
                  <a:solidFill>
                    <a:srgbClr val="0033CC"/>
                  </a:solidFill>
                  <a:latin typeface="Cambria" panose="02040503050406030204" pitchFamily="18" charset="0"/>
                  <a:ea typeface="Cambria" panose="02040503050406030204" pitchFamily="18" charset="0"/>
                </a:rPr>
                <a:t>(DEPTNO is null)</a:t>
              </a:r>
            </a:p>
          </p:txBody>
        </p:sp>
        <p:sp>
          <p:nvSpPr>
            <p:cNvPr id="38931" name="Line 28">
              <a:extLst>
                <a:ext uri="{FF2B5EF4-FFF2-40B4-BE49-F238E27FC236}">
                  <a16:creationId xmlns:a16="http://schemas.microsoft.com/office/drawing/2014/main" id="{A1BF4F6C-3098-85F0-0996-E0B38F93B839}"/>
                </a:ext>
              </a:extLst>
            </p:cNvPr>
            <p:cNvSpPr>
              <a:spLocks noChangeShapeType="1"/>
            </p:cNvSpPr>
            <p:nvPr/>
          </p:nvSpPr>
          <p:spPr bwMode="auto">
            <a:xfrm flipV="1">
              <a:off x="3191" y="3324"/>
              <a:ext cx="409"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sz="2000">
                <a:solidFill>
                  <a:srgbClr val="0033CC"/>
                </a:solidFill>
                <a:latin typeface="Cambria" panose="02040503050406030204" pitchFamily="18" charset="0"/>
                <a:ea typeface="Cambria" panose="02040503050406030204" pitchFamily="18" charset="0"/>
              </a:endParaRPr>
            </a:p>
          </p:txBody>
        </p:sp>
      </p:grpSp>
      <p:sp>
        <p:nvSpPr>
          <p:cNvPr id="3" name="Slide Number Placeholder 23">
            <a:extLst>
              <a:ext uri="{FF2B5EF4-FFF2-40B4-BE49-F238E27FC236}">
                <a16:creationId xmlns:a16="http://schemas.microsoft.com/office/drawing/2014/main" id="{9A2174B2-9D4B-27CD-33C5-397BC2234055}"/>
              </a:ext>
            </a:extLst>
          </p:cNvPr>
          <p:cNvSpPr txBox="1">
            <a:spLocks/>
          </p:cNvSpPr>
          <p:nvPr/>
        </p:nvSpPr>
        <p:spPr>
          <a:xfrm>
            <a:off x="8532440" y="6309320"/>
            <a:ext cx="427833" cy="457200"/>
          </a:xfrm>
          <a:prstGeom prst="ellipse">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eaLnBrk="1" fontAlgn="auto" hangingPunct="1">
              <a:spcBef>
                <a:spcPts val="0"/>
              </a:spcBef>
              <a:spcAft>
                <a:spcPts val="0"/>
              </a:spcAft>
              <a:defRPr/>
            </a:pPr>
            <a:fld id="{110F9843-0372-4357-99AD-419BEB3ABF28}" type="slidenum">
              <a:rPr lang="en-US" sz="1400" smtClean="0">
                <a:solidFill>
                  <a:srgbClr val="FFFFFF"/>
                </a:solidFill>
                <a:latin typeface="Franklin Gothic Book"/>
                <a:ea typeface="+mj-ea"/>
                <a:cs typeface="+mj-cs"/>
              </a:rPr>
              <a:pPr algn="ctr" eaLnBrk="1" fontAlgn="auto" hangingPunct="1">
                <a:spcBef>
                  <a:spcPts val="0"/>
                </a:spcBef>
                <a:spcAft>
                  <a:spcPts val="0"/>
                </a:spcAft>
                <a:defRPr/>
              </a:pPr>
              <a:t>14</a:t>
            </a:fld>
            <a:endParaRPr lang="en-US" sz="1400">
              <a:solidFill>
                <a:srgbClr val="FFFFFF"/>
              </a:solidFill>
              <a:latin typeface="Franklin Gothic Book"/>
              <a:ea typeface="+mj-ea"/>
              <a:cs typeface="+mj-cs"/>
            </a:endParaRPr>
          </a:p>
        </p:txBody>
      </p:sp>
      <p:sp>
        <p:nvSpPr>
          <p:cNvPr id="4" name="Footer Placeholder 2">
            <a:extLst>
              <a:ext uri="{FF2B5EF4-FFF2-40B4-BE49-F238E27FC236}">
                <a16:creationId xmlns:a16="http://schemas.microsoft.com/office/drawing/2014/main" id="{2B238782-B1BE-B06B-82A9-DE335CD340E7}"/>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a:solidFill>
                  <a:srgbClr val="0000FF"/>
                </a:solidFill>
                <a:latin typeface="Perpetua"/>
              </a:rPr>
              <a:t>Dr. Asif Sohail,</a:t>
            </a:r>
            <a:r>
              <a:rPr lang="en-US" sz="1400">
                <a:solidFill>
                  <a:srgbClr val="696464"/>
                </a:solidFill>
                <a:latin typeface="Perpetua"/>
              </a:rPr>
              <a:t> Department of IT, </a:t>
            </a:r>
            <a:r>
              <a:rPr lang="en-US" sz="1400">
                <a:solidFill>
                  <a:srgbClr val="FF0000"/>
                </a:solidFill>
                <a:latin typeface="Perpetua"/>
              </a:rPr>
              <a:t>University of the Punjab, Lahore</a:t>
            </a:r>
            <a:endParaRPr lang="en-US" sz="1400" dirty="0">
              <a:solidFill>
                <a:srgbClr val="FF0000"/>
              </a:solidFill>
              <a:latin typeface="Perpetua"/>
            </a:endParaRPr>
          </a:p>
        </p:txBody>
      </p:sp>
    </p:spTree>
    <p:extLst>
      <p:ext uri="{BB962C8B-B14F-4D97-AF65-F5344CB8AC3E}">
        <p14:creationId xmlns:p14="http://schemas.microsoft.com/office/powerpoint/2010/main" val="178838825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5A0B-A04A-1A6E-2A66-5B1BF9EAE9E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445A7FFB-B57F-B21C-211E-B927169E2FBE}"/>
              </a:ext>
            </a:extLst>
          </p:cNvPr>
          <p:cNvSpPr>
            <a:spLocks noGrp="1" noChangeArrowheads="1"/>
          </p:cNvSpPr>
          <p:nvPr>
            <p:ph type="title"/>
          </p:nvPr>
        </p:nvSpPr>
        <p:spPr>
          <a:xfrm>
            <a:off x="467544" y="332656"/>
            <a:ext cx="507523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PRIMARY KEY Constraint</a:t>
            </a:r>
            <a:endParaRPr lang="en-US" altLang="en-US" sz="2800" dirty="0">
              <a:solidFill>
                <a:srgbClr val="800000"/>
              </a:solidFill>
            </a:endParaRPr>
          </a:p>
        </p:txBody>
      </p:sp>
      <p:sp>
        <p:nvSpPr>
          <p:cNvPr id="40963" name="Rectangle 3">
            <a:extLst>
              <a:ext uri="{FF2B5EF4-FFF2-40B4-BE49-F238E27FC236}">
                <a16:creationId xmlns:a16="http://schemas.microsoft.com/office/drawing/2014/main" id="{6503BAA5-24E8-40A2-9EBB-A87A9EF98E4B}"/>
              </a:ext>
            </a:extLst>
          </p:cNvPr>
          <p:cNvSpPr>
            <a:spLocks noGrp="1" noChangeArrowheads="1"/>
          </p:cNvSpPr>
          <p:nvPr>
            <p:ph type="body" idx="1"/>
          </p:nvPr>
        </p:nvSpPr>
        <p:spPr>
          <a:xfrm>
            <a:off x="467544" y="839552"/>
            <a:ext cx="8139658" cy="1293304"/>
          </a:xfrm>
          <a:noFill/>
        </p:spPr>
        <p:txBody>
          <a:bodyPr wrap="square" lIns="92075" tIns="46038" rIns="92075" bIns="46038">
            <a:spAutoFit/>
          </a:bodyPr>
          <a:lstStyle/>
          <a:p>
            <a:pPr algn="just"/>
            <a:r>
              <a:rPr lang="en-US" altLang="en-US" dirty="0">
                <a:latin typeface="Cambria" panose="02040503050406030204" pitchFamily="18" charset="0"/>
                <a:ea typeface="Cambria" panose="02040503050406030204" pitchFamily="18" charset="0"/>
              </a:rPr>
              <a:t>Can be specified either at the </a:t>
            </a:r>
            <a:r>
              <a:rPr lang="en-US" altLang="en-US" dirty="0">
                <a:solidFill>
                  <a:srgbClr val="0000FF"/>
                </a:solidFill>
                <a:latin typeface="Cambria" panose="02040503050406030204" pitchFamily="18" charset="0"/>
                <a:ea typeface="Cambria" panose="02040503050406030204" pitchFamily="18" charset="0"/>
              </a:rPr>
              <a:t>table level</a:t>
            </a:r>
            <a:r>
              <a:rPr lang="en-US" altLang="en-US" dirty="0">
                <a:latin typeface="Cambria" panose="02040503050406030204" pitchFamily="18" charset="0"/>
                <a:ea typeface="Cambria" panose="02040503050406030204" pitchFamily="18" charset="0"/>
              </a:rPr>
              <a:t> or at the </a:t>
            </a:r>
            <a:r>
              <a:rPr lang="en-US" altLang="en-US" dirty="0">
                <a:solidFill>
                  <a:srgbClr val="0000FF"/>
                </a:solidFill>
                <a:latin typeface="Cambria" panose="02040503050406030204" pitchFamily="18" charset="0"/>
                <a:ea typeface="Cambria" panose="02040503050406030204" pitchFamily="18" charset="0"/>
              </a:rPr>
              <a:t>column level.</a:t>
            </a:r>
            <a:r>
              <a:rPr lang="en-US" altLang="en-US" dirty="0">
                <a:latin typeface="Cambria" panose="02040503050406030204" pitchFamily="18" charset="0"/>
                <a:ea typeface="Cambria" panose="02040503050406030204" pitchFamily="18" charset="0"/>
              </a:rPr>
              <a:t> However, if the PK is </a:t>
            </a:r>
            <a:r>
              <a:rPr lang="en-US" altLang="en-US" dirty="0">
                <a:solidFill>
                  <a:srgbClr val="FF0000"/>
                </a:solidFill>
                <a:latin typeface="Cambria" panose="02040503050406030204" pitchFamily="18" charset="0"/>
                <a:ea typeface="Cambria" panose="02040503050406030204" pitchFamily="18" charset="0"/>
              </a:rPr>
              <a:t>composite,</a:t>
            </a:r>
            <a:r>
              <a:rPr lang="en-US" altLang="en-US" dirty="0">
                <a:latin typeface="Cambria" panose="02040503050406030204" pitchFamily="18" charset="0"/>
                <a:ea typeface="Cambria" panose="02040503050406030204" pitchFamily="18" charset="0"/>
              </a:rPr>
              <a:t> then it should be defined at table level.</a:t>
            </a:r>
          </a:p>
        </p:txBody>
      </p:sp>
      <p:sp>
        <p:nvSpPr>
          <p:cNvPr id="40964" name="Rectangle 4">
            <a:extLst>
              <a:ext uri="{FF2B5EF4-FFF2-40B4-BE49-F238E27FC236}">
                <a16:creationId xmlns:a16="http://schemas.microsoft.com/office/drawing/2014/main" id="{004E4424-FCCB-2E12-2840-CD20A596AAF1}"/>
              </a:ext>
            </a:extLst>
          </p:cNvPr>
          <p:cNvSpPr>
            <a:spLocks noChangeArrowheads="1"/>
          </p:cNvSpPr>
          <p:nvPr/>
        </p:nvSpPr>
        <p:spPr bwMode="blackWhite">
          <a:xfrm>
            <a:off x="683568" y="2276872"/>
            <a:ext cx="7823200" cy="18986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7077" name="Rectangle 5">
            <a:extLst>
              <a:ext uri="{FF2B5EF4-FFF2-40B4-BE49-F238E27FC236}">
                <a16:creationId xmlns:a16="http://schemas.microsoft.com/office/drawing/2014/main" id="{AD1A9744-64AB-7A14-ACAE-843C7706E151}"/>
              </a:ext>
            </a:extLst>
          </p:cNvPr>
          <p:cNvSpPr>
            <a:spLocks noChangeArrowheads="1"/>
          </p:cNvSpPr>
          <p:nvPr/>
        </p:nvSpPr>
        <p:spPr bwMode="ltGray">
          <a:xfrm>
            <a:off x="1937693" y="3769122"/>
            <a:ext cx="6334125" cy="3048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0966" name="Rectangle 6">
            <a:extLst>
              <a:ext uri="{FF2B5EF4-FFF2-40B4-BE49-F238E27FC236}">
                <a16:creationId xmlns:a16="http://schemas.microsoft.com/office/drawing/2014/main" id="{AAF44FDA-577F-786E-4488-D5E0B3CDE3D2}"/>
              </a:ext>
            </a:extLst>
          </p:cNvPr>
          <p:cNvSpPr>
            <a:spLocks noChangeArrowheads="1"/>
          </p:cNvSpPr>
          <p:nvPr/>
        </p:nvSpPr>
        <p:spPr bwMode="blackWhite">
          <a:xfrm>
            <a:off x="708968" y="2775347"/>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CONSTRAINT dept_dname_uk UNIQUE (dname),</a:t>
            </a:r>
          </a:p>
          <a:p>
            <a:pPr>
              <a:spcBef>
                <a:spcPct val="0"/>
              </a:spcBef>
              <a:buFontTx/>
              <a:buNone/>
            </a:pPr>
            <a:r>
              <a:rPr lang="en-US" altLang="en-US" sz="1800" b="1">
                <a:solidFill>
                  <a:srgbClr val="000000"/>
                </a:solidFill>
                <a:latin typeface="Courier New" panose="02070309020205020404" pitchFamily="49" charset="0"/>
              </a:rPr>
              <a:t>  6	CONSTRAINT dept_deptno_pk PRIMARY KEY(deptno));</a:t>
            </a:r>
          </a:p>
        </p:txBody>
      </p:sp>
      <p:sp>
        <p:nvSpPr>
          <p:cNvPr id="2" name="Slide Number Placeholder 23">
            <a:extLst>
              <a:ext uri="{FF2B5EF4-FFF2-40B4-BE49-F238E27FC236}">
                <a16:creationId xmlns:a16="http://schemas.microsoft.com/office/drawing/2014/main" id="{F41FB3AC-B6AB-1731-4DD5-19ADD1152D6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C8A560DC-4675-7981-3AFE-B726C76F5CD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85000343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7077"/>
                                        </p:tgtEl>
                                        <p:attrNameLst>
                                          <p:attrName>style.visibility</p:attrName>
                                        </p:attrNameLst>
                                      </p:cBhvr>
                                      <p:to>
                                        <p:strVal val="visible"/>
                                      </p:to>
                                    </p:set>
                                    <p:animEffect transition="in" filter="wipe(up)">
                                      <p:cBhvr>
                                        <p:cTn id="7" dur="500"/>
                                        <p:tgtEl>
                                          <p:spTgt spid="387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6EEF-5301-DD3E-E386-2DA1D17B3DE5}"/>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37DFEE66-F26C-DD05-CF9C-669161AEE338}"/>
              </a:ext>
            </a:extLst>
          </p:cNvPr>
          <p:cNvSpPr>
            <a:spLocks noGrp="1" noChangeArrowheads="1"/>
          </p:cNvSpPr>
          <p:nvPr>
            <p:ph type="title"/>
          </p:nvPr>
        </p:nvSpPr>
        <p:spPr>
          <a:xfrm>
            <a:off x="527843" y="330199"/>
            <a:ext cx="51466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FOREIGN KEY Constraint</a:t>
            </a:r>
          </a:p>
        </p:txBody>
      </p:sp>
      <p:sp>
        <p:nvSpPr>
          <p:cNvPr id="43011" name="Rectangle 3">
            <a:extLst>
              <a:ext uri="{FF2B5EF4-FFF2-40B4-BE49-F238E27FC236}">
                <a16:creationId xmlns:a16="http://schemas.microsoft.com/office/drawing/2014/main" id="{D97FA09A-AAD7-C682-54F3-468085015181}"/>
              </a:ext>
            </a:extLst>
          </p:cNvPr>
          <p:cNvSpPr>
            <a:spLocks noChangeArrowheads="1"/>
          </p:cNvSpPr>
          <p:nvPr/>
        </p:nvSpPr>
        <p:spPr bwMode="blackWhite">
          <a:xfrm>
            <a:off x="2760663" y="1495425"/>
            <a:ext cx="3862387" cy="14192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124" name="Rectangle 4">
            <a:extLst>
              <a:ext uri="{FF2B5EF4-FFF2-40B4-BE49-F238E27FC236}">
                <a16:creationId xmlns:a16="http://schemas.microsoft.com/office/drawing/2014/main" id="{F40D1525-E612-FDCD-33AB-A097E3697431}"/>
              </a:ext>
            </a:extLst>
          </p:cNvPr>
          <p:cNvSpPr>
            <a:spLocks noChangeArrowheads="1"/>
          </p:cNvSpPr>
          <p:nvPr/>
        </p:nvSpPr>
        <p:spPr bwMode="auto">
          <a:xfrm>
            <a:off x="2635250" y="1131888"/>
            <a:ext cx="891270"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DEPT </a:t>
            </a:r>
          </a:p>
        </p:txBody>
      </p:sp>
      <p:sp>
        <p:nvSpPr>
          <p:cNvPr id="43013" name="Rectangle 5">
            <a:extLst>
              <a:ext uri="{FF2B5EF4-FFF2-40B4-BE49-F238E27FC236}">
                <a16:creationId xmlns:a16="http://schemas.microsoft.com/office/drawing/2014/main" id="{EBB4CFC2-A08C-293C-CFEE-00B4C8E6951E}"/>
              </a:ext>
            </a:extLst>
          </p:cNvPr>
          <p:cNvSpPr>
            <a:spLocks noChangeArrowheads="1"/>
          </p:cNvSpPr>
          <p:nvPr/>
        </p:nvSpPr>
        <p:spPr bwMode="blackWhite">
          <a:xfrm>
            <a:off x="2735263" y="1527175"/>
            <a:ext cx="3836987"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14" name="Line 6">
            <a:extLst>
              <a:ext uri="{FF2B5EF4-FFF2-40B4-BE49-F238E27FC236}">
                <a16:creationId xmlns:a16="http://schemas.microsoft.com/office/drawing/2014/main" id="{60B92304-45D0-1347-CDE3-30215B2BBAD8}"/>
              </a:ext>
            </a:extLst>
          </p:cNvPr>
          <p:cNvSpPr>
            <a:spLocks noChangeShapeType="1"/>
          </p:cNvSpPr>
          <p:nvPr/>
        </p:nvSpPr>
        <p:spPr bwMode="auto">
          <a:xfrm>
            <a:off x="2743200" y="1958975"/>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5" name="Line 7">
            <a:extLst>
              <a:ext uri="{FF2B5EF4-FFF2-40B4-BE49-F238E27FC236}">
                <a16:creationId xmlns:a16="http://schemas.microsoft.com/office/drawing/2014/main" id="{3808BB49-FD59-DC29-0E46-A695140B0AC8}"/>
              </a:ext>
            </a:extLst>
          </p:cNvPr>
          <p:cNvSpPr>
            <a:spLocks noChangeShapeType="1"/>
          </p:cNvSpPr>
          <p:nvPr/>
        </p:nvSpPr>
        <p:spPr bwMode="auto">
          <a:xfrm>
            <a:off x="2736850" y="235267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6" name="Line 8">
            <a:extLst>
              <a:ext uri="{FF2B5EF4-FFF2-40B4-BE49-F238E27FC236}">
                <a16:creationId xmlns:a16="http://schemas.microsoft.com/office/drawing/2014/main" id="{EBBC8EC4-3650-559F-0FD1-414CB313E4CC}"/>
              </a:ext>
            </a:extLst>
          </p:cNvPr>
          <p:cNvSpPr>
            <a:spLocks noChangeShapeType="1"/>
          </p:cNvSpPr>
          <p:nvPr/>
        </p:nvSpPr>
        <p:spPr bwMode="auto">
          <a:xfrm>
            <a:off x="2736850" y="26130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43017" name="Group 9">
            <a:extLst>
              <a:ext uri="{FF2B5EF4-FFF2-40B4-BE49-F238E27FC236}">
                <a16:creationId xmlns:a16="http://schemas.microsoft.com/office/drawing/2014/main" id="{D8E0A6B2-4B63-A6FB-EF8B-6B07EC5EAADD}"/>
              </a:ext>
            </a:extLst>
          </p:cNvPr>
          <p:cNvGrpSpPr>
            <a:grpSpLocks/>
          </p:cNvGrpSpPr>
          <p:nvPr/>
        </p:nvGrpSpPr>
        <p:grpSpPr bwMode="auto">
          <a:xfrm>
            <a:off x="3721100" y="1495425"/>
            <a:ext cx="1498600" cy="1438275"/>
            <a:chOff x="2344" y="942"/>
            <a:chExt cx="944" cy="906"/>
          </a:xfrm>
        </p:grpSpPr>
        <p:sp>
          <p:nvSpPr>
            <p:cNvPr id="43054" name="Line 10">
              <a:extLst>
                <a:ext uri="{FF2B5EF4-FFF2-40B4-BE49-F238E27FC236}">
                  <a16:creationId xmlns:a16="http://schemas.microsoft.com/office/drawing/2014/main" id="{06D8D7B6-33C7-4CB7-69C8-FD27CAD997FA}"/>
                </a:ext>
              </a:extLst>
            </p:cNvPr>
            <p:cNvSpPr>
              <a:spLocks noChangeShapeType="1"/>
            </p:cNvSpPr>
            <p:nvPr/>
          </p:nvSpPr>
          <p:spPr bwMode="auto">
            <a:xfrm>
              <a:off x="2344" y="942"/>
              <a:ext cx="0" cy="90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5" name="Line 11">
              <a:extLst>
                <a:ext uri="{FF2B5EF4-FFF2-40B4-BE49-F238E27FC236}">
                  <a16:creationId xmlns:a16="http://schemas.microsoft.com/office/drawing/2014/main" id="{C92FC0D0-3039-FE36-9F1B-9A5228873DB0}"/>
                </a:ext>
              </a:extLst>
            </p:cNvPr>
            <p:cNvSpPr>
              <a:spLocks noChangeShapeType="1"/>
            </p:cNvSpPr>
            <p:nvPr/>
          </p:nvSpPr>
          <p:spPr bwMode="auto">
            <a:xfrm>
              <a:off x="3288" y="942"/>
              <a:ext cx="0" cy="90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9132" name="Rectangle 12">
            <a:extLst>
              <a:ext uri="{FF2B5EF4-FFF2-40B4-BE49-F238E27FC236}">
                <a16:creationId xmlns:a16="http://schemas.microsoft.com/office/drawing/2014/main" id="{FE9834EE-F77E-4D69-DD83-7978D8672FF8}"/>
              </a:ext>
            </a:extLst>
          </p:cNvPr>
          <p:cNvSpPr>
            <a:spLocks noChangeArrowheads="1"/>
          </p:cNvSpPr>
          <p:nvPr/>
        </p:nvSpPr>
        <p:spPr bwMode="auto">
          <a:xfrm>
            <a:off x="419100" y="1516063"/>
            <a:ext cx="1333500" cy="646973"/>
          </a:xfrm>
          <a:prstGeom prst="rect">
            <a:avLst/>
          </a:prstGeom>
          <a:noFill/>
          <a:ln w="9525">
            <a:noFill/>
            <a:miter lim="800000"/>
            <a:headEnd/>
            <a:tailEnd/>
          </a:ln>
          <a:effectLst/>
        </p:spPr>
        <p:txBody>
          <a:bodyPr lIns="92075" tIns="46038" rIns="92075" bIns="46038">
            <a:spAutoFit/>
          </a:bodyPr>
          <a:lstStyle/>
          <a:p>
            <a:pPr algn="r">
              <a:lnSpc>
                <a:spcPct val="90000"/>
              </a:lnSpc>
              <a:defRPr/>
            </a:pPr>
            <a:r>
              <a:rPr lang="en-US" sz="2000" b="1">
                <a:solidFill>
                  <a:srgbClr val="0000FF"/>
                </a:solidFill>
                <a:latin typeface="Cambria" panose="02040503050406030204" pitchFamily="18" charset="0"/>
                <a:ea typeface="Cambria" panose="02040503050406030204" pitchFamily="18" charset="0"/>
              </a:rPr>
              <a:t>PRIMARY</a:t>
            </a:r>
            <a:br>
              <a:rPr lang="en-US" sz="2000" b="1">
                <a:solidFill>
                  <a:srgbClr val="0000FF"/>
                </a:solidFill>
                <a:latin typeface="Cambria" panose="02040503050406030204" pitchFamily="18" charset="0"/>
                <a:ea typeface="Cambria" panose="02040503050406030204" pitchFamily="18" charset="0"/>
              </a:rPr>
            </a:br>
            <a:r>
              <a:rPr lang="en-US" sz="2000" b="1">
                <a:solidFill>
                  <a:srgbClr val="0000FF"/>
                </a:solidFill>
                <a:latin typeface="Cambria" panose="02040503050406030204" pitchFamily="18" charset="0"/>
                <a:ea typeface="Cambria" panose="02040503050406030204" pitchFamily="18" charset="0"/>
              </a:rPr>
              <a:t>KEY</a:t>
            </a:r>
          </a:p>
        </p:txBody>
      </p:sp>
      <p:sp>
        <p:nvSpPr>
          <p:cNvPr id="43019" name="Rectangle 13">
            <a:extLst>
              <a:ext uri="{FF2B5EF4-FFF2-40B4-BE49-F238E27FC236}">
                <a16:creationId xmlns:a16="http://schemas.microsoft.com/office/drawing/2014/main" id="{D6ABD32E-45A2-8E79-D933-8036E1DA28F2}"/>
              </a:ext>
            </a:extLst>
          </p:cNvPr>
          <p:cNvSpPr>
            <a:spLocks noChangeArrowheads="1"/>
          </p:cNvSpPr>
          <p:nvPr/>
        </p:nvSpPr>
        <p:spPr bwMode="blackWhite">
          <a:xfrm>
            <a:off x="722313" y="3319463"/>
            <a:ext cx="5913437" cy="14192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134" name="Rectangle 14">
            <a:extLst>
              <a:ext uri="{FF2B5EF4-FFF2-40B4-BE49-F238E27FC236}">
                <a16:creationId xmlns:a16="http://schemas.microsoft.com/office/drawing/2014/main" id="{8CC2EDF4-AC88-B8CE-335E-306562865CB6}"/>
              </a:ext>
            </a:extLst>
          </p:cNvPr>
          <p:cNvSpPr>
            <a:spLocks noChangeArrowheads="1"/>
          </p:cNvSpPr>
          <p:nvPr/>
        </p:nvSpPr>
        <p:spPr bwMode="auto">
          <a:xfrm>
            <a:off x="633413" y="2946400"/>
            <a:ext cx="735012" cy="396875"/>
          </a:xfrm>
          <a:prstGeom prst="rect">
            <a:avLst/>
          </a:prstGeom>
          <a:noFill/>
          <a:ln w="9525">
            <a:noFill/>
            <a:miter lim="800000"/>
            <a:headEnd/>
            <a:tailEnd/>
          </a:ln>
          <a:effectLst/>
        </p:spPr>
        <p:txBody>
          <a:bodyPr wrap="none" lIns="92075" tIns="46038" rIns="92075" bIns="46038">
            <a:spAutoFit/>
          </a:bodyPr>
          <a:lstStyle/>
          <a:p>
            <a:r>
              <a:rPr lang="en-US" sz="20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EMP</a:t>
            </a:r>
          </a:p>
        </p:txBody>
      </p:sp>
      <p:sp>
        <p:nvSpPr>
          <p:cNvPr id="43021" name="Rectangle 15">
            <a:extLst>
              <a:ext uri="{FF2B5EF4-FFF2-40B4-BE49-F238E27FC236}">
                <a16:creationId xmlns:a16="http://schemas.microsoft.com/office/drawing/2014/main" id="{442CC6CB-3426-F1F3-7F82-F08AC3A5F14E}"/>
              </a:ext>
            </a:extLst>
          </p:cNvPr>
          <p:cNvSpPr>
            <a:spLocks noChangeArrowheads="1"/>
          </p:cNvSpPr>
          <p:nvPr/>
        </p:nvSpPr>
        <p:spPr bwMode="blackWhite">
          <a:xfrm>
            <a:off x="714375" y="3360738"/>
            <a:ext cx="7361238"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COMM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22" name="Line 16">
            <a:extLst>
              <a:ext uri="{FF2B5EF4-FFF2-40B4-BE49-F238E27FC236}">
                <a16:creationId xmlns:a16="http://schemas.microsoft.com/office/drawing/2014/main" id="{FE5416BF-6179-F39D-D8C9-61EAB239BE2F}"/>
              </a:ext>
            </a:extLst>
          </p:cNvPr>
          <p:cNvSpPr>
            <a:spLocks noChangeShapeType="1"/>
          </p:cNvSpPr>
          <p:nvPr/>
        </p:nvSpPr>
        <p:spPr bwMode="auto">
          <a:xfrm>
            <a:off x="722313" y="3773488"/>
            <a:ext cx="5903912"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3" name="Line 17">
            <a:extLst>
              <a:ext uri="{FF2B5EF4-FFF2-40B4-BE49-F238E27FC236}">
                <a16:creationId xmlns:a16="http://schemas.microsoft.com/office/drawing/2014/main" id="{83DA8224-3EC8-AD60-040D-98C0A7F1217A}"/>
              </a:ext>
            </a:extLst>
          </p:cNvPr>
          <p:cNvSpPr>
            <a:spLocks noChangeShapeType="1"/>
          </p:cNvSpPr>
          <p:nvPr/>
        </p:nvSpPr>
        <p:spPr bwMode="auto">
          <a:xfrm>
            <a:off x="715963" y="4167188"/>
            <a:ext cx="5930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4" name="Line 18">
            <a:extLst>
              <a:ext uri="{FF2B5EF4-FFF2-40B4-BE49-F238E27FC236}">
                <a16:creationId xmlns:a16="http://schemas.microsoft.com/office/drawing/2014/main" id="{0E6E60DF-3010-A9D3-ED4F-44268ECFE3DA}"/>
              </a:ext>
            </a:extLst>
          </p:cNvPr>
          <p:cNvSpPr>
            <a:spLocks noChangeShapeType="1"/>
          </p:cNvSpPr>
          <p:nvPr/>
        </p:nvSpPr>
        <p:spPr bwMode="auto">
          <a:xfrm>
            <a:off x="715963" y="4414838"/>
            <a:ext cx="5930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43025" name="Group 19">
            <a:extLst>
              <a:ext uri="{FF2B5EF4-FFF2-40B4-BE49-F238E27FC236}">
                <a16:creationId xmlns:a16="http://schemas.microsoft.com/office/drawing/2014/main" id="{D148E2D5-875E-1319-0935-67058471D0BC}"/>
              </a:ext>
            </a:extLst>
          </p:cNvPr>
          <p:cNvGrpSpPr>
            <a:grpSpLocks/>
          </p:cNvGrpSpPr>
          <p:nvPr/>
        </p:nvGrpSpPr>
        <p:grpSpPr bwMode="auto">
          <a:xfrm>
            <a:off x="1719263" y="3309938"/>
            <a:ext cx="3822700" cy="1471612"/>
            <a:chOff x="1083" y="2085"/>
            <a:chExt cx="2408" cy="927"/>
          </a:xfrm>
        </p:grpSpPr>
        <p:sp>
          <p:nvSpPr>
            <p:cNvPr id="43049" name="Line 20">
              <a:extLst>
                <a:ext uri="{FF2B5EF4-FFF2-40B4-BE49-F238E27FC236}">
                  <a16:creationId xmlns:a16="http://schemas.microsoft.com/office/drawing/2014/main" id="{70A75D08-18AD-4821-4972-83CD5A7F0861}"/>
                </a:ext>
              </a:extLst>
            </p:cNvPr>
            <p:cNvSpPr>
              <a:spLocks noChangeShapeType="1"/>
            </p:cNvSpPr>
            <p:nvPr/>
          </p:nvSpPr>
          <p:spPr bwMode="auto">
            <a:xfrm>
              <a:off x="1083" y="2085"/>
              <a:ext cx="0" cy="92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0" name="Line 21">
              <a:extLst>
                <a:ext uri="{FF2B5EF4-FFF2-40B4-BE49-F238E27FC236}">
                  <a16:creationId xmlns:a16="http://schemas.microsoft.com/office/drawing/2014/main" id="{BB02DC12-EF6E-12FE-43AF-8F118C3D8AE5}"/>
                </a:ext>
              </a:extLst>
            </p:cNvPr>
            <p:cNvSpPr>
              <a:spLocks noChangeShapeType="1"/>
            </p:cNvSpPr>
            <p:nvPr/>
          </p:nvSpPr>
          <p:spPr bwMode="auto">
            <a:xfrm>
              <a:off x="1619" y="2085"/>
              <a:ext cx="0" cy="918"/>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1" name="Line 22">
              <a:extLst>
                <a:ext uri="{FF2B5EF4-FFF2-40B4-BE49-F238E27FC236}">
                  <a16:creationId xmlns:a16="http://schemas.microsoft.com/office/drawing/2014/main" id="{9CEC1E73-F934-9137-E88F-6A3696BECA4F}"/>
                </a:ext>
              </a:extLst>
            </p:cNvPr>
            <p:cNvSpPr>
              <a:spLocks noChangeShapeType="1"/>
            </p:cNvSpPr>
            <p:nvPr/>
          </p:nvSpPr>
          <p:spPr bwMode="auto">
            <a:xfrm>
              <a:off x="2561" y="2085"/>
              <a:ext cx="0" cy="909"/>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2" name="Line 23">
              <a:extLst>
                <a:ext uri="{FF2B5EF4-FFF2-40B4-BE49-F238E27FC236}">
                  <a16:creationId xmlns:a16="http://schemas.microsoft.com/office/drawing/2014/main" id="{B507A42B-3B6D-4536-2EC8-A1166411CC2A}"/>
                </a:ext>
              </a:extLst>
            </p:cNvPr>
            <p:cNvSpPr>
              <a:spLocks noChangeShapeType="1"/>
            </p:cNvSpPr>
            <p:nvPr/>
          </p:nvSpPr>
          <p:spPr bwMode="auto">
            <a:xfrm>
              <a:off x="2951" y="2085"/>
              <a:ext cx="0" cy="9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3" name="Line 24">
              <a:extLst>
                <a:ext uri="{FF2B5EF4-FFF2-40B4-BE49-F238E27FC236}">
                  <a16:creationId xmlns:a16="http://schemas.microsoft.com/office/drawing/2014/main" id="{36CAECC9-9F5A-6B29-3143-C2A4DAABEEB1}"/>
                </a:ext>
              </a:extLst>
            </p:cNvPr>
            <p:cNvSpPr>
              <a:spLocks noChangeShapeType="1"/>
            </p:cNvSpPr>
            <p:nvPr/>
          </p:nvSpPr>
          <p:spPr bwMode="auto">
            <a:xfrm>
              <a:off x="3491" y="2085"/>
              <a:ext cx="0" cy="9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3026" name="Line 25">
            <a:extLst>
              <a:ext uri="{FF2B5EF4-FFF2-40B4-BE49-F238E27FC236}">
                <a16:creationId xmlns:a16="http://schemas.microsoft.com/office/drawing/2014/main" id="{0773BCF6-550E-140B-02A5-F7CB947850EF}"/>
              </a:ext>
            </a:extLst>
          </p:cNvPr>
          <p:cNvSpPr>
            <a:spLocks noChangeShapeType="1"/>
          </p:cNvSpPr>
          <p:nvPr/>
        </p:nvSpPr>
        <p:spPr bwMode="auto">
          <a:xfrm>
            <a:off x="1752600" y="1657350"/>
            <a:ext cx="914400"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43027" name="Freeform 26">
            <a:extLst>
              <a:ext uri="{FF2B5EF4-FFF2-40B4-BE49-F238E27FC236}">
                <a16:creationId xmlns:a16="http://schemas.microsoft.com/office/drawing/2014/main" id="{B10F5FFC-5D0D-F375-0195-F670AF3B580A}"/>
              </a:ext>
            </a:extLst>
          </p:cNvPr>
          <p:cNvSpPr>
            <a:spLocks/>
          </p:cNvSpPr>
          <p:nvPr/>
        </p:nvSpPr>
        <p:spPr bwMode="auto">
          <a:xfrm>
            <a:off x="3467100" y="2743200"/>
            <a:ext cx="2592388" cy="649288"/>
          </a:xfrm>
          <a:custGeom>
            <a:avLst/>
            <a:gdLst>
              <a:gd name="T0" fmla="*/ 0 w 1633"/>
              <a:gd name="T1" fmla="*/ 0 h 409"/>
              <a:gd name="T2" fmla="*/ 0 w 1633"/>
              <a:gd name="T3" fmla="*/ 2147483646 h 409"/>
              <a:gd name="T4" fmla="*/ 2147483646 w 1633"/>
              <a:gd name="T5" fmla="*/ 2147483646 h 409"/>
              <a:gd name="T6" fmla="*/ 2147483646 w 1633"/>
              <a:gd name="T7" fmla="*/ 2147483646 h 4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33" h="409">
                <a:moveTo>
                  <a:pt x="0" y="0"/>
                </a:moveTo>
                <a:lnTo>
                  <a:pt x="0" y="204"/>
                </a:lnTo>
                <a:lnTo>
                  <a:pt x="1632" y="204"/>
                </a:lnTo>
                <a:lnTo>
                  <a:pt x="1632" y="408"/>
                </a:lnTo>
              </a:path>
            </a:pathLst>
          </a:custGeom>
          <a:noFill/>
          <a:ln w="50800" cap="rnd" cmpd="sng">
            <a:solidFill>
              <a:srgbClr val="FFCC00"/>
            </a:solidFill>
            <a:prstDash val="solid"/>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8" name="Line 27">
            <a:extLst>
              <a:ext uri="{FF2B5EF4-FFF2-40B4-BE49-F238E27FC236}">
                <a16:creationId xmlns:a16="http://schemas.microsoft.com/office/drawing/2014/main" id="{CF5A68EE-259D-6733-8D83-8DBE9D91D1E9}"/>
              </a:ext>
            </a:extLst>
          </p:cNvPr>
          <p:cNvSpPr>
            <a:spLocks noChangeShapeType="1"/>
          </p:cNvSpPr>
          <p:nvPr/>
        </p:nvSpPr>
        <p:spPr bwMode="auto">
          <a:xfrm flipH="1">
            <a:off x="6572250" y="3543300"/>
            <a:ext cx="455613"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389148" name="Rectangle 28">
            <a:extLst>
              <a:ext uri="{FF2B5EF4-FFF2-40B4-BE49-F238E27FC236}">
                <a16:creationId xmlns:a16="http://schemas.microsoft.com/office/drawing/2014/main" id="{EBB2F892-270E-89BB-5D2B-91EC431A69E6}"/>
              </a:ext>
            </a:extLst>
          </p:cNvPr>
          <p:cNvSpPr>
            <a:spLocks noChangeArrowheads="1"/>
          </p:cNvSpPr>
          <p:nvPr/>
        </p:nvSpPr>
        <p:spPr bwMode="auto">
          <a:xfrm>
            <a:off x="7046913" y="3382963"/>
            <a:ext cx="1333500" cy="587375"/>
          </a:xfrm>
          <a:prstGeom prst="rect">
            <a:avLst/>
          </a:prstGeom>
          <a:noFill/>
          <a:ln w="9525">
            <a:noFill/>
            <a:miter lim="800000"/>
            <a:headEnd/>
            <a:tailEnd/>
          </a:ln>
          <a:effectLst/>
        </p:spPr>
        <p:txBody>
          <a:bodyPr lIns="92075" tIns="46038" rIns="92075" bIns="46038">
            <a:spAutoFit/>
          </a:bodyPr>
          <a:lstStyle/>
          <a:p>
            <a:pPr>
              <a:lnSpc>
                <a:spcPct val="90000"/>
              </a:lnSpc>
            </a:pPr>
            <a:r>
              <a:rPr lang="en-US" sz="2000" b="1" dirty="0">
                <a:solidFill>
                  <a:srgbClr val="0000FF"/>
                </a:solidFill>
                <a:latin typeface="Cambria" panose="02040503050406030204" pitchFamily="18" charset="0"/>
                <a:ea typeface="Cambria" panose="02040503050406030204" pitchFamily="18" charset="0"/>
              </a:rPr>
              <a:t>FOREIGN</a:t>
            </a:r>
            <a:br>
              <a:rPr lang="en-US" sz="2000" b="1" dirty="0">
                <a:solidFill>
                  <a:srgbClr val="0000FF"/>
                </a:solidFill>
                <a:latin typeface="Cambria" panose="02040503050406030204" pitchFamily="18" charset="0"/>
                <a:ea typeface="Cambria" panose="02040503050406030204" pitchFamily="18" charset="0"/>
              </a:rPr>
            </a:br>
            <a:r>
              <a:rPr lang="en-US" sz="2000" b="1" dirty="0">
                <a:solidFill>
                  <a:srgbClr val="0000FF"/>
                </a:solidFill>
                <a:latin typeface="Cambria" panose="02040503050406030204" pitchFamily="18" charset="0"/>
                <a:ea typeface="Cambria" panose="02040503050406030204" pitchFamily="18" charset="0"/>
              </a:rPr>
              <a:t>KEY</a:t>
            </a:r>
          </a:p>
        </p:txBody>
      </p:sp>
      <p:grpSp>
        <p:nvGrpSpPr>
          <p:cNvPr id="4" name="Group 29">
            <a:extLst>
              <a:ext uri="{FF2B5EF4-FFF2-40B4-BE49-F238E27FC236}">
                <a16:creationId xmlns:a16="http://schemas.microsoft.com/office/drawing/2014/main" id="{448EB0EE-0570-E266-2C29-201CFAB4FB32}"/>
              </a:ext>
            </a:extLst>
          </p:cNvPr>
          <p:cNvGrpSpPr>
            <a:grpSpLocks/>
          </p:cNvGrpSpPr>
          <p:nvPr/>
        </p:nvGrpSpPr>
        <p:grpSpPr bwMode="auto">
          <a:xfrm>
            <a:off x="714375" y="4857750"/>
            <a:ext cx="7361238" cy="1200150"/>
            <a:chOff x="450" y="3060"/>
            <a:chExt cx="4637" cy="756"/>
          </a:xfrm>
        </p:grpSpPr>
        <p:grpSp>
          <p:nvGrpSpPr>
            <p:cNvPr id="43037" name="Group 30">
              <a:extLst>
                <a:ext uri="{FF2B5EF4-FFF2-40B4-BE49-F238E27FC236}">
                  <a16:creationId xmlns:a16="http://schemas.microsoft.com/office/drawing/2014/main" id="{E6859197-6146-B96E-20FE-A4662FB15B7A}"/>
                </a:ext>
              </a:extLst>
            </p:cNvPr>
            <p:cNvGrpSpPr>
              <a:grpSpLocks/>
            </p:cNvGrpSpPr>
            <p:nvPr/>
          </p:nvGrpSpPr>
          <p:grpSpPr bwMode="auto">
            <a:xfrm>
              <a:off x="450" y="3060"/>
              <a:ext cx="4637" cy="731"/>
              <a:chOff x="450" y="3060"/>
              <a:chExt cx="4637" cy="731"/>
            </a:xfrm>
          </p:grpSpPr>
          <p:sp>
            <p:nvSpPr>
              <p:cNvPr id="43044" name="AutoShape 31">
                <a:extLst>
                  <a:ext uri="{FF2B5EF4-FFF2-40B4-BE49-F238E27FC236}">
                    <a16:creationId xmlns:a16="http://schemas.microsoft.com/office/drawing/2014/main" id="{F8AED3EF-A926-EBF5-4399-8F7648DCD7AF}"/>
                  </a:ext>
                </a:extLst>
              </p:cNvPr>
              <p:cNvSpPr>
                <a:spLocks noChangeArrowheads="1"/>
              </p:cNvSpPr>
              <p:nvPr/>
            </p:nvSpPr>
            <p:spPr bwMode="auto">
              <a:xfrm>
                <a:off x="2124" y="3060"/>
                <a:ext cx="384" cy="324"/>
              </a:xfrm>
              <a:prstGeom prst="upArrow">
                <a:avLst>
                  <a:gd name="adj1" fmla="val 50000"/>
                  <a:gd name="adj2" fmla="val 49995"/>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3045" name="Rectangle 32">
                <a:extLst>
                  <a:ext uri="{FF2B5EF4-FFF2-40B4-BE49-F238E27FC236}">
                    <a16:creationId xmlns:a16="http://schemas.microsoft.com/office/drawing/2014/main" id="{3D880035-A3E0-8B69-37CA-0E191208BFF5}"/>
                  </a:ext>
                </a:extLst>
              </p:cNvPr>
              <p:cNvSpPr>
                <a:spLocks noChangeArrowheads="1"/>
              </p:cNvSpPr>
              <p:nvPr/>
            </p:nvSpPr>
            <p:spPr bwMode="blackWhite">
              <a:xfrm>
                <a:off x="455" y="3380"/>
                <a:ext cx="3725" cy="402"/>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3046" name="Rectangle 33">
                <a:extLst>
                  <a:ext uri="{FF2B5EF4-FFF2-40B4-BE49-F238E27FC236}">
                    <a16:creationId xmlns:a16="http://schemas.microsoft.com/office/drawing/2014/main" id="{ED77C3A1-D58A-06CC-BD00-DFEB34EBDD91}"/>
                  </a:ext>
                </a:extLst>
              </p:cNvPr>
              <p:cNvSpPr>
                <a:spLocks noChangeArrowheads="1"/>
              </p:cNvSpPr>
              <p:nvPr/>
            </p:nvSpPr>
            <p:spPr bwMode="blackWhite">
              <a:xfrm>
                <a:off x="450" y="3077"/>
                <a:ext cx="4637"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7571	FORD	MANAGER	 ...  200	      9</a:t>
                </a:r>
              </a:p>
              <a:p>
                <a:pPr>
                  <a:lnSpc>
                    <a:spcPct val="95000"/>
                  </a:lnSpc>
                  <a:spcBef>
                    <a:spcPct val="0"/>
                  </a:spcBef>
                  <a:buFontTx/>
                  <a:buNone/>
                </a:pPr>
                <a:r>
                  <a:rPr lang="en-US" altLang="en-US" sz="1800" b="1">
                    <a:solidFill>
                      <a:srgbClr val="000000"/>
                    </a:solidFill>
                    <a:latin typeface="Courier New" panose="02070309020205020404" pitchFamily="49" charset="0"/>
                  </a:rPr>
                  <a:t>  7571	FORD	MANAGER	 ...  200      20</a:t>
                </a:r>
              </a:p>
            </p:txBody>
          </p:sp>
          <p:sp>
            <p:nvSpPr>
              <p:cNvPr id="43047" name="Line 34">
                <a:extLst>
                  <a:ext uri="{FF2B5EF4-FFF2-40B4-BE49-F238E27FC236}">
                    <a16:creationId xmlns:a16="http://schemas.microsoft.com/office/drawing/2014/main" id="{58297B53-6FBE-75CD-74E6-27235D832FB6}"/>
                  </a:ext>
                </a:extLst>
              </p:cNvPr>
              <p:cNvSpPr>
                <a:spLocks noChangeShapeType="1"/>
              </p:cNvSpPr>
              <p:nvPr/>
            </p:nvSpPr>
            <p:spPr bwMode="auto">
              <a:xfrm>
                <a:off x="451" y="3585"/>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155" name="Rectangle 35">
                <a:extLst>
                  <a:ext uri="{FF2B5EF4-FFF2-40B4-BE49-F238E27FC236}">
                    <a16:creationId xmlns:a16="http://schemas.microsoft.com/office/drawing/2014/main" id="{A973FC8A-6BDA-E0C8-F96E-DCFDFBA88607}"/>
                  </a:ext>
                </a:extLst>
              </p:cNvPr>
              <p:cNvSpPr>
                <a:spLocks noChangeArrowheads="1"/>
              </p:cNvSpPr>
              <p:nvPr/>
            </p:nvSpPr>
            <p:spPr bwMode="auto">
              <a:xfrm>
                <a:off x="2529" y="3100"/>
                <a:ext cx="1634"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dirty="0">
                    <a:solidFill>
                      <a:srgbClr val="FF0000"/>
                    </a:solidFill>
                    <a:latin typeface="Cambria" panose="02040503050406030204" pitchFamily="18" charset="0"/>
                    <a:ea typeface="Cambria" panose="02040503050406030204" pitchFamily="18" charset="0"/>
                  </a:rPr>
                  <a:t>Insert into</a:t>
                </a:r>
              </a:p>
            </p:txBody>
          </p:sp>
        </p:grpSp>
        <p:grpSp>
          <p:nvGrpSpPr>
            <p:cNvPr id="43038" name="Group 36">
              <a:extLst>
                <a:ext uri="{FF2B5EF4-FFF2-40B4-BE49-F238E27FC236}">
                  <a16:creationId xmlns:a16="http://schemas.microsoft.com/office/drawing/2014/main" id="{7096DB58-8D17-EAB3-1C95-921CC3A30329}"/>
                </a:ext>
              </a:extLst>
            </p:cNvPr>
            <p:cNvGrpSpPr>
              <a:grpSpLocks/>
            </p:cNvGrpSpPr>
            <p:nvPr/>
          </p:nvGrpSpPr>
          <p:grpSpPr bwMode="auto">
            <a:xfrm>
              <a:off x="1083" y="3381"/>
              <a:ext cx="2408" cy="435"/>
              <a:chOff x="1083" y="3381"/>
              <a:chExt cx="2408" cy="435"/>
            </a:xfrm>
          </p:grpSpPr>
          <p:sp>
            <p:nvSpPr>
              <p:cNvPr id="43039" name="Line 37">
                <a:extLst>
                  <a:ext uri="{FF2B5EF4-FFF2-40B4-BE49-F238E27FC236}">
                    <a16:creationId xmlns:a16="http://schemas.microsoft.com/office/drawing/2014/main" id="{6CB96D01-BD4A-006C-03A3-11846101E679}"/>
                  </a:ext>
                </a:extLst>
              </p:cNvPr>
              <p:cNvSpPr>
                <a:spLocks noChangeShapeType="1"/>
              </p:cNvSpPr>
              <p:nvPr/>
            </p:nvSpPr>
            <p:spPr bwMode="auto">
              <a:xfrm>
                <a:off x="1083" y="3381"/>
                <a:ext cx="0" cy="43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0" name="Line 38">
                <a:extLst>
                  <a:ext uri="{FF2B5EF4-FFF2-40B4-BE49-F238E27FC236}">
                    <a16:creationId xmlns:a16="http://schemas.microsoft.com/office/drawing/2014/main" id="{1524F61C-5B9A-0D8D-520B-DE8FDFF3B1F8}"/>
                  </a:ext>
                </a:extLst>
              </p:cNvPr>
              <p:cNvSpPr>
                <a:spLocks noChangeShapeType="1"/>
              </p:cNvSpPr>
              <p:nvPr/>
            </p:nvSpPr>
            <p:spPr bwMode="auto">
              <a:xfrm>
                <a:off x="1619" y="3381"/>
                <a:ext cx="0" cy="43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1" name="Line 39">
                <a:extLst>
                  <a:ext uri="{FF2B5EF4-FFF2-40B4-BE49-F238E27FC236}">
                    <a16:creationId xmlns:a16="http://schemas.microsoft.com/office/drawing/2014/main" id="{0932B5C8-69AF-BEF9-976F-586B6D898738}"/>
                  </a:ext>
                </a:extLst>
              </p:cNvPr>
              <p:cNvSpPr>
                <a:spLocks noChangeShapeType="1"/>
              </p:cNvSpPr>
              <p:nvPr/>
            </p:nvSpPr>
            <p:spPr bwMode="auto">
              <a:xfrm>
                <a:off x="2561" y="3381"/>
                <a:ext cx="0" cy="4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2" name="Line 40">
                <a:extLst>
                  <a:ext uri="{FF2B5EF4-FFF2-40B4-BE49-F238E27FC236}">
                    <a16:creationId xmlns:a16="http://schemas.microsoft.com/office/drawing/2014/main" id="{BE7225BD-7479-832D-F6F9-E3AD32F9C9C0}"/>
                  </a:ext>
                </a:extLst>
              </p:cNvPr>
              <p:cNvSpPr>
                <a:spLocks noChangeShapeType="1"/>
              </p:cNvSpPr>
              <p:nvPr/>
            </p:nvSpPr>
            <p:spPr bwMode="auto">
              <a:xfrm>
                <a:off x="2951" y="3381"/>
                <a:ext cx="0" cy="43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3" name="Line 41">
                <a:extLst>
                  <a:ext uri="{FF2B5EF4-FFF2-40B4-BE49-F238E27FC236}">
                    <a16:creationId xmlns:a16="http://schemas.microsoft.com/office/drawing/2014/main" id="{C57A09B8-DCD4-42A3-F4FA-CA279582BA68}"/>
                  </a:ext>
                </a:extLst>
              </p:cNvPr>
              <p:cNvSpPr>
                <a:spLocks noChangeShapeType="1"/>
              </p:cNvSpPr>
              <p:nvPr/>
            </p:nvSpPr>
            <p:spPr bwMode="auto">
              <a:xfrm>
                <a:off x="3491" y="3381"/>
                <a:ext cx="0" cy="43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grpSp>
        <p:nvGrpSpPr>
          <p:cNvPr id="7" name="Group 42">
            <a:extLst>
              <a:ext uri="{FF2B5EF4-FFF2-40B4-BE49-F238E27FC236}">
                <a16:creationId xmlns:a16="http://schemas.microsoft.com/office/drawing/2014/main" id="{76B0DFF9-7890-6713-B005-6CA3F610F415}"/>
              </a:ext>
            </a:extLst>
          </p:cNvPr>
          <p:cNvGrpSpPr>
            <a:grpSpLocks/>
          </p:cNvGrpSpPr>
          <p:nvPr/>
        </p:nvGrpSpPr>
        <p:grpSpPr bwMode="auto">
          <a:xfrm>
            <a:off x="6570663" y="4521200"/>
            <a:ext cx="2344737" cy="1857375"/>
            <a:chOff x="4139" y="2848"/>
            <a:chExt cx="1477" cy="1170"/>
          </a:xfrm>
        </p:grpSpPr>
        <p:sp>
          <p:nvSpPr>
            <p:cNvPr id="389163" name="Rectangle 43">
              <a:extLst>
                <a:ext uri="{FF2B5EF4-FFF2-40B4-BE49-F238E27FC236}">
                  <a16:creationId xmlns:a16="http://schemas.microsoft.com/office/drawing/2014/main" id="{E120A227-44F3-8A7F-5036-809957A5DEA7}"/>
                </a:ext>
              </a:extLst>
            </p:cNvPr>
            <p:cNvSpPr>
              <a:spLocks noChangeArrowheads="1"/>
            </p:cNvSpPr>
            <p:nvPr/>
          </p:nvSpPr>
          <p:spPr bwMode="auto">
            <a:xfrm>
              <a:off x="4437" y="2848"/>
              <a:ext cx="1179" cy="844"/>
            </a:xfrm>
            <a:prstGeom prst="rect">
              <a:avLst/>
            </a:prstGeom>
            <a:noFill/>
            <a:ln w="9525">
              <a:noFill/>
              <a:miter lim="800000"/>
              <a:headEnd/>
              <a:tailEnd/>
            </a:ln>
            <a:effectLst/>
          </p:spPr>
          <p:txBody>
            <a:bodyPr lIns="92075" tIns="46038" rIns="92075" bIns="46038">
              <a:spAutoFit/>
            </a:bodyPr>
            <a:lstStyle/>
            <a:p>
              <a:pPr>
                <a:lnSpc>
                  <a:spcPct val="90000"/>
                </a:lnSpc>
              </a:pPr>
              <a:r>
                <a:rPr lang="en-US" sz="1800" b="1" dirty="0">
                  <a:solidFill>
                    <a:srgbClr val="FF0000"/>
                  </a:solidFill>
                  <a:latin typeface="Cambria" panose="02040503050406030204" pitchFamily="18" charset="0"/>
                  <a:ea typeface="Cambria" panose="02040503050406030204" pitchFamily="18" charset="0"/>
                </a:rPr>
                <a:t>Not allowed</a:t>
              </a:r>
              <a:br>
                <a:rPr lang="en-US" sz="1800" b="1" dirty="0">
                  <a:solidFill>
                    <a:srgbClr val="0000FF"/>
                  </a:solidFill>
                  <a:latin typeface="Cambria" panose="02040503050406030204" pitchFamily="18" charset="0"/>
                  <a:ea typeface="Cambria" panose="02040503050406030204" pitchFamily="18" charset="0"/>
                </a:rPr>
              </a:br>
              <a:r>
                <a:rPr lang="en-US" sz="1800" b="1" dirty="0">
                  <a:solidFill>
                    <a:srgbClr val="0000FF"/>
                  </a:solidFill>
                  <a:latin typeface="Cambria" panose="02040503050406030204" pitchFamily="18" charset="0"/>
                  <a:ea typeface="Cambria" panose="02040503050406030204" pitchFamily="18" charset="0"/>
                </a:rPr>
                <a:t>(DEPTNO 9 does not exist in the DEPT table)</a:t>
              </a:r>
            </a:p>
          </p:txBody>
        </p:sp>
        <p:grpSp>
          <p:nvGrpSpPr>
            <p:cNvPr id="43033" name="Group 44">
              <a:extLst>
                <a:ext uri="{FF2B5EF4-FFF2-40B4-BE49-F238E27FC236}">
                  <a16:creationId xmlns:a16="http://schemas.microsoft.com/office/drawing/2014/main" id="{4D7C7418-165A-75AF-8A6C-75A37AB6FA94}"/>
                </a:ext>
              </a:extLst>
            </p:cNvPr>
            <p:cNvGrpSpPr>
              <a:grpSpLocks/>
            </p:cNvGrpSpPr>
            <p:nvPr/>
          </p:nvGrpSpPr>
          <p:grpSpPr bwMode="auto">
            <a:xfrm>
              <a:off x="4139" y="3492"/>
              <a:ext cx="1020" cy="526"/>
              <a:chOff x="4139" y="3492"/>
              <a:chExt cx="1020" cy="526"/>
            </a:xfrm>
          </p:grpSpPr>
          <p:sp>
            <p:nvSpPr>
              <p:cNvPr id="389165" name="Rectangle 45">
                <a:extLst>
                  <a:ext uri="{FF2B5EF4-FFF2-40B4-BE49-F238E27FC236}">
                    <a16:creationId xmlns:a16="http://schemas.microsoft.com/office/drawing/2014/main" id="{299C8F5A-0324-A4B8-99A7-FE20CB591F3A}"/>
                  </a:ext>
                </a:extLst>
              </p:cNvPr>
              <p:cNvSpPr>
                <a:spLocks noChangeArrowheads="1"/>
              </p:cNvSpPr>
              <p:nvPr/>
            </p:nvSpPr>
            <p:spPr bwMode="auto">
              <a:xfrm>
                <a:off x="4436" y="3628"/>
                <a:ext cx="723" cy="390"/>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2000" b="1" dirty="0">
                    <a:latin typeface="Cambria" panose="02040503050406030204" pitchFamily="18" charset="0"/>
                    <a:ea typeface="Cambria" panose="02040503050406030204" pitchFamily="18" charset="0"/>
                  </a:rPr>
                  <a:t>Allowed</a:t>
                </a:r>
                <a:br>
                  <a:rPr lang="en-US" sz="2000" b="1" dirty="0">
                    <a:latin typeface="Cambria" panose="02040503050406030204" pitchFamily="18" charset="0"/>
                    <a:ea typeface="Cambria" panose="02040503050406030204" pitchFamily="18" charset="0"/>
                  </a:rPr>
                </a:br>
                <a:endParaRPr lang="en-US" sz="1800" b="1" dirty="0">
                  <a:latin typeface="Cambria" panose="02040503050406030204" pitchFamily="18" charset="0"/>
                  <a:ea typeface="Cambria" panose="02040503050406030204" pitchFamily="18" charset="0"/>
                </a:endParaRPr>
              </a:p>
            </p:txBody>
          </p:sp>
          <p:sp>
            <p:nvSpPr>
              <p:cNvPr id="43035" name="Line 46">
                <a:extLst>
                  <a:ext uri="{FF2B5EF4-FFF2-40B4-BE49-F238E27FC236}">
                    <a16:creationId xmlns:a16="http://schemas.microsoft.com/office/drawing/2014/main" id="{FF8A97C6-E8D1-1CEF-10D2-A1B298BB1F52}"/>
                  </a:ext>
                </a:extLst>
              </p:cNvPr>
              <p:cNvSpPr>
                <a:spLocks noChangeShapeType="1"/>
              </p:cNvSpPr>
              <p:nvPr/>
            </p:nvSpPr>
            <p:spPr bwMode="auto">
              <a:xfrm flipV="1">
                <a:off x="4139" y="3708"/>
                <a:ext cx="277"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43036" name="Line 47">
                <a:extLst>
                  <a:ext uri="{FF2B5EF4-FFF2-40B4-BE49-F238E27FC236}">
                    <a16:creationId xmlns:a16="http://schemas.microsoft.com/office/drawing/2014/main" id="{653CD332-677B-4C94-69E7-FB2FD9BB3B57}"/>
                  </a:ext>
                </a:extLst>
              </p:cNvPr>
              <p:cNvSpPr>
                <a:spLocks noChangeShapeType="1"/>
              </p:cNvSpPr>
              <p:nvPr/>
            </p:nvSpPr>
            <p:spPr bwMode="auto">
              <a:xfrm flipV="1">
                <a:off x="4139" y="3492"/>
                <a:ext cx="277"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sp>
        <p:nvSpPr>
          <p:cNvPr id="3" name="Footer Placeholder 2">
            <a:extLst>
              <a:ext uri="{FF2B5EF4-FFF2-40B4-BE49-F238E27FC236}">
                <a16:creationId xmlns:a16="http://schemas.microsoft.com/office/drawing/2014/main" id="{BD495FD7-4B79-71BA-81A5-3DDA5D957232}"/>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a:solidFill>
                  <a:srgbClr val="0000FF"/>
                </a:solidFill>
                <a:latin typeface="Perpetua"/>
              </a:rPr>
              <a:t>Dr. Asif Sohail,</a:t>
            </a:r>
            <a:r>
              <a:rPr lang="en-US" sz="1400">
                <a:solidFill>
                  <a:srgbClr val="696464"/>
                </a:solidFill>
                <a:latin typeface="Perpetua"/>
              </a:rPr>
              <a:t> Department of IT, </a:t>
            </a:r>
            <a:r>
              <a:rPr lang="en-US" sz="1400">
                <a:solidFill>
                  <a:srgbClr val="FF0000"/>
                </a:solidFill>
                <a:latin typeface="Perpetua"/>
              </a:rPr>
              <a:t>University of the Punjab, Lahore</a:t>
            </a:r>
            <a:endParaRPr lang="en-US" sz="1400" dirty="0">
              <a:solidFill>
                <a:srgbClr val="FF0000"/>
              </a:solidFill>
              <a:latin typeface="Perpetua"/>
            </a:endParaRPr>
          </a:p>
        </p:txBody>
      </p:sp>
    </p:spTree>
    <p:extLst>
      <p:ext uri="{BB962C8B-B14F-4D97-AF65-F5344CB8AC3E}">
        <p14:creationId xmlns:p14="http://schemas.microsoft.com/office/powerpoint/2010/main" val="16257306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9EE40-EED7-8835-3FD5-E01F443602D3}"/>
            </a:ext>
          </a:extLst>
        </p:cNvPr>
        <p:cNvGrpSpPr/>
        <p:nvPr/>
      </p:nvGrpSpPr>
      <p:grpSpPr>
        <a:xfrm>
          <a:off x="0" y="0"/>
          <a:ext cx="0" cy="0"/>
          <a:chOff x="0" y="0"/>
          <a:chExt cx="0" cy="0"/>
        </a:xfrm>
      </p:grpSpPr>
      <p:sp>
        <p:nvSpPr>
          <p:cNvPr id="45058" name="Rectangle 2">
            <a:extLst>
              <a:ext uri="{FF2B5EF4-FFF2-40B4-BE49-F238E27FC236}">
                <a16:creationId xmlns:a16="http://schemas.microsoft.com/office/drawing/2014/main" id="{4CB791CD-F7C4-C595-B3FE-5A5BADB1FA73}"/>
              </a:ext>
            </a:extLst>
          </p:cNvPr>
          <p:cNvSpPr>
            <a:spLocks noGrp="1" noChangeArrowheads="1"/>
          </p:cNvSpPr>
          <p:nvPr>
            <p:ph type="title"/>
          </p:nvPr>
        </p:nvSpPr>
        <p:spPr>
          <a:xfrm>
            <a:off x="539552" y="228129"/>
            <a:ext cx="514667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FOREIGN KEY Constraint</a:t>
            </a:r>
          </a:p>
        </p:txBody>
      </p:sp>
      <p:sp>
        <p:nvSpPr>
          <p:cNvPr id="45059" name="Rectangle 3">
            <a:extLst>
              <a:ext uri="{FF2B5EF4-FFF2-40B4-BE49-F238E27FC236}">
                <a16:creationId xmlns:a16="http://schemas.microsoft.com/office/drawing/2014/main" id="{276A1FF0-3A9F-1556-1175-807918C698BA}"/>
              </a:ext>
            </a:extLst>
          </p:cNvPr>
          <p:cNvSpPr>
            <a:spLocks noGrp="1" noChangeArrowheads="1"/>
          </p:cNvSpPr>
          <p:nvPr>
            <p:ph type="body" idx="1"/>
          </p:nvPr>
        </p:nvSpPr>
        <p:spPr>
          <a:xfrm>
            <a:off x="395288" y="764704"/>
            <a:ext cx="8280400" cy="3292475"/>
          </a:xfrm>
          <a:noFill/>
        </p:spPr>
        <p:txBody>
          <a:bodyPr lIns="92075" tIns="46038" rIns="92075" bIns="46038">
            <a:spAutoFit/>
          </a:bodyPr>
          <a:lstStyle/>
          <a:p>
            <a:r>
              <a:rPr lang="en-US" altLang="en-US" sz="2400" dirty="0">
                <a:latin typeface="Cambria" panose="02040503050406030204" pitchFamily="18" charset="0"/>
                <a:ea typeface="Cambria" panose="02040503050406030204" pitchFamily="18" charset="0"/>
              </a:rPr>
              <a:t>Table Level</a:t>
            </a:r>
          </a:p>
          <a:p>
            <a:endParaRPr lang="en-US" altLang="en-US" sz="2400"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pPr>
              <a:lnSpc>
                <a:spcPct val="250000"/>
              </a:lnSpc>
            </a:pPr>
            <a:r>
              <a:rPr lang="en-US" altLang="en-US" sz="2400" dirty="0">
                <a:latin typeface="Cambria" panose="02040503050406030204" pitchFamily="18" charset="0"/>
                <a:ea typeface="Cambria" panose="02040503050406030204" pitchFamily="18" charset="0"/>
              </a:rPr>
              <a:t>Column Level</a:t>
            </a:r>
            <a:endParaRPr lang="en-US" altLang="en-US" dirty="0">
              <a:latin typeface="Cambria" panose="02040503050406030204" pitchFamily="18" charset="0"/>
              <a:ea typeface="Cambria" panose="02040503050406030204" pitchFamily="18" charset="0"/>
            </a:endParaRPr>
          </a:p>
        </p:txBody>
      </p:sp>
      <p:sp>
        <p:nvSpPr>
          <p:cNvPr id="45060" name="Rectangle 4">
            <a:extLst>
              <a:ext uri="{FF2B5EF4-FFF2-40B4-BE49-F238E27FC236}">
                <a16:creationId xmlns:a16="http://schemas.microsoft.com/office/drawing/2014/main" id="{7A97C2C3-3616-5E8D-30AA-84662AE2274F}"/>
              </a:ext>
            </a:extLst>
          </p:cNvPr>
          <p:cNvSpPr>
            <a:spLocks noChangeArrowheads="1"/>
          </p:cNvSpPr>
          <p:nvPr/>
        </p:nvSpPr>
        <p:spPr bwMode="blackWhite">
          <a:xfrm>
            <a:off x="684213" y="1268760"/>
            <a:ext cx="7537450" cy="2087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91173" name="Rectangle 5">
            <a:extLst>
              <a:ext uri="{FF2B5EF4-FFF2-40B4-BE49-F238E27FC236}">
                <a16:creationId xmlns:a16="http://schemas.microsoft.com/office/drawing/2014/main" id="{DC0FA4E5-5A28-88B1-3D0F-8811746DAA83}"/>
              </a:ext>
            </a:extLst>
          </p:cNvPr>
          <p:cNvSpPr>
            <a:spLocks noChangeArrowheads="1"/>
          </p:cNvSpPr>
          <p:nvPr/>
        </p:nvSpPr>
        <p:spPr bwMode="ltGray">
          <a:xfrm>
            <a:off x="1878013" y="2697510"/>
            <a:ext cx="6238875" cy="5334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062" name="Rectangle 6">
            <a:extLst>
              <a:ext uri="{FF2B5EF4-FFF2-40B4-BE49-F238E27FC236}">
                <a16:creationId xmlns:a16="http://schemas.microsoft.com/office/drawing/2014/main" id="{0C940BE5-AE86-6BA9-A51D-9B6E7529746F}"/>
              </a:ext>
            </a:extLst>
          </p:cNvPr>
          <p:cNvSpPr>
            <a:spLocks noChangeArrowheads="1"/>
          </p:cNvSpPr>
          <p:nvPr/>
        </p:nvSpPr>
        <p:spPr bwMode="blackWhite">
          <a:xfrm>
            <a:off x="681038" y="1843435"/>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emp(</a:t>
            </a:r>
          </a:p>
          <a:p>
            <a:pPr>
              <a:spcBef>
                <a:spcPct val="0"/>
              </a:spcBef>
              <a:buFontTx/>
              <a:buNone/>
            </a:pPr>
            <a:r>
              <a:rPr lang="en-US" altLang="en-US" sz="1800" b="1">
                <a:solidFill>
                  <a:srgbClr val="000000"/>
                </a:solidFill>
                <a:latin typeface="Courier New" panose="02070309020205020404" pitchFamily="49" charset="0"/>
              </a:rPr>
              <a:t>  2  	empno 	NUMBER(4),</a:t>
            </a:r>
          </a:p>
          <a:p>
            <a:pPr>
              <a:spcBef>
                <a:spcPct val="0"/>
              </a:spcBef>
              <a:buFontTx/>
              <a:buNone/>
            </a:pPr>
            <a:r>
              <a:rPr lang="en-US" altLang="en-US" sz="1800" b="1">
                <a:solidFill>
                  <a:srgbClr val="000000"/>
                </a:solidFill>
                <a:latin typeface="Courier New" panose="02070309020205020404" pitchFamily="49" charset="0"/>
              </a:rPr>
              <a:t>  3	ename	VARCHAR2(10) NOT NULL,</a:t>
            </a:r>
          </a:p>
          <a:p>
            <a:pPr>
              <a:spcBef>
                <a:spcPct val="0"/>
              </a:spcBef>
              <a:buFontTx/>
              <a:buNone/>
            </a:pPr>
            <a:r>
              <a:rPr lang="en-US" altLang="en-US" sz="1800" b="1">
                <a:solidFill>
                  <a:srgbClr val="000000"/>
                </a:solidFill>
                <a:latin typeface="Courier New" panose="02070309020205020404" pitchFamily="49" charset="0"/>
              </a:rPr>
              <a:t>  4	job	VARCHAR2(9),</a:t>
            </a:r>
          </a:p>
          <a:p>
            <a:pPr>
              <a:spcBef>
                <a:spcPct val="0"/>
              </a:spcBef>
              <a:buFontTx/>
              <a:buNone/>
            </a:pPr>
            <a:r>
              <a:rPr lang="en-US" altLang="en-US" sz="1800" b="1">
                <a:solidFill>
                  <a:srgbClr val="000000"/>
                </a:solidFill>
                <a:latin typeface="Courier New" panose="02070309020205020404" pitchFamily="49" charset="0"/>
              </a:rPr>
              <a:t>  5	deptno	NUMBER(7,2),</a:t>
            </a:r>
          </a:p>
          <a:p>
            <a:pPr>
              <a:spcBef>
                <a:spcPct val="0"/>
              </a:spcBef>
              <a:buFontTx/>
              <a:buNone/>
            </a:pPr>
            <a:r>
              <a:rPr lang="en-US" altLang="en-US" sz="1800" b="1">
                <a:solidFill>
                  <a:srgbClr val="000000"/>
                </a:solidFill>
                <a:latin typeface="Courier New" panose="02070309020205020404" pitchFamily="49" charset="0"/>
              </a:rPr>
              <a:t>  6	CONSTRAINT emp_deptno_fk FOREIGN KEY (deptno)</a:t>
            </a:r>
          </a:p>
          <a:p>
            <a:pPr>
              <a:spcBef>
                <a:spcPct val="0"/>
              </a:spcBef>
              <a:buFontTx/>
              <a:buNone/>
            </a:pPr>
            <a:r>
              <a:rPr lang="en-US" altLang="en-US" sz="1800" b="1">
                <a:solidFill>
                  <a:srgbClr val="000000"/>
                </a:solidFill>
                <a:latin typeface="Courier New" panose="02070309020205020404" pitchFamily="49" charset="0"/>
              </a:rPr>
              <a:t>  7			REFERENCES dept (deptno));</a:t>
            </a:r>
          </a:p>
        </p:txBody>
      </p:sp>
      <p:sp>
        <p:nvSpPr>
          <p:cNvPr id="45063" name="Rectangle 4">
            <a:extLst>
              <a:ext uri="{FF2B5EF4-FFF2-40B4-BE49-F238E27FC236}">
                <a16:creationId xmlns:a16="http://schemas.microsoft.com/office/drawing/2014/main" id="{E69F88E5-CFED-C05B-23BE-BCA43F849318}"/>
              </a:ext>
            </a:extLst>
          </p:cNvPr>
          <p:cNvSpPr>
            <a:spLocks noChangeArrowheads="1"/>
          </p:cNvSpPr>
          <p:nvPr/>
        </p:nvSpPr>
        <p:spPr bwMode="blackWhite">
          <a:xfrm>
            <a:off x="706438" y="3981797"/>
            <a:ext cx="7537450" cy="19669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5">
            <a:extLst>
              <a:ext uri="{FF2B5EF4-FFF2-40B4-BE49-F238E27FC236}">
                <a16:creationId xmlns:a16="http://schemas.microsoft.com/office/drawing/2014/main" id="{E42C6524-2FC1-9056-5737-52ECCE4B5917}"/>
              </a:ext>
            </a:extLst>
          </p:cNvPr>
          <p:cNvSpPr>
            <a:spLocks noChangeArrowheads="1"/>
          </p:cNvSpPr>
          <p:nvPr/>
        </p:nvSpPr>
        <p:spPr bwMode="ltGray">
          <a:xfrm>
            <a:off x="804863" y="5516910"/>
            <a:ext cx="7031037" cy="3746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065" name="Rectangle 6">
            <a:extLst>
              <a:ext uri="{FF2B5EF4-FFF2-40B4-BE49-F238E27FC236}">
                <a16:creationId xmlns:a16="http://schemas.microsoft.com/office/drawing/2014/main" id="{F4D6DB3E-1469-DC5E-F448-3A16555F8D76}"/>
              </a:ext>
            </a:extLst>
          </p:cNvPr>
          <p:cNvSpPr>
            <a:spLocks noChangeArrowheads="1"/>
          </p:cNvSpPr>
          <p:nvPr/>
        </p:nvSpPr>
        <p:spPr bwMode="blackWhite">
          <a:xfrm>
            <a:off x="703263" y="4556472"/>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emp(</a:t>
            </a:r>
          </a:p>
          <a:p>
            <a:pPr>
              <a:spcBef>
                <a:spcPct val="0"/>
              </a:spcBef>
              <a:buFontTx/>
              <a:buNone/>
            </a:pPr>
            <a:r>
              <a:rPr lang="en-US" altLang="en-US" sz="1800" b="1">
                <a:solidFill>
                  <a:srgbClr val="000000"/>
                </a:solidFill>
                <a:latin typeface="Courier New" panose="02070309020205020404" pitchFamily="49" charset="0"/>
              </a:rPr>
              <a:t>  2  	empno 	NUMBER(4),</a:t>
            </a:r>
          </a:p>
          <a:p>
            <a:pPr>
              <a:spcBef>
                <a:spcPct val="0"/>
              </a:spcBef>
              <a:buFontTx/>
              <a:buNone/>
            </a:pPr>
            <a:r>
              <a:rPr lang="en-US" altLang="en-US" sz="1800" b="1">
                <a:solidFill>
                  <a:srgbClr val="000000"/>
                </a:solidFill>
                <a:latin typeface="Courier New" panose="02070309020205020404" pitchFamily="49" charset="0"/>
              </a:rPr>
              <a:t>  3	ename	VARCHAR2(10) NOT NULL,</a:t>
            </a:r>
          </a:p>
          <a:p>
            <a:pPr>
              <a:spcBef>
                <a:spcPct val="0"/>
              </a:spcBef>
              <a:buFontTx/>
              <a:buNone/>
            </a:pPr>
            <a:r>
              <a:rPr lang="en-US" altLang="en-US" sz="1800" b="1">
                <a:solidFill>
                  <a:srgbClr val="000000"/>
                </a:solidFill>
                <a:latin typeface="Courier New" panose="02070309020205020404" pitchFamily="49" charset="0"/>
              </a:rPr>
              <a:t>  4	job	VARCHAR2(9),</a:t>
            </a:r>
          </a:p>
          <a:p>
            <a:pPr>
              <a:spcBef>
                <a:spcPct val="0"/>
              </a:spcBef>
              <a:buFontTx/>
              <a:buNone/>
            </a:pPr>
            <a:r>
              <a:rPr lang="en-US" altLang="en-US" sz="1800" b="1">
                <a:solidFill>
                  <a:srgbClr val="000000"/>
                </a:solidFill>
                <a:latin typeface="Courier New" panose="02070309020205020404" pitchFamily="49" charset="0"/>
              </a:rPr>
              <a:t>  5	deptno	NUMBER(7,2)</a:t>
            </a:r>
          </a:p>
          <a:p>
            <a:pPr>
              <a:spcBef>
                <a:spcPct val="0"/>
              </a:spcBef>
              <a:buFontTx/>
              <a:buNone/>
            </a:pPr>
            <a:r>
              <a:rPr lang="en-US" altLang="en-US" sz="1800" b="1">
                <a:solidFill>
                  <a:srgbClr val="000000"/>
                </a:solidFill>
                <a:latin typeface="Courier New" panose="02070309020205020404" pitchFamily="49" charset="0"/>
              </a:rPr>
              <a:t>CONSTRAINT emp_deptno_fk REFERENCES dept (deptno));</a:t>
            </a:r>
          </a:p>
        </p:txBody>
      </p:sp>
      <p:sp>
        <p:nvSpPr>
          <p:cNvPr id="2" name="Slide Number Placeholder 23">
            <a:extLst>
              <a:ext uri="{FF2B5EF4-FFF2-40B4-BE49-F238E27FC236}">
                <a16:creationId xmlns:a16="http://schemas.microsoft.com/office/drawing/2014/main" id="{1185DA17-CE91-29DE-FF67-BE96C214691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83E8595D-5748-29DF-C76B-C1F81E34542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9116970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1173"/>
                                        </p:tgtEl>
                                        <p:attrNameLst>
                                          <p:attrName>style.visibility</p:attrName>
                                        </p:attrNameLst>
                                      </p:cBhvr>
                                      <p:to>
                                        <p:strVal val="visible"/>
                                      </p:to>
                                    </p:set>
                                    <p:animEffect transition="in" filter="wipe(up)">
                                      <p:cBhvr>
                                        <p:cTn id="7" dur="500"/>
                                        <p:tgtEl>
                                          <p:spTgt spid="391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3"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18DE-C49F-7619-9268-D379BCD1C6A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FBE4E69-0ECD-3179-BFD0-EE945A7B1037}"/>
              </a:ext>
            </a:extLst>
          </p:cNvPr>
          <p:cNvSpPr>
            <a:spLocks noGrp="1" noChangeArrowheads="1"/>
          </p:cNvSpPr>
          <p:nvPr>
            <p:ph type="title"/>
          </p:nvPr>
        </p:nvSpPr>
        <p:spPr>
          <a:xfrm>
            <a:off x="323850" y="188914"/>
            <a:ext cx="8277225" cy="581024"/>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FOREIGN KEY Constraint Keywords</a:t>
            </a:r>
            <a:endParaRPr lang="en-US" altLang="en-US" sz="2800" dirty="0">
              <a:solidFill>
                <a:srgbClr val="800000"/>
              </a:solidFill>
            </a:endParaRPr>
          </a:p>
        </p:txBody>
      </p:sp>
      <p:sp>
        <p:nvSpPr>
          <p:cNvPr id="47107" name="Rectangle 3">
            <a:extLst>
              <a:ext uri="{FF2B5EF4-FFF2-40B4-BE49-F238E27FC236}">
                <a16:creationId xmlns:a16="http://schemas.microsoft.com/office/drawing/2014/main" id="{85FFF3DB-A824-E555-DAE2-B012328E3755}"/>
              </a:ext>
            </a:extLst>
          </p:cNvPr>
          <p:cNvSpPr>
            <a:spLocks noGrp="1" noChangeArrowheads="1"/>
          </p:cNvSpPr>
          <p:nvPr>
            <p:ph type="body" idx="1"/>
          </p:nvPr>
        </p:nvSpPr>
        <p:spPr>
          <a:xfrm>
            <a:off x="396081" y="769938"/>
            <a:ext cx="8351837" cy="5673990"/>
          </a:xfrm>
          <a:noFill/>
        </p:spPr>
        <p:txBody>
          <a:bodyPr lIns="92075" tIns="46038" rIns="92075" bIns="46038">
            <a:spAutoFit/>
          </a:bodyPr>
          <a:lstStyle/>
          <a:p>
            <a:pPr marL="114300" lvl="1" indent="0" defTabSz="346075">
              <a:spcBef>
                <a:spcPts val="300"/>
              </a:spcBef>
              <a:buNone/>
              <a:tabLst>
                <a:tab pos="571500" algn="l"/>
              </a:tabLst>
            </a:pPr>
            <a:r>
              <a:rPr lang="en-US" altLang="en-US" sz="2800" b="1" dirty="0">
                <a:solidFill>
                  <a:srgbClr val="0000FF"/>
                </a:solidFill>
                <a:latin typeface="Cambria" panose="02040503050406030204" pitchFamily="18" charset="0"/>
                <a:ea typeface="Cambria" panose="02040503050406030204" pitchFamily="18" charset="0"/>
              </a:rPr>
              <a:t>FOREIGN KEY</a:t>
            </a:r>
          </a:p>
          <a:p>
            <a:pPr marL="457200" lvl="1" indent="-342900" defTabSz="346075">
              <a:spcBef>
                <a:spcPts val="300"/>
              </a:spcBef>
              <a:tabLst>
                <a:tab pos="571500" algn="l"/>
              </a:tabLst>
            </a:pPr>
            <a:r>
              <a:rPr lang="en-US" altLang="en-US" sz="2800" dirty="0">
                <a:latin typeface="Cambria" panose="02040503050406030204" pitchFamily="18" charset="0"/>
                <a:ea typeface="Cambria" panose="02040503050406030204" pitchFamily="18" charset="0"/>
              </a:rPr>
              <a:t>Defines the column in the child table at the table constraint level</a:t>
            </a:r>
          </a:p>
          <a:p>
            <a:pPr marL="114300" lvl="1" indent="0" defTabSz="346075">
              <a:spcBef>
                <a:spcPts val="300"/>
              </a:spcBef>
              <a:buNone/>
              <a:tabLst>
                <a:tab pos="571500" algn="l"/>
              </a:tabLst>
            </a:pPr>
            <a:r>
              <a:rPr lang="en-US" altLang="en-US" sz="2800" b="1" dirty="0">
                <a:solidFill>
                  <a:srgbClr val="0000FF"/>
                </a:solidFill>
                <a:latin typeface="Cambria" panose="02040503050406030204" pitchFamily="18" charset="0"/>
                <a:ea typeface="Cambria" panose="02040503050406030204" pitchFamily="18" charset="0"/>
              </a:rPr>
              <a:t>REFERENCES</a:t>
            </a:r>
          </a:p>
          <a:p>
            <a:pPr marL="457200" lvl="1" indent="-342900" defTabSz="346075">
              <a:spcBef>
                <a:spcPts val="300"/>
              </a:spcBef>
              <a:tabLst>
                <a:tab pos="571500" algn="l"/>
              </a:tabLst>
            </a:pPr>
            <a:r>
              <a:rPr lang="en-US" altLang="en-US" sz="2800" dirty="0">
                <a:latin typeface="Cambria" panose="02040503050406030204" pitchFamily="18" charset="0"/>
                <a:ea typeface="Cambria" panose="02040503050406030204" pitchFamily="18" charset="0"/>
              </a:rPr>
              <a:t>Identifies the table and column in the parent table</a:t>
            </a:r>
          </a:p>
          <a:p>
            <a:pPr marL="114300" lvl="1" indent="0" defTabSz="346075">
              <a:spcBef>
                <a:spcPts val="300"/>
              </a:spcBef>
              <a:buNone/>
              <a:tabLst>
                <a:tab pos="571500" algn="l"/>
              </a:tabLst>
            </a:pPr>
            <a:r>
              <a:rPr lang="en-US" altLang="en-US" sz="2800" b="1" dirty="0">
                <a:solidFill>
                  <a:srgbClr val="0000FF"/>
                </a:solidFill>
                <a:latin typeface="Cambria" panose="02040503050406030204" pitchFamily="18" charset="0"/>
                <a:ea typeface="Cambria" panose="02040503050406030204" pitchFamily="18" charset="0"/>
              </a:rPr>
              <a:t>ON DELETE CASCADE</a:t>
            </a:r>
          </a:p>
          <a:p>
            <a:pPr marL="457200" lvl="1" indent="-342900" defTabSz="346075">
              <a:spcBef>
                <a:spcPts val="300"/>
              </a:spcBef>
              <a:tabLst>
                <a:tab pos="571500" algn="l"/>
              </a:tabLst>
            </a:pPr>
            <a:r>
              <a:rPr lang="en-US" altLang="en-US" sz="2800" dirty="0">
                <a:latin typeface="Cambria" panose="02040503050406030204" pitchFamily="18" charset="0"/>
                <a:ea typeface="Cambria" panose="02040503050406030204" pitchFamily="18" charset="0"/>
              </a:rPr>
              <a:t>It is optional clause and it Allows deletion in the parent table and deletion of the dependent rows in the child table</a:t>
            </a:r>
          </a:p>
          <a:p>
            <a:pPr marL="114300" lvl="1" indent="0" defTabSz="346075">
              <a:spcBef>
                <a:spcPts val="300"/>
              </a:spcBef>
              <a:buNone/>
              <a:tabLst>
                <a:tab pos="571500" algn="l"/>
              </a:tabLst>
            </a:pPr>
            <a:r>
              <a:rPr lang="en-US" altLang="en-US" sz="2800" b="1" dirty="0">
                <a:solidFill>
                  <a:srgbClr val="0000FF"/>
                </a:solidFill>
                <a:latin typeface="Cambria" panose="02040503050406030204" pitchFamily="18" charset="0"/>
                <a:ea typeface="Cambria" panose="02040503050406030204" pitchFamily="18" charset="0"/>
              </a:rPr>
              <a:t>ON DELETE SET NULL</a:t>
            </a:r>
            <a:r>
              <a:rPr lang="en-US" altLang="en-US" sz="2800" dirty="0">
                <a:solidFill>
                  <a:schemeClr val="accent2"/>
                </a:solidFill>
                <a:latin typeface="Cambria" panose="02040503050406030204" pitchFamily="18" charset="0"/>
                <a:ea typeface="Cambria" panose="02040503050406030204" pitchFamily="18" charset="0"/>
              </a:rPr>
              <a:t> </a:t>
            </a:r>
          </a:p>
          <a:p>
            <a:pPr marL="457200" lvl="1" indent="-342900" defTabSz="346075">
              <a:spcBef>
                <a:spcPts val="300"/>
              </a:spcBef>
              <a:tabLst>
                <a:tab pos="571500" algn="l"/>
              </a:tabLst>
            </a:pPr>
            <a:r>
              <a:rPr lang="en-US" altLang="en-US" sz="2800" dirty="0">
                <a:latin typeface="Cambria" panose="02040503050406030204" pitchFamily="18" charset="0"/>
                <a:ea typeface="Cambria" panose="02040503050406030204" pitchFamily="18" charset="0"/>
              </a:rPr>
              <a:t>Converts dependent foreign key values to null</a:t>
            </a:r>
          </a:p>
          <a:p>
            <a:pPr marL="341313" lvl="1" indent="-227013" defTabSz="346075">
              <a:spcBef>
                <a:spcPts val="300"/>
              </a:spcBef>
              <a:buFontTx/>
              <a:buNone/>
              <a:tabLst>
                <a:tab pos="571500" algn="l"/>
              </a:tabLst>
            </a:pPr>
            <a:endParaRPr lang="en-US" altLang="en-US" sz="28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95BD28F3-82A0-FBB0-DA91-F4CC03C3798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30ACA23D-C051-3DAF-D804-6F0C122D1FA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49074746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07C93-1841-4A39-6917-95D7F4ADC85A}"/>
            </a:ext>
          </a:extLst>
        </p:cNvPr>
        <p:cNvGrpSpPr/>
        <p:nvPr/>
      </p:nvGrpSpPr>
      <p:grpSpPr>
        <a:xfrm>
          <a:off x="0" y="0"/>
          <a:ext cx="0" cy="0"/>
          <a:chOff x="0" y="0"/>
          <a:chExt cx="0" cy="0"/>
        </a:xfrm>
      </p:grpSpPr>
      <p:sp>
        <p:nvSpPr>
          <p:cNvPr id="49154" name="Rectangle 2">
            <a:extLst>
              <a:ext uri="{FF2B5EF4-FFF2-40B4-BE49-F238E27FC236}">
                <a16:creationId xmlns:a16="http://schemas.microsoft.com/office/drawing/2014/main" id="{BA1E7B78-B1FE-0B2F-092D-29E18719BD85}"/>
              </a:ext>
            </a:extLst>
          </p:cNvPr>
          <p:cNvSpPr>
            <a:spLocks noGrp="1" noChangeArrowheads="1"/>
          </p:cNvSpPr>
          <p:nvPr>
            <p:ph type="title"/>
          </p:nvPr>
        </p:nvSpPr>
        <p:spPr>
          <a:xfrm>
            <a:off x="546100" y="157138"/>
            <a:ext cx="4498975"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CHECK Constraint</a:t>
            </a:r>
          </a:p>
        </p:txBody>
      </p:sp>
      <p:sp>
        <p:nvSpPr>
          <p:cNvPr id="49155" name="Rectangle 3">
            <a:extLst>
              <a:ext uri="{FF2B5EF4-FFF2-40B4-BE49-F238E27FC236}">
                <a16:creationId xmlns:a16="http://schemas.microsoft.com/office/drawing/2014/main" id="{0AC86BE8-5DCF-7865-C7B0-570DAB4F6900}"/>
              </a:ext>
            </a:extLst>
          </p:cNvPr>
          <p:cNvSpPr>
            <a:spLocks noGrp="1" noChangeArrowheads="1"/>
          </p:cNvSpPr>
          <p:nvPr>
            <p:ph type="body" idx="1"/>
          </p:nvPr>
        </p:nvSpPr>
        <p:spPr>
          <a:xfrm>
            <a:off x="269438" y="600882"/>
            <a:ext cx="8169275" cy="523862"/>
          </a:xfrm>
          <a:noFill/>
        </p:spPr>
        <p:txBody>
          <a:bodyPr lIns="92075" tIns="46038" rIns="92075" bIns="46038">
            <a:spAutoFit/>
          </a:bodyPr>
          <a:lstStyle/>
          <a:p>
            <a:pPr lvl="1"/>
            <a:r>
              <a:rPr lang="en-US" altLang="en-US" sz="2800" dirty="0">
                <a:latin typeface="Cambria" panose="02040503050406030204" pitchFamily="18" charset="0"/>
                <a:ea typeface="Cambria" panose="02040503050406030204" pitchFamily="18" charset="0"/>
              </a:rPr>
              <a:t>Defines a condition that each row must satisfy</a:t>
            </a:r>
          </a:p>
        </p:txBody>
      </p:sp>
      <p:sp>
        <p:nvSpPr>
          <p:cNvPr id="49156" name="Rectangle 4">
            <a:extLst>
              <a:ext uri="{FF2B5EF4-FFF2-40B4-BE49-F238E27FC236}">
                <a16:creationId xmlns:a16="http://schemas.microsoft.com/office/drawing/2014/main" id="{CEA6AA05-F10D-FF94-B121-575033A4FC39}"/>
              </a:ext>
            </a:extLst>
          </p:cNvPr>
          <p:cNvSpPr>
            <a:spLocks noChangeArrowheads="1"/>
          </p:cNvSpPr>
          <p:nvPr/>
        </p:nvSpPr>
        <p:spPr bwMode="blackWhite">
          <a:xfrm>
            <a:off x="787326" y="1124744"/>
            <a:ext cx="7473950" cy="8350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95269" name="Rectangle 5">
            <a:extLst>
              <a:ext uri="{FF2B5EF4-FFF2-40B4-BE49-F238E27FC236}">
                <a16:creationId xmlns:a16="http://schemas.microsoft.com/office/drawing/2014/main" id="{AD565EFB-331A-74D9-0584-68C90C2A58FD}"/>
              </a:ext>
            </a:extLst>
          </p:cNvPr>
          <p:cNvSpPr>
            <a:spLocks noChangeArrowheads="1"/>
          </p:cNvSpPr>
          <p:nvPr/>
        </p:nvSpPr>
        <p:spPr bwMode="ltGray">
          <a:xfrm>
            <a:off x="1611238" y="1418431"/>
            <a:ext cx="5932488" cy="5207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9158" name="Rectangle 6">
            <a:extLst>
              <a:ext uri="{FF2B5EF4-FFF2-40B4-BE49-F238E27FC236}">
                <a16:creationId xmlns:a16="http://schemas.microsoft.com/office/drawing/2014/main" id="{894D9BB4-27FD-38DB-57F2-DA3267D42030}"/>
              </a:ext>
            </a:extLst>
          </p:cNvPr>
          <p:cNvSpPr>
            <a:spLocks noChangeArrowheads="1"/>
          </p:cNvSpPr>
          <p:nvPr/>
        </p:nvSpPr>
        <p:spPr bwMode="blackWhite">
          <a:xfrm>
            <a:off x="755576" y="1131094"/>
            <a:ext cx="79105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deptno	NUMBER(2),</a:t>
            </a:r>
          </a:p>
          <a:p>
            <a:pPr>
              <a:spcBef>
                <a:spcPct val="0"/>
              </a:spcBef>
              <a:buFontTx/>
              <a:buNone/>
            </a:pPr>
            <a:r>
              <a:rPr lang="en-US" altLang="en-US" sz="1800" b="1">
                <a:solidFill>
                  <a:srgbClr val="000000"/>
                </a:solidFill>
                <a:latin typeface="Courier New" panose="02070309020205020404" pitchFamily="49" charset="0"/>
              </a:rPr>
              <a:t>      CONSTRAINT emp_deptno_ck  </a:t>
            </a:r>
          </a:p>
          <a:p>
            <a:pPr>
              <a:spcBef>
                <a:spcPct val="0"/>
              </a:spcBef>
              <a:buFontTx/>
              <a:buNone/>
            </a:pPr>
            <a:r>
              <a:rPr lang="en-US" altLang="en-US" sz="1800" b="1">
                <a:solidFill>
                  <a:srgbClr val="000000"/>
                </a:solidFill>
                <a:latin typeface="Courier New" panose="02070309020205020404" pitchFamily="49" charset="0"/>
              </a:rPr>
              <a:t>            CHECK (DEPTNO BETWEEN 10 AND 99),...</a:t>
            </a:r>
          </a:p>
        </p:txBody>
      </p:sp>
      <p:sp>
        <p:nvSpPr>
          <p:cNvPr id="49159" name="Rectangle 4">
            <a:extLst>
              <a:ext uri="{FF2B5EF4-FFF2-40B4-BE49-F238E27FC236}">
                <a16:creationId xmlns:a16="http://schemas.microsoft.com/office/drawing/2014/main" id="{2133D8C6-6EFF-E116-8CF5-860F07B627E5}"/>
              </a:ext>
            </a:extLst>
          </p:cNvPr>
          <p:cNvSpPr>
            <a:spLocks noChangeArrowheads="1"/>
          </p:cNvSpPr>
          <p:nvPr/>
        </p:nvSpPr>
        <p:spPr bwMode="blackWhite">
          <a:xfrm>
            <a:off x="787326" y="2111641"/>
            <a:ext cx="7473950" cy="8350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5">
            <a:extLst>
              <a:ext uri="{FF2B5EF4-FFF2-40B4-BE49-F238E27FC236}">
                <a16:creationId xmlns:a16="http://schemas.microsoft.com/office/drawing/2014/main" id="{00BFDA31-90FD-6715-A936-F30F1661361E}"/>
              </a:ext>
            </a:extLst>
          </p:cNvPr>
          <p:cNvSpPr>
            <a:spLocks noChangeArrowheads="1"/>
          </p:cNvSpPr>
          <p:nvPr/>
        </p:nvSpPr>
        <p:spPr bwMode="ltGray">
          <a:xfrm>
            <a:off x="1611238" y="2405329"/>
            <a:ext cx="5932488" cy="5207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9161" name="Rectangle 6">
            <a:extLst>
              <a:ext uri="{FF2B5EF4-FFF2-40B4-BE49-F238E27FC236}">
                <a16:creationId xmlns:a16="http://schemas.microsoft.com/office/drawing/2014/main" id="{615CC656-AEF8-D8EE-C974-7C7EDD237207}"/>
              </a:ext>
            </a:extLst>
          </p:cNvPr>
          <p:cNvSpPr>
            <a:spLocks noChangeArrowheads="1"/>
          </p:cNvSpPr>
          <p:nvPr/>
        </p:nvSpPr>
        <p:spPr bwMode="blackWhite">
          <a:xfrm>
            <a:off x="755576" y="2117991"/>
            <a:ext cx="75057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program	CHAR(5),</a:t>
            </a:r>
          </a:p>
          <a:p>
            <a:pPr>
              <a:spcBef>
                <a:spcPct val="0"/>
              </a:spcBef>
              <a:buFontTx/>
              <a:buNone/>
            </a:pPr>
            <a:r>
              <a:rPr lang="en-US" altLang="en-US" sz="1800" b="1" dirty="0">
                <a:solidFill>
                  <a:srgbClr val="000000"/>
                </a:solidFill>
                <a:latin typeface="Courier New" panose="02070309020205020404" pitchFamily="49" charset="0"/>
              </a:rPr>
              <a:t>      CONSTRAINT </a:t>
            </a:r>
            <a:r>
              <a:rPr lang="en-US" altLang="en-US" sz="1800" b="1" dirty="0" err="1">
                <a:solidFill>
                  <a:srgbClr val="000000"/>
                </a:solidFill>
                <a:latin typeface="Courier New" panose="02070309020205020404" pitchFamily="49" charset="0"/>
              </a:rPr>
              <a:t>student_program_ck</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CHECK (program IN (‘BS’, MIT’, ‘MS’)),...</a:t>
            </a:r>
          </a:p>
        </p:txBody>
      </p:sp>
      <p:sp>
        <p:nvSpPr>
          <p:cNvPr id="2" name="Slide Number Placeholder 23">
            <a:extLst>
              <a:ext uri="{FF2B5EF4-FFF2-40B4-BE49-F238E27FC236}">
                <a16:creationId xmlns:a16="http://schemas.microsoft.com/office/drawing/2014/main" id="{2897A168-DA32-C433-CA22-4D60FABAAF1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3550091-01F1-F289-88A7-AE6D1612F6D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TextBox 6">
            <a:extLst>
              <a:ext uri="{FF2B5EF4-FFF2-40B4-BE49-F238E27FC236}">
                <a16:creationId xmlns:a16="http://schemas.microsoft.com/office/drawing/2014/main" id="{6A91A189-1B08-D6E7-B398-3587ABA7D366}"/>
              </a:ext>
            </a:extLst>
          </p:cNvPr>
          <p:cNvSpPr txBox="1"/>
          <p:nvPr/>
        </p:nvSpPr>
        <p:spPr>
          <a:xfrm>
            <a:off x="792796" y="3212400"/>
            <a:ext cx="7505699" cy="1277273"/>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cnic</a:t>
            </a:r>
            <a:r>
              <a:rPr lang="en-US" dirty="0">
                <a:latin typeface="Cambria" panose="02040503050406030204" pitchFamily="18" charset="0"/>
                <a:ea typeface="Cambria" panose="02040503050406030204" pitchFamily="18" charset="0"/>
              </a:rPr>
              <a:t> VARCHAR2(15) </a:t>
            </a:r>
          </a:p>
          <a:p>
            <a:pPr>
              <a:spcBef>
                <a:spcPts val="600"/>
              </a:spcBef>
              <a:spcAft>
                <a:spcPts val="0"/>
              </a:spcAft>
            </a:pPr>
            <a:r>
              <a:rPr lang="en-US" dirty="0">
                <a:solidFill>
                  <a:srgbClr val="FF0000"/>
                </a:solidFill>
                <a:latin typeface="Cambria" panose="02040503050406030204" pitchFamily="18" charset="0"/>
                <a:ea typeface="Cambria" panose="02040503050406030204" pitchFamily="18" charset="0"/>
              </a:rPr>
              <a:t>constraint </a:t>
            </a:r>
            <a:r>
              <a:rPr lang="en-US" dirty="0" err="1">
                <a:solidFill>
                  <a:srgbClr val="FF0000"/>
                </a:solidFill>
                <a:latin typeface="Cambria" panose="02040503050406030204" pitchFamily="18" charset="0"/>
                <a:ea typeface="Cambria" panose="02040503050406030204" pitchFamily="18" charset="0"/>
              </a:rPr>
              <a:t>cnic_chk</a:t>
            </a:r>
            <a:r>
              <a:rPr lang="en-US" dirty="0">
                <a:solidFill>
                  <a:srgbClr val="0000FF"/>
                </a:solidFill>
                <a:latin typeface="Cambria" panose="02040503050406030204" pitchFamily="18" charset="0"/>
                <a:ea typeface="Cambria" panose="02040503050406030204" pitchFamily="18" charset="0"/>
              </a:rPr>
              <a:t> CHECK </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regexp_like</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cnic</a:t>
            </a:r>
            <a:r>
              <a:rPr lang="en-US" dirty="0">
                <a:latin typeface="Cambria" panose="02040503050406030204" pitchFamily="18" charset="0"/>
                <a:ea typeface="Cambria" panose="02040503050406030204" pitchFamily="18" charset="0"/>
              </a:rPr>
              <a:t>,'^[0-9]{5}-[0-9]{7}-[0-9]{1}$')))</a:t>
            </a:r>
          </a:p>
        </p:txBody>
      </p:sp>
      <p:sp>
        <p:nvSpPr>
          <p:cNvPr id="9" name="TextBox 8">
            <a:extLst>
              <a:ext uri="{FF2B5EF4-FFF2-40B4-BE49-F238E27FC236}">
                <a16:creationId xmlns:a16="http://schemas.microsoft.com/office/drawing/2014/main" id="{EDE3BB17-19CA-78B1-8857-37A1114BA20F}"/>
              </a:ext>
            </a:extLst>
          </p:cNvPr>
          <p:cNvSpPr txBox="1"/>
          <p:nvPr/>
        </p:nvSpPr>
        <p:spPr>
          <a:xfrm>
            <a:off x="810717" y="4652843"/>
            <a:ext cx="7505699" cy="1800493"/>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 password VARCHAR2(15) </a:t>
            </a:r>
          </a:p>
          <a:p>
            <a:pPr>
              <a:spcBef>
                <a:spcPts val="600"/>
              </a:spcBef>
              <a:spcAft>
                <a:spcPts val="0"/>
              </a:spcAft>
            </a:pPr>
            <a:r>
              <a:rPr lang="en-US" dirty="0">
                <a:solidFill>
                  <a:srgbClr val="FF0000"/>
                </a:solidFill>
                <a:latin typeface="Cambria" panose="02040503050406030204" pitchFamily="18" charset="0"/>
                <a:ea typeface="Cambria" panose="02040503050406030204" pitchFamily="18" charset="0"/>
              </a:rPr>
              <a:t>constraint </a:t>
            </a:r>
            <a:r>
              <a:rPr lang="en-US" dirty="0" err="1">
                <a:solidFill>
                  <a:srgbClr val="FF0000"/>
                </a:solidFill>
                <a:latin typeface="Cambria" panose="02040503050406030204" pitchFamily="18" charset="0"/>
                <a:ea typeface="Cambria" panose="02040503050406030204" pitchFamily="18" charset="0"/>
              </a:rPr>
              <a:t>pass_chk</a:t>
            </a:r>
            <a:r>
              <a:rPr lang="en-US" dirty="0">
                <a:solidFill>
                  <a:srgbClr val="0000FF"/>
                </a:solidFill>
                <a:latin typeface="Cambria" panose="02040503050406030204" pitchFamily="18" charset="0"/>
                <a:ea typeface="Cambria" panose="02040503050406030204" pitchFamily="18" charset="0"/>
              </a:rPr>
              <a:t> CHECK </a:t>
            </a:r>
            <a:r>
              <a:rPr lang="en-US" dirty="0">
                <a:latin typeface="Cambria" panose="02040503050406030204" pitchFamily="18" charset="0"/>
                <a:ea typeface="Cambria" panose="02040503050406030204" pitchFamily="18" charset="0"/>
              </a:rPr>
              <a:t>(length(test)&gt;=8 AND</a:t>
            </a:r>
          </a:p>
          <a:p>
            <a:pPr>
              <a:spcBef>
                <a:spcPts val="600"/>
              </a:spcBef>
              <a:spcAft>
                <a:spcPts val="0"/>
              </a:spcAft>
            </a:pPr>
            <a:r>
              <a:rPr lang="en-US" dirty="0" err="1">
                <a:solidFill>
                  <a:srgbClr val="0000FF"/>
                </a:solidFill>
                <a:latin typeface="Cambria" panose="02040503050406030204" pitchFamily="18" charset="0"/>
                <a:ea typeface="Cambria" panose="02040503050406030204" pitchFamily="18" charset="0"/>
              </a:rPr>
              <a:t>regexp_like</a:t>
            </a:r>
            <a:r>
              <a:rPr lang="en-US" dirty="0">
                <a:solidFill>
                  <a:srgbClr val="0000FF"/>
                </a:solidFill>
                <a:latin typeface="Cambria" panose="02040503050406030204" pitchFamily="18" charset="0"/>
                <a:ea typeface="Cambria" panose="02040503050406030204" pitchFamily="18" charset="0"/>
              </a:rPr>
              <a:t>(test,'[A-za-z0-9]’) AND </a:t>
            </a:r>
          </a:p>
          <a:p>
            <a:pPr>
              <a:spcBef>
                <a:spcPts val="600"/>
              </a:spcBef>
              <a:spcAft>
                <a:spcPts val="0"/>
              </a:spcAft>
            </a:pPr>
            <a:r>
              <a:rPr lang="en-US" dirty="0" err="1">
                <a:latin typeface="Cambria" panose="02040503050406030204" pitchFamily="18" charset="0"/>
                <a:ea typeface="Cambria" panose="02040503050406030204" pitchFamily="18" charset="0"/>
              </a:rPr>
              <a:t>regexp_like</a:t>
            </a:r>
            <a:r>
              <a:rPr lang="en-US" dirty="0">
                <a:latin typeface="Cambria" panose="02040503050406030204" pitchFamily="18" charset="0"/>
                <a:ea typeface="Cambria" panose="02040503050406030204" pitchFamily="18" charset="0"/>
              </a:rPr>
              <a:t>(test,'[@#$%^&amp;*]' )))</a:t>
            </a:r>
          </a:p>
        </p:txBody>
      </p:sp>
    </p:spTree>
    <p:extLst>
      <p:ext uri="{BB962C8B-B14F-4D97-AF65-F5344CB8AC3E}">
        <p14:creationId xmlns:p14="http://schemas.microsoft.com/office/powerpoint/2010/main" val="13949468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wipe(up)">
                                      <p:cBhvr>
                                        <p:cTn id="7" dur="500"/>
                                        <p:tgtEl>
                                          <p:spTgt spid="3952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ACD1-2186-8AB8-D1B5-321F74C1C586}"/>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A7CA8604-9056-AC1E-EF00-3609D9D1FC63}"/>
              </a:ext>
            </a:extLst>
          </p:cNvPr>
          <p:cNvSpPr>
            <a:spLocks noGrp="1" noChangeArrowheads="1"/>
          </p:cNvSpPr>
          <p:nvPr>
            <p:ph type="title"/>
          </p:nvPr>
        </p:nvSpPr>
        <p:spPr>
          <a:xfrm>
            <a:off x="539552" y="292894"/>
            <a:ext cx="4391025"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DEFAULT Constraint</a:t>
            </a:r>
            <a:endParaRPr lang="en-US" altLang="en-US" sz="2800" dirty="0">
              <a:solidFill>
                <a:srgbClr val="800000"/>
              </a:solidFill>
            </a:endParaRPr>
          </a:p>
        </p:txBody>
      </p:sp>
      <p:sp>
        <p:nvSpPr>
          <p:cNvPr id="51206" name="Rectangle 6">
            <a:extLst>
              <a:ext uri="{FF2B5EF4-FFF2-40B4-BE49-F238E27FC236}">
                <a16:creationId xmlns:a16="http://schemas.microsoft.com/office/drawing/2014/main" id="{C5753880-86A5-B744-8634-D2B4DDBC3290}"/>
              </a:ext>
            </a:extLst>
          </p:cNvPr>
          <p:cNvSpPr>
            <a:spLocks noChangeArrowheads="1"/>
          </p:cNvSpPr>
          <p:nvPr/>
        </p:nvSpPr>
        <p:spPr bwMode="blackWhite">
          <a:xfrm>
            <a:off x="730380" y="2852936"/>
            <a:ext cx="7516813" cy="1550987"/>
          </a:xfrm>
          <a:prstGeom prst="rect">
            <a:avLst/>
          </a:prstGeom>
          <a:solidFill>
            <a:srgbClr val="FFFFCC"/>
          </a:solidFill>
          <a:ln>
            <a:noFill/>
          </a:ln>
          <a:effectLst>
            <a:outerShdw dist="89803"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4" name="Rectangle 7">
            <a:extLst>
              <a:ext uri="{FF2B5EF4-FFF2-40B4-BE49-F238E27FC236}">
                <a16:creationId xmlns:a16="http://schemas.microsoft.com/office/drawing/2014/main" id="{B0126357-1456-8A79-F4BC-655131A81A73}"/>
              </a:ext>
            </a:extLst>
          </p:cNvPr>
          <p:cNvSpPr>
            <a:spLocks noChangeArrowheads="1"/>
          </p:cNvSpPr>
          <p:nvPr/>
        </p:nvSpPr>
        <p:spPr bwMode="blackWhite">
          <a:xfrm>
            <a:off x="817693" y="2981523"/>
            <a:ext cx="7315200" cy="1304925"/>
          </a:xfrm>
          <a:prstGeom prst="rect">
            <a:avLst/>
          </a:prstGeom>
          <a:noFill/>
          <a:ln w="9525">
            <a:noFill/>
            <a:miter lim="800000"/>
            <a:headEnd/>
            <a:tailEnd/>
          </a:ln>
          <a:effectLst/>
        </p:spPr>
        <p:txBody>
          <a:bodyPr wrap="none" lIns="92075" tIns="46038" rIns="92075" bIns="46038" anchor="ctr"/>
          <a:lstStyle/>
          <a:p>
            <a:pPr>
              <a:tabLst>
                <a:tab pos="1601788" algn="l"/>
                <a:tab pos="1717675" algn="l"/>
              </a:tabLst>
              <a:defRPr/>
            </a:pPr>
            <a:r>
              <a:rPr lang="en-US" sz="1800" b="1" dirty="0">
                <a:solidFill>
                  <a:srgbClr val="000000"/>
                </a:solidFill>
                <a:latin typeface="Courier New" pitchFamily="49" charset="0"/>
              </a:rPr>
              <a:t>SQL&gt; CREATE TABLE test</a:t>
            </a:r>
            <a:br>
              <a:rPr lang="en-US" sz="1800" b="1" dirty="0">
                <a:solidFill>
                  <a:srgbClr val="000000"/>
                </a:solidFill>
                <a:latin typeface="Courier New" pitchFamily="49" charset="0"/>
              </a:rPr>
            </a:br>
            <a:r>
              <a:rPr lang="en-US" sz="1800" b="1" dirty="0">
                <a:solidFill>
                  <a:srgbClr val="000000"/>
                </a:solidFill>
                <a:latin typeface="Courier New" pitchFamily="49" charset="0"/>
              </a:rPr>
              <a:t>  2	(id 	NUMBER(2),</a:t>
            </a:r>
          </a:p>
          <a:p>
            <a:pPr>
              <a:tabLst>
                <a:tab pos="1601788" algn="l"/>
                <a:tab pos="1717675" algn="l"/>
              </a:tabLst>
              <a:defRPr/>
            </a:pPr>
            <a:r>
              <a:rPr lang="en-US" sz="1800" b="1" dirty="0">
                <a:solidFill>
                  <a:srgbClr val="000000"/>
                </a:solidFill>
                <a:latin typeface="Courier New" pitchFamily="49" charset="0"/>
              </a:rPr>
              <a:t>  3  		value 	NUMBER(2) </a:t>
            </a:r>
            <a:r>
              <a:rPr lang="en-US" sz="1800" b="1" dirty="0">
                <a:solidFill>
                  <a:srgbClr val="FF0000"/>
                </a:solidFill>
                <a:latin typeface="Courier New" pitchFamily="49" charset="0"/>
              </a:rPr>
              <a:t>DEFAULT</a:t>
            </a:r>
            <a:r>
              <a:rPr lang="en-US" sz="1800" b="1" dirty="0">
                <a:solidFill>
                  <a:srgbClr val="000000"/>
                </a:solidFill>
                <a:latin typeface="Courier New" pitchFamily="49" charset="0"/>
              </a:rPr>
              <a:t> 50,</a:t>
            </a:r>
          </a:p>
          <a:p>
            <a:pPr>
              <a:tabLst>
                <a:tab pos="1601788" algn="l"/>
                <a:tab pos="1717675" algn="l"/>
              </a:tabLst>
              <a:defRPr/>
            </a:pPr>
            <a:r>
              <a:rPr lang="en-US" sz="1800" b="1" dirty="0">
                <a:solidFill>
                  <a:srgbClr val="000000"/>
                </a:solidFill>
                <a:latin typeface="Courier New" pitchFamily="49" charset="0"/>
              </a:rPr>
              <a:t>  4  		name 	VARCHAR2(13));</a:t>
            </a:r>
          </a:p>
          <a:p>
            <a:pPr>
              <a:tabLst>
                <a:tab pos="1601788" algn="l"/>
                <a:tab pos="1717675" algn="l"/>
              </a:tabLst>
              <a:defRPr/>
            </a:pPr>
            <a:r>
              <a:rPr lang="en-US" sz="1800" b="1" dirty="0">
                <a:solidFill>
                  <a:srgbClr val="FF3300"/>
                </a:solidFill>
                <a:effectLst>
                  <a:outerShdw blurRad="38100" dist="38100" dir="2700000" algn="tl">
                    <a:srgbClr val="000000"/>
                  </a:outerShdw>
                </a:effectLst>
                <a:latin typeface="Courier New" pitchFamily="49" charset="0"/>
              </a:rPr>
              <a:t>Table created.</a:t>
            </a:r>
          </a:p>
        </p:txBody>
      </p:sp>
      <p:sp>
        <p:nvSpPr>
          <p:cNvPr id="2" name="Rectangle 3">
            <a:extLst>
              <a:ext uri="{FF2B5EF4-FFF2-40B4-BE49-F238E27FC236}">
                <a16:creationId xmlns:a16="http://schemas.microsoft.com/office/drawing/2014/main" id="{2914B76A-2105-8B6C-2F1B-CC771F2AB34F}"/>
              </a:ext>
            </a:extLst>
          </p:cNvPr>
          <p:cNvSpPr txBox="1">
            <a:spLocks noChangeArrowheads="1"/>
          </p:cNvSpPr>
          <p:nvPr/>
        </p:nvSpPr>
        <p:spPr bwMode="auto">
          <a:xfrm>
            <a:off x="251520" y="744898"/>
            <a:ext cx="8169275" cy="88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1"/>
            <a:r>
              <a:rPr lang="en-US" altLang="en-US" dirty="0">
                <a:latin typeface="Cambria" panose="02040503050406030204" pitchFamily="18" charset="0"/>
                <a:ea typeface="Cambria" panose="02040503050406030204" pitchFamily="18" charset="0"/>
              </a:rPr>
              <a:t>To specify a default value for a column.</a:t>
            </a:r>
          </a:p>
          <a:p>
            <a:pPr lvl="1"/>
            <a:r>
              <a:rPr lang="en-US" altLang="en-US" dirty="0">
                <a:latin typeface="Cambria" panose="02040503050406030204" pitchFamily="18" charset="0"/>
                <a:ea typeface="Cambria" panose="02040503050406030204" pitchFamily="18" charset="0"/>
              </a:rPr>
              <a:t> The default data type must match the column data type.</a:t>
            </a:r>
          </a:p>
        </p:txBody>
      </p:sp>
      <p:sp>
        <p:nvSpPr>
          <p:cNvPr id="3" name="TextBox 2">
            <a:extLst>
              <a:ext uri="{FF2B5EF4-FFF2-40B4-BE49-F238E27FC236}">
                <a16:creationId xmlns:a16="http://schemas.microsoft.com/office/drawing/2014/main" id="{9A540419-0776-13F8-EF31-45D042C464B8}"/>
              </a:ext>
            </a:extLst>
          </p:cNvPr>
          <p:cNvSpPr txBox="1"/>
          <p:nvPr/>
        </p:nvSpPr>
        <p:spPr>
          <a:xfrm>
            <a:off x="727505" y="1728971"/>
            <a:ext cx="7505699" cy="907941"/>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hire_date</a:t>
            </a:r>
            <a:r>
              <a:rPr lang="en-US" dirty="0">
                <a:latin typeface="Cambria" panose="02040503050406030204" pitchFamily="18" charset="0"/>
                <a:ea typeface="Cambria" panose="02040503050406030204" pitchFamily="18" charset="0"/>
              </a:rPr>
              <a:t> DATE </a:t>
            </a:r>
            <a:r>
              <a:rPr lang="en-US" dirty="0">
                <a:solidFill>
                  <a:srgbClr val="0033CC"/>
                </a:solidFill>
                <a:latin typeface="Cambria" panose="02040503050406030204" pitchFamily="18" charset="0"/>
                <a:ea typeface="Cambria" panose="02040503050406030204" pitchFamily="18" charset="0"/>
              </a:rPr>
              <a:t>DEFAULT</a:t>
            </a: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SYSDATE,</a:t>
            </a:r>
            <a:r>
              <a:rPr lang="en-US" dirty="0">
                <a:latin typeface="Cambria" panose="02040503050406030204" pitchFamily="18" charset="0"/>
                <a:ea typeface="Cambria" panose="02040503050406030204" pitchFamily="18" charset="0"/>
              </a:rPr>
              <a:t> ... </a:t>
            </a:r>
          </a:p>
          <a:p>
            <a:pPr>
              <a:spcBef>
                <a:spcPts val="600"/>
              </a:spcBef>
              <a:spcAft>
                <a:spcPts val="0"/>
              </a:spcAft>
            </a:pPr>
            <a:r>
              <a:rPr lang="en-US" dirty="0">
                <a:latin typeface="Cambria" panose="02040503050406030204" pitchFamily="18" charset="0"/>
                <a:ea typeface="Cambria" panose="02040503050406030204" pitchFamily="18" charset="0"/>
              </a:rPr>
              <a:t> ... Status CHAR(1) </a:t>
            </a:r>
            <a:r>
              <a:rPr lang="en-US" dirty="0">
                <a:solidFill>
                  <a:srgbClr val="0033CC"/>
                </a:solidFill>
                <a:latin typeface="Cambria" panose="02040503050406030204" pitchFamily="18" charset="0"/>
                <a:ea typeface="Cambria" panose="02040503050406030204" pitchFamily="18" charset="0"/>
              </a:rPr>
              <a:t>DEFAULT</a:t>
            </a: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'P',</a:t>
            </a:r>
            <a:r>
              <a:rPr lang="en-US" dirty="0">
                <a:latin typeface="Cambria" panose="02040503050406030204" pitchFamily="18" charset="0"/>
                <a:ea typeface="Cambria" panose="02040503050406030204" pitchFamily="18" charset="0"/>
              </a:rPr>
              <a:t> ...</a:t>
            </a:r>
          </a:p>
        </p:txBody>
      </p:sp>
      <p:sp>
        <p:nvSpPr>
          <p:cNvPr id="4" name="Slide Number Placeholder 23">
            <a:extLst>
              <a:ext uri="{FF2B5EF4-FFF2-40B4-BE49-F238E27FC236}">
                <a16:creationId xmlns:a16="http://schemas.microsoft.com/office/drawing/2014/main" id="{6EDA9F56-6E9F-C579-ADD8-0482D32640B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C5A7B63D-EFFB-D18B-90D7-AD4018FE648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11971016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95B4-8A85-E304-2FED-5C03B111F32F}"/>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9C4D22BA-E733-CA32-0ED2-34B3780F05C7}"/>
              </a:ext>
            </a:extLst>
          </p:cNvPr>
          <p:cNvSpPr>
            <a:spLocks noChangeArrowheads="1"/>
          </p:cNvSpPr>
          <p:nvPr/>
        </p:nvSpPr>
        <p:spPr bwMode="blackWhite">
          <a:xfrm>
            <a:off x="915988" y="1844824"/>
            <a:ext cx="7502525"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3251" name="Rectangle 3">
            <a:extLst>
              <a:ext uri="{FF2B5EF4-FFF2-40B4-BE49-F238E27FC236}">
                <a16:creationId xmlns:a16="http://schemas.microsoft.com/office/drawing/2014/main" id="{07CD48EF-D141-8385-32F7-2C38FBBA0DAB}"/>
              </a:ext>
            </a:extLst>
          </p:cNvPr>
          <p:cNvSpPr>
            <a:spLocks noGrp="1" noChangeArrowheads="1"/>
          </p:cNvSpPr>
          <p:nvPr>
            <p:ph type="title"/>
          </p:nvPr>
        </p:nvSpPr>
        <p:spPr>
          <a:xfrm>
            <a:off x="611560" y="289719"/>
            <a:ext cx="4210050"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Viewing Constraints</a:t>
            </a:r>
          </a:p>
        </p:txBody>
      </p:sp>
      <p:sp>
        <p:nvSpPr>
          <p:cNvPr id="53252" name="Rectangle 4">
            <a:extLst>
              <a:ext uri="{FF2B5EF4-FFF2-40B4-BE49-F238E27FC236}">
                <a16:creationId xmlns:a16="http://schemas.microsoft.com/office/drawing/2014/main" id="{54862C4C-D749-FD3A-11C0-2E3FE13BA0B9}"/>
              </a:ext>
            </a:extLst>
          </p:cNvPr>
          <p:cNvSpPr>
            <a:spLocks noGrp="1" noChangeArrowheads="1"/>
          </p:cNvSpPr>
          <p:nvPr>
            <p:ph type="body" idx="1"/>
          </p:nvPr>
        </p:nvSpPr>
        <p:spPr>
          <a:xfrm>
            <a:off x="611560" y="808434"/>
            <a:ext cx="7920880" cy="893194"/>
          </a:xfrm>
          <a:noFill/>
        </p:spPr>
        <p:txBody>
          <a:bodyPr wrap="square" lIns="92075" tIns="46038" rIns="92075" bIns="46038">
            <a:spAutoFit/>
          </a:bodyPr>
          <a:lstStyle/>
          <a:p>
            <a:r>
              <a:rPr lang="en-US" altLang="en-US" dirty="0">
                <a:latin typeface="Cambria" panose="02040503050406030204" pitchFamily="18" charset="0"/>
                <a:ea typeface="Cambria" panose="02040503050406030204" pitchFamily="18" charset="0"/>
              </a:rPr>
              <a:t>Query </a:t>
            </a:r>
            <a:r>
              <a:rPr lang="en-US" altLang="en-US" dirty="0">
                <a:solidFill>
                  <a:srgbClr val="0033CC"/>
                </a:solidFill>
                <a:latin typeface="Cambria" panose="02040503050406030204" pitchFamily="18" charset="0"/>
                <a:ea typeface="Cambria" panose="02040503050406030204" pitchFamily="18" charset="0"/>
              </a:rPr>
              <a:t>USER_CONSTRAINTS</a:t>
            </a:r>
            <a:r>
              <a:rPr lang="en-US" altLang="en-US" dirty="0">
                <a:latin typeface="Cambria" panose="02040503050406030204" pitchFamily="18" charset="0"/>
                <a:ea typeface="Cambria" panose="02040503050406030204" pitchFamily="18" charset="0"/>
              </a:rPr>
              <a:t> table to view all constraint definitions and names.</a:t>
            </a:r>
          </a:p>
        </p:txBody>
      </p:sp>
      <p:sp>
        <p:nvSpPr>
          <p:cNvPr id="53253" name="Rectangle 5">
            <a:extLst>
              <a:ext uri="{FF2B5EF4-FFF2-40B4-BE49-F238E27FC236}">
                <a16:creationId xmlns:a16="http://schemas.microsoft.com/office/drawing/2014/main" id="{0C2D88D2-E9C5-2E9C-9F0B-5950A9DAA8EF}"/>
              </a:ext>
            </a:extLst>
          </p:cNvPr>
          <p:cNvSpPr>
            <a:spLocks noChangeArrowheads="1"/>
          </p:cNvSpPr>
          <p:nvPr/>
        </p:nvSpPr>
        <p:spPr bwMode="blackWhite">
          <a:xfrm>
            <a:off x="931863" y="3213249"/>
            <a:ext cx="7493000" cy="17653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CONSTRAINT_NAME          C SEARCH_CONDITION</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SYS_C00674               C EMPNO IS NOT NULL  </a:t>
            </a:r>
          </a:p>
          <a:p>
            <a:pPr>
              <a:spcBef>
                <a:spcPct val="0"/>
              </a:spcBef>
              <a:buFontTx/>
              <a:buNone/>
            </a:pPr>
            <a:r>
              <a:rPr lang="en-US" altLang="en-US" sz="1800" b="1">
                <a:solidFill>
                  <a:srgbClr val="000000"/>
                </a:solidFill>
                <a:latin typeface="Courier New" panose="02070309020205020404" pitchFamily="49" charset="0"/>
              </a:rPr>
              <a:t>SYS_C00675               C DEPTNO IS NOT NULL</a:t>
            </a:r>
          </a:p>
          <a:p>
            <a:pPr>
              <a:spcBef>
                <a:spcPct val="0"/>
              </a:spcBef>
              <a:buFontTx/>
              <a:buNone/>
            </a:pPr>
            <a:r>
              <a:rPr lang="en-US" altLang="en-US" sz="1800" b="1">
                <a:solidFill>
                  <a:srgbClr val="000000"/>
                </a:solidFill>
                <a:latin typeface="Courier New" panose="02070309020205020404" pitchFamily="49" charset="0"/>
              </a:rPr>
              <a:t>EMP_EMPNO_PK		     P</a:t>
            </a:r>
          </a:p>
          <a:p>
            <a:pPr>
              <a:spcBef>
                <a:spcPct val="0"/>
              </a:spcBef>
              <a:buFontTx/>
              <a:buNone/>
            </a:pPr>
            <a:r>
              <a:rPr lang="en-US" altLang="en-US" sz="1800" b="1">
                <a:solidFill>
                  <a:srgbClr val="000000"/>
                </a:solidFill>
                <a:latin typeface="Courier New" panose="02070309020205020404" pitchFamily="49" charset="0"/>
              </a:rPr>
              <a:t>...</a:t>
            </a:r>
          </a:p>
        </p:txBody>
      </p:sp>
      <p:sp>
        <p:nvSpPr>
          <p:cNvPr id="409606" name="Rectangle 6">
            <a:extLst>
              <a:ext uri="{FF2B5EF4-FFF2-40B4-BE49-F238E27FC236}">
                <a16:creationId xmlns:a16="http://schemas.microsoft.com/office/drawing/2014/main" id="{1C642DFC-A0B0-8A34-33CF-11E020006088}"/>
              </a:ext>
            </a:extLst>
          </p:cNvPr>
          <p:cNvSpPr>
            <a:spLocks noChangeArrowheads="1"/>
          </p:cNvSpPr>
          <p:nvPr/>
        </p:nvSpPr>
        <p:spPr bwMode="ltGray">
          <a:xfrm>
            <a:off x="2813050" y="2481412"/>
            <a:ext cx="2268538" cy="2460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3255" name="Rectangle 7">
            <a:extLst>
              <a:ext uri="{FF2B5EF4-FFF2-40B4-BE49-F238E27FC236}">
                <a16:creationId xmlns:a16="http://schemas.microsoft.com/office/drawing/2014/main" id="{A7750FA6-ABC3-F784-6EAF-FB215D008A95}"/>
              </a:ext>
            </a:extLst>
          </p:cNvPr>
          <p:cNvSpPr>
            <a:spLocks noChangeArrowheads="1"/>
          </p:cNvSpPr>
          <p:nvPr/>
        </p:nvSpPr>
        <p:spPr bwMode="blackWhite">
          <a:xfrm>
            <a:off x="895350" y="1844824"/>
            <a:ext cx="75279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constraint_name, constraint_type,</a:t>
            </a:r>
          </a:p>
          <a:p>
            <a:pPr>
              <a:spcBef>
                <a:spcPct val="0"/>
              </a:spcBef>
              <a:buFontTx/>
              <a:buNone/>
            </a:pPr>
            <a:r>
              <a:rPr lang="en-US" altLang="en-US" sz="1800" b="1">
                <a:solidFill>
                  <a:srgbClr val="000000"/>
                </a:solidFill>
                <a:latin typeface="Courier New" panose="02070309020205020404" pitchFamily="49" charset="0"/>
              </a:rPr>
              <a:t>  2		search_condition</a:t>
            </a:r>
          </a:p>
          <a:p>
            <a:pPr>
              <a:spcBef>
                <a:spcPct val="0"/>
              </a:spcBef>
              <a:buFontTx/>
              <a:buNone/>
            </a:pPr>
            <a:r>
              <a:rPr lang="en-US" altLang="en-US" sz="1800" b="1">
                <a:solidFill>
                  <a:srgbClr val="000000"/>
                </a:solidFill>
                <a:latin typeface="Courier New" panose="02070309020205020404" pitchFamily="49" charset="0"/>
              </a:rPr>
              <a:t>  3   FROM	user_constraints</a:t>
            </a:r>
          </a:p>
          <a:p>
            <a:pPr>
              <a:spcBef>
                <a:spcPct val="0"/>
              </a:spcBef>
              <a:buFontTx/>
              <a:buNone/>
            </a:pPr>
            <a:r>
              <a:rPr lang="en-US" altLang="en-US" sz="1800" b="1">
                <a:solidFill>
                  <a:srgbClr val="000000"/>
                </a:solidFill>
                <a:latin typeface="Courier New" panose="02070309020205020404" pitchFamily="49" charset="0"/>
              </a:rPr>
              <a:t>  4   WHERE	table_name = 'EMP';</a:t>
            </a:r>
          </a:p>
        </p:txBody>
      </p:sp>
      <p:sp>
        <p:nvSpPr>
          <p:cNvPr id="2" name="Slide Number Placeholder 23">
            <a:extLst>
              <a:ext uri="{FF2B5EF4-FFF2-40B4-BE49-F238E27FC236}">
                <a16:creationId xmlns:a16="http://schemas.microsoft.com/office/drawing/2014/main" id="{9FB835E9-C5E8-A549-7DA1-E8003E0A706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C03CB77E-15CA-0C8E-BDEF-EFE2DDAF233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44721607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09606"/>
                                        </p:tgtEl>
                                        <p:attrNameLst>
                                          <p:attrName>style.visibility</p:attrName>
                                        </p:attrNameLst>
                                      </p:cBhvr>
                                      <p:to>
                                        <p:strVal val="visible"/>
                                      </p:to>
                                    </p:set>
                                    <p:animEffect transition="in" filter="wipe(up)">
                                      <p:cBhvr>
                                        <p:cTn id="7" dur="500"/>
                                        <p:tgtEl>
                                          <p:spTgt spid="409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7EA3-C3DB-CE73-E592-758AB879219E}"/>
            </a:ext>
          </a:extLst>
        </p:cNvPr>
        <p:cNvGrpSpPr/>
        <p:nvPr/>
      </p:nvGrpSpPr>
      <p:grpSpPr>
        <a:xfrm>
          <a:off x="0" y="0"/>
          <a:ext cx="0" cy="0"/>
          <a:chOff x="0" y="0"/>
          <a:chExt cx="0" cy="0"/>
        </a:xfrm>
      </p:grpSpPr>
      <p:sp>
        <p:nvSpPr>
          <p:cNvPr id="55298" name="Rectangle 2">
            <a:extLst>
              <a:ext uri="{FF2B5EF4-FFF2-40B4-BE49-F238E27FC236}">
                <a16:creationId xmlns:a16="http://schemas.microsoft.com/office/drawing/2014/main" id="{BFD33C8A-8D5C-774C-8AF2-601BBE6B4F38}"/>
              </a:ext>
            </a:extLst>
          </p:cNvPr>
          <p:cNvSpPr>
            <a:spLocks noGrp="1" noChangeArrowheads="1"/>
          </p:cNvSpPr>
          <p:nvPr>
            <p:ph type="title"/>
          </p:nvPr>
        </p:nvSpPr>
        <p:spPr>
          <a:xfrm>
            <a:off x="323850" y="260351"/>
            <a:ext cx="8352606" cy="504354"/>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Viewing the Columns Associated with Constraints</a:t>
            </a:r>
          </a:p>
        </p:txBody>
      </p:sp>
      <p:sp>
        <p:nvSpPr>
          <p:cNvPr id="55299" name="Rectangle 3">
            <a:extLst>
              <a:ext uri="{FF2B5EF4-FFF2-40B4-BE49-F238E27FC236}">
                <a16:creationId xmlns:a16="http://schemas.microsoft.com/office/drawing/2014/main" id="{AEB04C30-839F-D51A-AE61-22698557C880}"/>
              </a:ext>
            </a:extLst>
          </p:cNvPr>
          <p:cNvSpPr>
            <a:spLocks noChangeArrowheads="1"/>
          </p:cNvSpPr>
          <p:nvPr/>
        </p:nvSpPr>
        <p:spPr bwMode="blackWhite">
          <a:xfrm>
            <a:off x="925513" y="1793454"/>
            <a:ext cx="7489825"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5300" name="Rectangle 4">
            <a:extLst>
              <a:ext uri="{FF2B5EF4-FFF2-40B4-BE49-F238E27FC236}">
                <a16:creationId xmlns:a16="http://schemas.microsoft.com/office/drawing/2014/main" id="{E4CA78A9-2C2F-6D94-567D-2791FE5DA8F1}"/>
              </a:ext>
            </a:extLst>
          </p:cNvPr>
          <p:cNvSpPr>
            <a:spLocks noChangeArrowheads="1"/>
          </p:cNvSpPr>
          <p:nvPr/>
        </p:nvSpPr>
        <p:spPr bwMode="blackWhite">
          <a:xfrm>
            <a:off x="935038" y="2914229"/>
            <a:ext cx="7489825" cy="2039937"/>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CONSTRAINT_NAME           COLUMN_NAME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EMP_DEPTNO_FK             DEPTNO</a:t>
            </a:r>
          </a:p>
          <a:p>
            <a:pPr>
              <a:spcBef>
                <a:spcPct val="0"/>
              </a:spcBef>
              <a:buFontTx/>
              <a:buNone/>
            </a:pPr>
            <a:r>
              <a:rPr lang="en-US" altLang="en-US" sz="1800" b="1">
                <a:solidFill>
                  <a:srgbClr val="000000"/>
                </a:solidFill>
                <a:latin typeface="Courier New" panose="02070309020205020404" pitchFamily="49" charset="0"/>
              </a:rPr>
              <a:t>EMP_EMPNO_PK              EMPNO</a:t>
            </a:r>
          </a:p>
          <a:p>
            <a:pPr>
              <a:spcBef>
                <a:spcPct val="0"/>
              </a:spcBef>
              <a:buFontTx/>
              <a:buNone/>
            </a:pPr>
            <a:r>
              <a:rPr lang="en-US" altLang="en-US" sz="1800" b="1">
                <a:solidFill>
                  <a:srgbClr val="000000"/>
                </a:solidFill>
                <a:latin typeface="Courier New" panose="02070309020205020404" pitchFamily="49" charset="0"/>
              </a:rPr>
              <a:t>EMP_MGR_FK                MGR</a:t>
            </a:r>
          </a:p>
          <a:p>
            <a:pPr>
              <a:spcBef>
                <a:spcPct val="0"/>
              </a:spcBef>
              <a:buFontTx/>
              <a:buNone/>
            </a:pPr>
            <a:r>
              <a:rPr lang="en-US" altLang="en-US" sz="1800" b="1">
                <a:solidFill>
                  <a:srgbClr val="000000"/>
                </a:solidFill>
                <a:latin typeface="Courier New" panose="02070309020205020404" pitchFamily="49" charset="0"/>
              </a:rPr>
              <a:t>SYS_C00674                EMPNO</a:t>
            </a:r>
          </a:p>
          <a:p>
            <a:pPr>
              <a:spcBef>
                <a:spcPct val="0"/>
              </a:spcBef>
              <a:buFontTx/>
              <a:buNone/>
            </a:pPr>
            <a:r>
              <a:rPr lang="en-US" altLang="en-US" sz="1800" b="1">
                <a:solidFill>
                  <a:srgbClr val="000000"/>
                </a:solidFill>
                <a:latin typeface="Courier New" panose="02070309020205020404" pitchFamily="49" charset="0"/>
              </a:rPr>
              <a:t>SYS_C00675                DEPTNO</a:t>
            </a:r>
          </a:p>
        </p:txBody>
      </p:sp>
      <p:sp>
        <p:nvSpPr>
          <p:cNvPr id="411653" name="Rectangle 5">
            <a:extLst>
              <a:ext uri="{FF2B5EF4-FFF2-40B4-BE49-F238E27FC236}">
                <a16:creationId xmlns:a16="http://schemas.microsoft.com/office/drawing/2014/main" id="{E40DB937-161D-E840-B3CD-37545372BB40}"/>
              </a:ext>
            </a:extLst>
          </p:cNvPr>
          <p:cNvSpPr>
            <a:spLocks noChangeArrowheads="1"/>
          </p:cNvSpPr>
          <p:nvPr/>
        </p:nvSpPr>
        <p:spPr bwMode="ltGray">
          <a:xfrm>
            <a:off x="2809875" y="2117304"/>
            <a:ext cx="2492375" cy="26828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11654" name="Rectangle 6">
            <a:extLst>
              <a:ext uri="{FF2B5EF4-FFF2-40B4-BE49-F238E27FC236}">
                <a16:creationId xmlns:a16="http://schemas.microsoft.com/office/drawing/2014/main" id="{51A2F02F-FCD7-797B-E99F-FCF37F499B56}"/>
              </a:ext>
            </a:extLst>
          </p:cNvPr>
          <p:cNvSpPr>
            <a:spLocks noChangeArrowheads="1"/>
          </p:cNvSpPr>
          <p:nvPr/>
        </p:nvSpPr>
        <p:spPr bwMode="blackWhite">
          <a:xfrm>
            <a:off x="904875" y="1772816"/>
            <a:ext cx="7515225" cy="9413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SELECT	constraint_name, column_name</a:t>
            </a:r>
          </a:p>
          <a:p>
            <a:pPr>
              <a:tabLst>
                <a:tab pos="1200150" algn="l"/>
              </a:tabLst>
              <a:defRPr/>
            </a:pPr>
            <a:r>
              <a:rPr lang="en-US" sz="1800" b="1">
                <a:solidFill>
                  <a:srgbClr val="000000"/>
                </a:solidFill>
                <a:latin typeface="Courier New" pitchFamily="49" charset="0"/>
              </a:rPr>
              <a:t>  2  FROM</a:t>
            </a:r>
            <a:r>
              <a:rPr lang="en-US" sz="1800" b="1">
                <a:solidFill>
                  <a:srgbClr val="000000"/>
                </a:solidFill>
                <a:effectLst>
                  <a:outerShdw blurRad="38100" dist="38100" dir="2700000" algn="tl">
                    <a:srgbClr val="FFFFFF"/>
                  </a:outerShdw>
                </a:effectLst>
                <a:latin typeface="Courier New" pitchFamily="49" charset="0"/>
              </a:rPr>
              <a:t>	</a:t>
            </a:r>
            <a:r>
              <a:rPr lang="en-US" sz="1800" b="1">
                <a:solidFill>
                  <a:srgbClr val="000000"/>
                </a:solidFill>
                <a:latin typeface="Courier New" pitchFamily="49" charset="0"/>
              </a:rPr>
              <a:t>user_cons_columns</a:t>
            </a:r>
          </a:p>
          <a:p>
            <a:pPr>
              <a:tabLst>
                <a:tab pos="1200150" algn="l"/>
              </a:tabLst>
              <a:defRPr/>
            </a:pPr>
            <a:r>
              <a:rPr lang="en-US" sz="1800" b="1">
                <a:solidFill>
                  <a:srgbClr val="000000"/>
                </a:solidFill>
                <a:latin typeface="Courier New" pitchFamily="49" charset="0"/>
              </a:rPr>
              <a:t>  3  WHERE	table_name = 'EMP';</a:t>
            </a:r>
          </a:p>
        </p:txBody>
      </p:sp>
      <p:sp>
        <p:nvSpPr>
          <p:cNvPr id="55303" name="Rectangle 7">
            <a:extLst>
              <a:ext uri="{FF2B5EF4-FFF2-40B4-BE49-F238E27FC236}">
                <a16:creationId xmlns:a16="http://schemas.microsoft.com/office/drawing/2014/main" id="{F7ECF8C3-0955-840C-9A73-BB4059180293}"/>
              </a:ext>
            </a:extLst>
          </p:cNvPr>
          <p:cNvSpPr>
            <a:spLocks noGrp="1" noChangeArrowheads="1"/>
          </p:cNvSpPr>
          <p:nvPr>
            <p:ph type="body" idx="1"/>
          </p:nvPr>
        </p:nvSpPr>
        <p:spPr>
          <a:xfrm>
            <a:off x="467544" y="801545"/>
            <a:ext cx="7957319" cy="893194"/>
          </a:xfrm>
          <a:noFill/>
        </p:spPr>
        <p:txBody>
          <a:bodyPr wrap="square" lIns="92075" tIns="46038" rIns="92075" bIns="46038">
            <a:spAutoFit/>
          </a:bodyPr>
          <a:lstStyle/>
          <a:p>
            <a:r>
              <a:rPr lang="en-US" altLang="en-US" dirty="0">
                <a:latin typeface="Cambria" panose="02040503050406030204" pitchFamily="18" charset="0"/>
                <a:ea typeface="Cambria" panose="02040503050406030204" pitchFamily="18" charset="0"/>
              </a:rPr>
              <a:t>View the columns associated with the constraint names in the </a:t>
            </a:r>
            <a:r>
              <a:rPr lang="en-US" altLang="en-US" dirty="0">
                <a:solidFill>
                  <a:srgbClr val="0033CC"/>
                </a:solidFill>
                <a:latin typeface="Cambria" panose="02040503050406030204" pitchFamily="18" charset="0"/>
                <a:ea typeface="Cambria" panose="02040503050406030204" pitchFamily="18" charset="0"/>
              </a:rPr>
              <a:t>USER_CONS_COLUMNS </a:t>
            </a:r>
            <a:r>
              <a:rPr lang="en-US" altLang="en-US" dirty="0">
                <a:latin typeface="Cambria" panose="02040503050406030204" pitchFamily="18" charset="0"/>
                <a:ea typeface="Cambria" panose="02040503050406030204" pitchFamily="18" charset="0"/>
              </a:rPr>
              <a:t>view.</a:t>
            </a:r>
          </a:p>
        </p:txBody>
      </p:sp>
      <p:sp>
        <p:nvSpPr>
          <p:cNvPr id="2" name="Slide Number Placeholder 23">
            <a:extLst>
              <a:ext uri="{FF2B5EF4-FFF2-40B4-BE49-F238E27FC236}">
                <a16:creationId xmlns:a16="http://schemas.microsoft.com/office/drawing/2014/main" id="{7E1A9AF2-A855-BA1E-5C4D-49A4FEB9579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F1B339D-9266-ADE9-75AB-CB5B3D5FF05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88763937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1653"/>
                                        </p:tgtEl>
                                        <p:attrNameLst>
                                          <p:attrName>style.visibility</p:attrName>
                                        </p:attrNameLst>
                                      </p:cBhvr>
                                      <p:to>
                                        <p:strVal val="visible"/>
                                      </p:to>
                                    </p:set>
                                    <p:animEffect transition="in" filter="wipe(up)">
                                      <p:cBhvr>
                                        <p:cTn id="7" dur="500"/>
                                        <p:tgtEl>
                                          <p:spTgt spid="411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75AD-1655-84CC-7000-E4B7F66B976F}"/>
            </a:ext>
          </a:extLst>
        </p:cNvPr>
        <p:cNvGrpSpPr/>
        <p:nvPr/>
      </p:nvGrpSpPr>
      <p:grpSpPr>
        <a:xfrm>
          <a:off x="0" y="0"/>
          <a:ext cx="0" cy="0"/>
          <a:chOff x="0" y="0"/>
          <a:chExt cx="0" cy="0"/>
        </a:xfrm>
      </p:grpSpPr>
      <p:sp>
        <p:nvSpPr>
          <p:cNvPr id="57346" name="Rectangle 2">
            <a:extLst>
              <a:ext uri="{FF2B5EF4-FFF2-40B4-BE49-F238E27FC236}">
                <a16:creationId xmlns:a16="http://schemas.microsoft.com/office/drawing/2014/main" id="{CB046724-F0DA-2839-55E5-E1B4DBB23BF8}"/>
              </a:ext>
            </a:extLst>
          </p:cNvPr>
          <p:cNvSpPr>
            <a:spLocks noGrp="1" noChangeArrowheads="1"/>
          </p:cNvSpPr>
          <p:nvPr>
            <p:ph type="title"/>
          </p:nvPr>
        </p:nvSpPr>
        <p:spPr>
          <a:xfrm>
            <a:off x="539552" y="321006"/>
            <a:ext cx="3490913"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Virtual Column</a:t>
            </a:r>
          </a:p>
        </p:txBody>
      </p:sp>
      <p:grpSp>
        <p:nvGrpSpPr>
          <p:cNvPr id="57347" name="Group 6">
            <a:extLst>
              <a:ext uri="{FF2B5EF4-FFF2-40B4-BE49-F238E27FC236}">
                <a16:creationId xmlns:a16="http://schemas.microsoft.com/office/drawing/2014/main" id="{91D402ED-A3D1-4290-7C59-A0C938F123B4}"/>
              </a:ext>
            </a:extLst>
          </p:cNvPr>
          <p:cNvGrpSpPr>
            <a:grpSpLocks/>
          </p:cNvGrpSpPr>
          <p:nvPr/>
        </p:nvGrpSpPr>
        <p:grpSpPr bwMode="auto">
          <a:xfrm>
            <a:off x="706438" y="1844824"/>
            <a:ext cx="7737475" cy="1582738"/>
            <a:chOff x="622" y="1831"/>
            <a:chExt cx="4874" cy="2672"/>
          </a:xfrm>
        </p:grpSpPr>
        <p:sp>
          <p:nvSpPr>
            <p:cNvPr id="57352" name="Rectangle 7">
              <a:extLst>
                <a:ext uri="{FF2B5EF4-FFF2-40B4-BE49-F238E27FC236}">
                  <a16:creationId xmlns:a16="http://schemas.microsoft.com/office/drawing/2014/main" id="{ADD46A77-1A83-2366-17EA-A1902B5FFB5C}"/>
                </a:ext>
              </a:extLst>
            </p:cNvPr>
            <p:cNvSpPr>
              <a:spLocks noChangeArrowheads="1"/>
            </p:cNvSpPr>
            <p:nvPr/>
          </p:nvSpPr>
          <p:spPr bwMode="blackWhite">
            <a:xfrm>
              <a:off x="622" y="1831"/>
              <a:ext cx="4754" cy="267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7353" name="Rectangle 8">
              <a:extLst>
                <a:ext uri="{FF2B5EF4-FFF2-40B4-BE49-F238E27FC236}">
                  <a16:creationId xmlns:a16="http://schemas.microsoft.com/office/drawing/2014/main" id="{9117C160-437E-4AAE-E84C-CD61CAB7260D}"/>
                </a:ext>
              </a:extLst>
            </p:cNvPr>
            <p:cNvSpPr>
              <a:spLocks noChangeArrowheads="1"/>
            </p:cNvSpPr>
            <p:nvPr/>
          </p:nvSpPr>
          <p:spPr bwMode="blackWhite">
            <a:xfrm>
              <a:off x="698" y="2193"/>
              <a:ext cx="4798"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CREATE TABLE </a:t>
              </a:r>
              <a:r>
                <a:rPr lang="en-US" altLang="en-US" sz="1800" b="1" dirty="0" err="1">
                  <a:solidFill>
                    <a:srgbClr val="000000"/>
                  </a:solidFill>
                  <a:latin typeface="Courier New" panose="02070309020205020404" pitchFamily="49" charset="0"/>
                </a:rPr>
                <a:t>table_name</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a:t>
              </a:r>
              <a:r>
                <a:rPr lang="en-US" altLang="en-US" sz="1800" b="1" dirty="0" err="1">
                  <a:solidFill>
                    <a:srgbClr val="FF0000"/>
                  </a:solidFill>
                  <a:latin typeface="Courier New" panose="02070309020205020404" pitchFamily="49" charset="0"/>
                </a:rPr>
                <a:t>virtual_column_name</a:t>
              </a:r>
              <a:r>
                <a:rPr lang="en-US" altLang="en-US" sz="1800" b="1" dirty="0">
                  <a:solidFill>
                    <a:srgbClr val="000000"/>
                  </a:solidFill>
                  <a:latin typeface="Courier New" panose="02070309020205020404" pitchFamily="49" charset="0"/>
                </a:rPr>
                <a:t> AS (expression)</a:t>
              </a:r>
            </a:p>
            <a:p>
              <a:pPr>
                <a:spcBef>
                  <a:spcPct val="0"/>
                </a:spcBef>
                <a:buFontTx/>
                <a:buNone/>
              </a:pPr>
              <a:r>
                <a:rPr lang="en-US" altLang="en-US" sz="1800" b="1" dirty="0">
                  <a:solidFill>
                    <a:srgbClr val="000000"/>
                  </a:solidFill>
                  <a:latin typeface="Courier New" panose="02070309020205020404" pitchFamily="49" charset="0"/>
                </a:rPr>
                <a:t>);	</a:t>
              </a:r>
            </a:p>
          </p:txBody>
        </p:sp>
      </p:grpSp>
      <p:grpSp>
        <p:nvGrpSpPr>
          <p:cNvPr id="57349" name="Group 6">
            <a:extLst>
              <a:ext uri="{FF2B5EF4-FFF2-40B4-BE49-F238E27FC236}">
                <a16:creationId xmlns:a16="http://schemas.microsoft.com/office/drawing/2014/main" id="{80DD5501-72F0-A171-9D06-3A517CBC83C7}"/>
              </a:ext>
            </a:extLst>
          </p:cNvPr>
          <p:cNvGrpSpPr>
            <a:grpSpLocks/>
          </p:cNvGrpSpPr>
          <p:nvPr/>
        </p:nvGrpSpPr>
        <p:grpSpPr bwMode="auto">
          <a:xfrm>
            <a:off x="684213" y="3645049"/>
            <a:ext cx="7737475" cy="2517775"/>
            <a:chOff x="622" y="1831"/>
            <a:chExt cx="4874" cy="4249"/>
          </a:xfrm>
        </p:grpSpPr>
        <p:sp>
          <p:nvSpPr>
            <p:cNvPr id="57350" name="Rectangle 7">
              <a:extLst>
                <a:ext uri="{FF2B5EF4-FFF2-40B4-BE49-F238E27FC236}">
                  <a16:creationId xmlns:a16="http://schemas.microsoft.com/office/drawing/2014/main" id="{FF2E3D72-1C09-2780-A32C-782681A7143E}"/>
                </a:ext>
              </a:extLst>
            </p:cNvPr>
            <p:cNvSpPr>
              <a:spLocks noChangeArrowheads="1"/>
            </p:cNvSpPr>
            <p:nvPr/>
          </p:nvSpPr>
          <p:spPr bwMode="blackWhite">
            <a:xfrm>
              <a:off x="622" y="1831"/>
              <a:ext cx="4754" cy="424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7351" name="Rectangle 8">
              <a:extLst>
                <a:ext uri="{FF2B5EF4-FFF2-40B4-BE49-F238E27FC236}">
                  <a16:creationId xmlns:a16="http://schemas.microsoft.com/office/drawing/2014/main" id="{003F953C-C215-0DD7-1146-41ED4EDCE91D}"/>
                </a:ext>
              </a:extLst>
            </p:cNvPr>
            <p:cNvSpPr>
              <a:spLocks noChangeArrowheads="1"/>
            </p:cNvSpPr>
            <p:nvPr/>
          </p:nvSpPr>
          <p:spPr bwMode="blackWhite">
            <a:xfrm>
              <a:off x="698" y="2071"/>
              <a:ext cx="4798" cy="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table_name(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description AS (</a:t>
              </a:r>
            </a:p>
            <a:p>
              <a:pPr>
                <a:spcBef>
                  <a:spcPct val="0"/>
                </a:spcBef>
                <a:buFontTx/>
                <a:buNone/>
              </a:pPr>
              <a:r>
                <a:rPr lang="en-US" altLang="en-US" sz="1800" b="1">
                  <a:solidFill>
                    <a:srgbClr val="000000"/>
                  </a:solidFill>
                  <a:latin typeface="Courier New" panose="02070309020205020404" pitchFamily="49" charset="0"/>
                </a:rPr>
                <a:t>CASE </a:t>
              </a:r>
            </a:p>
            <a:p>
              <a:pPr>
                <a:spcBef>
                  <a:spcPct val="0"/>
                </a:spcBef>
                <a:buFontTx/>
                <a:buNone/>
              </a:pPr>
              <a:r>
                <a:rPr lang="en-US" altLang="en-US" sz="1800" b="1">
                  <a:solidFill>
                    <a:srgbClr val="000000"/>
                  </a:solidFill>
                  <a:latin typeface="Courier New" panose="02070309020205020404" pitchFamily="49" charset="0"/>
                </a:rPr>
                <a:t>	WHEN sal&lt;1000 THEN ‘Low’</a:t>
              </a:r>
            </a:p>
            <a:p>
              <a:pPr>
                <a:spcBef>
                  <a:spcPct val="0"/>
                </a:spcBef>
                <a:buFontTx/>
                <a:buNone/>
              </a:pPr>
              <a:r>
                <a:rPr lang="en-US" altLang="en-US" sz="1800" b="1">
                  <a:solidFill>
                    <a:srgbClr val="000000"/>
                  </a:solidFill>
                  <a:latin typeface="Courier New" panose="02070309020205020404" pitchFamily="49" charset="0"/>
                </a:rPr>
                <a:t>	WHEN sal&gt;=1000 AND sal&lt;2000 THEN ‘Average’)</a:t>
              </a:r>
            </a:p>
            <a:p>
              <a:pPr>
                <a:spcBef>
                  <a:spcPct val="0"/>
                </a:spcBef>
                <a:buFontTx/>
                <a:buNone/>
              </a:pPr>
              <a:r>
                <a:rPr lang="en-US" altLang="en-US" sz="1800" b="1">
                  <a:solidFill>
                    <a:srgbClr val="000000"/>
                  </a:solidFill>
                  <a:latin typeface="Courier New" panose="02070309020205020404" pitchFamily="49" charset="0"/>
                </a:rPr>
                <a:t>	WHEN sal&gt;=2000 THEN ‘High’</a:t>
              </a:r>
            </a:p>
            <a:p>
              <a:pPr>
                <a:spcBef>
                  <a:spcPct val="0"/>
                </a:spcBef>
                <a:buFontTx/>
                <a:buNone/>
              </a:pPr>
              <a:r>
                <a:rPr lang="en-US" altLang="en-US" sz="1800" b="1">
                  <a:solidFill>
                    <a:srgbClr val="000000"/>
                  </a:solidFill>
                  <a:latin typeface="Courier New" panose="02070309020205020404" pitchFamily="49" charset="0"/>
                </a:rPr>
                <a:t>END)</a:t>
              </a:r>
            </a:p>
            <a:p>
              <a:pPr>
                <a:spcBef>
                  <a:spcPct val="0"/>
                </a:spcBef>
                <a:buFontTx/>
                <a:buNone/>
              </a:pPr>
              <a:r>
                <a:rPr lang="en-US" altLang="en-US" sz="1800" b="1">
                  <a:solidFill>
                    <a:srgbClr val="000000"/>
                  </a:solidFill>
                  <a:latin typeface="Courier New" panose="02070309020205020404" pitchFamily="49" charset="0"/>
                </a:rPr>
                <a:t>);	</a:t>
              </a:r>
            </a:p>
          </p:txBody>
        </p:sp>
      </p:grpSp>
      <p:sp>
        <p:nvSpPr>
          <p:cNvPr id="3" name="Rectangle 7">
            <a:extLst>
              <a:ext uri="{FF2B5EF4-FFF2-40B4-BE49-F238E27FC236}">
                <a16:creationId xmlns:a16="http://schemas.microsoft.com/office/drawing/2014/main" id="{CD1D0278-6EA5-BB34-84C2-77BC3866443A}"/>
              </a:ext>
            </a:extLst>
          </p:cNvPr>
          <p:cNvSpPr txBox="1">
            <a:spLocks noChangeArrowheads="1"/>
          </p:cNvSpPr>
          <p:nvPr/>
        </p:nvSpPr>
        <p:spPr bwMode="auto">
          <a:xfrm>
            <a:off x="427712" y="855314"/>
            <a:ext cx="7957319" cy="89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Virtual column aka derived column refers to other columns of the table. </a:t>
            </a:r>
          </a:p>
        </p:txBody>
      </p:sp>
      <p:sp>
        <p:nvSpPr>
          <p:cNvPr id="5" name="Slide Number Placeholder 23">
            <a:extLst>
              <a:ext uri="{FF2B5EF4-FFF2-40B4-BE49-F238E27FC236}">
                <a16:creationId xmlns:a16="http://schemas.microsoft.com/office/drawing/2014/main" id="{C2A4CCFA-1AC5-930D-D489-C4F6E95F8D7F}"/>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6" name="Footer Placeholder 2">
            <a:extLst>
              <a:ext uri="{FF2B5EF4-FFF2-40B4-BE49-F238E27FC236}">
                <a16:creationId xmlns:a16="http://schemas.microsoft.com/office/drawing/2014/main" id="{C78292F0-8315-C2A1-70B8-B15869A9D69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427159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CF7B-3F52-4468-97CF-8F1721BD8B2F}"/>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AD177D95-2552-E83F-9A26-4BAEE1967275}"/>
              </a:ext>
            </a:extLst>
          </p:cNvPr>
          <p:cNvSpPr>
            <a:spLocks noGrp="1" noChangeArrowheads="1"/>
          </p:cNvSpPr>
          <p:nvPr>
            <p:ph type="title"/>
          </p:nvPr>
        </p:nvSpPr>
        <p:spPr>
          <a:xfrm>
            <a:off x="539552" y="228129"/>
            <a:ext cx="799288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Creating a Table by Using a Subquery</a:t>
            </a:r>
            <a:endParaRPr lang="en-US" altLang="en-US" sz="2800" dirty="0">
              <a:solidFill>
                <a:srgbClr val="800000"/>
              </a:solidFill>
            </a:endParaRPr>
          </a:p>
        </p:txBody>
      </p:sp>
      <p:sp>
        <p:nvSpPr>
          <p:cNvPr id="3" name="TextBox 2">
            <a:extLst>
              <a:ext uri="{FF2B5EF4-FFF2-40B4-BE49-F238E27FC236}">
                <a16:creationId xmlns:a16="http://schemas.microsoft.com/office/drawing/2014/main" id="{7C2DDE07-7B9B-BB39-703C-39C48B0469BF}"/>
              </a:ext>
            </a:extLst>
          </p:cNvPr>
          <p:cNvSpPr txBox="1"/>
          <p:nvPr/>
        </p:nvSpPr>
        <p:spPr>
          <a:xfrm>
            <a:off x="611560" y="829469"/>
            <a:ext cx="7505699" cy="907941"/>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CREATE TABLE </a:t>
            </a:r>
            <a:r>
              <a:rPr lang="en-US" dirty="0" err="1">
                <a:latin typeface="Cambria" panose="02040503050406030204" pitchFamily="18" charset="0"/>
                <a:ea typeface="Cambria" panose="02040503050406030204" pitchFamily="18" charset="0"/>
              </a:rPr>
              <a:t>table</a:t>
            </a:r>
            <a:r>
              <a:rPr lang="en-US" dirty="0">
                <a:latin typeface="Cambria" panose="02040503050406030204" pitchFamily="18" charset="0"/>
                <a:ea typeface="Cambria" panose="02040503050406030204" pitchFamily="18" charset="0"/>
              </a:rPr>
              <a:t>  </a:t>
            </a:r>
            <a:r>
              <a:rPr lang="en-US" dirty="0">
                <a:solidFill>
                  <a:srgbClr val="0000FF"/>
                </a:solidFill>
                <a:latin typeface="Cambria" panose="02040503050406030204" pitchFamily="18" charset="0"/>
                <a:ea typeface="Cambria" panose="02040503050406030204" pitchFamily="18" charset="0"/>
              </a:rPr>
              <a:t>[(column, column...)]</a:t>
            </a:r>
          </a:p>
          <a:p>
            <a:pPr>
              <a:spcBef>
                <a:spcPts val="600"/>
              </a:spcBef>
              <a:spcAft>
                <a:spcPts val="0"/>
              </a:spcAft>
            </a:pPr>
            <a:r>
              <a:rPr lang="en-US" dirty="0">
                <a:solidFill>
                  <a:srgbClr val="FF0000"/>
                </a:solidFill>
                <a:latin typeface="Cambria" panose="02040503050406030204" pitchFamily="18" charset="0"/>
                <a:ea typeface="Cambria" panose="02040503050406030204" pitchFamily="18" charset="0"/>
              </a:rPr>
              <a:t>AS subquery;</a:t>
            </a:r>
          </a:p>
        </p:txBody>
      </p:sp>
      <p:sp>
        <p:nvSpPr>
          <p:cNvPr id="4" name="Slide Number Placeholder 23">
            <a:extLst>
              <a:ext uri="{FF2B5EF4-FFF2-40B4-BE49-F238E27FC236}">
                <a16:creationId xmlns:a16="http://schemas.microsoft.com/office/drawing/2014/main" id="{E92A630A-41AD-69F7-4205-D1790D93CC1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B61B7EB4-D296-0000-5F94-0285C2EC433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7">
            <a:extLst>
              <a:ext uri="{FF2B5EF4-FFF2-40B4-BE49-F238E27FC236}">
                <a16:creationId xmlns:a16="http://schemas.microsoft.com/office/drawing/2014/main" id="{F4BC1783-25B1-DEC5-08BE-7944FD4C21E7}"/>
              </a:ext>
            </a:extLst>
          </p:cNvPr>
          <p:cNvSpPr txBox="1">
            <a:spLocks noChangeArrowheads="1"/>
          </p:cNvSpPr>
          <p:nvPr/>
        </p:nvSpPr>
        <p:spPr bwMode="auto">
          <a:xfrm>
            <a:off x="539552" y="1772816"/>
            <a:ext cx="7957319" cy="1239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spcBef>
                <a:spcPts val="300"/>
              </a:spcBef>
            </a:pPr>
            <a:r>
              <a:rPr lang="en-US" altLang="en-US" sz="2400" dirty="0">
                <a:latin typeface="Cambria" panose="02040503050406030204" pitchFamily="18" charset="0"/>
                <a:ea typeface="Cambria" panose="02040503050406030204" pitchFamily="18" charset="0"/>
              </a:rPr>
              <a:t>Match the number of specified columns to the number of subquery columns.</a:t>
            </a:r>
          </a:p>
          <a:p>
            <a:pPr>
              <a:spcBef>
                <a:spcPts val="300"/>
              </a:spcBef>
            </a:pPr>
            <a:r>
              <a:rPr lang="en-US" altLang="en-US" sz="2400" dirty="0">
                <a:latin typeface="Cambria" panose="02040503050406030204" pitchFamily="18" charset="0"/>
                <a:ea typeface="Cambria" panose="02040503050406030204" pitchFamily="18" charset="0"/>
              </a:rPr>
              <a:t>The column names of the new table may be updated. </a:t>
            </a:r>
          </a:p>
        </p:txBody>
      </p:sp>
      <p:sp>
        <p:nvSpPr>
          <p:cNvPr id="7" name="Rectangle 7">
            <a:extLst>
              <a:ext uri="{FF2B5EF4-FFF2-40B4-BE49-F238E27FC236}">
                <a16:creationId xmlns:a16="http://schemas.microsoft.com/office/drawing/2014/main" id="{FF036AF2-F53F-D83D-CBAE-7F9154361C29}"/>
              </a:ext>
            </a:extLst>
          </p:cNvPr>
          <p:cNvSpPr txBox="1">
            <a:spLocks noChangeArrowheads="1"/>
          </p:cNvSpPr>
          <p:nvPr/>
        </p:nvSpPr>
        <p:spPr bwMode="auto">
          <a:xfrm>
            <a:off x="539552" y="4973625"/>
            <a:ext cx="7957319"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spcBef>
                <a:spcPts val="300"/>
              </a:spcBef>
            </a:pPr>
            <a:r>
              <a:rPr lang="en-US" altLang="en-US" sz="2400" dirty="0">
                <a:latin typeface="Cambria" panose="02040503050406030204" pitchFamily="18" charset="0"/>
                <a:ea typeface="Cambria" panose="02040503050406030204" pitchFamily="18" charset="0"/>
              </a:rPr>
              <a:t>To create new table without populating it with the data in the existing table, use the following:</a:t>
            </a:r>
          </a:p>
        </p:txBody>
      </p:sp>
      <p:sp>
        <p:nvSpPr>
          <p:cNvPr id="8" name="Rectangle 3">
            <a:extLst>
              <a:ext uri="{FF2B5EF4-FFF2-40B4-BE49-F238E27FC236}">
                <a16:creationId xmlns:a16="http://schemas.microsoft.com/office/drawing/2014/main" id="{A40DC596-6DD0-F388-5973-2829B256FFD5}"/>
              </a:ext>
            </a:extLst>
          </p:cNvPr>
          <p:cNvSpPr txBox="1">
            <a:spLocks noChangeArrowheads="1"/>
          </p:cNvSpPr>
          <p:nvPr/>
        </p:nvSpPr>
        <p:spPr bwMode="blackWhite">
          <a:xfrm>
            <a:off x="912813" y="3081660"/>
            <a:ext cx="7512050" cy="1739900"/>
          </a:xfrm>
          <a:prstGeom prst="rect">
            <a:avLst/>
          </a:prstGeom>
          <a:solidFill>
            <a:srgbClr val="FFFFCC"/>
          </a:solidFill>
          <a:ln w="25400" cap="flat">
            <a:solidFill>
              <a:srgbClr val="000000"/>
            </a:solidFill>
            <a:miter lim="800000"/>
            <a:headEnd/>
            <a:tailEnd/>
          </a:ln>
          <a:effectLst>
            <a:outerShdw dist="89803" dir="2700000" algn="ctr" rotWithShape="0">
              <a:srgbClr val="000000">
                <a:alpha val="50000"/>
              </a:srgbClr>
            </a:outerShdw>
          </a:effectLst>
        </p:spPr>
        <p:txBody>
          <a:bodyPr vert="horz" wrap="none" lIns="92075" tIns="46038" rIns="92075" bIns="46038" numCol="1" anchor="ctr"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p:txBody>
      </p:sp>
      <p:sp>
        <p:nvSpPr>
          <p:cNvPr id="9" name="Rectangle 7">
            <a:extLst>
              <a:ext uri="{FF2B5EF4-FFF2-40B4-BE49-F238E27FC236}">
                <a16:creationId xmlns:a16="http://schemas.microsoft.com/office/drawing/2014/main" id="{AB4D4431-52BC-D5B3-7DC4-C9E207925293}"/>
              </a:ext>
            </a:extLst>
          </p:cNvPr>
          <p:cNvSpPr>
            <a:spLocks noChangeArrowheads="1"/>
          </p:cNvSpPr>
          <p:nvPr/>
        </p:nvSpPr>
        <p:spPr bwMode="auto">
          <a:xfrm>
            <a:off x="1905000" y="3659510"/>
            <a:ext cx="5832475" cy="846137"/>
          </a:xfrm>
          <a:prstGeom prst="rect">
            <a:avLst/>
          </a:prstGeom>
          <a:gradFill rotWithShape="0">
            <a:gsLst>
              <a:gs pos="0">
                <a:srgbClr val="FF9966"/>
              </a:gs>
              <a:gs pos="100000">
                <a:srgbClr val="FF996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Rectangle 8">
            <a:extLst>
              <a:ext uri="{FF2B5EF4-FFF2-40B4-BE49-F238E27FC236}">
                <a16:creationId xmlns:a16="http://schemas.microsoft.com/office/drawing/2014/main" id="{FEC7366D-34BB-B14E-9046-4FCAB86B9421}"/>
              </a:ext>
            </a:extLst>
          </p:cNvPr>
          <p:cNvSpPr>
            <a:spLocks noChangeArrowheads="1"/>
          </p:cNvSpPr>
          <p:nvPr/>
        </p:nvSpPr>
        <p:spPr bwMode="blackWhite">
          <a:xfrm>
            <a:off x="922338" y="3068960"/>
            <a:ext cx="6805612" cy="1765300"/>
          </a:xfrm>
          <a:prstGeom prst="rect">
            <a:avLst/>
          </a:prstGeom>
          <a:noFill/>
          <a:ln w="9525">
            <a:noFill/>
            <a:miter lim="800000"/>
            <a:headEnd/>
            <a:tailEnd/>
          </a:ln>
          <a:effectLst/>
        </p:spPr>
        <p:txBody>
          <a:bodyPr wrap="none" lIns="92075" tIns="46038" rIns="92075" bIns="46038" anchor="ctr"/>
          <a:lstStyle/>
          <a:p>
            <a:pPr>
              <a:tabLst>
                <a:tab pos="692150" algn="l"/>
                <a:tab pos="971550" algn="l"/>
              </a:tabLst>
              <a:defRPr/>
            </a:pPr>
            <a:r>
              <a:rPr lang="en-US" sz="1800" b="1" dirty="0">
                <a:solidFill>
                  <a:srgbClr val="000000"/>
                </a:solidFill>
                <a:latin typeface="Courier New" pitchFamily="49" charset="0"/>
              </a:rPr>
              <a:t>SQL&gt; CREATE TABLE 	dept30</a:t>
            </a:r>
          </a:p>
          <a:p>
            <a:pPr>
              <a:tabLst>
                <a:tab pos="692150" algn="l"/>
                <a:tab pos="971550" algn="l"/>
              </a:tabLst>
              <a:defRPr/>
            </a:pPr>
            <a:r>
              <a:rPr lang="en-US" sz="1800" b="1" dirty="0">
                <a:solidFill>
                  <a:srgbClr val="000000"/>
                </a:solidFill>
                <a:latin typeface="Courier New" pitchFamily="49" charset="0"/>
              </a:rPr>
              <a:t>  2	AS </a:t>
            </a:r>
            <a:br>
              <a:rPr lang="en-US" sz="1800" b="1" dirty="0">
                <a:solidFill>
                  <a:srgbClr val="000000"/>
                </a:solidFill>
                <a:latin typeface="Courier New" pitchFamily="49" charset="0"/>
              </a:rPr>
            </a:br>
            <a:r>
              <a:rPr lang="en-US" sz="1800" b="1" dirty="0">
                <a:solidFill>
                  <a:srgbClr val="000000"/>
                </a:solidFill>
                <a:latin typeface="Courier New" pitchFamily="49" charset="0"/>
              </a:rPr>
              <a:t>  3		SELECT	   </a:t>
            </a:r>
            <a:r>
              <a:rPr lang="en-US" sz="1800" b="1" dirty="0" err="1">
                <a:solidFill>
                  <a:srgbClr val="000000"/>
                </a:solidFill>
                <a:latin typeface="Courier New" pitchFamily="49" charset="0"/>
              </a:rPr>
              <a:t>empno</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ename</a:t>
            </a:r>
            <a:r>
              <a:rPr lang="en-US" sz="1800" b="1" dirty="0">
                <a:solidFill>
                  <a:srgbClr val="000000"/>
                </a:solidFill>
                <a:latin typeface="Courier New" pitchFamily="49" charset="0"/>
              </a:rPr>
              <a:t>, job,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hiredate</a:t>
            </a:r>
            <a:br>
              <a:rPr lang="en-US" sz="1800" b="1" dirty="0">
                <a:solidFill>
                  <a:srgbClr val="000000"/>
                </a:solidFill>
                <a:latin typeface="Courier New" pitchFamily="49" charset="0"/>
              </a:rPr>
            </a:br>
            <a:r>
              <a:rPr lang="en-US" sz="1800" b="1" dirty="0">
                <a:solidFill>
                  <a:srgbClr val="000000"/>
                </a:solidFill>
                <a:latin typeface="Courier New" pitchFamily="49" charset="0"/>
              </a:rPr>
              <a:t>  4		FROM	   emp</a:t>
            </a:r>
            <a:br>
              <a:rPr lang="en-US" sz="1800" b="1" dirty="0">
                <a:solidFill>
                  <a:srgbClr val="000000"/>
                </a:solidFill>
                <a:latin typeface="Courier New" pitchFamily="49" charset="0"/>
              </a:rPr>
            </a:br>
            <a:r>
              <a:rPr lang="en-US" sz="1800" b="1" dirty="0">
                <a:solidFill>
                  <a:srgbClr val="000000"/>
                </a:solidFill>
                <a:latin typeface="Courier New" pitchFamily="49" charset="0"/>
              </a:rPr>
              <a:t>  5		WHERE	   </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 = 30;</a:t>
            </a:r>
          </a:p>
          <a:p>
            <a:pPr>
              <a:tabLst>
                <a:tab pos="692150" algn="l"/>
                <a:tab pos="971550" algn="l"/>
              </a:tabLst>
              <a:defRPr/>
            </a:pPr>
            <a:r>
              <a:rPr lang="en-US" sz="1800" b="1" dirty="0">
                <a:solidFill>
                  <a:srgbClr val="FF3300"/>
                </a:solidFill>
                <a:effectLst>
                  <a:outerShdw blurRad="38100" dist="38100" dir="2700000" algn="tl">
                    <a:srgbClr val="000000"/>
                  </a:outerShdw>
                </a:effectLst>
                <a:latin typeface="Courier New" pitchFamily="49" charset="0"/>
              </a:rPr>
              <a:t>Table created.</a:t>
            </a:r>
          </a:p>
        </p:txBody>
      </p:sp>
      <p:sp>
        <p:nvSpPr>
          <p:cNvPr id="11" name="Rectangle 4">
            <a:extLst>
              <a:ext uri="{FF2B5EF4-FFF2-40B4-BE49-F238E27FC236}">
                <a16:creationId xmlns:a16="http://schemas.microsoft.com/office/drawing/2014/main" id="{D00FE9A5-587E-007A-8961-6BB6F1D64F0A}"/>
              </a:ext>
            </a:extLst>
          </p:cNvPr>
          <p:cNvSpPr>
            <a:spLocks noChangeArrowheads="1"/>
          </p:cNvSpPr>
          <p:nvPr/>
        </p:nvSpPr>
        <p:spPr bwMode="blackWhite">
          <a:xfrm>
            <a:off x="877888" y="5830664"/>
            <a:ext cx="7510462"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2" name="Rectangle 5">
            <a:extLst>
              <a:ext uri="{FF2B5EF4-FFF2-40B4-BE49-F238E27FC236}">
                <a16:creationId xmlns:a16="http://schemas.microsoft.com/office/drawing/2014/main" id="{16E772A0-9DFB-7B0A-F090-132C93F65A3E}"/>
              </a:ext>
            </a:extLst>
          </p:cNvPr>
          <p:cNvSpPr>
            <a:spLocks noChangeArrowheads="1"/>
          </p:cNvSpPr>
          <p:nvPr/>
        </p:nvSpPr>
        <p:spPr bwMode="blackWhite">
          <a:xfrm>
            <a:off x="895350" y="5805264"/>
            <a:ext cx="693737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CREATE TABLE </a:t>
            </a:r>
            <a:r>
              <a:rPr lang="en-US" altLang="en-US" sz="1800" b="1" i="1" dirty="0" err="1">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AS </a:t>
            </a:r>
            <a:r>
              <a:rPr lang="en-US" altLang="en-US" sz="1800" b="1" i="1" dirty="0">
                <a:solidFill>
                  <a:srgbClr val="000000"/>
                </a:solidFill>
                <a:latin typeface="Courier New" panose="02070309020205020404" pitchFamily="49" charset="0"/>
              </a:rPr>
              <a:t>subquery </a:t>
            </a:r>
            <a:r>
              <a:rPr lang="en-US" altLang="en-US" sz="1800" b="1" i="1" dirty="0">
                <a:solidFill>
                  <a:srgbClr val="0000FF"/>
                </a:solidFill>
                <a:latin typeface="Courier New" panose="02070309020205020404" pitchFamily="49" charset="0"/>
              </a:rPr>
              <a:t>WHERE 1=2</a:t>
            </a:r>
            <a:r>
              <a:rPr lang="en-US" altLang="en-US" sz="1800" b="1" dirty="0">
                <a:solidFill>
                  <a:srgbClr val="0000FF"/>
                </a:solidFill>
                <a:latin typeface="Courier New" panose="02070309020205020404" pitchFamily="49" charset="0"/>
              </a:rPr>
              <a:t>;</a:t>
            </a:r>
          </a:p>
        </p:txBody>
      </p:sp>
    </p:spTree>
    <p:extLst>
      <p:ext uri="{BB962C8B-B14F-4D97-AF65-F5344CB8AC3E}">
        <p14:creationId xmlns:p14="http://schemas.microsoft.com/office/powerpoint/2010/main" val="2099303722"/>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0CE8F-3F73-D99C-E045-8AADACF46A1B}"/>
            </a:ext>
          </a:extLst>
        </p:cNvPr>
        <p:cNvGrpSpPr/>
        <p:nvPr/>
      </p:nvGrpSpPr>
      <p:grpSpPr>
        <a:xfrm>
          <a:off x="0" y="0"/>
          <a:ext cx="0" cy="0"/>
          <a:chOff x="0" y="0"/>
          <a:chExt cx="0" cy="0"/>
        </a:xfrm>
      </p:grpSpPr>
      <p:sp>
        <p:nvSpPr>
          <p:cNvPr id="63490" name="Rectangle 2">
            <a:extLst>
              <a:ext uri="{FF2B5EF4-FFF2-40B4-BE49-F238E27FC236}">
                <a16:creationId xmlns:a16="http://schemas.microsoft.com/office/drawing/2014/main" id="{633AAD85-B5A9-387B-C849-D4075A74BF7B}"/>
              </a:ext>
            </a:extLst>
          </p:cNvPr>
          <p:cNvSpPr>
            <a:spLocks noGrp="1" noChangeArrowheads="1"/>
          </p:cNvSpPr>
          <p:nvPr>
            <p:ph type="title"/>
          </p:nvPr>
        </p:nvSpPr>
        <p:spPr>
          <a:xfrm>
            <a:off x="395536" y="260648"/>
            <a:ext cx="7127875" cy="576263"/>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Creating a Small Database (Exercise)</a:t>
            </a:r>
          </a:p>
        </p:txBody>
      </p:sp>
      <p:graphicFrame>
        <p:nvGraphicFramePr>
          <p:cNvPr id="4" name="Table 3">
            <a:extLst>
              <a:ext uri="{FF2B5EF4-FFF2-40B4-BE49-F238E27FC236}">
                <a16:creationId xmlns:a16="http://schemas.microsoft.com/office/drawing/2014/main" id="{1A6E98C9-7A9D-694E-3128-B62DE60E2F13}"/>
              </a:ext>
            </a:extLst>
          </p:cNvPr>
          <p:cNvGraphicFramePr>
            <a:graphicFrameLocks noGrp="1"/>
          </p:cNvGraphicFramePr>
          <p:nvPr>
            <p:extLst>
              <p:ext uri="{D42A27DB-BD31-4B8C-83A1-F6EECF244321}">
                <p14:modId xmlns:p14="http://schemas.microsoft.com/office/powerpoint/2010/main" val="858372570"/>
              </p:ext>
            </p:extLst>
          </p:nvPr>
        </p:nvGraphicFramePr>
        <p:xfrm>
          <a:off x="1907704" y="908720"/>
          <a:ext cx="4681538" cy="1828800"/>
        </p:xfrm>
        <a:graphic>
          <a:graphicData uri="http://schemas.openxmlformats.org/drawingml/2006/table">
            <a:tbl>
              <a:tblPr/>
              <a:tblGrid>
                <a:gridCol w="1554818">
                  <a:extLst>
                    <a:ext uri="{9D8B030D-6E8A-4147-A177-3AD203B41FA5}">
                      <a16:colId xmlns:a16="http://schemas.microsoft.com/office/drawing/2014/main" val="20000"/>
                    </a:ext>
                  </a:extLst>
                </a:gridCol>
                <a:gridCol w="3126720">
                  <a:extLst>
                    <a:ext uri="{9D8B030D-6E8A-4147-A177-3AD203B41FA5}">
                      <a16:colId xmlns:a16="http://schemas.microsoft.com/office/drawing/2014/main" val="20001"/>
                    </a:ext>
                  </a:extLst>
                </a:gridCol>
              </a:tblGrid>
              <a:tr h="274373">
                <a:tc gridSpan="2">
                  <a:txBody>
                    <a:bodyPr/>
                    <a:lstStyle/>
                    <a:p>
                      <a:pPr marL="0" marR="0" algn="ctr">
                        <a:spcBef>
                          <a:spcPts val="0"/>
                        </a:spcBef>
                        <a:spcAft>
                          <a:spcPts val="0"/>
                        </a:spcAft>
                      </a:pPr>
                      <a:r>
                        <a:rPr lang="en-US" sz="2000" b="1" dirty="0">
                          <a:solidFill>
                            <a:srgbClr val="FF0000"/>
                          </a:solidFill>
                          <a:effectLst/>
                          <a:latin typeface="Cambria" panose="02040503050406030204" pitchFamily="18" charset="0"/>
                          <a:ea typeface="Cambria" panose="02040503050406030204" pitchFamily="18" charset="0"/>
                          <a:cs typeface="Times New Roman"/>
                        </a:rPr>
                        <a:t>Table Name: Student</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373">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Col Name</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Constraints</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73">
                <a:tc>
                  <a:txBody>
                    <a:bodyPr/>
                    <a:lstStyle/>
                    <a:p>
                      <a:pPr marL="0" marR="0">
                        <a:spcBef>
                          <a:spcPts val="0"/>
                        </a:spcBef>
                        <a:spcAft>
                          <a:spcPts val="0"/>
                        </a:spcAft>
                      </a:pPr>
                      <a:r>
                        <a:rPr lang="en-US" sz="2000" dirty="0" err="1">
                          <a:effectLst/>
                          <a:latin typeface="Cambria" panose="02040503050406030204" pitchFamily="18" charset="0"/>
                          <a:ea typeface="Cambria" panose="02040503050406030204" pitchFamily="18" charset="0"/>
                          <a:cs typeface="Times New Roman"/>
                        </a:rPr>
                        <a:t>RegNo</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Primary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73">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SName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Not Null</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373">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Program </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Can be ‘BS’, ‘BBA’, or ‘BA’</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373">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NIC</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Unique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0921D4C0-A09A-2FC7-6E63-1611608062F6}"/>
              </a:ext>
            </a:extLst>
          </p:cNvPr>
          <p:cNvGraphicFramePr>
            <a:graphicFrameLocks noGrp="1"/>
          </p:cNvGraphicFramePr>
          <p:nvPr>
            <p:extLst>
              <p:ext uri="{D42A27DB-BD31-4B8C-83A1-F6EECF244321}">
                <p14:modId xmlns:p14="http://schemas.microsoft.com/office/powerpoint/2010/main" val="3609777069"/>
              </p:ext>
            </p:extLst>
          </p:nvPr>
        </p:nvGraphicFramePr>
        <p:xfrm>
          <a:off x="1907704" y="2968254"/>
          <a:ext cx="4681538" cy="1524000"/>
        </p:xfrm>
        <a:graphic>
          <a:graphicData uri="http://schemas.openxmlformats.org/drawingml/2006/table">
            <a:tbl>
              <a:tblPr/>
              <a:tblGrid>
                <a:gridCol w="1554818">
                  <a:extLst>
                    <a:ext uri="{9D8B030D-6E8A-4147-A177-3AD203B41FA5}">
                      <a16:colId xmlns:a16="http://schemas.microsoft.com/office/drawing/2014/main" val="20000"/>
                    </a:ext>
                  </a:extLst>
                </a:gridCol>
                <a:gridCol w="3126720">
                  <a:extLst>
                    <a:ext uri="{9D8B030D-6E8A-4147-A177-3AD203B41FA5}">
                      <a16:colId xmlns:a16="http://schemas.microsoft.com/office/drawing/2014/main" val="20001"/>
                    </a:ext>
                  </a:extLst>
                </a:gridCol>
              </a:tblGrid>
              <a:tr h="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0000"/>
                          </a:solidFill>
                          <a:effectLst/>
                          <a:latin typeface="Cambria" panose="02040503050406030204" pitchFamily="18" charset="0"/>
                          <a:ea typeface="Cambria" panose="02040503050406030204" pitchFamily="18" charset="0"/>
                          <a:cs typeface="Times New Roman"/>
                        </a:rPr>
                        <a:t>Table Name: Course</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Col Name</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Constraints</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CourseCode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Primary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spcBef>
                          <a:spcPts val="0"/>
                        </a:spcBef>
                        <a:spcAft>
                          <a:spcPts val="0"/>
                        </a:spcAft>
                      </a:pPr>
                      <a:r>
                        <a:rPr lang="en-US" sz="2000" dirty="0" err="1">
                          <a:effectLst/>
                          <a:latin typeface="Cambria" panose="02040503050406030204" pitchFamily="18" charset="0"/>
                          <a:ea typeface="Cambria" panose="02040503050406030204" pitchFamily="18" charset="0"/>
                          <a:cs typeface="Times New Roman"/>
                        </a:rPr>
                        <a:t>CourseTitle</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Not Null</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CreditHours</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Can be either 3 or 4</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3F1A4E21-837B-BDD3-9C0E-E4AC199193C2}"/>
              </a:ext>
            </a:extLst>
          </p:cNvPr>
          <p:cNvGraphicFramePr>
            <a:graphicFrameLocks noGrp="1"/>
          </p:cNvGraphicFramePr>
          <p:nvPr>
            <p:extLst>
              <p:ext uri="{D42A27DB-BD31-4B8C-83A1-F6EECF244321}">
                <p14:modId xmlns:p14="http://schemas.microsoft.com/office/powerpoint/2010/main" val="2305259270"/>
              </p:ext>
            </p:extLst>
          </p:nvPr>
        </p:nvGraphicFramePr>
        <p:xfrm>
          <a:off x="1907704" y="4713312"/>
          <a:ext cx="4824884" cy="1524000"/>
        </p:xfrm>
        <a:graphic>
          <a:graphicData uri="http://schemas.openxmlformats.org/drawingml/2006/table">
            <a:tbl>
              <a:tblPr/>
              <a:tblGrid>
                <a:gridCol w="1602426">
                  <a:extLst>
                    <a:ext uri="{9D8B030D-6E8A-4147-A177-3AD203B41FA5}">
                      <a16:colId xmlns:a16="http://schemas.microsoft.com/office/drawing/2014/main" val="20000"/>
                    </a:ext>
                  </a:extLst>
                </a:gridCol>
                <a:gridCol w="3222458">
                  <a:extLst>
                    <a:ext uri="{9D8B030D-6E8A-4147-A177-3AD203B41FA5}">
                      <a16:colId xmlns:a16="http://schemas.microsoft.com/office/drawing/2014/main" val="20001"/>
                    </a:ext>
                  </a:extLst>
                </a:gridCol>
              </a:tblGrid>
              <a:tr h="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0000"/>
                          </a:solidFill>
                          <a:effectLst/>
                          <a:latin typeface="Cambria" panose="02040503050406030204" pitchFamily="18" charset="0"/>
                          <a:ea typeface="Cambria" panose="02040503050406030204" pitchFamily="18" charset="0"/>
                          <a:cs typeface="Times New Roman"/>
                        </a:rPr>
                        <a:t>Table Name: Result</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Col Name</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Cambria" panose="02040503050406030204" pitchFamily="18" charset="0"/>
                          <a:ea typeface="Cambria" panose="02040503050406030204" pitchFamily="18" charset="0"/>
                          <a:cs typeface="Times New Roman"/>
                        </a:rPr>
                        <a:t>Constraints</a:t>
                      </a:r>
                      <a:endParaRPr lang="en-US" sz="2000" dirty="0">
                        <a:effectLst/>
                        <a:latin typeface="Cambria" panose="02040503050406030204" pitchFamily="18" charset="0"/>
                        <a:ea typeface="Cambria" panose="02040503050406030204" pitchFamily="18" charset="0"/>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RegNo</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Primary Key, Foreign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CourseCode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Primary Key, Foreign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spcBef>
                          <a:spcPts val="0"/>
                        </a:spcBef>
                        <a:spcAft>
                          <a:spcPts val="0"/>
                        </a:spcAft>
                      </a:pPr>
                      <a:r>
                        <a:rPr lang="en-US" sz="2000">
                          <a:effectLst/>
                          <a:latin typeface="Cambria" panose="02040503050406030204" pitchFamily="18" charset="0"/>
                          <a:ea typeface="Cambria" panose="02040503050406030204" pitchFamily="18" charset="0"/>
                          <a:cs typeface="Times New Roman"/>
                        </a:rPr>
                        <a:t>CourseMarks</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mbria" panose="02040503050406030204" pitchFamily="18" charset="0"/>
                          <a:ea typeface="Cambria" panose="02040503050406030204" pitchFamily="18" charset="0"/>
                          <a:cs typeface="Times New Roman"/>
                        </a:rPr>
                        <a:t>Between 0 and 100</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Slide Number Placeholder 23">
            <a:extLst>
              <a:ext uri="{FF2B5EF4-FFF2-40B4-BE49-F238E27FC236}">
                <a16:creationId xmlns:a16="http://schemas.microsoft.com/office/drawing/2014/main" id="{12C73C24-FE66-DCB0-34EF-2B541049863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8518CDF4-F022-4F37-B5E0-054073E212A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48781476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C56D-A838-EF65-4D60-703A244610E7}"/>
            </a:ext>
          </a:extLst>
        </p:cNvPr>
        <p:cNvGrpSpPr/>
        <p:nvPr/>
      </p:nvGrpSpPr>
      <p:grpSpPr>
        <a:xfrm>
          <a:off x="0" y="0"/>
          <a:ext cx="0" cy="0"/>
          <a:chOff x="0" y="0"/>
          <a:chExt cx="0" cy="0"/>
        </a:xfrm>
      </p:grpSpPr>
      <p:sp>
        <p:nvSpPr>
          <p:cNvPr id="65538" name="Rectangle 2">
            <a:extLst>
              <a:ext uri="{FF2B5EF4-FFF2-40B4-BE49-F238E27FC236}">
                <a16:creationId xmlns:a16="http://schemas.microsoft.com/office/drawing/2014/main" id="{B2DB52F9-F61D-A793-6364-CEC10D3BB851}"/>
              </a:ext>
            </a:extLst>
          </p:cNvPr>
          <p:cNvSpPr>
            <a:spLocks noGrp="1" noChangeArrowheads="1"/>
          </p:cNvSpPr>
          <p:nvPr>
            <p:ph type="title"/>
          </p:nvPr>
        </p:nvSpPr>
        <p:spPr>
          <a:xfrm>
            <a:off x="395536" y="188640"/>
            <a:ext cx="5002213"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The ALTER TABLE Statement</a:t>
            </a:r>
          </a:p>
        </p:txBody>
      </p:sp>
      <p:sp>
        <p:nvSpPr>
          <p:cNvPr id="65539" name="Rectangle 3">
            <a:extLst>
              <a:ext uri="{FF2B5EF4-FFF2-40B4-BE49-F238E27FC236}">
                <a16:creationId xmlns:a16="http://schemas.microsoft.com/office/drawing/2014/main" id="{B9657307-80A2-A35A-FEC1-391B1717C08D}"/>
              </a:ext>
            </a:extLst>
          </p:cNvPr>
          <p:cNvSpPr>
            <a:spLocks noGrp="1" noChangeArrowheads="1"/>
          </p:cNvSpPr>
          <p:nvPr>
            <p:ph type="body" idx="1"/>
          </p:nvPr>
        </p:nvSpPr>
        <p:spPr>
          <a:xfrm>
            <a:off x="83512" y="666881"/>
            <a:ext cx="8232904" cy="6351099"/>
          </a:xfrm>
          <a:noFill/>
        </p:spPr>
        <p:txBody>
          <a:bodyPr wrap="square" lIns="92075" tIns="46038" rIns="92075" bIns="46038">
            <a:spAutoFit/>
          </a:bodyPr>
          <a:lstStyle/>
          <a:p>
            <a:pPr lvl="1"/>
            <a:r>
              <a:rPr lang="en-US" altLang="en-US" dirty="0">
                <a:latin typeface="Cambria" panose="02040503050406030204" pitchFamily="18" charset="0"/>
                <a:ea typeface="Cambria" panose="02040503050406030204" pitchFamily="18" charset="0"/>
              </a:rPr>
              <a:t>Add a new column</a:t>
            </a:r>
          </a:p>
          <a:p>
            <a:pPr lvl="1"/>
            <a:r>
              <a:rPr lang="en-US" altLang="en-US" dirty="0">
                <a:latin typeface="Cambria" panose="02040503050406030204" pitchFamily="18" charset="0"/>
                <a:ea typeface="Cambria" panose="02040503050406030204" pitchFamily="18" charset="0"/>
              </a:rPr>
              <a:t>Modify an existing column</a:t>
            </a:r>
          </a:p>
          <a:p>
            <a:pPr lvl="1"/>
            <a:r>
              <a:rPr lang="en-US" altLang="en-US" dirty="0">
                <a:latin typeface="Cambria" panose="02040503050406030204" pitchFamily="18" charset="0"/>
                <a:ea typeface="Cambria" panose="02040503050406030204" pitchFamily="18" charset="0"/>
              </a:rPr>
              <a:t>Drop a column</a:t>
            </a:r>
          </a:p>
          <a:p>
            <a:pPr lvl="1"/>
            <a:r>
              <a:rPr lang="en-US" altLang="en-US" dirty="0">
                <a:latin typeface="Cambria" panose="02040503050406030204" pitchFamily="18" charset="0"/>
                <a:ea typeface="Cambria" panose="02040503050406030204" pitchFamily="18" charset="0"/>
              </a:rPr>
              <a:t>Add or Drop a Constraint.</a:t>
            </a:r>
          </a:p>
          <a:p>
            <a:pPr lvl="1"/>
            <a:r>
              <a:rPr lang="en-US" altLang="en-US" dirty="0">
                <a:latin typeface="Cambria" panose="02040503050406030204" pitchFamily="18" charset="0"/>
                <a:ea typeface="Cambria" panose="02040503050406030204" pitchFamily="18" charset="0"/>
              </a:rPr>
              <a:t>Disable or Enable a Constraint</a:t>
            </a:r>
          </a:p>
          <a:p>
            <a:pPr lvl="1"/>
            <a:r>
              <a:rPr lang="en-US" altLang="en-US" dirty="0">
                <a:latin typeface="Cambria" panose="02040503050406030204" pitchFamily="18" charset="0"/>
                <a:ea typeface="Cambria" panose="02040503050406030204" pitchFamily="18" charset="0"/>
              </a:rPr>
              <a:t>Rename a column or table</a:t>
            </a: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r>
              <a:rPr lang="en-US" altLang="en-US" dirty="0">
                <a:latin typeface="Cambria" panose="02040503050406030204" pitchFamily="18" charset="0"/>
                <a:ea typeface="Cambria" panose="02040503050406030204" pitchFamily="18" charset="0"/>
              </a:rPr>
              <a:t>ALTER TABLE t </a:t>
            </a:r>
            <a:r>
              <a:rPr lang="en-US" altLang="en-US" dirty="0">
                <a:solidFill>
                  <a:srgbClr val="FF0000"/>
                </a:solidFill>
                <a:latin typeface="Cambria" panose="02040503050406030204" pitchFamily="18" charset="0"/>
                <a:ea typeface="Cambria" panose="02040503050406030204" pitchFamily="18" charset="0"/>
              </a:rPr>
              <a:t>READ ONLY</a:t>
            </a:r>
          </a:p>
          <a:p>
            <a:pPr lvl="1"/>
            <a:r>
              <a:rPr lang="en-US" altLang="en-US" dirty="0">
                <a:latin typeface="Cambria" panose="02040503050406030204" pitchFamily="18" charset="0"/>
                <a:ea typeface="Cambria" panose="02040503050406030204" pitchFamily="18" charset="0"/>
              </a:rPr>
              <a:t>ALTER TABLE t </a:t>
            </a:r>
            <a:r>
              <a:rPr lang="en-US" altLang="en-US" dirty="0">
                <a:solidFill>
                  <a:srgbClr val="FF0000"/>
                </a:solidFill>
                <a:latin typeface="Cambria" panose="02040503050406030204" pitchFamily="18" charset="0"/>
                <a:ea typeface="Cambria" panose="02040503050406030204" pitchFamily="18" charset="0"/>
              </a:rPr>
              <a:t>READ WRITE</a:t>
            </a:r>
          </a:p>
          <a:p>
            <a:pPr lvl="1"/>
            <a:endParaRPr lang="en-US" altLang="en-US" dirty="0">
              <a:latin typeface="Cambria" panose="02040503050406030204" pitchFamily="18" charset="0"/>
              <a:ea typeface="Cambria" panose="02040503050406030204" pitchFamily="18" charset="0"/>
            </a:endParaRPr>
          </a:p>
        </p:txBody>
      </p:sp>
      <p:sp>
        <p:nvSpPr>
          <p:cNvPr id="65540" name="Rectangle 4">
            <a:extLst>
              <a:ext uri="{FF2B5EF4-FFF2-40B4-BE49-F238E27FC236}">
                <a16:creationId xmlns:a16="http://schemas.microsoft.com/office/drawing/2014/main" id="{424BEAA7-D112-4EC0-8818-529F4B8B9015}"/>
              </a:ext>
            </a:extLst>
          </p:cNvPr>
          <p:cNvSpPr>
            <a:spLocks noChangeArrowheads="1"/>
          </p:cNvSpPr>
          <p:nvPr/>
        </p:nvSpPr>
        <p:spPr bwMode="blackWhite">
          <a:xfrm>
            <a:off x="896938" y="3430240"/>
            <a:ext cx="752792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5541" name="Rectangle 5">
            <a:extLst>
              <a:ext uri="{FF2B5EF4-FFF2-40B4-BE49-F238E27FC236}">
                <a16:creationId xmlns:a16="http://schemas.microsoft.com/office/drawing/2014/main" id="{162E45FE-0BF1-11F8-07D8-03194CD20D71}"/>
              </a:ext>
            </a:extLst>
          </p:cNvPr>
          <p:cNvSpPr>
            <a:spLocks noChangeArrowheads="1"/>
          </p:cNvSpPr>
          <p:nvPr/>
        </p:nvSpPr>
        <p:spPr bwMode="blackWhite">
          <a:xfrm>
            <a:off x="904875" y="4507012"/>
            <a:ext cx="7519988"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5542" name="Rectangle 6">
            <a:extLst>
              <a:ext uri="{FF2B5EF4-FFF2-40B4-BE49-F238E27FC236}">
                <a16:creationId xmlns:a16="http://schemas.microsoft.com/office/drawing/2014/main" id="{7E8409F9-4F7E-0202-F34C-BCC449279BA1}"/>
              </a:ext>
            </a:extLst>
          </p:cNvPr>
          <p:cNvSpPr>
            <a:spLocks noChangeArrowheads="1"/>
          </p:cNvSpPr>
          <p:nvPr/>
        </p:nvSpPr>
        <p:spPr bwMode="blackWhite">
          <a:xfrm>
            <a:off x="931863" y="3417540"/>
            <a:ext cx="73009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ALTER TABLE </a:t>
            </a:r>
            <a:r>
              <a:rPr lang="en-US" altLang="en-US" sz="1800" b="1" i="1" dirty="0" err="1">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FF"/>
                </a:solidFill>
                <a:latin typeface="Courier New" panose="02070309020205020404" pitchFamily="49" charset="0"/>
              </a:rPr>
              <a:t>ADD</a:t>
            </a:r>
            <a:r>
              <a:rPr lang="en-US" altLang="en-US" sz="1800" b="1" dirty="0">
                <a:solidFill>
                  <a:srgbClr val="000000"/>
                </a:solidFill>
                <a:latin typeface="Courier New" panose="02070309020205020404" pitchFamily="49" charset="0"/>
              </a:rPr>
              <a:t>		   (</a:t>
            </a:r>
            <a:r>
              <a:rPr lang="en-US" altLang="en-US" sz="1800" b="1" i="1" dirty="0">
                <a:solidFill>
                  <a:srgbClr val="000000"/>
                </a:solidFill>
                <a:latin typeface="Courier New" panose="02070309020205020404" pitchFamily="49" charset="0"/>
              </a:rPr>
              <a:t>column datatype </a:t>
            </a:r>
            <a:r>
              <a:rPr lang="en-US" altLang="en-US" sz="1800" b="1" dirty="0">
                <a:solidFill>
                  <a:srgbClr val="000000"/>
                </a:solidFill>
                <a:latin typeface="Courier New" panose="02070309020205020404" pitchFamily="49" charset="0"/>
              </a:rPr>
              <a:t>[DEFAULT </a:t>
            </a:r>
            <a:r>
              <a:rPr lang="en-US" altLang="en-US" sz="1800" b="1" i="1" dirty="0">
                <a:solidFill>
                  <a:srgbClr val="000000"/>
                </a:solidFill>
                <a:latin typeface="Courier New" panose="02070309020205020404" pitchFamily="49" charset="0"/>
              </a:rPr>
              <a:t>expr</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 </a:t>
            </a:r>
            <a:r>
              <a:rPr lang="en-US" altLang="en-US" sz="1800" b="1" i="1" dirty="0">
                <a:solidFill>
                  <a:srgbClr val="000000"/>
                </a:solidFill>
                <a:latin typeface="Courier New" panose="02070309020205020404" pitchFamily="49" charset="0"/>
              </a:rPr>
              <a:t>column datatype</a:t>
            </a:r>
            <a:r>
              <a:rPr lang="en-US" altLang="en-US" sz="1800" b="1" dirty="0">
                <a:solidFill>
                  <a:srgbClr val="000000"/>
                </a:solidFill>
                <a:latin typeface="Courier New" panose="02070309020205020404" pitchFamily="49" charset="0"/>
              </a:rPr>
              <a:t>]...);</a:t>
            </a:r>
          </a:p>
        </p:txBody>
      </p:sp>
      <p:sp>
        <p:nvSpPr>
          <p:cNvPr id="65543" name="Rectangle 7">
            <a:extLst>
              <a:ext uri="{FF2B5EF4-FFF2-40B4-BE49-F238E27FC236}">
                <a16:creationId xmlns:a16="http://schemas.microsoft.com/office/drawing/2014/main" id="{F05D9657-6C3D-433E-E383-C2B2752FA945}"/>
              </a:ext>
            </a:extLst>
          </p:cNvPr>
          <p:cNvSpPr>
            <a:spLocks noChangeArrowheads="1"/>
          </p:cNvSpPr>
          <p:nvPr/>
        </p:nvSpPr>
        <p:spPr bwMode="blackWhite">
          <a:xfrm>
            <a:off x="949325" y="4503837"/>
            <a:ext cx="7300913"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ALTER TABLE </a:t>
            </a:r>
            <a:r>
              <a:rPr lang="en-US" altLang="en-US" sz="1800" b="1" i="1" dirty="0" err="1">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FF"/>
                </a:solidFill>
                <a:latin typeface="Courier New" panose="02070309020205020404" pitchFamily="49" charset="0"/>
              </a:rPr>
              <a:t>MODIFY</a:t>
            </a:r>
            <a:r>
              <a:rPr lang="en-US" altLang="en-US" sz="1800" b="1" dirty="0">
                <a:solidFill>
                  <a:srgbClr val="000000"/>
                </a:solidFill>
                <a:latin typeface="Courier New" panose="02070309020205020404" pitchFamily="49" charset="0"/>
              </a:rPr>
              <a:t>	   (</a:t>
            </a:r>
            <a:r>
              <a:rPr lang="en-US" altLang="en-US" sz="1800" b="1" i="1" dirty="0">
                <a:solidFill>
                  <a:srgbClr val="000000"/>
                </a:solidFill>
                <a:latin typeface="Courier New" panose="02070309020205020404" pitchFamily="49" charset="0"/>
              </a:rPr>
              <a:t>column datatype </a:t>
            </a:r>
            <a:r>
              <a:rPr lang="en-US" altLang="en-US" sz="1800" b="1" dirty="0">
                <a:solidFill>
                  <a:srgbClr val="000000"/>
                </a:solidFill>
                <a:latin typeface="Courier New" panose="02070309020205020404" pitchFamily="49" charset="0"/>
              </a:rPr>
              <a:t>[DEFAULT </a:t>
            </a:r>
            <a:r>
              <a:rPr lang="en-US" altLang="en-US" sz="1800" b="1" i="1" dirty="0">
                <a:solidFill>
                  <a:srgbClr val="000000"/>
                </a:solidFill>
                <a:latin typeface="Courier New" panose="02070309020205020404" pitchFamily="49" charset="0"/>
              </a:rPr>
              <a:t>expr</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 </a:t>
            </a:r>
            <a:r>
              <a:rPr lang="en-US" altLang="en-US" sz="1800" b="1" i="1" dirty="0">
                <a:solidFill>
                  <a:srgbClr val="000000"/>
                </a:solidFill>
                <a:latin typeface="Courier New" panose="02070309020205020404" pitchFamily="49" charset="0"/>
              </a:rPr>
              <a:t>column datatype</a:t>
            </a:r>
            <a:r>
              <a:rPr lang="en-US" altLang="en-US" sz="1800" b="1" dirty="0">
                <a:solidFill>
                  <a:srgbClr val="000000"/>
                </a:solidFill>
                <a:latin typeface="Courier New" panose="02070309020205020404" pitchFamily="49" charset="0"/>
              </a:rPr>
              <a:t>]...);</a:t>
            </a:r>
          </a:p>
        </p:txBody>
      </p:sp>
      <p:sp>
        <p:nvSpPr>
          <p:cNvPr id="2" name="Slide Number Placeholder 23">
            <a:extLst>
              <a:ext uri="{FF2B5EF4-FFF2-40B4-BE49-F238E27FC236}">
                <a16:creationId xmlns:a16="http://schemas.microsoft.com/office/drawing/2014/main" id="{4F7E3123-130C-CE98-6D44-F7A1D44BDA2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AB324DF2-3C90-80E5-B669-C6D77416B5C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46475186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F5AFD-6B2A-DEBC-1AE6-1529988D37E4}"/>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2485973E-E3F3-38A5-F306-D24C9AA6C8C3}"/>
              </a:ext>
            </a:extLst>
          </p:cNvPr>
          <p:cNvSpPr>
            <a:spLocks noGrp="1" noChangeArrowheads="1"/>
          </p:cNvSpPr>
          <p:nvPr>
            <p:ph type="title"/>
          </p:nvPr>
        </p:nvSpPr>
        <p:spPr>
          <a:xfrm>
            <a:off x="467544" y="347343"/>
            <a:ext cx="3201988"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Adding a Column</a:t>
            </a:r>
          </a:p>
        </p:txBody>
      </p:sp>
      <p:sp>
        <p:nvSpPr>
          <p:cNvPr id="67587" name="Rectangle 3">
            <a:extLst>
              <a:ext uri="{FF2B5EF4-FFF2-40B4-BE49-F238E27FC236}">
                <a16:creationId xmlns:a16="http://schemas.microsoft.com/office/drawing/2014/main" id="{C474C896-7D29-108E-EA63-2FAE83F86A1F}"/>
              </a:ext>
            </a:extLst>
          </p:cNvPr>
          <p:cNvSpPr>
            <a:spLocks noChangeArrowheads="1"/>
          </p:cNvSpPr>
          <p:nvPr/>
        </p:nvSpPr>
        <p:spPr bwMode="blackWhite">
          <a:xfrm>
            <a:off x="684213" y="1612900"/>
            <a:ext cx="533241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5748" name="Rectangle 4">
            <a:extLst>
              <a:ext uri="{FF2B5EF4-FFF2-40B4-BE49-F238E27FC236}">
                <a16:creationId xmlns:a16="http://schemas.microsoft.com/office/drawing/2014/main" id="{A6429C9E-0C74-E55A-ED13-A2F77B5F1ABD}"/>
              </a:ext>
            </a:extLst>
          </p:cNvPr>
          <p:cNvSpPr>
            <a:spLocks noChangeArrowheads="1"/>
          </p:cNvSpPr>
          <p:nvPr/>
        </p:nvSpPr>
        <p:spPr bwMode="auto">
          <a:xfrm>
            <a:off x="596900" y="1249363"/>
            <a:ext cx="1144588" cy="396875"/>
          </a:xfrm>
          <a:prstGeom prst="rect">
            <a:avLst/>
          </a:prstGeom>
          <a:noFill/>
          <a:ln w="9525">
            <a:noFill/>
            <a:miter lim="800000"/>
            <a:headEnd/>
            <a:tailEnd/>
          </a:ln>
          <a:effectLst/>
        </p:spPr>
        <p:txBody>
          <a:bodyPr wrap="none" lIns="92075" tIns="46038" rIns="92075" bIns="46038">
            <a:spAutoFit/>
          </a:bodyPr>
          <a:lstStyle/>
          <a:p>
            <a:pPr>
              <a:defRPr/>
            </a:pPr>
            <a:r>
              <a:rPr lang="en-US" sz="2000" b="1" dirty="0">
                <a:effectLst>
                  <a:outerShdw blurRad="38100" dist="38100" dir="2700000" algn="tl">
                    <a:srgbClr val="FFFFFF"/>
                  </a:outerShdw>
                </a:effectLst>
              </a:rPr>
              <a:t>DEPT30</a:t>
            </a:r>
          </a:p>
        </p:txBody>
      </p:sp>
      <p:sp>
        <p:nvSpPr>
          <p:cNvPr id="67589" name="Rectangle 5">
            <a:extLst>
              <a:ext uri="{FF2B5EF4-FFF2-40B4-BE49-F238E27FC236}">
                <a16:creationId xmlns:a16="http://schemas.microsoft.com/office/drawing/2014/main" id="{7F85D5CF-CC1C-F36E-A486-59478C6235FC}"/>
              </a:ext>
            </a:extLst>
          </p:cNvPr>
          <p:cNvSpPr>
            <a:spLocks noChangeArrowheads="1"/>
          </p:cNvSpPr>
          <p:nvPr/>
        </p:nvSpPr>
        <p:spPr bwMode="blackWhite">
          <a:xfrm>
            <a:off x="720725" y="1644650"/>
            <a:ext cx="550862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ANNSAL	 HIREDATE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7698	BLAKE	   	   34200	01-MAY-81</a:t>
            </a:r>
          </a:p>
          <a:p>
            <a:pPr>
              <a:lnSpc>
                <a:spcPct val="95000"/>
              </a:lnSpc>
              <a:spcBef>
                <a:spcPct val="0"/>
              </a:spcBef>
              <a:buFontTx/>
              <a:buNone/>
            </a:pPr>
            <a:r>
              <a:rPr lang="en-US" altLang="en-US" sz="1800" b="1">
                <a:solidFill>
                  <a:srgbClr val="000000"/>
                </a:solidFill>
                <a:latin typeface="Courier New" panose="02070309020205020404" pitchFamily="49" charset="0"/>
              </a:rPr>
              <a:t>  7654	MARTIN	   	   15000	28-SEP-81</a:t>
            </a:r>
          </a:p>
          <a:p>
            <a:pPr>
              <a:lnSpc>
                <a:spcPct val="95000"/>
              </a:lnSpc>
              <a:spcBef>
                <a:spcPct val="0"/>
              </a:spcBef>
              <a:buFontTx/>
              <a:buNone/>
            </a:pPr>
            <a:r>
              <a:rPr lang="en-US" altLang="en-US" sz="1800" b="1">
                <a:solidFill>
                  <a:srgbClr val="000000"/>
                </a:solidFill>
                <a:latin typeface="Courier New" panose="02070309020205020404" pitchFamily="49" charset="0"/>
              </a:rPr>
              <a:t>  7499	ALLEN		   19200	20-FEB-81</a:t>
            </a:r>
          </a:p>
          <a:p>
            <a:pPr>
              <a:lnSpc>
                <a:spcPct val="95000"/>
              </a:lnSpc>
              <a:spcBef>
                <a:spcPct val="0"/>
              </a:spcBef>
              <a:buFontTx/>
              <a:buNone/>
            </a:pPr>
            <a:r>
              <a:rPr lang="en-US" altLang="en-US" sz="1800" b="1">
                <a:solidFill>
                  <a:srgbClr val="000000"/>
                </a:solidFill>
                <a:latin typeface="Courier New" panose="02070309020205020404" pitchFamily="49" charset="0"/>
              </a:rPr>
              <a:t>  7844	TURNER	   	   18000	08-SEP-81</a:t>
            </a:r>
          </a:p>
          <a:p>
            <a:pPr>
              <a:lnSpc>
                <a:spcPct val="95000"/>
              </a:lnSpc>
              <a:spcBef>
                <a:spcPct val="0"/>
              </a:spcBef>
              <a:buFontTx/>
              <a:buNone/>
            </a:pPr>
            <a:r>
              <a:rPr lang="en-US" altLang="en-US" sz="1800" b="1">
                <a:solidFill>
                  <a:srgbClr val="000000"/>
                </a:solidFill>
                <a:latin typeface="Courier New" panose="02070309020205020404" pitchFamily="49" charset="0"/>
              </a:rPr>
              <a:t>...</a:t>
            </a:r>
          </a:p>
        </p:txBody>
      </p:sp>
      <p:sp>
        <p:nvSpPr>
          <p:cNvPr id="67590" name="Line 6">
            <a:extLst>
              <a:ext uri="{FF2B5EF4-FFF2-40B4-BE49-F238E27FC236}">
                <a16:creationId xmlns:a16="http://schemas.microsoft.com/office/drawing/2014/main" id="{D54EEAFF-247F-8F2C-E329-108E58EDF164}"/>
              </a:ext>
            </a:extLst>
          </p:cNvPr>
          <p:cNvSpPr>
            <a:spLocks noChangeShapeType="1"/>
          </p:cNvSpPr>
          <p:nvPr/>
        </p:nvSpPr>
        <p:spPr bwMode="auto">
          <a:xfrm>
            <a:off x="685800" y="2076450"/>
            <a:ext cx="534352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1" name="Line 7">
            <a:extLst>
              <a:ext uri="{FF2B5EF4-FFF2-40B4-BE49-F238E27FC236}">
                <a16:creationId xmlns:a16="http://schemas.microsoft.com/office/drawing/2014/main" id="{7F7CD075-D73B-2CE5-DE4E-ADEC62AB22B9}"/>
              </a:ext>
            </a:extLst>
          </p:cNvPr>
          <p:cNvSpPr>
            <a:spLocks noChangeShapeType="1"/>
          </p:cNvSpPr>
          <p:nvPr/>
        </p:nvSpPr>
        <p:spPr bwMode="auto">
          <a:xfrm>
            <a:off x="679450" y="2470150"/>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2" name="Line 8">
            <a:extLst>
              <a:ext uri="{FF2B5EF4-FFF2-40B4-BE49-F238E27FC236}">
                <a16:creationId xmlns:a16="http://schemas.microsoft.com/office/drawing/2014/main" id="{3AF07D23-45A3-0642-D9EC-F0FDB04069E5}"/>
              </a:ext>
            </a:extLst>
          </p:cNvPr>
          <p:cNvSpPr>
            <a:spLocks noChangeShapeType="1"/>
          </p:cNvSpPr>
          <p:nvPr/>
        </p:nvSpPr>
        <p:spPr bwMode="auto">
          <a:xfrm>
            <a:off x="679450" y="2730500"/>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3" name="Line 9">
            <a:extLst>
              <a:ext uri="{FF2B5EF4-FFF2-40B4-BE49-F238E27FC236}">
                <a16:creationId xmlns:a16="http://schemas.microsoft.com/office/drawing/2014/main" id="{9E5AADC3-6A62-0A5C-E0F2-498710AE2C7C}"/>
              </a:ext>
            </a:extLst>
          </p:cNvPr>
          <p:cNvSpPr>
            <a:spLocks noChangeShapeType="1"/>
          </p:cNvSpPr>
          <p:nvPr/>
        </p:nvSpPr>
        <p:spPr bwMode="auto">
          <a:xfrm>
            <a:off x="679450" y="2990850"/>
            <a:ext cx="53498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4" name="Line 10">
            <a:extLst>
              <a:ext uri="{FF2B5EF4-FFF2-40B4-BE49-F238E27FC236}">
                <a16:creationId xmlns:a16="http://schemas.microsoft.com/office/drawing/2014/main" id="{97AD9291-6C7D-82DA-0C7E-BC2658167AD4}"/>
              </a:ext>
            </a:extLst>
          </p:cNvPr>
          <p:cNvSpPr>
            <a:spLocks noChangeShapeType="1"/>
          </p:cNvSpPr>
          <p:nvPr/>
        </p:nvSpPr>
        <p:spPr bwMode="auto">
          <a:xfrm>
            <a:off x="1682750" y="1612900"/>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5" name="Line 11">
            <a:extLst>
              <a:ext uri="{FF2B5EF4-FFF2-40B4-BE49-F238E27FC236}">
                <a16:creationId xmlns:a16="http://schemas.microsoft.com/office/drawing/2014/main" id="{9FD075CF-30D9-7843-BB6E-0F3B2DE5F2CB}"/>
              </a:ext>
            </a:extLst>
          </p:cNvPr>
          <p:cNvSpPr>
            <a:spLocks noChangeShapeType="1"/>
          </p:cNvSpPr>
          <p:nvPr/>
        </p:nvSpPr>
        <p:spPr bwMode="auto">
          <a:xfrm>
            <a:off x="3181350" y="1612900"/>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12">
            <a:extLst>
              <a:ext uri="{FF2B5EF4-FFF2-40B4-BE49-F238E27FC236}">
                <a16:creationId xmlns:a16="http://schemas.microsoft.com/office/drawing/2014/main" id="{F8090FCB-E498-2A58-10E1-91A32A624846}"/>
              </a:ext>
            </a:extLst>
          </p:cNvPr>
          <p:cNvGrpSpPr>
            <a:grpSpLocks/>
          </p:cNvGrpSpPr>
          <p:nvPr/>
        </p:nvGrpSpPr>
        <p:grpSpPr bwMode="auto">
          <a:xfrm>
            <a:off x="7046913" y="1098550"/>
            <a:ext cx="1658937" cy="2887663"/>
            <a:chOff x="4439" y="692"/>
            <a:chExt cx="1045" cy="1819"/>
          </a:xfrm>
        </p:grpSpPr>
        <p:sp>
          <p:nvSpPr>
            <p:cNvPr id="415757" name="Rectangle 13">
              <a:extLst>
                <a:ext uri="{FF2B5EF4-FFF2-40B4-BE49-F238E27FC236}">
                  <a16:creationId xmlns:a16="http://schemas.microsoft.com/office/drawing/2014/main" id="{7C88A13E-7ADF-ED82-6517-16FE83463AB1}"/>
                </a:ext>
              </a:extLst>
            </p:cNvPr>
            <p:cNvSpPr>
              <a:spLocks noChangeArrowheads="1"/>
            </p:cNvSpPr>
            <p:nvPr/>
          </p:nvSpPr>
          <p:spPr bwMode="auto">
            <a:xfrm>
              <a:off x="4439" y="692"/>
              <a:ext cx="1045" cy="1234"/>
            </a:xfrm>
            <a:prstGeom prst="rect">
              <a:avLst/>
            </a:prstGeom>
            <a:noFill/>
            <a:ln w="9525">
              <a:noFill/>
              <a:miter lim="800000"/>
              <a:headEnd/>
              <a:tailEnd/>
            </a:ln>
            <a:effectLst/>
          </p:spPr>
          <p:txBody>
            <a:bodyPr lIns="92075" tIns="46038" rIns="92075" bIns="46038">
              <a:spAutoFit/>
            </a:bodyPr>
            <a:lstStyle/>
            <a:p>
              <a:pPr defTabSz="346075">
                <a:lnSpc>
                  <a:spcPct val="85000"/>
                </a:lnSpc>
                <a:spcBef>
                  <a:spcPct val="35000"/>
                </a:spcBef>
                <a:tabLst>
                  <a:tab pos="576263" algn="l"/>
                </a:tabLst>
                <a:defRPr/>
              </a:pPr>
              <a:r>
                <a:rPr lang="en-US" b="1" dirty="0">
                  <a:solidFill>
                    <a:srgbClr val="0000FF"/>
                  </a:solidFill>
                  <a:latin typeface="Cambria" panose="02040503050406030204" pitchFamily="18" charset="0"/>
                  <a:ea typeface="Cambria" panose="02040503050406030204" pitchFamily="18" charset="0"/>
                </a:rPr>
                <a:t>“…add a new</a:t>
              </a:r>
              <a:br>
                <a:rPr lang="en-US" b="1" dirty="0">
                  <a:solidFill>
                    <a:srgbClr val="0000FF"/>
                  </a:solidFill>
                  <a:latin typeface="Cambria" panose="02040503050406030204" pitchFamily="18" charset="0"/>
                  <a:ea typeface="Cambria" panose="02040503050406030204" pitchFamily="18" charset="0"/>
                </a:rPr>
              </a:br>
              <a:r>
                <a:rPr lang="en-US" b="1" dirty="0">
                  <a:solidFill>
                    <a:srgbClr val="0000FF"/>
                  </a:solidFill>
                  <a:latin typeface="Cambria" panose="02040503050406030204" pitchFamily="18" charset="0"/>
                  <a:ea typeface="Cambria" panose="02040503050406030204" pitchFamily="18" charset="0"/>
                </a:rPr>
                <a:t>column into</a:t>
              </a:r>
              <a:br>
                <a:rPr lang="en-US" b="1" dirty="0">
                  <a:solidFill>
                    <a:srgbClr val="0000FF"/>
                  </a:solidFill>
                  <a:latin typeface="Cambria" panose="02040503050406030204" pitchFamily="18" charset="0"/>
                  <a:ea typeface="Cambria" panose="02040503050406030204" pitchFamily="18" charset="0"/>
                </a:rPr>
              </a:br>
              <a:r>
                <a:rPr lang="en-US" b="1" dirty="0">
                  <a:solidFill>
                    <a:srgbClr val="0000FF"/>
                  </a:solidFill>
                  <a:latin typeface="Cambria" panose="02040503050406030204" pitchFamily="18" charset="0"/>
                  <a:ea typeface="Cambria" panose="02040503050406030204" pitchFamily="18" charset="0"/>
                </a:rPr>
                <a:t>DEPT30 table…”</a:t>
              </a:r>
            </a:p>
          </p:txBody>
        </p:sp>
        <p:sp>
          <p:nvSpPr>
            <p:cNvPr id="67629" name="Arc 14">
              <a:extLst>
                <a:ext uri="{FF2B5EF4-FFF2-40B4-BE49-F238E27FC236}">
                  <a16:creationId xmlns:a16="http://schemas.microsoft.com/office/drawing/2014/main" id="{A6A02FC9-F741-5A58-265F-F22A6D8AD05A}"/>
                </a:ext>
              </a:extLst>
            </p:cNvPr>
            <p:cNvSpPr>
              <a:spLocks/>
            </p:cNvSpPr>
            <p:nvPr/>
          </p:nvSpPr>
          <p:spPr bwMode="auto">
            <a:xfrm>
              <a:off x="4547" y="1917"/>
              <a:ext cx="685" cy="594"/>
            </a:xfrm>
            <a:custGeom>
              <a:avLst/>
              <a:gdLst>
                <a:gd name="T0" fmla="*/ 0 w 21632"/>
                <a:gd name="T1" fmla="*/ 0 h 25060"/>
                <a:gd name="T2" fmla="*/ 0 w 21632"/>
                <a:gd name="T3" fmla="*/ 0 h 25060"/>
                <a:gd name="T4" fmla="*/ 0 w 21632"/>
                <a:gd name="T5" fmla="*/ 0 h 25060"/>
                <a:gd name="T6" fmla="*/ 0 60000 65536"/>
                <a:gd name="T7" fmla="*/ 0 60000 65536"/>
                <a:gd name="T8" fmla="*/ 0 60000 65536"/>
              </a:gdLst>
              <a:ahLst/>
              <a:cxnLst>
                <a:cxn ang="T6">
                  <a:pos x="T0" y="T1"/>
                </a:cxn>
                <a:cxn ang="T7">
                  <a:pos x="T2" y="T3"/>
                </a:cxn>
                <a:cxn ang="T8">
                  <a:pos x="T4" y="T5"/>
                </a:cxn>
              </a:cxnLst>
              <a:rect l="0" t="0" r="r" b="b"/>
              <a:pathLst>
                <a:path w="21632" h="25060" fill="none" extrusionOk="0">
                  <a:moveTo>
                    <a:pt x="0" y="0"/>
                  </a:moveTo>
                  <a:cubicBezTo>
                    <a:pt x="10" y="0"/>
                    <a:pt x="21" y="-1"/>
                    <a:pt x="32" y="0"/>
                  </a:cubicBezTo>
                  <a:cubicBezTo>
                    <a:pt x="11961" y="0"/>
                    <a:pt x="21632" y="9670"/>
                    <a:pt x="21632" y="21600"/>
                  </a:cubicBezTo>
                  <a:cubicBezTo>
                    <a:pt x="21632" y="22758"/>
                    <a:pt x="21538" y="23916"/>
                    <a:pt x="21353" y="25060"/>
                  </a:cubicBezTo>
                </a:path>
                <a:path w="21632" h="25060" stroke="0" extrusionOk="0">
                  <a:moveTo>
                    <a:pt x="0" y="0"/>
                  </a:moveTo>
                  <a:cubicBezTo>
                    <a:pt x="10" y="0"/>
                    <a:pt x="21" y="-1"/>
                    <a:pt x="32" y="0"/>
                  </a:cubicBezTo>
                  <a:cubicBezTo>
                    <a:pt x="11961" y="0"/>
                    <a:pt x="21632" y="9670"/>
                    <a:pt x="21632" y="21600"/>
                  </a:cubicBezTo>
                  <a:cubicBezTo>
                    <a:pt x="21632" y="22758"/>
                    <a:pt x="21538" y="23916"/>
                    <a:pt x="21353" y="25060"/>
                  </a:cubicBezTo>
                  <a:lnTo>
                    <a:pt x="32"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sp>
        <p:nvSpPr>
          <p:cNvPr id="67597" name="Line 15">
            <a:extLst>
              <a:ext uri="{FF2B5EF4-FFF2-40B4-BE49-F238E27FC236}">
                <a16:creationId xmlns:a16="http://schemas.microsoft.com/office/drawing/2014/main" id="{6760E109-9396-09A1-754D-DDB03B18009E}"/>
              </a:ext>
            </a:extLst>
          </p:cNvPr>
          <p:cNvSpPr>
            <a:spLocks noChangeShapeType="1"/>
          </p:cNvSpPr>
          <p:nvPr/>
        </p:nvSpPr>
        <p:spPr bwMode="auto">
          <a:xfrm>
            <a:off x="679450" y="3267075"/>
            <a:ext cx="53975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8" name="Line 16">
            <a:extLst>
              <a:ext uri="{FF2B5EF4-FFF2-40B4-BE49-F238E27FC236}">
                <a16:creationId xmlns:a16="http://schemas.microsoft.com/office/drawing/2014/main" id="{6114B9D8-8839-E3B0-060C-049E60E56893}"/>
              </a:ext>
            </a:extLst>
          </p:cNvPr>
          <p:cNvSpPr>
            <a:spLocks noChangeShapeType="1"/>
          </p:cNvSpPr>
          <p:nvPr/>
        </p:nvSpPr>
        <p:spPr bwMode="auto">
          <a:xfrm>
            <a:off x="4552950" y="1612900"/>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9" name="Rectangle 17">
            <a:extLst>
              <a:ext uri="{FF2B5EF4-FFF2-40B4-BE49-F238E27FC236}">
                <a16:creationId xmlns:a16="http://schemas.microsoft.com/office/drawing/2014/main" id="{70BA3393-6BF2-C644-1619-F2831FAFD126}"/>
              </a:ext>
            </a:extLst>
          </p:cNvPr>
          <p:cNvSpPr>
            <a:spLocks noChangeArrowheads="1"/>
          </p:cNvSpPr>
          <p:nvPr/>
        </p:nvSpPr>
        <p:spPr bwMode="blackWhite">
          <a:xfrm>
            <a:off x="2398713" y="4129088"/>
            <a:ext cx="533241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5762" name="Rectangle 18">
            <a:extLst>
              <a:ext uri="{FF2B5EF4-FFF2-40B4-BE49-F238E27FC236}">
                <a16:creationId xmlns:a16="http://schemas.microsoft.com/office/drawing/2014/main" id="{0CFD824C-9CC3-E755-6E73-0A03BAB9C0A6}"/>
              </a:ext>
            </a:extLst>
          </p:cNvPr>
          <p:cNvSpPr>
            <a:spLocks noChangeArrowheads="1"/>
          </p:cNvSpPr>
          <p:nvPr/>
        </p:nvSpPr>
        <p:spPr bwMode="auto">
          <a:xfrm>
            <a:off x="2311400" y="3765550"/>
            <a:ext cx="1144588"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DEPT30</a:t>
            </a:r>
          </a:p>
        </p:txBody>
      </p:sp>
      <p:sp>
        <p:nvSpPr>
          <p:cNvPr id="67601" name="Rectangle 19">
            <a:extLst>
              <a:ext uri="{FF2B5EF4-FFF2-40B4-BE49-F238E27FC236}">
                <a16:creationId xmlns:a16="http://schemas.microsoft.com/office/drawing/2014/main" id="{1621E878-4F02-245E-9E3D-46B2DF678AEF}"/>
              </a:ext>
            </a:extLst>
          </p:cNvPr>
          <p:cNvSpPr>
            <a:spLocks noChangeArrowheads="1"/>
          </p:cNvSpPr>
          <p:nvPr/>
        </p:nvSpPr>
        <p:spPr bwMode="blackWhite">
          <a:xfrm>
            <a:off x="2435225" y="4160838"/>
            <a:ext cx="550862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ANNSAL	 HIREDATE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7698	BLAKE	   	   34200	01-MAY-81</a:t>
            </a:r>
          </a:p>
          <a:p>
            <a:pPr>
              <a:lnSpc>
                <a:spcPct val="95000"/>
              </a:lnSpc>
              <a:spcBef>
                <a:spcPct val="0"/>
              </a:spcBef>
              <a:buFontTx/>
              <a:buNone/>
            </a:pPr>
            <a:r>
              <a:rPr lang="en-US" altLang="en-US" sz="1800" b="1">
                <a:solidFill>
                  <a:srgbClr val="000000"/>
                </a:solidFill>
                <a:latin typeface="Courier New" panose="02070309020205020404" pitchFamily="49" charset="0"/>
              </a:rPr>
              <a:t>  7654	MARTIN	   	   15000	28-SEP-81</a:t>
            </a:r>
          </a:p>
          <a:p>
            <a:pPr>
              <a:lnSpc>
                <a:spcPct val="95000"/>
              </a:lnSpc>
              <a:spcBef>
                <a:spcPct val="0"/>
              </a:spcBef>
              <a:buFontTx/>
              <a:buNone/>
            </a:pPr>
            <a:r>
              <a:rPr lang="en-US" altLang="en-US" sz="1800" b="1">
                <a:solidFill>
                  <a:srgbClr val="000000"/>
                </a:solidFill>
                <a:latin typeface="Courier New" panose="02070309020205020404" pitchFamily="49" charset="0"/>
              </a:rPr>
              <a:t>  7499	ALLEN		   19200	20-FEB-81</a:t>
            </a:r>
          </a:p>
          <a:p>
            <a:pPr>
              <a:lnSpc>
                <a:spcPct val="95000"/>
              </a:lnSpc>
              <a:spcBef>
                <a:spcPct val="0"/>
              </a:spcBef>
              <a:buFontTx/>
              <a:buNone/>
            </a:pPr>
            <a:r>
              <a:rPr lang="en-US" altLang="en-US" sz="1800" b="1">
                <a:solidFill>
                  <a:srgbClr val="000000"/>
                </a:solidFill>
                <a:latin typeface="Courier New" panose="02070309020205020404" pitchFamily="49" charset="0"/>
              </a:rPr>
              <a:t>  7844	TURNER	   	   18000	08-SEP-81</a:t>
            </a:r>
          </a:p>
          <a:p>
            <a:pPr>
              <a:lnSpc>
                <a:spcPct val="95000"/>
              </a:lnSpc>
              <a:spcBef>
                <a:spcPct val="0"/>
              </a:spcBef>
              <a:buFontTx/>
              <a:buNone/>
            </a:pPr>
            <a:r>
              <a:rPr lang="en-US" altLang="en-US" sz="1800" b="1">
                <a:solidFill>
                  <a:srgbClr val="000000"/>
                </a:solidFill>
                <a:latin typeface="Courier New" panose="02070309020205020404" pitchFamily="49" charset="0"/>
              </a:rPr>
              <a:t>...</a:t>
            </a:r>
          </a:p>
        </p:txBody>
      </p:sp>
      <p:sp>
        <p:nvSpPr>
          <p:cNvPr id="67602" name="Line 20">
            <a:extLst>
              <a:ext uri="{FF2B5EF4-FFF2-40B4-BE49-F238E27FC236}">
                <a16:creationId xmlns:a16="http://schemas.microsoft.com/office/drawing/2014/main" id="{8B3E5FA2-F9C8-CBCF-1222-64DD82AA5566}"/>
              </a:ext>
            </a:extLst>
          </p:cNvPr>
          <p:cNvSpPr>
            <a:spLocks noChangeShapeType="1"/>
          </p:cNvSpPr>
          <p:nvPr/>
        </p:nvSpPr>
        <p:spPr bwMode="auto">
          <a:xfrm>
            <a:off x="2400300" y="4592638"/>
            <a:ext cx="534352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3" name="Line 21">
            <a:extLst>
              <a:ext uri="{FF2B5EF4-FFF2-40B4-BE49-F238E27FC236}">
                <a16:creationId xmlns:a16="http://schemas.microsoft.com/office/drawing/2014/main" id="{AE288BC5-88FC-0897-46A2-984B10FF89DA}"/>
              </a:ext>
            </a:extLst>
          </p:cNvPr>
          <p:cNvSpPr>
            <a:spLocks noChangeShapeType="1"/>
          </p:cNvSpPr>
          <p:nvPr/>
        </p:nvSpPr>
        <p:spPr bwMode="auto">
          <a:xfrm>
            <a:off x="2393950" y="4986338"/>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4" name="Line 22">
            <a:extLst>
              <a:ext uri="{FF2B5EF4-FFF2-40B4-BE49-F238E27FC236}">
                <a16:creationId xmlns:a16="http://schemas.microsoft.com/office/drawing/2014/main" id="{334C0F48-E5D0-C2E5-ACBF-E4E1CB904B1D}"/>
              </a:ext>
            </a:extLst>
          </p:cNvPr>
          <p:cNvSpPr>
            <a:spLocks noChangeShapeType="1"/>
          </p:cNvSpPr>
          <p:nvPr/>
        </p:nvSpPr>
        <p:spPr bwMode="auto">
          <a:xfrm>
            <a:off x="2393950" y="5246688"/>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5" name="Line 23">
            <a:extLst>
              <a:ext uri="{FF2B5EF4-FFF2-40B4-BE49-F238E27FC236}">
                <a16:creationId xmlns:a16="http://schemas.microsoft.com/office/drawing/2014/main" id="{9F4C0838-532D-05C3-478A-58679AA21623}"/>
              </a:ext>
            </a:extLst>
          </p:cNvPr>
          <p:cNvSpPr>
            <a:spLocks noChangeShapeType="1"/>
          </p:cNvSpPr>
          <p:nvPr/>
        </p:nvSpPr>
        <p:spPr bwMode="auto">
          <a:xfrm>
            <a:off x="2393950" y="5507038"/>
            <a:ext cx="53498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6" name="Line 24">
            <a:extLst>
              <a:ext uri="{FF2B5EF4-FFF2-40B4-BE49-F238E27FC236}">
                <a16:creationId xmlns:a16="http://schemas.microsoft.com/office/drawing/2014/main" id="{234F2FEF-A156-EE59-A1C0-D99CDFBC4487}"/>
              </a:ext>
            </a:extLst>
          </p:cNvPr>
          <p:cNvSpPr>
            <a:spLocks noChangeShapeType="1"/>
          </p:cNvSpPr>
          <p:nvPr/>
        </p:nvSpPr>
        <p:spPr bwMode="auto">
          <a:xfrm>
            <a:off x="3397250" y="412908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7" name="Line 25">
            <a:extLst>
              <a:ext uri="{FF2B5EF4-FFF2-40B4-BE49-F238E27FC236}">
                <a16:creationId xmlns:a16="http://schemas.microsoft.com/office/drawing/2014/main" id="{0B5AAD89-B25D-649C-E813-12F89C1458BC}"/>
              </a:ext>
            </a:extLst>
          </p:cNvPr>
          <p:cNvSpPr>
            <a:spLocks noChangeShapeType="1"/>
          </p:cNvSpPr>
          <p:nvPr/>
        </p:nvSpPr>
        <p:spPr bwMode="auto">
          <a:xfrm>
            <a:off x="4895850" y="4129088"/>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8" name="Line 26">
            <a:extLst>
              <a:ext uri="{FF2B5EF4-FFF2-40B4-BE49-F238E27FC236}">
                <a16:creationId xmlns:a16="http://schemas.microsoft.com/office/drawing/2014/main" id="{9E20A507-1275-9283-9F5E-73CFFFF841B2}"/>
              </a:ext>
            </a:extLst>
          </p:cNvPr>
          <p:cNvSpPr>
            <a:spLocks noChangeShapeType="1"/>
          </p:cNvSpPr>
          <p:nvPr/>
        </p:nvSpPr>
        <p:spPr bwMode="auto">
          <a:xfrm>
            <a:off x="2393950" y="5783263"/>
            <a:ext cx="53975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9" name="Line 27">
            <a:extLst>
              <a:ext uri="{FF2B5EF4-FFF2-40B4-BE49-F238E27FC236}">
                <a16:creationId xmlns:a16="http://schemas.microsoft.com/office/drawing/2014/main" id="{D2D5D3C8-1E0E-73A5-AEE9-49BC8C5B19E2}"/>
              </a:ext>
            </a:extLst>
          </p:cNvPr>
          <p:cNvSpPr>
            <a:spLocks noChangeShapeType="1"/>
          </p:cNvSpPr>
          <p:nvPr/>
        </p:nvSpPr>
        <p:spPr bwMode="auto">
          <a:xfrm>
            <a:off x="6267450" y="4129088"/>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28">
            <a:extLst>
              <a:ext uri="{FF2B5EF4-FFF2-40B4-BE49-F238E27FC236}">
                <a16:creationId xmlns:a16="http://schemas.microsoft.com/office/drawing/2014/main" id="{F2754394-570A-7A00-D32C-490AD3C9F8CD}"/>
              </a:ext>
            </a:extLst>
          </p:cNvPr>
          <p:cNvGrpSpPr>
            <a:grpSpLocks/>
          </p:cNvGrpSpPr>
          <p:nvPr/>
        </p:nvGrpSpPr>
        <p:grpSpPr bwMode="auto">
          <a:xfrm>
            <a:off x="7753350" y="4129088"/>
            <a:ext cx="749300" cy="1939925"/>
            <a:chOff x="4884" y="2601"/>
            <a:chExt cx="472" cy="1222"/>
          </a:xfrm>
        </p:grpSpPr>
        <p:sp>
          <p:nvSpPr>
            <p:cNvPr id="67620" name="Rectangle 29">
              <a:extLst>
                <a:ext uri="{FF2B5EF4-FFF2-40B4-BE49-F238E27FC236}">
                  <a16:creationId xmlns:a16="http://schemas.microsoft.com/office/drawing/2014/main" id="{5BCED224-E8D9-7041-C410-FE9E83EDFEF3}"/>
                </a:ext>
              </a:extLst>
            </p:cNvPr>
            <p:cNvSpPr>
              <a:spLocks noChangeArrowheads="1"/>
            </p:cNvSpPr>
            <p:nvPr/>
          </p:nvSpPr>
          <p:spPr bwMode="blackWhite">
            <a:xfrm>
              <a:off x="4887" y="2601"/>
              <a:ext cx="449" cy="1222"/>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7621" name="Rectangle 30">
              <a:extLst>
                <a:ext uri="{FF2B5EF4-FFF2-40B4-BE49-F238E27FC236}">
                  <a16:creationId xmlns:a16="http://schemas.microsoft.com/office/drawing/2014/main" id="{675605E6-A2A0-D26B-3B38-93B170369F6E}"/>
                </a:ext>
              </a:extLst>
            </p:cNvPr>
            <p:cNvSpPr>
              <a:spLocks noChangeArrowheads="1"/>
            </p:cNvSpPr>
            <p:nvPr/>
          </p:nvSpPr>
          <p:spPr bwMode="blackWhite">
            <a:xfrm>
              <a:off x="4910" y="2621"/>
              <a:ext cx="41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JOB</a:t>
              </a:r>
            </a:p>
          </p:txBody>
        </p:sp>
        <p:grpSp>
          <p:nvGrpSpPr>
            <p:cNvPr id="67622" name="Group 31">
              <a:extLst>
                <a:ext uri="{FF2B5EF4-FFF2-40B4-BE49-F238E27FC236}">
                  <a16:creationId xmlns:a16="http://schemas.microsoft.com/office/drawing/2014/main" id="{B47380CC-1E6C-9916-9640-C8AD3CBBC7C9}"/>
                </a:ext>
              </a:extLst>
            </p:cNvPr>
            <p:cNvGrpSpPr>
              <a:grpSpLocks/>
            </p:cNvGrpSpPr>
            <p:nvPr/>
          </p:nvGrpSpPr>
          <p:grpSpPr bwMode="auto">
            <a:xfrm>
              <a:off x="4884" y="2893"/>
              <a:ext cx="472" cy="750"/>
              <a:chOff x="4884" y="2893"/>
              <a:chExt cx="472" cy="750"/>
            </a:xfrm>
          </p:grpSpPr>
          <p:sp>
            <p:nvSpPr>
              <p:cNvPr id="67623" name="Line 32">
                <a:extLst>
                  <a:ext uri="{FF2B5EF4-FFF2-40B4-BE49-F238E27FC236}">
                    <a16:creationId xmlns:a16="http://schemas.microsoft.com/office/drawing/2014/main" id="{389044C6-EAD3-5EC5-A10F-C36CA29CE25C}"/>
                  </a:ext>
                </a:extLst>
              </p:cNvPr>
              <p:cNvSpPr>
                <a:spLocks noChangeShapeType="1"/>
              </p:cNvSpPr>
              <p:nvPr/>
            </p:nvSpPr>
            <p:spPr bwMode="auto">
              <a:xfrm>
                <a:off x="4885" y="2893"/>
                <a:ext cx="467"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4" name="Line 33">
                <a:extLst>
                  <a:ext uri="{FF2B5EF4-FFF2-40B4-BE49-F238E27FC236}">
                    <a16:creationId xmlns:a16="http://schemas.microsoft.com/office/drawing/2014/main" id="{0902B587-3325-16FB-D7CC-18B8C4AFB3CF}"/>
                  </a:ext>
                </a:extLst>
              </p:cNvPr>
              <p:cNvSpPr>
                <a:spLocks noChangeShapeType="1"/>
              </p:cNvSpPr>
              <p:nvPr/>
            </p:nvSpPr>
            <p:spPr bwMode="auto">
              <a:xfrm>
                <a:off x="4884" y="3141"/>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5" name="Line 34">
                <a:extLst>
                  <a:ext uri="{FF2B5EF4-FFF2-40B4-BE49-F238E27FC236}">
                    <a16:creationId xmlns:a16="http://schemas.microsoft.com/office/drawing/2014/main" id="{D44B4A23-8432-0BAB-529B-8DBF4DFE305B}"/>
                  </a:ext>
                </a:extLst>
              </p:cNvPr>
              <p:cNvSpPr>
                <a:spLocks noChangeShapeType="1"/>
              </p:cNvSpPr>
              <p:nvPr/>
            </p:nvSpPr>
            <p:spPr bwMode="auto">
              <a:xfrm>
                <a:off x="4884" y="3305"/>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6" name="Line 35">
                <a:extLst>
                  <a:ext uri="{FF2B5EF4-FFF2-40B4-BE49-F238E27FC236}">
                    <a16:creationId xmlns:a16="http://schemas.microsoft.com/office/drawing/2014/main" id="{D1EDB38D-E95A-9CFB-5C78-685E27105B49}"/>
                  </a:ext>
                </a:extLst>
              </p:cNvPr>
              <p:cNvSpPr>
                <a:spLocks noChangeShapeType="1"/>
              </p:cNvSpPr>
              <p:nvPr/>
            </p:nvSpPr>
            <p:spPr bwMode="auto">
              <a:xfrm>
                <a:off x="4884" y="3469"/>
                <a:ext cx="46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7" name="Line 36">
                <a:extLst>
                  <a:ext uri="{FF2B5EF4-FFF2-40B4-BE49-F238E27FC236}">
                    <a16:creationId xmlns:a16="http://schemas.microsoft.com/office/drawing/2014/main" id="{0EBDF8DE-31C7-04BC-85F0-D7119FC092D5}"/>
                  </a:ext>
                </a:extLst>
              </p:cNvPr>
              <p:cNvSpPr>
                <a:spLocks noChangeShapeType="1"/>
              </p:cNvSpPr>
              <p:nvPr/>
            </p:nvSpPr>
            <p:spPr bwMode="auto">
              <a:xfrm>
                <a:off x="4884" y="3643"/>
                <a:ext cx="472"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sp>
        <p:nvSpPr>
          <p:cNvPr id="67611" name="Rectangle 37">
            <a:extLst>
              <a:ext uri="{FF2B5EF4-FFF2-40B4-BE49-F238E27FC236}">
                <a16:creationId xmlns:a16="http://schemas.microsoft.com/office/drawing/2014/main" id="{2BA6BC6F-D0B2-CBDB-019E-61C2A7D56577}"/>
              </a:ext>
            </a:extLst>
          </p:cNvPr>
          <p:cNvSpPr>
            <a:spLocks noChangeArrowheads="1"/>
          </p:cNvSpPr>
          <p:nvPr/>
        </p:nvSpPr>
        <p:spPr bwMode="blackWhite">
          <a:xfrm>
            <a:off x="6157913" y="1614488"/>
            <a:ext cx="712787" cy="1939925"/>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7612" name="Rectangle 38">
            <a:extLst>
              <a:ext uri="{FF2B5EF4-FFF2-40B4-BE49-F238E27FC236}">
                <a16:creationId xmlns:a16="http://schemas.microsoft.com/office/drawing/2014/main" id="{26A058A3-6582-3A0B-281F-25D8DC621B3D}"/>
              </a:ext>
            </a:extLst>
          </p:cNvPr>
          <p:cNvSpPr>
            <a:spLocks noChangeArrowheads="1"/>
          </p:cNvSpPr>
          <p:nvPr/>
        </p:nvSpPr>
        <p:spPr bwMode="blackWhite">
          <a:xfrm>
            <a:off x="6194425" y="1646238"/>
            <a:ext cx="6635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JOB</a:t>
            </a:r>
          </a:p>
        </p:txBody>
      </p:sp>
      <p:grpSp>
        <p:nvGrpSpPr>
          <p:cNvPr id="67613" name="Group 39">
            <a:extLst>
              <a:ext uri="{FF2B5EF4-FFF2-40B4-BE49-F238E27FC236}">
                <a16:creationId xmlns:a16="http://schemas.microsoft.com/office/drawing/2014/main" id="{4BC7EEF4-402D-1844-5606-784D8E1A3609}"/>
              </a:ext>
            </a:extLst>
          </p:cNvPr>
          <p:cNvGrpSpPr>
            <a:grpSpLocks/>
          </p:cNvGrpSpPr>
          <p:nvPr/>
        </p:nvGrpSpPr>
        <p:grpSpPr bwMode="auto">
          <a:xfrm>
            <a:off x="6153150" y="2078038"/>
            <a:ext cx="749300" cy="1190625"/>
            <a:chOff x="3876" y="1309"/>
            <a:chExt cx="472" cy="750"/>
          </a:xfrm>
        </p:grpSpPr>
        <p:sp>
          <p:nvSpPr>
            <p:cNvPr id="67615" name="Line 40">
              <a:extLst>
                <a:ext uri="{FF2B5EF4-FFF2-40B4-BE49-F238E27FC236}">
                  <a16:creationId xmlns:a16="http://schemas.microsoft.com/office/drawing/2014/main" id="{DB0C5604-A6E5-BBEE-8056-F199C72D2131}"/>
                </a:ext>
              </a:extLst>
            </p:cNvPr>
            <p:cNvSpPr>
              <a:spLocks noChangeShapeType="1"/>
            </p:cNvSpPr>
            <p:nvPr/>
          </p:nvSpPr>
          <p:spPr bwMode="auto">
            <a:xfrm>
              <a:off x="3877" y="1309"/>
              <a:ext cx="467"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6" name="Line 41">
              <a:extLst>
                <a:ext uri="{FF2B5EF4-FFF2-40B4-BE49-F238E27FC236}">
                  <a16:creationId xmlns:a16="http://schemas.microsoft.com/office/drawing/2014/main" id="{143EB013-0121-972A-C90B-10B1F6B563CB}"/>
                </a:ext>
              </a:extLst>
            </p:cNvPr>
            <p:cNvSpPr>
              <a:spLocks noChangeShapeType="1"/>
            </p:cNvSpPr>
            <p:nvPr/>
          </p:nvSpPr>
          <p:spPr bwMode="auto">
            <a:xfrm>
              <a:off x="3876" y="1557"/>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7" name="Line 42">
              <a:extLst>
                <a:ext uri="{FF2B5EF4-FFF2-40B4-BE49-F238E27FC236}">
                  <a16:creationId xmlns:a16="http://schemas.microsoft.com/office/drawing/2014/main" id="{ABC44404-3076-A9E0-4FBE-8C1EFC807D82}"/>
                </a:ext>
              </a:extLst>
            </p:cNvPr>
            <p:cNvSpPr>
              <a:spLocks noChangeShapeType="1"/>
            </p:cNvSpPr>
            <p:nvPr/>
          </p:nvSpPr>
          <p:spPr bwMode="auto">
            <a:xfrm>
              <a:off x="3876" y="1721"/>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8" name="Line 43">
              <a:extLst>
                <a:ext uri="{FF2B5EF4-FFF2-40B4-BE49-F238E27FC236}">
                  <a16:creationId xmlns:a16="http://schemas.microsoft.com/office/drawing/2014/main" id="{8FFA8A7C-369D-1D4E-0024-9408D08F2628}"/>
                </a:ext>
              </a:extLst>
            </p:cNvPr>
            <p:cNvSpPr>
              <a:spLocks noChangeShapeType="1"/>
            </p:cNvSpPr>
            <p:nvPr/>
          </p:nvSpPr>
          <p:spPr bwMode="auto">
            <a:xfrm>
              <a:off x="3876" y="1885"/>
              <a:ext cx="46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9" name="Line 44">
              <a:extLst>
                <a:ext uri="{FF2B5EF4-FFF2-40B4-BE49-F238E27FC236}">
                  <a16:creationId xmlns:a16="http://schemas.microsoft.com/office/drawing/2014/main" id="{AF458016-093C-3714-F0CF-D10FBCA54881}"/>
                </a:ext>
              </a:extLst>
            </p:cNvPr>
            <p:cNvSpPr>
              <a:spLocks noChangeShapeType="1"/>
            </p:cNvSpPr>
            <p:nvPr/>
          </p:nvSpPr>
          <p:spPr bwMode="auto">
            <a:xfrm>
              <a:off x="3876" y="2059"/>
              <a:ext cx="472"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15789" name="Rectangle 45">
            <a:extLst>
              <a:ext uri="{FF2B5EF4-FFF2-40B4-BE49-F238E27FC236}">
                <a16:creationId xmlns:a16="http://schemas.microsoft.com/office/drawing/2014/main" id="{4D03F731-828C-A3B1-4609-C432CB2D2DDA}"/>
              </a:ext>
            </a:extLst>
          </p:cNvPr>
          <p:cNvSpPr>
            <a:spLocks noChangeArrowheads="1"/>
          </p:cNvSpPr>
          <p:nvPr/>
        </p:nvSpPr>
        <p:spPr bwMode="auto">
          <a:xfrm>
            <a:off x="5283200" y="1249363"/>
            <a:ext cx="1695977"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FF0000"/>
                </a:solidFill>
                <a:effectLst>
                  <a:outerShdw blurRad="38100" dist="38100" dir="2700000" algn="tl">
                    <a:srgbClr val="FFFFFF"/>
                  </a:outerShdw>
                </a:effectLst>
              </a:rPr>
              <a:t>New column</a:t>
            </a:r>
          </a:p>
        </p:txBody>
      </p:sp>
      <p:sp>
        <p:nvSpPr>
          <p:cNvPr id="5" name="Footer Placeholder 2">
            <a:extLst>
              <a:ext uri="{FF2B5EF4-FFF2-40B4-BE49-F238E27FC236}">
                <a16:creationId xmlns:a16="http://schemas.microsoft.com/office/drawing/2014/main" id="{4C48F751-0509-B37F-5F33-43C3FB5512CC}"/>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a:solidFill>
                  <a:srgbClr val="0000FF"/>
                </a:solidFill>
                <a:latin typeface="Perpetua"/>
              </a:rPr>
              <a:t>Dr. Asif Sohail,</a:t>
            </a:r>
            <a:r>
              <a:rPr lang="en-US" sz="1400">
                <a:solidFill>
                  <a:srgbClr val="696464"/>
                </a:solidFill>
                <a:latin typeface="Perpetua"/>
              </a:rPr>
              <a:t> Department of IT, </a:t>
            </a:r>
            <a:r>
              <a:rPr lang="en-US" sz="1400">
                <a:solidFill>
                  <a:srgbClr val="FF0000"/>
                </a:solidFill>
                <a:latin typeface="Perpetua"/>
              </a:rPr>
              <a:t>University of the Punjab, Lahore</a:t>
            </a:r>
            <a:endParaRPr lang="en-US" sz="1400" dirty="0">
              <a:solidFill>
                <a:srgbClr val="FF0000"/>
              </a:solidFill>
              <a:latin typeface="Perpetua"/>
            </a:endParaRPr>
          </a:p>
        </p:txBody>
      </p:sp>
    </p:spTree>
    <p:extLst>
      <p:ext uri="{BB962C8B-B14F-4D97-AF65-F5344CB8AC3E}">
        <p14:creationId xmlns:p14="http://schemas.microsoft.com/office/powerpoint/2010/main" val="2085779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81391-461A-E14B-BB4A-AA9481282026}"/>
            </a:ext>
          </a:extLst>
        </p:cNvPr>
        <p:cNvGrpSpPr/>
        <p:nvPr/>
      </p:nvGrpSpPr>
      <p:grpSpPr>
        <a:xfrm>
          <a:off x="0" y="0"/>
          <a:ext cx="0" cy="0"/>
          <a:chOff x="0" y="0"/>
          <a:chExt cx="0" cy="0"/>
        </a:xfrm>
      </p:grpSpPr>
      <p:sp>
        <p:nvSpPr>
          <p:cNvPr id="69634" name="Rectangle 2">
            <a:extLst>
              <a:ext uri="{FF2B5EF4-FFF2-40B4-BE49-F238E27FC236}">
                <a16:creationId xmlns:a16="http://schemas.microsoft.com/office/drawing/2014/main" id="{AA5568FC-F9F5-8C0B-26ED-ED4080C00AA6}"/>
              </a:ext>
            </a:extLst>
          </p:cNvPr>
          <p:cNvSpPr>
            <a:spLocks noGrp="1" noChangeArrowheads="1"/>
          </p:cNvSpPr>
          <p:nvPr>
            <p:ph type="title"/>
          </p:nvPr>
        </p:nvSpPr>
        <p:spPr>
          <a:xfrm>
            <a:off x="662421" y="336550"/>
            <a:ext cx="298608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Adding a Column</a:t>
            </a:r>
            <a:endParaRPr lang="en-US" altLang="en-US" sz="2800" dirty="0">
              <a:solidFill>
                <a:srgbClr val="800000"/>
              </a:solidFill>
            </a:endParaRPr>
          </a:p>
        </p:txBody>
      </p:sp>
      <p:sp>
        <p:nvSpPr>
          <p:cNvPr id="69635" name="Rectangle 3">
            <a:extLst>
              <a:ext uri="{FF2B5EF4-FFF2-40B4-BE49-F238E27FC236}">
                <a16:creationId xmlns:a16="http://schemas.microsoft.com/office/drawing/2014/main" id="{0DD62C9B-9901-C256-4CF9-364F54776034}"/>
              </a:ext>
            </a:extLst>
          </p:cNvPr>
          <p:cNvSpPr>
            <a:spLocks noGrp="1" noChangeArrowheads="1"/>
          </p:cNvSpPr>
          <p:nvPr>
            <p:ph type="body" idx="1"/>
          </p:nvPr>
        </p:nvSpPr>
        <p:spPr>
          <a:xfrm>
            <a:off x="323528" y="917757"/>
            <a:ext cx="8596758" cy="2565447"/>
          </a:xfrm>
          <a:noFill/>
        </p:spPr>
        <p:txBody>
          <a:bodyPr wrap="square" lIns="92075" tIns="46038" rIns="92075" bIns="46038">
            <a:spAutoFit/>
          </a:bodyPr>
          <a:lstStyle/>
          <a:p>
            <a:pPr lvl="1"/>
            <a:r>
              <a:rPr lang="en-US" altLang="en-US" dirty="0">
                <a:latin typeface="Cambria" panose="02040503050406030204" pitchFamily="18" charset="0"/>
                <a:ea typeface="Cambria" panose="02040503050406030204" pitchFamily="18" charset="0"/>
              </a:rPr>
              <a:t>Use ADD clause to add columns.</a:t>
            </a: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endParaRPr lang="en-US" altLang="en-US" dirty="0">
              <a:latin typeface="Cambria" panose="02040503050406030204" pitchFamily="18" charset="0"/>
              <a:ea typeface="Cambria" panose="02040503050406030204" pitchFamily="18" charset="0"/>
            </a:endParaRPr>
          </a:p>
          <a:p>
            <a:pPr lvl="1"/>
            <a:r>
              <a:rPr lang="en-US" altLang="en-US" dirty="0">
                <a:latin typeface="Cambria" panose="02040503050406030204" pitchFamily="18" charset="0"/>
                <a:ea typeface="Cambria" panose="02040503050406030204" pitchFamily="18" charset="0"/>
              </a:rPr>
              <a:t>The new column becomes the last column with NULL values.</a:t>
            </a:r>
          </a:p>
          <a:p>
            <a:pPr lvl="1"/>
            <a:endParaRPr lang="en-US" altLang="en-US" dirty="0">
              <a:latin typeface="Cambria" panose="02040503050406030204" pitchFamily="18" charset="0"/>
              <a:ea typeface="Cambria" panose="02040503050406030204" pitchFamily="18" charset="0"/>
            </a:endParaRPr>
          </a:p>
        </p:txBody>
      </p:sp>
      <p:sp>
        <p:nvSpPr>
          <p:cNvPr id="69636" name="Rectangle 4">
            <a:extLst>
              <a:ext uri="{FF2B5EF4-FFF2-40B4-BE49-F238E27FC236}">
                <a16:creationId xmlns:a16="http://schemas.microsoft.com/office/drawing/2014/main" id="{77EB7F90-B186-C8F3-5232-C3401BCC5B04}"/>
              </a:ext>
            </a:extLst>
          </p:cNvPr>
          <p:cNvSpPr>
            <a:spLocks noChangeArrowheads="1"/>
          </p:cNvSpPr>
          <p:nvPr/>
        </p:nvSpPr>
        <p:spPr bwMode="blackWhite">
          <a:xfrm>
            <a:off x="901700" y="1473151"/>
            <a:ext cx="7523163"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9637" name="Rectangle 5">
            <a:extLst>
              <a:ext uri="{FF2B5EF4-FFF2-40B4-BE49-F238E27FC236}">
                <a16:creationId xmlns:a16="http://schemas.microsoft.com/office/drawing/2014/main" id="{DABA0B94-16B2-7D93-6014-36901D98B3C9}"/>
              </a:ext>
            </a:extLst>
          </p:cNvPr>
          <p:cNvSpPr>
            <a:spLocks noChangeArrowheads="1"/>
          </p:cNvSpPr>
          <p:nvPr/>
        </p:nvSpPr>
        <p:spPr bwMode="auto">
          <a:xfrm>
            <a:off x="787400" y="2929607"/>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9638" name="Rectangle 6">
            <a:extLst>
              <a:ext uri="{FF2B5EF4-FFF2-40B4-BE49-F238E27FC236}">
                <a16:creationId xmlns:a16="http://schemas.microsoft.com/office/drawing/2014/main" id="{DC73A06D-CC4E-C0B5-4C44-0E7F0E2627DD}"/>
              </a:ext>
            </a:extLst>
          </p:cNvPr>
          <p:cNvSpPr>
            <a:spLocks noChangeArrowheads="1"/>
          </p:cNvSpPr>
          <p:nvPr/>
        </p:nvSpPr>
        <p:spPr bwMode="blackWhite">
          <a:xfrm>
            <a:off x="901700" y="3140744"/>
            <a:ext cx="7523163" cy="23764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ANNSAL HIREDATE  JOB</a:t>
            </a:r>
          </a:p>
          <a:p>
            <a:pPr>
              <a:spcBef>
                <a:spcPct val="0"/>
              </a:spcBef>
              <a:buFontTx/>
              <a:buNone/>
            </a:pPr>
            <a:r>
              <a:rPr lang="en-US" altLang="en-US" sz="1800" b="1">
                <a:solidFill>
                  <a:srgbClr val="000000"/>
                </a:solidFill>
                <a:latin typeface="Courier New" panose="02070309020205020404" pitchFamily="49" charset="0"/>
              </a:rPr>
              <a:t>--------- ---------- --------- --------- ----</a:t>
            </a:r>
          </a:p>
          <a:p>
            <a:pPr>
              <a:spcBef>
                <a:spcPct val="0"/>
              </a:spcBef>
              <a:buFontTx/>
              <a:buNone/>
            </a:pPr>
            <a:r>
              <a:rPr lang="en-US" altLang="en-US" sz="1800" b="1">
                <a:solidFill>
                  <a:srgbClr val="000000"/>
                </a:solidFill>
                <a:latin typeface="Courier New" panose="02070309020205020404" pitchFamily="49" charset="0"/>
              </a:rPr>
              <a:t>     7698 BLAKE          34200 01-MAY-81</a:t>
            </a:r>
          </a:p>
          <a:p>
            <a:pPr>
              <a:spcBef>
                <a:spcPct val="0"/>
              </a:spcBef>
              <a:buFontTx/>
              <a:buNone/>
            </a:pPr>
            <a:r>
              <a:rPr lang="en-US" altLang="en-US" sz="1800" b="1">
                <a:solidFill>
                  <a:srgbClr val="000000"/>
                </a:solidFill>
                <a:latin typeface="Courier New" panose="02070309020205020404" pitchFamily="49" charset="0"/>
              </a:rPr>
              <a:t>     7654 MARTIN         15000 28-SEP-81</a:t>
            </a:r>
          </a:p>
          <a:p>
            <a:pPr>
              <a:spcBef>
                <a:spcPct val="0"/>
              </a:spcBef>
              <a:buFontTx/>
              <a:buNone/>
            </a:pPr>
            <a:r>
              <a:rPr lang="en-US" altLang="en-US" sz="1800" b="1">
                <a:solidFill>
                  <a:srgbClr val="000000"/>
                </a:solidFill>
                <a:latin typeface="Courier New" panose="02070309020205020404" pitchFamily="49" charset="0"/>
              </a:rPr>
              <a:t>     7499 ALLEN          19200 20-FEB-81</a:t>
            </a:r>
          </a:p>
          <a:p>
            <a:pPr>
              <a:spcBef>
                <a:spcPct val="0"/>
              </a:spcBef>
              <a:buFontTx/>
              <a:buNone/>
            </a:pPr>
            <a:r>
              <a:rPr lang="en-US" altLang="en-US" sz="1800" b="1">
                <a:solidFill>
                  <a:srgbClr val="000000"/>
                </a:solidFill>
                <a:latin typeface="Courier New" panose="02070309020205020404" pitchFamily="49" charset="0"/>
              </a:rPr>
              <a:t>     7844 TURNER         18000 08-SEP-81</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6 rows selected.</a:t>
            </a:r>
          </a:p>
        </p:txBody>
      </p:sp>
      <p:sp>
        <p:nvSpPr>
          <p:cNvPr id="417799" name="Rectangle 7">
            <a:extLst>
              <a:ext uri="{FF2B5EF4-FFF2-40B4-BE49-F238E27FC236}">
                <a16:creationId xmlns:a16="http://schemas.microsoft.com/office/drawing/2014/main" id="{ED515627-C326-5664-C316-D14DD3DC6E8A}"/>
              </a:ext>
            </a:extLst>
          </p:cNvPr>
          <p:cNvSpPr>
            <a:spLocks noChangeArrowheads="1"/>
          </p:cNvSpPr>
          <p:nvPr/>
        </p:nvSpPr>
        <p:spPr bwMode="blackWhite">
          <a:xfrm>
            <a:off x="915988" y="1479501"/>
            <a:ext cx="7205662" cy="941387"/>
          </a:xfrm>
          <a:prstGeom prst="rect">
            <a:avLst/>
          </a:prstGeom>
          <a:noFill/>
          <a:ln w="9525">
            <a:noFill/>
            <a:miter lim="800000"/>
            <a:headEnd/>
            <a:tailEnd/>
          </a:ln>
          <a:effectLst/>
        </p:spPr>
        <p:txBody>
          <a:bodyPr wrap="none" lIns="92075" tIns="46038" rIns="92075" bIns="46038" anchor="ctr"/>
          <a:lstStyle/>
          <a:p>
            <a:pPr>
              <a:tabLst>
                <a:tab pos="692150" algn="l"/>
                <a:tab pos="1200150" algn="l"/>
              </a:tabLst>
              <a:defRPr/>
            </a:pPr>
            <a:r>
              <a:rPr lang="en-US" sz="1800" b="1">
                <a:solidFill>
                  <a:srgbClr val="000000"/>
                </a:solidFill>
                <a:latin typeface="Courier New" pitchFamily="49" charset="0"/>
              </a:rPr>
              <a:t>SQL&gt; ALTER TABLE dept30</a:t>
            </a:r>
          </a:p>
          <a:p>
            <a:pPr>
              <a:tabLst>
                <a:tab pos="692150" algn="l"/>
                <a:tab pos="1200150" algn="l"/>
              </a:tabLst>
              <a:defRPr/>
            </a:pPr>
            <a:r>
              <a:rPr lang="en-US" sz="1800" b="1">
                <a:solidFill>
                  <a:srgbClr val="000000"/>
                </a:solidFill>
                <a:latin typeface="Courier New" pitchFamily="49" charset="0"/>
              </a:rPr>
              <a:t>  2  ADD		   (job VARCHAR2(9));</a:t>
            </a:r>
          </a:p>
          <a:p>
            <a:pPr>
              <a:tabLst>
                <a:tab pos="692150" algn="l"/>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52E7F958-8780-7EE9-F595-DAB2C67A852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47A69525-9133-3F76-3032-E0CC8E4700C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037820848"/>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EEA65-05D5-EB90-80E3-1C8E31F74DC8}"/>
            </a:ext>
          </a:extLst>
        </p:cNvPr>
        <p:cNvGrpSpPr/>
        <p:nvPr/>
      </p:nvGrpSpPr>
      <p:grpSpPr>
        <a:xfrm>
          <a:off x="0" y="0"/>
          <a:ext cx="0" cy="0"/>
          <a:chOff x="0" y="0"/>
          <a:chExt cx="0" cy="0"/>
        </a:xfrm>
      </p:grpSpPr>
      <p:sp>
        <p:nvSpPr>
          <p:cNvPr id="69634" name="Rectangle 2">
            <a:extLst>
              <a:ext uri="{FF2B5EF4-FFF2-40B4-BE49-F238E27FC236}">
                <a16:creationId xmlns:a16="http://schemas.microsoft.com/office/drawing/2014/main" id="{8F020B58-93FA-2734-4444-EBD5D6D428B5}"/>
              </a:ext>
            </a:extLst>
          </p:cNvPr>
          <p:cNvSpPr>
            <a:spLocks noGrp="1" noChangeArrowheads="1"/>
          </p:cNvSpPr>
          <p:nvPr>
            <p:ph type="title"/>
          </p:nvPr>
        </p:nvSpPr>
        <p:spPr>
          <a:xfrm>
            <a:off x="343604" y="205436"/>
            <a:ext cx="3765563"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Modifying a Column</a:t>
            </a:r>
            <a:endParaRPr lang="en-US" altLang="en-US" sz="2800" dirty="0">
              <a:solidFill>
                <a:srgbClr val="800000"/>
              </a:solidFill>
            </a:endParaRPr>
          </a:p>
        </p:txBody>
      </p:sp>
      <p:sp>
        <p:nvSpPr>
          <p:cNvPr id="69635" name="Rectangle 3">
            <a:extLst>
              <a:ext uri="{FF2B5EF4-FFF2-40B4-BE49-F238E27FC236}">
                <a16:creationId xmlns:a16="http://schemas.microsoft.com/office/drawing/2014/main" id="{668E3A11-C2E6-4E01-62B0-5743A2CB437A}"/>
              </a:ext>
            </a:extLst>
          </p:cNvPr>
          <p:cNvSpPr>
            <a:spLocks noGrp="1" noChangeArrowheads="1"/>
          </p:cNvSpPr>
          <p:nvPr>
            <p:ph type="body" idx="1"/>
          </p:nvPr>
        </p:nvSpPr>
        <p:spPr>
          <a:xfrm>
            <a:off x="14428" y="667470"/>
            <a:ext cx="8785968" cy="6576801"/>
          </a:xfrm>
          <a:noFill/>
        </p:spPr>
        <p:txBody>
          <a:bodyPr wrap="square" lIns="92075" tIns="46038" rIns="92075" bIns="46038">
            <a:spAutoFit/>
          </a:bodyPr>
          <a:lstStyle/>
          <a:p>
            <a:pPr lvl="1" algn="just"/>
            <a:r>
              <a:rPr lang="en-US" altLang="en-US" dirty="0">
                <a:latin typeface="Cambria" panose="02040503050406030204" pitchFamily="18" charset="0"/>
                <a:ea typeface="Cambria" panose="02040503050406030204" pitchFamily="18" charset="0"/>
              </a:rPr>
              <a:t>Use </a:t>
            </a:r>
            <a:r>
              <a:rPr lang="en-US" altLang="en-US" dirty="0">
                <a:solidFill>
                  <a:srgbClr val="0000FF"/>
                </a:solidFill>
                <a:latin typeface="Cambria" panose="02040503050406030204" pitchFamily="18" charset="0"/>
                <a:ea typeface="Cambria" panose="02040503050406030204" pitchFamily="18" charset="0"/>
              </a:rPr>
              <a:t>MODIFY</a:t>
            </a:r>
            <a:r>
              <a:rPr lang="en-US" altLang="en-US" dirty="0">
                <a:latin typeface="Cambria" panose="02040503050406030204" pitchFamily="18" charset="0"/>
                <a:ea typeface="Cambria" panose="02040503050406030204" pitchFamily="18" charset="0"/>
              </a:rPr>
              <a:t> clause to add columns.</a:t>
            </a:r>
          </a:p>
          <a:p>
            <a:pPr lvl="1" algn="just"/>
            <a:r>
              <a:rPr lang="en-US" altLang="en-US" dirty="0">
                <a:latin typeface="Cambria" panose="02040503050406030204" pitchFamily="18" charset="0"/>
                <a:ea typeface="Cambria" panose="02040503050406030204" pitchFamily="18" charset="0"/>
              </a:rPr>
              <a:t>You can change a column’s datatype, size, and default value.</a:t>
            </a:r>
          </a:p>
          <a:p>
            <a:pPr lvl="1" algn="just"/>
            <a:endParaRPr lang="en-US" altLang="en-US" dirty="0">
              <a:latin typeface="Cambria" panose="02040503050406030204" pitchFamily="18" charset="0"/>
              <a:ea typeface="Cambria" panose="02040503050406030204" pitchFamily="18" charset="0"/>
            </a:endParaRPr>
          </a:p>
          <a:p>
            <a:pPr lvl="1" algn="just"/>
            <a:endParaRPr lang="en-US" altLang="en-US" dirty="0">
              <a:latin typeface="Cambria" panose="02040503050406030204" pitchFamily="18" charset="0"/>
              <a:ea typeface="Cambria" panose="02040503050406030204" pitchFamily="18" charset="0"/>
            </a:endParaRPr>
          </a:p>
          <a:p>
            <a:pPr lvl="1" algn="just"/>
            <a:endParaRPr lang="en-US" altLang="en-US" dirty="0">
              <a:latin typeface="Cambria" panose="02040503050406030204" pitchFamily="18" charset="0"/>
              <a:ea typeface="Cambria" panose="02040503050406030204" pitchFamily="18" charset="0"/>
            </a:endParaRPr>
          </a:p>
          <a:p>
            <a:pPr lvl="1" algn="just"/>
            <a:r>
              <a:rPr lang="en-US" altLang="en-US" sz="2200" dirty="0">
                <a:latin typeface="Cambria" panose="02040503050406030204" pitchFamily="18" charset="0"/>
                <a:ea typeface="Cambria" panose="02040503050406030204" pitchFamily="18" charset="0"/>
              </a:rPr>
              <a:t>A change to the default value affects only subsequent insertions.</a:t>
            </a:r>
          </a:p>
          <a:p>
            <a:pPr lvl="1" algn="just"/>
            <a:r>
              <a:rPr lang="en-US" altLang="en-US" sz="2200" dirty="0">
                <a:latin typeface="Cambria" panose="02040503050406030204" pitchFamily="18" charset="0"/>
                <a:ea typeface="Cambria" panose="02040503050406030204" pitchFamily="18" charset="0"/>
              </a:rPr>
              <a:t>You can increase the length of the CHAR column and the precision of numeric column. </a:t>
            </a:r>
          </a:p>
          <a:p>
            <a:pPr lvl="1" algn="just"/>
            <a:r>
              <a:rPr lang="en-US" altLang="en-US" sz="2200" dirty="0">
                <a:latin typeface="Cambria" panose="02040503050406030204" pitchFamily="18" charset="0"/>
                <a:ea typeface="Cambria" panose="02040503050406030204" pitchFamily="18" charset="0"/>
              </a:rPr>
              <a:t>Increasing the length of CHAR column requires blank padding.</a:t>
            </a:r>
          </a:p>
          <a:p>
            <a:pPr lvl="1" algn="just"/>
            <a:r>
              <a:rPr lang="en-US" altLang="en-US" sz="2200" dirty="0">
                <a:latin typeface="Cambria" panose="02040503050406030204" pitchFamily="18" charset="0"/>
                <a:ea typeface="Cambria" panose="02040503050406030204" pitchFamily="18" charset="0"/>
              </a:rPr>
              <a:t>You can decrease the length of a VARCHAR2 and reduce the precision of a numeric column, only if all the data in the column fits the new length. </a:t>
            </a:r>
          </a:p>
          <a:p>
            <a:pPr lvl="1" algn="just"/>
            <a:r>
              <a:rPr lang="en-US" altLang="en-US" sz="2200" dirty="0">
                <a:latin typeface="Cambria" panose="02040503050406030204" pitchFamily="18" charset="0"/>
                <a:ea typeface="Cambria" panose="02040503050406030204" pitchFamily="18" charset="0"/>
              </a:rPr>
              <a:t>The column values must be NULL to change the column’s datatype. However, the non-empty columns with datatypes CHAR and VARCHAR2 are interchangeable by keeping the size unchanged. </a:t>
            </a:r>
          </a:p>
          <a:p>
            <a:pPr lvl="1" algn="just"/>
            <a:endParaRPr lang="en-US" altLang="en-US" dirty="0">
              <a:latin typeface="Cambria" panose="02040503050406030204" pitchFamily="18" charset="0"/>
              <a:ea typeface="Cambria" panose="02040503050406030204" pitchFamily="18" charset="0"/>
            </a:endParaRPr>
          </a:p>
          <a:p>
            <a:pPr lvl="1" algn="just"/>
            <a:endParaRPr lang="en-US" altLang="en-US" dirty="0">
              <a:latin typeface="Cambria" panose="02040503050406030204" pitchFamily="18" charset="0"/>
              <a:ea typeface="Cambria" panose="02040503050406030204" pitchFamily="18" charset="0"/>
            </a:endParaRPr>
          </a:p>
        </p:txBody>
      </p:sp>
      <p:sp>
        <p:nvSpPr>
          <p:cNvPr id="69636" name="Rectangle 4">
            <a:extLst>
              <a:ext uri="{FF2B5EF4-FFF2-40B4-BE49-F238E27FC236}">
                <a16:creationId xmlns:a16="http://schemas.microsoft.com/office/drawing/2014/main" id="{4CD98041-30C7-0F4B-3412-FF5A1BB117D4}"/>
              </a:ext>
            </a:extLst>
          </p:cNvPr>
          <p:cNvSpPr>
            <a:spLocks noChangeArrowheads="1"/>
          </p:cNvSpPr>
          <p:nvPr/>
        </p:nvSpPr>
        <p:spPr bwMode="blackWhite">
          <a:xfrm>
            <a:off x="827584" y="1689175"/>
            <a:ext cx="7523163"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9637" name="Rectangle 5">
            <a:extLst>
              <a:ext uri="{FF2B5EF4-FFF2-40B4-BE49-F238E27FC236}">
                <a16:creationId xmlns:a16="http://schemas.microsoft.com/office/drawing/2014/main" id="{D7FB9345-35F1-2CCE-593E-54A15FECCF64}"/>
              </a:ext>
            </a:extLst>
          </p:cNvPr>
          <p:cNvSpPr>
            <a:spLocks noChangeArrowheads="1"/>
          </p:cNvSpPr>
          <p:nvPr/>
        </p:nvSpPr>
        <p:spPr bwMode="auto">
          <a:xfrm>
            <a:off x="787400" y="2929607"/>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17799" name="Rectangle 7">
            <a:extLst>
              <a:ext uri="{FF2B5EF4-FFF2-40B4-BE49-F238E27FC236}">
                <a16:creationId xmlns:a16="http://schemas.microsoft.com/office/drawing/2014/main" id="{11CD36AC-B285-3703-C489-C2C22DEA5627}"/>
              </a:ext>
            </a:extLst>
          </p:cNvPr>
          <p:cNvSpPr>
            <a:spLocks noChangeArrowheads="1"/>
          </p:cNvSpPr>
          <p:nvPr/>
        </p:nvSpPr>
        <p:spPr bwMode="blackWhite">
          <a:xfrm>
            <a:off x="841872" y="1695525"/>
            <a:ext cx="7205662" cy="941387"/>
          </a:xfrm>
          <a:prstGeom prst="rect">
            <a:avLst/>
          </a:prstGeom>
          <a:noFill/>
          <a:ln w="9525">
            <a:noFill/>
            <a:miter lim="800000"/>
            <a:headEnd/>
            <a:tailEnd/>
          </a:ln>
          <a:effectLst/>
        </p:spPr>
        <p:txBody>
          <a:bodyPr wrap="none" lIns="92075" tIns="46038" rIns="92075" bIns="46038" anchor="ctr"/>
          <a:lstStyle/>
          <a:p>
            <a:pPr>
              <a:tabLst>
                <a:tab pos="692150" algn="l"/>
                <a:tab pos="1200150" algn="l"/>
              </a:tabLst>
              <a:defRPr/>
            </a:pPr>
            <a:r>
              <a:rPr lang="en-US" sz="1800" b="1" dirty="0">
                <a:solidFill>
                  <a:srgbClr val="000000"/>
                </a:solidFill>
                <a:latin typeface="Courier New" pitchFamily="49" charset="0"/>
              </a:rPr>
              <a:t>SQL&gt; ALTER TABLE dept30</a:t>
            </a:r>
          </a:p>
          <a:p>
            <a:pPr>
              <a:tabLst>
                <a:tab pos="692150" algn="l"/>
                <a:tab pos="1200150" algn="l"/>
              </a:tabLst>
              <a:defRPr/>
            </a:pPr>
            <a:r>
              <a:rPr lang="en-US" sz="1800" b="1" dirty="0">
                <a:solidFill>
                  <a:srgbClr val="000000"/>
                </a:solidFill>
                <a:latin typeface="Courier New" pitchFamily="49" charset="0"/>
              </a:rPr>
              <a:t>  2  </a:t>
            </a:r>
            <a:r>
              <a:rPr lang="en-US" sz="1800" b="1" dirty="0">
                <a:solidFill>
                  <a:srgbClr val="0000FF"/>
                </a:solidFill>
                <a:latin typeface="Courier New" pitchFamily="49" charset="0"/>
              </a:rPr>
              <a:t>MODIFY</a:t>
            </a:r>
            <a:r>
              <a:rPr lang="en-US" sz="1800" b="1" dirty="0">
                <a:solidFill>
                  <a:srgbClr val="000000"/>
                </a:solidFill>
                <a:latin typeface="Courier New" pitchFamily="49" charset="0"/>
              </a:rPr>
              <a:t>	(job VARCHAR2(15));</a:t>
            </a:r>
          </a:p>
          <a:p>
            <a:pPr>
              <a:tabLst>
                <a:tab pos="692150" algn="l"/>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C67D3D36-5D9A-72F1-4295-1075266B377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7D6CA78-A50D-361B-FE12-089CC3B3DE7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73061885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E93B-CAC8-D425-BC2A-781F9B6D9EF6}"/>
            </a:ext>
          </a:extLst>
        </p:cNvPr>
        <p:cNvGrpSpPr/>
        <p:nvPr/>
      </p:nvGrpSpPr>
      <p:grpSpPr>
        <a:xfrm>
          <a:off x="0" y="0"/>
          <a:ext cx="0" cy="0"/>
          <a:chOff x="0" y="0"/>
          <a:chExt cx="0" cy="0"/>
        </a:xfrm>
      </p:grpSpPr>
      <p:sp>
        <p:nvSpPr>
          <p:cNvPr id="75778" name="Rectangle 2">
            <a:extLst>
              <a:ext uri="{FF2B5EF4-FFF2-40B4-BE49-F238E27FC236}">
                <a16:creationId xmlns:a16="http://schemas.microsoft.com/office/drawing/2014/main" id="{7BF48A56-3FC1-6836-2033-C0906773D295}"/>
              </a:ext>
            </a:extLst>
          </p:cNvPr>
          <p:cNvSpPr>
            <a:spLocks noGrp="1" noChangeArrowheads="1"/>
          </p:cNvSpPr>
          <p:nvPr>
            <p:ph type="title"/>
          </p:nvPr>
        </p:nvSpPr>
        <p:spPr>
          <a:xfrm>
            <a:off x="467544" y="327818"/>
            <a:ext cx="6624638"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Dropping and Renaming a Column</a:t>
            </a:r>
          </a:p>
        </p:txBody>
      </p:sp>
      <p:sp>
        <p:nvSpPr>
          <p:cNvPr id="75779" name="Rectangle 3">
            <a:extLst>
              <a:ext uri="{FF2B5EF4-FFF2-40B4-BE49-F238E27FC236}">
                <a16:creationId xmlns:a16="http://schemas.microsoft.com/office/drawing/2014/main" id="{E5607D47-2725-AD13-0261-07543C754DA5}"/>
              </a:ext>
            </a:extLst>
          </p:cNvPr>
          <p:cNvSpPr>
            <a:spLocks noGrp="1" noChangeArrowheads="1"/>
          </p:cNvSpPr>
          <p:nvPr>
            <p:ph type="body" idx="1"/>
          </p:nvPr>
        </p:nvSpPr>
        <p:spPr>
          <a:xfrm>
            <a:off x="467544" y="946150"/>
            <a:ext cx="8286750" cy="4494180"/>
          </a:xfrm>
          <a:noFill/>
        </p:spPr>
        <p:txBody>
          <a:bodyPr lIns="92075" tIns="46038" rIns="92075" bIns="46038">
            <a:spAutoFit/>
          </a:bodyPr>
          <a:lstStyle/>
          <a:p>
            <a:pPr>
              <a:spcBef>
                <a:spcPts val="600"/>
              </a:spcBef>
              <a:spcAft>
                <a:spcPts val="600"/>
              </a:spcAft>
            </a:pPr>
            <a:r>
              <a:rPr lang="en-US" altLang="en-US" sz="2400" dirty="0">
                <a:latin typeface="Cambria" panose="02040503050406030204" pitchFamily="18" charset="0"/>
                <a:ea typeface="Cambria" panose="02040503050406030204" pitchFamily="18" charset="0"/>
              </a:rPr>
              <a:t>Use the </a:t>
            </a:r>
            <a:r>
              <a:rPr lang="en-US" altLang="en-US" sz="2400" dirty="0">
                <a:solidFill>
                  <a:srgbClr val="0000FF"/>
                </a:solidFill>
                <a:latin typeface="Cambria" panose="02040503050406030204" pitchFamily="18" charset="0"/>
                <a:ea typeface="Cambria" panose="02040503050406030204" pitchFamily="18" charset="0"/>
              </a:rPr>
              <a:t>DROP COLUMN</a:t>
            </a:r>
            <a:r>
              <a:rPr lang="en-US" altLang="en-US" sz="2400" dirty="0">
                <a:latin typeface="Cambria" panose="02040503050406030204" pitchFamily="18" charset="0"/>
                <a:ea typeface="Cambria" panose="02040503050406030204" pitchFamily="18" charset="0"/>
              </a:rPr>
              <a:t> clause to drop columns you no longer need from the table.</a:t>
            </a:r>
          </a:p>
          <a:p>
            <a:pPr>
              <a:spcBef>
                <a:spcPts val="600"/>
              </a:spcBef>
              <a:spcAft>
                <a:spcPts val="600"/>
              </a:spcAft>
            </a:pPr>
            <a:endParaRPr lang="en-US" altLang="en-US" sz="2400" dirty="0">
              <a:latin typeface="Cambria" panose="02040503050406030204" pitchFamily="18" charset="0"/>
              <a:ea typeface="Cambria" panose="02040503050406030204" pitchFamily="18" charset="0"/>
            </a:endParaRPr>
          </a:p>
          <a:p>
            <a:pPr>
              <a:spcBef>
                <a:spcPts val="600"/>
              </a:spcBef>
              <a:spcAft>
                <a:spcPts val="600"/>
              </a:spcAft>
            </a:pPr>
            <a:endParaRPr lang="en-US" altLang="en-US" sz="2400" dirty="0">
              <a:latin typeface="Cambria" panose="02040503050406030204" pitchFamily="18" charset="0"/>
              <a:ea typeface="Cambria" panose="02040503050406030204" pitchFamily="18" charset="0"/>
            </a:endParaRPr>
          </a:p>
          <a:p>
            <a:pPr>
              <a:spcBef>
                <a:spcPts val="600"/>
              </a:spcBef>
              <a:spcAft>
                <a:spcPts val="600"/>
              </a:spcAft>
            </a:pPr>
            <a:r>
              <a:rPr lang="en-US" altLang="en-US" sz="2400" dirty="0">
                <a:latin typeface="Cambria" panose="02040503050406030204" pitchFamily="18" charset="0"/>
                <a:ea typeface="Cambria" panose="02040503050406030204" pitchFamily="18" charset="0"/>
              </a:rPr>
              <a:t>Use the </a:t>
            </a:r>
            <a:r>
              <a:rPr lang="en-US" altLang="en-US" sz="2400" dirty="0">
                <a:solidFill>
                  <a:srgbClr val="0000FF"/>
                </a:solidFill>
                <a:latin typeface="Cambria" panose="02040503050406030204" pitchFamily="18" charset="0"/>
                <a:ea typeface="Cambria" panose="02040503050406030204" pitchFamily="18" charset="0"/>
              </a:rPr>
              <a:t>RENAME COLUMN</a:t>
            </a:r>
            <a:r>
              <a:rPr lang="en-US" altLang="en-US" sz="2400" dirty="0">
                <a:latin typeface="Cambria" panose="02040503050406030204" pitchFamily="18" charset="0"/>
                <a:ea typeface="Cambria" panose="02040503050406030204" pitchFamily="18" charset="0"/>
              </a:rPr>
              <a:t> clause to rename a col. </a:t>
            </a:r>
          </a:p>
          <a:p>
            <a:pPr>
              <a:spcBef>
                <a:spcPts val="600"/>
              </a:spcBef>
              <a:spcAft>
                <a:spcPts val="600"/>
              </a:spcAft>
            </a:pPr>
            <a:endParaRPr lang="en-US" altLang="en-US" sz="2400" dirty="0">
              <a:latin typeface="Cambria" panose="02040503050406030204" pitchFamily="18" charset="0"/>
              <a:ea typeface="Cambria" panose="02040503050406030204" pitchFamily="18" charset="0"/>
            </a:endParaRPr>
          </a:p>
          <a:p>
            <a:pPr lvl="1">
              <a:spcBef>
                <a:spcPts val="600"/>
              </a:spcBef>
              <a:spcAft>
                <a:spcPts val="600"/>
              </a:spcAft>
            </a:pPr>
            <a:endParaRPr lang="en-US" altLang="en-US" dirty="0">
              <a:latin typeface="Cambria" panose="02040503050406030204" pitchFamily="18" charset="0"/>
              <a:ea typeface="Cambria" panose="02040503050406030204" pitchFamily="18" charset="0"/>
            </a:endParaRPr>
          </a:p>
          <a:p>
            <a:pPr lvl="1">
              <a:spcBef>
                <a:spcPts val="600"/>
              </a:spcBef>
              <a:spcAft>
                <a:spcPts val="600"/>
              </a:spcAft>
            </a:pPr>
            <a:endParaRPr lang="en-US" altLang="en-US" dirty="0">
              <a:latin typeface="Cambria" panose="02040503050406030204" pitchFamily="18" charset="0"/>
              <a:ea typeface="Cambria" panose="02040503050406030204" pitchFamily="18" charset="0"/>
            </a:endParaRPr>
          </a:p>
          <a:p>
            <a:pPr lvl="1">
              <a:spcBef>
                <a:spcPts val="600"/>
              </a:spcBef>
              <a:spcAft>
                <a:spcPts val="600"/>
              </a:spcAft>
              <a:buFontTx/>
              <a:buNone/>
            </a:pPr>
            <a:endParaRPr lang="en-US" altLang="en-US" dirty="0">
              <a:latin typeface="Cambria" panose="02040503050406030204" pitchFamily="18" charset="0"/>
              <a:ea typeface="Cambria" panose="02040503050406030204" pitchFamily="18" charset="0"/>
            </a:endParaRPr>
          </a:p>
        </p:txBody>
      </p:sp>
      <p:sp>
        <p:nvSpPr>
          <p:cNvPr id="75780" name="Rectangle 4">
            <a:extLst>
              <a:ext uri="{FF2B5EF4-FFF2-40B4-BE49-F238E27FC236}">
                <a16:creationId xmlns:a16="http://schemas.microsoft.com/office/drawing/2014/main" id="{5C0547E2-A65F-38BC-6BA2-1EA9C31595D1}"/>
              </a:ext>
            </a:extLst>
          </p:cNvPr>
          <p:cNvSpPr>
            <a:spLocks noChangeArrowheads="1"/>
          </p:cNvSpPr>
          <p:nvPr/>
        </p:nvSpPr>
        <p:spPr bwMode="blackWhite">
          <a:xfrm>
            <a:off x="755576" y="1772816"/>
            <a:ext cx="7510463" cy="9461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p:txBody>
      </p:sp>
      <p:sp>
        <p:nvSpPr>
          <p:cNvPr id="419845" name="Rectangle 5">
            <a:extLst>
              <a:ext uri="{FF2B5EF4-FFF2-40B4-BE49-F238E27FC236}">
                <a16:creationId xmlns:a16="http://schemas.microsoft.com/office/drawing/2014/main" id="{28252E3D-845E-E17E-8169-F314CFBE17E4}"/>
              </a:ext>
            </a:extLst>
          </p:cNvPr>
          <p:cNvSpPr>
            <a:spLocks noChangeArrowheads="1"/>
          </p:cNvSpPr>
          <p:nvPr/>
        </p:nvSpPr>
        <p:spPr bwMode="blackWhite">
          <a:xfrm>
            <a:off x="836539" y="1825203"/>
            <a:ext cx="6578600" cy="8604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ALTER TABLE	dept30</a:t>
            </a:r>
          </a:p>
          <a:p>
            <a:pPr>
              <a:tabLst>
                <a:tab pos="1200150" algn="l"/>
              </a:tabLst>
              <a:defRPr/>
            </a:pPr>
            <a:r>
              <a:rPr lang="en-US" sz="2000" b="1" dirty="0">
                <a:solidFill>
                  <a:srgbClr val="0000FF"/>
                </a:solidFill>
                <a:latin typeface="Courier New" pitchFamily="49" charset="0"/>
              </a:rPr>
              <a:t>DROP COLUMN</a:t>
            </a:r>
            <a:r>
              <a:rPr lang="en-US" sz="2000" b="1" dirty="0">
                <a:solidFill>
                  <a:srgbClr val="000000"/>
                </a:solidFill>
                <a:latin typeface="Courier New" pitchFamily="49" charset="0"/>
              </a:rPr>
              <a:t> Job; </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altered.</a:t>
            </a:r>
          </a:p>
        </p:txBody>
      </p:sp>
      <p:sp>
        <p:nvSpPr>
          <p:cNvPr id="75783" name="Rectangle 4">
            <a:extLst>
              <a:ext uri="{FF2B5EF4-FFF2-40B4-BE49-F238E27FC236}">
                <a16:creationId xmlns:a16="http://schemas.microsoft.com/office/drawing/2014/main" id="{1474D1E7-4A76-CFC1-5EEC-29F09FB1A2B8}"/>
              </a:ext>
            </a:extLst>
          </p:cNvPr>
          <p:cNvSpPr>
            <a:spLocks noChangeArrowheads="1"/>
          </p:cNvSpPr>
          <p:nvPr/>
        </p:nvSpPr>
        <p:spPr bwMode="blackWhite">
          <a:xfrm>
            <a:off x="755576" y="3445303"/>
            <a:ext cx="7510463" cy="9461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a:p>
            <a:pPr>
              <a:lnSpc>
                <a:spcPct val="95000"/>
              </a:lnSpc>
              <a:spcBef>
                <a:spcPct val="0"/>
              </a:spcBef>
              <a:buFontTx/>
              <a:buNone/>
            </a:pPr>
            <a:endParaRPr lang="en-US" altLang="en-US" sz="2000" b="1">
              <a:solidFill>
                <a:srgbClr val="000000"/>
              </a:solidFill>
              <a:latin typeface="Courier New" panose="02070309020205020404" pitchFamily="49" charset="0"/>
            </a:endParaRPr>
          </a:p>
        </p:txBody>
      </p:sp>
      <p:sp>
        <p:nvSpPr>
          <p:cNvPr id="8" name="Rectangle 5">
            <a:extLst>
              <a:ext uri="{FF2B5EF4-FFF2-40B4-BE49-F238E27FC236}">
                <a16:creationId xmlns:a16="http://schemas.microsoft.com/office/drawing/2014/main" id="{E21DD512-36AE-B2F4-344A-F2625A47C6C4}"/>
              </a:ext>
            </a:extLst>
          </p:cNvPr>
          <p:cNvSpPr>
            <a:spLocks noChangeArrowheads="1"/>
          </p:cNvSpPr>
          <p:nvPr/>
        </p:nvSpPr>
        <p:spPr bwMode="blackWhite">
          <a:xfrm>
            <a:off x="836539" y="3497691"/>
            <a:ext cx="6578600" cy="8604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ALTER TABLE	dept30</a:t>
            </a:r>
          </a:p>
          <a:p>
            <a:pPr>
              <a:tabLst>
                <a:tab pos="1200150" algn="l"/>
              </a:tabLst>
              <a:defRPr/>
            </a:pPr>
            <a:r>
              <a:rPr lang="en-US" sz="2000" b="1" dirty="0">
                <a:solidFill>
                  <a:srgbClr val="0000FF"/>
                </a:solidFill>
                <a:latin typeface="Courier New" pitchFamily="49" charset="0"/>
              </a:rPr>
              <a:t>RENAME COLUMN</a:t>
            </a:r>
            <a:r>
              <a:rPr lang="en-US" sz="2000" b="1" dirty="0">
                <a:solidFill>
                  <a:srgbClr val="000000"/>
                </a:solidFill>
                <a:latin typeface="Courier New" pitchFamily="49" charset="0"/>
              </a:rPr>
              <a:t> Job TO Designation; </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FD1F9CDE-BF37-6BBC-CDBA-61549BF9CB1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3456C093-2616-064C-8C46-040358A4CED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251257494"/>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3E7B-2DC2-5322-68F5-5FD7F4687D37}"/>
            </a:ext>
          </a:extLst>
        </p:cNvPr>
        <p:cNvGrpSpPr/>
        <p:nvPr/>
      </p:nvGrpSpPr>
      <p:grpSpPr>
        <a:xfrm>
          <a:off x="0" y="0"/>
          <a:ext cx="0" cy="0"/>
          <a:chOff x="0" y="0"/>
          <a:chExt cx="0" cy="0"/>
        </a:xfrm>
      </p:grpSpPr>
      <p:sp>
        <p:nvSpPr>
          <p:cNvPr id="77826" name="Rectangle 2">
            <a:extLst>
              <a:ext uri="{FF2B5EF4-FFF2-40B4-BE49-F238E27FC236}">
                <a16:creationId xmlns:a16="http://schemas.microsoft.com/office/drawing/2014/main" id="{54B25AA7-F902-3128-13E9-0B226B09DA66}"/>
              </a:ext>
            </a:extLst>
          </p:cNvPr>
          <p:cNvSpPr>
            <a:spLocks noGrp="1" noChangeArrowheads="1"/>
          </p:cNvSpPr>
          <p:nvPr>
            <p:ph type="title"/>
          </p:nvPr>
        </p:nvSpPr>
        <p:spPr>
          <a:xfrm>
            <a:off x="611560" y="332656"/>
            <a:ext cx="3490912"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Adding a Constraint</a:t>
            </a:r>
          </a:p>
        </p:txBody>
      </p:sp>
      <p:sp>
        <p:nvSpPr>
          <p:cNvPr id="77827" name="Rectangle 3">
            <a:extLst>
              <a:ext uri="{FF2B5EF4-FFF2-40B4-BE49-F238E27FC236}">
                <a16:creationId xmlns:a16="http://schemas.microsoft.com/office/drawing/2014/main" id="{1560A519-3EB6-678A-C2B9-E05F87060668}"/>
              </a:ext>
            </a:extLst>
          </p:cNvPr>
          <p:cNvSpPr>
            <a:spLocks noGrp="1" noChangeArrowheads="1"/>
          </p:cNvSpPr>
          <p:nvPr>
            <p:ph type="body" idx="1"/>
          </p:nvPr>
        </p:nvSpPr>
        <p:spPr>
          <a:xfrm>
            <a:off x="622043" y="1844824"/>
            <a:ext cx="7802819" cy="4032515"/>
          </a:xfrm>
          <a:noFill/>
        </p:spPr>
        <p:txBody>
          <a:bodyPr wrap="square" lIns="92075" tIns="46038" rIns="92075" bIns="46038">
            <a:spAutoFit/>
          </a:bodyPr>
          <a:lstStyle/>
          <a:p>
            <a:pPr algn="just"/>
            <a:r>
              <a:rPr lang="en-US" altLang="en-US" sz="2400" dirty="0">
                <a:latin typeface="Cambria" panose="02040503050406030204" pitchFamily="18" charset="0"/>
                <a:ea typeface="Cambria" panose="02040503050406030204" pitchFamily="18" charset="0"/>
              </a:rPr>
              <a:t>Add a </a:t>
            </a:r>
            <a:r>
              <a:rPr lang="en-US" altLang="en-US" sz="2400" dirty="0">
                <a:solidFill>
                  <a:srgbClr val="0000FF"/>
                </a:solidFill>
                <a:latin typeface="Cambria" panose="02040503050406030204" pitchFamily="18" charset="0"/>
                <a:ea typeface="Cambria" panose="02040503050406030204" pitchFamily="18" charset="0"/>
              </a:rPr>
              <a:t>PRIMARY KEY</a:t>
            </a:r>
            <a:r>
              <a:rPr lang="en-US" altLang="en-US" sz="2400" dirty="0">
                <a:latin typeface="Cambria" panose="02040503050406030204" pitchFamily="18" charset="0"/>
                <a:ea typeface="Cambria" panose="02040503050406030204" pitchFamily="18" charset="0"/>
              </a:rPr>
              <a:t> constraint to the EMP table</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r>
              <a:rPr lang="en-US" altLang="en-US" sz="2400" b="1" dirty="0">
                <a:solidFill>
                  <a:srgbClr val="0000FF"/>
                </a:solidFill>
                <a:latin typeface="Cambria" panose="02040503050406030204" pitchFamily="18" charset="0"/>
                <a:ea typeface="Cambria" panose="02040503050406030204" pitchFamily="18" charset="0"/>
              </a:rPr>
              <a:t>UNIQUE</a:t>
            </a:r>
            <a:r>
              <a:rPr lang="en-US" altLang="en-US" sz="2400" dirty="0">
                <a:latin typeface="Cambria" panose="02040503050406030204" pitchFamily="18" charset="0"/>
                <a:ea typeface="Cambria" panose="02040503050406030204" pitchFamily="18" charset="0"/>
              </a:rPr>
              <a:t> constraint</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r>
              <a:rPr lang="en-US" altLang="en-US" sz="2400" b="1" dirty="0">
                <a:solidFill>
                  <a:srgbClr val="0000FF"/>
                </a:solidFill>
                <a:latin typeface="Cambria" panose="02040503050406030204" pitchFamily="18" charset="0"/>
                <a:ea typeface="Cambria" panose="02040503050406030204" pitchFamily="18" charset="0"/>
              </a:rPr>
              <a:t>NOT NULL</a:t>
            </a:r>
            <a:r>
              <a:rPr lang="en-US" altLang="en-US" sz="2400" dirty="0">
                <a:latin typeface="Cambria" panose="02040503050406030204" pitchFamily="18" charset="0"/>
                <a:ea typeface="Cambria" panose="02040503050406030204" pitchFamily="18" charset="0"/>
              </a:rPr>
              <a:t> constraint</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77828" name="Rectangle 4">
            <a:extLst>
              <a:ext uri="{FF2B5EF4-FFF2-40B4-BE49-F238E27FC236}">
                <a16:creationId xmlns:a16="http://schemas.microsoft.com/office/drawing/2014/main" id="{4C17853A-CEE3-F35D-BF4C-433E9BC129FF}"/>
              </a:ext>
            </a:extLst>
          </p:cNvPr>
          <p:cNvSpPr>
            <a:spLocks noChangeArrowheads="1"/>
          </p:cNvSpPr>
          <p:nvPr/>
        </p:nvSpPr>
        <p:spPr bwMode="blackWhite">
          <a:xfrm>
            <a:off x="622044" y="958131"/>
            <a:ext cx="7493000" cy="690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a:solidFill>
                  <a:srgbClr val="000000"/>
                </a:solidFill>
                <a:latin typeface="Courier New" panose="02070309020205020404" pitchFamily="49" charset="0"/>
              </a:rPr>
              <a:t>  ALTER TABLE	 </a:t>
            </a:r>
            <a:r>
              <a:rPr lang="en-US" altLang="en-US" sz="2000" b="1" i="1">
                <a:solidFill>
                  <a:srgbClr val="000000"/>
                </a:solidFill>
                <a:latin typeface="Courier New" panose="02070309020205020404" pitchFamily="49" charset="0"/>
              </a:rPr>
              <a:t>table</a:t>
            </a:r>
            <a:endParaRPr lang="en-US" altLang="en-US" sz="2000" b="1">
              <a:solidFill>
                <a:srgbClr val="000000"/>
              </a:solidFill>
              <a:latin typeface="Courier New" panose="02070309020205020404" pitchFamily="49" charset="0"/>
            </a:endParaRPr>
          </a:p>
          <a:p>
            <a:pPr>
              <a:spcBef>
                <a:spcPct val="0"/>
              </a:spcBef>
              <a:buFontTx/>
              <a:buNone/>
            </a:pPr>
            <a:r>
              <a:rPr lang="en-US" altLang="en-US" sz="2000" b="1">
                <a:solidFill>
                  <a:srgbClr val="000000"/>
                </a:solidFill>
                <a:latin typeface="Courier New" panose="02070309020205020404" pitchFamily="49" charset="0"/>
              </a:rPr>
              <a:t>  ADD [CONSTRAINT </a:t>
            </a:r>
            <a:r>
              <a:rPr lang="en-US" altLang="en-US" sz="2000" b="1" i="1">
                <a:solidFill>
                  <a:srgbClr val="000000"/>
                </a:solidFill>
                <a:latin typeface="Courier New" panose="02070309020205020404" pitchFamily="49" charset="0"/>
              </a:rPr>
              <a:t>constraint</a:t>
            </a:r>
            <a:r>
              <a:rPr lang="en-US" altLang="en-US" sz="2000" b="1">
                <a:solidFill>
                  <a:srgbClr val="000000"/>
                </a:solidFill>
                <a:latin typeface="Courier New" panose="02070309020205020404" pitchFamily="49" charset="0"/>
              </a:rPr>
              <a:t>] </a:t>
            </a:r>
            <a:r>
              <a:rPr lang="en-US" altLang="en-US" sz="2000" b="1" i="1">
                <a:solidFill>
                  <a:srgbClr val="000000"/>
                </a:solidFill>
                <a:latin typeface="Courier New" panose="02070309020205020404" pitchFamily="49" charset="0"/>
              </a:rPr>
              <a:t>type </a:t>
            </a:r>
            <a:r>
              <a:rPr lang="en-US" altLang="en-US" sz="2000" b="1">
                <a:solidFill>
                  <a:srgbClr val="000000"/>
                </a:solidFill>
                <a:latin typeface="Courier New" panose="02070309020205020404" pitchFamily="49" charset="0"/>
              </a:rPr>
              <a:t>(</a:t>
            </a:r>
            <a:r>
              <a:rPr lang="en-US" altLang="en-US" sz="2000" b="1" i="1">
                <a:solidFill>
                  <a:srgbClr val="000000"/>
                </a:solidFill>
                <a:latin typeface="Courier New" panose="02070309020205020404" pitchFamily="49" charset="0"/>
              </a:rPr>
              <a:t>column</a:t>
            </a:r>
            <a:r>
              <a:rPr lang="en-US" altLang="en-US" sz="2000" b="1">
                <a:solidFill>
                  <a:srgbClr val="000000"/>
                </a:solidFill>
                <a:latin typeface="Courier New" panose="02070309020205020404" pitchFamily="49" charset="0"/>
              </a:rPr>
              <a:t>);</a:t>
            </a:r>
          </a:p>
        </p:txBody>
      </p:sp>
      <p:sp>
        <p:nvSpPr>
          <p:cNvPr id="2" name="Slide Number Placeholder 23">
            <a:extLst>
              <a:ext uri="{FF2B5EF4-FFF2-40B4-BE49-F238E27FC236}">
                <a16:creationId xmlns:a16="http://schemas.microsoft.com/office/drawing/2014/main" id="{30530F69-1FFD-924E-43F6-A272D3415181}"/>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87ABD27-57F6-5D5E-A95F-34D5014E6CF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9876" name="Rectangle 4">
            <a:extLst>
              <a:ext uri="{FF2B5EF4-FFF2-40B4-BE49-F238E27FC236}">
                <a16:creationId xmlns:a16="http://schemas.microsoft.com/office/drawing/2014/main" id="{5C36F749-8C74-D869-513E-D6112BBD8883}"/>
              </a:ext>
            </a:extLst>
          </p:cNvPr>
          <p:cNvSpPr>
            <a:spLocks noChangeArrowheads="1"/>
          </p:cNvSpPr>
          <p:nvPr/>
        </p:nvSpPr>
        <p:spPr bwMode="blackWhite">
          <a:xfrm>
            <a:off x="655936" y="3717032"/>
            <a:ext cx="7493000" cy="690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  ALTER TABLE	 </a:t>
            </a:r>
            <a:r>
              <a:rPr lang="en-US" altLang="en-US" sz="2000" b="1" i="1" dirty="0">
                <a:solidFill>
                  <a:srgbClr val="000000"/>
                </a:solidFill>
                <a:latin typeface="Courier New" panose="02070309020205020404" pitchFamily="49" charset="0"/>
              </a:rPr>
              <a:t>employee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  ADD CONSTRAINT  </a:t>
            </a:r>
            <a:r>
              <a:rPr lang="en-US" altLang="en-US" sz="2000" b="1" dirty="0" err="1">
                <a:solidFill>
                  <a:srgbClr val="000000"/>
                </a:solidFill>
                <a:latin typeface="Courier New" panose="02070309020205020404" pitchFamily="49" charset="0"/>
              </a:rPr>
              <a:t>emp_cnic_uq</a:t>
            </a:r>
            <a:r>
              <a:rPr lang="en-US" altLang="en-US" sz="2000" b="1" dirty="0">
                <a:solidFill>
                  <a:srgbClr val="000000"/>
                </a:solidFill>
                <a:latin typeface="Courier New" panose="02070309020205020404" pitchFamily="49" charset="0"/>
              </a:rPr>
              <a:t> </a:t>
            </a:r>
            <a:r>
              <a:rPr lang="en-US" altLang="en-US" sz="2000" b="1" dirty="0">
                <a:solidFill>
                  <a:srgbClr val="0000FF"/>
                </a:solidFill>
                <a:latin typeface="Courier New" panose="02070309020205020404" pitchFamily="49" charset="0"/>
              </a:rPr>
              <a:t>UNIQUE</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cnic</a:t>
            </a:r>
            <a:r>
              <a:rPr lang="en-US" altLang="en-US" sz="2000" b="1" dirty="0">
                <a:solidFill>
                  <a:srgbClr val="000000"/>
                </a:solidFill>
                <a:latin typeface="Courier New" panose="02070309020205020404" pitchFamily="49" charset="0"/>
              </a:rPr>
              <a:t>);</a:t>
            </a:r>
          </a:p>
        </p:txBody>
      </p:sp>
      <p:sp>
        <p:nvSpPr>
          <p:cNvPr id="4" name="Rectangle 4">
            <a:extLst>
              <a:ext uri="{FF2B5EF4-FFF2-40B4-BE49-F238E27FC236}">
                <a16:creationId xmlns:a16="http://schemas.microsoft.com/office/drawing/2014/main" id="{AF6551A9-48A6-1E3A-EFE3-496DF4A888E6}"/>
              </a:ext>
            </a:extLst>
          </p:cNvPr>
          <p:cNvSpPr>
            <a:spLocks noChangeArrowheads="1"/>
          </p:cNvSpPr>
          <p:nvPr/>
        </p:nvSpPr>
        <p:spPr bwMode="blackWhite">
          <a:xfrm>
            <a:off x="808336" y="2348880"/>
            <a:ext cx="7493000" cy="690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  ALTER TABLE	 </a:t>
            </a:r>
            <a:r>
              <a:rPr lang="en-US" altLang="en-US" sz="2000" b="1" i="1" dirty="0">
                <a:solidFill>
                  <a:srgbClr val="000000"/>
                </a:solidFill>
                <a:latin typeface="Courier New" panose="02070309020205020404" pitchFamily="49" charset="0"/>
              </a:rPr>
              <a:t>employee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  ADD CONSTRAINT  </a:t>
            </a:r>
            <a:r>
              <a:rPr lang="en-US" altLang="en-US" sz="2000" b="1" dirty="0" err="1">
                <a:solidFill>
                  <a:srgbClr val="000000"/>
                </a:solidFill>
                <a:latin typeface="Courier New" panose="02070309020205020404" pitchFamily="49" charset="0"/>
              </a:rPr>
              <a:t>emp_pk</a:t>
            </a:r>
            <a:r>
              <a:rPr lang="en-US" altLang="en-US" sz="2000" b="1" dirty="0">
                <a:solidFill>
                  <a:srgbClr val="000000"/>
                </a:solidFill>
                <a:latin typeface="Courier New" panose="02070309020205020404" pitchFamily="49" charset="0"/>
              </a:rPr>
              <a:t> </a:t>
            </a:r>
            <a:r>
              <a:rPr lang="en-US" altLang="en-US" sz="2000" b="1" dirty="0">
                <a:solidFill>
                  <a:srgbClr val="0000FF"/>
                </a:solidFill>
                <a:latin typeface="Courier New" panose="02070309020205020404" pitchFamily="49" charset="0"/>
              </a:rPr>
              <a:t>PRIMARY KEY</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empno</a:t>
            </a:r>
            <a:r>
              <a:rPr lang="en-US" altLang="en-US" sz="2000" b="1" dirty="0">
                <a:solidFill>
                  <a:srgbClr val="000000"/>
                </a:solidFill>
                <a:latin typeface="Courier New" panose="02070309020205020404" pitchFamily="49" charset="0"/>
              </a:rPr>
              <a:t>);</a:t>
            </a:r>
          </a:p>
        </p:txBody>
      </p:sp>
      <p:sp>
        <p:nvSpPr>
          <p:cNvPr id="79878" name="Rectangle 4">
            <a:extLst>
              <a:ext uri="{FF2B5EF4-FFF2-40B4-BE49-F238E27FC236}">
                <a16:creationId xmlns:a16="http://schemas.microsoft.com/office/drawing/2014/main" id="{2286B18E-A412-63C9-2C5A-E81D5A3382CE}"/>
              </a:ext>
            </a:extLst>
          </p:cNvPr>
          <p:cNvSpPr>
            <a:spLocks noChangeArrowheads="1"/>
          </p:cNvSpPr>
          <p:nvPr/>
        </p:nvSpPr>
        <p:spPr bwMode="blackWhite">
          <a:xfrm>
            <a:off x="589626" y="4941168"/>
            <a:ext cx="8158837" cy="113230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 ALTER TABLE	 </a:t>
            </a:r>
            <a:r>
              <a:rPr lang="en-US" altLang="en-US" sz="2000" b="1" i="1" dirty="0">
                <a:solidFill>
                  <a:srgbClr val="000000"/>
                </a:solidFill>
                <a:latin typeface="Courier New" panose="02070309020205020404" pitchFamily="49" charset="0"/>
              </a:rPr>
              <a:t>employee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a:solidFill>
                  <a:srgbClr val="0000FF"/>
                </a:solidFill>
                <a:latin typeface="Courier New" panose="02070309020205020404" pitchFamily="49" charset="0"/>
              </a:rPr>
              <a:t>MODIFY</a:t>
            </a:r>
            <a:r>
              <a:rPr lang="en-US" altLang="en-US" sz="2000" b="1" dirty="0">
                <a:solidFill>
                  <a:srgbClr val="000000"/>
                </a:solidFill>
                <a:latin typeface="Courier New" panose="02070309020205020404" pitchFamily="49" charset="0"/>
              </a:rPr>
              <a:t> </a:t>
            </a:r>
          </a:p>
          <a:p>
            <a:pPr>
              <a:spcBef>
                <a:spcPct val="0"/>
              </a:spcBef>
              <a:buFontTx/>
              <a:buNone/>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ename</a:t>
            </a:r>
            <a:r>
              <a:rPr lang="en-US" altLang="en-US" sz="2000" b="1" dirty="0">
                <a:solidFill>
                  <a:srgbClr val="000000"/>
                </a:solidFill>
                <a:latin typeface="Courier New" panose="02070309020205020404" pitchFamily="49" charset="0"/>
              </a:rPr>
              <a:t> CONSTRAINT  </a:t>
            </a:r>
            <a:r>
              <a:rPr lang="en-US" altLang="en-US" sz="2000" b="1" dirty="0" err="1">
                <a:solidFill>
                  <a:srgbClr val="000000"/>
                </a:solidFill>
                <a:latin typeface="Courier New" panose="02070309020205020404" pitchFamily="49" charset="0"/>
              </a:rPr>
              <a:t>emp_ename_nn</a:t>
            </a:r>
            <a:r>
              <a:rPr lang="en-US" altLang="en-US" sz="2000" b="1" dirty="0">
                <a:solidFill>
                  <a:srgbClr val="000000"/>
                </a:solidFill>
                <a:latin typeface="Courier New" panose="02070309020205020404" pitchFamily="49" charset="0"/>
              </a:rPr>
              <a:t> NOT NULL(</a:t>
            </a:r>
            <a:r>
              <a:rPr lang="en-US" altLang="en-US" sz="2000" b="1" dirty="0" err="1">
                <a:solidFill>
                  <a:srgbClr val="000000"/>
                </a:solidFill>
                <a:latin typeface="Courier New" panose="02070309020205020404" pitchFamily="49" charset="0"/>
              </a:rPr>
              <a:t>ename</a:t>
            </a:r>
            <a:r>
              <a:rPr lang="en-US" altLang="en-US" sz="20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675628823"/>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D35E4-0DAE-5552-CBCB-D3F637E4AE4E}"/>
            </a:ext>
          </a:extLst>
        </p:cNvPr>
        <p:cNvGrpSpPr/>
        <p:nvPr/>
      </p:nvGrpSpPr>
      <p:grpSpPr>
        <a:xfrm>
          <a:off x="0" y="0"/>
          <a:ext cx="0" cy="0"/>
          <a:chOff x="0" y="0"/>
          <a:chExt cx="0" cy="0"/>
        </a:xfrm>
      </p:grpSpPr>
      <p:sp>
        <p:nvSpPr>
          <p:cNvPr id="79874" name="Rectangle 2">
            <a:extLst>
              <a:ext uri="{FF2B5EF4-FFF2-40B4-BE49-F238E27FC236}">
                <a16:creationId xmlns:a16="http://schemas.microsoft.com/office/drawing/2014/main" id="{8711F7EC-405E-DA7F-D6C7-4987FF6E64A8}"/>
              </a:ext>
            </a:extLst>
          </p:cNvPr>
          <p:cNvSpPr>
            <a:spLocks noGrp="1" noChangeArrowheads="1"/>
          </p:cNvSpPr>
          <p:nvPr>
            <p:ph type="title"/>
          </p:nvPr>
        </p:nvSpPr>
        <p:spPr>
          <a:xfrm>
            <a:off x="467544" y="312737"/>
            <a:ext cx="3490912"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Adding a Constraint</a:t>
            </a:r>
          </a:p>
        </p:txBody>
      </p:sp>
      <p:sp>
        <p:nvSpPr>
          <p:cNvPr id="75779" name="Rectangle 3">
            <a:extLst>
              <a:ext uri="{FF2B5EF4-FFF2-40B4-BE49-F238E27FC236}">
                <a16:creationId xmlns:a16="http://schemas.microsoft.com/office/drawing/2014/main" id="{35746E75-93A8-1EEB-FBC0-5BF76BA2C76E}"/>
              </a:ext>
            </a:extLst>
          </p:cNvPr>
          <p:cNvSpPr>
            <a:spLocks noGrp="1" noChangeArrowheads="1"/>
          </p:cNvSpPr>
          <p:nvPr>
            <p:ph type="body" idx="1"/>
          </p:nvPr>
        </p:nvSpPr>
        <p:spPr>
          <a:xfrm>
            <a:off x="360363" y="836712"/>
            <a:ext cx="8243887" cy="4863512"/>
          </a:xfrm>
        </p:spPr>
        <p:txBody>
          <a:bodyPr lIns="92075" tIns="46038" rIns="92075" bIns="46038">
            <a:spAutoFit/>
          </a:bodyPr>
          <a:lstStyle/>
          <a:p>
            <a:pPr>
              <a:defRPr/>
            </a:pPr>
            <a:r>
              <a:rPr lang="en-US" altLang="en-US" sz="2800" b="1" dirty="0">
                <a:solidFill>
                  <a:srgbClr val="0000FF"/>
                </a:solidFill>
                <a:latin typeface="Cambria" panose="02040503050406030204" pitchFamily="18" charset="0"/>
                <a:ea typeface="Cambria" panose="02040503050406030204" pitchFamily="18" charset="0"/>
              </a:rPr>
              <a:t>CHECK</a:t>
            </a:r>
            <a:r>
              <a:rPr lang="en-US" altLang="en-US" sz="2800" dirty="0">
                <a:latin typeface="Cambria" panose="02040503050406030204" pitchFamily="18" charset="0"/>
                <a:ea typeface="Cambria" panose="02040503050406030204" pitchFamily="18" charset="0"/>
              </a:rPr>
              <a:t> constraint</a:t>
            </a:r>
          </a:p>
          <a:p>
            <a:pPr>
              <a:defRPr/>
            </a:pPr>
            <a:endParaRPr lang="en-US" altLang="en-US" sz="2800" dirty="0">
              <a:latin typeface="Cambria" panose="02040503050406030204" pitchFamily="18" charset="0"/>
              <a:ea typeface="Cambria" panose="02040503050406030204" pitchFamily="18" charset="0"/>
            </a:endParaRPr>
          </a:p>
          <a:p>
            <a:pPr>
              <a:defRPr/>
            </a:pPr>
            <a:endParaRPr lang="en-US" altLang="en-US" sz="2800" dirty="0">
              <a:latin typeface="Cambria" panose="02040503050406030204" pitchFamily="18" charset="0"/>
              <a:ea typeface="Cambria" panose="02040503050406030204" pitchFamily="18" charset="0"/>
            </a:endParaRPr>
          </a:p>
          <a:p>
            <a:pPr>
              <a:defRPr/>
            </a:pPr>
            <a:endParaRPr lang="en-US" altLang="en-US" sz="2800" dirty="0">
              <a:latin typeface="Cambria" panose="02040503050406030204" pitchFamily="18" charset="0"/>
              <a:ea typeface="Cambria" panose="02040503050406030204" pitchFamily="18" charset="0"/>
            </a:endParaRPr>
          </a:p>
          <a:p>
            <a:pPr>
              <a:defRPr/>
            </a:pPr>
            <a:r>
              <a:rPr lang="en-US" altLang="en-US" sz="2800" dirty="0">
                <a:latin typeface="Cambria" panose="02040503050406030204" pitchFamily="18" charset="0"/>
                <a:ea typeface="Cambria" panose="02040503050406030204" pitchFamily="18" charset="0"/>
              </a:rPr>
              <a:t>Add a </a:t>
            </a:r>
            <a:r>
              <a:rPr lang="en-US" altLang="en-US" sz="2800" dirty="0">
                <a:solidFill>
                  <a:srgbClr val="0000FF"/>
                </a:solidFill>
                <a:latin typeface="Cambria" panose="02040503050406030204" pitchFamily="18" charset="0"/>
                <a:ea typeface="Cambria" panose="02040503050406030204" pitchFamily="18" charset="0"/>
              </a:rPr>
              <a:t>FOREIGN KEY</a:t>
            </a:r>
            <a:r>
              <a:rPr lang="en-US" altLang="en-US" sz="2800" dirty="0">
                <a:latin typeface="Cambria" panose="02040503050406030204" pitchFamily="18" charset="0"/>
                <a:ea typeface="Cambria" panose="02040503050406030204" pitchFamily="18" charset="0"/>
              </a:rPr>
              <a:t> constraint to the EMP table indicating that a manager must already exist as a valid employee in the EMP table.</a:t>
            </a:r>
          </a:p>
          <a:p>
            <a:pPr>
              <a:lnSpc>
                <a:spcPct val="200000"/>
              </a:lnSpc>
              <a:defRPr/>
            </a:pPr>
            <a:endParaRPr lang="en-US" altLang="en-US" sz="2800" dirty="0">
              <a:latin typeface="Cambria" panose="02040503050406030204" pitchFamily="18" charset="0"/>
              <a:ea typeface="Cambria" panose="02040503050406030204" pitchFamily="18" charset="0"/>
            </a:endParaRPr>
          </a:p>
          <a:p>
            <a:pPr marL="0" indent="0">
              <a:buFontTx/>
              <a:buNone/>
              <a:defRPr/>
            </a:pPr>
            <a:r>
              <a:rPr lang="en-US" altLang="en-US" sz="2800" dirty="0">
                <a:latin typeface="Cambria" panose="02040503050406030204" pitchFamily="18" charset="0"/>
                <a:ea typeface="Cambria" panose="02040503050406030204" pitchFamily="18" charset="0"/>
              </a:rPr>
              <a:t> </a:t>
            </a:r>
          </a:p>
        </p:txBody>
      </p:sp>
      <p:sp>
        <p:nvSpPr>
          <p:cNvPr id="79877" name="Rectangle 4">
            <a:extLst>
              <a:ext uri="{FF2B5EF4-FFF2-40B4-BE49-F238E27FC236}">
                <a16:creationId xmlns:a16="http://schemas.microsoft.com/office/drawing/2014/main" id="{6443F8DE-26FE-1FC6-8086-926C45BC452E}"/>
              </a:ext>
            </a:extLst>
          </p:cNvPr>
          <p:cNvSpPr>
            <a:spLocks noChangeArrowheads="1"/>
          </p:cNvSpPr>
          <p:nvPr/>
        </p:nvSpPr>
        <p:spPr bwMode="blackWhite">
          <a:xfrm>
            <a:off x="683568" y="1412776"/>
            <a:ext cx="7704137" cy="115212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ALTER TABLE	 </a:t>
            </a:r>
            <a:r>
              <a:rPr lang="en-US" altLang="en-US" sz="2000" b="1" i="1" dirty="0">
                <a:solidFill>
                  <a:srgbClr val="000000"/>
                </a:solidFill>
                <a:latin typeface="Courier New" panose="02070309020205020404" pitchFamily="49" charset="0"/>
              </a:rPr>
              <a:t>employee</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ADD CONSTRAINT  </a:t>
            </a:r>
            <a:r>
              <a:rPr lang="en-US" altLang="en-US" sz="2000" b="1" dirty="0" err="1">
                <a:solidFill>
                  <a:srgbClr val="000000"/>
                </a:solidFill>
                <a:latin typeface="Courier New" panose="02070309020205020404" pitchFamily="49" charset="0"/>
              </a:rPr>
              <a:t>emp_job_chk</a:t>
            </a:r>
            <a:r>
              <a:rPr lang="en-US" altLang="en-US" sz="2000" b="1" dirty="0">
                <a:solidFill>
                  <a:srgbClr val="000000"/>
                </a:solidFill>
                <a:latin typeface="Courier New" panose="02070309020205020404" pitchFamily="49" charset="0"/>
              </a:rPr>
              <a:t> </a:t>
            </a:r>
          </a:p>
          <a:p>
            <a:pPr>
              <a:spcBef>
                <a:spcPct val="0"/>
              </a:spcBef>
              <a:buFontTx/>
              <a:buNone/>
            </a:pPr>
            <a:r>
              <a:rPr lang="en-US" altLang="en-US" sz="2000" b="1" dirty="0">
                <a:solidFill>
                  <a:srgbClr val="0000FF"/>
                </a:solidFill>
                <a:latin typeface="Courier New" panose="02070309020205020404" pitchFamily="49" charset="0"/>
              </a:rPr>
              <a:t>CHECK</a:t>
            </a:r>
            <a:r>
              <a:rPr lang="en-US" altLang="en-US" sz="2000" b="1" dirty="0">
                <a:solidFill>
                  <a:srgbClr val="000000"/>
                </a:solidFill>
                <a:latin typeface="Courier New" panose="02070309020205020404" pitchFamily="49" charset="0"/>
              </a:rPr>
              <a:t> (job IN ('CLERK', 'MANAGER','ACCOUNTANT'));</a:t>
            </a:r>
          </a:p>
        </p:txBody>
      </p:sp>
      <p:sp>
        <p:nvSpPr>
          <p:cNvPr id="2" name="Slide Number Placeholder 23">
            <a:extLst>
              <a:ext uri="{FF2B5EF4-FFF2-40B4-BE49-F238E27FC236}">
                <a16:creationId xmlns:a16="http://schemas.microsoft.com/office/drawing/2014/main" id="{6367A445-775F-83C0-3806-4361E8E001A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59753FB2-B32B-398F-6505-22116C14B1CF}"/>
              </a:ext>
            </a:extLst>
          </p:cNvPr>
          <p:cNvSpPr>
            <a:spLocks noGrp="1"/>
          </p:cNvSpPr>
          <p:nvPr>
            <p:ph type="ftr" sz="quarter" idx="11"/>
          </p:nvPr>
        </p:nvSpPr>
        <p:spPr>
          <a:xfrm>
            <a:off x="2555776" y="450589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5">
            <a:extLst>
              <a:ext uri="{FF2B5EF4-FFF2-40B4-BE49-F238E27FC236}">
                <a16:creationId xmlns:a16="http://schemas.microsoft.com/office/drawing/2014/main" id="{5022646B-6A6D-456F-F3DD-21FAFE834DDE}"/>
              </a:ext>
            </a:extLst>
          </p:cNvPr>
          <p:cNvSpPr>
            <a:spLocks noChangeArrowheads="1"/>
          </p:cNvSpPr>
          <p:nvPr/>
        </p:nvSpPr>
        <p:spPr bwMode="blackWhite">
          <a:xfrm>
            <a:off x="768349" y="4309988"/>
            <a:ext cx="8015287" cy="156728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 name="Rectangle 6">
            <a:extLst>
              <a:ext uri="{FF2B5EF4-FFF2-40B4-BE49-F238E27FC236}">
                <a16:creationId xmlns:a16="http://schemas.microsoft.com/office/drawing/2014/main" id="{357BFA8A-182E-9D3F-CB32-2E825146D658}"/>
              </a:ext>
            </a:extLst>
          </p:cNvPr>
          <p:cNvSpPr>
            <a:spLocks noChangeArrowheads="1"/>
          </p:cNvSpPr>
          <p:nvPr/>
        </p:nvSpPr>
        <p:spPr bwMode="blackWhite">
          <a:xfrm>
            <a:off x="831850" y="4221088"/>
            <a:ext cx="7480300" cy="1656184"/>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ALTER TABLE     emp</a:t>
            </a:r>
          </a:p>
          <a:p>
            <a:pPr>
              <a:tabLst>
                <a:tab pos="1200150" algn="l"/>
              </a:tabLst>
              <a:defRPr/>
            </a:pPr>
            <a:r>
              <a:rPr lang="en-US" sz="2000" b="1" dirty="0">
                <a:solidFill>
                  <a:srgbClr val="000000"/>
                </a:solidFill>
                <a:latin typeface="Courier New" pitchFamily="49" charset="0"/>
              </a:rPr>
              <a:t>  2  ADD CONSTRAINT  </a:t>
            </a:r>
            <a:r>
              <a:rPr lang="en-US" sz="2000" b="1" dirty="0" err="1">
                <a:solidFill>
                  <a:srgbClr val="000000"/>
                </a:solidFill>
                <a:latin typeface="Courier New" pitchFamily="49" charset="0"/>
              </a:rPr>
              <a:t>emp_mgr_fk</a:t>
            </a:r>
            <a:r>
              <a:rPr lang="en-US" sz="2000" b="1" dirty="0">
                <a:solidFill>
                  <a:srgbClr val="000000"/>
                </a:solidFill>
                <a:latin typeface="Courier New" pitchFamily="49" charset="0"/>
              </a:rPr>
              <a:t> </a:t>
            </a:r>
          </a:p>
          <a:p>
            <a:pPr>
              <a:tabLst>
                <a:tab pos="1200150" algn="l"/>
              </a:tabLst>
              <a:defRPr/>
            </a:pPr>
            <a:r>
              <a:rPr lang="en-US" sz="2000" b="1" dirty="0">
                <a:solidFill>
                  <a:srgbClr val="000000"/>
                </a:solidFill>
                <a:latin typeface="Courier New" pitchFamily="49" charset="0"/>
              </a:rPr>
              <a:t>  3  		FOREIGN KEY(</a:t>
            </a:r>
            <a:r>
              <a:rPr lang="en-US" sz="2000" b="1" dirty="0" err="1">
                <a:solidFill>
                  <a:srgbClr val="000000"/>
                </a:solidFill>
                <a:latin typeface="Courier New" pitchFamily="49" charset="0"/>
              </a:rPr>
              <a:t>mgr</a:t>
            </a:r>
            <a:r>
              <a:rPr lang="en-US" sz="2000" b="1" dirty="0">
                <a:solidFill>
                  <a:srgbClr val="000000"/>
                </a:solidFill>
                <a:latin typeface="Courier New" pitchFamily="49" charset="0"/>
              </a:rPr>
              <a:t>) REFERENCES emp(</a:t>
            </a:r>
            <a:r>
              <a:rPr lang="en-US" sz="2000" b="1" dirty="0" err="1">
                <a:solidFill>
                  <a:srgbClr val="000000"/>
                </a:solidFill>
                <a:latin typeface="Courier New" pitchFamily="49" charset="0"/>
              </a:rPr>
              <a:t>empno</a:t>
            </a:r>
            <a:r>
              <a:rPr lang="en-US" sz="2000" b="1" dirty="0">
                <a:solidFill>
                  <a:srgbClr val="000000"/>
                </a:solidFill>
                <a:latin typeface="Courier New" pitchFamily="49" charset="0"/>
              </a:rPr>
              <a:t>);</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altered.</a:t>
            </a:r>
          </a:p>
        </p:txBody>
      </p:sp>
      <p:sp>
        <p:nvSpPr>
          <p:cNvPr id="6" name="Footer Placeholder 2">
            <a:extLst>
              <a:ext uri="{FF2B5EF4-FFF2-40B4-BE49-F238E27FC236}">
                <a16:creationId xmlns:a16="http://schemas.microsoft.com/office/drawing/2014/main" id="{70907876-5F03-E37B-F306-7C8234CEC986}"/>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77714368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738-EE03-2D2F-A499-9FBC20338656}"/>
            </a:ext>
          </a:extLst>
        </p:cNvPr>
        <p:cNvGrpSpPr/>
        <p:nvPr/>
      </p:nvGrpSpPr>
      <p:grpSpPr>
        <a:xfrm>
          <a:off x="0" y="0"/>
          <a:ext cx="0" cy="0"/>
          <a:chOff x="0" y="0"/>
          <a:chExt cx="0" cy="0"/>
        </a:xfrm>
      </p:grpSpPr>
      <p:sp>
        <p:nvSpPr>
          <p:cNvPr id="81922" name="Rectangle 2">
            <a:extLst>
              <a:ext uri="{FF2B5EF4-FFF2-40B4-BE49-F238E27FC236}">
                <a16:creationId xmlns:a16="http://schemas.microsoft.com/office/drawing/2014/main" id="{4DBFCF0D-0A38-C69E-42F1-5FCB8A6E19B6}"/>
              </a:ext>
            </a:extLst>
          </p:cNvPr>
          <p:cNvSpPr>
            <a:spLocks noGrp="1" noChangeArrowheads="1"/>
          </p:cNvSpPr>
          <p:nvPr>
            <p:ph type="title"/>
          </p:nvPr>
        </p:nvSpPr>
        <p:spPr>
          <a:xfrm>
            <a:off x="507283" y="280194"/>
            <a:ext cx="4392166"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Dropping a Constraint</a:t>
            </a:r>
          </a:p>
        </p:txBody>
      </p:sp>
      <p:sp>
        <p:nvSpPr>
          <p:cNvPr id="81923" name="Rectangle 3">
            <a:extLst>
              <a:ext uri="{FF2B5EF4-FFF2-40B4-BE49-F238E27FC236}">
                <a16:creationId xmlns:a16="http://schemas.microsoft.com/office/drawing/2014/main" id="{72CA3B93-3BDF-BD14-9341-93C337CB22ED}"/>
              </a:ext>
            </a:extLst>
          </p:cNvPr>
          <p:cNvSpPr>
            <a:spLocks noGrp="1" noChangeArrowheads="1"/>
          </p:cNvSpPr>
          <p:nvPr>
            <p:ph type="body" idx="1"/>
          </p:nvPr>
        </p:nvSpPr>
        <p:spPr>
          <a:xfrm>
            <a:off x="547688" y="859234"/>
            <a:ext cx="8280400" cy="7448835"/>
          </a:xfrm>
          <a:noFill/>
        </p:spPr>
        <p:txBody>
          <a:bodyPr lIns="92075" tIns="46038" rIns="92075" bIns="46038">
            <a:spAutoFit/>
          </a:bodyPr>
          <a:lstStyle/>
          <a:p>
            <a:pPr algn="just"/>
            <a:r>
              <a:rPr lang="en-US" altLang="en-US" sz="2400" dirty="0">
                <a:latin typeface="Cambria" panose="02040503050406030204" pitchFamily="18" charset="0"/>
                <a:ea typeface="Cambria" panose="02040503050406030204" pitchFamily="18" charset="0"/>
              </a:rPr>
              <a:t>Remove </a:t>
            </a:r>
            <a:r>
              <a:rPr lang="en-US" altLang="en-US" sz="2400" dirty="0">
                <a:solidFill>
                  <a:srgbClr val="0000FF"/>
                </a:solidFill>
                <a:latin typeface="Cambria" panose="02040503050406030204" pitchFamily="18" charset="0"/>
                <a:ea typeface="Cambria" panose="02040503050406030204" pitchFamily="18" charset="0"/>
              </a:rPr>
              <a:t>FOREIGN KEY</a:t>
            </a:r>
            <a:r>
              <a:rPr lang="en-US" altLang="en-US" sz="2400" dirty="0">
                <a:latin typeface="Cambria" panose="02040503050406030204" pitchFamily="18" charset="0"/>
                <a:ea typeface="Cambria" panose="02040503050406030204" pitchFamily="18" charset="0"/>
              </a:rPr>
              <a:t> constraint from the EMP table.</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r>
              <a:rPr lang="en-US" altLang="en-US" sz="2400" dirty="0">
                <a:latin typeface="Cambria" panose="02040503050406030204" pitchFamily="18" charset="0"/>
                <a:ea typeface="Cambria" panose="02040503050406030204" pitchFamily="18" charset="0"/>
              </a:rPr>
              <a:t>Remove the </a:t>
            </a:r>
            <a:r>
              <a:rPr lang="en-US" altLang="en-US" sz="2400" dirty="0">
                <a:solidFill>
                  <a:srgbClr val="0000FF"/>
                </a:solidFill>
                <a:latin typeface="Cambria" panose="02040503050406030204" pitchFamily="18" charset="0"/>
                <a:ea typeface="Cambria" panose="02040503050406030204" pitchFamily="18" charset="0"/>
              </a:rPr>
              <a:t>PRIMARY KEY</a:t>
            </a:r>
            <a:r>
              <a:rPr lang="en-US" altLang="en-US" sz="2400" dirty="0">
                <a:latin typeface="Cambria" panose="02040503050406030204" pitchFamily="18" charset="0"/>
                <a:ea typeface="Cambria" panose="02040503050406030204" pitchFamily="18" charset="0"/>
              </a:rPr>
              <a:t> constraint on the DEPT table and drop the associated FOREIGN KEY constraint on the EMP.DEPTNO column.</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1200" dirty="0">
              <a:latin typeface="Cambria" panose="02040503050406030204" pitchFamily="18" charset="0"/>
              <a:ea typeface="Cambria" panose="02040503050406030204" pitchFamily="18" charset="0"/>
            </a:endParaRPr>
          </a:p>
          <a:p>
            <a:pPr algn="just"/>
            <a:r>
              <a:rPr lang="en-US" altLang="en-US" sz="2400" dirty="0">
                <a:latin typeface="Cambria" panose="02040503050406030204" pitchFamily="18" charset="0"/>
                <a:ea typeface="Cambria" panose="02040503050406030204" pitchFamily="18" charset="0"/>
              </a:rPr>
              <a:t>To drop a </a:t>
            </a:r>
            <a:r>
              <a:rPr lang="en-US" altLang="en-US" sz="2400" dirty="0">
                <a:solidFill>
                  <a:srgbClr val="0000FF"/>
                </a:solidFill>
                <a:latin typeface="Cambria" panose="02040503050406030204" pitchFamily="18" charset="0"/>
                <a:ea typeface="Cambria" panose="02040503050406030204" pitchFamily="18" charset="0"/>
              </a:rPr>
              <a:t>DEFAULT</a:t>
            </a:r>
            <a:r>
              <a:rPr lang="en-US" altLang="en-US" sz="2400" dirty="0">
                <a:latin typeface="Cambria" panose="02040503050406030204" pitchFamily="18" charset="0"/>
                <a:ea typeface="Cambria" panose="02040503050406030204" pitchFamily="18" charset="0"/>
              </a:rPr>
              <a:t> constraint</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p:txBody>
      </p:sp>
      <p:sp>
        <p:nvSpPr>
          <p:cNvPr id="81924" name="Arc 4">
            <a:extLst>
              <a:ext uri="{FF2B5EF4-FFF2-40B4-BE49-F238E27FC236}">
                <a16:creationId xmlns:a16="http://schemas.microsoft.com/office/drawing/2014/main" id="{FEC23130-8984-2A35-226A-2DA21BB5A5F5}"/>
              </a:ext>
            </a:extLst>
          </p:cNvPr>
          <p:cNvSpPr>
            <a:spLocks/>
          </p:cNvSpPr>
          <p:nvPr/>
        </p:nvSpPr>
        <p:spPr bwMode="ltGray">
          <a:xfrm>
            <a:off x="5419725" y="1906414"/>
            <a:ext cx="211138" cy="225425"/>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432133" name="Rectangle 5">
            <a:extLst>
              <a:ext uri="{FF2B5EF4-FFF2-40B4-BE49-F238E27FC236}">
                <a16:creationId xmlns:a16="http://schemas.microsoft.com/office/drawing/2014/main" id="{5B1E9716-5006-A7C4-CA38-32DF9BD1F9BB}"/>
              </a:ext>
            </a:extLst>
          </p:cNvPr>
          <p:cNvSpPr>
            <a:spLocks noChangeArrowheads="1"/>
          </p:cNvSpPr>
          <p:nvPr/>
        </p:nvSpPr>
        <p:spPr bwMode="blackWhite">
          <a:xfrm>
            <a:off x="862013" y="1376189"/>
            <a:ext cx="7496175" cy="1100311"/>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2000" b="1">
                <a:solidFill>
                  <a:srgbClr val="000000"/>
                </a:solidFill>
                <a:latin typeface="Courier New" pitchFamily="49" charset="0"/>
              </a:rPr>
              <a:t>SQL&gt; ALTER TABLE	  emp</a:t>
            </a:r>
          </a:p>
          <a:p>
            <a:pPr>
              <a:tabLst>
                <a:tab pos="1200150" algn="l"/>
              </a:tabLst>
              <a:defRPr/>
            </a:pPr>
            <a:r>
              <a:rPr lang="en-US" sz="2000" b="1">
                <a:solidFill>
                  <a:srgbClr val="000000"/>
                </a:solidFill>
                <a:latin typeface="Courier New" pitchFamily="49" charset="0"/>
              </a:rPr>
              <a:t>  2  DROP CONSTRAINT  emp_mgr_fk;</a:t>
            </a:r>
          </a:p>
          <a:p>
            <a:pPr>
              <a:tabLst>
                <a:tab pos="1200150" algn="l"/>
              </a:tabLst>
              <a:defRPr/>
            </a:pPr>
            <a:r>
              <a:rPr lang="en-US" sz="2000" b="1">
                <a:solidFill>
                  <a:srgbClr val="FF3300"/>
                </a:solidFill>
                <a:effectLst>
                  <a:outerShdw blurRad="38100" dist="38100" dir="2700000" algn="tl">
                    <a:srgbClr val="000000"/>
                  </a:outerShdw>
                </a:effectLst>
                <a:latin typeface="Courier New" pitchFamily="49" charset="0"/>
              </a:rPr>
              <a:t>Table altered.</a:t>
            </a:r>
          </a:p>
        </p:txBody>
      </p:sp>
      <p:sp>
        <p:nvSpPr>
          <p:cNvPr id="432135" name="Rectangle 7">
            <a:extLst>
              <a:ext uri="{FF2B5EF4-FFF2-40B4-BE49-F238E27FC236}">
                <a16:creationId xmlns:a16="http://schemas.microsoft.com/office/drawing/2014/main" id="{D5DB87CB-B36C-6913-6F5E-594E0A1D1FAB}"/>
              </a:ext>
            </a:extLst>
          </p:cNvPr>
          <p:cNvSpPr>
            <a:spLocks noChangeArrowheads="1"/>
          </p:cNvSpPr>
          <p:nvPr/>
        </p:nvSpPr>
        <p:spPr bwMode="blackWhite">
          <a:xfrm>
            <a:off x="862013" y="3943350"/>
            <a:ext cx="7470775" cy="828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ALTER TABLE	</a:t>
            </a:r>
            <a:r>
              <a:rPr lang="en-US" sz="1800" b="1" dirty="0" err="1">
                <a:solidFill>
                  <a:srgbClr val="000000"/>
                </a:solidFill>
                <a:latin typeface="Courier New" pitchFamily="49" charset="0"/>
              </a:rPr>
              <a:t>dept</a:t>
            </a:r>
            <a:endParaRPr lang="en-US" sz="1800" b="1" dirty="0">
              <a:solidFill>
                <a:srgbClr val="000000"/>
              </a:solidFill>
              <a:latin typeface="Courier New" pitchFamily="49" charset="0"/>
            </a:endParaRPr>
          </a:p>
          <a:p>
            <a:pPr>
              <a:tabLst>
                <a:tab pos="1200150" algn="l"/>
              </a:tabLst>
              <a:defRPr/>
            </a:pPr>
            <a:r>
              <a:rPr lang="en-US" sz="1800" b="1" dirty="0">
                <a:solidFill>
                  <a:srgbClr val="000000"/>
                </a:solidFill>
                <a:latin typeface="Courier New" pitchFamily="49" charset="0"/>
              </a:rPr>
              <a:t>  2  DROP PRIMARY KEY CASCADE;</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8" name="Rectangle 7">
            <a:extLst>
              <a:ext uri="{FF2B5EF4-FFF2-40B4-BE49-F238E27FC236}">
                <a16:creationId xmlns:a16="http://schemas.microsoft.com/office/drawing/2014/main" id="{1EAEEDBB-8A0C-ED25-7AC3-52DF60CB5469}"/>
              </a:ext>
            </a:extLst>
          </p:cNvPr>
          <p:cNvSpPr>
            <a:spLocks noChangeArrowheads="1"/>
          </p:cNvSpPr>
          <p:nvPr/>
        </p:nvSpPr>
        <p:spPr bwMode="blackWhite">
          <a:xfrm>
            <a:off x="862013" y="5516563"/>
            <a:ext cx="7470775" cy="828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ALTER TABLE	student</a:t>
            </a:r>
          </a:p>
          <a:p>
            <a:pPr>
              <a:tabLst>
                <a:tab pos="1200150" algn="l"/>
              </a:tabLst>
              <a:defRPr/>
            </a:pPr>
            <a:r>
              <a:rPr lang="en-US" sz="1800" b="1" dirty="0">
                <a:solidFill>
                  <a:srgbClr val="000000"/>
                </a:solidFill>
                <a:latin typeface="Courier New" pitchFamily="49" charset="0"/>
              </a:rPr>
              <a:t>  2  ALTER COLUMN program DROP </a:t>
            </a:r>
            <a:r>
              <a:rPr lang="en-US" sz="1800" b="1" dirty="0">
                <a:solidFill>
                  <a:srgbClr val="0000FF"/>
                </a:solidFill>
                <a:latin typeface="Courier New" pitchFamily="49" charset="0"/>
              </a:rPr>
              <a:t>DEFAULT;</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A30EC2F6-805B-7032-8605-50355EB4DE5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C23F333E-6F0D-D844-99E2-AEC8BBBEF335}"/>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238711829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0E45-9BD6-ADF6-1BE1-0419715B3CF4}"/>
            </a:ext>
          </a:extLst>
        </p:cNvPr>
        <p:cNvGrpSpPr/>
        <p:nvPr/>
      </p:nvGrpSpPr>
      <p:grpSpPr>
        <a:xfrm>
          <a:off x="0" y="0"/>
          <a:ext cx="0" cy="0"/>
          <a:chOff x="0" y="0"/>
          <a:chExt cx="0" cy="0"/>
        </a:xfrm>
      </p:grpSpPr>
      <p:sp>
        <p:nvSpPr>
          <p:cNvPr id="83970" name="Rectangle 2">
            <a:extLst>
              <a:ext uri="{FF2B5EF4-FFF2-40B4-BE49-F238E27FC236}">
                <a16:creationId xmlns:a16="http://schemas.microsoft.com/office/drawing/2014/main" id="{6CAA1752-DA86-025D-8F4D-6EA5BBF965C8}"/>
              </a:ext>
            </a:extLst>
          </p:cNvPr>
          <p:cNvSpPr>
            <a:spLocks noGrp="1" noChangeArrowheads="1"/>
          </p:cNvSpPr>
          <p:nvPr>
            <p:ph type="title"/>
          </p:nvPr>
        </p:nvSpPr>
        <p:spPr>
          <a:xfrm>
            <a:off x="467544" y="260648"/>
            <a:ext cx="4392166" cy="536575"/>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Disabling Constraints</a:t>
            </a:r>
          </a:p>
        </p:txBody>
      </p:sp>
      <p:sp>
        <p:nvSpPr>
          <p:cNvPr id="83971" name="Rectangle 3">
            <a:extLst>
              <a:ext uri="{FF2B5EF4-FFF2-40B4-BE49-F238E27FC236}">
                <a16:creationId xmlns:a16="http://schemas.microsoft.com/office/drawing/2014/main" id="{B84CE4EE-E2B6-3AA3-3925-51A2E29C9649}"/>
              </a:ext>
            </a:extLst>
          </p:cNvPr>
          <p:cNvSpPr>
            <a:spLocks noGrp="1" noChangeArrowheads="1"/>
          </p:cNvSpPr>
          <p:nvPr>
            <p:ph type="body" idx="1"/>
          </p:nvPr>
        </p:nvSpPr>
        <p:spPr>
          <a:xfrm>
            <a:off x="179512" y="797223"/>
            <a:ext cx="8496944" cy="1621599"/>
          </a:xfrm>
          <a:noFill/>
        </p:spPr>
        <p:txBody>
          <a:bodyPr wrap="square" lIns="92075" tIns="46038" rIns="92075" bIns="46038">
            <a:spAutoFit/>
          </a:bodyPr>
          <a:lstStyle/>
          <a:p>
            <a:pPr lvl="1"/>
            <a:r>
              <a:rPr lang="en-US" altLang="en-US" dirty="0">
                <a:latin typeface="Cambria" panose="02040503050406030204" pitchFamily="18" charset="0"/>
                <a:ea typeface="Cambria" panose="02040503050406030204" pitchFamily="18" charset="0"/>
              </a:rPr>
              <a:t>Execute the </a:t>
            </a:r>
            <a:r>
              <a:rPr lang="en-US" altLang="en-US" dirty="0">
                <a:solidFill>
                  <a:srgbClr val="0000FF"/>
                </a:solidFill>
                <a:latin typeface="Cambria" panose="02040503050406030204" pitchFamily="18" charset="0"/>
                <a:ea typeface="Cambria" panose="02040503050406030204" pitchFamily="18" charset="0"/>
              </a:rPr>
              <a:t>DISABLE</a:t>
            </a:r>
            <a:r>
              <a:rPr lang="en-US" altLang="en-US" dirty="0">
                <a:latin typeface="Cambria" panose="02040503050406030204" pitchFamily="18" charset="0"/>
                <a:ea typeface="Cambria" panose="02040503050406030204" pitchFamily="18" charset="0"/>
              </a:rPr>
              <a:t> clause of the ALTER TABLE statement to deactivate an integrity constraint.</a:t>
            </a:r>
          </a:p>
          <a:p>
            <a:pPr lvl="1"/>
            <a:r>
              <a:rPr lang="en-US" altLang="en-US" dirty="0">
                <a:latin typeface="Cambria" panose="02040503050406030204" pitchFamily="18" charset="0"/>
                <a:ea typeface="Cambria" panose="02040503050406030204" pitchFamily="18" charset="0"/>
              </a:rPr>
              <a:t>Apply the </a:t>
            </a:r>
            <a:r>
              <a:rPr lang="en-US" altLang="en-US" dirty="0">
                <a:solidFill>
                  <a:srgbClr val="0000FF"/>
                </a:solidFill>
                <a:latin typeface="Cambria" panose="02040503050406030204" pitchFamily="18" charset="0"/>
                <a:ea typeface="Cambria" panose="02040503050406030204" pitchFamily="18" charset="0"/>
              </a:rPr>
              <a:t>CASCADE</a:t>
            </a:r>
            <a:r>
              <a:rPr lang="en-US" altLang="en-US" dirty="0">
                <a:latin typeface="Cambria" panose="02040503050406030204" pitchFamily="18" charset="0"/>
                <a:ea typeface="Cambria" panose="02040503050406030204" pitchFamily="18" charset="0"/>
              </a:rPr>
              <a:t> option to disable dependent integrity constraints.</a:t>
            </a:r>
          </a:p>
        </p:txBody>
      </p:sp>
      <p:sp>
        <p:nvSpPr>
          <p:cNvPr id="434180" name="Rectangle 4">
            <a:extLst>
              <a:ext uri="{FF2B5EF4-FFF2-40B4-BE49-F238E27FC236}">
                <a16:creationId xmlns:a16="http://schemas.microsoft.com/office/drawing/2014/main" id="{FE3F5146-BCCB-15CF-E09F-392C0ED74CD9}"/>
              </a:ext>
            </a:extLst>
          </p:cNvPr>
          <p:cNvSpPr>
            <a:spLocks noChangeArrowheads="1"/>
          </p:cNvSpPr>
          <p:nvPr/>
        </p:nvSpPr>
        <p:spPr bwMode="blackWhite">
          <a:xfrm>
            <a:off x="681484" y="2655565"/>
            <a:ext cx="7493000" cy="11334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ALTER TABLE		emp</a:t>
            </a:r>
          </a:p>
          <a:p>
            <a:pPr>
              <a:tabLst>
                <a:tab pos="1200150" algn="l"/>
              </a:tabLst>
              <a:defRPr/>
            </a:pPr>
            <a:r>
              <a:rPr lang="en-US" sz="2000" b="1" dirty="0">
                <a:solidFill>
                  <a:srgbClr val="000000"/>
                </a:solidFill>
                <a:latin typeface="Courier New" pitchFamily="49" charset="0"/>
              </a:rPr>
              <a:t>  2  </a:t>
            </a:r>
            <a:r>
              <a:rPr lang="en-US" sz="2000" b="1" dirty="0">
                <a:solidFill>
                  <a:srgbClr val="0000FF"/>
                </a:solidFill>
                <a:latin typeface="Courier New" pitchFamily="49" charset="0"/>
              </a:rPr>
              <a:t>DISABLE</a:t>
            </a:r>
            <a:r>
              <a:rPr lang="en-US" sz="2000" b="1" dirty="0">
                <a:solidFill>
                  <a:srgbClr val="000000"/>
                </a:solidFill>
                <a:latin typeface="Courier New" pitchFamily="49" charset="0"/>
              </a:rPr>
              <a:t> CONSTRAINT	</a:t>
            </a:r>
            <a:r>
              <a:rPr lang="en-US" sz="2000" b="1" dirty="0" err="1">
                <a:solidFill>
                  <a:srgbClr val="000000"/>
                </a:solidFill>
                <a:latin typeface="Courier New" pitchFamily="49" charset="0"/>
              </a:rPr>
              <a:t>emp_empno_pk</a:t>
            </a:r>
            <a:r>
              <a:rPr lang="en-US" sz="2000" b="1" dirty="0">
                <a:solidFill>
                  <a:srgbClr val="000000"/>
                </a:solidFill>
                <a:latin typeface="Courier New" pitchFamily="49" charset="0"/>
              </a:rPr>
              <a:t> CASCADE;</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11689893-D92B-CA92-D9A1-86DEC913DE7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784DF20F-5176-8F84-9C66-B8C874243127}"/>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78151577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D252-034F-96A4-43D3-BC6933F0B3C4}"/>
            </a:ext>
          </a:extLst>
        </p:cNvPr>
        <p:cNvGrpSpPr/>
        <p:nvPr/>
      </p:nvGrpSpPr>
      <p:grpSpPr>
        <a:xfrm>
          <a:off x="0" y="0"/>
          <a:ext cx="0" cy="0"/>
          <a:chOff x="0" y="0"/>
          <a:chExt cx="0" cy="0"/>
        </a:xfrm>
      </p:grpSpPr>
      <p:sp>
        <p:nvSpPr>
          <p:cNvPr id="86018" name="Rectangle 2">
            <a:extLst>
              <a:ext uri="{FF2B5EF4-FFF2-40B4-BE49-F238E27FC236}">
                <a16:creationId xmlns:a16="http://schemas.microsoft.com/office/drawing/2014/main" id="{59FAE334-AF78-7084-168A-B788D5414A41}"/>
              </a:ext>
            </a:extLst>
          </p:cNvPr>
          <p:cNvSpPr>
            <a:spLocks noGrp="1" noChangeArrowheads="1"/>
          </p:cNvSpPr>
          <p:nvPr>
            <p:ph type="title"/>
          </p:nvPr>
        </p:nvSpPr>
        <p:spPr>
          <a:xfrm>
            <a:off x="539552" y="275432"/>
            <a:ext cx="4320158"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Enabling Constraints</a:t>
            </a:r>
          </a:p>
        </p:txBody>
      </p:sp>
      <p:sp>
        <p:nvSpPr>
          <p:cNvPr id="86019" name="Rectangle 3">
            <a:extLst>
              <a:ext uri="{FF2B5EF4-FFF2-40B4-BE49-F238E27FC236}">
                <a16:creationId xmlns:a16="http://schemas.microsoft.com/office/drawing/2014/main" id="{38707E57-590E-D60C-F125-5B3394D716E6}"/>
              </a:ext>
            </a:extLst>
          </p:cNvPr>
          <p:cNvSpPr>
            <a:spLocks noGrp="1" noChangeArrowheads="1"/>
          </p:cNvSpPr>
          <p:nvPr>
            <p:ph type="body" idx="1"/>
          </p:nvPr>
        </p:nvSpPr>
        <p:spPr>
          <a:xfrm>
            <a:off x="251520" y="770247"/>
            <a:ext cx="8280920" cy="3673443"/>
          </a:xfrm>
          <a:noFill/>
        </p:spPr>
        <p:txBody>
          <a:bodyPr wrap="square" lIns="92075" tIns="46038" rIns="92075" bIns="46038">
            <a:spAutoFit/>
          </a:bodyPr>
          <a:lstStyle/>
          <a:p>
            <a:pPr lvl="1" algn="just"/>
            <a:r>
              <a:rPr lang="en-US" altLang="en-US" dirty="0">
                <a:latin typeface="Cambria" panose="02040503050406030204" pitchFamily="18" charset="0"/>
                <a:ea typeface="Cambria" panose="02040503050406030204" pitchFamily="18" charset="0"/>
              </a:rPr>
              <a:t>Activate an integrity constraint currently disabled in the table definition by using the ENABLE clause. </a:t>
            </a:r>
          </a:p>
          <a:p>
            <a:pPr lvl="1" algn="just"/>
            <a:endParaRPr lang="en-US" altLang="en-US" dirty="0">
              <a:latin typeface="Cambria" panose="02040503050406030204" pitchFamily="18" charset="0"/>
              <a:ea typeface="Cambria" panose="02040503050406030204" pitchFamily="18" charset="0"/>
            </a:endParaRPr>
          </a:p>
          <a:p>
            <a:pPr lvl="1" algn="just"/>
            <a:endParaRPr lang="en-US" altLang="en-US" dirty="0">
              <a:latin typeface="Cambria" panose="02040503050406030204" pitchFamily="18" charset="0"/>
              <a:ea typeface="Cambria" panose="02040503050406030204" pitchFamily="18" charset="0"/>
            </a:endParaRPr>
          </a:p>
          <a:p>
            <a:pPr lvl="1" algn="just"/>
            <a:endParaRPr lang="en-US" altLang="en-US" dirty="0">
              <a:latin typeface="Cambria" panose="02040503050406030204" pitchFamily="18" charset="0"/>
              <a:ea typeface="Cambria" panose="02040503050406030204" pitchFamily="18" charset="0"/>
            </a:endParaRPr>
          </a:p>
          <a:p>
            <a:pPr marL="319088" lvl="1" indent="0" algn="just">
              <a:buNone/>
            </a:pPr>
            <a:endParaRPr lang="en-US" altLang="en-US" dirty="0">
              <a:latin typeface="Cambria" panose="02040503050406030204" pitchFamily="18" charset="0"/>
              <a:ea typeface="Cambria" panose="02040503050406030204" pitchFamily="18" charset="0"/>
            </a:endParaRPr>
          </a:p>
          <a:p>
            <a:pPr lvl="1" algn="just"/>
            <a:r>
              <a:rPr lang="en-US" altLang="en-US" dirty="0">
                <a:latin typeface="Cambria" panose="02040503050406030204" pitchFamily="18" charset="0"/>
                <a:ea typeface="Cambria" panose="02040503050406030204" pitchFamily="18" charset="0"/>
              </a:rPr>
              <a:t>A </a:t>
            </a:r>
            <a:r>
              <a:rPr lang="en-US" altLang="en-US" dirty="0">
                <a:solidFill>
                  <a:srgbClr val="0000FF"/>
                </a:solidFill>
                <a:latin typeface="Cambria" panose="02040503050406030204" pitchFamily="18" charset="0"/>
                <a:ea typeface="Cambria" panose="02040503050406030204" pitchFamily="18" charset="0"/>
              </a:rPr>
              <a:t>UNIQUE</a:t>
            </a:r>
            <a:r>
              <a:rPr lang="en-US" altLang="en-US" dirty="0">
                <a:latin typeface="Cambria" panose="02040503050406030204" pitchFamily="18" charset="0"/>
                <a:ea typeface="Cambria" panose="02040503050406030204" pitchFamily="18" charset="0"/>
              </a:rPr>
              <a:t> or </a:t>
            </a:r>
            <a:r>
              <a:rPr lang="en-US" altLang="en-US" dirty="0">
                <a:solidFill>
                  <a:srgbClr val="0000FF"/>
                </a:solidFill>
                <a:latin typeface="Cambria" panose="02040503050406030204" pitchFamily="18" charset="0"/>
                <a:ea typeface="Cambria" panose="02040503050406030204" pitchFamily="18" charset="0"/>
              </a:rPr>
              <a:t>PRIMARY KEY</a:t>
            </a:r>
            <a:r>
              <a:rPr lang="en-US" altLang="en-US" dirty="0">
                <a:latin typeface="Cambria" panose="02040503050406030204" pitchFamily="18" charset="0"/>
                <a:ea typeface="Cambria" panose="02040503050406030204" pitchFamily="18" charset="0"/>
              </a:rPr>
              <a:t> index is automatically created if you enable a UNIQUE key or PRIMARY KEY constraint.</a:t>
            </a:r>
          </a:p>
        </p:txBody>
      </p:sp>
      <p:sp>
        <p:nvSpPr>
          <p:cNvPr id="436228" name="Rectangle 4">
            <a:extLst>
              <a:ext uri="{FF2B5EF4-FFF2-40B4-BE49-F238E27FC236}">
                <a16:creationId xmlns:a16="http://schemas.microsoft.com/office/drawing/2014/main" id="{B3D1E3C5-5A0B-CC0A-BF10-28E8DC7C99F4}"/>
              </a:ext>
            </a:extLst>
          </p:cNvPr>
          <p:cNvSpPr>
            <a:spLocks noChangeArrowheads="1"/>
          </p:cNvSpPr>
          <p:nvPr/>
        </p:nvSpPr>
        <p:spPr bwMode="blackWhite">
          <a:xfrm>
            <a:off x="899592" y="1844824"/>
            <a:ext cx="748347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2000" b="1">
                <a:solidFill>
                  <a:srgbClr val="000000"/>
                </a:solidFill>
                <a:latin typeface="Courier New" pitchFamily="49" charset="0"/>
              </a:rPr>
              <a:t>SQL&gt; ALTER TABLE		emp</a:t>
            </a:r>
          </a:p>
          <a:p>
            <a:pPr>
              <a:tabLst>
                <a:tab pos="1200150" algn="l"/>
              </a:tabLst>
              <a:defRPr/>
            </a:pPr>
            <a:r>
              <a:rPr lang="en-US" sz="2000" b="1">
                <a:solidFill>
                  <a:srgbClr val="000000"/>
                </a:solidFill>
                <a:latin typeface="Courier New" pitchFamily="49" charset="0"/>
              </a:rPr>
              <a:t>  2  ENABLE CONSTRAINT	emp_empno_pk;</a:t>
            </a:r>
          </a:p>
          <a:p>
            <a:pPr>
              <a:tabLst>
                <a:tab pos="1200150" algn="l"/>
              </a:tabLst>
              <a:defRPr/>
            </a:pPr>
            <a:r>
              <a:rPr lang="en-US" sz="2000" b="1">
                <a:solidFill>
                  <a:srgbClr val="FF3300"/>
                </a:solidFill>
                <a:effectLst>
                  <a:outerShdw blurRad="38100" dist="38100" dir="2700000" algn="tl">
                    <a:srgbClr val="000000"/>
                  </a:outerShdw>
                </a:effectLst>
                <a:latin typeface="Courier New" pitchFamily="49" charset="0"/>
              </a:rPr>
              <a:t>Table altered.</a:t>
            </a:r>
          </a:p>
        </p:txBody>
      </p:sp>
      <p:sp>
        <p:nvSpPr>
          <p:cNvPr id="2" name="Slide Number Placeholder 23">
            <a:extLst>
              <a:ext uri="{FF2B5EF4-FFF2-40B4-BE49-F238E27FC236}">
                <a16:creationId xmlns:a16="http://schemas.microsoft.com/office/drawing/2014/main" id="{FB11DB5F-5D10-4ED5-FECD-E785B54A233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3A85549E-BFBC-0E8D-A89C-ECB4451EECD2}"/>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260853061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32303-2E01-8C5F-8F7E-9DAB1D83944D}"/>
            </a:ext>
          </a:extLst>
        </p:cNvPr>
        <p:cNvGrpSpPr/>
        <p:nvPr/>
      </p:nvGrpSpPr>
      <p:grpSpPr>
        <a:xfrm>
          <a:off x="0" y="0"/>
          <a:ext cx="0" cy="0"/>
          <a:chOff x="0" y="0"/>
          <a:chExt cx="0" cy="0"/>
        </a:xfrm>
      </p:grpSpPr>
      <p:sp>
        <p:nvSpPr>
          <p:cNvPr id="88066" name="Rectangle 2">
            <a:extLst>
              <a:ext uri="{FF2B5EF4-FFF2-40B4-BE49-F238E27FC236}">
                <a16:creationId xmlns:a16="http://schemas.microsoft.com/office/drawing/2014/main" id="{4FACEF58-20E3-52F2-3EE1-ED1AE332F144}"/>
              </a:ext>
            </a:extLst>
          </p:cNvPr>
          <p:cNvSpPr>
            <a:spLocks noGrp="1" noChangeArrowheads="1"/>
          </p:cNvSpPr>
          <p:nvPr>
            <p:ph type="title"/>
          </p:nvPr>
        </p:nvSpPr>
        <p:spPr>
          <a:xfrm>
            <a:off x="467544" y="332656"/>
            <a:ext cx="6984776"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Changing the Name of a Column or Table</a:t>
            </a:r>
          </a:p>
        </p:txBody>
      </p:sp>
      <p:sp>
        <p:nvSpPr>
          <p:cNvPr id="88067" name="Rectangle 3">
            <a:extLst>
              <a:ext uri="{FF2B5EF4-FFF2-40B4-BE49-F238E27FC236}">
                <a16:creationId xmlns:a16="http://schemas.microsoft.com/office/drawing/2014/main" id="{168EB6AF-93C5-5D1A-2311-90BED46B63C4}"/>
              </a:ext>
            </a:extLst>
          </p:cNvPr>
          <p:cNvSpPr>
            <a:spLocks noGrp="1" noChangeArrowheads="1"/>
          </p:cNvSpPr>
          <p:nvPr>
            <p:ph type="body" idx="1"/>
          </p:nvPr>
        </p:nvSpPr>
        <p:spPr>
          <a:xfrm>
            <a:off x="251520" y="873994"/>
            <a:ext cx="8070850" cy="831639"/>
          </a:xfrm>
          <a:noFill/>
        </p:spPr>
        <p:txBody>
          <a:bodyPr lIns="92075" tIns="46038" rIns="92075" bIns="46038">
            <a:spAutoFit/>
          </a:bodyPr>
          <a:lstStyle/>
          <a:p>
            <a:pPr lvl="1"/>
            <a:r>
              <a:rPr lang="en-US" altLang="en-US" dirty="0">
                <a:latin typeface="Cambria" panose="02040503050406030204" pitchFamily="18" charset="0"/>
                <a:ea typeface="Cambria" panose="02040503050406030204" pitchFamily="18" charset="0"/>
              </a:rPr>
              <a:t>To change the name of a table or column, execute the RENAME statement.</a:t>
            </a:r>
          </a:p>
        </p:txBody>
      </p:sp>
      <p:sp>
        <p:nvSpPr>
          <p:cNvPr id="88068" name="Rectangle 4">
            <a:extLst>
              <a:ext uri="{FF2B5EF4-FFF2-40B4-BE49-F238E27FC236}">
                <a16:creationId xmlns:a16="http://schemas.microsoft.com/office/drawing/2014/main" id="{87187286-FAC8-6625-A67C-BC52465C421A}"/>
              </a:ext>
            </a:extLst>
          </p:cNvPr>
          <p:cNvSpPr>
            <a:spLocks noChangeArrowheads="1"/>
          </p:cNvSpPr>
          <p:nvPr/>
        </p:nvSpPr>
        <p:spPr bwMode="blackWhite">
          <a:xfrm>
            <a:off x="755576" y="1850604"/>
            <a:ext cx="7453312" cy="704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423941" name="Rectangle 5">
            <a:extLst>
              <a:ext uri="{FF2B5EF4-FFF2-40B4-BE49-F238E27FC236}">
                <a16:creationId xmlns:a16="http://schemas.microsoft.com/office/drawing/2014/main" id="{E67BFF80-CC06-F8EC-8D8A-17115AEE6C90}"/>
              </a:ext>
            </a:extLst>
          </p:cNvPr>
          <p:cNvSpPr>
            <a:spLocks noChangeArrowheads="1"/>
          </p:cNvSpPr>
          <p:nvPr/>
        </p:nvSpPr>
        <p:spPr bwMode="blackWhite">
          <a:xfrm>
            <a:off x="930201" y="1772816"/>
            <a:ext cx="5422900" cy="842963"/>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RENAME dept TO department;</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renamed.</a:t>
            </a:r>
          </a:p>
        </p:txBody>
      </p:sp>
      <p:sp>
        <p:nvSpPr>
          <p:cNvPr id="2" name="Rectangle 4">
            <a:extLst>
              <a:ext uri="{FF2B5EF4-FFF2-40B4-BE49-F238E27FC236}">
                <a16:creationId xmlns:a16="http://schemas.microsoft.com/office/drawing/2014/main" id="{F66877AE-CC11-9353-9755-857A213CA85F}"/>
              </a:ext>
            </a:extLst>
          </p:cNvPr>
          <p:cNvSpPr>
            <a:spLocks noChangeArrowheads="1"/>
          </p:cNvSpPr>
          <p:nvPr/>
        </p:nvSpPr>
        <p:spPr bwMode="blackWhite">
          <a:xfrm>
            <a:off x="784099" y="2852936"/>
            <a:ext cx="748347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ALTER TABLE		emp</a:t>
            </a:r>
          </a:p>
          <a:p>
            <a:pPr>
              <a:tabLst>
                <a:tab pos="1200150" algn="l"/>
              </a:tabLst>
              <a:defRPr/>
            </a:pPr>
            <a:r>
              <a:rPr lang="en-US" sz="2000" b="1" dirty="0">
                <a:solidFill>
                  <a:srgbClr val="000000"/>
                </a:solidFill>
                <a:latin typeface="Courier New" pitchFamily="49" charset="0"/>
              </a:rPr>
              <a:t>  2  RENAME	column </a:t>
            </a:r>
            <a:r>
              <a:rPr lang="en-US" sz="2000" b="1" dirty="0" err="1">
                <a:solidFill>
                  <a:srgbClr val="000000"/>
                </a:solidFill>
                <a:latin typeface="Courier New" pitchFamily="49" charset="0"/>
              </a:rPr>
              <a:t>sal</a:t>
            </a:r>
            <a:r>
              <a:rPr lang="en-US" sz="2000" b="1" dirty="0">
                <a:solidFill>
                  <a:srgbClr val="000000"/>
                </a:solidFill>
                <a:latin typeface="Courier New" pitchFamily="49" charset="0"/>
              </a:rPr>
              <a:t> TO salary ;</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altered.</a:t>
            </a:r>
          </a:p>
        </p:txBody>
      </p:sp>
      <p:sp>
        <p:nvSpPr>
          <p:cNvPr id="3" name="Slide Number Placeholder 23">
            <a:extLst>
              <a:ext uri="{FF2B5EF4-FFF2-40B4-BE49-F238E27FC236}">
                <a16:creationId xmlns:a16="http://schemas.microsoft.com/office/drawing/2014/main" id="{31EB4DC1-8320-D54D-4720-E6C2A4224F60}"/>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F021292E-465F-38E7-35E9-7F340A922821}"/>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343871827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B88B-C458-A43C-3ACC-3CC60DCF9BF0}"/>
            </a:ext>
          </a:extLst>
        </p:cNvPr>
        <p:cNvGrpSpPr/>
        <p:nvPr/>
      </p:nvGrpSpPr>
      <p:grpSpPr>
        <a:xfrm>
          <a:off x="0" y="0"/>
          <a:ext cx="0" cy="0"/>
          <a:chOff x="0" y="0"/>
          <a:chExt cx="0" cy="0"/>
        </a:xfrm>
      </p:grpSpPr>
      <p:sp>
        <p:nvSpPr>
          <p:cNvPr id="90114" name="Rectangle 2">
            <a:extLst>
              <a:ext uri="{FF2B5EF4-FFF2-40B4-BE49-F238E27FC236}">
                <a16:creationId xmlns:a16="http://schemas.microsoft.com/office/drawing/2014/main" id="{3B143724-BED0-320F-25C2-BFC2A53983A0}"/>
              </a:ext>
            </a:extLst>
          </p:cNvPr>
          <p:cNvSpPr>
            <a:spLocks noGrp="1" noChangeArrowheads="1"/>
          </p:cNvSpPr>
          <p:nvPr>
            <p:ph type="title"/>
          </p:nvPr>
        </p:nvSpPr>
        <p:spPr>
          <a:xfrm>
            <a:off x="683568" y="373190"/>
            <a:ext cx="3130550"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Dropping a Table</a:t>
            </a:r>
          </a:p>
        </p:txBody>
      </p:sp>
      <p:sp>
        <p:nvSpPr>
          <p:cNvPr id="39939" name="Rectangle 3">
            <a:extLst>
              <a:ext uri="{FF2B5EF4-FFF2-40B4-BE49-F238E27FC236}">
                <a16:creationId xmlns:a16="http://schemas.microsoft.com/office/drawing/2014/main" id="{947A41C1-2355-3AEB-CBB1-0509D7DEBA79}"/>
              </a:ext>
            </a:extLst>
          </p:cNvPr>
          <p:cNvSpPr>
            <a:spLocks noGrp="1" noChangeArrowheads="1"/>
          </p:cNvSpPr>
          <p:nvPr>
            <p:ph type="body" idx="1"/>
          </p:nvPr>
        </p:nvSpPr>
        <p:spPr>
          <a:xfrm>
            <a:off x="450056" y="980728"/>
            <a:ext cx="7964487" cy="4986623"/>
          </a:xfrm>
        </p:spPr>
        <p:txBody>
          <a:bodyPr lIns="92075" tIns="46038" rIns="92075" bIns="46038">
            <a:spAutoFit/>
          </a:bodyPr>
          <a:lstStyle/>
          <a:p>
            <a:pPr lvl="1" algn="just">
              <a:defRPr/>
            </a:pPr>
            <a:r>
              <a:rPr lang="en-US" dirty="0">
                <a:latin typeface="Cambria" panose="02040503050406030204" pitchFamily="18" charset="0"/>
                <a:ea typeface="Cambria" panose="02040503050406030204" pitchFamily="18" charset="0"/>
              </a:rPr>
              <a:t>All data and structure in the table is deleted.</a:t>
            </a:r>
          </a:p>
          <a:p>
            <a:pPr lvl="1" algn="just">
              <a:defRPr/>
            </a:pPr>
            <a:r>
              <a:rPr lang="en-US" dirty="0">
                <a:latin typeface="Cambria" panose="02040503050406030204" pitchFamily="18" charset="0"/>
                <a:ea typeface="Cambria" panose="02040503050406030204" pitchFamily="18" charset="0"/>
              </a:rPr>
              <a:t>Any pending transactions are committed.</a:t>
            </a:r>
          </a:p>
          <a:p>
            <a:pPr lvl="1" algn="just">
              <a:defRPr/>
            </a:pPr>
            <a:r>
              <a:rPr lang="en-US" dirty="0">
                <a:latin typeface="Cambria" panose="02040503050406030204" pitchFamily="18" charset="0"/>
                <a:ea typeface="Cambria" panose="02040503050406030204" pitchFamily="18" charset="0"/>
              </a:rPr>
              <a:t>All indexes are dropped.</a:t>
            </a:r>
          </a:p>
          <a:p>
            <a:pPr lvl="1" algn="just">
              <a:defRPr/>
            </a:pPr>
            <a:r>
              <a:rPr lang="en-US" dirty="0">
                <a:latin typeface="Cambria" panose="02040503050406030204" pitchFamily="18" charset="0"/>
                <a:ea typeface="Cambria" panose="02040503050406030204" pitchFamily="18" charset="0"/>
              </a:rPr>
              <a:t>You </a:t>
            </a:r>
            <a:r>
              <a:rPr lang="en-US" i="1" dirty="0">
                <a:latin typeface="Cambria" panose="02040503050406030204" pitchFamily="18" charset="0"/>
                <a:ea typeface="Cambria" panose="02040503050406030204" pitchFamily="18" charset="0"/>
              </a:rPr>
              <a:t>cannot</a:t>
            </a:r>
            <a:r>
              <a:rPr lang="en-US" dirty="0">
                <a:latin typeface="Cambria" panose="02040503050406030204" pitchFamily="18" charset="0"/>
                <a:ea typeface="Cambria" panose="02040503050406030204" pitchFamily="18" charset="0"/>
              </a:rPr>
              <a:t> roll back this statement.</a:t>
            </a:r>
          </a:p>
          <a:p>
            <a:pPr lvl="1" algn="just">
              <a:defRPr/>
            </a:pPr>
            <a:endParaRPr lang="en-US" dirty="0">
              <a:latin typeface="Cambria" panose="02040503050406030204" pitchFamily="18" charset="0"/>
              <a:ea typeface="Cambria" panose="02040503050406030204" pitchFamily="18" charset="0"/>
            </a:endParaRPr>
          </a:p>
          <a:p>
            <a:pPr lvl="1" algn="just">
              <a:defRPr/>
            </a:pPr>
            <a:endParaRPr lang="en-US" dirty="0">
              <a:latin typeface="Cambria" panose="02040503050406030204" pitchFamily="18" charset="0"/>
              <a:ea typeface="Cambria" panose="02040503050406030204" pitchFamily="18" charset="0"/>
            </a:endParaRPr>
          </a:p>
          <a:p>
            <a:pPr lvl="1" algn="just">
              <a:defRPr/>
            </a:pPr>
            <a:endParaRPr lang="en-US" dirty="0">
              <a:latin typeface="Cambria" panose="02040503050406030204" pitchFamily="18" charset="0"/>
              <a:ea typeface="Cambria" panose="02040503050406030204" pitchFamily="18" charset="0"/>
            </a:endParaRPr>
          </a:p>
          <a:p>
            <a:pPr lvl="1" algn="just">
              <a:defRPr/>
            </a:pPr>
            <a:r>
              <a:rPr lang="en-US" dirty="0">
                <a:solidFill>
                  <a:srgbClr val="0000FF"/>
                </a:solidFill>
                <a:latin typeface="Cambria" panose="02040503050406030204" pitchFamily="18" charset="0"/>
                <a:ea typeface="Cambria" panose="02040503050406030204" pitchFamily="18" charset="0"/>
              </a:rPr>
              <a:t>NOTE:</a:t>
            </a:r>
            <a:r>
              <a:rPr lang="en-US" dirty="0">
                <a:latin typeface="Cambria" panose="02040503050406030204" pitchFamily="18" charset="0"/>
                <a:ea typeface="Cambria" panose="02040503050406030204" pitchFamily="18" charset="0"/>
              </a:rPr>
              <a:t> if the table has a reference in another table, the above command may not work. To drop all the references as well, use the following:</a:t>
            </a:r>
          </a:p>
          <a:p>
            <a:pPr lvl="1" algn="just">
              <a:defRPr/>
            </a:pPr>
            <a:endParaRPr lang="en-US" dirty="0">
              <a:latin typeface="Cambria" panose="02040503050406030204" pitchFamily="18" charset="0"/>
              <a:ea typeface="Cambria" panose="02040503050406030204" pitchFamily="18" charset="0"/>
            </a:endParaRPr>
          </a:p>
          <a:p>
            <a:pPr marL="457200" lvl="1" indent="0" algn="just">
              <a:buFontTx/>
              <a:buNone/>
              <a:defRPr/>
            </a:pPr>
            <a:endParaRPr lang="en-US" dirty="0">
              <a:latin typeface="Cambria" panose="02040503050406030204" pitchFamily="18" charset="0"/>
              <a:ea typeface="Cambria" panose="02040503050406030204" pitchFamily="18" charset="0"/>
            </a:endParaRPr>
          </a:p>
        </p:txBody>
      </p:sp>
      <p:sp>
        <p:nvSpPr>
          <p:cNvPr id="90116" name="Rectangle 4">
            <a:extLst>
              <a:ext uri="{FF2B5EF4-FFF2-40B4-BE49-F238E27FC236}">
                <a16:creationId xmlns:a16="http://schemas.microsoft.com/office/drawing/2014/main" id="{68AF07D9-FA90-4C39-CB27-3E60AD6DF54F}"/>
              </a:ext>
            </a:extLst>
          </p:cNvPr>
          <p:cNvSpPr>
            <a:spLocks noChangeArrowheads="1"/>
          </p:cNvSpPr>
          <p:nvPr/>
        </p:nvSpPr>
        <p:spPr bwMode="blackWhite">
          <a:xfrm>
            <a:off x="903288" y="2886199"/>
            <a:ext cx="7124700" cy="7588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2000" b="1">
              <a:solidFill>
                <a:srgbClr val="000000"/>
              </a:solidFill>
              <a:latin typeface="Courier New" panose="02070309020205020404" pitchFamily="49" charset="0"/>
            </a:endParaRPr>
          </a:p>
          <a:p>
            <a:pPr>
              <a:lnSpc>
                <a:spcPct val="150000"/>
              </a:lnSpc>
              <a:spcBef>
                <a:spcPct val="0"/>
              </a:spcBef>
              <a:buFontTx/>
              <a:buNone/>
            </a:pPr>
            <a:endParaRPr lang="en-US" altLang="en-US" sz="2000" b="1">
              <a:solidFill>
                <a:srgbClr val="000000"/>
              </a:solidFill>
              <a:latin typeface="Courier New" panose="02070309020205020404" pitchFamily="49" charset="0"/>
            </a:endParaRPr>
          </a:p>
          <a:p>
            <a:pPr>
              <a:lnSpc>
                <a:spcPct val="150000"/>
              </a:lnSpc>
              <a:spcBef>
                <a:spcPct val="0"/>
              </a:spcBef>
              <a:buFontTx/>
              <a:buNone/>
            </a:pPr>
            <a:endParaRPr lang="en-US" altLang="en-US" sz="2000" b="1">
              <a:solidFill>
                <a:srgbClr val="000000"/>
              </a:solidFill>
              <a:latin typeface="Courier New" panose="02070309020205020404" pitchFamily="49" charset="0"/>
            </a:endParaRPr>
          </a:p>
        </p:txBody>
      </p:sp>
      <p:sp>
        <p:nvSpPr>
          <p:cNvPr id="421893" name="Rectangle 5">
            <a:extLst>
              <a:ext uri="{FF2B5EF4-FFF2-40B4-BE49-F238E27FC236}">
                <a16:creationId xmlns:a16="http://schemas.microsoft.com/office/drawing/2014/main" id="{1CA72260-2AAB-C8FA-DD99-638F458B5DFA}"/>
              </a:ext>
            </a:extLst>
          </p:cNvPr>
          <p:cNvSpPr>
            <a:spLocks noChangeArrowheads="1"/>
          </p:cNvSpPr>
          <p:nvPr/>
        </p:nvSpPr>
        <p:spPr bwMode="blackWhite">
          <a:xfrm>
            <a:off x="903288" y="2848099"/>
            <a:ext cx="6446837" cy="7588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DROP TABLE dept30;</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dropped.</a:t>
            </a:r>
          </a:p>
        </p:txBody>
      </p:sp>
      <p:sp>
        <p:nvSpPr>
          <p:cNvPr id="90118" name="Rectangle 4">
            <a:extLst>
              <a:ext uri="{FF2B5EF4-FFF2-40B4-BE49-F238E27FC236}">
                <a16:creationId xmlns:a16="http://schemas.microsoft.com/office/drawing/2014/main" id="{D9B8DF70-11AA-BC67-275F-EB6BEE9C112C}"/>
              </a:ext>
            </a:extLst>
          </p:cNvPr>
          <p:cNvSpPr>
            <a:spLocks noChangeArrowheads="1"/>
          </p:cNvSpPr>
          <p:nvPr/>
        </p:nvSpPr>
        <p:spPr bwMode="blackWhite">
          <a:xfrm>
            <a:off x="869950" y="5262538"/>
            <a:ext cx="7124700" cy="7588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F02A551B-6B99-1AC3-944D-F5CB20235D64}"/>
              </a:ext>
            </a:extLst>
          </p:cNvPr>
          <p:cNvSpPr>
            <a:spLocks noChangeArrowheads="1"/>
          </p:cNvSpPr>
          <p:nvPr/>
        </p:nvSpPr>
        <p:spPr bwMode="blackWhite">
          <a:xfrm>
            <a:off x="869950" y="5229200"/>
            <a:ext cx="6446838" cy="7588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2000" b="1" dirty="0">
                <a:solidFill>
                  <a:srgbClr val="000000"/>
                </a:solidFill>
                <a:latin typeface="Courier New" pitchFamily="49" charset="0"/>
              </a:rPr>
              <a:t>SQL&gt; DROP TABLE dept30 </a:t>
            </a:r>
            <a:r>
              <a:rPr lang="en-US" sz="2000" b="1" dirty="0">
                <a:solidFill>
                  <a:srgbClr val="0000FF"/>
                </a:solidFill>
                <a:latin typeface="Courier New" pitchFamily="49" charset="0"/>
              </a:rPr>
              <a:t>CASCADE CONSTRAINTS;</a:t>
            </a:r>
          </a:p>
          <a:p>
            <a:pPr>
              <a:tabLst>
                <a:tab pos="1200150" algn="l"/>
              </a:tabLst>
              <a:defRPr/>
            </a:pPr>
            <a:r>
              <a:rPr lang="en-US" sz="2000" b="1" dirty="0">
                <a:solidFill>
                  <a:srgbClr val="FF3300"/>
                </a:solidFill>
                <a:effectLst>
                  <a:outerShdw blurRad="38100" dist="38100" dir="2700000" algn="tl">
                    <a:srgbClr val="000000"/>
                  </a:outerShdw>
                </a:effectLst>
                <a:latin typeface="Courier New" pitchFamily="49" charset="0"/>
              </a:rPr>
              <a:t>Table dropped.</a:t>
            </a:r>
          </a:p>
        </p:txBody>
      </p:sp>
      <p:sp>
        <p:nvSpPr>
          <p:cNvPr id="2" name="Slide Number Placeholder 23">
            <a:extLst>
              <a:ext uri="{FF2B5EF4-FFF2-40B4-BE49-F238E27FC236}">
                <a16:creationId xmlns:a16="http://schemas.microsoft.com/office/drawing/2014/main" id="{AFD0C1A4-3AFC-DC81-4490-F39ABF61491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4A80246C-B317-04E5-ADB1-7EE2D9818BE7}"/>
              </a:ext>
            </a:extLst>
          </p:cNvPr>
          <p:cNvSpPr txBox="1">
            <a:spLocks/>
          </p:cNvSpPr>
          <p:nvPr/>
        </p:nvSpPr>
        <p:spPr>
          <a:xfrm>
            <a:off x="2555776" y="6500192"/>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latin typeface="Perpetua"/>
              </a:rPr>
              <a:t>Dr. Asif Sohail,</a:t>
            </a:r>
            <a:r>
              <a:rPr lang="en-US" dirty="0">
                <a:solidFill>
                  <a:srgbClr val="696464"/>
                </a:solidFill>
                <a:latin typeface="Perpetua"/>
              </a:rPr>
              <a:t> Department of IT, </a:t>
            </a:r>
            <a:r>
              <a:rPr lang="en-US" dirty="0">
                <a:solidFill>
                  <a:srgbClr val="FF0000"/>
                </a:solidFill>
                <a:latin typeface="Perpetua"/>
              </a:rPr>
              <a:t>University of the Punjab, Lahore</a:t>
            </a:r>
          </a:p>
        </p:txBody>
      </p:sp>
    </p:spTree>
    <p:extLst>
      <p:ext uri="{BB962C8B-B14F-4D97-AF65-F5344CB8AC3E}">
        <p14:creationId xmlns:p14="http://schemas.microsoft.com/office/powerpoint/2010/main" val="1948970296"/>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5255</TotalTime>
  <Words>6954</Words>
  <Application>Microsoft Office PowerPoint</Application>
  <PresentationFormat>On-screen Show (4:3)</PresentationFormat>
  <Paragraphs>1027</Paragraphs>
  <Slides>37</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Cambria</vt:lpstr>
      <vt:lpstr>Courier New</vt:lpstr>
      <vt:lpstr>Franklin Gothic Book</vt:lpstr>
      <vt:lpstr>Perpetua</vt:lpstr>
      <vt:lpstr>Times</vt:lpstr>
      <vt:lpstr>Times New Roman</vt:lpstr>
      <vt:lpstr>Wingdings</vt:lpstr>
      <vt:lpstr>Wingdings 2</vt:lpstr>
      <vt:lpstr>1_Equity</vt:lpstr>
      <vt:lpstr>CC-215-L Database Systems Lab</vt:lpstr>
      <vt:lpstr>  Objectives</vt:lpstr>
      <vt:lpstr>  CREATE TABLE Statement</vt:lpstr>
      <vt:lpstr>  Naming Conventions</vt:lpstr>
      <vt:lpstr>  Data Types</vt:lpstr>
      <vt:lpstr>  CREATE TABLE Statement</vt:lpstr>
      <vt:lpstr>  Objectives</vt:lpstr>
      <vt:lpstr>Querying the Data Dictionary</vt:lpstr>
      <vt:lpstr>  Constraints Specification</vt:lpstr>
      <vt:lpstr>  Constraints Specification</vt:lpstr>
      <vt:lpstr>NOT NULL Constraint</vt:lpstr>
      <vt:lpstr>UNIQUE Key Constraint</vt:lpstr>
      <vt:lpstr>UNIQUE Key Constraint</vt:lpstr>
      <vt:lpstr>PRIMARY KEY Constraint</vt:lpstr>
      <vt:lpstr>PRIMARY KEY Constraint</vt:lpstr>
      <vt:lpstr>FOREIGN KEY Constraint</vt:lpstr>
      <vt:lpstr>FOREIGN KEY Constraint</vt:lpstr>
      <vt:lpstr>FOREIGN KEY Constraint Keywords</vt:lpstr>
      <vt:lpstr>CHECK Constraint</vt:lpstr>
      <vt:lpstr>DEFAULT Constraint</vt:lpstr>
      <vt:lpstr>Viewing Constraints</vt:lpstr>
      <vt:lpstr>Viewing the Columns Associated with Constraints</vt:lpstr>
      <vt:lpstr>Virtual Column</vt:lpstr>
      <vt:lpstr>Creating a Table by Using a Subquery</vt:lpstr>
      <vt:lpstr>Creating a Small Database (Exercise)</vt:lpstr>
      <vt:lpstr>The ALTER TABLE Statement</vt:lpstr>
      <vt:lpstr>Adding a Column</vt:lpstr>
      <vt:lpstr>Adding a Column</vt:lpstr>
      <vt:lpstr>Modifying a Column</vt:lpstr>
      <vt:lpstr>Dropping and Renaming a Column</vt:lpstr>
      <vt:lpstr>Adding a Constraint</vt:lpstr>
      <vt:lpstr>Adding a Constraint</vt:lpstr>
      <vt:lpstr>Dropping a Constraint</vt:lpstr>
      <vt:lpstr>Disabling Constraints</vt:lpstr>
      <vt:lpstr>Enabling Constraints</vt:lpstr>
      <vt:lpstr>Changing the Name of a Column or Table</vt:lpstr>
      <vt:lpstr>Dropping a Table</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881</cp:revision>
  <dcterms:created xsi:type="dcterms:W3CDTF">2006-05-17T12:38:56Z</dcterms:created>
  <dcterms:modified xsi:type="dcterms:W3CDTF">2025-11-10T10:32:51Z</dcterms:modified>
</cp:coreProperties>
</file>